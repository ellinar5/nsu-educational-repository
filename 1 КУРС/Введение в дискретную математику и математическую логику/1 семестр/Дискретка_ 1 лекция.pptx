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4610100" cy="3460750"/>
  <p:notesSz cx="4610100" cy="346075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207" d="100"/>
          <a:sy n="207" d="100"/>
        </p:scale>
        <p:origin x="1932" y="1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chemeClr val="bg1"/>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69366"/>
            <a:ext cx="569595" cy="2886710"/>
          </a:xfrm>
          <a:custGeom>
            <a:avLst/>
            <a:gdLst/>
            <a:ahLst/>
            <a:cxnLst/>
            <a:rect l="l" t="t" r="r" b="b"/>
            <a:pathLst>
              <a:path w="569595" h="2886710">
                <a:moveTo>
                  <a:pt x="569366" y="0"/>
                </a:moveTo>
                <a:lnTo>
                  <a:pt x="0" y="0"/>
                </a:lnTo>
                <a:lnTo>
                  <a:pt x="0" y="2886633"/>
                </a:lnTo>
                <a:lnTo>
                  <a:pt x="569366" y="2886633"/>
                </a:lnTo>
                <a:lnTo>
                  <a:pt x="569366"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a:xfrm>
            <a:off x="664667" y="144815"/>
            <a:ext cx="3280765" cy="244475"/>
          </a:xfrm>
          <a:prstGeom prst="rect">
            <a:avLst/>
          </a:prstGeom>
        </p:spPr>
        <p:txBody>
          <a:bodyPr wrap="square" lIns="0" tIns="0" rIns="0" bIns="0">
            <a:spAutoFit/>
          </a:bodyPr>
          <a:lstStyle>
            <a:lvl1pPr>
              <a:defRPr sz="1400" b="1" i="0">
                <a:solidFill>
                  <a:schemeClr val="bg1"/>
                </a:solidFill>
                <a:latin typeface="Arial"/>
                <a:cs typeface="Arial"/>
              </a:defRPr>
            </a:lvl1pPr>
          </a:lstStyle>
          <a:p>
            <a:endParaRPr/>
          </a:p>
        </p:txBody>
      </p:sp>
      <p:sp>
        <p:nvSpPr>
          <p:cNvPr id="3" name="Holder 3"/>
          <p:cNvSpPr>
            <a:spLocks noGrp="1"/>
          </p:cNvSpPr>
          <p:nvPr>
            <p:ph type="body" idx="1"/>
          </p:nvPr>
        </p:nvSpPr>
        <p:spPr>
          <a:xfrm>
            <a:off x="698563" y="1090844"/>
            <a:ext cx="3831590" cy="953135"/>
          </a:xfrm>
          <a:prstGeom prst="rect">
            <a:avLst/>
          </a:prstGeom>
        </p:spPr>
        <p:txBody>
          <a:bodyPr wrap="square" lIns="0" tIns="0" rIns="0" bIns="0">
            <a:spAutoFit/>
          </a:bodyPr>
          <a:lstStyle>
            <a:lvl1pPr>
              <a:defRPr sz="10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1/5/2025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9.xml"/><Relationship Id="rId1" Type="http://schemas.openxmlformats.org/officeDocument/2006/relationships/slideLayout" Target="../slideLayouts/slideLayout5.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2.xml"/><Relationship Id="rId7"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2.xml"/><Relationship Id="rId7" Type="http://schemas.openxmlformats.org/officeDocument/2006/relationships/image" Target="../media/image4.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 Id="rId9"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7.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7.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 Id="rId9"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8.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3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3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3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3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3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 Id="rId9" Type="http://schemas.openxmlformats.org/officeDocument/2006/relationships/image" Target="../media/image5.png"/></Relationships>
</file>

<file path=ppt/slides/_rels/slide3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 Id="rId9" Type="http://schemas.openxmlformats.org/officeDocument/2006/relationships/image" Target="../media/image5.png"/></Relationships>
</file>

<file path=ppt/slides/_rels/slide3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 Id="rId9"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4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 Id="rId9" Type="http://schemas.openxmlformats.org/officeDocument/2006/relationships/image" Target="../media/image7.png"/></Relationships>
</file>

<file path=ppt/slides/_rels/slide4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 Id="rId9"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4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4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 Id="rId9"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4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4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_rels/slide4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0.xml"/><Relationship Id="rId4" Type="http://schemas.openxmlformats.org/officeDocument/2006/relationships/slide" Target="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grpSp>
        <p:nvGrpSpPr>
          <p:cNvPr id="28" name="object 28"/>
          <p:cNvGrpSpPr/>
          <p:nvPr/>
        </p:nvGrpSpPr>
        <p:grpSpPr>
          <a:xfrm>
            <a:off x="698562" y="1187576"/>
            <a:ext cx="3831590" cy="757555"/>
            <a:chOff x="698562" y="1187576"/>
            <a:chExt cx="3831590" cy="757555"/>
          </a:xfrm>
        </p:grpSpPr>
        <p:sp>
          <p:nvSpPr>
            <p:cNvPr id="29" name="object 29"/>
            <p:cNvSpPr/>
            <p:nvPr/>
          </p:nvSpPr>
          <p:spPr>
            <a:xfrm>
              <a:off x="698562" y="1187576"/>
              <a:ext cx="3780790" cy="82550"/>
            </a:xfrm>
            <a:custGeom>
              <a:avLst/>
              <a:gdLst/>
              <a:ahLst/>
              <a:cxnLst/>
              <a:rect l="l" t="t" r="r" b="b"/>
              <a:pathLst>
                <a:path w="3780790" h="82550">
                  <a:moveTo>
                    <a:pt x="3729484" y="0"/>
                  </a:moveTo>
                  <a:lnTo>
                    <a:pt x="50800" y="0"/>
                  </a:lnTo>
                  <a:lnTo>
                    <a:pt x="31075" y="4008"/>
                  </a:lnTo>
                  <a:lnTo>
                    <a:pt x="14922" y="14922"/>
                  </a:lnTo>
                  <a:lnTo>
                    <a:pt x="4008" y="31075"/>
                  </a:lnTo>
                  <a:lnTo>
                    <a:pt x="0" y="50800"/>
                  </a:lnTo>
                  <a:lnTo>
                    <a:pt x="0" y="82384"/>
                  </a:lnTo>
                  <a:lnTo>
                    <a:pt x="3780285" y="82384"/>
                  </a:lnTo>
                  <a:lnTo>
                    <a:pt x="3780285" y="50800"/>
                  </a:lnTo>
                  <a:lnTo>
                    <a:pt x="3776276" y="31075"/>
                  </a:lnTo>
                  <a:lnTo>
                    <a:pt x="3765362" y="14922"/>
                  </a:lnTo>
                  <a:lnTo>
                    <a:pt x="3749209" y="4008"/>
                  </a:lnTo>
                  <a:lnTo>
                    <a:pt x="3729484" y="0"/>
                  </a:lnTo>
                  <a:close/>
                </a:path>
              </a:pathLst>
            </a:custGeom>
            <a:solidFill>
              <a:srgbClr val="3333B2"/>
            </a:solidFill>
          </p:spPr>
          <p:txBody>
            <a:bodyPr wrap="square" lIns="0" tIns="0" rIns="0" bIns="0" rtlCol="0"/>
            <a:lstStyle/>
            <a:p>
              <a:endParaRPr/>
            </a:p>
          </p:txBody>
        </p:sp>
        <p:sp>
          <p:nvSpPr>
            <p:cNvPr id="30" name="object 30"/>
            <p:cNvSpPr/>
            <p:nvPr/>
          </p:nvSpPr>
          <p:spPr>
            <a:xfrm>
              <a:off x="749363" y="1250833"/>
              <a:ext cx="3780790" cy="694055"/>
            </a:xfrm>
            <a:custGeom>
              <a:avLst/>
              <a:gdLst/>
              <a:ahLst/>
              <a:cxnLst/>
              <a:rect l="l" t="t" r="r" b="b"/>
              <a:pathLst>
                <a:path w="3780790" h="694055">
                  <a:moveTo>
                    <a:pt x="3780285" y="0"/>
                  </a:moveTo>
                  <a:lnTo>
                    <a:pt x="0" y="0"/>
                  </a:lnTo>
                  <a:lnTo>
                    <a:pt x="0" y="693842"/>
                  </a:lnTo>
                  <a:lnTo>
                    <a:pt x="3780285" y="693842"/>
                  </a:lnTo>
                  <a:lnTo>
                    <a:pt x="3780285" y="0"/>
                  </a:lnTo>
                  <a:close/>
                </a:path>
              </a:pathLst>
            </a:custGeom>
            <a:solidFill>
              <a:srgbClr val="000000"/>
            </a:solidFill>
          </p:spPr>
          <p:txBody>
            <a:bodyPr wrap="square" lIns="0" tIns="0" rIns="0" bIns="0" rtlCol="0"/>
            <a:lstStyle/>
            <a:p>
              <a:endParaRPr/>
            </a:p>
          </p:txBody>
        </p:sp>
        <p:sp>
          <p:nvSpPr>
            <p:cNvPr id="31" name="object 31"/>
            <p:cNvSpPr/>
            <p:nvPr/>
          </p:nvSpPr>
          <p:spPr>
            <a:xfrm>
              <a:off x="698562" y="1231996"/>
              <a:ext cx="3780790" cy="662305"/>
            </a:xfrm>
            <a:custGeom>
              <a:avLst/>
              <a:gdLst/>
              <a:ahLst/>
              <a:cxnLst/>
              <a:rect l="l" t="t" r="r" b="b"/>
              <a:pathLst>
                <a:path w="3780790" h="662305">
                  <a:moveTo>
                    <a:pt x="3780285" y="0"/>
                  </a:moveTo>
                  <a:lnTo>
                    <a:pt x="0" y="0"/>
                  </a:lnTo>
                  <a:lnTo>
                    <a:pt x="0" y="611078"/>
                  </a:lnTo>
                  <a:lnTo>
                    <a:pt x="4008" y="630803"/>
                  </a:lnTo>
                  <a:lnTo>
                    <a:pt x="14922" y="646956"/>
                  </a:lnTo>
                  <a:lnTo>
                    <a:pt x="31075" y="657870"/>
                  </a:lnTo>
                  <a:lnTo>
                    <a:pt x="50800" y="661878"/>
                  </a:lnTo>
                  <a:lnTo>
                    <a:pt x="3729484" y="661878"/>
                  </a:lnTo>
                  <a:lnTo>
                    <a:pt x="3749209" y="657870"/>
                  </a:lnTo>
                  <a:lnTo>
                    <a:pt x="3765362" y="646956"/>
                  </a:lnTo>
                  <a:lnTo>
                    <a:pt x="3776276" y="630803"/>
                  </a:lnTo>
                  <a:lnTo>
                    <a:pt x="3780285" y="611078"/>
                  </a:lnTo>
                  <a:lnTo>
                    <a:pt x="3780285" y="0"/>
                  </a:lnTo>
                  <a:close/>
                </a:path>
              </a:pathLst>
            </a:custGeom>
            <a:solidFill>
              <a:srgbClr val="3333B2"/>
            </a:solidFill>
          </p:spPr>
          <p:txBody>
            <a:bodyPr wrap="square" lIns="0" tIns="0" rIns="0" bIns="0" rtlCol="0"/>
            <a:lstStyle/>
            <a:p>
              <a:endParaRPr/>
            </a:p>
          </p:txBody>
        </p:sp>
      </p:grpSp>
      <p:sp>
        <p:nvSpPr>
          <p:cNvPr id="32" name="object 32"/>
          <p:cNvSpPr txBox="1"/>
          <p:nvPr/>
        </p:nvSpPr>
        <p:spPr>
          <a:xfrm>
            <a:off x="1167158" y="1319654"/>
            <a:ext cx="2601176" cy="442878"/>
          </a:xfrm>
          <a:prstGeom prst="rect">
            <a:avLst/>
          </a:prstGeom>
        </p:spPr>
        <p:txBody>
          <a:bodyPr vert="horz" wrap="square" lIns="0" tIns="2540" rIns="0" bIns="0" rtlCol="0">
            <a:spAutoFit/>
          </a:bodyPr>
          <a:lstStyle/>
          <a:p>
            <a:pPr marL="12700" marR="5080" indent="297180">
              <a:lnSpc>
                <a:spcPct val="106700"/>
              </a:lnSpc>
              <a:spcBef>
                <a:spcPts val="20"/>
              </a:spcBef>
            </a:pPr>
            <a:r>
              <a:rPr lang="ru-RU" sz="1400" spc="-35" dirty="0">
                <a:solidFill>
                  <a:srgbClr val="FFFFFF"/>
                </a:solidFill>
                <a:latin typeface="Tahoma"/>
                <a:cs typeface="Tahoma"/>
              </a:rPr>
              <a:t>Лекция</a:t>
            </a:r>
            <a:r>
              <a:rPr sz="1400" spc="15" dirty="0">
                <a:solidFill>
                  <a:srgbClr val="FFFFFF"/>
                </a:solidFill>
                <a:latin typeface="Tahoma"/>
                <a:cs typeface="Tahoma"/>
              </a:rPr>
              <a:t> </a:t>
            </a:r>
            <a:r>
              <a:rPr sz="1400" spc="-65" dirty="0">
                <a:solidFill>
                  <a:srgbClr val="FFFFFF"/>
                </a:solidFill>
                <a:latin typeface="Tahoma"/>
                <a:cs typeface="Tahoma"/>
              </a:rPr>
              <a:t>1</a:t>
            </a:r>
            <a:endParaRPr lang="ru-RU" sz="1400" spc="-65" dirty="0">
              <a:solidFill>
                <a:srgbClr val="FFFFFF"/>
              </a:solidFill>
              <a:latin typeface="Tahoma"/>
              <a:cs typeface="Tahoma"/>
            </a:endParaRPr>
          </a:p>
          <a:p>
            <a:pPr marL="12700" marR="5080" indent="297180" algn="just">
              <a:lnSpc>
                <a:spcPct val="106700"/>
              </a:lnSpc>
              <a:spcBef>
                <a:spcPts val="20"/>
              </a:spcBef>
            </a:pPr>
            <a:r>
              <a:rPr lang="ru-RU" sz="1400" dirty="0">
                <a:solidFill>
                  <a:schemeClr val="bg1"/>
                </a:solidFill>
                <a:latin typeface="Tahoma"/>
                <a:cs typeface="Tahoma"/>
              </a:rPr>
              <a:t>Наивная теория множеств</a:t>
            </a:r>
            <a:endParaRPr sz="1400" dirty="0">
              <a:solidFill>
                <a:schemeClr val="bg1"/>
              </a:solidFill>
              <a:latin typeface="Tahoma"/>
              <a:cs typeface="Tahoma"/>
            </a:endParaRPr>
          </a:p>
        </p:txBody>
      </p:sp>
      <p:sp>
        <p:nvSpPr>
          <p:cNvPr id="33" name="object 33"/>
          <p:cNvSpPr txBox="1"/>
          <p:nvPr/>
        </p:nvSpPr>
        <p:spPr>
          <a:xfrm>
            <a:off x="2076729" y="2525793"/>
            <a:ext cx="1024255" cy="177800"/>
          </a:xfrm>
          <a:prstGeom prst="rect">
            <a:avLst/>
          </a:prstGeom>
        </p:spPr>
        <p:txBody>
          <a:bodyPr vert="horz" wrap="square" lIns="0" tIns="12065" rIns="0" bIns="0" rtlCol="0">
            <a:spAutoFit/>
          </a:bodyPr>
          <a:lstStyle/>
          <a:p>
            <a:pPr marL="12700">
              <a:lnSpc>
                <a:spcPct val="100000"/>
              </a:lnSpc>
              <a:spcBef>
                <a:spcPts val="95"/>
              </a:spcBef>
            </a:pPr>
            <a:r>
              <a:rPr sz="1000" spc="-40" dirty="0">
                <a:latin typeface="Tahoma"/>
                <a:cs typeface="Tahoma"/>
              </a:rPr>
              <a:t>September</a:t>
            </a:r>
            <a:r>
              <a:rPr sz="1000" spc="-20" dirty="0">
                <a:latin typeface="Tahoma"/>
                <a:cs typeface="Tahoma"/>
              </a:rPr>
              <a:t> </a:t>
            </a:r>
            <a:r>
              <a:rPr sz="1000" spc="-40" dirty="0">
                <a:latin typeface="Tahoma"/>
                <a:cs typeface="Tahoma"/>
              </a:rPr>
              <a:t>2,</a:t>
            </a:r>
            <a:r>
              <a:rPr sz="1000" spc="-15" dirty="0">
                <a:latin typeface="Tahoma"/>
                <a:cs typeface="Tahoma"/>
              </a:rPr>
              <a:t> </a:t>
            </a:r>
            <a:r>
              <a:rPr sz="1000" spc="-50" dirty="0">
                <a:latin typeface="Tahoma"/>
                <a:cs typeface="Tahoma"/>
              </a:rPr>
              <a:t>2024</a:t>
            </a:r>
            <a:endParaRPr sz="1000">
              <a:latin typeface="Tahoma"/>
              <a:cs typeface="Tahoma"/>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FFFFFF"/>
                </a:solidFill>
                <a:latin typeface="Microsoft Sans Serif"/>
                <a:cs typeface="Microsoft Sans Serif"/>
                <a:hlinkClick r:id="rId3" action="ppaction://hlinksldjump"/>
              </a:rPr>
              <a:t>Sets</a:t>
            </a:r>
            <a:endParaRPr sz="500" dirty="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dirty="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259383" cy="232756"/>
          </a:xfrm>
          <a:prstGeom prst="rect">
            <a:avLst/>
          </a:prstGeom>
        </p:spPr>
        <p:txBody>
          <a:bodyPr vert="horz" wrap="square" lIns="0" tIns="17145" rIns="0" bIns="0" rtlCol="0">
            <a:spAutoFit/>
          </a:bodyPr>
          <a:lstStyle/>
          <a:p>
            <a:pPr marL="12700">
              <a:lnSpc>
                <a:spcPct val="100000"/>
              </a:lnSpc>
              <a:spcBef>
                <a:spcPts val="135"/>
              </a:spcBef>
            </a:pPr>
            <a:r>
              <a:rPr lang="ru-RU" spc="-45" dirty="0"/>
              <a:t>Множества</a:t>
            </a:r>
            <a:endParaRPr spc="-45" dirty="0"/>
          </a:p>
        </p:txBody>
      </p:sp>
      <p:grpSp>
        <p:nvGrpSpPr>
          <p:cNvPr id="30" name="object 30"/>
          <p:cNvGrpSpPr/>
          <p:nvPr/>
        </p:nvGrpSpPr>
        <p:grpSpPr>
          <a:xfrm>
            <a:off x="698562" y="623965"/>
            <a:ext cx="3864229" cy="1629703"/>
            <a:chOff x="698562" y="832192"/>
            <a:chExt cx="3831590" cy="1163955"/>
          </a:xfrm>
        </p:grpSpPr>
        <p:sp>
          <p:nvSpPr>
            <p:cNvPr id="31" name="object 31"/>
            <p:cNvSpPr/>
            <p:nvPr/>
          </p:nvSpPr>
          <p:spPr>
            <a:xfrm>
              <a:off x="698562" y="832192"/>
              <a:ext cx="3780790" cy="82550"/>
            </a:xfrm>
            <a:custGeom>
              <a:avLst/>
              <a:gdLst/>
              <a:ahLst/>
              <a:cxnLst/>
              <a:rect l="l" t="t" r="r" b="b"/>
              <a:pathLst>
                <a:path w="3780790" h="82550">
                  <a:moveTo>
                    <a:pt x="3729484" y="0"/>
                  </a:moveTo>
                  <a:lnTo>
                    <a:pt x="50800" y="0"/>
                  </a:lnTo>
                  <a:lnTo>
                    <a:pt x="31075" y="4008"/>
                  </a:lnTo>
                  <a:lnTo>
                    <a:pt x="14922" y="14922"/>
                  </a:lnTo>
                  <a:lnTo>
                    <a:pt x="4008" y="31075"/>
                  </a:lnTo>
                  <a:lnTo>
                    <a:pt x="0" y="50800"/>
                  </a:lnTo>
                  <a:lnTo>
                    <a:pt x="0" y="82384"/>
                  </a:lnTo>
                  <a:lnTo>
                    <a:pt x="3780285" y="82384"/>
                  </a:lnTo>
                  <a:lnTo>
                    <a:pt x="3780285" y="50800"/>
                  </a:lnTo>
                  <a:lnTo>
                    <a:pt x="3776276" y="31075"/>
                  </a:lnTo>
                  <a:lnTo>
                    <a:pt x="3765362" y="14922"/>
                  </a:lnTo>
                  <a:lnTo>
                    <a:pt x="3749209" y="4008"/>
                  </a:lnTo>
                  <a:lnTo>
                    <a:pt x="3729484" y="0"/>
                  </a:lnTo>
                  <a:close/>
                </a:path>
              </a:pathLst>
            </a:custGeom>
            <a:solidFill>
              <a:srgbClr val="E9E9F2"/>
            </a:solidFill>
          </p:spPr>
          <p:txBody>
            <a:bodyPr wrap="square" lIns="0" tIns="0" rIns="0" bIns="0" rtlCol="0"/>
            <a:lstStyle/>
            <a:p>
              <a:endParaRPr/>
            </a:p>
          </p:txBody>
        </p:sp>
        <p:sp>
          <p:nvSpPr>
            <p:cNvPr id="32" name="object 32"/>
            <p:cNvSpPr/>
            <p:nvPr/>
          </p:nvSpPr>
          <p:spPr>
            <a:xfrm>
              <a:off x="749363" y="895438"/>
              <a:ext cx="3780790" cy="1101090"/>
            </a:xfrm>
            <a:custGeom>
              <a:avLst/>
              <a:gdLst/>
              <a:ahLst/>
              <a:cxnLst/>
              <a:rect l="l" t="t" r="r" b="b"/>
              <a:pathLst>
                <a:path w="3780790" h="1101089">
                  <a:moveTo>
                    <a:pt x="3780285" y="0"/>
                  </a:moveTo>
                  <a:lnTo>
                    <a:pt x="0" y="0"/>
                  </a:lnTo>
                  <a:lnTo>
                    <a:pt x="0" y="1100557"/>
                  </a:lnTo>
                  <a:lnTo>
                    <a:pt x="3780285" y="1100557"/>
                  </a:lnTo>
                  <a:lnTo>
                    <a:pt x="3780285" y="0"/>
                  </a:lnTo>
                  <a:close/>
                </a:path>
              </a:pathLst>
            </a:custGeom>
            <a:solidFill>
              <a:srgbClr val="000000"/>
            </a:solidFill>
          </p:spPr>
          <p:txBody>
            <a:bodyPr wrap="square" lIns="0" tIns="0" rIns="0" bIns="0" rtlCol="0"/>
            <a:lstStyle/>
            <a:p>
              <a:endParaRPr/>
            </a:p>
          </p:txBody>
        </p:sp>
        <p:sp>
          <p:nvSpPr>
            <p:cNvPr id="33" name="object 33"/>
            <p:cNvSpPr/>
            <p:nvPr/>
          </p:nvSpPr>
          <p:spPr>
            <a:xfrm>
              <a:off x="698562" y="876602"/>
              <a:ext cx="3780790" cy="1068705"/>
            </a:xfrm>
            <a:custGeom>
              <a:avLst/>
              <a:gdLst/>
              <a:ahLst/>
              <a:cxnLst/>
              <a:rect l="l" t="t" r="r" b="b"/>
              <a:pathLst>
                <a:path w="3780790" h="1068705">
                  <a:moveTo>
                    <a:pt x="3780285" y="0"/>
                  </a:moveTo>
                  <a:lnTo>
                    <a:pt x="0" y="0"/>
                  </a:lnTo>
                  <a:lnTo>
                    <a:pt x="0" y="1017793"/>
                  </a:lnTo>
                  <a:lnTo>
                    <a:pt x="4008" y="1037517"/>
                  </a:lnTo>
                  <a:lnTo>
                    <a:pt x="14922" y="1053670"/>
                  </a:lnTo>
                  <a:lnTo>
                    <a:pt x="31075" y="1064585"/>
                  </a:lnTo>
                  <a:lnTo>
                    <a:pt x="50800" y="1068593"/>
                  </a:lnTo>
                  <a:lnTo>
                    <a:pt x="3729484" y="1068593"/>
                  </a:lnTo>
                  <a:lnTo>
                    <a:pt x="3749209" y="1064585"/>
                  </a:lnTo>
                  <a:lnTo>
                    <a:pt x="3765362" y="1053670"/>
                  </a:lnTo>
                  <a:lnTo>
                    <a:pt x="3776276" y="1037517"/>
                  </a:lnTo>
                  <a:lnTo>
                    <a:pt x="3780285" y="1017793"/>
                  </a:lnTo>
                  <a:lnTo>
                    <a:pt x="3780285" y="0"/>
                  </a:lnTo>
                  <a:close/>
                </a:path>
              </a:pathLst>
            </a:custGeom>
            <a:solidFill>
              <a:srgbClr val="E9E9F2"/>
            </a:solidFill>
          </p:spPr>
          <p:txBody>
            <a:bodyPr wrap="square" lIns="0" tIns="0" rIns="0" bIns="0" rtlCol="0"/>
            <a:lstStyle/>
            <a:p>
              <a:endParaRPr/>
            </a:p>
          </p:txBody>
        </p:sp>
      </p:grpSp>
      <p:sp>
        <p:nvSpPr>
          <p:cNvPr id="34" name="object 34"/>
          <p:cNvSpPr txBox="1"/>
          <p:nvPr/>
        </p:nvSpPr>
        <p:spPr>
          <a:xfrm>
            <a:off x="748868" y="607335"/>
            <a:ext cx="3704590" cy="1551066"/>
          </a:xfrm>
          <a:prstGeom prst="rect">
            <a:avLst/>
          </a:prstGeom>
        </p:spPr>
        <p:txBody>
          <a:bodyPr vert="horz" wrap="square" lIns="0" tIns="12065" rIns="0" bIns="0" rtlCol="0">
            <a:spAutoFit/>
          </a:bodyPr>
          <a:lstStyle/>
          <a:p>
            <a:pPr marL="12700" marR="5080">
              <a:lnSpc>
                <a:spcPct val="100000"/>
              </a:lnSpc>
              <a:spcBef>
                <a:spcPts val="95"/>
              </a:spcBef>
            </a:pPr>
            <a:r>
              <a:rPr lang="ru-RU" sz="1000" b="1" dirty="0">
                <a:latin typeface="Tahoma"/>
                <a:cs typeface="Tahoma"/>
              </a:rPr>
              <a:t>Множество</a:t>
            </a:r>
            <a:r>
              <a:rPr lang="ru-RU" sz="1000" dirty="0">
                <a:latin typeface="Tahoma"/>
                <a:cs typeface="Tahoma"/>
              </a:rPr>
              <a:t> - одно из самых основных понятий в математике, его даже можно назвать самым основным понятием в классической математике. Интуитивная идея, которая расширяет понятие "множество", заключается в том, что множество - это абстрактная совокупность произвольных элементов любой природы (это могут быть воображаемые или идеальные математические объекты). Такой интуитивный взгляд на множества не является точным, однако он помогает оперировать с множествами на основе здравого смысла.</a:t>
            </a:r>
            <a:endParaRPr sz="1000" dirty="0">
              <a:latin typeface="Tahoma"/>
              <a:cs typeface="Tahoma"/>
            </a:endParaRPr>
          </a:p>
        </p:txBody>
      </p:sp>
      <p:sp>
        <p:nvSpPr>
          <p:cNvPr id="35" name="object 35"/>
          <p:cNvSpPr txBox="1"/>
          <p:nvPr/>
        </p:nvSpPr>
        <p:spPr>
          <a:xfrm>
            <a:off x="732887" y="2257583"/>
            <a:ext cx="3704590" cy="1150956"/>
          </a:xfrm>
          <a:prstGeom prst="rect">
            <a:avLst/>
          </a:prstGeom>
        </p:spPr>
        <p:txBody>
          <a:bodyPr vert="horz" wrap="square" lIns="0" tIns="12065" rIns="0" bIns="0" rtlCol="0">
            <a:spAutoFit/>
          </a:bodyPr>
          <a:lstStyle/>
          <a:p>
            <a:pPr marL="12700" marR="5080">
              <a:lnSpc>
                <a:spcPct val="100000"/>
              </a:lnSpc>
              <a:spcBef>
                <a:spcPts val="95"/>
              </a:spcBef>
            </a:pPr>
            <a:r>
              <a:rPr sz="1000" spc="15" dirty="0">
                <a:latin typeface="Tahoma"/>
                <a:cs typeface="Tahoma"/>
              </a:rPr>
              <a:t> </a:t>
            </a:r>
            <a:r>
              <a:rPr lang="ru-RU" sz="800" spc="15" dirty="0">
                <a:latin typeface="Tahoma"/>
                <a:cs typeface="Tahoma"/>
              </a:rPr>
              <a:t>Более точное определение понятия "множество" требует формального логического языка, который будет раскрыт позже в этом курсе, поэтому сейчас мы будем работать с множествами интуитивно, как с "коллекциями элементов’. Понятие ’множество’ является фундаментальным в классической математике, поскольку оно является основой для определений всех других математических объектов. Грубо говоря, мы можем сказать, что все классические математические объекты являются множествами. Таким образом, не теряя общности, мы можем сказать, что все элементы математических множеств также являются множествами.</a:t>
            </a:r>
            <a:endParaRPr sz="800" dirty="0">
              <a:latin typeface="Tahoma"/>
              <a:cs typeface="Tahoma"/>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FFFFFF"/>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572252" y="45284"/>
            <a:ext cx="2993759" cy="232756"/>
          </a:xfrm>
          <a:prstGeom prst="rect">
            <a:avLst/>
          </a:prstGeom>
        </p:spPr>
        <p:txBody>
          <a:bodyPr vert="horz" wrap="square" lIns="0" tIns="17145" rIns="0" bIns="0" rtlCol="0">
            <a:spAutoFit/>
          </a:bodyPr>
          <a:lstStyle/>
          <a:p>
            <a:pPr marL="12700">
              <a:lnSpc>
                <a:spcPct val="100000"/>
              </a:lnSpc>
              <a:spcBef>
                <a:spcPts val="135"/>
              </a:spcBef>
            </a:pPr>
            <a:r>
              <a:rPr lang="ru-RU" spc="-75" dirty="0"/>
              <a:t>Обозначения для множеств</a:t>
            </a:r>
            <a:endParaRPr spc="-75" dirty="0"/>
          </a:p>
        </p:txBody>
      </p:sp>
      <p:grpSp>
        <p:nvGrpSpPr>
          <p:cNvPr id="30" name="object 30"/>
          <p:cNvGrpSpPr/>
          <p:nvPr/>
        </p:nvGrpSpPr>
        <p:grpSpPr>
          <a:xfrm>
            <a:off x="636892" y="797998"/>
            <a:ext cx="3831590" cy="1052737"/>
            <a:chOff x="698562" y="1214703"/>
            <a:chExt cx="3831590" cy="733425"/>
          </a:xfrm>
        </p:grpSpPr>
        <p:sp>
          <p:nvSpPr>
            <p:cNvPr id="31" name="object 31"/>
            <p:cNvSpPr/>
            <p:nvPr/>
          </p:nvSpPr>
          <p:spPr>
            <a:xfrm>
              <a:off x="698562" y="1214703"/>
              <a:ext cx="3780790" cy="82550"/>
            </a:xfrm>
            <a:custGeom>
              <a:avLst/>
              <a:gdLst/>
              <a:ahLst/>
              <a:cxnLst/>
              <a:rect l="l" t="t" r="r" b="b"/>
              <a:pathLst>
                <a:path w="3780790" h="82550">
                  <a:moveTo>
                    <a:pt x="3729484" y="0"/>
                  </a:moveTo>
                  <a:lnTo>
                    <a:pt x="50800" y="0"/>
                  </a:lnTo>
                  <a:lnTo>
                    <a:pt x="31075" y="4008"/>
                  </a:lnTo>
                  <a:lnTo>
                    <a:pt x="14922" y="14922"/>
                  </a:lnTo>
                  <a:lnTo>
                    <a:pt x="4008" y="31075"/>
                  </a:lnTo>
                  <a:lnTo>
                    <a:pt x="0" y="50800"/>
                  </a:lnTo>
                  <a:lnTo>
                    <a:pt x="0" y="82384"/>
                  </a:lnTo>
                  <a:lnTo>
                    <a:pt x="3780285" y="82384"/>
                  </a:lnTo>
                  <a:lnTo>
                    <a:pt x="3780285" y="50800"/>
                  </a:lnTo>
                  <a:lnTo>
                    <a:pt x="3776276" y="31075"/>
                  </a:lnTo>
                  <a:lnTo>
                    <a:pt x="3765362" y="14922"/>
                  </a:lnTo>
                  <a:lnTo>
                    <a:pt x="3749209" y="4008"/>
                  </a:lnTo>
                  <a:lnTo>
                    <a:pt x="3729484" y="0"/>
                  </a:lnTo>
                  <a:close/>
                </a:path>
              </a:pathLst>
            </a:custGeom>
            <a:solidFill>
              <a:srgbClr val="E9E9F2"/>
            </a:solidFill>
          </p:spPr>
          <p:txBody>
            <a:bodyPr wrap="square" lIns="0" tIns="0" rIns="0" bIns="0" rtlCol="0"/>
            <a:lstStyle/>
            <a:p>
              <a:endParaRPr/>
            </a:p>
          </p:txBody>
        </p:sp>
        <p:sp>
          <p:nvSpPr>
            <p:cNvPr id="32" name="object 32"/>
            <p:cNvSpPr/>
            <p:nvPr/>
          </p:nvSpPr>
          <p:spPr>
            <a:xfrm>
              <a:off x="749363" y="1277960"/>
              <a:ext cx="3780790" cy="669925"/>
            </a:xfrm>
            <a:custGeom>
              <a:avLst/>
              <a:gdLst/>
              <a:ahLst/>
              <a:cxnLst/>
              <a:rect l="l" t="t" r="r" b="b"/>
              <a:pathLst>
                <a:path w="3780790" h="669925">
                  <a:moveTo>
                    <a:pt x="3780285" y="0"/>
                  </a:moveTo>
                  <a:lnTo>
                    <a:pt x="0" y="0"/>
                  </a:lnTo>
                  <a:lnTo>
                    <a:pt x="0" y="669662"/>
                  </a:lnTo>
                  <a:lnTo>
                    <a:pt x="3780285" y="669662"/>
                  </a:lnTo>
                  <a:lnTo>
                    <a:pt x="3780285" y="0"/>
                  </a:lnTo>
                  <a:close/>
                </a:path>
              </a:pathLst>
            </a:custGeom>
            <a:solidFill>
              <a:srgbClr val="000000"/>
            </a:solidFill>
          </p:spPr>
          <p:txBody>
            <a:bodyPr wrap="square" lIns="0" tIns="0" rIns="0" bIns="0" rtlCol="0"/>
            <a:lstStyle/>
            <a:p>
              <a:endParaRPr/>
            </a:p>
          </p:txBody>
        </p:sp>
        <p:sp>
          <p:nvSpPr>
            <p:cNvPr id="33" name="object 33"/>
            <p:cNvSpPr/>
            <p:nvPr/>
          </p:nvSpPr>
          <p:spPr>
            <a:xfrm>
              <a:off x="698562" y="1259123"/>
              <a:ext cx="3780790" cy="638175"/>
            </a:xfrm>
            <a:custGeom>
              <a:avLst/>
              <a:gdLst/>
              <a:ahLst/>
              <a:cxnLst/>
              <a:rect l="l" t="t" r="r" b="b"/>
              <a:pathLst>
                <a:path w="3780790" h="638175">
                  <a:moveTo>
                    <a:pt x="3780285" y="0"/>
                  </a:moveTo>
                  <a:lnTo>
                    <a:pt x="0" y="0"/>
                  </a:lnTo>
                  <a:lnTo>
                    <a:pt x="0" y="586898"/>
                  </a:lnTo>
                  <a:lnTo>
                    <a:pt x="4008" y="606622"/>
                  </a:lnTo>
                  <a:lnTo>
                    <a:pt x="14922" y="622775"/>
                  </a:lnTo>
                  <a:lnTo>
                    <a:pt x="31075" y="633689"/>
                  </a:lnTo>
                  <a:lnTo>
                    <a:pt x="50800" y="637698"/>
                  </a:lnTo>
                  <a:lnTo>
                    <a:pt x="3729484" y="637698"/>
                  </a:lnTo>
                  <a:lnTo>
                    <a:pt x="3749209" y="633689"/>
                  </a:lnTo>
                  <a:lnTo>
                    <a:pt x="3765362" y="622775"/>
                  </a:lnTo>
                  <a:lnTo>
                    <a:pt x="3776276" y="606622"/>
                  </a:lnTo>
                  <a:lnTo>
                    <a:pt x="3780285" y="586898"/>
                  </a:lnTo>
                  <a:lnTo>
                    <a:pt x="3780285" y="0"/>
                  </a:lnTo>
                  <a:close/>
                </a:path>
              </a:pathLst>
            </a:custGeom>
            <a:solidFill>
              <a:srgbClr val="E9E9F2"/>
            </a:solidFill>
          </p:spPr>
          <p:txBody>
            <a:bodyPr wrap="square" lIns="0" tIns="0" rIns="0" bIns="0" rtlCol="0"/>
            <a:lstStyle/>
            <a:p>
              <a:endParaRPr/>
            </a:p>
          </p:txBody>
        </p:sp>
      </p:grpSp>
      <p:sp>
        <p:nvSpPr>
          <p:cNvPr id="34" name="object 34"/>
          <p:cNvSpPr txBox="1"/>
          <p:nvPr/>
        </p:nvSpPr>
        <p:spPr>
          <a:xfrm>
            <a:off x="738394" y="797998"/>
            <a:ext cx="3232213" cy="979114"/>
          </a:xfrm>
          <a:prstGeom prst="rect">
            <a:avLst/>
          </a:prstGeom>
        </p:spPr>
        <p:txBody>
          <a:bodyPr vert="horz" wrap="square" lIns="0" tIns="12065" rIns="0" bIns="0" rtlCol="0">
            <a:spAutoFit/>
          </a:bodyPr>
          <a:lstStyle/>
          <a:p>
            <a:pPr marL="12700">
              <a:lnSpc>
                <a:spcPct val="100000"/>
              </a:lnSpc>
              <a:spcBef>
                <a:spcPts val="95"/>
              </a:spcBef>
            </a:pPr>
            <a:r>
              <a:rPr lang="ru-RU" sz="1000" dirty="0">
                <a:effectLst/>
              </a:rPr>
              <a:t>Множества будут обозначаться буквами латинского языка, возможно, с индексами. Итак,</a:t>
            </a:r>
            <a:r>
              <a:rPr lang="en-US" sz="1000" dirty="0">
                <a:effectLst/>
              </a:rPr>
              <a:t> </a:t>
            </a:r>
            <a:r>
              <a:rPr lang="en-US" sz="1000" i="1" spc="-70" dirty="0">
                <a:latin typeface="Arial"/>
                <a:cs typeface="Arial"/>
              </a:rPr>
              <a:t>a</a:t>
            </a:r>
            <a:r>
              <a:rPr lang="en-US" sz="1000" spc="-30" dirty="0">
                <a:latin typeface="Tahoma"/>
                <a:cs typeface="Tahoma"/>
              </a:rPr>
              <a:t>,</a:t>
            </a:r>
            <a:r>
              <a:rPr lang="en-US" sz="1000" spc="20" dirty="0">
                <a:latin typeface="Tahoma"/>
                <a:cs typeface="Tahoma"/>
              </a:rPr>
              <a:t> </a:t>
            </a:r>
            <a:r>
              <a:rPr lang="en-US" sz="1000" i="1" spc="-5" dirty="0">
                <a:latin typeface="Arial"/>
                <a:cs typeface="Arial"/>
              </a:rPr>
              <a:t>B</a:t>
            </a:r>
            <a:r>
              <a:rPr lang="en-US" sz="1000" i="1" dirty="0">
                <a:latin typeface="Arial"/>
                <a:cs typeface="Arial"/>
              </a:rPr>
              <a:t> </a:t>
            </a:r>
            <a:r>
              <a:rPr lang="en-US" sz="1000" i="1" spc="-135" dirty="0">
                <a:latin typeface="Arial"/>
                <a:cs typeface="Arial"/>
              </a:rPr>
              <a:t> </a:t>
            </a:r>
            <a:r>
              <a:rPr lang="en-US" sz="1000" spc="-30" dirty="0">
                <a:latin typeface="Tahoma"/>
                <a:cs typeface="Tahoma"/>
              </a:rPr>
              <a:t>,</a:t>
            </a:r>
            <a:r>
              <a:rPr lang="en-US" sz="1000" spc="20" dirty="0">
                <a:latin typeface="Tahoma"/>
                <a:cs typeface="Tahoma"/>
              </a:rPr>
              <a:t> </a:t>
            </a:r>
            <a:r>
              <a:rPr lang="en-US" sz="1000" i="1" spc="45" dirty="0">
                <a:latin typeface="Arial"/>
                <a:cs typeface="Arial"/>
              </a:rPr>
              <a:t>x</a:t>
            </a:r>
            <a:r>
              <a:rPr lang="en-US" sz="1050" i="1" spc="30" baseline="27777" dirty="0">
                <a:latin typeface="Arial"/>
                <a:cs typeface="Arial"/>
              </a:rPr>
              <a:t>i</a:t>
            </a:r>
            <a:r>
              <a:rPr lang="en-US" sz="1050" i="1" spc="-120" baseline="27777" dirty="0">
                <a:latin typeface="Arial"/>
                <a:cs typeface="Arial"/>
              </a:rPr>
              <a:t> </a:t>
            </a:r>
            <a:r>
              <a:rPr lang="en-US" sz="1000" spc="-30" dirty="0">
                <a:latin typeface="Tahoma"/>
                <a:cs typeface="Tahoma"/>
              </a:rPr>
              <a:t>,</a:t>
            </a:r>
            <a:r>
              <a:rPr lang="en-US" sz="1000" spc="20" dirty="0">
                <a:latin typeface="Tahoma"/>
                <a:cs typeface="Tahoma"/>
              </a:rPr>
              <a:t> </a:t>
            </a:r>
            <a:r>
              <a:rPr lang="en-US" sz="1000" i="1" spc="-5" dirty="0">
                <a:latin typeface="Arial"/>
                <a:cs typeface="Arial"/>
              </a:rPr>
              <a:t>V</a:t>
            </a:r>
            <a:r>
              <a:rPr lang="en-US" sz="1000" i="1" spc="-120" dirty="0">
                <a:latin typeface="Arial"/>
                <a:cs typeface="Arial"/>
              </a:rPr>
              <a:t> </a:t>
            </a:r>
            <a:r>
              <a:rPr lang="en-US" sz="1050" i="1" spc="30" baseline="27777" dirty="0" err="1">
                <a:latin typeface="Arial"/>
                <a:cs typeface="Arial"/>
              </a:rPr>
              <a:t>i</a:t>
            </a:r>
            <a:r>
              <a:rPr lang="en-US" sz="1050" i="1" baseline="27777" dirty="0">
                <a:latin typeface="Arial"/>
                <a:cs typeface="Arial"/>
              </a:rPr>
              <a:t> </a:t>
            </a:r>
            <a:r>
              <a:rPr lang="ru-RU" sz="1050" dirty="0">
                <a:effectLst/>
              </a:rPr>
              <a:t>являются множествами, и тот факт, что элемент a</a:t>
            </a:r>
            <a:r>
              <a:rPr lang="en-US" sz="1050" dirty="0">
                <a:effectLst/>
              </a:rPr>
              <a:t> </a:t>
            </a:r>
            <a:r>
              <a:rPr lang="ru-RU" sz="1050" dirty="0">
                <a:effectLst/>
              </a:rPr>
              <a:t>принадлежит (находится внутри, является членом) множеству A, которое будет обозначаться как</a:t>
            </a:r>
            <a:r>
              <a:rPr lang="en-US" sz="1050" dirty="0">
                <a:effectLst/>
              </a:rPr>
              <a:t> </a:t>
            </a:r>
            <a:r>
              <a:rPr lang="en-US" sz="1000" i="1" spc="-80" dirty="0">
                <a:latin typeface="Arial"/>
                <a:cs typeface="Arial"/>
              </a:rPr>
              <a:t>a</a:t>
            </a:r>
            <a:r>
              <a:rPr lang="en-US" sz="1000" i="1" spc="5" dirty="0">
                <a:latin typeface="Arial"/>
                <a:cs typeface="Arial"/>
              </a:rPr>
              <a:t> </a:t>
            </a:r>
            <a:r>
              <a:rPr lang="en-US" sz="1000" spc="-135" dirty="0">
                <a:latin typeface="Lucida Sans Unicode"/>
                <a:cs typeface="Lucida Sans Unicode"/>
              </a:rPr>
              <a:t>∈</a:t>
            </a:r>
            <a:r>
              <a:rPr lang="en-US" sz="1000" spc="-40" dirty="0">
                <a:latin typeface="Lucida Sans Unicode"/>
                <a:cs typeface="Lucida Sans Unicode"/>
              </a:rPr>
              <a:t> </a:t>
            </a:r>
            <a:r>
              <a:rPr lang="en-US" sz="1000" i="1" spc="-20" dirty="0">
                <a:latin typeface="Arial"/>
                <a:cs typeface="Arial"/>
              </a:rPr>
              <a:t>A</a:t>
            </a:r>
            <a:r>
              <a:rPr lang="en-US" sz="1000" spc="-20" dirty="0">
                <a:latin typeface="Tahoma"/>
                <a:cs typeface="Tahoma"/>
              </a:rPr>
              <a:t>.</a:t>
            </a:r>
          </a:p>
          <a:p>
            <a:pPr marL="12700">
              <a:lnSpc>
                <a:spcPct val="100000"/>
              </a:lnSpc>
              <a:spcBef>
                <a:spcPts val="95"/>
              </a:spcBef>
            </a:pPr>
            <a:r>
              <a:rPr lang="ru-RU" sz="1000" dirty="0">
                <a:effectLst/>
              </a:rPr>
              <a:t>Символ </a:t>
            </a:r>
            <a:r>
              <a:rPr lang="ru-RU" sz="1000" spc="-135" dirty="0">
                <a:latin typeface="Lucida Sans Unicode"/>
                <a:cs typeface="Lucida Sans Unicode"/>
              </a:rPr>
              <a:t>∈</a:t>
            </a:r>
            <a:r>
              <a:rPr lang="ru-RU" sz="1000" dirty="0">
                <a:effectLst/>
              </a:rPr>
              <a:t> - это символ отношения членства.</a:t>
            </a:r>
            <a:endParaRPr sz="1000" dirty="0">
              <a:latin typeface="Tahoma"/>
              <a:cs typeface="Tahoma"/>
            </a:endParaRPr>
          </a:p>
        </p:txBody>
      </p:sp>
      <p:grpSp>
        <p:nvGrpSpPr>
          <p:cNvPr id="39" name="object 39"/>
          <p:cNvGrpSpPr/>
          <p:nvPr/>
        </p:nvGrpSpPr>
        <p:grpSpPr>
          <a:xfrm>
            <a:off x="711361" y="2243099"/>
            <a:ext cx="3831590" cy="701386"/>
            <a:chOff x="698562" y="2048750"/>
            <a:chExt cx="3831590" cy="588645"/>
          </a:xfrm>
        </p:grpSpPr>
        <p:sp>
          <p:nvSpPr>
            <p:cNvPr id="40" name="object 40"/>
            <p:cNvSpPr/>
            <p:nvPr/>
          </p:nvSpPr>
          <p:spPr>
            <a:xfrm>
              <a:off x="698562" y="2048750"/>
              <a:ext cx="3780790" cy="82550"/>
            </a:xfrm>
            <a:custGeom>
              <a:avLst/>
              <a:gdLst/>
              <a:ahLst/>
              <a:cxnLst/>
              <a:rect l="l" t="t" r="r" b="b"/>
              <a:pathLst>
                <a:path w="3780790" h="82550">
                  <a:moveTo>
                    <a:pt x="3729484" y="0"/>
                  </a:moveTo>
                  <a:lnTo>
                    <a:pt x="50800" y="0"/>
                  </a:lnTo>
                  <a:lnTo>
                    <a:pt x="31075" y="4008"/>
                  </a:lnTo>
                  <a:lnTo>
                    <a:pt x="14922" y="14922"/>
                  </a:lnTo>
                  <a:lnTo>
                    <a:pt x="4008" y="31075"/>
                  </a:lnTo>
                  <a:lnTo>
                    <a:pt x="0" y="50800"/>
                  </a:lnTo>
                  <a:lnTo>
                    <a:pt x="0" y="82384"/>
                  </a:lnTo>
                  <a:lnTo>
                    <a:pt x="3780285" y="82384"/>
                  </a:lnTo>
                  <a:lnTo>
                    <a:pt x="3780285" y="50800"/>
                  </a:lnTo>
                  <a:lnTo>
                    <a:pt x="3776276" y="31075"/>
                  </a:lnTo>
                  <a:lnTo>
                    <a:pt x="3765362" y="14922"/>
                  </a:lnTo>
                  <a:lnTo>
                    <a:pt x="3749209" y="4008"/>
                  </a:lnTo>
                  <a:lnTo>
                    <a:pt x="3729484" y="0"/>
                  </a:lnTo>
                  <a:close/>
                </a:path>
              </a:pathLst>
            </a:custGeom>
            <a:solidFill>
              <a:srgbClr val="E9E9F2"/>
            </a:solidFill>
          </p:spPr>
          <p:txBody>
            <a:bodyPr wrap="square" lIns="0" tIns="0" rIns="0" bIns="0" rtlCol="0"/>
            <a:lstStyle/>
            <a:p>
              <a:endParaRPr/>
            </a:p>
          </p:txBody>
        </p:sp>
        <p:sp>
          <p:nvSpPr>
            <p:cNvPr id="41" name="object 41"/>
            <p:cNvSpPr/>
            <p:nvPr/>
          </p:nvSpPr>
          <p:spPr>
            <a:xfrm>
              <a:off x="749363" y="2112004"/>
              <a:ext cx="3780790" cy="525145"/>
            </a:xfrm>
            <a:custGeom>
              <a:avLst/>
              <a:gdLst/>
              <a:ahLst/>
              <a:cxnLst/>
              <a:rect l="l" t="t" r="r" b="b"/>
              <a:pathLst>
                <a:path w="3780790" h="525144">
                  <a:moveTo>
                    <a:pt x="3780285" y="0"/>
                  </a:moveTo>
                  <a:lnTo>
                    <a:pt x="0" y="0"/>
                  </a:lnTo>
                  <a:lnTo>
                    <a:pt x="0" y="524858"/>
                  </a:lnTo>
                  <a:lnTo>
                    <a:pt x="3780285" y="524858"/>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2093168"/>
              <a:ext cx="3780790" cy="493395"/>
            </a:xfrm>
            <a:custGeom>
              <a:avLst/>
              <a:gdLst/>
              <a:ahLst/>
              <a:cxnLst/>
              <a:rect l="l" t="t" r="r" b="b"/>
              <a:pathLst>
                <a:path w="3780790" h="493394">
                  <a:moveTo>
                    <a:pt x="3780285" y="0"/>
                  </a:moveTo>
                  <a:lnTo>
                    <a:pt x="0" y="0"/>
                  </a:lnTo>
                  <a:lnTo>
                    <a:pt x="0" y="442094"/>
                  </a:lnTo>
                  <a:lnTo>
                    <a:pt x="4008" y="461819"/>
                  </a:lnTo>
                  <a:lnTo>
                    <a:pt x="14922" y="477972"/>
                  </a:lnTo>
                  <a:lnTo>
                    <a:pt x="31075" y="488886"/>
                  </a:lnTo>
                  <a:lnTo>
                    <a:pt x="50800" y="492895"/>
                  </a:lnTo>
                  <a:lnTo>
                    <a:pt x="3729484" y="492895"/>
                  </a:lnTo>
                  <a:lnTo>
                    <a:pt x="3749209" y="488886"/>
                  </a:lnTo>
                  <a:lnTo>
                    <a:pt x="3765362" y="477972"/>
                  </a:lnTo>
                  <a:lnTo>
                    <a:pt x="3776276" y="461819"/>
                  </a:lnTo>
                  <a:lnTo>
                    <a:pt x="3780285" y="442094"/>
                  </a:lnTo>
                  <a:lnTo>
                    <a:pt x="3780285" y="0"/>
                  </a:lnTo>
                  <a:close/>
                </a:path>
              </a:pathLst>
            </a:custGeom>
            <a:solidFill>
              <a:srgbClr val="E9E9F2"/>
            </a:solidFill>
          </p:spPr>
          <p:txBody>
            <a:bodyPr wrap="square" lIns="0" tIns="0" rIns="0" bIns="0" rtlCol="0"/>
            <a:lstStyle/>
            <a:p>
              <a:endParaRPr dirty="0"/>
            </a:p>
          </p:txBody>
        </p:sp>
      </p:grpSp>
      <p:sp>
        <p:nvSpPr>
          <p:cNvPr id="43" name="object 43"/>
          <p:cNvSpPr txBox="1"/>
          <p:nvPr/>
        </p:nvSpPr>
        <p:spPr>
          <a:xfrm>
            <a:off x="698661" y="2044054"/>
            <a:ext cx="3806190" cy="850874"/>
          </a:xfrm>
          <a:prstGeom prst="rect">
            <a:avLst/>
          </a:prstGeom>
        </p:spPr>
        <p:txBody>
          <a:bodyPr vert="horz" wrap="square" lIns="0" tIns="12065" rIns="0" bIns="0" rtlCol="0">
            <a:spAutoFit/>
          </a:bodyPr>
          <a:lstStyle/>
          <a:p>
            <a:pPr>
              <a:lnSpc>
                <a:spcPct val="100000"/>
              </a:lnSpc>
              <a:spcBef>
                <a:spcPts val="30"/>
              </a:spcBef>
            </a:pPr>
            <a:endParaRPr sz="1450" dirty="0">
              <a:latin typeface="Tahoma"/>
              <a:cs typeface="Tahoma"/>
            </a:endParaRPr>
          </a:p>
          <a:p>
            <a:pPr marL="75565">
              <a:lnSpc>
                <a:spcPts val="1190"/>
              </a:lnSpc>
            </a:pPr>
            <a:r>
              <a:rPr lang="ru-RU" sz="1000" dirty="0">
                <a:effectLst/>
              </a:rPr>
              <a:t>Множество, состоящее из конечного числа элементов </a:t>
            </a:r>
            <a:r>
              <a:rPr lang="en-US" sz="1000" i="1" spc="-50" dirty="0">
                <a:latin typeface="Arial"/>
                <a:cs typeface="Arial"/>
              </a:rPr>
              <a:t>a</a:t>
            </a:r>
            <a:r>
              <a:rPr lang="en-US" sz="1050" spc="-75" baseline="-11904" dirty="0">
                <a:latin typeface="Microsoft Sans Serif"/>
                <a:cs typeface="Microsoft Sans Serif"/>
              </a:rPr>
              <a:t>1</a:t>
            </a:r>
            <a:r>
              <a:rPr lang="en-US" sz="1050" spc="135" baseline="-11904" dirty="0">
                <a:latin typeface="Microsoft Sans Serif"/>
                <a:cs typeface="Microsoft Sans Serif"/>
              </a:rPr>
              <a:t> </a:t>
            </a:r>
            <a:r>
              <a:rPr lang="en-US" sz="1000" i="1" spc="-50" dirty="0">
                <a:latin typeface="Arial"/>
                <a:cs typeface="Arial"/>
              </a:rPr>
              <a:t>a</a:t>
            </a:r>
            <a:r>
              <a:rPr lang="en-US" sz="1050" spc="-75" baseline="-11904" dirty="0">
                <a:latin typeface="Microsoft Sans Serif"/>
                <a:cs typeface="Microsoft Sans Serif"/>
              </a:rPr>
              <a:t>2</a:t>
            </a:r>
            <a:r>
              <a:rPr lang="en-US" sz="1050" spc="127" baseline="-11904" dirty="0">
                <a:latin typeface="Microsoft Sans Serif"/>
                <a:cs typeface="Microsoft Sans Serif"/>
              </a:rPr>
              <a:t> </a:t>
            </a:r>
            <a:r>
              <a:rPr lang="en-US" sz="1000" i="1" spc="-90" dirty="0">
                <a:latin typeface="Verdana"/>
                <a:cs typeface="Verdana"/>
              </a:rPr>
              <a:t>. . . </a:t>
            </a:r>
            <a:r>
              <a:rPr lang="en-US" sz="1000" i="1" spc="-45" dirty="0">
                <a:latin typeface="Arial"/>
                <a:cs typeface="Arial"/>
              </a:rPr>
              <a:t>a</a:t>
            </a:r>
            <a:r>
              <a:rPr lang="en-US" sz="1050" i="1" spc="-67" baseline="-11904" dirty="0">
                <a:latin typeface="Arial"/>
                <a:cs typeface="Arial"/>
              </a:rPr>
              <a:t>n </a:t>
            </a:r>
            <a:r>
              <a:rPr lang="en-US" sz="1000" spc="-30" dirty="0">
                <a:latin typeface="Tahoma"/>
                <a:cs typeface="Tahoma"/>
              </a:rPr>
              <a:t>, </a:t>
            </a:r>
            <a:r>
              <a:rPr lang="ru-RU" sz="1000" dirty="0">
                <a:effectLst/>
              </a:rPr>
              <a:t>где n - натуральное число (количество элементов), обозначается как </a:t>
            </a:r>
            <a:r>
              <a:rPr lang="en-US" sz="1000" spc="5" dirty="0">
                <a:latin typeface="Lucida Sans Unicode"/>
                <a:cs typeface="Lucida Sans Unicode"/>
              </a:rPr>
              <a:t>{</a:t>
            </a:r>
            <a:r>
              <a:rPr lang="en-US" sz="1000" i="1" spc="5" dirty="0">
                <a:latin typeface="Arial"/>
                <a:cs typeface="Arial"/>
              </a:rPr>
              <a:t>a</a:t>
            </a:r>
            <a:r>
              <a:rPr lang="en-US" sz="1050" spc="7" baseline="-11904" dirty="0">
                <a:latin typeface="Microsoft Sans Serif"/>
                <a:cs typeface="Microsoft Sans Serif"/>
              </a:rPr>
              <a:t>1</a:t>
            </a:r>
            <a:r>
              <a:rPr lang="en-US" sz="1000" i="1" spc="5" dirty="0">
                <a:latin typeface="Verdana"/>
                <a:cs typeface="Verdana"/>
              </a:rPr>
              <a:t>,</a:t>
            </a:r>
            <a:r>
              <a:rPr lang="en-US" sz="1000" i="1" spc="-185" dirty="0">
                <a:latin typeface="Verdana"/>
                <a:cs typeface="Verdana"/>
              </a:rPr>
              <a:t> </a:t>
            </a:r>
            <a:r>
              <a:rPr lang="en-US" sz="1000" i="1" spc="-45" dirty="0">
                <a:latin typeface="Arial"/>
                <a:cs typeface="Arial"/>
              </a:rPr>
              <a:t>a</a:t>
            </a:r>
            <a:r>
              <a:rPr lang="en-US" sz="1050" spc="-67" baseline="-11904" dirty="0">
                <a:latin typeface="Microsoft Sans Serif"/>
                <a:cs typeface="Microsoft Sans Serif"/>
              </a:rPr>
              <a:t>2</a:t>
            </a:r>
            <a:r>
              <a:rPr lang="en-US" sz="1000" i="1" spc="-45" dirty="0">
                <a:latin typeface="Verdana"/>
                <a:cs typeface="Verdana"/>
              </a:rPr>
              <a:t>,</a:t>
            </a:r>
            <a:r>
              <a:rPr lang="en-US" sz="1000" i="1" spc="-185" dirty="0">
                <a:latin typeface="Verdana"/>
                <a:cs typeface="Verdana"/>
              </a:rPr>
              <a:t> </a:t>
            </a:r>
            <a:r>
              <a:rPr lang="en-US" sz="1000" i="1" spc="-90" dirty="0">
                <a:latin typeface="Verdana"/>
                <a:cs typeface="Verdana"/>
              </a:rPr>
              <a:t>.</a:t>
            </a:r>
            <a:r>
              <a:rPr lang="en-US" sz="1000" i="1" spc="-190" dirty="0">
                <a:latin typeface="Verdana"/>
                <a:cs typeface="Verdana"/>
              </a:rPr>
              <a:t> </a:t>
            </a:r>
            <a:r>
              <a:rPr lang="en-US" sz="1000" i="1" spc="-90" dirty="0">
                <a:latin typeface="Verdana"/>
                <a:cs typeface="Verdana"/>
              </a:rPr>
              <a:t>.</a:t>
            </a:r>
            <a:r>
              <a:rPr lang="en-US" sz="1000" i="1" spc="-185" dirty="0">
                <a:latin typeface="Verdana"/>
                <a:cs typeface="Verdana"/>
              </a:rPr>
              <a:t> </a:t>
            </a:r>
            <a:r>
              <a:rPr lang="en-US" sz="1000" i="1" spc="-90" dirty="0">
                <a:latin typeface="Verdana"/>
                <a:cs typeface="Verdana"/>
              </a:rPr>
              <a:t>.</a:t>
            </a:r>
            <a:r>
              <a:rPr lang="en-US" sz="1000" i="1" spc="-185" dirty="0">
                <a:latin typeface="Verdana"/>
                <a:cs typeface="Verdana"/>
              </a:rPr>
              <a:t> </a:t>
            </a:r>
            <a:r>
              <a:rPr lang="en-US" sz="1000" i="1" spc="-90" dirty="0">
                <a:latin typeface="Verdana"/>
                <a:cs typeface="Verdana"/>
              </a:rPr>
              <a:t>,</a:t>
            </a:r>
            <a:r>
              <a:rPr lang="en-US" sz="1000" i="1" spc="-190" dirty="0">
                <a:latin typeface="Verdana"/>
                <a:cs typeface="Verdana"/>
              </a:rPr>
              <a:t> </a:t>
            </a:r>
            <a:r>
              <a:rPr lang="en-US" sz="1000" i="1" spc="-45" dirty="0">
                <a:latin typeface="Arial"/>
                <a:cs typeface="Arial"/>
              </a:rPr>
              <a:t>a</a:t>
            </a:r>
            <a:r>
              <a:rPr lang="en-US" sz="1050" i="1" spc="-67" baseline="-11904" dirty="0">
                <a:latin typeface="Arial"/>
                <a:cs typeface="Arial"/>
              </a:rPr>
              <a:t>n</a:t>
            </a:r>
            <a:r>
              <a:rPr lang="en-US" sz="1050" i="1" spc="-202" baseline="-11904" dirty="0">
                <a:latin typeface="Arial"/>
                <a:cs typeface="Arial"/>
              </a:rPr>
              <a:t> </a:t>
            </a:r>
            <a:r>
              <a:rPr lang="en-US" sz="1000" spc="70" dirty="0">
                <a:latin typeface="Lucida Sans Unicode"/>
                <a:cs typeface="Lucida Sans Unicode"/>
              </a:rPr>
              <a:t>}</a:t>
            </a:r>
            <a:r>
              <a:rPr lang="en-US" sz="1000" spc="70" dirty="0">
                <a:latin typeface="Tahoma"/>
                <a:cs typeface="Tahoma"/>
              </a:rPr>
              <a:t>.</a:t>
            </a:r>
            <a:r>
              <a:rPr lang="ru-RU" sz="1000" dirty="0">
                <a:effectLst/>
              </a:rPr>
              <a:t>Здесь мы используем символ... для обозначения фразы "и так далее’.</a:t>
            </a:r>
            <a:endParaRPr sz="1000" dirty="0">
              <a:latin typeface="Tahoma"/>
              <a:cs typeface="Tahoma"/>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FFFFFF"/>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2350198" cy="232756"/>
          </a:xfrm>
          <a:prstGeom prst="rect">
            <a:avLst/>
          </a:prstGeom>
        </p:spPr>
        <p:txBody>
          <a:bodyPr vert="horz" wrap="square" lIns="0" tIns="17145" rIns="0" bIns="0" rtlCol="0">
            <a:spAutoFit/>
          </a:bodyPr>
          <a:lstStyle/>
          <a:p>
            <a:pPr marL="12700">
              <a:lnSpc>
                <a:spcPct val="100000"/>
              </a:lnSpc>
              <a:spcBef>
                <a:spcPts val="135"/>
              </a:spcBef>
            </a:pPr>
            <a:r>
              <a:rPr lang="ru-RU" spc="-75" dirty="0"/>
              <a:t>Объединение множеств</a:t>
            </a:r>
            <a:endParaRPr spc="-75" dirty="0"/>
          </a:p>
        </p:txBody>
      </p:sp>
      <p:sp>
        <p:nvSpPr>
          <p:cNvPr id="29" name="object 29"/>
          <p:cNvSpPr/>
          <p:nvPr/>
        </p:nvSpPr>
        <p:spPr>
          <a:xfrm>
            <a:off x="680781" y="1004351"/>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0" name="object 30"/>
          <p:cNvSpPr txBox="1"/>
          <p:nvPr/>
        </p:nvSpPr>
        <p:spPr>
          <a:xfrm>
            <a:off x="698563" y="1039724"/>
            <a:ext cx="819664" cy="128240"/>
          </a:xfrm>
          <a:prstGeom prst="rect">
            <a:avLst/>
          </a:prstGeom>
        </p:spPr>
        <p:txBody>
          <a:bodyPr vert="horz" wrap="square" lIns="0" tIns="0" rIns="0" bIns="0" rtlCol="0">
            <a:spAutoFit/>
          </a:bodyPr>
          <a:lstStyle/>
          <a:p>
            <a:pPr>
              <a:lnSpc>
                <a:spcPts val="955"/>
              </a:lnSpc>
            </a:pPr>
            <a:r>
              <a:rPr lang="ru-RU" sz="1000" spc="-15" dirty="0">
                <a:solidFill>
                  <a:srgbClr val="FFFFFF"/>
                </a:solidFill>
                <a:latin typeface="Tahoma"/>
                <a:cs typeface="Tahoma"/>
              </a:rPr>
              <a:t>Определение</a:t>
            </a:r>
            <a:endParaRPr sz="1000" dirty="0">
              <a:latin typeface="Tahoma"/>
              <a:cs typeface="Tahoma"/>
            </a:endParaRPr>
          </a:p>
        </p:txBody>
      </p:sp>
      <p:sp>
        <p:nvSpPr>
          <p:cNvPr id="35" name="object 35"/>
          <p:cNvSpPr txBox="1"/>
          <p:nvPr/>
        </p:nvSpPr>
        <p:spPr>
          <a:xfrm>
            <a:off x="743589" y="1274382"/>
            <a:ext cx="3643629" cy="781624"/>
          </a:xfrm>
          <a:prstGeom prst="rect">
            <a:avLst/>
          </a:prstGeom>
        </p:spPr>
        <p:txBody>
          <a:bodyPr vert="horz" wrap="square" lIns="0" tIns="12065" rIns="0" bIns="0" rtlCol="0">
            <a:spAutoFit/>
          </a:bodyPr>
          <a:lstStyle/>
          <a:p>
            <a:pPr>
              <a:lnSpc>
                <a:spcPct val="100000"/>
              </a:lnSpc>
              <a:spcBef>
                <a:spcPts val="95"/>
              </a:spcBef>
            </a:pPr>
            <a:r>
              <a:rPr lang="ru-RU" sz="1000" dirty="0">
                <a:effectLst/>
              </a:rPr>
              <a:t>Пусть X и Y - множества. Тогда X </a:t>
            </a:r>
            <a:r>
              <a:rPr lang="ru-RU" sz="1000" spc="-135" dirty="0">
                <a:latin typeface="Lucida Sans Unicode"/>
                <a:cs typeface="Lucida Sans Unicode"/>
              </a:rPr>
              <a:t>∪</a:t>
            </a:r>
            <a:r>
              <a:rPr lang="ru-RU" sz="1000" dirty="0">
                <a:effectLst/>
              </a:rPr>
              <a:t> Y обозначает </a:t>
            </a:r>
            <a:r>
              <a:rPr lang="ru-RU" sz="1000" b="1" i="1" dirty="0">
                <a:effectLst/>
              </a:rPr>
              <a:t>объединение </a:t>
            </a:r>
            <a:r>
              <a:rPr lang="ru-RU" sz="1000" dirty="0">
                <a:effectLst/>
              </a:rPr>
              <a:t>множеств X и</a:t>
            </a:r>
            <a:r>
              <a:rPr lang="en-US" sz="1000" dirty="0">
                <a:effectLst/>
              </a:rPr>
              <a:t> </a:t>
            </a:r>
            <a:r>
              <a:rPr lang="ru-RU" sz="1000" dirty="0">
                <a:effectLst/>
              </a:rPr>
              <a:t> Y</a:t>
            </a:r>
            <a:r>
              <a:rPr lang="en-US" sz="1000" i="1" spc="-110" dirty="0">
                <a:latin typeface="Arial"/>
                <a:cs typeface="Arial"/>
              </a:rPr>
              <a:t> </a:t>
            </a:r>
            <a:r>
              <a:rPr lang="en-US" sz="1000" spc="-30" dirty="0">
                <a:latin typeface="Tahoma"/>
                <a:cs typeface="Tahoma"/>
              </a:rPr>
              <a:t>.</a:t>
            </a:r>
            <a:r>
              <a:rPr lang="ru-RU" sz="1000" dirty="0">
                <a:effectLst/>
              </a:rPr>
              <a:t> Это множество состоит из элементов, которые принадлежат либо X, либо Y (или им обоим). Другими словами, для любого элемента a выполняется условие a </a:t>
            </a:r>
            <a:r>
              <a:rPr lang="ru-RU" sz="1000" spc="-135" dirty="0">
                <a:latin typeface="Lucida Sans Unicode"/>
                <a:cs typeface="Lucida Sans Unicode"/>
              </a:rPr>
              <a:t>∈</a:t>
            </a:r>
            <a:r>
              <a:rPr lang="ru-RU" sz="1000" dirty="0">
                <a:effectLst/>
              </a:rPr>
              <a:t> X </a:t>
            </a:r>
            <a:r>
              <a:rPr lang="ru-RU" sz="1000" spc="-135" dirty="0">
                <a:latin typeface="Lucida Sans Unicode"/>
                <a:cs typeface="Lucida Sans Unicode"/>
              </a:rPr>
              <a:t>∪</a:t>
            </a:r>
            <a:r>
              <a:rPr lang="ru-RU" sz="1000" dirty="0">
                <a:effectLst/>
              </a:rPr>
              <a:t> Y, если (тогда и только тогда) выполняется a </a:t>
            </a:r>
            <a:r>
              <a:rPr lang="ru-RU" sz="1000" spc="-135" dirty="0">
                <a:latin typeface="Lucida Sans Unicode"/>
                <a:cs typeface="Lucida Sans Unicode"/>
              </a:rPr>
              <a:t>∈</a:t>
            </a:r>
            <a:r>
              <a:rPr lang="ru-RU" sz="1000" dirty="0">
                <a:effectLst/>
              </a:rPr>
              <a:t> X или a </a:t>
            </a:r>
            <a:r>
              <a:rPr lang="ru-RU" sz="1000" spc="-135" dirty="0">
                <a:latin typeface="Lucida Sans Unicode"/>
                <a:cs typeface="Lucida Sans Unicode"/>
              </a:rPr>
              <a:t>∈</a:t>
            </a:r>
            <a:r>
              <a:rPr lang="ru-RU" sz="1000" dirty="0">
                <a:effectLst/>
              </a:rPr>
              <a:t> Y.</a:t>
            </a:r>
            <a:r>
              <a:rPr lang="en-US" sz="1000" dirty="0">
                <a:effectLst/>
              </a:rPr>
              <a:t> </a:t>
            </a:r>
            <a:endParaRPr sz="1000" dirty="0">
              <a:latin typeface="Tahoma"/>
              <a:cs typeface="Tahoma"/>
            </a:endParaRPr>
          </a:p>
        </p:txBody>
      </p:sp>
      <p:sp>
        <p:nvSpPr>
          <p:cNvPr id="37" name="object 37"/>
          <p:cNvSpPr/>
          <p:nvPr/>
        </p:nvSpPr>
        <p:spPr>
          <a:xfrm>
            <a:off x="698562" y="2307700"/>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005F00"/>
          </a:solidFill>
        </p:spPr>
        <p:txBody>
          <a:bodyPr wrap="square" lIns="0" tIns="0" rIns="0" bIns="0" rtlCol="0"/>
          <a:lstStyle/>
          <a:p>
            <a:endParaRPr/>
          </a:p>
        </p:txBody>
      </p:sp>
      <p:sp>
        <p:nvSpPr>
          <p:cNvPr id="38" name="object 38"/>
          <p:cNvSpPr txBox="1"/>
          <p:nvPr/>
        </p:nvSpPr>
        <p:spPr>
          <a:xfrm>
            <a:off x="749362" y="2331512"/>
            <a:ext cx="447040" cy="128270"/>
          </a:xfrm>
          <a:prstGeom prst="rect">
            <a:avLst/>
          </a:prstGeom>
        </p:spPr>
        <p:txBody>
          <a:bodyPr vert="horz" wrap="square" lIns="0" tIns="0" rIns="0" bIns="0" rtlCol="0">
            <a:spAutoFit/>
          </a:bodyPr>
          <a:lstStyle/>
          <a:p>
            <a:pPr>
              <a:lnSpc>
                <a:spcPts val="955"/>
              </a:lnSpc>
            </a:pPr>
            <a:r>
              <a:rPr lang="ru-RU" sz="1000" spc="-35" dirty="0">
                <a:solidFill>
                  <a:srgbClr val="FFFFFF"/>
                </a:solidFill>
                <a:latin typeface="Tahoma"/>
                <a:cs typeface="Tahoma"/>
              </a:rPr>
              <a:t>Пример</a:t>
            </a:r>
            <a:endParaRPr sz="1000" dirty="0">
              <a:latin typeface="Tahoma"/>
              <a:cs typeface="Tahoma"/>
            </a:endParaRPr>
          </a:p>
        </p:txBody>
      </p:sp>
      <p:sp>
        <p:nvSpPr>
          <p:cNvPr id="43" name="object 43"/>
          <p:cNvSpPr txBox="1"/>
          <p:nvPr/>
        </p:nvSpPr>
        <p:spPr>
          <a:xfrm>
            <a:off x="698562" y="2459782"/>
            <a:ext cx="3831590" cy="298800"/>
          </a:xfrm>
          <a:prstGeom prst="rect">
            <a:avLst/>
          </a:prstGeom>
        </p:spPr>
        <p:txBody>
          <a:bodyPr vert="horz" wrap="square" lIns="0" tIns="143510" rIns="0" bIns="0" rtlCol="0">
            <a:spAutoFit/>
          </a:bodyPr>
          <a:lstStyle/>
          <a:p>
            <a:pPr marL="50800">
              <a:lnSpc>
                <a:spcPct val="100000"/>
              </a:lnSpc>
              <a:spcBef>
                <a:spcPts val="1130"/>
              </a:spcBef>
            </a:pPr>
            <a:r>
              <a:rPr lang="ru-RU" sz="1000" dirty="0">
                <a:effectLst/>
              </a:rPr>
              <a:t>Пусть </a:t>
            </a:r>
            <a:r>
              <a:rPr lang="en-US" sz="1000" dirty="0">
                <a:effectLst/>
              </a:rPr>
              <a:t>X = {a, b, c}, Y = {c, d, e}. </a:t>
            </a:r>
            <a:r>
              <a:rPr lang="ru-RU" sz="1000" dirty="0">
                <a:effectLst/>
              </a:rPr>
              <a:t>Тогда </a:t>
            </a:r>
            <a:r>
              <a:rPr lang="en-US" sz="1000" dirty="0">
                <a:effectLst/>
              </a:rPr>
              <a:t>X </a:t>
            </a:r>
            <a:r>
              <a:rPr lang="ru-RU" sz="1000" spc="-135" dirty="0">
                <a:latin typeface="Lucida Sans Unicode"/>
                <a:cs typeface="Lucida Sans Unicode"/>
              </a:rPr>
              <a:t>∪</a:t>
            </a:r>
            <a:r>
              <a:rPr lang="en-US" sz="1000" dirty="0">
                <a:effectLst/>
              </a:rPr>
              <a:t> Y = {a, b, c, d, e}</a:t>
            </a:r>
            <a:endParaRPr sz="1000" dirty="0">
              <a:latin typeface="Lucida Sans Unicode"/>
              <a:cs typeface="Lucida Sans Unicode"/>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FFFFFF"/>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28650" y="144815"/>
            <a:ext cx="2209800" cy="232756"/>
          </a:xfrm>
          <a:prstGeom prst="rect">
            <a:avLst/>
          </a:prstGeom>
        </p:spPr>
        <p:txBody>
          <a:bodyPr vert="horz" wrap="square" lIns="0" tIns="17145" rIns="0" bIns="0" rtlCol="0">
            <a:spAutoFit/>
          </a:bodyPr>
          <a:lstStyle/>
          <a:p>
            <a:pPr marL="12700">
              <a:lnSpc>
                <a:spcPct val="100000"/>
              </a:lnSpc>
              <a:spcBef>
                <a:spcPts val="135"/>
              </a:spcBef>
            </a:pPr>
            <a:r>
              <a:rPr lang="ru-RU" spc="-20" dirty="0"/>
              <a:t>Пересечение множеств</a:t>
            </a:r>
            <a:endParaRPr spc="-75" dirty="0"/>
          </a:p>
        </p:txBody>
      </p:sp>
      <p:sp>
        <p:nvSpPr>
          <p:cNvPr id="29" name="object 29"/>
          <p:cNvSpPr/>
          <p:nvPr/>
        </p:nvSpPr>
        <p:spPr>
          <a:xfrm>
            <a:off x="715304" y="985439"/>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dirty="0"/>
          </a:p>
        </p:txBody>
      </p:sp>
      <p:sp>
        <p:nvSpPr>
          <p:cNvPr id="30" name="object 30"/>
          <p:cNvSpPr txBox="1"/>
          <p:nvPr/>
        </p:nvSpPr>
        <p:spPr>
          <a:xfrm>
            <a:off x="749363" y="1006726"/>
            <a:ext cx="793687" cy="128240"/>
          </a:xfrm>
          <a:prstGeom prst="rect">
            <a:avLst/>
          </a:prstGeom>
        </p:spPr>
        <p:txBody>
          <a:bodyPr vert="horz" wrap="square" lIns="0" tIns="0" rIns="0" bIns="0" rtlCol="0">
            <a:spAutoFit/>
          </a:bodyPr>
          <a:lstStyle/>
          <a:p>
            <a:pPr>
              <a:lnSpc>
                <a:spcPts val="955"/>
              </a:lnSpc>
            </a:pPr>
            <a:r>
              <a:rPr lang="ru-RU" sz="1000" spc="-15" dirty="0">
                <a:solidFill>
                  <a:srgbClr val="FFFFFF"/>
                </a:solidFill>
                <a:latin typeface="Tahoma"/>
                <a:cs typeface="Tahoma"/>
              </a:rPr>
              <a:t>Определение</a:t>
            </a:r>
            <a:endParaRPr lang="ru-RU" sz="1000" dirty="0">
              <a:latin typeface="Tahoma"/>
              <a:cs typeface="Tahoma"/>
            </a:endParaRPr>
          </a:p>
        </p:txBody>
      </p:sp>
      <p:sp>
        <p:nvSpPr>
          <p:cNvPr id="36" name="object 36"/>
          <p:cNvSpPr txBox="1"/>
          <p:nvPr/>
        </p:nvSpPr>
        <p:spPr>
          <a:xfrm>
            <a:off x="730406" y="1218880"/>
            <a:ext cx="3684904" cy="781624"/>
          </a:xfrm>
          <a:prstGeom prst="rect">
            <a:avLst/>
          </a:prstGeom>
        </p:spPr>
        <p:txBody>
          <a:bodyPr vert="horz" wrap="square" lIns="0" tIns="12065" rIns="0" bIns="0" rtlCol="0">
            <a:spAutoFit/>
          </a:bodyPr>
          <a:lstStyle/>
          <a:p>
            <a:pPr marR="5080">
              <a:lnSpc>
                <a:spcPct val="100000"/>
              </a:lnSpc>
              <a:spcBef>
                <a:spcPts val="95"/>
              </a:spcBef>
            </a:pPr>
            <a:r>
              <a:rPr lang="ru-RU" sz="1000" dirty="0">
                <a:effectLst/>
              </a:rPr>
              <a:t>Пусть X и Y - множества. Тогда X </a:t>
            </a:r>
            <a:r>
              <a:rPr lang="en-US" sz="1000" spc="-135" dirty="0">
                <a:latin typeface="Lucida Sans Unicode"/>
                <a:cs typeface="Lucida Sans Unicode"/>
              </a:rPr>
              <a:t>∩</a:t>
            </a:r>
            <a:r>
              <a:rPr lang="ru-RU" sz="1000" dirty="0">
                <a:effectLst/>
              </a:rPr>
              <a:t> Y обозначает </a:t>
            </a:r>
            <a:r>
              <a:rPr lang="ru-RU" sz="1000" b="1" i="1" dirty="0">
                <a:effectLst/>
              </a:rPr>
              <a:t>пересечение</a:t>
            </a:r>
            <a:r>
              <a:rPr lang="ru-RU" sz="1000" dirty="0">
                <a:effectLst/>
              </a:rPr>
              <a:t> множеств X и Y . Это множество состоит из элементов, которые принадлежат одновременно как X, так и Y . Другими словами, для любого объекта a выполняется условие a </a:t>
            </a:r>
            <a:r>
              <a:rPr lang="en-US" sz="1000" spc="-135" dirty="0">
                <a:latin typeface="Lucida Sans Unicode"/>
                <a:cs typeface="Lucida Sans Unicode"/>
              </a:rPr>
              <a:t>∈</a:t>
            </a:r>
            <a:r>
              <a:rPr lang="ru-RU" sz="1000" dirty="0">
                <a:effectLst/>
              </a:rPr>
              <a:t> X </a:t>
            </a:r>
            <a:r>
              <a:rPr lang="en-US" sz="1000" spc="-135" dirty="0">
                <a:latin typeface="Lucida Sans Unicode"/>
                <a:cs typeface="Lucida Sans Unicode"/>
              </a:rPr>
              <a:t>∩</a:t>
            </a:r>
            <a:r>
              <a:rPr lang="ru-RU" sz="1000" dirty="0">
                <a:effectLst/>
              </a:rPr>
              <a:t> Y выполняется , если a </a:t>
            </a:r>
            <a:r>
              <a:rPr lang="en-US" sz="1000" spc="-135" dirty="0">
                <a:latin typeface="Lucida Sans Unicode"/>
                <a:cs typeface="Lucida Sans Unicode"/>
              </a:rPr>
              <a:t>∈</a:t>
            </a:r>
            <a:r>
              <a:rPr lang="ru-RU" sz="1000" dirty="0">
                <a:effectLst/>
              </a:rPr>
              <a:t> X и a </a:t>
            </a:r>
            <a:r>
              <a:rPr lang="en-US" sz="1000" spc="-135" dirty="0">
                <a:latin typeface="Lucida Sans Unicode"/>
                <a:cs typeface="Lucida Sans Unicode"/>
              </a:rPr>
              <a:t>∈</a:t>
            </a:r>
            <a:r>
              <a:rPr lang="ru-RU" sz="1000" dirty="0">
                <a:effectLst/>
              </a:rPr>
              <a:t> Y .</a:t>
            </a:r>
            <a:endParaRPr lang="en-US" sz="1000" dirty="0">
              <a:latin typeface="Tahoma"/>
              <a:cs typeface="Tahoma"/>
            </a:endParaRPr>
          </a:p>
        </p:txBody>
      </p:sp>
      <p:sp>
        <p:nvSpPr>
          <p:cNvPr id="37" name="object 37"/>
          <p:cNvSpPr/>
          <p:nvPr/>
        </p:nvSpPr>
        <p:spPr>
          <a:xfrm>
            <a:off x="698562" y="2184856"/>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005F00"/>
          </a:solidFill>
        </p:spPr>
        <p:txBody>
          <a:bodyPr wrap="square" lIns="0" tIns="0" rIns="0" bIns="0" rtlCol="0"/>
          <a:lstStyle/>
          <a:p>
            <a:endParaRPr/>
          </a:p>
        </p:txBody>
      </p:sp>
      <p:sp>
        <p:nvSpPr>
          <p:cNvPr id="38" name="object 38"/>
          <p:cNvSpPr txBox="1"/>
          <p:nvPr/>
        </p:nvSpPr>
        <p:spPr>
          <a:xfrm>
            <a:off x="749363" y="2214783"/>
            <a:ext cx="447040" cy="128270"/>
          </a:xfrm>
          <a:prstGeom prst="rect">
            <a:avLst/>
          </a:prstGeom>
        </p:spPr>
        <p:txBody>
          <a:bodyPr vert="horz" wrap="square" lIns="0" tIns="0" rIns="0" bIns="0" rtlCol="0">
            <a:spAutoFit/>
          </a:bodyPr>
          <a:lstStyle/>
          <a:p>
            <a:pPr>
              <a:lnSpc>
                <a:spcPts val="955"/>
              </a:lnSpc>
            </a:pPr>
            <a:r>
              <a:rPr lang="ru-RU" sz="1000" spc="-35" dirty="0">
                <a:solidFill>
                  <a:srgbClr val="FFFFFF"/>
                </a:solidFill>
                <a:latin typeface="Tahoma"/>
                <a:cs typeface="Tahoma"/>
              </a:rPr>
              <a:t>Пример</a:t>
            </a:r>
            <a:endParaRPr lang="ru-RU" sz="1000" dirty="0">
              <a:latin typeface="Tahoma"/>
              <a:cs typeface="Tahoma"/>
            </a:endParaRPr>
          </a:p>
        </p:txBody>
      </p:sp>
      <p:sp>
        <p:nvSpPr>
          <p:cNvPr id="43" name="object 43"/>
          <p:cNvSpPr txBox="1"/>
          <p:nvPr/>
        </p:nvSpPr>
        <p:spPr>
          <a:xfrm>
            <a:off x="698562" y="2287287"/>
            <a:ext cx="3831590" cy="298800"/>
          </a:xfrm>
          <a:prstGeom prst="rect">
            <a:avLst/>
          </a:prstGeom>
        </p:spPr>
        <p:txBody>
          <a:bodyPr vert="horz" wrap="square" lIns="0" tIns="143510" rIns="0" bIns="0" rtlCol="0">
            <a:spAutoFit/>
          </a:bodyPr>
          <a:lstStyle/>
          <a:p>
            <a:pPr marL="50800">
              <a:lnSpc>
                <a:spcPct val="100000"/>
              </a:lnSpc>
              <a:spcBef>
                <a:spcPts val="1130"/>
              </a:spcBef>
            </a:pPr>
            <a:r>
              <a:rPr lang="ru-RU" sz="1000" spc="-10" dirty="0">
                <a:latin typeface="Tahoma"/>
                <a:cs typeface="Tahoma"/>
              </a:rPr>
              <a:t>Пусть</a:t>
            </a:r>
            <a:r>
              <a:rPr sz="1000" spc="15" dirty="0">
                <a:latin typeface="Tahoma"/>
                <a:cs typeface="Tahoma"/>
              </a:rPr>
              <a:t> </a:t>
            </a: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spc="170" dirty="0">
                <a:latin typeface="Lucida Sans Unicode"/>
                <a:cs typeface="Lucida Sans Unicode"/>
              </a:rPr>
              <a:t>}</a:t>
            </a:r>
            <a:r>
              <a:rPr sz="1000" spc="-30" dirty="0">
                <a:latin typeface="Tahoma"/>
                <a:cs typeface="Tahoma"/>
              </a:rPr>
              <a:t>,</a:t>
            </a:r>
            <a:r>
              <a:rPr sz="1000" spc="20" dirty="0">
                <a:latin typeface="Tahoma"/>
                <a:cs typeface="Tahoma"/>
              </a:rPr>
              <a:t> </a:t>
            </a:r>
            <a:r>
              <a:rPr sz="1000" i="1" spc="-5" dirty="0">
                <a:latin typeface="Arial"/>
                <a:cs typeface="Arial"/>
              </a:rPr>
              <a:t>Y</a:t>
            </a:r>
            <a:r>
              <a:rPr sz="1000" i="1" dirty="0">
                <a:latin typeface="Arial"/>
                <a:cs typeface="Arial"/>
              </a:rPr>
              <a:t> </a:t>
            </a:r>
            <a:r>
              <a:rPr sz="1000" i="1" spc="-11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i="1" spc="-90" dirty="0">
                <a:latin typeface="Verdana"/>
                <a:cs typeface="Verdana"/>
              </a:rPr>
              <a:t>,</a:t>
            </a:r>
            <a:r>
              <a:rPr sz="1000" i="1" spc="-185" dirty="0">
                <a:latin typeface="Verdana"/>
                <a:cs typeface="Verdana"/>
              </a:rPr>
              <a:t> </a:t>
            </a:r>
            <a:r>
              <a:rPr sz="1000" i="1" spc="-45" dirty="0">
                <a:latin typeface="Arial"/>
                <a:cs typeface="Arial"/>
              </a:rPr>
              <a:t>d</a:t>
            </a:r>
            <a:r>
              <a:rPr sz="1000" i="1" spc="-185" dirty="0">
                <a:latin typeface="Arial"/>
                <a:cs typeface="Arial"/>
              </a:rPr>
              <a:t> </a:t>
            </a:r>
            <a:r>
              <a:rPr sz="1000" spc="170" dirty="0">
                <a:latin typeface="Lucida Sans Unicode"/>
                <a:cs typeface="Lucida Sans Unicode"/>
              </a:rPr>
              <a:t>}</a:t>
            </a:r>
            <a:r>
              <a:rPr sz="1000" spc="-30" dirty="0">
                <a:latin typeface="Tahoma"/>
                <a:cs typeface="Tahoma"/>
              </a:rPr>
              <a:t>.</a:t>
            </a:r>
            <a:r>
              <a:rPr sz="1000" spc="130" dirty="0">
                <a:latin typeface="Tahoma"/>
                <a:cs typeface="Tahoma"/>
              </a:rPr>
              <a:t> </a:t>
            </a:r>
            <a:r>
              <a:rPr lang="ru-RU" sz="1000" spc="-20" dirty="0">
                <a:latin typeface="Tahoma"/>
                <a:cs typeface="Tahoma"/>
              </a:rPr>
              <a:t>Тогда</a:t>
            </a:r>
            <a:r>
              <a:rPr sz="1000" spc="20" dirty="0">
                <a:latin typeface="Tahoma"/>
                <a:cs typeface="Tahoma"/>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dirty="0">
                <a:latin typeface="Arial"/>
                <a:cs typeface="Arial"/>
              </a:rPr>
              <a:t> </a:t>
            </a:r>
            <a:r>
              <a:rPr sz="1000" i="1" spc="-11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spc="170" dirty="0">
                <a:latin typeface="Lucida Sans Unicode"/>
                <a:cs typeface="Lucida Sans Unicode"/>
              </a:rPr>
              <a:t>}</a:t>
            </a:r>
            <a:endParaRPr sz="1000" dirty="0">
              <a:latin typeface="Lucida Sans Unicode"/>
              <a:cs typeface="Lucida Sans Unicode"/>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FFFFFF"/>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1487805" cy="244475"/>
          </a:xfrm>
          <a:prstGeom prst="rect">
            <a:avLst/>
          </a:prstGeom>
        </p:spPr>
        <p:txBody>
          <a:bodyPr vert="horz" wrap="square" lIns="0" tIns="17145" rIns="0" bIns="0" rtlCol="0">
            <a:spAutoFit/>
          </a:bodyPr>
          <a:lstStyle/>
          <a:p>
            <a:pPr marL="12700">
              <a:lnSpc>
                <a:spcPct val="100000"/>
              </a:lnSpc>
              <a:spcBef>
                <a:spcPts val="135"/>
              </a:spcBef>
            </a:pPr>
            <a:r>
              <a:rPr spc="-20" dirty="0"/>
              <a:t>Difference</a:t>
            </a:r>
            <a:r>
              <a:rPr spc="105" dirty="0"/>
              <a:t> </a:t>
            </a:r>
            <a:r>
              <a:rPr spc="-30" dirty="0"/>
              <a:t>of</a:t>
            </a:r>
            <a:r>
              <a:rPr spc="105" dirty="0"/>
              <a:t> </a:t>
            </a:r>
            <a:r>
              <a:rPr spc="-75" dirty="0"/>
              <a:t>sets</a:t>
            </a:r>
          </a:p>
        </p:txBody>
      </p:sp>
      <p:sp>
        <p:nvSpPr>
          <p:cNvPr id="29" name="object 29"/>
          <p:cNvSpPr/>
          <p:nvPr/>
        </p:nvSpPr>
        <p:spPr>
          <a:xfrm>
            <a:off x="690563" y="1068131"/>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dirty="0"/>
          </a:p>
        </p:txBody>
      </p:sp>
      <p:sp>
        <p:nvSpPr>
          <p:cNvPr id="30" name="object 30"/>
          <p:cNvSpPr txBox="1"/>
          <p:nvPr/>
        </p:nvSpPr>
        <p:spPr>
          <a:xfrm>
            <a:off x="749363" y="1086930"/>
            <a:ext cx="1022287" cy="128240"/>
          </a:xfrm>
          <a:prstGeom prst="rect">
            <a:avLst/>
          </a:prstGeom>
        </p:spPr>
        <p:txBody>
          <a:bodyPr vert="horz" wrap="square" lIns="0" tIns="0" rIns="0" bIns="0" rtlCol="0">
            <a:spAutoFit/>
          </a:bodyPr>
          <a:lstStyle/>
          <a:p>
            <a:pPr>
              <a:lnSpc>
                <a:spcPts val="955"/>
              </a:lnSpc>
            </a:pPr>
            <a:r>
              <a:rPr lang="ru-RU" sz="1000" spc="-15" dirty="0">
                <a:solidFill>
                  <a:srgbClr val="FFFFFF"/>
                </a:solidFill>
                <a:latin typeface="Tahoma"/>
                <a:cs typeface="Tahoma"/>
              </a:rPr>
              <a:t>Определение</a:t>
            </a:r>
            <a:endParaRPr lang="ru-RU" sz="1000" dirty="0">
              <a:latin typeface="Tahoma"/>
              <a:cs typeface="Tahoma"/>
            </a:endParaRPr>
          </a:p>
        </p:txBody>
      </p:sp>
      <p:sp>
        <p:nvSpPr>
          <p:cNvPr id="37" name="object 37"/>
          <p:cNvSpPr txBox="1"/>
          <p:nvPr/>
        </p:nvSpPr>
        <p:spPr>
          <a:xfrm>
            <a:off x="734758" y="1240004"/>
            <a:ext cx="3674745" cy="781624"/>
          </a:xfrm>
          <a:prstGeom prst="rect">
            <a:avLst/>
          </a:prstGeom>
        </p:spPr>
        <p:txBody>
          <a:bodyPr vert="horz" wrap="square" lIns="0" tIns="12065" rIns="0" bIns="0" rtlCol="0">
            <a:spAutoFit/>
          </a:bodyPr>
          <a:lstStyle/>
          <a:p>
            <a:pPr>
              <a:lnSpc>
                <a:spcPts val="1200"/>
              </a:lnSpc>
              <a:spcBef>
                <a:spcPts val="95"/>
              </a:spcBef>
            </a:pPr>
            <a:r>
              <a:rPr lang="ru-RU" sz="1000" dirty="0">
                <a:effectLst/>
              </a:rPr>
              <a:t>Пусть X и Y - множества. Тогда X \ Y обозначает </a:t>
            </a:r>
            <a:r>
              <a:rPr lang="ru-RU" sz="1000" b="1" i="1" dirty="0">
                <a:effectLst/>
              </a:rPr>
              <a:t>разность</a:t>
            </a:r>
            <a:r>
              <a:rPr lang="ru-RU" sz="1000" dirty="0">
                <a:effectLst/>
              </a:rPr>
              <a:t> множеств X и Y . Это множество состоит из элементов, которые принадлежат X , но не являются элементами Y . Итак, для любого a выполняется условие a ∈ X \ Y, если a </a:t>
            </a:r>
            <a:r>
              <a:rPr lang="ru-RU" sz="1000" spc="-135" dirty="0">
                <a:latin typeface="Lucida Sans Unicode"/>
                <a:cs typeface="Lucida Sans Unicode"/>
              </a:rPr>
              <a:t>∈</a:t>
            </a:r>
            <a:r>
              <a:rPr lang="ru-RU" sz="1000" dirty="0">
                <a:effectLst/>
              </a:rPr>
              <a:t> X содержит и a </a:t>
            </a:r>
            <a:r>
              <a:rPr lang="ru-RU" sz="1000" spc="-135" dirty="0">
                <a:latin typeface="Lucida Sans Unicode"/>
                <a:cs typeface="Lucida Sans Unicode"/>
              </a:rPr>
              <a:t>∈ </a:t>
            </a:r>
            <a:r>
              <a:rPr lang="ru-RU" sz="1000" dirty="0">
                <a:effectLst/>
              </a:rPr>
              <a:t>Y неверно (мы можем записать это как a </a:t>
            </a:r>
            <a:r>
              <a:rPr lang="ru-RU" sz="1000" spc="-325" dirty="0">
                <a:latin typeface="Lucida Sans Unicode"/>
                <a:cs typeface="Lucida Sans Unicode"/>
              </a:rPr>
              <a:t>∈</a:t>
            </a:r>
            <a:r>
              <a:rPr lang="ru-RU" sz="1000" i="1" spc="-325" dirty="0">
                <a:latin typeface="Verdana"/>
                <a:cs typeface="Verdana"/>
              </a:rPr>
              <a:t>/</a:t>
            </a:r>
            <a:r>
              <a:rPr lang="ru-RU" sz="1000" i="1" spc="-229" dirty="0">
                <a:latin typeface="Verdana"/>
                <a:cs typeface="Verdana"/>
              </a:rPr>
              <a:t> </a:t>
            </a:r>
            <a:r>
              <a:rPr lang="ru-RU" sz="1000" dirty="0">
                <a:effectLst/>
              </a:rPr>
              <a:t>Y ).</a:t>
            </a:r>
            <a:endParaRPr sz="1000" dirty="0">
              <a:latin typeface="Tahoma"/>
              <a:cs typeface="Tahoma"/>
            </a:endParaRPr>
          </a:p>
        </p:txBody>
      </p:sp>
      <p:sp>
        <p:nvSpPr>
          <p:cNvPr id="38" name="object 38"/>
          <p:cNvSpPr/>
          <p:nvPr/>
        </p:nvSpPr>
        <p:spPr>
          <a:xfrm>
            <a:off x="698562" y="2211201"/>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005F00"/>
          </a:solidFill>
        </p:spPr>
        <p:txBody>
          <a:bodyPr wrap="square" lIns="0" tIns="0" rIns="0" bIns="0" rtlCol="0"/>
          <a:lstStyle/>
          <a:p>
            <a:endParaRPr/>
          </a:p>
        </p:txBody>
      </p:sp>
      <p:sp>
        <p:nvSpPr>
          <p:cNvPr id="39" name="object 39"/>
          <p:cNvSpPr txBox="1"/>
          <p:nvPr/>
        </p:nvSpPr>
        <p:spPr>
          <a:xfrm>
            <a:off x="749363" y="2235014"/>
            <a:ext cx="447040" cy="128270"/>
          </a:xfrm>
          <a:prstGeom prst="rect">
            <a:avLst/>
          </a:prstGeom>
        </p:spPr>
        <p:txBody>
          <a:bodyPr vert="horz" wrap="square" lIns="0" tIns="0" rIns="0" bIns="0" rtlCol="0">
            <a:spAutoFit/>
          </a:bodyPr>
          <a:lstStyle/>
          <a:p>
            <a:pPr>
              <a:lnSpc>
                <a:spcPts val="955"/>
              </a:lnSpc>
            </a:pPr>
            <a:r>
              <a:rPr lang="ru-RU" sz="1000" spc="-35" dirty="0">
                <a:solidFill>
                  <a:srgbClr val="FFFFFF"/>
                </a:solidFill>
                <a:latin typeface="Tahoma"/>
                <a:cs typeface="Tahoma"/>
              </a:rPr>
              <a:t>Пример</a:t>
            </a:r>
            <a:endParaRPr lang="ru-RU" sz="1000" dirty="0">
              <a:latin typeface="Tahoma"/>
              <a:cs typeface="Tahoma"/>
            </a:endParaRPr>
          </a:p>
        </p:txBody>
      </p:sp>
      <p:sp>
        <p:nvSpPr>
          <p:cNvPr id="44" name="object 44"/>
          <p:cNvSpPr txBox="1"/>
          <p:nvPr/>
        </p:nvSpPr>
        <p:spPr>
          <a:xfrm>
            <a:off x="698562" y="2359137"/>
            <a:ext cx="3831590" cy="298800"/>
          </a:xfrm>
          <a:prstGeom prst="rect">
            <a:avLst/>
          </a:prstGeom>
        </p:spPr>
        <p:txBody>
          <a:bodyPr vert="horz" wrap="square" lIns="0" tIns="143510" rIns="0" bIns="0" rtlCol="0">
            <a:spAutoFit/>
          </a:bodyPr>
          <a:lstStyle/>
          <a:p>
            <a:pPr marL="50800">
              <a:lnSpc>
                <a:spcPct val="100000"/>
              </a:lnSpc>
              <a:spcBef>
                <a:spcPts val="1130"/>
              </a:spcBef>
            </a:pPr>
            <a:r>
              <a:rPr lang="ru-RU" sz="1000" spc="-10" dirty="0">
                <a:latin typeface="Tahoma"/>
                <a:cs typeface="Tahoma"/>
              </a:rPr>
              <a:t>Пусть</a:t>
            </a:r>
            <a:r>
              <a:rPr sz="1000" spc="15" dirty="0">
                <a:latin typeface="Tahoma"/>
                <a:cs typeface="Tahoma"/>
              </a:rPr>
              <a:t> </a:t>
            </a: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spc="170" dirty="0">
                <a:latin typeface="Lucida Sans Unicode"/>
                <a:cs typeface="Lucida Sans Unicode"/>
              </a:rPr>
              <a:t>}</a:t>
            </a:r>
            <a:r>
              <a:rPr sz="1000" spc="-30" dirty="0">
                <a:latin typeface="Tahoma"/>
                <a:cs typeface="Tahoma"/>
              </a:rPr>
              <a:t>,</a:t>
            </a:r>
            <a:r>
              <a:rPr sz="1000" spc="20" dirty="0">
                <a:latin typeface="Tahoma"/>
                <a:cs typeface="Tahoma"/>
              </a:rPr>
              <a:t> </a:t>
            </a:r>
            <a:r>
              <a:rPr sz="1000" i="1" spc="-5" dirty="0">
                <a:latin typeface="Arial"/>
                <a:cs typeface="Arial"/>
              </a:rPr>
              <a:t>Y</a:t>
            </a:r>
            <a:r>
              <a:rPr sz="1000" i="1" dirty="0">
                <a:latin typeface="Arial"/>
                <a:cs typeface="Arial"/>
              </a:rPr>
              <a:t> </a:t>
            </a:r>
            <a:r>
              <a:rPr sz="1000" i="1" spc="-11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i="1" spc="-90" dirty="0">
                <a:latin typeface="Verdana"/>
                <a:cs typeface="Verdana"/>
              </a:rPr>
              <a:t>,</a:t>
            </a:r>
            <a:r>
              <a:rPr sz="1000" i="1" spc="-185" dirty="0">
                <a:latin typeface="Verdana"/>
                <a:cs typeface="Verdana"/>
              </a:rPr>
              <a:t> </a:t>
            </a:r>
            <a:r>
              <a:rPr sz="1000" i="1" spc="-45" dirty="0">
                <a:latin typeface="Arial"/>
                <a:cs typeface="Arial"/>
              </a:rPr>
              <a:t>d</a:t>
            </a:r>
            <a:r>
              <a:rPr sz="1000" i="1" spc="-185" dirty="0">
                <a:latin typeface="Arial"/>
                <a:cs typeface="Arial"/>
              </a:rPr>
              <a:t> </a:t>
            </a:r>
            <a:r>
              <a:rPr sz="1000" spc="170" dirty="0">
                <a:latin typeface="Lucida Sans Unicode"/>
                <a:cs typeface="Lucida Sans Unicode"/>
              </a:rPr>
              <a:t>}</a:t>
            </a:r>
            <a:r>
              <a:rPr sz="1000" spc="-30" dirty="0">
                <a:latin typeface="Tahoma"/>
                <a:cs typeface="Tahoma"/>
              </a:rPr>
              <a:t>.</a:t>
            </a:r>
            <a:r>
              <a:rPr sz="1000" spc="130" dirty="0">
                <a:latin typeface="Tahoma"/>
                <a:cs typeface="Tahoma"/>
              </a:rPr>
              <a:t> </a:t>
            </a:r>
            <a:r>
              <a:rPr lang="ru-RU" sz="1000" spc="-20" dirty="0">
                <a:latin typeface="Tahoma"/>
                <a:cs typeface="Tahoma"/>
              </a:rPr>
              <a:t>Тогда</a:t>
            </a:r>
            <a:r>
              <a:rPr sz="1000" spc="20" dirty="0">
                <a:latin typeface="Tahoma"/>
                <a:cs typeface="Tahoma"/>
              </a:rPr>
              <a:t> </a:t>
            </a:r>
            <a:r>
              <a:rPr sz="1000" i="1" spc="-5" dirty="0">
                <a:latin typeface="Arial"/>
                <a:cs typeface="Arial"/>
              </a:rPr>
              <a:t>X</a:t>
            </a:r>
            <a:r>
              <a:rPr sz="1000" i="1" spc="75" dirty="0">
                <a:latin typeface="Arial"/>
                <a:cs typeface="Arial"/>
              </a:rPr>
              <a:t> </a:t>
            </a:r>
            <a:r>
              <a:rPr sz="1000" spc="-30"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dirty="0">
                <a:latin typeface="Arial"/>
                <a:cs typeface="Arial"/>
              </a:rPr>
              <a:t> </a:t>
            </a:r>
            <a:r>
              <a:rPr sz="1000" i="1" spc="-110" dirty="0">
                <a:latin typeface="Arial"/>
                <a:cs typeface="Arial"/>
              </a:rPr>
              <a:t> </a:t>
            </a:r>
            <a:r>
              <a:rPr sz="1000" spc="45" dirty="0">
                <a:latin typeface="Tahoma"/>
                <a:cs typeface="Tahoma"/>
              </a:rPr>
              <a:t>=</a:t>
            </a:r>
            <a:r>
              <a:rPr sz="1000" spc="-35" dirty="0">
                <a:latin typeface="Tahoma"/>
                <a:cs typeface="Tahoma"/>
              </a:rPr>
              <a:t> </a:t>
            </a:r>
            <a:r>
              <a:rPr lang="ru-RU" sz="1000" spc="170" dirty="0">
                <a:latin typeface="Lucida Sans Unicode"/>
                <a:cs typeface="Lucida Sans Unicode"/>
              </a:rPr>
              <a:t>{</a:t>
            </a:r>
            <a:r>
              <a:rPr sz="1000" i="1" spc="-70" dirty="0">
                <a:latin typeface="Arial"/>
                <a:cs typeface="Arial"/>
              </a:rPr>
              <a:t>a</a:t>
            </a:r>
            <a:r>
              <a:rPr sz="1000" spc="170" dirty="0">
                <a:latin typeface="Lucida Sans Unicode"/>
                <a:cs typeface="Lucida Sans Unicode"/>
              </a:rPr>
              <a:t>}</a:t>
            </a:r>
            <a:endParaRPr sz="1000" dirty="0">
              <a:latin typeface="Lucida Sans Unicode"/>
              <a:cs typeface="Lucida Sans Unicode"/>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FFFFFF"/>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097583" cy="232756"/>
          </a:xfrm>
          <a:prstGeom prst="rect">
            <a:avLst/>
          </a:prstGeom>
        </p:spPr>
        <p:txBody>
          <a:bodyPr vert="horz" wrap="square" lIns="0" tIns="17145" rIns="0" bIns="0" rtlCol="0">
            <a:spAutoFit/>
          </a:bodyPr>
          <a:lstStyle/>
          <a:p>
            <a:pPr marL="12700">
              <a:lnSpc>
                <a:spcPct val="100000"/>
              </a:lnSpc>
              <a:spcBef>
                <a:spcPts val="135"/>
              </a:spcBef>
            </a:pPr>
            <a:r>
              <a:rPr lang="ru-RU" dirty="0">
                <a:effectLst/>
              </a:rPr>
              <a:t>Равенство множеств</a:t>
            </a:r>
            <a:endParaRPr spc="-75" dirty="0"/>
          </a:p>
        </p:txBody>
      </p:sp>
      <p:sp>
        <p:nvSpPr>
          <p:cNvPr id="30" name="object 30"/>
          <p:cNvSpPr txBox="1"/>
          <p:nvPr/>
        </p:nvSpPr>
        <p:spPr>
          <a:xfrm>
            <a:off x="725695" y="697266"/>
            <a:ext cx="3687306" cy="319959"/>
          </a:xfrm>
          <a:prstGeom prst="rect">
            <a:avLst/>
          </a:prstGeom>
        </p:spPr>
        <p:txBody>
          <a:bodyPr vert="horz" wrap="square" lIns="0" tIns="12065" rIns="0" bIns="0" rtlCol="0">
            <a:spAutoFit/>
          </a:bodyPr>
          <a:lstStyle/>
          <a:p>
            <a:pPr marL="12700">
              <a:lnSpc>
                <a:spcPct val="100000"/>
              </a:lnSpc>
              <a:spcBef>
                <a:spcPts val="95"/>
              </a:spcBef>
            </a:pPr>
            <a:r>
              <a:rPr lang="ru-RU" sz="1000" spc="-20" dirty="0">
                <a:latin typeface="Tahoma"/>
                <a:cs typeface="Tahoma"/>
              </a:rPr>
              <a:t>Равенство - это важное отношение между множествами. Оно определяется как:</a:t>
            </a:r>
            <a:endParaRPr sz="1000" dirty="0">
              <a:latin typeface="Tahoma"/>
              <a:cs typeface="Tahoma"/>
            </a:endParaRPr>
          </a:p>
        </p:txBody>
      </p:sp>
      <p:sp>
        <p:nvSpPr>
          <p:cNvPr id="31" name="object 31"/>
          <p:cNvSpPr/>
          <p:nvPr/>
        </p:nvSpPr>
        <p:spPr>
          <a:xfrm>
            <a:off x="709148" y="1037597"/>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2" name="object 32"/>
          <p:cNvSpPr txBox="1"/>
          <p:nvPr/>
        </p:nvSpPr>
        <p:spPr>
          <a:xfrm>
            <a:off x="761459" y="1081549"/>
            <a:ext cx="869887" cy="128240"/>
          </a:xfrm>
          <a:prstGeom prst="rect">
            <a:avLst/>
          </a:prstGeom>
        </p:spPr>
        <p:txBody>
          <a:bodyPr vert="horz" wrap="square" lIns="0" tIns="0" rIns="0" bIns="0" rtlCol="0">
            <a:spAutoFit/>
          </a:bodyPr>
          <a:lstStyle/>
          <a:p>
            <a:pPr>
              <a:lnSpc>
                <a:spcPts val="955"/>
              </a:lnSpc>
            </a:pPr>
            <a:r>
              <a:rPr lang="ru-RU" sz="1000" spc="-15" dirty="0">
                <a:solidFill>
                  <a:srgbClr val="FFFFFF"/>
                </a:solidFill>
                <a:latin typeface="Tahoma"/>
                <a:cs typeface="Tahoma"/>
              </a:rPr>
              <a:t>Определение</a:t>
            </a:r>
            <a:endParaRPr lang="ru-RU" sz="1000" dirty="0">
              <a:latin typeface="Tahoma"/>
              <a:cs typeface="Tahoma"/>
            </a:endParaRPr>
          </a:p>
        </p:txBody>
      </p:sp>
      <p:sp>
        <p:nvSpPr>
          <p:cNvPr id="37" name="object 37"/>
          <p:cNvSpPr txBox="1"/>
          <p:nvPr/>
        </p:nvSpPr>
        <p:spPr>
          <a:xfrm>
            <a:off x="698562" y="1121982"/>
            <a:ext cx="3831590" cy="593752"/>
          </a:xfrm>
          <a:prstGeom prst="rect">
            <a:avLst/>
          </a:prstGeom>
        </p:spPr>
        <p:txBody>
          <a:bodyPr vert="horz" wrap="square" lIns="0" tIns="130810" rIns="0" bIns="0" rtlCol="0">
            <a:spAutoFit/>
          </a:bodyPr>
          <a:lstStyle/>
          <a:p>
            <a:pPr marL="50800" marR="147320">
              <a:lnSpc>
                <a:spcPct val="100000"/>
              </a:lnSpc>
              <a:spcBef>
                <a:spcPts val="1030"/>
              </a:spcBef>
            </a:pPr>
            <a:r>
              <a:rPr lang="ru-RU" sz="1000" spc="-30" dirty="0">
                <a:latin typeface="Tahoma"/>
                <a:cs typeface="Tahoma"/>
              </a:rPr>
              <a:t>Два множества X и Y называются </a:t>
            </a:r>
            <a:r>
              <a:rPr lang="ru-RU" sz="1000" b="1" i="1" spc="-30" dirty="0">
                <a:latin typeface="Tahoma"/>
                <a:cs typeface="Tahoma"/>
              </a:rPr>
              <a:t>равными</a:t>
            </a:r>
            <a:r>
              <a:rPr lang="ru-RU" sz="1000" spc="-30" dirty="0">
                <a:latin typeface="Tahoma"/>
                <a:cs typeface="Tahoma"/>
              </a:rPr>
              <a:t>, это записывается как X = Y, если для любого a, a </a:t>
            </a:r>
            <a:r>
              <a:rPr lang="ru-RU" sz="1000" spc="-135" dirty="0">
                <a:latin typeface="Lucida Sans Unicode"/>
                <a:cs typeface="Lucida Sans Unicode"/>
              </a:rPr>
              <a:t>∈</a:t>
            </a:r>
            <a:r>
              <a:rPr lang="ru-RU" sz="1000" spc="-30" dirty="0">
                <a:latin typeface="Tahoma"/>
                <a:cs typeface="Tahoma"/>
              </a:rPr>
              <a:t> X выполняется тогда и только тогда, когда a </a:t>
            </a:r>
            <a:r>
              <a:rPr lang="ru-RU" sz="1000" spc="-135" dirty="0">
                <a:latin typeface="Lucida Sans Unicode"/>
                <a:cs typeface="Lucida Sans Unicode"/>
              </a:rPr>
              <a:t>∈</a:t>
            </a:r>
            <a:r>
              <a:rPr lang="ru-RU" sz="1000" spc="-40" dirty="0">
                <a:latin typeface="Lucida Sans Unicode"/>
                <a:cs typeface="Lucida Sans Unicode"/>
              </a:rPr>
              <a:t> </a:t>
            </a:r>
            <a:r>
              <a:rPr lang="ru-RU" sz="1000" spc="-30" dirty="0">
                <a:latin typeface="Tahoma"/>
                <a:cs typeface="Tahoma"/>
              </a:rPr>
              <a:t>Y истинно.</a:t>
            </a:r>
            <a:endParaRPr sz="1000" dirty="0">
              <a:latin typeface="Tahoma"/>
              <a:cs typeface="Tahoma"/>
            </a:endParaRPr>
          </a:p>
        </p:txBody>
      </p:sp>
      <p:sp>
        <p:nvSpPr>
          <p:cNvPr id="38" name="object 38"/>
          <p:cNvSpPr txBox="1"/>
          <p:nvPr/>
        </p:nvSpPr>
        <p:spPr>
          <a:xfrm>
            <a:off x="738011" y="1762176"/>
            <a:ext cx="3284854" cy="329565"/>
          </a:xfrm>
          <a:prstGeom prst="rect">
            <a:avLst/>
          </a:prstGeom>
        </p:spPr>
        <p:txBody>
          <a:bodyPr vert="horz" wrap="square" lIns="0" tIns="12065" rIns="0" bIns="0" rtlCol="0">
            <a:spAutoFit/>
          </a:bodyPr>
          <a:lstStyle/>
          <a:p>
            <a:pPr marL="12700" marR="5080">
              <a:lnSpc>
                <a:spcPct val="100000"/>
              </a:lnSpc>
              <a:spcBef>
                <a:spcPts val="95"/>
              </a:spcBef>
            </a:pPr>
            <a:r>
              <a:rPr lang="ru-RU" sz="1000" spc="-75" dirty="0">
                <a:latin typeface="Tahoma"/>
                <a:cs typeface="Tahoma"/>
              </a:rPr>
              <a:t>Другими словами, два множества равны, если они состоят из одних и тех же элементов.</a:t>
            </a:r>
            <a:endParaRPr sz="1000" dirty="0">
              <a:latin typeface="Tahoma"/>
              <a:cs typeface="Tahoma"/>
            </a:endParaRPr>
          </a:p>
        </p:txBody>
      </p:sp>
      <p:sp>
        <p:nvSpPr>
          <p:cNvPr id="39" name="object 39"/>
          <p:cNvSpPr/>
          <p:nvPr/>
        </p:nvSpPr>
        <p:spPr>
          <a:xfrm>
            <a:off x="723963" y="2182281"/>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005F00"/>
          </a:solidFill>
        </p:spPr>
        <p:txBody>
          <a:bodyPr wrap="square" lIns="0" tIns="0" rIns="0" bIns="0" rtlCol="0"/>
          <a:lstStyle/>
          <a:p>
            <a:endParaRPr/>
          </a:p>
        </p:txBody>
      </p:sp>
      <p:sp>
        <p:nvSpPr>
          <p:cNvPr id="40" name="object 40"/>
          <p:cNvSpPr txBox="1"/>
          <p:nvPr/>
        </p:nvSpPr>
        <p:spPr>
          <a:xfrm>
            <a:off x="749363" y="2208761"/>
            <a:ext cx="447040" cy="128270"/>
          </a:xfrm>
          <a:prstGeom prst="rect">
            <a:avLst/>
          </a:prstGeom>
        </p:spPr>
        <p:txBody>
          <a:bodyPr vert="horz" wrap="square" lIns="0" tIns="0" rIns="0" bIns="0" rtlCol="0">
            <a:spAutoFit/>
          </a:bodyPr>
          <a:lstStyle/>
          <a:p>
            <a:pPr>
              <a:lnSpc>
                <a:spcPts val="955"/>
              </a:lnSpc>
            </a:pPr>
            <a:r>
              <a:rPr lang="ru-RU" sz="1000" spc="-35" dirty="0">
                <a:solidFill>
                  <a:srgbClr val="FFFFFF"/>
                </a:solidFill>
                <a:latin typeface="Tahoma"/>
                <a:cs typeface="Tahoma"/>
              </a:rPr>
              <a:t>Пример</a:t>
            </a:r>
            <a:endParaRPr lang="ru-RU" sz="1000" dirty="0">
              <a:latin typeface="Tahoma"/>
              <a:cs typeface="Tahoma"/>
            </a:endParaRPr>
          </a:p>
        </p:txBody>
      </p:sp>
      <p:sp>
        <p:nvSpPr>
          <p:cNvPr id="45" name="object 45"/>
          <p:cNvSpPr txBox="1"/>
          <p:nvPr/>
        </p:nvSpPr>
        <p:spPr>
          <a:xfrm>
            <a:off x="707416" y="2251131"/>
            <a:ext cx="3831590" cy="298800"/>
          </a:xfrm>
          <a:prstGeom prst="rect">
            <a:avLst/>
          </a:prstGeom>
        </p:spPr>
        <p:txBody>
          <a:bodyPr vert="horz" wrap="square" lIns="0" tIns="143510" rIns="0" bIns="0" rtlCol="0">
            <a:spAutoFit/>
          </a:bodyPr>
          <a:lstStyle/>
          <a:p>
            <a:pPr marL="50800">
              <a:lnSpc>
                <a:spcPct val="100000"/>
              </a:lnSpc>
              <a:spcBef>
                <a:spcPts val="1130"/>
              </a:spcBef>
            </a:pPr>
            <a:r>
              <a:rPr lang="ru-RU" sz="1000" spc="-10" dirty="0">
                <a:latin typeface="Tahoma"/>
                <a:cs typeface="Tahoma"/>
              </a:rPr>
              <a:t>Пусть</a:t>
            </a:r>
            <a:r>
              <a:rPr sz="1000" spc="15" dirty="0">
                <a:latin typeface="Tahoma"/>
                <a:cs typeface="Tahoma"/>
              </a:rPr>
              <a:t> </a:t>
            </a: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spc="170" dirty="0">
                <a:latin typeface="Lucida Sans Unicode"/>
                <a:cs typeface="Lucida Sans Unicode"/>
              </a:rPr>
              <a:t>}</a:t>
            </a:r>
            <a:r>
              <a:rPr sz="1000" spc="-30" dirty="0">
                <a:latin typeface="Tahoma"/>
                <a:cs typeface="Tahoma"/>
              </a:rPr>
              <a:t>,</a:t>
            </a:r>
            <a:r>
              <a:rPr sz="1000" spc="20" dirty="0">
                <a:latin typeface="Tahoma"/>
                <a:cs typeface="Tahoma"/>
              </a:rPr>
              <a:t> </a:t>
            </a:r>
            <a:r>
              <a:rPr sz="1000" i="1" spc="-5" dirty="0">
                <a:latin typeface="Arial"/>
                <a:cs typeface="Arial"/>
              </a:rPr>
              <a:t>Y</a:t>
            </a:r>
            <a:r>
              <a:rPr sz="1000" i="1" dirty="0">
                <a:latin typeface="Arial"/>
                <a:cs typeface="Arial"/>
              </a:rPr>
              <a:t> </a:t>
            </a:r>
            <a:r>
              <a:rPr sz="1000" i="1" spc="-11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i="1" spc="-90" dirty="0">
                <a:latin typeface="Verdana"/>
                <a:cs typeface="Verdana"/>
              </a:rPr>
              <a:t>,</a:t>
            </a:r>
            <a:r>
              <a:rPr sz="1000" i="1" spc="-185" dirty="0">
                <a:latin typeface="Verdana"/>
                <a:cs typeface="Verdana"/>
              </a:rPr>
              <a:t> </a:t>
            </a:r>
            <a:r>
              <a:rPr sz="1000" i="1" spc="-45" dirty="0">
                <a:latin typeface="Arial"/>
                <a:cs typeface="Arial"/>
              </a:rPr>
              <a:t>d</a:t>
            </a:r>
            <a:r>
              <a:rPr sz="1000" i="1" spc="-185" dirty="0">
                <a:latin typeface="Arial"/>
                <a:cs typeface="Arial"/>
              </a:rPr>
              <a:t> </a:t>
            </a:r>
            <a:r>
              <a:rPr sz="1000" spc="170" dirty="0">
                <a:latin typeface="Lucida Sans Unicode"/>
                <a:cs typeface="Lucida Sans Unicode"/>
              </a:rPr>
              <a:t>}</a:t>
            </a:r>
            <a:r>
              <a:rPr sz="1000" spc="-30" dirty="0">
                <a:latin typeface="Tahoma"/>
                <a:cs typeface="Tahoma"/>
              </a:rPr>
              <a:t>.</a:t>
            </a:r>
            <a:r>
              <a:rPr sz="1000" spc="130" dirty="0">
                <a:latin typeface="Tahoma"/>
                <a:cs typeface="Tahoma"/>
              </a:rPr>
              <a:t> </a:t>
            </a:r>
            <a:r>
              <a:rPr lang="ru-RU" sz="1000" spc="-20" dirty="0">
                <a:latin typeface="Tahoma"/>
                <a:cs typeface="Tahoma"/>
              </a:rPr>
              <a:t>Тогда</a:t>
            </a:r>
            <a:r>
              <a:rPr sz="1000" spc="20" dirty="0">
                <a:latin typeface="Tahoma"/>
                <a:cs typeface="Tahoma"/>
              </a:rPr>
              <a:t> </a:t>
            </a:r>
            <a:r>
              <a:rPr sz="1000" i="1" spc="-5" dirty="0">
                <a:latin typeface="Arial"/>
                <a:cs typeface="Arial"/>
              </a:rPr>
              <a:t>X</a:t>
            </a:r>
            <a:r>
              <a:rPr sz="1000" i="1" spc="130" dirty="0">
                <a:latin typeface="Arial"/>
                <a:cs typeface="Arial"/>
              </a:rPr>
              <a:t> </a:t>
            </a:r>
            <a:r>
              <a:rPr sz="1000" dirty="0">
                <a:latin typeface="Lucida Sans Unicode"/>
                <a:cs typeface="Lucida Sans Unicode"/>
              </a:rPr>
              <a:t≯</a:t>
            </a:r>
            <a:r>
              <a:rPr sz="1000" spc="45" dirty="0">
                <a:latin typeface="Tahoma"/>
                <a:cs typeface="Tahoma"/>
              </a:rPr>
              <a:t>=</a:t>
            </a:r>
            <a:r>
              <a:rPr sz="1000" spc="-35" dirty="0">
                <a:latin typeface="Tahoma"/>
                <a:cs typeface="Tahoma"/>
              </a:rPr>
              <a:t> </a:t>
            </a:r>
            <a:r>
              <a:rPr sz="1000" i="1" spc="-5" dirty="0">
                <a:latin typeface="Arial"/>
                <a:cs typeface="Arial"/>
              </a:rPr>
              <a:t>Y</a:t>
            </a:r>
            <a:endParaRPr sz="1000" dirty="0">
              <a:latin typeface="Arial"/>
              <a:cs typeface="Arial"/>
            </a:endParaRPr>
          </a:p>
        </p:txBody>
      </p:sp>
      <p:sp>
        <p:nvSpPr>
          <p:cNvPr id="46" name="object 46"/>
          <p:cNvSpPr/>
          <p:nvPr/>
        </p:nvSpPr>
        <p:spPr>
          <a:xfrm>
            <a:off x="698562" y="2635910"/>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005F00"/>
          </a:solidFill>
        </p:spPr>
        <p:txBody>
          <a:bodyPr wrap="square" lIns="0" tIns="0" rIns="0" bIns="0" rtlCol="0"/>
          <a:lstStyle/>
          <a:p>
            <a:endParaRPr/>
          </a:p>
        </p:txBody>
      </p:sp>
      <p:sp>
        <p:nvSpPr>
          <p:cNvPr id="47" name="object 47"/>
          <p:cNvSpPr txBox="1"/>
          <p:nvPr/>
        </p:nvSpPr>
        <p:spPr>
          <a:xfrm>
            <a:off x="749363" y="2665849"/>
            <a:ext cx="447040" cy="128270"/>
          </a:xfrm>
          <a:prstGeom prst="rect">
            <a:avLst/>
          </a:prstGeom>
        </p:spPr>
        <p:txBody>
          <a:bodyPr vert="horz" wrap="square" lIns="0" tIns="0" rIns="0" bIns="0" rtlCol="0">
            <a:spAutoFit/>
          </a:bodyPr>
          <a:lstStyle/>
          <a:p>
            <a:pPr>
              <a:lnSpc>
                <a:spcPts val="955"/>
              </a:lnSpc>
            </a:pPr>
            <a:r>
              <a:rPr lang="ru-RU" sz="1000" spc="-35" dirty="0">
                <a:solidFill>
                  <a:srgbClr val="FFFFFF"/>
                </a:solidFill>
                <a:latin typeface="Tahoma"/>
                <a:cs typeface="Tahoma"/>
              </a:rPr>
              <a:t>Пример</a:t>
            </a:r>
            <a:endParaRPr lang="ru-RU" sz="1000" dirty="0">
              <a:latin typeface="Tahoma"/>
              <a:cs typeface="Tahoma"/>
            </a:endParaRPr>
          </a:p>
        </p:txBody>
      </p:sp>
      <p:sp>
        <p:nvSpPr>
          <p:cNvPr id="52" name="object 52"/>
          <p:cNvSpPr txBox="1"/>
          <p:nvPr/>
        </p:nvSpPr>
        <p:spPr>
          <a:xfrm>
            <a:off x="698563" y="2692853"/>
            <a:ext cx="3831590" cy="298800"/>
          </a:xfrm>
          <a:prstGeom prst="rect">
            <a:avLst/>
          </a:prstGeom>
        </p:spPr>
        <p:txBody>
          <a:bodyPr vert="horz" wrap="square" lIns="0" tIns="143510" rIns="0" bIns="0" rtlCol="0">
            <a:spAutoFit/>
          </a:bodyPr>
          <a:lstStyle/>
          <a:p>
            <a:pPr marL="50800">
              <a:lnSpc>
                <a:spcPct val="100000"/>
              </a:lnSpc>
              <a:spcBef>
                <a:spcPts val="1130"/>
              </a:spcBef>
            </a:pPr>
            <a:r>
              <a:rPr lang="ru-RU" sz="1000" spc="-10" dirty="0">
                <a:latin typeface="Tahoma"/>
                <a:cs typeface="Tahoma"/>
              </a:rPr>
              <a:t>Пусть</a:t>
            </a:r>
            <a:r>
              <a:rPr sz="1000" spc="15" dirty="0">
                <a:latin typeface="Tahoma"/>
                <a:cs typeface="Tahoma"/>
              </a:rPr>
              <a:t> </a:t>
            </a: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spc="170" dirty="0">
                <a:latin typeface="Lucida Sans Unicode"/>
                <a:cs typeface="Lucida Sans Unicode"/>
              </a:rPr>
              <a:t>}</a:t>
            </a:r>
            <a:r>
              <a:rPr sz="1000" spc="-30" dirty="0">
                <a:latin typeface="Tahoma"/>
                <a:cs typeface="Tahoma"/>
              </a:rPr>
              <a:t>,</a:t>
            </a:r>
            <a:r>
              <a:rPr sz="1000" spc="20" dirty="0">
                <a:latin typeface="Tahoma"/>
                <a:cs typeface="Tahoma"/>
              </a:rPr>
              <a:t> </a:t>
            </a:r>
            <a:r>
              <a:rPr sz="1000" i="1" spc="-5" dirty="0">
                <a:latin typeface="Arial"/>
                <a:cs typeface="Arial"/>
              </a:rPr>
              <a:t>Y</a:t>
            </a:r>
            <a:r>
              <a:rPr sz="1000" i="1" dirty="0">
                <a:latin typeface="Arial"/>
                <a:cs typeface="Arial"/>
              </a:rPr>
              <a:t> </a:t>
            </a:r>
            <a:r>
              <a:rPr sz="1000" i="1" spc="-110"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i="1" spc="-90" dirty="0">
                <a:latin typeface="Verdana"/>
                <a:cs typeface="Verdana"/>
              </a:rPr>
              <a:t>,</a:t>
            </a:r>
            <a:r>
              <a:rPr sz="1000" i="1" spc="-185" dirty="0">
                <a:latin typeface="Verdana"/>
                <a:cs typeface="Verdana"/>
              </a:rPr>
              <a:t> </a:t>
            </a:r>
            <a:r>
              <a:rPr sz="1000" i="1" spc="-70" dirty="0">
                <a:latin typeface="Arial"/>
                <a:cs typeface="Arial"/>
              </a:rPr>
              <a:t>a</a:t>
            </a:r>
            <a:r>
              <a:rPr sz="1000" spc="170" dirty="0">
                <a:latin typeface="Lucida Sans Unicode"/>
                <a:cs typeface="Lucida Sans Unicode"/>
              </a:rPr>
              <a:t>}</a:t>
            </a:r>
            <a:r>
              <a:rPr sz="1000" spc="-30" dirty="0">
                <a:latin typeface="Tahoma"/>
                <a:cs typeface="Tahoma"/>
              </a:rPr>
              <a:t>.</a:t>
            </a:r>
            <a:r>
              <a:rPr sz="1000" spc="130" dirty="0">
                <a:latin typeface="Tahoma"/>
                <a:cs typeface="Tahoma"/>
              </a:rPr>
              <a:t> </a:t>
            </a:r>
            <a:r>
              <a:rPr lang="ru-RU" sz="1000" spc="-20" dirty="0">
                <a:latin typeface="Tahoma"/>
                <a:cs typeface="Tahoma"/>
              </a:rPr>
              <a:t>Тогда</a:t>
            </a:r>
            <a:r>
              <a:rPr sz="1000" spc="20" dirty="0">
                <a:latin typeface="Tahoma"/>
                <a:cs typeface="Tahoma"/>
              </a:rPr>
              <a:t> </a:t>
            </a: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i="1" spc="-5" dirty="0">
                <a:latin typeface="Arial"/>
                <a:cs typeface="Arial"/>
              </a:rPr>
              <a:t>Y</a:t>
            </a:r>
            <a:endParaRPr sz="1000" dirty="0">
              <a:latin typeface="Arial"/>
              <a:cs typeface="Arial"/>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FFFFFF"/>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6" y="144815"/>
            <a:ext cx="1335583" cy="232756"/>
          </a:xfrm>
          <a:prstGeom prst="rect">
            <a:avLst/>
          </a:prstGeom>
        </p:spPr>
        <p:txBody>
          <a:bodyPr vert="horz" wrap="square" lIns="0" tIns="17145" rIns="0" bIns="0" rtlCol="0">
            <a:spAutoFit/>
          </a:bodyPr>
          <a:lstStyle/>
          <a:p>
            <a:pPr marL="12700">
              <a:lnSpc>
                <a:spcPct val="100000"/>
              </a:lnSpc>
              <a:spcBef>
                <a:spcPts val="135"/>
              </a:spcBef>
            </a:pPr>
            <a:r>
              <a:rPr lang="ru-RU" spc="-15" dirty="0"/>
              <a:t>Пустой набор</a:t>
            </a:r>
            <a:endParaRPr spc="-40" dirty="0"/>
          </a:p>
        </p:txBody>
      </p:sp>
      <p:sp>
        <p:nvSpPr>
          <p:cNvPr id="29" name="object 29"/>
          <p:cNvSpPr txBox="1"/>
          <p:nvPr/>
        </p:nvSpPr>
        <p:spPr>
          <a:xfrm>
            <a:off x="736663" y="1330761"/>
            <a:ext cx="3628390" cy="329565"/>
          </a:xfrm>
          <a:prstGeom prst="rect">
            <a:avLst/>
          </a:prstGeom>
        </p:spPr>
        <p:txBody>
          <a:bodyPr vert="horz" wrap="square" lIns="0" tIns="12065" rIns="0" bIns="0" rtlCol="0">
            <a:spAutoFit/>
          </a:bodyPr>
          <a:lstStyle/>
          <a:p>
            <a:pPr marL="12700" marR="5080">
              <a:lnSpc>
                <a:spcPct val="100000"/>
              </a:lnSpc>
              <a:spcBef>
                <a:spcPts val="95"/>
              </a:spcBef>
            </a:pPr>
            <a:r>
              <a:rPr lang="ru-RU" sz="1000" spc="-20" dirty="0">
                <a:latin typeface="Tahoma"/>
                <a:cs typeface="Tahoma"/>
              </a:rPr>
              <a:t>Существует специальный набор, в котором вообще нет элементов. Этот набор называется пустым и обозначается:</a:t>
            </a:r>
            <a:endParaRPr sz="1000" dirty="0">
              <a:latin typeface="Tahoma"/>
              <a:cs typeface="Tahoma"/>
            </a:endParaRPr>
          </a:p>
        </p:txBody>
      </p:sp>
      <p:sp>
        <p:nvSpPr>
          <p:cNvPr id="30" name="object 30"/>
          <p:cNvSpPr txBox="1"/>
          <p:nvPr/>
        </p:nvSpPr>
        <p:spPr>
          <a:xfrm>
            <a:off x="736663" y="1710328"/>
            <a:ext cx="3521710" cy="781624"/>
          </a:xfrm>
          <a:prstGeom prst="rect">
            <a:avLst/>
          </a:prstGeom>
        </p:spPr>
        <p:txBody>
          <a:bodyPr vert="horz" wrap="square" lIns="0" tIns="88265" rIns="0" bIns="0" rtlCol="0">
            <a:spAutoFit/>
          </a:bodyPr>
          <a:lstStyle/>
          <a:p>
            <a:pPr marL="182245" algn="ctr">
              <a:lnSpc>
                <a:spcPct val="100000"/>
              </a:lnSpc>
              <a:spcBef>
                <a:spcPts val="695"/>
              </a:spcBef>
            </a:pPr>
            <a:r>
              <a:rPr sz="1000" spc="-480" dirty="0">
                <a:latin typeface="Lucida Sans Unicode"/>
                <a:cs typeface="Lucida Sans Unicode"/>
              </a:rPr>
              <a:t>∅</a:t>
            </a:r>
            <a:endParaRPr sz="1000" dirty="0">
              <a:latin typeface="Lucida Sans Unicode"/>
              <a:cs typeface="Lucida Sans Unicode"/>
            </a:endParaRPr>
          </a:p>
          <a:p>
            <a:pPr marL="12700" marR="5080">
              <a:lnSpc>
                <a:spcPct val="100000"/>
              </a:lnSpc>
              <a:spcBef>
                <a:spcPts val="590"/>
              </a:spcBef>
            </a:pPr>
            <a:r>
              <a:rPr lang="ru-RU" sz="1000" spc="15" dirty="0">
                <a:latin typeface="Tahoma"/>
                <a:cs typeface="Tahoma"/>
              </a:rPr>
              <a:t>По определению равенства множеств, пустое множество </a:t>
            </a:r>
            <a:r>
              <a:rPr lang="ru-RU" sz="1000" i="1" spc="15" dirty="0">
                <a:latin typeface="Tahoma"/>
                <a:cs typeface="Tahoma"/>
              </a:rPr>
              <a:t>уникально</a:t>
            </a:r>
            <a:r>
              <a:rPr lang="ru-RU" sz="1000" spc="15" dirty="0">
                <a:latin typeface="Tahoma"/>
                <a:cs typeface="Tahoma"/>
              </a:rPr>
              <a:t>, поэтому любое другое множество, не содержащее элементов, равно </a:t>
            </a:r>
            <a:r>
              <a:rPr sz="1000" spc="-254" dirty="0">
                <a:latin typeface="Lucida Sans Unicode"/>
                <a:cs typeface="Lucida Sans Unicode"/>
              </a:rPr>
              <a:t>∅</a:t>
            </a:r>
            <a:r>
              <a:rPr sz="1000" spc="-254" dirty="0">
                <a:latin typeface="Tahoma"/>
                <a:cs typeface="Tahoma"/>
              </a:rPr>
              <a:t>.</a:t>
            </a:r>
            <a:endParaRPr sz="1000" dirty="0">
              <a:latin typeface="Tahoma"/>
              <a:cs typeface="Tahoma"/>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868983" cy="232756"/>
          </a:xfrm>
          <a:prstGeom prst="rect">
            <a:avLst/>
          </a:prstGeom>
        </p:spPr>
        <p:txBody>
          <a:bodyPr vert="horz" wrap="square" lIns="0" tIns="17145" rIns="0" bIns="0" rtlCol="0">
            <a:spAutoFit/>
          </a:bodyPr>
          <a:lstStyle/>
          <a:p>
            <a:pPr marL="12700">
              <a:lnSpc>
                <a:spcPct val="100000"/>
              </a:lnSpc>
              <a:spcBef>
                <a:spcPts val="135"/>
              </a:spcBef>
            </a:pPr>
            <a:r>
              <a:rPr lang="ru-RU" spc="-15" dirty="0"/>
              <a:t>Идемпотентность</a:t>
            </a:r>
            <a:endParaRPr spc="-70" dirty="0"/>
          </a:p>
        </p:txBody>
      </p:sp>
      <p:sp>
        <p:nvSpPr>
          <p:cNvPr id="30" name="object 30"/>
          <p:cNvSpPr/>
          <p:nvPr/>
        </p:nvSpPr>
        <p:spPr>
          <a:xfrm>
            <a:off x="698562" y="830909"/>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860849"/>
            <a:ext cx="1098487" cy="128240"/>
          </a:xfrm>
          <a:prstGeom prst="rect">
            <a:avLst/>
          </a:prstGeom>
        </p:spPr>
        <p:txBody>
          <a:bodyPr vert="horz" wrap="square" lIns="0" tIns="0" rIns="0" bIns="0" rtlCol="0">
            <a:spAutoFit/>
          </a:bodyPr>
          <a:lstStyle/>
          <a:p>
            <a:pPr>
              <a:lnSpc>
                <a:spcPts val="955"/>
              </a:lnSpc>
            </a:pPr>
            <a:r>
              <a:rPr lang="ru-RU" sz="1000" spc="-5" dirty="0">
                <a:solidFill>
                  <a:srgbClr val="FFFFFF"/>
                </a:solidFill>
                <a:latin typeface="Tahoma"/>
                <a:cs typeface="Tahoma"/>
              </a:rPr>
              <a:t>Предложение</a:t>
            </a:r>
            <a:endParaRPr sz="1000" dirty="0">
              <a:latin typeface="Tahoma"/>
              <a:cs typeface="Tahoma"/>
            </a:endParaRPr>
          </a:p>
        </p:txBody>
      </p:sp>
      <p:sp>
        <p:nvSpPr>
          <p:cNvPr id="37" name="object 37"/>
          <p:cNvSpPr txBox="1"/>
          <p:nvPr/>
        </p:nvSpPr>
        <p:spPr>
          <a:xfrm>
            <a:off x="830757" y="1252680"/>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1</a:t>
            </a:r>
            <a:endParaRPr sz="500">
              <a:latin typeface="Microsoft Sans Serif"/>
              <a:cs typeface="Microsoft Sans Serif"/>
            </a:endParaRPr>
          </a:p>
        </p:txBody>
      </p:sp>
      <p:pic>
        <p:nvPicPr>
          <p:cNvPr id="38" name="object 38"/>
          <p:cNvPicPr/>
          <p:nvPr/>
        </p:nvPicPr>
        <p:blipFill>
          <a:blip r:embed="rId7" cstate="print"/>
          <a:stretch>
            <a:fillRect/>
          </a:stretch>
        </p:blipFill>
        <p:spPr>
          <a:xfrm>
            <a:off x="830757" y="1442469"/>
            <a:ext cx="104301" cy="104301"/>
          </a:xfrm>
          <a:prstGeom prst="rect">
            <a:avLst/>
          </a:prstGeom>
        </p:spPr>
      </p:pic>
      <p:sp>
        <p:nvSpPr>
          <p:cNvPr id="39" name="object 39"/>
          <p:cNvSpPr txBox="1"/>
          <p:nvPr/>
        </p:nvSpPr>
        <p:spPr>
          <a:xfrm>
            <a:off x="830757" y="1442469"/>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2</a:t>
            </a:r>
            <a:endParaRPr sz="500">
              <a:latin typeface="Microsoft Sans Serif"/>
              <a:cs typeface="Microsoft Sans Serif"/>
            </a:endParaRPr>
          </a:p>
        </p:txBody>
      </p:sp>
      <p:sp>
        <p:nvSpPr>
          <p:cNvPr id="40" name="object 40"/>
          <p:cNvSpPr txBox="1"/>
          <p:nvPr/>
        </p:nvSpPr>
        <p:spPr>
          <a:xfrm>
            <a:off x="749363" y="974401"/>
            <a:ext cx="1498600" cy="618118"/>
          </a:xfrm>
          <a:prstGeom prst="rect">
            <a:avLst/>
          </a:prstGeom>
        </p:spPr>
        <p:txBody>
          <a:bodyPr vert="horz" wrap="square" lIns="0" tIns="50165" rIns="0" bIns="0" rtlCol="0">
            <a:spAutoFit/>
          </a:bodyPr>
          <a:lstStyle/>
          <a:p>
            <a:pPr marL="252729" marR="641350">
              <a:lnSpc>
                <a:spcPct val="124500"/>
              </a:lnSpc>
            </a:pPr>
            <a:endParaRPr lang="ru-RU" sz="1000" i="1" spc="-5">
              <a:latin typeface="Arial"/>
              <a:cs typeface="Arial"/>
            </a:endParaRPr>
          </a:p>
          <a:p>
            <a:pPr marL="252729" marR="641350">
              <a:lnSpc>
                <a:spcPct val="124500"/>
              </a:lnSpc>
            </a:pPr>
            <a:r>
              <a:rPr lang="en-US" sz="1000" i="1" spc="-5">
                <a:latin typeface="Arial"/>
                <a:cs typeface="Arial"/>
              </a:rPr>
              <a:t>X</a:t>
            </a:r>
            <a:r>
              <a:rPr lang="en-US" sz="1000" i="1" spc="75">
                <a:latin typeface="Arial"/>
                <a:cs typeface="Arial"/>
              </a:rPr>
              <a:t> </a:t>
            </a:r>
            <a:r>
              <a:rPr lang="en-US" sz="1000" spc="-135">
                <a:latin typeface="Lucida Sans Unicode"/>
                <a:cs typeface="Lucida Sans Unicode"/>
              </a:rPr>
              <a:t>∩</a:t>
            </a:r>
            <a:r>
              <a:rPr lang="en-US" sz="1000" spc="-95">
                <a:latin typeface="Lucida Sans Unicode"/>
                <a:cs typeface="Lucida Sans Unicode"/>
              </a:rPr>
              <a:t> </a:t>
            </a:r>
            <a:r>
              <a:rPr lang="en-US" sz="1000" i="1" spc="-5">
                <a:latin typeface="Arial"/>
                <a:cs typeface="Arial"/>
              </a:rPr>
              <a:t>X</a:t>
            </a:r>
            <a:r>
              <a:rPr lang="en-US" sz="1000" i="1" spc="130">
                <a:latin typeface="Arial"/>
                <a:cs typeface="Arial"/>
              </a:rPr>
              <a:t> </a:t>
            </a:r>
            <a:r>
              <a:rPr lang="en-US" sz="1000" spc="45">
                <a:latin typeface="Tahoma"/>
                <a:cs typeface="Tahoma"/>
              </a:rPr>
              <a:t>=</a:t>
            </a:r>
            <a:r>
              <a:rPr lang="en-US" sz="1000" spc="-35">
                <a:latin typeface="Tahoma"/>
                <a:cs typeface="Tahoma"/>
              </a:rPr>
              <a:t> </a:t>
            </a:r>
            <a:r>
              <a:rPr lang="en-US" sz="1000" i="1" spc="-5">
                <a:latin typeface="Arial"/>
                <a:cs typeface="Arial"/>
              </a:rPr>
              <a:t>X  X</a:t>
            </a:r>
            <a:r>
              <a:rPr lang="en-US" sz="1000" i="1" spc="75">
                <a:latin typeface="Arial"/>
                <a:cs typeface="Arial"/>
              </a:rPr>
              <a:t> </a:t>
            </a:r>
            <a:r>
              <a:rPr lang="en-US" sz="1000" spc="-135">
                <a:latin typeface="Lucida Sans Unicode"/>
                <a:cs typeface="Lucida Sans Unicode"/>
              </a:rPr>
              <a:t>∪</a:t>
            </a:r>
            <a:r>
              <a:rPr lang="en-US" sz="1000" spc="-95">
                <a:latin typeface="Lucida Sans Unicode"/>
                <a:cs typeface="Lucida Sans Unicode"/>
              </a:rPr>
              <a:t> </a:t>
            </a:r>
            <a:r>
              <a:rPr lang="en-US" sz="1000" i="1" spc="-5">
                <a:latin typeface="Arial"/>
                <a:cs typeface="Arial"/>
              </a:rPr>
              <a:t>X</a:t>
            </a:r>
            <a:r>
              <a:rPr lang="en-US" sz="1000" i="1" spc="130">
                <a:latin typeface="Arial"/>
                <a:cs typeface="Arial"/>
              </a:rPr>
              <a:t> </a:t>
            </a:r>
            <a:r>
              <a:rPr lang="en-US" sz="1000" spc="45">
                <a:latin typeface="Tahoma"/>
                <a:cs typeface="Tahoma"/>
              </a:rPr>
              <a:t>=</a:t>
            </a:r>
            <a:r>
              <a:rPr lang="en-US" sz="1000" spc="-35">
                <a:latin typeface="Tahoma"/>
                <a:cs typeface="Tahoma"/>
              </a:rPr>
              <a:t> </a:t>
            </a:r>
            <a:r>
              <a:rPr lang="en-US" sz="1000" i="1" spc="-5">
                <a:latin typeface="Arial"/>
                <a:cs typeface="Arial"/>
              </a:rPr>
              <a:t>X</a:t>
            </a:r>
            <a:endParaRPr lang="en-US" sz="1000" dirty="0">
              <a:latin typeface="Arial"/>
              <a:cs typeface="Arial"/>
            </a:endParaRPr>
          </a:p>
        </p:txBody>
      </p:sp>
      <p:sp>
        <p:nvSpPr>
          <p:cNvPr id="41" name="object 41"/>
          <p:cNvSpPr txBox="1"/>
          <p:nvPr/>
        </p:nvSpPr>
        <p:spPr>
          <a:xfrm>
            <a:off x="736663" y="1598099"/>
            <a:ext cx="3687306" cy="166071"/>
          </a:xfrm>
          <a:prstGeom prst="rect">
            <a:avLst/>
          </a:prstGeom>
        </p:spPr>
        <p:txBody>
          <a:bodyPr vert="horz" wrap="square" lIns="0" tIns="12065" rIns="0" bIns="0" rtlCol="0">
            <a:spAutoFit/>
          </a:bodyPr>
          <a:lstStyle/>
          <a:p>
            <a:pPr>
              <a:lnSpc>
                <a:spcPct val="100000"/>
              </a:lnSpc>
              <a:spcBef>
                <a:spcPts val="95"/>
              </a:spcBef>
            </a:pPr>
            <a:r>
              <a:rPr lang="ru-RU" sz="1000" spc="-10" dirty="0">
                <a:latin typeface="Tahoma"/>
                <a:cs typeface="Tahoma"/>
              </a:rPr>
              <a:t>Это свойство называется идемпотентностью операций </a:t>
            </a:r>
            <a:r>
              <a:rPr sz="1000" spc="-135" dirty="0">
                <a:latin typeface="Lucida Sans Unicode"/>
                <a:cs typeface="Lucida Sans Unicode"/>
              </a:rPr>
              <a:t>∩</a:t>
            </a:r>
            <a:r>
              <a:rPr sz="1000" spc="20" dirty="0">
                <a:latin typeface="Lucida Sans Unicode"/>
                <a:cs typeface="Lucida Sans Unicode"/>
              </a:rPr>
              <a:t> </a:t>
            </a:r>
            <a:r>
              <a:rPr lang="ru-RU" sz="1000" spc="-45" dirty="0">
                <a:latin typeface="Tahoma"/>
                <a:cs typeface="Tahoma"/>
              </a:rPr>
              <a:t>и</a:t>
            </a:r>
            <a:r>
              <a:rPr sz="1000" spc="25" dirty="0">
                <a:latin typeface="Tahoma"/>
                <a:cs typeface="Tahoma"/>
              </a:rPr>
              <a:t> </a:t>
            </a:r>
            <a:r>
              <a:rPr sz="1000" spc="-80" dirty="0">
                <a:latin typeface="Lucida Sans Unicode"/>
                <a:cs typeface="Lucida Sans Unicode"/>
              </a:rPr>
              <a:t>∪</a:t>
            </a:r>
            <a:r>
              <a:rPr sz="1000" spc="-80" dirty="0">
                <a:latin typeface="Tahoma"/>
                <a:cs typeface="Tahoma"/>
              </a:rPr>
              <a:t>.</a:t>
            </a:r>
            <a:endParaRPr sz="1000" dirty="0">
              <a:latin typeface="Tahoma"/>
              <a:cs typeface="Tahoma"/>
            </a:endParaRPr>
          </a:p>
        </p:txBody>
      </p:sp>
      <p:pic>
        <p:nvPicPr>
          <p:cNvPr id="42" name="object 42"/>
          <p:cNvPicPr/>
          <p:nvPr/>
        </p:nvPicPr>
        <p:blipFill>
          <a:blip r:embed="rId7" cstate="print"/>
          <a:stretch>
            <a:fillRect/>
          </a:stretch>
        </p:blipFill>
        <p:spPr>
          <a:xfrm>
            <a:off x="830757" y="1973875"/>
            <a:ext cx="104301" cy="104301"/>
          </a:xfrm>
          <a:prstGeom prst="rect">
            <a:avLst/>
          </a:prstGeom>
        </p:spPr>
      </p:pic>
      <p:sp>
        <p:nvSpPr>
          <p:cNvPr id="43" name="object 43"/>
          <p:cNvSpPr txBox="1"/>
          <p:nvPr/>
        </p:nvSpPr>
        <p:spPr>
          <a:xfrm>
            <a:off x="830757" y="1973875"/>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1</a:t>
            </a:r>
            <a:endParaRPr sz="500">
              <a:latin typeface="Microsoft Sans Serif"/>
              <a:cs typeface="Microsoft Sans Serif"/>
            </a:endParaRPr>
          </a:p>
        </p:txBody>
      </p:sp>
      <p:sp>
        <p:nvSpPr>
          <p:cNvPr id="44" name="object 44"/>
          <p:cNvSpPr txBox="1"/>
          <p:nvPr/>
        </p:nvSpPr>
        <p:spPr>
          <a:xfrm>
            <a:off x="749363" y="1695596"/>
            <a:ext cx="1454150" cy="405130"/>
          </a:xfrm>
          <a:prstGeom prst="rect">
            <a:avLst/>
          </a:prstGeom>
        </p:spPr>
        <p:txBody>
          <a:bodyPr vert="horz" wrap="square" lIns="0" tIns="50165" rIns="0" bIns="0" rtlCol="0">
            <a:spAutoFit/>
          </a:bodyPr>
          <a:lstStyle/>
          <a:p>
            <a:pPr>
              <a:lnSpc>
                <a:spcPct val="100000"/>
              </a:lnSpc>
              <a:spcBef>
                <a:spcPts val="395"/>
              </a:spcBef>
            </a:pPr>
            <a:r>
              <a:rPr sz="1000" spc="-10" dirty="0">
                <a:latin typeface="Tahoma"/>
                <a:cs typeface="Tahoma"/>
              </a:rPr>
              <a:t>Also</a:t>
            </a:r>
            <a:r>
              <a:rPr sz="1000" spc="10" dirty="0">
                <a:latin typeface="Tahoma"/>
                <a:cs typeface="Tahoma"/>
              </a:rPr>
              <a:t> </a:t>
            </a:r>
            <a:r>
              <a:rPr sz="1000" spc="-40" dirty="0">
                <a:latin typeface="Tahoma"/>
                <a:cs typeface="Tahoma"/>
              </a:rPr>
              <a:t>for</a:t>
            </a:r>
            <a:r>
              <a:rPr sz="1000" spc="10" dirty="0">
                <a:latin typeface="Tahoma"/>
                <a:cs typeface="Tahoma"/>
              </a:rPr>
              <a:t> </a:t>
            </a:r>
            <a:r>
              <a:rPr sz="1000" spc="-45" dirty="0">
                <a:latin typeface="Tahoma"/>
                <a:cs typeface="Tahoma"/>
              </a:rPr>
              <a:t>any</a:t>
            </a:r>
            <a:r>
              <a:rPr sz="1000" spc="10" dirty="0">
                <a:latin typeface="Tahoma"/>
                <a:cs typeface="Tahoma"/>
              </a:rPr>
              <a:t> </a:t>
            </a:r>
            <a:r>
              <a:rPr sz="1000" spc="-45" dirty="0">
                <a:latin typeface="Tahoma"/>
                <a:cs typeface="Tahoma"/>
              </a:rPr>
              <a:t>set</a:t>
            </a:r>
            <a:r>
              <a:rPr sz="1000" spc="5" dirty="0">
                <a:latin typeface="Tahoma"/>
                <a:cs typeface="Tahoma"/>
              </a:rPr>
              <a:t> </a:t>
            </a:r>
            <a:r>
              <a:rPr sz="1000" i="1" spc="-5" dirty="0">
                <a:latin typeface="Arial"/>
                <a:cs typeface="Arial"/>
              </a:rPr>
              <a:t>X</a:t>
            </a:r>
            <a:r>
              <a:rPr sz="1000" i="1" spc="175" dirty="0">
                <a:latin typeface="Arial"/>
                <a:cs typeface="Arial"/>
              </a:rPr>
              <a:t> </a:t>
            </a:r>
            <a:r>
              <a:rPr sz="1000" spc="15" dirty="0">
                <a:latin typeface="Tahoma"/>
                <a:cs typeface="Tahoma"/>
              </a:rPr>
              <a:t>it </a:t>
            </a:r>
            <a:r>
              <a:rPr sz="1000" spc="-45" dirty="0">
                <a:latin typeface="Tahoma"/>
                <a:cs typeface="Tahoma"/>
              </a:rPr>
              <a:t>holds:</a:t>
            </a:r>
            <a:endParaRPr sz="1000" dirty="0">
              <a:latin typeface="Tahoma"/>
              <a:cs typeface="Tahoma"/>
            </a:endParaRPr>
          </a:p>
          <a:p>
            <a:pPr marL="252729">
              <a:lnSpc>
                <a:spcPct val="100000"/>
              </a:lnSpc>
              <a:spcBef>
                <a:spcPts val="295"/>
              </a:spcBef>
            </a:pPr>
            <a:r>
              <a:rPr sz="1000" i="1" spc="-5" dirty="0">
                <a:latin typeface="Arial"/>
                <a:cs typeface="Arial"/>
              </a:rPr>
              <a:t>X</a:t>
            </a:r>
            <a:r>
              <a:rPr sz="1000" i="1" spc="75" dirty="0">
                <a:latin typeface="Arial"/>
                <a:cs typeface="Arial"/>
              </a:rPr>
              <a:t> </a:t>
            </a:r>
            <a:r>
              <a:rPr sz="1000" spc="-30" dirty="0">
                <a:latin typeface="Lucida Sans Unicode"/>
                <a:cs typeface="Lucida Sans Unicode"/>
              </a:rPr>
              <a:t>\</a:t>
            </a:r>
            <a:r>
              <a:rPr sz="1000" spc="-95" dirty="0">
                <a:latin typeface="Lucida Sans Unicode"/>
                <a:cs typeface="Lucida Sans Unicode"/>
              </a:rPr>
              <a:t> </a:t>
            </a: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spc="-480" dirty="0">
                <a:latin typeface="Lucida Sans Unicode"/>
                <a:cs typeface="Lucida Sans Unicode"/>
              </a:rPr>
              <a:t>∅</a:t>
            </a:r>
            <a:endParaRPr sz="1000" dirty="0">
              <a:latin typeface="Lucida Sans Unicode"/>
              <a:cs typeface="Lucida Sans Unicode"/>
            </a:endParaRPr>
          </a:p>
        </p:txBody>
      </p:sp>
      <p:sp>
        <p:nvSpPr>
          <p:cNvPr id="45" name="object 45"/>
          <p:cNvSpPr txBox="1"/>
          <p:nvPr/>
        </p:nvSpPr>
        <p:spPr>
          <a:xfrm>
            <a:off x="736663" y="2201893"/>
            <a:ext cx="3326765" cy="329565"/>
          </a:xfrm>
          <a:prstGeom prst="rect">
            <a:avLst/>
          </a:prstGeom>
        </p:spPr>
        <p:txBody>
          <a:bodyPr vert="horz" wrap="square" lIns="0" tIns="12065" rIns="0" bIns="0" rtlCol="0">
            <a:spAutoFit/>
          </a:bodyPr>
          <a:lstStyle/>
          <a:p>
            <a:pPr marL="12700" marR="5080">
              <a:lnSpc>
                <a:spcPct val="100000"/>
              </a:lnSpc>
              <a:spcBef>
                <a:spcPts val="95"/>
              </a:spcBef>
            </a:pPr>
            <a:r>
              <a:rPr sz="1000" spc="-40" dirty="0">
                <a:latin typeface="Tahoma"/>
                <a:cs typeface="Tahoma"/>
              </a:rPr>
              <a:t>These</a:t>
            </a:r>
            <a:r>
              <a:rPr sz="1000" spc="15" dirty="0">
                <a:latin typeface="Tahoma"/>
                <a:cs typeface="Tahoma"/>
              </a:rPr>
              <a:t> </a:t>
            </a:r>
            <a:r>
              <a:rPr sz="1000" spc="-40" dirty="0">
                <a:latin typeface="Tahoma"/>
                <a:cs typeface="Tahoma"/>
              </a:rPr>
              <a:t>properties</a:t>
            </a:r>
            <a:r>
              <a:rPr sz="1000" spc="25" dirty="0">
                <a:latin typeface="Tahoma"/>
                <a:cs typeface="Tahoma"/>
              </a:rPr>
              <a:t> </a:t>
            </a:r>
            <a:r>
              <a:rPr sz="1000" spc="-60" dirty="0">
                <a:latin typeface="Tahoma"/>
                <a:cs typeface="Tahoma"/>
              </a:rPr>
              <a:t>make</a:t>
            </a:r>
            <a:r>
              <a:rPr sz="1000" spc="20" dirty="0">
                <a:latin typeface="Tahoma"/>
                <a:cs typeface="Tahoma"/>
              </a:rPr>
              <a:t> </a:t>
            </a:r>
            <a:r>
              <a:rPr sz="1000" spc="15" dirty="0">
                <a:latin typeface="Tahoma"/>
                <a:cs typeface="Tahoma"/>
              </a:rPr>
              <a:t>it</a:t>
            </a:r>
            <a:r>
              <a:rPr sz="1000" spc="25" dirty="0">
                <a:latin typeface="Tahoma"/>
                <a:cs typeface="Tahoma"/>
              </a:rPr>
              <a:t> </a:t>
            </a:r>
            <a:r>
              <a:rPr sz="1000" spc="-40" dirty="0">
                <a:latin typeface="Tahoma"/>
                <a:cs typeface="Tahoma"/>
              </a:rPr>
              <a:t>possible</a:t>
            </a:r>
            <a:r>
              <a:rPr sz="1000" spc="20" dirty="0">
                <a:latin typeface="Tahoma"/>
                <a:cs typeface="Tahoma"/>
              </a:rPr>
              <a:t> </a:t>
            </a:r>
            <a:r>
              <a:rPr sz="1000" spc="-10" dirty="0">
                <a:latin typeface="Tahoma"/>
                <a:cs typeface="Tahoma"/>
              </a:rPr>
              <a:t>to</a:t>
            </a:r>
            <a:r>
              <a:rPr sz="1000" spc="20" dirty="0">
                <a:latin typeface="Tahoma"/>
                <a:cs typeface="Tahoma"/>
              </a:rPr>
              <a:t> </a:t>
            </a:r>
            <a:r>
              <a:rPr sz="1000" spc="-50" dirty="0">
                <a:latin typeface="Tahoma"/>
                <a:cs typeface="Tahoma"/>
              </a:rPr>
              <a:t>reduce</a:t>
            </a:r>
            <a:r>
              <a:rPr sz="1000" spc="25" dirty="0">
                <a:latin typeface="Tahoma"/>
                <a:cs typeface="Tahoma"/>
              </a:rPr>
              <a:t> </a:t>
            </a:r>
            <a:r>
              <a:rPr sz="1000" spc="-50" dirty="0">
                <a:latin typeface="Tahoma"/>
                <a:cs typeface="Tahoma"/>
              </a:rPr>
              <a:t>expressions,</a:t>
            </a:r>
            <a:r>
              <a:rPr sz="1000" spc="25" dirty="0">
                <a:latin typeface="Tahoma"/>
                <a:cs typeface="Tahoma"/>
              </a:rPr>
              <a:t> </a:t>
            </a:r>
            <a:r>
              <a:rPr sz="1000" spc="-35" dirty="0">
                <a:latin typeface="Tahoma"/>
                <a:cs typeface="Tahoma"/>
              </a:rPr>
              <a:t>which </a:t>
            </a:r>
            <a:r>
              <a:rPr sz="1000" spc="-300" dirty="0">
                <a:latin typeface="Tahoma"/>
                <a:cs typeface="Tahoma"/>
              </a:rPr>
              <a:t> </a:t>
            </a:r>
            <a:r>
              <a:rPr sz="1000" spc="-25" dirty="0">
                <a:latin typeface="Tahoma"/>
                <a:cs typeface="Tahoma"/>
              </a:rPr>
              <a:t>contain</a:t>
            </a:r>
            <a:r>
              <a:rPr sz="1000" spc="15" dirty="0">
                <a:latin typeface="Tahoma"/>
                <a:cs typeface="Tahoma"/>
              </a:rPr>
              <a:t> </a:t>
            </a:r>
            <a:r>
              <a:rPr sz="1000" spc="-25" dirty="0">
                <a:latin typeface="Tahoma"/>
                <a:cs typeface="Tahoma"/>
              </a:rPr>
              <a:t>union/intersection</a:t>
            </a:r>
            <a:r>
              <a:rPr sz="1000" spc="20" dirty="0">
                <a:latin typeface="Tahoma"/>
                <a:cs typeface="Tahoma"/>
              </a:rPr>
              <a:t> </a:t>
            </a:r>
            <a:r>
              <a:rPr sz="1000" spc="-20" dirty="0">
                <a:latin typeface="Tahoma"/>
                <a:cs typeface="Tahoma"/>
              </a:rPr>
              <a:t>with</a:t>
            </a:r>
            <a:r>
              <a:rPr sz="1000" spc="15" dirty="0">
                <a:latin typeface="Tahoma"/>
                <a:cs typeface="Tahoma"/>
              </a:rPr>
              <a:t> </a:t>
            </a:r>
            <a:r>
              <a:rPr sz="1000" spc="-65" dirty="0">
                <a:latin typeface="Tahoma"/>
                <a:cs typeface="Tahoma"/>
              </a:rPr>
              <a:t>some</a:t>
            </a:r>
            <a:r>
              <a:rPr sz="1000" spc="15" dirty="0">
                <a:latin typeface="Tahoma"/>
                <a:cs typeface="Tahoma"/>
              </a:rPr>
              <a:t> </a:t>
            </a:r>
            <a:r>
              <a:rPr sz="1000" spc="-40" dirty="0">
                <a:latin typeface="Tahoma"/>
                <a:cs typeface="Tahoma"/>
              </a:rPr>
              <a:t>set.</a:t>
            </a:r>
            <a:endParaRPr sz="1000" dirty="0">
              <a:latin typeface="Tahoma"/>
              <a:cs typeface="Tahoma"/>
            </a:endParaRPr>
          </a:p>
        </p:txBody>
      </p:sp>
      <p:sp>
        <p:nvSpPr>
          <p:cNvPr id="46" name="object 46"/>
          <p:cNvSpPr/>
          <p:nvPr/>
        </p:nvSpPr>
        <p:spPr>
          <a:xfrm>
            <a:off x="698562" y="2625851"/>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7" name="object 47"/>
          <p:cNvSpPr txBox="1"/>
          <p:nvPr/>
        </p:nvSpPr>
        <p:spPr>
          <a:xfrm>
            <a:off x="749363" y="2655778"/>
            <a:ext cx="1098484" cy="128433"/>
          </a:xfrm>
          <a:prstGeom prst="rect">
            <a:avLst/>
          </a:prstGeom>
        </p:spPr>
        <p:txBody>
          <a:bodyPr vert="horz" wrap="square" lIns="0" tIns="0" rIns="0" bIns="0" rtlCol="0">
            <a:spAutoFit/>
          </a:bodyPr>
          <a:lstStyle/>
          <a:p>
            <a:pPr>
              <a:lnSpc>
                <a:spcPts val="955"/>
              </a:lnSpc>
            </a:pPr>
            <a:r>
              <a:rPr lang="ru-RU" sz="1000" b="1" dirty="0">
                <a:solidFill>
                  <a:schemeClr val="bg1"/>
                </a:solidFill>
                <a:effectLst/>
              </a:rPr>
              <a:t>Доказательство</a:t>
            </a:r>
            <a:endParaRPr lang="en-US" sz="1000" b="1" dirty="0">
              <a:solidFill>
                <a:schemeClr val="bg1"/>
              </a:solidFill>
              <a:latin typeface="Tahoma"/>
              <a:cs typeface="Tahoma"/>
            </a:endParaRPr>
          </a:p>
        </p:txBody>
      </p:sp>
      <p:sp>
        <p:nvSpPr>
          <p:cNvPr id="52" name="object 52"/>
          <p:cNvSpPr txBox="1"/>
          <p:nvPr/>
        </p:nvSpPr>
        <p:spPr>
          <a:xfrm>
            <a:off x="697754" y="2716412"/>
            <a:ext cx="3831590" cy="599523"/>
          </a:xfrm>
          <a:prstGeom prst="rect">
            <a:avLst/>
          </a:prstGeom>
        </p:spPr>
        <p:txBody>
          <a:bodyPr vert="horz" wrap="square" lIns="0" tIns="6985" rIns="0" bIns="0" rtlCol="0">
            <a:spAutoFit/>
          </a:bodyPr>
          <a:lstStyle/>
          <a:p>
            <a:pPr>
              <a:lnSpc>
                <a:spcPct val="100000"/>
              </a:lnSpc>
              <a:spcBef>
                <a:spcPts val="55"/>
              </a:spcBef>
            </a:pPr>
            <a:endParaRPr sz="850" dirty="0">
              <a:latin typeface="Times New Roman"/>
              <a:cs typeface="Times New Roman"/>
            </a:endParaRPr>
          </a:p>
          <a:p>
            <a:pPr marL="50800" marR="547370">
              <a:lnSpc>
                <a:spcPct val="100000"/>
              </a:lnSpc>
            </a:pPr>
            <a:r>
              <a:rPr lang="ru-RU" sz="1000" spc="-5" dirty="0">
                <a:latin typeface="Tahoma"/>
                <a:cs typeface="Tahoma"/>
              </a:rPr>
              <a:t>Это утверждение, очевидно, следует из определений "объединение", "пересечение", "разность" и "равенство множеств".</a:t>
            </a:r>
            <a:endParaRPr sz="1000" dirty="0">
              <a:latin typeface="Tahoma"/>
              <a:cs typeface="Tahoma"/>
            </a:endParaRPr>
          </a:p>
        </p:txBody>
      </p:sp>
      <p:sp>
        <p:nvSpPr>
          <p:cNvPr id="59" name="TextBox 58">
            <a:extLst>
              <a:ext uri="{FF2B5EF4-FFF2-40B4-BE49-F238E27FC236}">
                <a16:creationId xmlns:a16="http://schemas.microsoft.com/office/drawing/2014/main" id="{205C6E41-0741-1FF3-9D68-E377B525F5CD}"/>
              </a:ext>
            </a:extLst>
          </p:cNvPr>
          <p:cNvSpPr txBox="1"/>
          <p:nvPr/>
        </p:nvSpPr>
        <p:spPr>
          <a:xfrm>
            <a:off x="407542" y="973191"/>
            <a:ext cx="3302260" cy="262957"/>
          </a:xfrm>
          <a:prstGeom prst="rect">
            <a:avLst/>
          </a:prstGeom>
          <a:noFill/>
        </p:spPr>
        <p:txBody>
          <a:bodyPr wrap="square">
            <a:spAutoFit/>
          </a:bodyPr>
          <a:lstStyle/>
          <a:p>
            <a:pPr marL="252729" marR="641350">
              <a:lnSpc>
                <a:spcPct val="124500"/>
              </a:lnSpc>
            </a:pPr>
            <a:r>
              <a:rPr lang="ru-RU" sz="1000" spc="-25" dirty="0">
                <a:latin typeface="Tahoma"/>
                <a:cs typeface="Tahoma"/>
              </a:rPr>
              <a:t>Для любого множества X верно, что:</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998980" cy="244475"/>
          </a:xfrm>
          <a:prstGeom prst="rect">
            <a:avLst/>
          </a:prstGeom>
        </p:spPr>
        <p:txBody>
          <a:bodyPr vert="horz" wrap="square" lIns="0" tIns="17145" rIns="0" bIns="0" rtlCol="0">
            <a:spAutoFit/>
          </a:bodyPr>
          <a:lstStyle/>
          <a:p>
            <a:pPr marL="12700">
              <a:lnSpc>
                <a:spcPct val="100000"/>
              </a:lnSpc>
              <a:spcBef>
                <a:spcPts val="135"/>
              </a:spcBef>
            </a:pPr>
            <a:r>
              <a:rPr spc="-20" dirty="0"/>
              <a:t>Properties</a:t>
            </a:r>
            <a:r>
              <a:rPr spc="110" dirty="0"/>
              <a:t> </a:t>
            </a:r>
            <a:r>
              <a:rPr spc="-30" dirty="0"/>
              <a:t>of</a:t>
            </a:r>
            <a:r>
              <a:rPr spc="114" dirty="0"/>
              <a:t> </a:t>
            </a:r>
            <a:r>
              <a:rPr spc="-20" dirty="0"/>
              <a:t>empty</a:t>
            </a:r>
            <a:r>
              <a:rPr spc="114" dirty="0"/>
              <a:t> </a:t>
            </a:r>
            <a:r>
              <a:rPr spc="-40" dirty="0"/>
              <a:t>set</a:t>
            </a:r>
          </a:p>
        </p:txBody>
      </p:sp>
      <p:sp>
        <p:nvSpPr>
          <p:cNvPr id="30" name="object 30"/>
          <p:cNvSpPr/>
          <p:nvPr/>
        </p:nvSpPr>
        <p:spPr>
          <a:xfrm>
            <a:off x="698562" y="904303"/>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934229"/>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sp>
        <p:nvSpPr>
          <p:cNvPr id="36" name="object 36"/>
          <p:cNvSpPr txBox="1"/>
          <p:nvPr/>
        </p:nvSpPr>
        <p:spPr>
          <a:xfrm>
            <a:off x="749363" y="1085740"/>
            <a:ext cx="782320" cy="177800"/>
          </a:xfrm>
          <a:prstGeom prst="rect">
            <a:avLst/>
          </a:prstGeom>
        </p:spPr>
        <p:txBody>
          <a:bodyPr vert="horz" wrap="square" lIns="0" tIns="12065" rIns="0" bIns="0" rtlCol="0">
            <a:spAutoFit/>
          </a:bodyPr>
          <a:lstStyle/>
          <a:p>
            <a:pPr>
              <a:lnSpc>
                <a:spcPct val="100000"/>
              </a:lnSpc>
              <a:spcBef>
                <a:spcPts val="95"/>
              </a:spcBef>
            </a:pPr>
            <a:r>
              <a:rPr sz="1000" spc="15" dirty="0">
                <a:latin typeface="Tahoma"/>
                <a:cs typeface="Tahoma"/>
              </a:rPr>
              <a:t>F</a:t>
            </a:r>
            <a:r>
              <a:rPr sz="1000" spc="-75" dirty="0">
                <a:latin typeface="Tahoma"/>
                <a:cs typeface="Tahoma"/>
              </a:rPr>
              <a:t>o</a:t>
            </a:r>
            <a:r>
              <a:rPr sz="1000" spc="-25" dirty="0">
                <a:latin typeface="Tahoma"/>
                <a:cs typeface="Tahoma"/>
              </a:rPr>
              <a:t>r</a:t>
            </a:r>
            <a:r>
              <a:rPr sz="1000" spc="20" dirty="0">
                <a:latin typeface="Tahoma"/>
                <a:cs typeface="Tahoma"/>
              </a:rPr>
              <a:t> </a:t>
            </a:r>
            <a:r>
              <a:rPr sz="1000" spc="-45" dirty="0">
                <a:latin typeface="Tahoma"/>
                <a:cs typeface="Tahoma"/>
              </a:rPr>
              <a:t>any</a:t>
            </a:r>
            <a:r>
              <a:rPr sz="1000" spc="15" dirty="0">
                <a:latin typeface="Tahoma"/>
                <a:cs typeface="Tahoma"/>
              </a:rPr>
              <a:t> </a:t>
            </a:r>
            <a:r>
              <a:rPr sz="1000" spc="-45" dirty="0">
                <a:latin typeface="Tahoma"/>
                <a:cs typeface="Tahoma"/>
              </a:rPr>
              <a:t>set</a:t>
            </a:r>
            <a:r>
              <a:rPr sz="1000" spc="15" dirty="0">
                <a:latin typeface="Tahoma"/>
                <a:cs typeface="Tahoma"/>
              </a:rPr>
              <a:t> </a:t>
            </a:r>
            <a:r>
              <a:rPr sz="1000" i="1" spc="-5" dirty="0">
                <a:latin typeface="Arial"/>
                <a:cs typeface="Arial"/>
              </a:rPr>
              <a:t>X</a:t>
            </a:r>
            <a:r>
              <a:rPr sz="1000" i="1" spc="-145" dirty="0">
                <a:latin typeface="Arial"/>
                <a:cs typeface="Arial"/>
              </a:rPr>
              <a:t> </a:t>
            </a:r>
            <a:r>
              <a:rPr sz="1000" spc="-80" dirty="0">
                <a:latin typeface="Tahoma"/>
                <a:cs typeface="Tahoma"/>
              </a:rPr>
              <a:t>:</a:t>
            </a:r>
            <a:endParaRPr sz="1000">
              <a:latin typeface="Tahoma"/>
              <a:cs typeface="Tahoma"/>
            </a:endParaRPr>
          </a:p>
        </p:txBody>
      </p:sp>
      <p:grpSp>
        <p:nvGrpSpPr>
          <p:cNvPr id="37" name="object 37"/>
          <p:cNvGrpSpPr/>
          <p:nvPr/>
        </p:nvGrpSpPr>
        <p:grpSpPr>
          <a:xfrm>
            <a:off x="830757" y="1326060"/>
            <a:ext cx="104775" cy="673735"/>
            <a:chOff x="830757" y="1326060"/>
            <a:chExt cx="104775" cy="673735"/>
          </a:xfrm>
        </p:grpSpPr>
        <p:pic>
          <p:nvPicPr>
            <p:cNvPr id="38" name="object 38"/>
            <p:cNvPicPr/>
            <p:nvPr/>
          </p:nvPicPr>
          <p:blipFill>
            <a:blip r:embed="rId7" cstate="print"/>
            <a:stretch>
              <a:fillRect/>
            </a:stretch>
          </p:blipFill>
          <p:spPr>
            <a:xfrm>
              <a:off x="830757" y="1326060"/>
              <a:ext cx="104301" cy="104301"/>
            </a:xfrm>
            <a:prstGeom prst="rect">
              <a:avLst/>
            </a:prstGeom>
          </p:spPr>
        </p:pic>
        <p:pic>
          <p:nvPicPr>
            <p:cNvPr id="39" name="object 39"/>
            <p:cNvPicPr/>
            <p:nvPr/>
          </p:nvPicPr>
          <p:blipFill>
            <a:blip r:embed="rId8" cstate="print"/>
            <a:stretch>
              <a:fillRect/>
            </a:stretch>
          </p:blipFill>
          <p:spPr>
            <a:xfrm>
              <a:off x="830757" y="1515849"/>
              <a:ext cx="104301" cy="104301"/>
            </a:xfrm>
            <a:prstGeom prst="rect">
              <a:avLst/>
            </a:prstGeom>
          </p:spPr>
        </p:pic>
        <p:pic>
          <p:nvPicPr>
            <p:cNvPr id="40" name="object 40"/>
            <p:cNvPicPr/>
            <p:nvPr/>
          </p:nvPicPr>
          <p:blipFill>
            <a:blip r:embed="rId8" cstate="print"/>
            <a:stretch>
              <a:fillRect/>
            </a:stretch>
          </p:blipFill>
          <p:spPr>
            <a:xfrm>
              <a:off x="830757" y="1705638"/>
              <a:ext cx="104301" cy="104301"/>
            </a:xfrm>
            <a:prstGeom prst="rect">
              <a:avLst/>
            </a:prstGeom>
          </p:spPr>
        </p:pic>
        <p:pic>
          <p:nvPicPr>
            <p:cNvPr id="41" name="object 41"/>
            <p:cNvPicPr/>
            <p:nvPr/>
          </p:nvPicPr>
          <p:blipFill>
            <a:blip r:embed="rId8" cstate="print"/>
            <a:stretch>
              <a:fillRect/>
            </a:stretch>
          </p:blipFill>
          <p:spPr>
            <a:xfrm>
              <a:off x="830757" y="1895427"/>
              <a:ext cx="104301" cy="104301"/>
            </a:xfrm>
            <a:prstGeom prst="rect">
              <a:avLst/>
            </a:prstGeom>
          </p:spPr>
        </p:pic>
      </p:grpSp>
      <p:sp>
        <p:nvSpPr>
          <p:cNvPr id="42" name="object 42"/>
          <p:cNvSpPr txBox="1"/>
          <p:nvPr/>
        </p:nvSpPr>
        <p:spPr>
          <a:xfrm>
            <a:off x="866114" y="1316681"/>
            <a:ext cx="46355" cy="671195"/>
          </a:xfrm>
          <a:prstGeom prst="rect">
            <a:avLst/>
          </a:prstGeom>
        </p:spPr>
        <p:txBody>
          <a:bodyPr vert="horz" wrap="square" lIns="0" tIns="12065" rIns="0" bIns="0" rtlCol="0">
            <a:spAutoFit/>
          </a:bodyPr>
          <a:lstStyle/>
          <a:p>
            <a:pPr>
              <a:lnSpc>
                <a:spcPct val="100000"/>
              </a:lnSpc>
              <a:spcBef>
                <a:spcPts val="95"/>
              </a:spcBef>
            </a:pPr>
            <a:r>
              <a:rPr sz="500" spc="-15" dirty="0">
                <a:solidFill>
                  <a:srgbClr val="FFFFFF"/>
                </a:solidFill>
                <a:latin typeface="Microsoft Sans Serif"/>
                <a:cs typeface="Microsoft Sans Serif"/>
              </a:rPr>
              <a:t>1</a:t>
            </a:r>
            <a:endParaRPr sz="500">
              <a:latin typeface="Microsoft Sans Serif"/>
              <a:cs typeface="Microsoft Sans Serif"/>
            </a:endParaRPr>
          </a:p>
          <a:p>
            <a:pPr>
              <a:lnSpc>
                <a:spcPct val="100000"/>
              </a:lnSpc>
            </a:pPr>
            <a:endParaRPr sz="500">
              <a:latin typeface="Microsoft Sans Serif"/>
              <a:cs typeface="Microsoft Sans Serif"/>
            </a:endParaRPr>
          </a:p>
          <a:p>
            <a:pPr>
              <a:lnSpc>
                <a:spcPct val="100000"/>
              </a:lnSpc>
              <a:spcBef>
                <a:spcPts val="330"/>
              </a:spcBef>
            </a:pPr>
            <a:r>
              <a:rPr sz="500" spc="-15" dirty="0">
                <a:solidFill>
                  <a:srgbClr val="FFFFFF"/>
                </a:solidFill>
                <a:latin typeface="Microsoft Sans Serif"/>
                <a:cs typeface="Microsoft Sans Serif"/>
              </a:rPr>
              <a:t>2</a:t>
            </a:r>
            <a:endParaRPr sz="500">
              <a:latin typeface="Microsoft Sans Serif"/>
              <a:cs typeface="Microsoft Sans Serif"/>
            </a:endParaRPr>
          </a:p>
          <a:p>
            <a:pPr>
              <a:lnSpc>
                <a:spcPct val="100000"/>
              </a:lnSpc>
            </a:pPr>
            <a:endParaRPr sz="500">
              <a:latin typeface="Microsoft Sans Serif"/>
              <a:cs typeface="Microsoft Sans Serif"/>
            </a:endParaRPr>
          </a:p>
          <a:p>
            <a:pPr>
              <a:lnSpc>
                <a:spcPct val="100000"/>
              </a:lnSpc>
              <a:spcBef>
                <a:spcPts val="330"/>
              </a:spcBef>
            </a:pPr>
            <a:r>
              <a:rPr sz="500" spc="-15" dirty="0">
                <a:solidFill>
                  <a:srgbClr val="FFFFFF"/>
                </a:solidFill>
                <a:latin typeface="Microsoft Sans Serif"/>
                <a:cs typeface="Microsoft Sans Serif"/>
              </a:rPr>
              <a:t>3</a:t>
            </a:r>
            <a:endParaRPr sz="500">
              <a:latin typeface="Microsoft Sans Serif"/>
              <a:cs typeface="Microsoft Sans Serif"/>
            </a:endParaRPr>
          </a:p>
          <a:p>
            <a:pPr>
              <a:lnSpc>
                <a:spcPct val="100000"/>
              </a:lnSpc>
            </a:pPr>
            <a:endParaRPr sz="500">
              <a:latin typeface="Microsoft Sans Serif"/>
              <a:cs typeface="Microsoft Sans Serif"/>
            </a:endParaRPr>
          </a:p>
          <a:p>
            <a:pPr>
              <a:lnSpc>
                <a:spcPct val="100000"/>
              </a:lnSpc>
              <a:spcBef>
                <a:spcPts val="325"/>
              </a:spcBef>
            </a:pPr>
            <a:r>
              <a:rPr sz="500" spc="-15" dirty="0">
                <a:solidFill>
                  <a:srgbClr val="FFFFFF"/>
                </a:solidFill>
                <a:latin typeface="Microsoft Sans Serif"/>
                <a:cs typeface="Microsoft Sans Serif"/>
              </a:rPr>
              <a:t>4</a:t>
            </a:r>
            <a:endParaRPr sz="500">
              <a:latin typeface="Microsoft Sans Serif"/>
              <a:cs typeface="Microsoft Sans Serif"/>
            </a:endParaRPr>
          </a:p>
        </p:txBody>
      </p:sp>
      <p:sp>
        <p:nvSpPr>
          <p:cNvPr id="43" name="object 43"/>
          <p:cNvSpPr txBox="1"/>
          <p:nvPr/>
        </p:nvSpPr>
        <p:spPr>
          <a:xfrm>
            <a:off x="1002411" y="1237570"/>
            <a:ext cx="570865" cy="784860"/>
          </a:xfrm>
          <a:prstGeom prst="rect">
            <a:avLst/>
          </a:prstGeom>
        </p:spPr>
        <p:txBody>
          <a:bodyPr vert="horz" wrap="square" lIns="0" tIns="12700" rIns="0" bIns="0" rtlCol="0">
            <a:spAutoFit/>
          </a:bodyPr>
          <a:lstStyle/>
          <a:p>
            <a:pPr marR="5080" algn="just">
              <a:lnSpc>
                <a:spcPct val="124500"/>
              </a:lnSpc>
              <a:spcBef>
                <a:spcPts val="100"/>
              </a:spcBef>
            </a:pP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spc="-480" dirty="0">
                <a:latin typeface="Lucida Sans Unicode"/>
                <a:cs typeface="Lucida Sans Unicode"/>
              </a:rPr>
              <a:t>∅</a:t>
            </a:r>
            <a:r>
              <a:rPr sz="1000" spc="-40" dirty="0">
                <a:latin typeface="Lucida Sans Unicode"/>
                <a:cs typeface="Lucida Sans Unicode"/>
              </a:rPr>
              <a:t> </a:t>
            </a:r>
            <a:r>
              <a:rPr sz="1000" spc="45" dirty="0">
                <a:latin typeface="Tahoma"/>
                <a:cs typeface="Tahoma"/>
              </a:rPr>
              <a:t>=</a:t>
            </a:r>
            <a:r>
              <a:rPr sz="1000" spc="-35" dirty="0">
                <a:latin typeface="Tahoma"/>
                <a:cs typeface="Tahoma"/>
              </a:rPr>
              <a:t> </a:t>
            </a:r>
            <a:r>
              <a:rPr sz="1000" spc="-265" dirty="0">
                <a:latin typeface="Lucida Sans Unicode"/>
                <a:cs typeface="Lucida Sans Unicode"/>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spc="-480" dirty="0">
                <a:latin typeface="Lucida Sans Unicode"/>
                <a:cs typeface="Lucida Sans Unicode"/>
              </a:rPr>
              <a:t>∅</a:t>
            </a:r>
            <a:r>
              <a:rPr sz="1000" spc="-40" dirty="0">
                <a:latin typeface="Lucida Sans Unicode"/>
                <a:cs typeface="Lucida Sans Unicode"/>
              </a:rPr>
              <a:t> </a:t>
            </a:r>
            <a:r>
              <a:rPr sz="1000" spc="45" dirty="0">
                <a:latin typeface="Tahoma"/>
                <a:cs typeface="Tahoma"/>
              </a:rPr>
              <a:t>=</a:t>
            </a:r>
            <a:r>
              <a:rPr sz="1000" spc="-35" dirty="0">
                <a:latin typeface="Tahoma"/>
                <a:cs typeface="Tahoma"/>
              </a:rPr>
              <a:t> </a:t>
            </a:r>
            <a:r>
              <a:rPr sz="1000" i="1" spc="-5" dirty="0">
                <a:latin typeface="Arial"/>
                <a:cs typeface="Arial"/>
              </a:rPr>
              <a:t>X  X</a:t>
            </a:r>
            <a:r>
              <a:rPr sz="1000" i="1" spc="75" dirty="0">
                <a:latin typeface="Arial"/>
                <a:cs typeface="Arial"/>
              </a:rPr>
              <a:t> </a:t>
            </a:r>
            <a:r>
              <a:rPr sz="1000" spc="-30" dirty="0">
                <a:latin typeface="Lucida Sans Unicode"/>
                <a:cs typeface="Lucida Sans Unicode"/>
              </a:rPr>
              <a:t>\</a:t>
            </a:r>
            <a:r>
              <a:rPr sz="1000" spc="-100" dirty="0">
                <a:latin typeface="Lucida Sans Unicode"/>
                <a:cs typeface="Lucida Sans Unicode"/>
              </a:rPr>
              <a:t> </a:t>
            </a:r>
            <a:r>
              <a:rPr sz="1000" spc="-480" dirty="0">
                <a:latin typeface="Lucida Sans Unicode"/>
                <a:cs typeface="Lucida Sans Unicode"/>
              </a:rPr>
              <a:t>∅</a:t>
            </a:r>
            <a:r>
              <a:rPr sz="1000" spc="-40" dirty="0">
                <a:latin typeface="Lucida Sans Unicode"/>
                <a:cs typeface="Lucida Sans Unicode"/>
              </a:rPr>
              <a:t> </a:t>
            </a:r>
            <a:r>
              <a:rPr sz="1000" spc="45" dirty="0">
                <a:latin typeface="Tahoma"/>
                <a:cs typeface="Tahoma"/>
              </a:rPr>
              <a:t>=</a:t>
            </a:r>
            <a:r>
              <a:rPr sz="1000" spc="-35" dirty="0">
                <a:latin typeface="Tahoma"/>
                <a:cs typeface="Tahoma"/>
              </a:rPr>
              <a:t> </a:t>
            </a:r>
            <a:r>
              <a:rPr sz="1000" i="1" spc="-5" dirty="0">
                <a:latin typeface="Arial"/>
                <a:cs typeface="Arial"/>
              </a:rPr>
              <a:t>X</a:t>
            </a:r>
            <a:endParaRPr sz="1000">
              <a:latin typeface="Arial"/>
              <a:cs typeface="Arial"/>
            </a:endParaRPr>
          </a:p>
          <a:p>
            <a:pPr algn="just">
              <a:lnSpc>
                <a:spcPct val="100000"/>
              </a:lnSpc>
              <a:spcBef>
                <a:spcPts val="295"/>
              </a:spcBef>
            </a:pPr>
            <a:r>
              <a:rPr sz="1000" spc="-480" dirty="0">
                <a:latin typeface="Lucida Sans Unicode"/>
                <a:cs typeface="Lucida Sans Unicode"/>
              </a:rPr>
              <a:t>∅</a:t>
            </a:r>
            <a:r>
              <a:rPr sz="1000" spc="-100" dirty="0">
                <a:latin typeface="Lucida Sans Unicode"/>
                <a:cs typeface="Lucida Sans Unicode"/>
              </a:rPr>
              <a:t> </a:t>
            </a:r>
            <a:r>
              <a:rPr sz="1000" spc="-30" dirty="0">
                <a:latin typeface="Lucida Sans Unicode"/>
                <a:cs typeface="Lucida Sans Unicode"/>
              </a:rPr>
              <a:t>\</a:t>
            </a:r>
            <a:r>
              <a:rPr sz="1000" spc="-95" dirty="0">
                <a:latin typeface="Lucida Sans Unicode"/>
                <a:cs typeface="Lucida Sans Unicode"/>
              </a:rPr>
              <a:t> </a:t>
            </a: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spc="-480" dirty="0">
                <a:latin typeface="Lucida Sans Unicode"/>
                <a:cs typeface="Lucida Sans Unicode"/>
              </a:rPr>
              <a:t>∅</a:t>
            </a:r>
            <a:endParaRPr sz="1000">
              <a:latin typeface="Lucida Sans Unicode"/>
              <a:cs typeface="Lucida Sans Unicode"/>
            </a:endParaRPr>
          </a:p>
        </p:txBody>
      </p:sp>
      <p:sp>
        <p:nvSpPr>
          <p:cNvPr id="44" name="object 44"/>
          <p:cNvSpPr txBox="1"/>
          <p:nvPr/>
        </p:nvSpPr>
        <p:spPr>
          <a:xfrm>
            <a:off x="736663" y="2123445"/>
            <a:ext cx="3704590" cy="329565"/>
          </a:xfrm>
          <a:prstGeom prst="rect">
            <a:avLst/>
          </a:prstGeom>
        </p:spPr>
        <p:txBody>
          <a:bodyPr vert="horz" wrap="square" lIns="0" tIns="12065" rIns="0" bIns="0" rtlCol="0">
            <a:spAutoFit/>
          </a:bodyPr>
          <a:lstStyle/>
          <a:p>
            <a:pPr marL="12700" marR="5080">
              <a:lnSpc>
                <a:spcPct val="100000"/>
              </a:lnSpc>
              <a:spcBef>
                <a:spcPts val="95"/>
              </a:spcBef>
            </a:pPr>
            <a:r>
              <a:rPr sz="1000" spc="-40" dirty="0">
                <a:latin typeface="Tahoma"/>
                <a:cs typeface="Tahoma"/>
              </a:rPr>
              <a:t>These</a:t>
            </a:r>
            <a:r>
              <a:rPr sz="1000" spc="10" dirty="0">
                <a:latin typeface="Tahoma"/>
                <a:cs typeface="Tahoma"/>
              </a:rPr>
              <a:t> </a:t>
            </a:r>
            <a:r>
              <a:rPr sz="1000" spc="-25" dirty="0">
                <a:latin typeface="Tahoma"/>
                <a:cs typeface="Tahoma"/>
              </a:rPr>
              <a:t>identities</a:t>
            </a:r>
            <a:r>
              <a:rPr sz="1000" spc="15" dirty="0">
                <a:latin typeface="Tahoma"/>
                <a:cs typeface="Tahoma"/>
              </a:rPr>
              <a:t> </a:t>
            </a:r>
            <a:r>
              <a:rPr sz="1000" spc="-35" dirty="0">
                <a:latin typeface="Tahoma"/>
                <a:cs typeface="Tahoma"/>
              </a:rPr>
              <a:t>allow</a:t>
            </a:r>
            <a:r>
              <a:rPr sz="1000" spc="15" dirty="0">
                <a:latin typeface="Tahoma"/>
                <a:cs typeface="Tahoma"/>
              </a:rPr>
              <a:t> </a:t>
            </a:r>
            <a:r>
              <a:rPr sz="1000" spc="-10" dirty="0">
                <a:latin typeface="Tahoma"/>
                <a:cs typeface="Tahoma"/>
              </a:rPr>
              <a:t>to</a:t>
            </a:r>
            <a:r>
              <a:rPr sz="1000" spc="15" dirty="0">
                <a:latin typeface="Tahoma"/>
                <a:cs typeface="Tahoma"/>
              </a:rPr>
              <a:t> </a:t>
            </a:r>
            <a:r>
              <a:rPr sz="1000" spc="-50" dirty="0">
                <a:latin typeface="Tahoma"/>
                <a:cs typeface="Tahoma"/>
              </a:rPr>
              <a:t>reduce</a:t>
            </a:r>
            <a:r>
              <a:rPr sz="1000" spc="15" dirty="0">
                <a:latin typeface="Tahoma"/>
                <a:cs typeface="Tahoma"/>
              </a:rPr>
              <a:t> </a:t>
            </a:r>
            <a:r>
              <a:rPr sz="1000" spc="-50" dirty="0">
                <a:latin typeface="Tahoma"/>
                <a:cs typeface="Tahoma"/>
              </a:rPr>
              <a:t>expressions,</a:t>
            </a:r>
            <a:r>
              <a:rPr sz="1000" spc="15" dirty="0">
                <a:latin typeface="Tahoma"/>
                <a:cs typeface="Tahoma"/>
              </a:rPr>
              <a:t> </a:t>
            </a:r>
            <a:r>
              <a:rPr sz="1000" spc="-35" dirty="0">
                <a:latin typeface="Tahoma"/>
                <a:cs typeface="Tahoma"/>
              </a:rPr>
              <a:t>which</a:t>
            </a:r>
            <a:r>
              <a:rPr sz="1000" spc="10" dirty="0">
                <a:latin typeface="Tahoma"/>
                <a:cs typeface="Tahoma"/>
              </a:rPr>
              <a:t> </a:t>
            </a:r>
            <a:r>
              <a:rPr sz="1000" spc="-25" dirty="0">
                <a:latin typeface="Tahoma"/>
                <a:cs typeface="Tahoma"/>
              </a:rPr>
              <a:t>contain</a:t>
            </a:r>
            <a:r>
              <a:rPr sz="1000" spc="15" dirty="0">
                <a:latin typeface="Tahoma"/>
                <a:cs typeface="Tahoma"/>
              </a:rPr>
              <a:t> </a:t>
            </a:r>
            <a:r>
              <a:rPr sz="1000" spc="-35" dirty="0">
                <a:latin typeface="Tahoma"/>
                <a:cs typeface="Tahoma"/>
              </a:rPr>
              <a:t>the</a:t>
            </a:r>
            <a:r>
              <a:rPr sz="1000" spc="15" dirty="0">
                <a:latin typeface="Tahoma"/>
                <a:cs typeface="Tahoma"/>
              </a:rPr>
              <a:t> </a:t>
            </a:r>
            <a:r>
              <a:rPr sz="1000" spc="-45" dirty="0">
                <a:latin typeface="Tahoma"/>
                <a:cs typeface="Tahoma"/>
              </a:rPr>
              <a:t>empty </a:t>
            </a:r>
            <a:r>
              <a:rPr sz="1000" spc="-295" dirty="0">
                <a:latin typeface="Tahoma"/>
                <a:cs typeface="Tahoma"/>
              </a:rPr>
              <a:t> </a:t>
            </a:r>
            <a:r>
              <a:rPr sz="1000" spc="-40" dirty="0">
                <a:latin typeface="Tahoma"/>
                <a:cs typeface="Tahoma"/>
              </a:rPr>
              <a:t>set.</a:t>
            </a:r>
            <a:endParaRPr sz="1000">
              <a:latin typeface="Tahoma"/>
              <a:cs typeface="Tahoma"/>
            </a:endParaRPr>
          </a:p>
        </p:txBody>
      </p:sp>
      <p:sp>
        <p:nvSpPr>
          <p:cNvPr id="45" name="object 45"/>
          <p:cNvSpPr/>
          <p:nvPr/>
        </p:nvSpPr>
        <p:spPr>
          <a:xfrm>
            <a:off x="698562" y="2515768"/>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6" name="object 46"/>
          <p:cNvSpPr txBox="1"/>
          <p:nvPr/>
        </p:nvSpPr>
        <p:spPr>
          <a:xfrm>
            <a:off x="749363" y="2545707"/>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sp>
        <p:nvSpPr>
          <p:cNvPr id="51" name="object 51"/>
          <p:cNvSpPr txBox="1"/>
          <p:nvPr/>
        </p:nvSpPr>
        <p:spPr>
          <a:xfrm>
            <a:off x="723963" y="2594520"/>
            <a:ext cx="3831590" cy="530225"/>
          </a:xfrm>
          <a:prstGeom prst="rect">
            <a:avLst/>
          </a:prstGeom>
        </p:spPr>
        <p:txBody>
          <a:bodyPr vert="horz" wrap="square" lIns="0" tIns="6985" rIns="0" bIns="0" rtlCol="0">
            <a:spAutoFit/>
          </a:bodyPr>
          <a:lstStyle/>
          <a:p>
            <a:pPr>
              <a:lnSpc>
                <a:spcPct val="100000"/>
              </a:lnSpc>
              <a:spcBef>
                <a:spcPts val="55"/>
              </a:spcBef>
            </a:pPr>
            <a:endParaRPr sz="850" dirty="0">
              <a:latin typeface="Times New Roman"/>
              <a:cs typeface="Times New Roman"/>
            </a:endParaRPr>
          </a:p>
          <a:p>
            <a:pPr marL="50800" marR="142240">
              <a:lnSpc>
                <a:spcPct val="100000"/>
              </a:lnSpc>
            </a:pPr>
            <a:r>
              <a:rPr sz="1000" spc="-30" dirty="0">
                <a:latin typeface="Tahoma"/>
                <a:cs typeface="Tahoma"/>
              </a:rPr>
              <a:t>Obvious</a:t>
            </a:r>
            <a:r>
              <a:rPr sz="1000" spc="15" dirty="0">
                <a:latin typeface="Tahoma"/>
                <a:cs typeface="Tahoma"/>
              </a:rPr>
              <a:t> </a:t>
            </a:r>
            <a:r>
              <a:rPr sz="1000" spc="-30" dirty="0">
                <a:latin typeface="Tahoma"/>
                <a:cs typeface="Tahoma"/>
              </a:rPr>
              <a:t>proposition,</a:t>
            </a:r>
            <a:r>
              <a:rPr sz="1000" spc="25" dirty="0">
                <a:latin typeface="Tahoma"/>
                <a:cs typeface="Tahoma"/>
              </a:rPr>
              <a:t> </a:t>
            </a:r>
            <a:r>
              <a:rPr sz="1000" spc="-35" dirty="0">
                <a:latin typeface="Tahoma"/>
                <a:cs typeface="Tahoma"/>
              </a:rPr>
              <a:t>which</a:t>
            </a:r>
            <a:r>
              <a:rPr sz="1000" spc="15" dirty="0">
                <a:latin typeface="Tahoma"/>
                <a:cs typeface="Tahoma"/>
              </a:rPr>
              <a:t> </a:t>
            </a:r>
            <a:r>
              <a:rPr sz="1000" spc="-30" dirty="0">
                <a:latin typeface="Tahoma"/>
                <a:cs typeface="Tahoma"/>
              </a:rPr>
              <a:t>follow</a:t>
            </a:r>
            <a:r>
              <a:rPr sz="1000" spc="20" dirty="0">
                <a:latin typeface="Tahoma"/>
                <a:cs typeface="Tahoma"/>
              </a:rPr>
              <a:t> </a:t>
            </a:r>
            <a:r>
              <a:rPr sz="1000" spc="-40" dirty="0">
                <a:latin typeface="Tahoma"/>
                <a:cs typeface="Tahoma"/>
              </a:rPr>
              <a:t>for</a:t>
            </a:r>
            <a:r>
              <a:rPr sz="1000" spc="20" dirty="0">
                <a:latin typeface="Tahoma"/>
                <a:cs typeface="Tahoma"/>
              </a:rPr>
              <a:t> </a:t>
            </a:r>
            <a:r>
              <a:rPr sz="1000" spc="-35" dirty="0">
                <a:latin typeface="Tahoma"/>
                <a:cs typeface="Tahoma"/>
              </a:rPr>
              <a:t>the</a:t>
            </a:r>
            <a:r>
              <a:rPr sz="1000" spc="20" dirty="0">
                <a:latin typeface="Tahoma"/>
                <a:cs typeface="Tahoma"/>
              </a:rPr>
              <a:t> </a:t>
            </a:r>
            <a:r>
              <a:rPr sz="1000" spc="-25" dirty="0">
                <a:latin typeface="Tahoma"/>
                <a:cs typeface="Tahoma"/>
              </a:rPr>
              <a:t>definition</a:t>
            </a:r>
            <a:r>
              <a:rPr sz="1000" spc="20" dirty="0">
                <a:latin typeface="Tahoma"/>
                <a:cs typeface="Tahoma"/>
              </a:rPr>
              <a:t> </a:t>
            </a:r>
            <a:r>
              <a:rPr sz="1000" spc="-30" dirty="0">
                <a:latin typeface="Tahoma"/>
                <a:cs typeface="Tahoma"/>
              </a:rPr>
              <a:t>of</a:t>
            </a:r>
            <a:r>
              <a:rPr sz="1000" spc="20" dirty="0">
                <a:latin typeface="Tahoma"/>
                <a:cs typeface="Tahoma"/>
              </a:rPr>
              <a:t> </a:t>
            </a:r>
            <a:r>
              <a:rPr sz="1000" spc="-45" dirty="0">
                <a:latin typeface="Tahoma"/>
                <a:cs typeface="Tahoma"/>
              </a:rPr>
              <a:t>set</a:t>
            </a:r>
            <a:r>
              <a:rPr sz="1000" spc="20" dirty="0">
                <a:latin typeface="Tahoma"/>
                <a:cs typeface="Tahoma"/>
              </a:rPr>
              <a:t> </a:t>
            </a:r>
            <a:r>
              <a:rPr sz="1000" spc="-35" dirty="0">
                <a:latin typeface="Tahoma"/>
                <a:cs typeface="Tahoma"/>
              </a:rPr>
              <a:t>operations </a:t>
            </a:r>
            <a:r>
              <a:rPr sz="1000" spc="-300" dirty="0">
                <a:latin typeface="Tahoma"/>
                <a:cs typeface="Tahoma"/>
              </a:rPr>
              <a:t> </a:t>
            </a:r>
            <a:r>
              <a:rPr sz="1000" spc="-45" dirty="0">
                <a:latin typeface="Tahoma"/>
                <a:cs typeface="Tahoma"/>
              </a:rPr>
              <a:t>and</a:t>
            </a:r>
            <a:r>
              <a:rPr sz="1000" spc="10" dirty="0">
                <a:latin typeface="Tahoma"/>
                <a:cs typeface="Tahoma"/>
              </a:rPr>
              <a:t> </a:t>
            </a:r>
            <a:r>
              <a:rPr sz="1000" spc="-35" dirty="0">
                <a:latin typeface="Tahoma"/>
                <a:cs typeface="Tahoma"/>
              </a:rPr>
              <a:t>the</a:t>
            </a:r>
            <a:r>
              <a:rPr sz="1000" spc="20" dirty="0">
                <a:latin typeface="Tahoma"/>
                <a:cs typeface="Tahoma"/>
              </a:rPr>
              <a:t> </a:t>
            </a:r>
            <a:r>
              <a:rPr sz="1000" spc="-25" dirty="0">
                <a:latin typeface="Tahoma"/>
                <a:cs typeface="Tahoma"/>
              </a:rPr>
              <a:t>definition</a:t>
            </a:r>
            <a:r>
              <a:rPr sz="1000" spc="20" dirty="0">
                <a:latin typeface="Tahoma"/>
                <a:cs typeface="Tahoma"/>
              </a:rPr>
              <a:t> </a:t>
            </a:r>
            <a:r>
              <a:rPr sz="1000" spc="-30" dirty="0">
                <a:latin typeface="Tahoma"/>
                <a:cs typeface="Tahoma"/>
              </a:rPr>
              <a:t>of</a:t>
            </a:r>
            <a:r>
              <a:rPr sz="1000" spc="15" dirty="0">
                <a:latin typeface="Tahoma"/>
                <a:cs typeface="Tahoma"/>
              </a:rPr>
              <a:t> </a:t>
            </a:r>
            <a:r>
              <a:rPr sz="1000" spc="-35" dirty="0">
                <a:latin typeface="Tahoma"/>
                <a:cs typeface="Tahoma"/>
              </a:rPr>
              <a:t>the</a:t>
            </a:r>
            <a:r>
              <a:rPr sz="1000" spc="20" dirty="0">
                <a:latin typeface="Tahoma"/>
                <a:cs typeface="Tahoma"/>
              </a:rPr>
              <a:t> </a:t>
            </a:r>
            <a:r>
              <a:rPr sz="1000" spc="-45" dirty="0">
                <a:latin typeface="Tahoma"/>
                <a:cs typeface="Tahoma"/>
              </a:rPr>
              <a:t>empty</a:t>
            </a:r>
            <a:r>
              <a:rPr sz="1000" spc="10" dirty="0">
                <a:latin typeface="Tahoma"/>
                <a:cs typeface="Tahoma"/>
              </a:rPr>
              <a:t> </a:t>
            </a:r>
            <a:r>
              <a:rPr sz="1000" spc="-40" dirty="0">
                <a:latin typeface="Tahoma"/>
                <a:cs typeface="Tahoma"/>
              </a:rPr>
              <a:t>set.</a:t>
            </a:r>
            <a:endParaRPr sz="1000" dirty="0">
              <a:latin typeface="Tahoma"/>
              <a:cs typeface="Tahoma"/>
            </a:endParaRPr>
          </a:p>
        </p:txBody>
      </p:sp>
      <p:grpSp>
        <p:nvGrpSpPr>
          <p:cNvPr id="52" name="object 52"/>
          <p:cNvGrpSpPr/>
          <p:nvPr/>
        </p:nvGrpSpPr>
        <p:grpSpPr>
          <a:xfrm>
            <a:off x="4335779" y="2897238"/>
            <a:ext cx="86360" cy="85725"/>
            <a:chOff x="4335779" y="2897238"/>
            <a:chExt cx="86360" cy="85725"/>
          </a:xfrm>
        </p:grpSpPr>
        <p:sp>
          <p:nvSpPr>
            <p:cNvPr id="53" name="object 53"/>
            <p:cNvSpPr/>
            <p:nvPr/>
          </p:nvSpPr>
          <p:spPr>
            <a:xfrm>
              <a:off x="4338307" y="2897238"/>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54" name="object 54"/>
            <p:cNvSpPr/>
            <p:nvPr/>
          </p:nvSpPr>
          <p:spPr>
            <a:xfrm>
              <a:off x="4340834" y="2899778"/>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5" name="object 55"/>
            <p:cNvSpPr/>
            <p:nvPr/>
          </p:nvSpPr>
          <p:spPr>
            <a:xfrm>
              <a:off x="4340834" y="2980118"/>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6" name="object 56"/>
            <p:cNvSpPr/>
            <p:nvPr/>
          </p:nvSpPr>
          <p:spPr>
            <a:xfrm>
              <a:off x="4419282" y="2897238"/>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257300" cy="244475"/>
          </a:xfrm>
          <a:prstGeom prst="rect">
            <a:avLst/>
          </a:prstGeom>
        </p:spPr>
        <p:txBody>
          <a:bodyPr vert="horz" wrap="square" lIns="0" tIns="17145" rIns="0" bIns="0" rtlCol="0">
            <a:spAutoFit/>
          </a:bodyPr>
          <a:lstStyle/>
          <a:p>
            <a:pPr marL="12700">
              <a:lnSpc>
                <a:spcPct val="100000"/>
              </a:lnSpc>
              <a:spcBef>
                <a:spcPts val="135"/>
              </a:spcBef>
            </a:pPr>
            <a:r>
              <a:rPr spc="-10" dirty="0"/>
              <a:t>Commutativity</a:t>
            </a:r>
          </a:p>
        </p:txBody>
      </p:sp>
      <p:sp>
        <p:nvSpPr>
          <p:cNvPr id="30" name="object 30"/>
          <p:cNvSpPr/>
          <p:nvPr/>
        </p:nvSpPr>
        <p:spPr>
          <a:xfrm>
            <a:off x="698562" y="1033919"/>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1063845"/>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32" name="object 32"/>
          <p:cNvGrpSpPr/>
          <p:nvPr/>
        </p:nvGrpSpPr>
        <p:grpSpPr>
          <a:xfrm>
            <a:off x="698562" y="1090844"/>
            <a:ext cx="3831590" cy="953135"/>
            <a:chOff x="698562" y="1090844"/>
            <a:chExt cx="3831590" cy="953135"/>
          </a:xfrm>
        </p:grpSpPr>
        <p:pic>
          <p:nvPicPr>
            <p:cNvPr id="33" name="object 33"/>
            <p:cNvPicPr/>
            <p:nvPr/>
          </p:nvPicPr>
          <p:blipFill>
            <a:blip r:embed="rId7" cstate="print"/>
            <a:stretch>
              <a:fillRect/>
            </a:stretch>
          </p:blipFill>
          <p:spPr>
            <a:xfrm>
              <a:off x="698563" y="1197140"/>
              <a:ext cx="3780284" cy="50609"/>
            </a:xfrm>
            <a:prstGeom prst="rect">
              <a:avLst/>
            </a:prstGeom>
          </p:spPr>
        </p:pic>
        <p:sp>
          <p:nvSpPr>
            <p:cNvPr id="34" name="object 34"/>
            <p:cNvSpPr/>
            <p:nvPr/>
          </p:nvSpPr>
          <p:spPr>
            <a:xfrm>
              <a:off x="749363" y="1090844"/>
              <a:ext cx="3780790" cy="953135"/>
            </a:xfrm>
            <a:custGeom>
              <a:avLst/>
              <a:gdLst/>
              <a:ahLst/>
              <a:cxnLst/>
              <a:rect l="l" t="t" r="r" b="b"/>
              <a:pathLst>
                <a:path w="3780790" h="953135">
                  <a:moveTo>
                    <a:pt x="3780285" y="0"/>
                  </a:moveTo>
                  <a:lnTo>
                    <a:pt x="0" y="0"/>
                  </a:lnTo>
                  <a:lnTo>
                    <a:pt x="0" y="952942"/>
                  </a:lnTo>
                  <a:lnTo>
                    <a:pt x="3780285" y="952942"/>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241413"/>
              <a:ext cx="3780790" cy="751840"/>
            </a:xfrm>
            <a:custGeom>
              <a:avLst/>
              <a:gdLst/>
              <a:ahLst/>
              <a:cxnLst/>
              <a:rect l="l" t="t" r="r" b="b"/>
              <a:pathLst>
                <a:path w="3780790" h="751839">
                  <a:moveTo>
                    <a:pt x="3780285" y="0"/>
                  </a:moveTo>
                  <a:lnTo>
                    <a:pt x="0" y="0"/>
                  </a:lnTo>
                  <a:lnTo>
                    <a:pt x="0" y="700772"/>
                  </a:lnTo>
                  <a:lnTo>
                    <a:pt x="4008" y="720497"/>
                  </a:lnTo>
                  <a:lnTo>
                    <a:pt x="14922" y="736650"/>
                  </a:lnTo>
                  <a:lnTo>
                    <a:pt x="31075" y="747564"/>
                  </a:lnTo>
                  <a:lnTo>
                    <a:pt x="50800" y="751572"/>
                  </a:lnTo>
                  <a:lnTo>
                    <a:pt x="3729484" y="751572"/>
                  </a:lnTo>
                  <a:lnTo>
                    <a:pt x="3749209" y="747564"/>
                  </a:lnTo>
                  <a:lnTo>
                    <a:pt x="3765362" y="736650"/>
                  </a:lnTo>
                  <a:lnTo>
                    <a:pt x="3776276" y="720497"/>
                  </a:lnTo>
                  <a:lnTo>
                    <a:pt x="3780285" y="700772"/>
                  </a:lnTo>
                  <a:lnTo>
                    <a:pt x="3780285" y="0"/>
                  </a:lnTo>
                  <a:close/>
                </a:path>
              </a:pathLst>
            </a:custGeom>
            <a:solidFill>
              <a:srgbClr val="E9E9F2"/>
            </a:solidFill>
          </p:spPr>
          <p:txBody>
            <a:bodyPr wrap="square" lIns="0" tIns="0" rIns="0" bIns="0" rtlCol="0"/>
            <a:lstStyle/>
            <a:p>
              <a:endParaRPr/>
            </a:p>
          </p:txBody>
        </p:sp>
        <p:pic>
          <p:nvPicPr>
            <p:cNvPr id="36" name="object 36"/>
            <p:cNvPicPr/>
            <p:nvPr/>
          </p:nvPicPr>
          <p:blipFill>
            <a:blip r:embed="rId8" cstate="print"/>
            <a:stretch>
              <a:fillRect/>
            </a:stretch>
          </p:blipFill>
          <p:spPr>
            <a:xfrm>
              <a:off x="830757" y="1455677"/>
              <a:ext cx="104301" cy="104301"/>
            </a:xfrm>
            <a:prstGeom prst="rect">
              <a:avLst/>
            </a:prstGeom>
          </p:spPr>
        </p:pic>
      </p:grpSp>
      <p:sp>
        <p:nvSpPr>
          <p:cNvPr id="37" name="object 37"/>
          <p:cNvSpPr txBox="1"/>
          <p:nvPr/>
        </p:nvSpPr>
        <p:spPr>
          <a:xfrm>
            <a:off x="830757" y="1455677"/>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1</a:t>
            </a:r>
            <a:endParaRPr sz="500">
              <a:latin typeface="Microsoft Sans Serif"/>
              <a:cs typeface="Microsoft Sans Serif"/>
            </a:endParaRPr>
          </a:p>
        </p:txBody>
      </p:sp>
      <p:pic>
        <p:nvPicPr>
          <p:cNvPr id="38" name="object 38"/>
          <p:cNvPicPr/>
          <p:nvPr/>
        </p:nvPicPr>
        <p:blipFill>
          <a:blip r:embed="rId8" cstate="print"/>
          <a:stretch>
            <a:fillRect/>
          </a:stretch>
        </p:blipFill>
        <p:spPr>
          <a:xfrm>
            <a:off x="830757" y="1645466"/>
            <a:ext cx="104301" cy="104301"/>
          </a:xfrm>
          <a:prstGeom prst="rect">
            <a:avLst/>
          </a:prstGeom>
        </p:spPr>
      </p:pic>
      <p:sp>
        <p:nvSpPr>
          <p:cNvPr id="39" name="object 39"/>
          <p:cNvSpPr txBox="1"/>
          <p:nvPr/>
        </p:nvSpPr>
        <p:spPr>
          <a:xfrm>
            <a:off x="830757" y="1645466"/>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2</a:t>
            </a:r>
            <a:endParaRPr sz="500">
              <a:latin typeface="Microsoft Sans Serif"/>
              <a:cs typeface="Microsoft Sans Serif"/>
            </a:endParaRPr>
          </a:p>
        </p:txBody>
      </p:sp>
      <p:sp>
        <p:nvSpPr>
          <p:cNvPr id="40" name="object 40"/>
          <p:cNvSpPr txBox="1">
            <a:spLocks noGrp="1"/>
          </p:cNvSpPr>
          <p:nvPr>
            <p:ph type="body" idx="1"/>
          </p:nvPr>
        </p:nvSpPr>
        <p:spPr>
          <a:prstGeom prst="rect">
            <a:avLst/>
          </a:prstGeom>
        </p:spPr>
        <p:txBody>
          <a:bodyPr vert="horz" wrap="square" lIns="0" tIns="99060" rIns="0" bIns="0" rtlCol="0">
            <a:spAutoFit/>
          </a:bodyPr>
          <a:lstStyle/>
          <a:p>
            <a:pPr marL="303530" marR="2572385" indent="-253365">
              <a:lnSpc>
                <a:spcPct val="124500"/>
              </a:lnSpc>
              <a:spcBef>
                <a:spcPts val="780"/>
              </a:spcBef>
            </a:pPr>
            <a:r>
              <a:rPr spc="15" dirty="0"/>
              <a:t>F</a:t>
            </a:r>
            <a:r>
              <a:rPr spc="-75" dirty="0"/>
              <a:t>o</a:t>
            </a:r>
            <a:r>
              <a:rPr spc="-25" dirty="0"/>
              <a:t>r</a:t>
            </a:r>
            <a:r>
              <a:rPr spc="20" dirty="0"/>
              <a:t> </a:t>
            </a:r>
            <a:r>
              <a:rPr spc="-45" dirty="0"/>
              <a:t>any</a:t>
            </a:r>
            <a:r>
              <a:rPr spc="15" dirty="0"/>
              <a:t> </a:t>
            </a:r>
            <a:r>
              <a:rPr spc="-50" dirty="0"/>
              <a:t>sets</a:t>
            </a:r>
            <a:r>
              <a:rPr spc="15" dirty="0"/>
              <a:t> </a:t>
            </a:r>
            <a:r>
              <a:rPr i="1" spc="-5" dirty="0">
                <a:latin typeface="Arial"/>
                <a:cs typeface="Arial"/>
              </a:rPr>
              <a:t>X</a:t>
            </a:r>
            <a:r>
              <a:rPr i="1" dirty="0">
                <a:latin typeface="Arial"/>
                <a:cs typeface="Arial"/>
              </a:rPr>
              <a:t> </a:t>
            </a:r>
            <a:r>
              <a:rPr i="1" spc="-90" dirty="0">
                <a:latin typeface="Arial"/>
                <a:cs typeface="Arial"/>
              </a:rPr>
              <a:t> </a:t>
            </a:r>
            <a:r>
              <a:rPr spc="-45" dirty="0"/>
              <a:t>and</a:t>
            </a:r>
            <a:r>
              <a:rPr spc="20" dirty="0"/>
              <a:t> </a:t>
            </a:r>
            <a:r>
              <a:rPr i="1" spc="-5" dirty="0">
                <a:latin typeface="Arial"/>
                <a:cs typeface="Arial"/>
              </a:rPr>
              <a:t>Y</a:t>
            </a:r>
            <a:r>
              <a:rPr i="1" spc="-110" dirty="0">
                <a:latin typeface="Arial"/>
                <a:cs typeface="Arial"/>
              </a:rPr>
              <a:t> </a:t>
            </a:r>
            <a:r>
              <a:rPr spc="-75" dirty="0"/>
              <a:t>:  </a:t>
            </a:r>
            <a:r>
              <a:rPr i="1" spc="-5" dirty="0">
                <a:latin typeface="Arial"/>
                <a:cs typeface="Arial"/>
              </a:rPr>
              <a:t>X</a:t>
            </a:r>
            <a:r>
              <a:rPr i="1" spc="75" dirty="0">
                <a:latin typeface="Arial"/>
                <a:cs typeface="Arial"/>
              </a:rPr>
              <a:t> </a:t>
            </a:r>
            <a:r>
              <a:rPr spc="-135" dirty="0">
                <a:latin typeface="Lucida Sans Unicode"/>
                <a:cs typeface="Lucida Sans Unicode"/>
              </a:rPr>
              <a:t>∩</a:t>
            </a:r>
            <a:r>
              <a:rPr spc="-95" dirty="0">
                <a:latin typeface="Lucida Sans Unicode"/>
                <a:cs typeface="Lucida Sans Unicode"/>
              </a:rPr>
              <a:t> </a:t>
            </a:r>
            <a:r>
              <a:rPr i="1" spc="-5" dirty="0">
                <a:latin typeface="Arial"/>
                <a:cs typeface="Arial"/>
              </a:rPr>
              <a:t>Y</a:t>
            </a:r>
            <a:r>
              <a:rPr i="1" dirty="0">
                <a:latin typeface="Arial"/>
                <a:cs typeface="Arial"/>
              </a:rPr>
              <a:t> </a:t>
            </a:r>
            <a:r>
              <a:rPr i="1" spc="-110" dirty="0">
                <a:latin typeface="Arial"/>
                <a:cs typeface="Arial"/>
              </a:rPr>
              <a:t> </a:t>
            </a:r>
            <a:r>
              <a:rPr spc="45" dirty="0"/>
              <a:t>=</a:t>
            </a:r>
            <a:r>
              <a:rPr spc="-35" dirty="0"/>
              <a:t> </a:t>
            </a:r>
            <a:r>
              <a:rPr i="1" spc="-5" dirty="0">
                <a:latin typeface="Arial"/>
                <a:cs typeface="Arial"/>
              </a:rPr>
              <a:t>Y</a:t>
            </a:r>
            <a:r>
              <a:rPr i="1" spc="114" dirty="0">
                <a:latin typeface="Arial"/>
                <a:cs typeface="Arial"/>
              </a:rPr>
              <a:t> </a:t>
            </a:r>
            <a:r>
              <a:rPr spc="-135" dirty="0">
                <a:latin typeface="Lucida Sans Unicode"/>
                <a:cs typeface="Lucida Sans Unicode"/>
              </a:rPr>
              <a:t>∩</a:t>
            </a:r>
            <a:r>
              <a:rPr spc="-95" dirty="0">
                <a:latin typeface="Lucida Sans Unicode"/>
                <a:cs typeface="Lucida Sans Unicode"/>
              </a:rPr>
              <a:t> </a:t>
            </a:r>
            <a:r>
              <a:rPr i="1" spc="-5" dirty="0">
                <a:latin typeface="Arial"/>
                <a:cs typeface="Arial"/>
              </a:rPr>
              <a:t>X  X</a:t>
            </a:r>
            <a:r>
              <a:rPr i="1" spc="75" dirty="0">
                <a:latin typeface="Arial"/>
                <a:cs typeface="Arial"/>
              </a:rPr>
              <a:t> </a:t>
            </a:r>
            <a:r>
              <a:rPr spc="-135" dirty="0">
                <a:latin typeface="Lucida Sans Unicode"/>
                <a:cs typeface="Lucida Sans Unicode"/>
              </a:rPr>
              <a:t>∪</a:t>
            </a:r>
            <a:r>
              <a:rPr spc="-95" dirty="0">
                <a:latin typeface="Lucida Sans Unicode"/>
                <a:cs typeface="Lucida Sans Unicode"/>
              </a:rPr>
              <a:t> </a:t>
            </a:r>
            <a:r>
              <a:rPr i="1" spc="-5" dirty="0">
                <a:latin typeface="Arial"/>
                <a:cs typeface="Arial"/>
              </a:rPr>
              <a:t>Y</a:t>
            </a:r>
            <a:r>
              <a:rPr i="1" dirty="0">
                <a:latin typeface="Arial"/>
                <a:cs typeface="Arial"/>
              </a:rPr>
              <a:t> </a:t>
            </a:r>
            <a:r>
              <a:rPr i="1" spc="-110" dirty="0">
                <a:latin typeface="Arial"/>
                <a:cs typeface="Arial"/>
              </a:rPr>
              <a:t> </a:t>
            </a:r>
            <a:r>
              <a:rPr spc="45" dirty="0"/>
              <a:t>=</a:t>
            </a:r>
            <a:r>
              <a:rPr spc="-35" dirty="0"/>
              <a:t> </a:t>
            </a:r>
            <a:r>
              <a:rPr i="1" spc="-5" dirty="0">
                <a:latin typeface="Arial"/>
                <a:cs typeface="Arial"/>
              </a:rPr>
              <a:t>Y</a:t>
            </a:r>
            <a:r>
              <a:rPr i="1" spc="114" dirty="0">
                <a:latin typeface="Arial"/>
                <a:cs typeface="Arial"/>
              </a:rPr>
              <a:t> </a:t>
            </a:r>
            <a:r>
              <a:rPr spc="-135" dirty="0">
                <a:latin typeface="Lucida Sans Unicode"/>
                <a:cs typeface="Lucida Sans Unicode"/>
              </a:rPr>
              <a:t>∪</a:t>
            </a:r>
            <a:r>
              <a:rPr spc="-95" dirty="0">
                <a:latin typeface="Lucida Sans Unicode"/>
                <a:cs typeface="Lucida Sans Unicode"/>
              </a:rPr>
              <a:t> </a:t>
            </a:r>
            <a:r>
              <a:rPr i="1" spc="-5" dirty="0">
                <a:latin typeface="Arial"/>
                <a:cs typeface="Arial"/>
              </a:rPr>
              <a:t>X</a:t>
            </a:r>
          </a:p>
          <a:p>
            <a:pPr marL="50800">
              <a:lnSpc>
                <a:spcPct val="100000"/>
              </a:lnSpc>
              <a:spcBef>
                <a:spcPts val="295"/>
              </a:spcBef>
            </a:pPr>
            <a:r>
              <a:rPr spc="-35" dirty="0"/>
              <a:t>the</a:t>
            </a:r>
            <a:r>
              <a:rPr spc="15" dirty="0"/>
              <a:t> </a:t>
            </a:r>
            <a:r>
              <a:rPr spc="-70" dirty="0"/>
              <a:t>p</a:t>
            </a:r>
            <a:r>
              <a:rPr spc="-35" dirty="0"/>
              <a:t>ro</a:t>
            </a:r>
            <a:r>
              <a:rPr spc="-15" dirty="0"/>
              <a:t>p</a:t>
            </a:r>
            <a:r>
              <a:rPr spc="-30" dirty="0"/>
              <a:t>er</a:t>
            </a:r>
            <a:r>
              <a:rPr spc="-55" dirty="0"/>
              <a:t>t</a:t>
            </a:r>
            <a:r>
              <a:rPr spc="-40" dirty="0"/>
              <a:t>y</a:t>
            </a:r>
            <a:r>
              <a:rPr spc="15" dirty="0"/>
              <a:t> </a:t>
            </a:r>
            <a:r>
              <a:rPr spc="-30" dirty="0"/>
              <a:t>of</a:t>
            </a:r>
            <a:r>
              <a:rPr spc="85" dirty="0"/>
              <a:t> </a:t>
            </a:r>
            <a:r>
              <a:rPr b="1" spc="-15" dirty="0">
                <a:latin typeface="Arial"/>
                <a:cs typeface="Arial"/>
              </a:rPr>
              <a:t>commutativi</a:t>
            </a:r>
            <a:r>
              <a:rPr b="1" spc="-40" dirty="0">
                <a:latin typeface="Arial"/>
                <a:cs typeface="Arial"/>
              </a:rPr>
              <a:t>t</a:t>
            </a:r>
            <a:r>
              <a:rPr b="1" spc="-60" dirty="0">
                <a:latin typeface="Arial"/>
                <a:cs typeface="Arial"/>
              </a:rPr>
              <a:t>y</a:t>
            </a:r>
            <a:r>
              <a:rPr b="1" spc="60" dirty="0">
                <a:latin typeface="Arial"/>
                <a:cs typeface="Arial"/>
              </a:rPr>
              <a:t> </a:t>
            </a:r>
            <a:r>
              <a:rPr spc="-30" dirty="0"/>
              <a:t>of</a:t>
            </a:r>
            <a:r>
              <a:rPr spc="15" dirty="0"/>
              <a:t> </a:t>
            </a:r>
            <a:r>
              <a:rPr spc="-45" dirty="0"/>
              <a:t>o</a:t>
            </a:r>
            <a:r>
              <a:rPr spc="-20" dirty="0"/>
              <a:t>p</a:t>
            </a:r>
            <a:r>
              <a:rPr spc="-35" dirty="0"/>
              <a:t>erations</a:t>
            </a:r>
            <a:r>
              <a:rPr spc="20" dirty="0"/>
              <a:t> </a:t>
            </a:r>
            <a:r>
              <a:rPr spc="-135" dirty="0">
                <a:latin typeface="Lucida Sans Unicode"/>
                <a:cs typeface="Lucida Sans Unicode"/>
              </a:rPr>
              <a:t>∩</a:t>
            </a:r>
            <a:r>
              <a:rPr spc="15" dirty="0">
                <a:latin typeface="Lucida Sans Unicode"/>
                <a:cs typeface="Lucida Sans Unicode"/>
              </a:rPr>
              <a:t> </a:t>
            </a:r>
            <a:r>
              <a:rPr spc="-45" dirty="0"/>
              <a:t>and</a:t>
            </a:r>
            <a:r>
              <a:rPr spc="20" dirty="0"/>
              <a:t> </a:t>
            </a:r>
            <a:r>
              <a:rPr spc="-135" dirty="0">
                <a:latin typeface="Lucida Sans Unicode"/>
                <a:cs typeface="Lucida Sans Unicode"/>
              </a:rPr>
              <a:t>∪</a:t>
            </a:r>
            <a:r>
              <a:rPr spc="-30" dirty="0"/>
              <a:t>.</a:t>
            </a:r>
          </a:p>
        </p:txBody>
      </p:sp>
      <p:sp>
        <p:nvSpPr>
          <p:cNvPr id="41" name="object 41"/>
          <p:cNvSpPr txBox="1"/>
          <p:nvPr/>
        </p:nvSpPr>
        <p:spPr>
          <a:xfrm>
            <a:off x="736663" y="2056249"/>
            <a:ext cx="3369310" cy="329565"/>
          </a:xfrm>
          <a:prstGeom prst="rect">
            <a:avLst/>
          </a:prstGeom>
        </p:spPr>
        <p:txBody>
          <a:bodyPr vert="horz" wrap="square" lIns="0" tIns="12065" rIns="0" bIns="0" rtlCol="0">
            <a:spAutoFit/>
          </a:bodyPr>
          <a:lstStyle/>
          <a:p>
            <a:pPr marL="12700" marR="5080">
              <a:lnSpc>
                <a:spcPct val="100000"/>
              </a:lnSpc>
              <a:spcBef>
                <a:spcPts val="95"/>
              </a:spcBef>
            </a:pPr>
            <a:r>
              <a:rPr sz="1000" spc="-5" dirty="0">
                <a:latin typeface="Tahoma"/>
                <a:cs typeface="Tahoma"/>
              </a:rPr>
              <a:t>This </a:t>
            </a:r>
            <a:r>
              <a:rPr sz="1000" spc="-40" dirty="0">
                <a:latin typeface="Tahoma"/>
                <a:cs typeface="Tahoma"/>
              </a:rPr>
              <a:t>property allows </a:t>
            </a:r>
            <a:r>
              <a:rPr sz="1000" spc="-10" dirty="0">
                <a:latin typeface="Tahoma"/>
                <a:cs typeface="Tahoma"/>
              </a:rPr>
              <a:t>to </a:t>
            </a:r>
            <a:r>
              <a:rPr sz="1000" spc="-65" dirty="0">
                <a:latin typeface="Tahoma"/>
                <a:cs typeface="Tahoma"/>
              </a:rPr>
              <a:t>swap</a:t>
            </a:r>
            <a:r>
              <a:rPr sz="1000" spc="-60" dirty="0">
                <a:latin typeface="Tahoma"/>
                <a:cs typeface="Tahoma"/>
              </a:rPr>
              <a:t> </a:t>
            </a:r>
            <a:r>
              <a:rPr sz="1000" spc="-50" dirty="0">
                <a:latin typeface="Tahoma"/>
                <a:cs typeface="Tahoma"/>
              </a:rPr>
              <a:t>arguments</a:t>
            </a:r>
            <a:r>
              <a:rPr sz="1000" spc="-45" dirty="0">
                <a:latin typeface="Tahoma"/>
                <a:cs typeface="Tahoma"/>
              </a:rPr>
              <a:t> </a:t>
            </a:r>
            <a:r>
              <a:rPr sz="1000" spc="-20" dirty="0">
                <a:latin typeface="Tahoma"/>
                <a:cs typeface="Tahoma"/>
              </a:rPr>
              <a:t>in </a:t>
            </a:r>
            <a:r>
              <a:rPr sz="1000" spc="-30" dirty="0">
                <a:latin typeface="Tahoma"/>
                <a:cs typeface="Tahoma"/>
              </a:rPr>
              <a:t>unions/intersections </a:t>
            </a:r>
            <a:r>
              <a:rPr sz="1000" spc="-305" dirty="0">
                <a:latin typeface="Tahoma"/>
                <a:cs typeface="Tahoma"/>
              </a:rPr>
              <a:t> </a:t>
            </a:r>
            <a:r>
              <a:rPr sz="1000" spc="-30" dirty="0">
                <a:latin typeface="Tahoma"/>
                <a:cs typeface="Tahoma"/>
              </a:rPr>
              <a:t>arbitrarily,</a:t>
            </a:r>
            <a:r>
              <a:rPr sz="1000" spc="15" dirty="0">
                <a:latin typeface="Tahoma"/>
                <a:cs typeface="Tahoma"/>
              </a:rPr>
              <a:t> </a:t>
            </a:r>
            <a:r>
              <a:rPr sz="1000" spc="-35" dirty="0">
                <a:latin typeface="Tahoma"/>
                <a:cs typeface="Tahoma"/>
              </a:rPr>
              <a:t>the</a:t>
            </a:r>
            <a:r>
              <a:rPr sz="1000" spc="20" dirty="0">
                <a:latin typeface="Tahoma"/>
                <a:cs typeface="Tahoma"/>
              </a:rPr>
              <a:t> </a:t>
            </a:r>
            <a:r>
              <a:rPr sz="1000" spc="-30" dirty="0">
                <a:latin typeface="Tahoma"/>
                <a:cs typeface="Tahoma"/>
              </a:rPr>
              <a:t>resulting</a:t>
            </a:r>
            <a:r>
              <a:rPr sz="1000" spc="15" dirty="0">
                <a:latin typeface="Tahoma"/>
                <a:cs typeface="Tahoma"/>
              </a:rPr>
              <a:t> </a:t>
            </a:r>
            <a:r>
              <a:rPr sz="1000" spc="-45" dirty="0">
                <a:latin typeface="Tahoma"/>
                <a:cs typeface="Tahoma"/>
              </a:rPr>
              <a:t>set</a:t>
            </a:r>
            <a:r>
              <a:rPr sz="1000" spc="15" dirty="0">
                <a:latin typeface="Tahoma"/>
                <a:cs typeface="Tahoma"/>
              </a:rPr>
              <a:t> </a:t>
            </a:r>
            <a:r>
              <a:rPr sz="1000" spc="-10" dirty="0">
                <a:latin typeface="Tahoma"/>
                <a:cs typeface="Tahoma"/>
              </a:rPr>
              <a:t>will</a:t>
            </a:r>
            <a:r>
              <a:rPr sz="1000" spc="15" dirty="0">
                <a:latin typeface="Tahoma"/>
                <a:cs typeface="Tahoma"/>
              </a:rPr>
              <a:t> </a:t>
            </a:r>
            <a:r>
              <a:rPr sz="1000" spc="-40" dirty="0">
                <a:latin typeface="Tahoma"/>
                <a:cs typeface="Tahoma"/>
              </a:rPr>
              <a:t>stay</a:t>
            </a:r>
            <a:r>
              <a:rPr sz="1000" spc="15" dirty="0">
                <a:latin typeface="Tahoma"/>
                <a:cs typeface="Tahoma"/>
              </a:rPr>
              <a:t> </a:t>
            </a:r>
            <a:r>
              <a:rPr sz="1000" spc="-35" dirty="0">
                <a:latin typeface="Tahoma"/>
                <a:cs typeface="Tahoma"/>
              </a:rPr>
              <a:t>the</a:t>
            </a:r>
            <a:r>
              <a:rPr sz="1000" spc="15" dirty="0">
                <a:latin typeface="Tahoma"/>
                <a:cs typeface="Tahoma"/>
              </a:rPr>
              <a:t> </a:t>
            </a:r>
            <a:r>
              <a:rPr sz="1000" spc="-55" dirty="0">
                <a:latin typeface="Tahoma"/>
                <a:cs typeface="Tahoma"/>
              </a:rPr>
              <a:t>same.</a:t>
            </a:r>
            <a:endParaRPr sz="1000">
              <a:latin typeface="Tahoma"/>
              <a:cs typeface="Tahoma"/>
            </a:endParaRPr>
          </a:p>
        </p:txBody>
      </p:sp>
      <p:sp>
        <p:nvSpPr>
          <p:cNvPr id="42" name="object 42"/>
          <p:cNvSpPr/>
          <p:nvPr/>
        </p:nvSpPr>
        <p:spPr>
          <a:xfrm>
            <a:off x="698562" y="2473172"/>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3" name="object 43"/>
          <p:cNvSpPr txBox="1"/>
          <p:nvPr/>
        </p:nvSpPr>
        <p:spPr>
          <a:xfrm>
            <a:off x="749363" y="2503098"/>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44" name="object 44"/>
          <p:cNvGrpSpPr/>
          <p:nvPr/>
        </p:nvGrpSpPr>
        <p:grpSpPr>
          <a:xfrm>
            <a:off x="698562" y="2530100"/>
            <a:ext cx="3831590" cy="378460"/>
            <a:chOff x="698562" y="2530100"/>
            <a:chExt cx="3831590" cy="378460"/>
          </a:xfrm>
        </p:grpSpPr>
        <p:pic>
          <p:nvPicPr>
            <p:cNvPr id="45" name="object 45"/>
            <p:cNvPicPr/>
            <p:nvPr/>
          </p:nvPicPr>
          <p:blipFill>
            <a:blip r:embed="rId7" cstate="print"/>
            <a:stretch>
              <a:fillRect/>
            </a:stretch>
          </p:blipFill>
          <p:spPr>
            <a:xfrm>
              <a:off x="698563" y="2630767"/>
              <a:ext cx="3780284" cy="50609"/>
            </a:xfrm>
            <a:prstGeom prst="rect">
              <a:avLst/>
            </a:prstGeom>
          </p:spPr>
        </p:pic>
        <p:sp>
          <p:nvSpPr>
            <p:cNvPr id="46" name="object 46"/>
            <p:cNvSpPr/>
            <p:nvPr/>
          </p:nvSpPr>
          <p:spPr>
            <a:xfrm>
              <a:off x="749363" y="2530100"/>
              <a:ext cx="3780790" cy="378460"/>
            </a:xfrm>
            <a:custGeom>
              <a:avLst/>
              <a:gdLst/>
              <a:ahLst/>
              <a:cxnLst/>
              <a:rect l="l" t="t" r="r" b="b"/>
              <a:pathLst>
                <a:path w="3780790" h="378460">
                  <a:moveTo>
                    <a:pt x="3780285" y="0"/>
                  </a:moveTo>
                  <a:lnTo>
                    <a:pt x="0" y="0"/>
                  </a:lnTo>
                  <a:lnTo>
                    <a:pt x="0" y="377946"/>
                  </a:lnTo>
                  <a:lnTo>
                    <a:pt x="3780285" y="377946"/>
                  </a:lnTo>
                  <a:lnTo>
                    <a:pt x="3780285" y="0"/>
                  </a:lnTo>
                  <a:close/>
                </a:path>
              </a:pathLst>
            </a:custGeom>
            <a:solidFill>
              <a:srgbClr val="000000"/>
            </a:solidFill>
          </p:spPr>
          <p:txBody>
            <a:bodyPr wrap="square" lIns="0" tIns="0" rIns="0" bIns="0" rtlCol="0"/>
            <a:lstStyle/>
            <a:p>
              <a:endParaRPr/>
            </a:p>
          </p:txBody>
        </p:sp>
        <p:sp>
          <p:nvSpPr>
            <p:cNvPr id="47" name="object 47"/>
            <p:cNvSpPr/>
            <p:nvPr/>
          </p:nvSpPr>
          <p:spPr>
            <a:xfrm>
              <a:off x="698562" y="2675045"/>
              <a:ext cx="3780790" cy="182245"/>
            </a:xfrm>
            <a:custGeom>
              <a:avLst/>
              <a:gdLst/>
              <a:ahLst/>
              <a:cxnLst/>
              <a:rect l="l" t="t" r="r" b="b"/>
              <a:pathLst>
                <a:path w="3780790" h="182244">
                  <a:moveTo>
                    <a:pt x="3780285" y="0"/>
                  </a:moveTo>
                  <a:lnTo>
                    <a:pt x="0" y="0"/>
                  </a:lnTo>
                  <a:lnTo>
                    <a:pt x="0" y="131400"/>
                  </a:lnTo>
                  <a:lnTo>
                    <a:pt x="4008" y="151125"/>
                  </a:lnTo>
                  <a:lnTo>
                    <a:pt x="14922" y="167277"/>
                  </a:lnTo>
                  <a:lnTo>
                    <a:pt x="31075" y="178192"/>
                  </a:lnTo>
                  <a:lnTo>
                    <a:pt x="50800" y="182200"/>
                  </a:lnTo>
                  <a:lnTo>
                    <a:pt x="3729484" y="182200"/>
                  </a:lnTo>
                  <a:lnTo>
                    <a:pt x="3749209" y="178192"/>
                  </a:lnTo>
                  <a:lnTo>
                    <a:pt x="3765362" y="167277"/>
                  </a:lnTo>
                  <a:lnTo>
                    <a:pt x="3776276" y="151125"/>
                  </a:lnTo>
                  <a:lnTo>
                    <a:pt x="3780285" y="131400"/>
                  </a:lnTo>
                  <a:lnTo>
                    <a:pt x="3780285" y="0"/>
                  </a:lnTo>
                  <a:close/>
                </a:path>
              </a:pathLst>
            </a:custGeom>
            <a:solidFill>
              <a:srgbClr val="E9E9F2"/>
            </a:solidFill>
          </p:spPr>
          <p:txBody>
            <a:bodyPr wrap="square" lIns="0" tIns="0" rIns="0" bIns="0" rtlCol="0"/>
            <a:lstStyle/>
            <a:p>
              <a:endParaRPr/>
            </a:p>
          </p:txBody>
        </p:sp>
      </p:grpSp>
      <p:sp>
        <p:nvSpPr>
          <p:cNvPr id="48" name="object 48"/>
          <p:cNvSpPr txBox="1"/>
          <p:nvPr/>
        </p:nvSpPr>
        <p:spPr>
          <a:xfrm>
            <a:off x="698563" y="2530100"/>
            <a:ext cx="3831590" cy="378460"/>
          </a:xfrm>
          <a:prstGeom prst="rect">
            <a:avLst/>
          </a:prstGeom>
        </p:spPr>
        <p:txBody>
          <a:bodyPr vert="horz" wrap="square" lIns="0" tIns="6985" rIns="0" bIns="0" rtlCol="0">
            <a:spAutoFit/>
          </a:bodyPr>
          <a:lstStyle/>
          <a:p>
            <a:pPr>
              <a:lnSpc>
                <a:spcPct val="100000"/>
              </a:lnSpc>
              <a:spcBef>
                <a:spcPts val="55"/>
              </a:spcBef>
            </a:pPr>
            <a:endParaRPr sz="850">
              <a:latin typeface="Times New Roman"/>
              <a:cs typeface="Times New Roman"/>
            </a:endParaRPr>
          </a:p>
          <a:p>
            <a:pPr marL="50800">
              <a:lnSpc>
                <a:spcPct val="100000"/>
              </a:lnSpc>
            </a:pPr>
            <a:r>
              <a:rPr sz="1000" spc="-30" dirty="0">
                <a:latin typeface="Tahoma"/>
                <a:cs typeface="Tahoma"/>
              </a:rPr>
              <a:t>Obviously</a:t>
            </a:r>
            <a:r>
              <a:rPr sz="1000" spc="15" dirty="0">
                <a:latin typeface="Tahoma"/>
                <a:cs typeface="Tahoma"/>
              </a:rPr>
              <a:t> </a:t>
            </a:r>
            <a:r>
              <a:rPr sz="1000" spc="-35" dirty="0">
                <a:latin typeface="Tahoma"/>
                <a:cs typeface="Tahoma"/>
              </a:rPr>
              <a:t>follows</a:t>
            </a:r>
            <a:r>
              <a:rPr sz="1000" spc="15" dirty="0">
                <a:latin typeface="Tahoma"/>
                <a:cs typeface="Tahoma"/>
              </a:rPr>
              <a:t> </a:t>
            </a:r>
            <a:r>
              <a:rPr sz="1000" spc="-35" dirty="0">
                <a:latin typeface="Tahoma"/>
                <a:cs typeface="Tahoma"/>
              </a:rPr>
              <a:t>from</a:t>
            </a:r>
            <a:r>
              <a:rPr sz="1000" spc="15" dirty="0">
                <a:latin typeface="Tahoma"/>
                <a:cs typeface="Tahoma"/>
              </a:rPr>
              <a:t> </a:t>
            </a:r>
            <a:r>
              <a:rPr sz="1000" spc="-35" dirty="0">
                <a:latin typeface="Tahoma"/>
                <a:cs typeface="Tahoma"/>
              </a:rPr>
              <a:t>the</a:t>
            </a:r>
            <a:r>
              <a:rPr sz="1000" spc="20" dirty="0">
                <a:latin typeface="Tahoma"/>
                <a:cs typeface="Tahoma"/>
              </a:rPr>
              <a:t> </a:t>
            </a:r>
            <a:r>
              <a:rPr sz="1000" spc="-30" dirty="0">
                <a:latin typeface="Tahoma"/>
                <a:cs typeface="Tahoma"/>
              </a:rPr>
              <a:t>definitions.</a:t>
            </a:r>
            <a:endParaRPr sz="1000">
              <a:latin typeface="Tahoma"/>
              <a:cs typeface="Tahoma"/>
            </a:endParaRPr>
          </a:p>
        </p:txBody>
      </p:sp>
      <p:grpSp>
        <p:nvGrpSpPr>
          <p:cNvPr id="49" name="object 49"/>
          <p:cNvGrpSpPr/>
          <p:nvPr/>
        </p:nvGrpSpPr>
        <p:grpSpPr>
          <a:xfrm>
            <a:off x="4335779" y="2702814"/>
            <a:ext cx="86360" cy="85725"/>
            <a:chOff x="4335779" y="2702814"/>
            <a:chExt cx="86360" cy="85725"/>
          </a:xfrm>
        </p:grpSpPr>
        <p:sp>
          <p:nvSpPr>
            <p:cNvPr id="50" name="object 50"/>
            <p:cNvSpPr/>
            <p:nvPr/>
          </p:nvSpPr>
          <p:spPr>
            <a:xfrm>
              <a:off x="4338307" y="2702814"/>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51" name="object 51"/>
            <p:cNvSpPr/>
            <p:nvPr/>
          </p:nvSpPr>
          <p:spPr>
            <a:xfrm>
              <a:off x="4340834" y="2705354"/>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2" name="object 52"/>
            <p:cNvSpPr/>
            <p:nvPr/>
          </p:nvSpPr>
          <p:spPr>
            <a:xfrm>
              <a:off x="4340834" y="2785694"/>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3" name="object 53"/>
            <p:cNvSpPr/>
            <p:nvPr/>
          </p:nvSpPr>
          <p:spPr>
            <a:xfrm>
              <a:off x="4419282" y="2702814"/>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554605" cy="244475"/>
          </a:xfrm>
          <a:prstGeom prst="rect">
            <a:avLst/>
          </a:prstGeom>
        </p:spPr>
        <p:txBody>
          <a:bodyPr vert="horz" wrap="square" lIns="0" tIns="17145" rIns="0" bIns="0" rtlCol="0">
            <a:spAutoFit/>
          </a:bodyPr>
          <a:lstStyle/>
          <a:p>
            <a:pPr marL="12700">
              <a:lnSpc>
                <a:spcPct val="100000"/>
              </a:lnSpc>
              <a:spcBef>
                <a:spcPts val="135"/>
              </a:spcBef>
            </a:pPr>
            <a:r>
              <a:rPr spc="-20" dirty="0"/>
              <a:t>Difference</a:t>
            </a:r>
            <a:r>
              <a:rPr spc="120" dirty="0"/>
              <a:t> </a:t>
            </a:r>
            <a:r>
              <a:rPr spc="-100" dirty="0"/>
              <a:t>is</a:t>
            </a:r>
            <a:r>
              <a:rPr spc="125" dirty="0"/>
              <a:t> </a:t>
            </a:r>
            <a:r>
              <a:rPr spc="-5" dirty="0"/>
              <a:t>not</a:t>
            </a:r>
            <a:r>
              <a:rPr spc="125" dirty="0"/>
              <a:t> </a:t>
            </a:r>
            <a:r>
              <a:rPr spc="-15" dirty="0"/>
              <a:t>commutative</a:t>
            </a:r>
          </a:p>
        </p:txBody>
      </p:sp>
      <p:sp>
        <p:nvSpPr>
          <p:cNvPr id="30" name="object 30"/>
          <p:cNvSpPr/>
          <p:nvPr/>
        </p:nvSpPr>
        <p:spPr>
          <a:xfrm>
            <a:off x="698562" y="1204581"/>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BF0000"/>
          </a:solidFill>
        </p:spPr>
        <p:txBody>
          <a:bodyPr wrap="square" lIns="0" tIns="0" rIns="0" bIns="0" rtlCol="0"/>
          <a:lstStyle/>
          <a:p>
            <a:endParaRPr/>
          </a:p>
        </p:txBody>
      </p:sp>
      <p:sp>
        <p:nvSpPr>
          <p:cNvPr id="31" name="object 31"/>
          <p:cNvSpPr txBox="1"/>
          <p:nvPr/>
        </p:nvSpPr>
        <p:spPr>
          <a:xfrm>
            <a:off x="749363" y="1234521"/>
            <a:ext cx="401320" cy="128270"/>
          </a:xfrm>
          <a:prstGeom prst="rect">
            <a:avLst/>
          </a:prstGeom>
        </p:spPr>
        <p:txBody>
          <a:bodyPr vert="horz" wrap="square" lIns="0" tIns="0" rIns="0" bIns="0" rtlCol="0">
            <a:spAutoFit/>
          </a:bodyPr>
          <a:lstStyle/>
          <a:p>
            <a:pPr>
              <a:lnSpc>
                <a:spcPts val="955"/>
              </a:lnSpc>
            </a:pPr>
            <a:r>
              <a:rPr sz="1000" spc="-45" dirty="0">
                <a:solidFill>
                  <a:srgbClr val="FFFFFF"/>
                </a:solidFill>
                <a:latin typeface="Tahoma"/>
                <a:cs typeface="Tahoma"/>
              </a:rPr>
              <a:t>Rem</a:t>
            </a:r>
            <a:r>
              <a:rPr sz="1000" spc="-65" dirty="0">
                <a:solidFill>
                  <a:srgbClr val="FFFFFF"/>
                </a:solidFill>
                <a:latin typeface="Tahoma"/>
                <a:cs typeface="Tahoma"/>
              </a:rPr>
              <a:t>a</a:t>
            </a:r>
            <a:r>
              <a:rPr sz="1000" spc="-20" dirty="0">
                <a:solidFill>
                  <a:srgbClr val="FFFFFF"/>
                </a:solidFill>
                <a:latin typeface="Tahoma"/>
                <a:cs typeface="Tahoma"/>
              </a:rPr>
              <a:t>rk</a:t>
            </a:r>
            <a:endParaRPr sz="1000">
              <a:latin typeface="Tahoma"/>
              <a:cs typeface="Tahoma"/>
            </a:endParaRPr>
          </a:p>
        </p:txBody>
      </p:sp>
      <p:grpSp>
        <p:nvGrpSpPr>
          <p:cNvPr id="32" name="object 32"/>
          <p:cNvGrpSpPr/>
          <p:nvPr/>
        </p:nvGrpSpPr>
        <p:grpSpPr>
          <a:xfrm>
            <a:off x="698562" y="1261512"/>
            <a:ext cx="3831590" cy="537210"/>
            <a:chOff x="698562" y="1261512"/>
            <a:chExt cx="3831590" cy="537210"/>
          </a:xfrm>
        </p:grpSpPr>
        <p:pic>
          <p:nvPicPr>
            <p:cNvPr id="33" name="object 33"/>
            <p:cNvPicPr/>
            <p:nvPr/>
          </p:nvPicPr>
          <p:blipFill>
            <a:blip r:embed="rId7" cstate="print"/>
            <a:stretch>
              <a:fillRect/>
            </a:stretch>
          </p:blipFill>
          <p:spPr>
            <a:xfrm>
              <a:off x="698563" y="1362176"/>
              <a:ext cx="3780284" cy="50609"/>
            </a:xfrm>
            <a:prstGeom prst="rect">
              <a:avLst/>
            </a:prstGeom>
          </p:spPr>
        </p:pic>
        <p:sp>
          <p:nvSpPr>
            <p:cNvPr id="34" name="object 34"/>
            <p:cNvSpPr/>
            <p:nvPr/>
          </p:nvSpPr>
          <p:spPr>
            <a:xfrm>
              <a:off x="749363" y="1261512"/>
              <a:ext cx="3780790" cy="537210"/>
            </a:xfrm>
            <a:custGeom>
              <a:avLst/>
              <a:gdLst/>
              <a:ahLst/>
              <a:cxnLst/>
              <a:rect l="l" t="t" r="r" b="b"/>
              <a:pathLst>
                <a:path w="3780790" h="537210">
                  <a:moveTo>
                    <a:pt x="3780285" y="0"/>
                  </a:moveTo>
                  <a:lnTo>
                    <a:pt x="0" y="0"/>
                  </a:lnTo>
                  <a:lnTo>
                    <a:pt x="0" y="536808"/>
                  </a:lnTo>
                  <a:lnTo>
                    <a:pt x="3780285" y="536808"/>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406457"/>
              <a:ext cx="3780790" cy="341630"/>
            </a:xfrm>
            <a:custGeom>
              <a:avLst/>
              <a:gdLst/>
              <a:ahLst/>
              <a:cxnLst/>
              <a:rect l="l" t="t" r="r" b="b"/>
              <a:pathLst>
                <a:path w="3780790" h="341630">
                  <a:moveTo>
                    <a:pt x="3780285" y="0"/>
                  </a:moveTo>
                  <a:lnTo>
                    <a:pt x="0" y="0"/>
                  </a:lnTo>
                  <a:lnTo>
                    <a:pt x="0" y="290262"/>
                  </a:lnTo>
                  <a:lnTo>
                    <a:pt x="4008" y="309986"/>
                  </a:lnTo>
                  <a:lnTo>
                    <a:pt x="14922" y="326139"/>
                  </a:lnTo>
                  <a:lnTo>
                    <a:pt x="31075" y="337054"/>
                  </a:lnTo>
                  <a:lnTo>
                    <a:pt x="50800" y="341062"/>
                  </a:lnTo>
                  <a:lnTo>
                    <a:pt x="3729484" y="341062"/>
                  </a:lnTo>
                  <a:lnTo>
                    <a:pt x="3749209" y="337054"/>
                  </a:lnTo>
                  <a:lnTo>
                    <a:pt x="3765362" y="326139"/>
                  </a:lnTo>
                  <a:lnTo>
                    <a:pt x="3776276" y="309986"/>
                  </a:lnTo>
                  <a:lnTo>
                    <a:pt x="3780285" y="290262"/>
                  </a:lnTo>
                  <a:lnTo>
                    <a:pt x="3780285" y="0"/>
                  </a:lnTo>
                  <a:close/>
                </a:path>
              </a:pathLst>
            </a:custGeom>
            <a:solidFill>
              <a:srgbClr val="F8E5E5"/>
            </a:solidFill>
          </p:spPr>
          <p:txBody>
            <a:bodyPr wrap="square" lIns="0" tIns="0" rIns="0" bIns="0" rtlCol="0"/>
            <a:lstStyle/>
            <a:p>
              <a:endParaRPr/>
            </a:p>
          </p:txBody>
        </p:sp>
      </p:grpSp>
      <p:sp>
        <p:nvSpPr>
          <p:cNvPr id="36" name="object 36"/>
          <p:cNvSpPr txBox="1"/>
          <p:nvPr/>
        </p:nvSpPr>
        <p:spPr>
          <a:xfrm>
            <a:off x="698563" y="1261512"/>
            <a:ext cx="3831590" cy="537210"/>
          </a:xfrm>
          <a:prstGeom prst="rect">
            <a:avLst/>
          </a:prstGeom>
        </p:spPr>
        <p:txBody>
          <a:bodyPr vert="horz" wrap="square" lIns="0" tIns="130810" rIns="0" bIns="0" rtlCol="0">
            <a:spAutoFit/>
          </a:bodyPr>
          <a:lstStyle/>
          <a:p>
            <a:pPr marL="50800" marR="318135">
              <a:lnSpc>
                <a:spcPct val="100000"/>
              </a:lnSpc>
              <a:spcBef>
                <a:spcPts val="1030"/>
              </a:spcBef>
            </a:pPr>
            <a:r>
              <a:rPr sz="1000" spc="-40" dirty="0">
                <a:latin typeface="Tahoma"/>
                <a:cs typeface="Tahoma"/>
              </a:rPr>
              <a:t>We</a:t>
            </a:r>
            <a:r>
              <a:rPr sz="1000" spc="15" dirty="0">
                <a:latin typeface="Tahoma"/>
                <a:cs typeface="Tahoma"/>
              </a:rPr>
              <a:t> </a:t>
            </a:r>
            <a:r>
              <a:rPr sz="1000" spc="-40" dirty="0">
                <a:latin typeface="Tahoma"/>
                <a:cs typeface="Tahoma"/>
              </a:rPr>
              <a:t>should</a:t>
            </a:r>
            <a:r>
              <a:rPr sz="1000" spc="15" dirty="0">
                <a:latin typeface="Tahoma"/>
                <a:cs typeface="Tahoma"/>
              </a:rPr>
              <a:t> </a:t>
            </a:r>
            <a:r>
              <a:rPr sz="1000" spc="-35" dirty="0">
                <a:latin typeface="Tahoma"/>
                <a:cs typeface="Tahoma"/>
              </a:rPr>
              <a:t>note,</a:t>
            </a:r>
            <a:r>
              <a:rPr sz="1000" spc="20" dirty="0">
                <a:latin typeface="Tahoma"/>
                <a:cs typeface="Tahoma"/>
              </a:rPr>
              <a:t> </a:t>
            </a:r>
            <a:r>
              <a:rPr sz="1000" spc="-10" dirty="0">
                <a:latin typeface="Tahoma"/>
                <a:cs typeface="Tahoma"/>
              </a:rPr>
              <a:t>that</a:t>
            </a:r>
            <a:r>
              <a:rPr sz="1000" spc="15" dirty="0">
                <a:latin typeface="Tahoma"/>
                <a:cs typeface="Tahoma"/>
              </a:rPr>
              <a:t> </a:t>
            </a:r>
            <a:r>
              <a:rPr sz="1000" spc="-30" dirty="0">
                <a:latin typeface="Tahoma"/>
                <a:cs typeface="Tahoma"/>
              </a:rPr>
              <a:t>operation</a:t>
            </a:r>
            <a:r>
              <a:rPr sz="1000" spc="15" dirty="0">
                <a:latin typeface="Tahoma"/>
                <a:cs typeface="Tahoma"/>
              </a:rPr>
              <a:t> </a:t>
            </a:r>
            <a:r>
              <a:rPr sz="1000" spc="-30" dirty="0">
                <a:latin typeface="Tahoma"/>
                <a:cs typeface="Tahoma"/>
              </a:rPr>
              <a:t>of</a:t>
            </a:r>
            <a:r>
              <a:rPr sz="1000" spc="15" dirty="0">
                <a:latin typeface="Tahoma"/>
                <a:cs typeface="Tahoma"/>
              </a:rPr>
              <a:t> </a:t>
            </a:r>
            <a:r>
              <a:rPr sz="1000" spc="-45" dirty="0">
                <a:latin typeface="Tahoma"/>
                <a:cs typeface="Tahoma"/>
              </a:rPr>
              <a:t>difference</a:t>
            </a:r>
            <a:r>
              <a:rPr sz="1000" spc="20" dirty="0">
                <a:latin typeface="Tahoma"/>
                <a:cs typeface="Tahoma"/>
              </a:rPr>
              <a:t> </a:t>
            </a:r>
            <a:r>
              <a:rPr sz="1000" spc="-45" dirty="0">
                <a:latin typeface="Tahoma"/>
                <a:cs typeface="Tahoma"/>
              </a:rPr>
              <a:t>on</a:t>
            </a:r>
            <a:r>
              <a:rPr sz="1000" spc="20" dirty="0">
                <a:latin typeface="Tahoma"/>
                <a:cs typeface="Tahoma"/>
              </a:rPr>
              <a:t> </a:t>
            </a:r>
            <a:r>
              <a:rPr sz="1000" spc="-50" dirty="0">
                <a:latin typeface="Tahoma"/>
                <a:cs typeface="Tahoma"/>
              </a:rPr>
              <a:t>sets</a:t>
            </a:r>
            <a:r>
              <a:rPr sz="1000" spc="15" dirty="0">
                <a:latin typeface="Tahoma"/>
                <a:cs typeface="Tahoma"/>
              </a:rPr>
              <a:t> </a:t>
            </a:r>
            <a:r>
              <a:rPr sz="1000" spc="-30" dirty="0">
                <a:latin typeface="Tahoma"/>
                <a:cs typeface="Tahoma"/>
              </a:rPr>
              <a:t>is</a:t>
            </a:r>
            <a:r>
              <a:rPr sz="1000" spc="20" dirty="0">
                <a:latin typeface="Tahoma"/>
                <a:cs typeface="Tahoma"/>
              </a:rPr>
              <a:t> </a:t>
            </a:r>
            <a:r>
              <a:rPr sz="1000" spc="-25" dirty="0">
                <a:latin typeface="Tahoma"/>
                <a:cs typeface="Tahoma"/>
              </a:rPr>
              <a:t>not </a:t>
            </a:r>
            <a:r>
              <a:rPr sz="1000" spc="-20" dirty="0">
                <a:latin typeface="Tahoma"/>
                <a:cs typeface="Tahoma"/>
              </a:rPr>
              <a:t> </a:t>
            </a:r>
            <a:r>
              <a:rPr sz="1000" spc="-35" dirty="0">
                <a:latin typeface="Tahoma"/>
                <a:cs typeface="Tahoma"/>
              </a:rPr>
              <a:t>commutative:</a:t>
            </a:r>
            <a:r>
              <a:rPr sz="1000" spc="130" dirty="0">
                <a:latin typeface="Tahoma"/>
                <a:cs typeface="Tahoma"/>
              </a:rPr>
              <a:t> </a:t>
            </a:r>
            <a:r>
              <a:rPr sz="1000" spc="-20" dirty="0">
                <a:latin typeface="Tahoma"/>
                <a:cs typeface="Tahoma"/>
              </a:rPr>
              <a:t>in</a:t>
            </a:r>
            <a:r>
              <a:rPr sz="1000" spc="20" dirty="0">
                <a:latin typeface="Tahoma"/>
                <a:cs typeface="Tahoma"/>
              </a:rPr>
              <a:t> </a:t>
            </a:r>
            <a:r>
              <a:rPr sz="1000" spc="-50" dirty="0">
                <a:latin typeface="Tahoma"/>
                <a:cs typeface="Tahoma"/>
              </a:rPr>
              <a:t>general</a:t>
            </a:r>
            <a:r>
              <a:rPr sz="1000" spc="15" dirty="0">
                <a:latin typeface="Tahoma"/>
                <a:cs typeface="Tahoma"/>
              </a:rPr>
              <a:t> </a:t>
            </a:r>
            <a:r>
              <a:rPr sz="1000" spc="-55" dirty="0">
                <a:latin typeface="Tahoma"/>
                <a:cs typeface="Tahoma"/>
              </a:rPr>
              <a:t>case</a:t>
            </a:r>
            <a:r>
              <a:rPr sz="1000" spc="20" dirty="0">
                <a:latin typeface="Tahoma"/>
                <a:cs typeface="Tahoma"/>
              </a:rPr>
              <a:t> </a:t>
            </a:r>
            <a:r>
              <a:rPr sz="1000" spc="15" dirty="0">
                <a:latin typeface="Tahoma"/>
                <a:cs typeface="Tahoma"/>
              </a:rPr>
              <a:t>it</a:t>
            </a:r>
            <a:r>
              <a:rPr sz="1000" spc="20" dirty="0">
                <a:latin typeface="Tahoma"/>
                <a:cs typeface="Tahoma"/>
              </a:rPr>
              <a:t> </a:t>
            </a:r>
            <a:r>
              <a:rPr sz="1000" spc="-30" dirty="0">
                <a:latin typeface="Tahoma"/>
                <a:cs typeface="Tahoma"/>
              </a:rPr>
              <a:t>is</a:t>
            </a:r>
            <a:r>
              <a:rPr sz="1000" spc="20" dirty="0">
                <a:latin typeface="Tahoma"/>
                <a:cs typeface="Tahoma"/>
              </a:rPr>
              <a:t> </a:t>
            </a:r>
            <a:r>
              <a:rPr sz="1000" spc="-25" dirty="0">
                <a:latin typeface="Tahoma"/>
                <a:cs typeface="Tahoma"/>
              </a:rPr>
              <a:t>not</a:t>
            </a:r>
            <a:r>
              <a:rPr sz="1000" spc="20" dirty="0">
                <a:latin typeface="Tahoma"/>
                <a:cs typeface="Tahoma"/>
              </a:rPr>
              <a:t> </a:t>
            </a:r>
            <a:r>
              <a:rPr sz="1000" spc="-30" dirty="0">
                <a:latin typeface="Tahoma"/>
                <a:cs typeface="Tahoma"/>
              </a:rPr>
              <a:t>true,</a:t>
            </a:r>
            <a:r>
              <a:rPr sz="1000" spc="15" dirty="0">
                <a:latin typeface="Tahoma"/>
                <a:cs typeface="Tahoma"/>
              </a:rPr>
              <a:t> </a:t>
            </a:r>
            <a:r>
              <a:rPr sz="1000" spc="-10" dirty="0">
                <a:latin typeface="Tahoma"/>
                <a:cs typeface="Tahoma"/>
              </a:rPr>
              <a:t>that</a:t>
            </a:r>
            <a:r>
              <a:rPr sz="1000" spc="20" dirty="0">
                <a:latin typeface="Tahoma"/>
                <a:cs typeface="Tahoma"/>
              </a:rPr>
              <a:t> </a:t>
            </a:r>
            <a:r>
              <a:rPr sz="1000" i="1" spc="-5" dirty="0">
                <a:latin typeface="Arial"/>
                <a:cs typeface="Arial"/>
              </a:rPr>
              <a:t>X</a:t>
            </a:r>
            <a:r>
              <a:rPr sz="1000" i="1" spc="75" dirty="0">
                <a:latin typeface="Arial"/>
                <a:cs typeface="Arial"/>
              </a:rPr>
              <a:t> </a:t>
            </a:r>
            <a:r>
              <a:rPr sz="1000" spc="-30"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65" dirty="0">
                <a:latin typeface="Arial"/>
                <a:cs typeface="Arial"/>
              </a:rPr>
              <a:t> </a:t>
            </a:r>
            <a:r>
              <a:rPr sz="1000" spc="45" dirty="0">
                <a:latin typeface="Tahoma"/>
                <a:cs typeface="Tahoma"/>
              </a:rPr>
              <a:t>=</a:t>
            </a:r>
            <a:r>
              <a:rPr sz="1000" spc="-35" dirty="0">
                <a:latin typeface="Tahoma"/>
                <a:cs typeface="Tahoma"/>
              </a:rPr>
              <a:t> </a:t>
            </a:r>
            <a:r>
              <a:rPr sz="1000" i="1" spc="-5" dirty="0">
                <a:latin typeface="Arial"/>
                <a:cs typeface="Arial"/>
              </a:rPr>
              <a:t>Y</a:t>
            </a:r>
            <a:r>
              <a:rPr sz="1000" i="1" spc="114" dirty="0">
                <a:latin typeface="Arial"/>
                <a:cs typeface="Arial"/>
              </a:rPr>
              <a:t> </a:t>
            </a:r>
            <a:r>
              <a:rPr sz="1000" spc="-30" dirty="0">
                <a:latin typeface="Lucida Sans Unicode"/>
                <a:cs typeface="Lucida Sans Unicode"/>
              </a:rPr>
              <a:t>\</a:t>
            </a:r>
            <a:r>
              <a:rPr sz="1000" spc="-95" dirty="0">
                <a:latin typeface="Lucida Sans Unicode"/>
                <a:cs typeface="Lucida Sans Unicode"/>
              </a:rPr>
              <a:t> </a:t>
            </a:r>
            <a:r>
              <a:rPr sz="1000" i="1" spc="-5" dirty="0">
                <a:latin typeface="Arial"/>
                <a:cs typeface="Arial"/>
              </a:rPr>
              <a:t>X</a:t>
            </a:r>
            <a:r>
              <a:rPr sz="1000" i="1" spc="-145" dirty="0">
                <a:latin typeface="Arial"/>
                <a:cs typeface="Arial"/>
              </a:rPr>
              <a:t> </a:t>
            </a:r>
            <a:r>
              <a:rPr sz="1000" spc="-30" dirty="0">
                <a:latin typeface="Tahoma"/>
                <a:cs typeface="Tahoma"/>
              </a:rPr>
              <a:t>.</a:t>
            </a:r>
            <a:endParaRPr sz="1000">
              <a:latin typeface="Tahoma"/>
              <a:cs typeface="Tahoma"/>
            </a:endParaRPr>
          </a:p>
        </p:txBody>
      </p:sp>
      <p:sp>
        <p:nvSpPr>
          <p:cNvPr id="37" name="object 37"/>
          <p:cNvSpPr/>
          <p:nvPr/>
        </p:nvSpPr>
        <p:spPr>
          <a:xfrm>
            <a:off x="698562" y="1899449"/>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1929376"/>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39" name="object 39"/>
          <p:cNvGrpSpPr/>
          <p:nvPr/>
        </p:nvGrpSpPr>
        <p:grpSpPr>
          <a:xfrm>
            <a:off x="698562" y="1956382"/>
            <a:ext cx="3831590" cy="695960"/>
            <a:chOff x="698562" y="1956382"/>
            <a:chExt cx="3831590" cy="695960"/>
          </a:xfrm>
        </p:grpSpPr>
        <p:pic>
          <p:nvPicPr>
            <p:cNvPr id="40" name="object 40"/>
            <p:cNvPicPr/>
            <p:nvPr/>
          </p:nvPicPr>
          <p:blipFill>
            <a:blip r:embed="rId8" cstate="print"/>
            <a:stretch>
              <a:fillRect/>
            </a:stretch>
          </p:blipFill>
          <p:spPr>
            <a:xfrm>
              <a:off x="698563" y="2057044"/>
              <a:ext cx="3780284" cy="50609"/>
            </a:xfrm>
            <a:prstGeom prst="rect">
              <a:avLst/>
            </a:prstGeom>
          </p:spPr>
        </p:pic>
        <p:sp>
          <p:nvSpPr>
            <p:cNvPr id="41" name="object 41"/>
            <p:cNvSpPr/>
            <p:nvPr/>
          </p:nvSpPr>
          <p:spPr>
            <a:xfrm>
              <a:off x="749363" y="1956382"/>
              <a:ext cx="3780790" cy="695960"/>
            </a:xfrm>
            <a:custGeom>
              <a:avLst/>
              <a:gdLst/>
              <a:ahLst/>
              <a:cxnLst/>
              <a:rect l="l" t="t" r="r" b="b"/>
              <a:pathLst>
                <a:path w="3780790" h="695960">
                  <a:moveTo>
                    <a:pt x="3780285" y="0"/>
                  </a:moveTo>
                  <a:lnTo>
                    <a:pt x="0" y="0"/>
                  </a:lnTo>
                  <a:lnTo>
                    <a:pt x="0" y="695670"/>
                  </a:lnTo>
                  <a:lnTo>
                    <a:pt x="3780285" y="695670"/>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2101328"/>
              <a:ext cx="3780790" cy="500380"/>
            </a:xfrm>
            <a:custGeom>
              <a:avLst/>
              <a:gdLst/>
              <a:ahLst/>
              <a:cxnLst/>
              <a:rect l="l" t="t" r="r" b="b"/>
              <a:pathLst>
                <a:path w="3780790" h="500380">
                  <a:moveTo>
                    <a:pt x="3780285" y="0"/>
                  </a:moveTo>
                  <a:lnTo>
                    <a:pt x="0" y="0"/>
                  </a:lnTo>
                  <a:lnTo>
                    <a:pt x="0" y="449124"/>
                  </a:lnTo>
                  <a:lnTo>
                    <a:pt x="4008" y="468848"/>
                  </a:lnTo>
                  <a:lnTo>
                    <a:pt x="14922" y="485001"/>
                  </a:lnTo>
                  <a:lnTo>
                    <a:pt x="31075" y="495915"/>
                  </a:lnTo>
                  <a:lnTo>
                    <a:pt x="50800" y="499924"/>
                  </a:lnTo>
                  <a:lnTo>
                    <a:pt x="3729484" y="499924"/>
                  </a:lnTo>
                  <a:lnTo>
                    <a:pt x="3749209" y="495915"/>
                  </a:lnTo>
                  <a:lnTo>
                    <a:pt x="3765362" y="485001"/>
                  </a:lnTo>
                  <a:lnTo>
                    <a:pt x="3776276" y="468848"/>
                  </a:lnTo>
                  <a:lnTo>
                    <a:pt x="3780285" y="449124"/>
                  </a:lnTo>
                  <a:lnTo>
                    <a:pt x="3780285" y="0"/>
                  </a:lnTo>
                  <a:close/>
                </a:path>
              </a:pathLst>
            </a:custGeom>
            <a:solidFill>
              <a:srgbClr val="E9E9F2"/>
            </a:solidFill>
          </p:spPr>
          <p:txBody>
            <a:bodyPr wrap="square" lIns="0" tIns="0" rIns="0" bIns="0" rtlCol="0"/>
            <a:lstStyle/>
            <a:p>
              <a:endParaRPr/>
            </a:p>
          </p:txBody>
        </p:sp>
      </p:grpSp>
      <p:sp>
        <p:nvSpPr>
          <p:cNvPr id="43" name="object 43"/>
          <p:cNvSpPr txBox="1"/>
          <p:nvPr/>
        </p:nvSpPr>
        <p:spPr>
          <a:xfrm>
            <a:off x="749363" y="2082309"/>
            <a:ext cx="3665220" cy="481330"/>
          </a:xfrm>
          <a:prstGeom prst="rect">
            <a:avLst/>
          </a:prstGeom>
        </p:spPr>
        <p:txBody>
          <a:bodyPr vert="horz" wrap="square" lIns="0" tIns="12065" rIns="0" bIns="0" rtlCol="0">
            <a:spAutoFit/>
          </a:bodyPr>
          <a:lstStyle/>
          <a:p>
            <a:pPr marR="5080">
              <a:lnSpc>
                <a:spcPct val="100000"/>
              </a:lnSpc>
              <a:spcBef>
                <a:spcPts val="95"/>
              </a:spcBef>
            </a:pPr>
            <a:r>
              <a:rPr sz="1000" spc="-5" dirty="0">
                <a:latin typeface="Tahoma"/>
                <a:cs typeface="Tahoma"/>
              </a:rPr>
              <a:t>Let’s </a:t>
            </a:r>
            <a:r>
              <a:rPr sz="1000" spc="-40" dirty="0">
                <a:latin typeface="Tahoma"/>
                <a:cs typeface="Tahoma"/>
              </a:rPr>
              <a:t>consider </a:t>
            </a:r>
            <a:r>
              <a:rPr sz="1000" spc="-35" dirty="0">
                <a:latin typeface="Tahoma"/>
                <a:cs typeface="Tahoma"/>
              </a:rPr>
              <a:t>the </a:t>
            </a:r>
            <a:r>
              <a:rPr sz="1000" spc="-30" dirty="0">
                <a:latin typeface="Tahoma"/>
                <a:cs typeface="Tahoma"/>
              </a:rPr>
              <a:t>following </a:t>
            </a:r>
            <a:r>
              <a:rPr sz="1000" spc="-45" dirty="0">
                <a:latin typeface="Tahoma"/>
                <a:cs typeface="Tahoma"/>
              </a:rPr>
              <a:t>example.</a:t>
            </a:r>
            <a:r>
              <a:rPr sz="1000" spc="-40" dirty="0">
                <a:latin typeface="Tahoma"/>
                <a:cs typeface="Tahoma"/>
              </a:rPr>
              <a:t> </a:t>
            </a:r>
            <a:r>
              <a:rPr sz="1000" spc="-10" dirty="0">
                <a:latin typeface="Tahoma"/>
                <a:cs typeface="Tahoma"/>
              </a:rPr>
              <a:t>Let </a:t>
            </a:r>
            <a:r>
              <a:rPr sz="1000" i="1" spc="-5" dirty="0">
                <a:latin typeface="Arial"/>
                <a:cs typeface="Arial"/>
              </a:rPr>
              <a:t>X</a:t>
            </a:r>
            <a:r>
              <a:rPr sz="1000" i="1" dirty="0">
                <a:latin typeface="Arial"/>
                <a:cs typeface="Arial"/>
              </a:rPr>
              <a:t> </a:t>
            </a:r>
            <a:r>
              <a:rPr sz="1000" spc="45" dirty="0">
                <a:latin typeface="Tahoma"/>
                <a:cs typeface="Tahoma"/>
              </a:rPr>
              <a:t>= </a:t>
            </a:r>
            <a:r>
              <a:rPr sz="1000" spc="90" dirty="0">
                <a:latin typeface="Lucida Sans Unicode"/>
                <a:cs typeface="Lucida Sans Unicode"/>
              </a:rPr>
              <a:t>{</a:t>
            </a:r>
            <a:r>
              <a:rPr sz="1000" i="1" spc="90" dirty="0">
                <a:latin typeface="Arial"/>
                <a:cs typeface="Arial"/>
              </a:rPr>
              <a:t>a</a:t>
            </a:r>
            <a:r>
              <a:rPr sz="1000" spc="90" dirty="0">
                <a:latin typeface="Lucida Sans Unicode"/>
                <a:cs typeface="Lucida Sans Unicode"/>
              </a:rPr>
              <a:t>} </a:t>
            </a:r>
            <a:r>
              <a:rPr sz="1000" spc="-35" dirty="0">
                <a:latin typeface="Tahoma"/>
                <a:cs typeface="Tahoma"/>
              </a:rPr>
              <a:t>- </a:t>
            </a:r>
            <a:r>
              <a:rPr sz="1000" spc="-50" dirty="0">
                <a:latin typeface="Tahoma"/>
                <a:cs typeface="Tahoma"/>
              </a:rPr>
              <a:t>a </a:t>
            </a:r>
            <a:r>
              <a:rPr sz="1000" spc="-40" dirty="0">
                <a:latin typeface="Tahoma"/>
                <a:cs typeface="Tahoma"/>
              </a:rPr>
              <a:t>single </a:t>
            </a:r>
            <a:r>
              <a:rPr sz="1000" spc="-45" dirty="0">
                <a:latin typeface="Tahoma"/>
                <a:cs typeface="Tahoma"/>
              </a:rPr>
              <a:t>element </a:t>
            </a:r>
            <a:r>
              <a:rPr sz="1000" spc="-300" dirty="0">
                <a:latin typeface="Tahoma"/>
                <a:cs typeface="Tahoma"/>
              </a:rPr>
              <a:t> </a:t>
            </a:r>
            <a:r>
              <a:rPr sz="1000" spc="-40" dirty="0">
                <a:latin typeface="Tahoma"/>
                <a:cs typeface="Tahoma"/>
              </a:rPr>
              <a:t>set,</a:t>
            </a:r>
            <a:r>
              <a:rPr sz="1000" spc="15" dirty="0">
                <a:latin typeface="Tahoma"/>
                <a:cs typeface="Tahoma"/>
              </a:rPr>
              <a:t> </a:t>
            </a:r>
            <a:r>
              <a:rPr sz="1000" spc="-35" dirty="0">
                <a:latin typeface="Tahoma"/>
                <a:cs typeface="Tahoma"/>
              </a:rPr>
              <a:t>which</a:t>
            </a:r>
            <a:r>
              <a:rPr sz="1000" spc="20" dirty="0">
                <a:latin typeface="Tahoma"/>
                <a:cs typeface="Tahoma"/>
              </a:rPr>
              <a:t> </a:t>
            </a:r>
            <a:r>
              <a:rPr sz="1000" spc="-25" dirty="0">
                <a:latin typeface="Tahoma"/>
                <a:cs typeface="Tahoma"/>
              </a:rPr>
              <a:t>contain</a:t>
            </a:r>
            <a:r>
              <a:rPr sz="1000" spc="15" dirty="0">
                <a:latin typeface="Tahoma"/>
                <a:cs typeface="Tahoma"/>
              </a:rPr>
              <a:t> </a:t>
            </a:r>
            <a:r>
              <a:rPr sz="1000" spc="-30" dirty="0">
                <a:latin typeface="Tahoma"/>
                <a:cs typeface="Tahoma"/>
              </a:rPr>
              <a:t>only</a:t>
            </a:r>
            <a:r>
              <a:rPr sz="1000" spc="15" dirty="0">
                <a:latin typeface="Tahoma"/>
                <a:cs typeface="Tahoma"/>
              </a:rPr>
              <a:t> </a:t>
            </a:r>
            <a:r>
              <a:rPr sz="1000" spc="-60" dirty="0">
                <a:latin typeface="Tahoma"/>
                <a:cs typeface="Tahoma"/>
              </a:rPr>
              <a:t>one</a:t>
            </a:r>
            <a:r>
              <a:rPr sz="1000" spc="20" dirty="0">
                <a:latin typeface="Tahoma"/>
                <a:cs typeface="Tahoma"/>
              </a:rPr>
              <a:t> </a:t>
            </a:r>
            <a:r>
              <a:rPr sz="1000" spc="-45" dirty="0">
                <a:latin typeface="Tahoma"/>
                <a:cs typeface="Tahoma"/>
              </a:rPr>
              <a:t>element</a:t>
            </a:r>
            <a:r>
              <a:rPr sz="1000" spc="25" dirty="0">
                <a:latin typeface="Tahoma"/>
                <a:cs typeface="Tahoma"/>
              </a:rPr>
              <a:t> </a:t>
            </a:r>
            <a:r>
              <a:rPr sz="1000" i="1" spc="-70" dirty="0">
                <a:latin typeface="Arial"/>
                <a:cs typeface="Arial"/>
              </a:rPr>
              <a:t>a</a:t>
            </a:r>
            <a:r>
              <a:rPr sz="1000" spc="-30" dirty="0">
                <a:latin typeface="Tahoma"/>
                <a:cs typeface="Tahoma"/>
              </a:rPr>
              <a:t>,</a:t>
            </a:r>
            <a:r>
              <a:rPr sz="1000" spc="20" dirty="0">
                <a:latin typeface="Tahoma"/>
                <a:cs typeface="Tahoma"/>
              </a:rPr>
              <a:t> </a:t>
            </a:r>
            <a:r>
              <a:rPr sz="1000" spc="-45" dirty="0">
                <a:latin typeface="Tahoma"/>
                <a:cs typeface="Tahoma"/>
              </a:rPr>
              <a:t>and</a:t>
            </a:r>
            <a:r>
              <a:rPr sz="1000" spc="20" dirty="0">
                <a:latin typeface="Tahoma"/>
                <a:cs typeface="Tahoma"/>
              </a:rPr>
              <a:t> </a:t>
            </a:r>
            <a:r>
              <a:rPr sz="1000" i="1" spc="-5" dirty="0">
                <a:latin typeface="Arial"/>
                <a:cs typeface="Arial"/>
              </a:rPr>
              <a:t>Y</a:t>
            </a:r>
            <a:r>
              <a:rPr sz="1000" i="1" dirty="0">
                <a:latin typeface="Arial"/>
                <a:cs typeface="Arial"/>
              </a:rPr>
              <a:t> </a:t>
            </a:r>
            <a:r>
              <a:rPr sz="1000" i="1" spc="-110" dirty="0">
                <a:latin typeface="Arial"/>
                <a:cs typeface="Arial"/>
              </a:rPr>
              <a:t> </a:t>
            </a:r>
            <a:r>
              <a:rPr sz="1000" spc="45" dirty="0">
                <a:latin typeface="Tahoma"/>
                <a:cs typeface="Tahoma"/>
              </a:rPr>
              <a:t>=</a:t>
            </a:r>
            <a:r>
              <a:rPr sz="1000" spc="-35" dirty="0">
                <a:latin typeface="Tahoma"/>
                <a:cs typeface="Tahoma"/>
              </a:rPr>
              <a:t> </a:t>
            </a:r>
            <a:r>
              <a:rPr sz="1000" spc="-480" dirty="0">
                <a:latin typeface="Lucida Sans Unicode"/>
                <a:cs typeface="Lucida Sans Unicode"/>
              </a:rPr>
              <a:t>∅</a:t>
            </a:r>
            <a:r>
              <a:rPr sz="1000" spc="-30" dirty="0">
                <a:latin typeface="Tahoma"/>
                <a:cs typeface="Tahoma"/>
              </a:rPr>
              <a:t>.</a:t>
            </a:r>
            <a:r>
              <a:rPr sz="1000" spc="130" dirty="0">
                <a:latin typeface="Tahoma"/>
                <a:cs typeface="Tahoma"/>
              </a:rPr>
              <a:t> </a:t>
            </a:r>
            <a:r>
              <a:rPr sz="1000" spc="-20" dirty="0">
                <a:latin typeface="Tahoma"/>
                <a:cs typeface="Tahoma"/>
              </a:rPr>
              <a:t>Then</a:t>
            </a:r>
            <a:endParaRPr sz="1000">
              <a:latin typeface="Tahoma"/>
              <a:cs typeface="Tahoma"/>
            </a:endParaRPr>
          </a:p>
          <a:p>
            <a:pPr>
              <a:lnSpc>
                <a:spcPts val="1190"/>
              </a:lnSpc>
            </a:pPr>
            <a:r>
              <a:rPr sz="1000" i="1" spc="-5" dirty="0">
                <a:latin typeface="Arial"/>
                <a:cs typeface="Arial"/>
              </a:rPr>
              <a:t>X</a:t>
            </a:r>
            <a:r>
              <a:rPr sz="1000" i="1" spc="75" dirty="0">
                <a:latin typeface="Arial"/>
                <a:cs typeface="Arial"/>
              </a:rPr>
              <a:t> </a:t>
            </a:r>
            <a:r>
              <a:rPr sz="1000" spc="-30"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dirty="0">
                <a:latin typeface="Arial"/>
                <a:cs typeface="Arial"/>
              </a:rPr>
              <a:t> </a:t>
            </a:r>
            <a:r>
              <a:rPr sz="1000" i="1" spc="-110" dirty="0">
                <a:latin typeface="Arial"/>
                <a:cs typeface="Arial"/>
              </a:rPr>
              <a:t> </a:t>
            </a:r>
            <a:r>
              <a:rPr sz="1000" spc="45" dirty="0">
                <a:latin typeface="Tahoma"/>
                <a:cs typeface="Tahoma"/>
              </a:rPr>
              <a:t>=</a:t>
            </a:r>
            <a:r>
              <a:rPr sz="1000" spc="-35" dirty="0">
                <a:latin typeface="Tahoma"/>
                <a:cs typeface="Tahoma"/>
              </a:rPr>
              <a:t> </a:t>
            </a:r>
            <a:r>
              <a:rPr sz="1000" i="1" spc="-5" dirty="0">
                <a:latin typeface="Arial"/>
                <a:cs typeface="Arial"/>
              </a:rPr>
              <a:t>X</a:t>
            </a:r>
            <a:r>
              <a:rPr sz="1000" i="1" spc="130" dirty="0">
                <a:latin typeface="Arial"/>
                <a:cs typeface="Arial"/>
              </a:rPr>
              <a:t> </a:t>
            </a:r>
            <a:r>
              <a:rPr sz="1000" dirty="0">
                <a:latin typeface="Lucida Sans Unicode"/>
                <a:cs typeface="Lucida Sans Unicode"/>
              </a:rPr>
              <a:t≯</a:t>
            </a:r>
            <a:r>
              <a:rPr sz="1000" spc="45" dirty="0">
                <a:latin typeface="Tahoma"/>
                <a:cs typeface="Tahoma"/>
              </a:rPr>
              <a:t>=</a:t>
            </a:r>
            <a:r>
              <a:rPr sz="1000" spc="-35" dirty="0">
                <a:latin typeface="Tahoma"/>
                <a:cs typeface="Tahoma"/>
              </a:rPr>
              <a:t> </a:t>
            </a:r>
            <a:r>
              <a:rPr sz="1000" spc="-480" dirty="0">
                <a:latin typeface="Lucida Sans Unicode"/>
                <a:cs typeface="Lucida Sans Unicode"/>
              </a:rPr>
              <a:t>∅</a:t>
            </a:r>
            <a:r>
              <a:rPr sz="1000" spc="-40" dirty="0">
                <a:latin typeface="Lucida Sans Unicode"/>
                <a:cs typeface="Lucida Sans Unicode"/>
              </a:rPr>
              <a:t> </a:t>
            </a:r>
            <a:r>
              <a:rPr sz="1000" spc="45" dirty="0">
                <a:latin typeface="Tahoma"/>
                <a:cs typeface="Tahoma"/>
              </a:rPr>
              <a:t>=</a:t>
            </a:r>
            <a:r>
              <a:rPr sz="1000" spc="-35" dirty="0">
                <a:latin typeface="Tahoma"/>
                <a:cs typeface="Tahoma"/>
              </a:rPr>
              <a:t> </a:t>
            </a:r>
            <a:r>
              <a:rPr sz="1000" i="1" spc="-5" dirty="0">
                <a:latin typeface="Arial"/>
                <a:cs typeface="Arial"/>
              </a:rPr>
              <a:t>Y</a:t>
            </a:r>
            <a:r>
              <a:rPr sz="1000" i="1" spc="114" dirty="0">
                <a:latin typeface="Arial"/>
                <a:cs typeface="Arial"/>
              </a:rPr>
              <a:t> </a:t>
            </a:r>
            <a:r>
              <a:rPr sz="1000" spc="-30" dirty="0">
                <a:latin typeface="Lucida Sans Unicode"/>
                <a:cs typeface="Lucida Sans Unicode"/>
              </a:rPr>
              <a:t>\</a:t>
            </a:r>
            <a:r>
              <a:rPr sz="1000" spc="-95" dirty="0">
                <a:latin typeface="Lucida Sans Unicode"/>
                <a:cs typeface="Lucida Sans Unicode"/>
              </a:rPr>
              <a:t> </a:t>
            </a:r>
            <a:r>
              <a:rPr sz="1000" i="1" spc="-5" dirty="0">
                <a:latin typeface="Arial"/>
                <a:cs typeface="Arial"/>
              </a:rPr>
              <a:t>X</a:t>
            </a:r>
            <a:r>
              <a:rPr sz="1000" i="1" spc="-145" dirty="0">
                <a:latin typeface="Arial"/>
                <a:cs typeface="Arial"/>
              </a:rPr>
              <a:t> </a:t>
            </a:r>
            <a:r>
              <a:rPr sz="1000" spc="-30" dirty="0">
                <a:latin typeface="Tahoma"/>
                <a:cs typeface="Tahoma"/>
              </a:rPr>
              <a:t>.</a:t>
            </a:r>
            <a:endParaRPr sz="1000">
              <a:latin typeface="Tahoma"/>
              <a:cs typeface="Tahoma"/>
            </a:endParaRPr>
          </a:p>
        </p:txBody>
      </p:sp>
      <p:grpSp>
        <p:nvGrpSpPr>
          <p:cNvPr id="44" name="object 44"/>
          <p:cNvGrpSpPr/>
          <p:nvPr/>
        </p:nvGrpSpPr>
        <p:grpSpPr>
          <a:xfrm>
            <a:off x="4335779" y="2439784"/>
            <a:ext cx="86360" cy="85725"/>
            <a:chOff x="4335779" y="2439784"/>
            <a:chExt cx="86360" cy="85725"/>
          </a:xfrm>
        </p:grpSpPr>
        <p:sp>
          <p:nvSpPr>
            <p:cNvPr id="45" name="object 45"/>
            <p:cNvSpPr/>
            <p:nvPr/>
          </p:nvSpPr>
          <p:spPr>
            <a:xfrm>
              <a:off x="4338307" y="2439784"/>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6" name="object 46"/>
            <p:cNvSpPr/>
            <p:nvPr/>
          </p:nvSpPr>
          <p:spPr>
            <a:xfrm>
              <a:off x="4340834" y="2442311"/>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7" name="object 47"/>
            <p:cNvSpPr/>
            <p:nvPr/>
          </p:nvSpPr>
          <p:spPr>
            <a:xfrm>
              <a:off x="4340834" y="2522664"/>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8" name="object 48"/>
            <p:cNvSpPr/>
            <p:nvPr/>
          </p:nvSpPr>
          <p:spPr>
            <a:xfrm>
              <a:off x="4419282" y="2439784"/>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066800" cy="244475"/>
          </a:xfrm>
          <a:prstGeom prst="rect">
            <a:avLst/>
          </a:prstGeom>
        </p:spPr>
        <p:txBody>
          <a:bodyPr vert="horz" wrap="square" lIns="0" tIns="17145" rIns="0" bIns="0" rtlCol="0">
            <a:spAutoFit/>
          </a:bodyPr>
          <a:lstStyle/>
          <a:p>
            <a:pPr marL="12700">
              <a:lnSpc>
                <a:spcPct val="100000"/>
              </a:lnSpc>
              <a:spcBef>
                <a:spcPts val="135"/>
              </a:spcBef>
            </a:pPr>
            <a:r>
              <a:rPr spc="-95" dirty="0"/>
              <a:t>Ass</a:t>
            </a:r>
            <a:r>
              <a:rPr spc="-55" dirty="0"/>
              <a:t>o</a:t>
            </a:r>
            <a:r>
              <a:rPr spc="-70" dirty="0"/>
              <a:t>c</a:t>
            </a:r>
            <a:r>
              <a:rPr spc="-40" dirty="0"/>
              <a:t>i</a:t>
            </a:r>
            <a:r>
              <a:rPr spc="15" dirty="0"/>
              <a:t>ativi</a:t>
            </a:r>
            <a:r>
              <a:rPr spc="-35" dirty="0"/>
              <a:t>t</a:t>
            </a:r>
            <a:r>
              <a:rPr spc="-65" dirty="0"/>
              <a:t>y</a:t>
            </a:r>
          </a:p>
        </p:txBody>
      </p:sp>
      <p:sp>
        <p:nvSpPr>
          <p:cNvPr id="30" name="object 30"/>
          <p:cNvSpPr/>
          <p:nvPr/>
        </p:nvSpPr>
        <p:spPr>
          <a:xfrm>
            <a:off x="698562" y="851725"/>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881651"/>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32" name="object 32"/>
          <p:cNvGrpSpPr/>
          <p:nvPr/>
        </p:nvGrpSpPr>
        <p:grpSpPr>
          <a:xfrm>
            <a:off x="698562" y="908649"/>
            <a:ext cx="3831590" cy="953135"/>
            <a:chOff x="698562" y="908649"/>
            <a:chExt cx="3831590" cy="953135"/>
          </a:xfrm>
        </p:grpSpPr>
        <p:pic>
          <p:nvPicPr>
            <p:cNvPr id="33" name="object 33"/>
            <p:cNvPicPr/>
            <p:nvPr/>
          </p:nvPicPr>
          <p:blipFill>
            <a:blip r:embed="rId7" cstate="print"/>
            <a:stretch>
              <a:fillRect/>
            </a:stretch>
          </p:blipFill>
          <p:spPr>
            <a:xfrm>
              <a:off x="698563" y="1014945"/>
              <a:ext cx="3780284" cy="50609"/>
            </a:xfrm>
            <a:prstGeom prst="rect">
              <a:avLst/>
            </a:prstGeom>
          </p:spPr>
        </p:pic>
        <p:sp>
          <p:nvSpPr>
            <p:cNvPr id="34" name="object 34"/>
            <p:cNvSpPr/>
            <p:nvPr/>
          </p:nvSpPr>
          <p:spPr>
            <a:xfrm>
              <a:off x="749363" y="908649"/>
              <a:ext cx="3780790" cy="953135"/>
            </a:xfrm>
            <a:custGeom>
              <a:avLst/>
              <a:gdLst/>
              <a:ahLst/>
              <a:cxnLst/>
              <a:rect l="l" t="t" r="r" b="b"/>
              <a:pathLst>
                <a:path w="3780790" h="953135">
                  <a:moveTo>
                    <a:pt x="3780285" y="0"/>
                  </a:moveTo>
                  <a:lnTo>
                    <a:pt x="0" y="0"/>
                  </a:lnTo>
                  <a:lnTo>
                    <a:pt x="0" y="952942"/>
                  </a:lnTo>
                  <a:lnTo>
                    <a:pt x="3780285" y="952942"/>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059218"/>
              <a:ext cx="3780790" cy="751840"/>
            </a:xfrm>
            <a:custGeom>
              <a:avLst/>
              <a:gdLst/>
              <a:ahLst/>
              <a:cxnLst/>
              <a:rect l="l" t="t" r="r" b="b"/>
              <a:pathLst>
                <a:path w="3780790" h="751839">
                  <a:moveTo>
                    <a:pt x="3780285" y="0"/>
                  </a:moveTo>
                  <a:lnTo>
                    <a:pt x="0" y="0"/>
                  </a:lnTo>
                  <a:lnTo>
                    <a:pt x="0" y="700772"/>
                  </a:lnTo>
                  <a:lnTo>
                    <a:pt x="4008" y="720497"/>
                  </a:lnTo>
                  <a:lnTo>
                    <a:pt x="14922" y="736650"/>
                  </a:lnTo>
                  <a:lnTo>
                    <a:pt x="31075" y="747564"/>
                  </a:lnTo>
                  <a:lnTo>
                    <a:pt x="50800" y="751572"/>
                  </a:lnTo>
                  <a:lnTo>
                    <a:pt x="3729484" y="751572"/>
                  </a:lnTo>
                  <a:lnTo>
                    <a:pt x="3749209" y="747564"/>
                  </a:lnTo>
                  <a:lnTo>
                    <a:pt x="3765362" y="736650"/>
                  </a:lnTo>
                  <a:lnTo>
                    <a:pt x="3776276" y="720497"/>
                  </a:lnTo>
                  <a:lnTo>
                    <a:pt x="3780285" y="700772"/>
                  </a:lnTo>
                  <a:lnTo>
                    <a:pt x="3780285" y="0"/>
                  </a:lnTo>
                  <a:close/>
                </a:path>
              </a:pathLst>
            </a:custGeom>
            <a:solidFill>
              <a:srgbClr val="E9E9F2"/>
            </a:solidFill>
          </p:spPr>
          <p:txBody>
            <a:bodyPr wrap="square" lIns="0" tIns="0" rIns="0" bIns="0" rtlCol="0"/>
            <a:lstStyle/>
            <a:p>
              <a:endParaRPr/>
            </a:p>
          </p:txBody>
        </p:sp>
        <p:pic>
          <p:nvPicPr>
            <p:cNvPr id="36" name="object 36"/>
            <p:cNvPicPr/>
            <p:nvPr/>
          </p:nvPicPr>
          <p:blipFill>
            <a:blip r:embed="rId8" cstate="print"/>
            <a:stretch>
              <a:fillRect/>
            </a:stretch>
          </p:blipFill>
          <p:spPr>
            <a:xfrm>
              <a:off x="879551" y="1300048"/>
              <a:ext cx="59601" cy="59601"/>
            </a:xfrm>
            <a:prstGeom prst="rect">
              <a:avLst/>
            </a:prstGeom>
          </p:spPr>
        </p:pic>
        <p:pic>
          <p:nvPicPr>
            <p:cNvPr id="37" name="object 37"/>
            <p:cNvPicPr/>
            <p:nvPr/>
          </p:nvPicPr>
          <p:blipFill>
            <a:blip r:embed="rId8" cstate="print"/>
            <a:stretch>
              <a:fillRect/>
            </a:stretch>
          </p:blipFill>
          <p:spPr>
            <a:xfrm>
              <a:off x="879551" y="1489837"/>
              <a:ext cx="59601" cy="59601"/>
            </a:xfrm>
            <a:prstGeom prst="rect">
              <a:avLst/>
            </a:prstGeom>
          </p:spPr>
        </p:pic>
      </p:grpSp>
      <p:sp>
        <p:nvSpPr>
          <p:cNvPr id="38" name="object 38"/>
          <p:cNvSpPr txBox="1"/>
          <p:nvPr/>
        </p:nvSpPr>
        <p:spPr>
          <a:xfrm>
            <a:off x="698563" y="908649"/>
            <a:ext cx="3831590" cy="953135"/>
          </a:xfrm>
          <a:prstGeom prst="rect">
            <a:avLst/>
          </a:prstGeom>
        </p:spPr>
        <p:txBody>
          <a:bodyPr vert="horz" wrap="square" lIns="0" tIns="5080" rIns="0" bIns="0" rtlCol="0">
            <a:spAutoFit/>
          </a:bodyPr>
          <a:lstStyle/>
          <a:p>
            <a:pPr>
              <a:lnSpc>
                <a:spcPct val="100000"/>
              </a:lnSpc>
              <a:spcBef>
                <a:spcPts val="40"/>
              </a:spcBef>
            </a:pPr>
            <a:endParaRPr sz="900">
              <a:latin typeface="Times New Roman"/>
              <a:cs typeface="Times New Roman"/>
            </a:endParaRPr>
          </a:p>
          <a:p>
            <a:pPr marL="50800">
              <a:lnSpc>
                <a:spcPct val="100000"/>
              </a:lnSpc>
            </a:pPr>
            <a:r>
              <a:rPr sz="1000" spc="15" dirty="0">
                <a:latin typeface="Tahoma"/>
                <a:cs typeface="Tahoma"/>
              </a:rPr>
              <a:t>F</a:t>
            </a:r>
            <a:r>
              <a:rPr sz="1000" spc="-75" dirty="0">
                <a:latin typeface="Tahoma"/>
                <a:cs typeface="Tahoma"/>
              </a:rPr>
              <a:t>o</a:t>
            </a:r>
            <a:r>
              <a:rPr sz="1000" spc="-25" dirty="0">
                <a:latin typeface="Tahoma"/>
                <a:cs typeface="Tahoma"/>
              </a:rPr>
              <a:t>r</a:t>
            </a:r>
            <a:r>
              <a:rPr sz="1000" spc="20" dirty="0">
                <a:latin typeface="Tahoma"/>
                <a:cs typeface="Tahoma"/>
              </a:rPr>
              <a:t> </a:t>
            </a:r>
            <a:r>
              <a:rPr sz="1000" spc="-45" dirty="0">
                <a:latin typeface="Tahoma"/>
                <a:cs typeface="Tahoma"/>
              </a:rPr>
              <a:t>any</a:t>
            </a:r>
            <a:r>
              <a:rPr sz="1000" spc="15" dirty="0">
                <a:latin typeface="Tahoma"/>
                <a:cs typeface="Tahoma"/>
              </a:rPr>
              <a:t> </a:t>
            </a:r>
            <a:r>
              <a:rPr sz="1000" spc="-50" dirty="0">
                <a:latin typeface="Tahoma"/>
                <a:cs typeface="Tahoma"/>
              </a:rPr>
              <a:t>sets</a:t>
            </a:r>
            <a:r>
              <a:rPr sz="1000" spc="15" dirty="0">
                <a:latin typeface="Tahoma"/>
                <a:cs typeface="Tahoma"/>
              </a:rPr>
              <a:t> </a:t>
            </a:r>
            <a:r>
              <a:rPr sz="1000" i="1" spc="125" dirty="0">
                <a:latin typeface="Arial"/>
                <a:cs typeface="Arial"/>
              </a:rPr>
              <a:t>X</a:t>
            </a:r>
            <a:r>
              <a:rPr sz="1000" i="1" spc="-90" dirty="0">
                <a:latin typeface="Verdana"/>
                <a:cs typeface="Verdana"/>
              </a:rPr>
              <a:t>,</a:t>
            </a:r>
            <a:r>
              <a:rPr sz="1000" i="1" spc="-185" dirty="0">
                <a:latin typeface="Verdana"/>
                <a:cs typeface="Verdana"/>
              </a:rPr>
              <a:t> </a:t>
            </a:r>
            <a:r>
              <a:rPr sz="1000" i="1" spc="-5" dirty="0">
                <a:latin typeface="Arial"/>
                <a:cs typeface="Arial"/>
              </a:rPr>
              <a:t>Y</a:t>
            </a:r>
            <a:r>
              <a:rPr sz="1000" i="1" dirty="0">
                <a:latin typeface="Arial"/>
                <a:cs typeface="Arial"/>
              </a:rPr>
              <a:t> </a:t>
            </a:r>
            <a:r>
              <a:rPr sz="1000" i="1" spc="-55" dirty="0">
                <a:latin typeface="Arial"/>
                <a:cs typeface="Arial"/>
              </a:rPr>
              <a:t> </a:t>
            </a:r>
            <a:r>
              <a:rPr sz="1000" spc="-45" dirty="0">
                <a:latin typeface="Tahoma"/>
                <a:cs typeface="Tahoma"/>
              </a:rPr>
              <a:t>and</a:t>
            </a:r>
            <a:r>
              <a:rPr sz="1000" spc="20" dirty="0">
                <a:latin typeface="Tahoma"/>
                <a:cs typeface="Tahoma"/>
              </a:rPr>
              <a:t> </a:t>
            </a:r>
            <a:r>
              <a:rPr sz="1000" i="1" spc="-5" dirty="0">
                <a:latin typeface="Arial"/>
                <a:cs typeface="Arial"/>
              </a:rPr>
              <a:t>Z</a:t>
            </a:r>
            <a:r>
              <a:rPr sz="1000" i="1" spc="-160" dirty="0">
                <a:latin typeface="Arial"/>
                <a:cs typeface="Arial"/>
              </a:rPr>
              <a:t> </a:t>
            </a:r>
            <a:r>
              <a:rPr sz="1000" spc="-80" dirty="0">
                <a:latin typeface="Tahoma"/>
                <a:cs typeface="Tahoma"/>
              </a:rPr>
              <a:t>:</a:t>
            </a:r>
            <a:endParaRPr sz="1000">
              <a:latin typeface="Tahoma"/>
              <a:cs typeface="Tahoma"/>
            </a:endParaRPr>
          </a:p>
          <a:p>
            <a:pPr marL="303530" marR="1992630">
              <a:lnSpc>
                <a:spcPct val="124500"/>
              </a:lnSpc>
            </a:pP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14" dirty="0">
                <a:latin typeface="Arial"/>
                <a:cs typeface="Arial"/>
              </a:rPr>
              <a:t> </a:t>
            </a:r>
            <a:r>
              <a:rPr sz="1000" spc="45" dirty="0">
                <a:latin typeface="Tahoma"/>
                <a:cs typeface="Tahoma"/>
              </a:rPr>
              <a:t>=</a:t>
            </a:r>
            <a:r>
              <a:rPr sz="1000" spc="-35" dirty="0">
                <a:latin typeface="Tahoma"/>
                <a:cs typeface="Tahoma"/>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14" dirty="0">
                <a:latin typeface="Arial"/>
                <a:cs typeface="Arial"/>
              </a:rPr>
              <a:t> </a:t>
            </a:r>
            <a:r>
              <a:rPr sz="1000" spc="45" dirty="0">
                <a:latin typeface="Tahoma"/>
                <a:cs typeface="Tahoma"/>
              </a:rPr>
              <a:t>=</a:t>
            </a:r>
            <a:r>
              <a:rPr sz="1000" spc="-35" dirty="0">
                <a:latin typeface="Tahoma"/>
                <a:cs typeface="Tahoma"/>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endParaRPr sz="1000">
              <a:latin typeface="Tahoma"/>
              <a:cs typeface="Tahoma"/>
            </a:endParaRPr>
          </a:p>
          <a:p>
            <a:pPr marL="50800">
              <a:lnSpc>
                <a:spcPct val="100000"/>
              </a:lnSpc>
              <a:spcBef>
                <a:spcPts val="295"/>
              </a:spcBef>
            </a:pPr>
            <a:r>
              <a:rPr sz="1000" b="1" spc="-95" dirty="0">
                <a:latin typeface="Arial"/>
                <a:cs typeface="Arial"/>
              </a:rPr>
              <a:t>ass</a:t>
            </a:r>
            <a:r>
              <a:rPr sz="1000" b="1" spc="-70" dirty="0">
                <a:latin typeface="Arial"/>
                <a:cs typeface="Arial"/>
              </a:rPr>
              <a:t>o</a:t>
            </a:r>
            <a:r>
              <a:rPr sz="1000" b="1" spc="-65" dirty="0">
                <a:latin typeface="Arial"/>
                <a:cs typeface="Arial"/>
              </a:rPr>
              <a:t>c</a:t>
            </a:r>
            <a:r>
              <a:rPr sz="1000" b="1" spc="-40" dirty="0">
                <a:latin typeface="Arial"/>
                <a:cs typeface="Arial"/>
              </a:rPr>
              <a:t>i</a:t>
            </a:r>
            <a:r>
              <a:rPr sz="1000" b="1" dirty="0">
                <a:latin typeface="Arial"/>
                <a:cs typeface="Arial"/>
              </a:rPr>
              <a:t>ativi</a:t>
            </a:r>
            <a:r>
              <a:rPr sz="1000" b="1" spc="-30" dirty="0">
                <a:latin typeface="Arial"/>
                <a:cs typeface="Arial"/>
              </a:rPr>
              <a:t>t</a:t>
            </a:r>
            <a:r>
              <a:rPr sz="1000" b="1" spc="-60" dirty="0">
                <a:latin typeface="Arial"/>
                <a:cs typeface="Arial"/>
              </a:rPr>
              <a:t>y</a:t>
            </a:r>
            <a:r>
              <a:rPr sz="1000" b="1" spc="70" dirty="0">
                <a:latin typeface="Arial"/>
                <a:cs typeface="Arial"/>
              </a:rPr>
              <a:t> </a:t>
            </a:r>
            <a:r>
              <a:rPr sz="1000" spc="-30" dirty="0">
                <a:latin typeface="Tahoma"/>
                <a:cs typeface="Tahoma"/>
              </a:rPr>
              <a:t>of</a:t>
            </a:r>
            <a:r>
              <a:rPr sz="1000" spc="15" dirty="0">
                <a:latin typeface="Tahoma"/>
                <a:cs typeface="Tahoma"/>
              </a:rPr>
              <a:t> </a:t>
            </a:r>
            <a:r>
              <a:rPr sz="1000" spc="-45" dirty="0">
                <a:latin typeface="Tahoma"/>
                <a:cs typeface="Tahoma"/>
              </a:rPr>
              <a:t>o</a:t>
            </a:r>
            <a:r>
              <a:rPr sz="1000" spc="-20" dirty="0">
                <a:latin typeface="Tahoma"/>
                <a:cs typeface="Tahoma"/>
              </a:rPr>
              <a:t>p</a:t>
            </a:r>
            <a:r>
              <a:rPr sz="1000" spc="-35" dirty="0">
                <a:latin typeface="Tahoma"/>
                <a:cs typeface="Tahoma"/>
              </a:rPr>
              <a:t>erations</a:t>
            </a:r>
            <a:r>
              <a:rPr sz="1000" spc="20" dirty="0">
                <a:latin typeface="Tahoma"/>
                <a:cs typeface="Tahoma"/>
              </a:rPr>
              <a:t> </a:t>
            </a:r>
            <a:r>
              <a:rPr sz="1000" spc="-135" dirty="0">
                <a:latin typeface="Lucida Sans Unicode"/>
                <a:cs typeface="Lucida Sans Unicode"/>
              </a:rPr>
              <a:t>∩</a:t>
            </a:r>
            <a:r>
              <a:rPr sz="1000" spc="15" dirty="0">
                <a:latin typeface="Lucida Sans Unicode"/>
                <a:cs typeface="Lucida Sans Unicode"/>
              </a:rPr>
              <a:t> </a:t>
            </a:r>
            <a:r>
              <a:rPr sz="1000" spc="-45" dirty="0">
                <a:latin typeface="Tahoma"/>
                <a:cs typeface="Tahoma"/>
              </a:rPr>
              <a:t>and</a:t>
            </a:r>
            <a:r>
              <a:rPr sz="1000" spc="20" dirty="0">
                <a:latin typeface="Tahoma"/>
                <a:cs typeface="Tahoma"/>
              </a:rPr>
              <a:t> </a:t>
            </a:r>
            <a:r>
              <a:rPr sz="1000" spc="-135" dirty="0">
                <a:latin typeface="Lucida Sans Unicode"/>
                <a:cs typeface="Lucida Sans Unicode"/>
              </a:rPr>
              <a:t>∪</a:t>
            </a:r>
            <a:r>
              <a:rPr sz="1000" spc="-30" dirty="0">
                <a:latin typeface="Tahoma"/>
                <a:cs typeface="Tahoma"/>
              </a:rPr>
              <a:t>.</a:t>
            </a:r>
            <a:endParaRPr sz="1000">
              <a:latin typeface="Tahoma"/>
              <a:cs typeface="Tahoma"/>
            </a:endParaRPr>
          </a:p>
        </p:txBody>
      </p:sp>
      <p:sp>
        <p:nvSpPr>
          <p:cNvPr id="39" name="object 39"/>
          <p:cNvSpPr txBox="1"/>
          <p:nvPr/>
        </p:nvSpPr>
        <p:spPr>
          <a:xfrm>
            <a:off x="736663" y="1874055"/>
            <a:ext cx="3613785" cy="784860"/>
          </a:xfrm>
          <a:prstGeom prst="rect">
            <a:avLst/>
          </a:prstGeom>
        </p:spPr>
        <p:txBody>
          <a:bodyPr vert="horz" wrap="square" lIns="0" tIns="12065" rIns="0" bIns="0" rtlCol="0">
            <a:spAutoFit/>
          </a:bodyPr>
          <a:lstStyle/>
          <a:p>
            <a:pPr marL="12700" marR="5080">
              <a:lnSpc>
                <a:spcPct val="100000"/>
              </a:lnSpc>
              <a:spcBef>
                <a:spcPts val="95"/>
              </a:spcBef>
            </a:pPr>
            <a:r>
              <a:rPr sz="1000" spc="-5" dirty="0">
                <a:latin typeface="Tahoma"/>
                <a:cs typeface="Tahoma"/>
              </a:rPr>
              <a:t>This</a:t>
            </a:r>
            <a:r>
              <a:rPr sz="1000" spc="15" dirty="0">
                <a:latin typeface="Tahoma"/>
                <a:cs typeface="Tahoma"/>
              </a:rPr>
              <a:t> </a:t>
            </a:r>
            <a:r>
              <a:rPr sz="1000" spc="-40" dirty="0">
                <a:latin typeface="Tahoma"/>
                <a:cs typeface="Tahoma"/>
              </a:rPr>
              <a:t>property</a:t>
            </a:r>
            <a:r>
              <a:rPr sz="1000" spc="20" dirty="0">
                <a:latin typeface="Tahoma"/>
                <a:cs typeface="Tahoma"/>
              </a:rPr>
              <a:t> </a:t>
            </a:r>
            <a:r>
              <a:rPr sz="1000" spc="-40" dirty="0">
                <a:latin typeface="Tahoma"/>
                <a:cs typeface="Tahoma"/>
              </a:rPr>
              <a:t>allows</a:t>
            </a:r>
            <a:r>
              <a:rPr sz="1000" spc="15" dirty="0">
                <a:latin typeface="Tahoma"/>
                <a:cs typeface="Tahoma"/>
              </a:rPr>
              <a:t> </a:t>
            </a:r>
            <a:r>
              <a:rPr sz="1000" spc="-10" dirty="0">
                <a:latin typeface="Tahoma"/>
                <a:cs typeface="Tahoma"/>
              </a:rPr>
              <a:t>to</a:t>
            </a:r>
            <a:r>
              <a:rPr sz="1000" spc="20" dirty="0">
                <a:latin typeface="Tahoma"/>
                <a:cs typeface="Tahoma"/>
              </a:rPr>
              <a:t> </a:t>
            </a:r>
            <a:r>
              <a:rPr sz="1000" spc="-20" dirty="0">
                <a:latin typeface="Tahoma"/>
                <a:cs typeface="Tahoma"/>
              </a:rPr>
              <a:t>put</a:t>
            </a:r>
            <a:r>
              <a:rPr sz="1000" spc="20" dirty="0">
                <a:latin typeface="Tahoma"/>
                <a:cs typeface="Tahoma"/>
              </a:rPr>
              <a:t> </a:t>
            </a:r>
            <a:r>
              <a:rPr sz="1000" spc="-55" dirty="0">
                <a:latin typeface="Tahoma"/>
                <a:cs typeface="Tahoma"/>
              </a:rPr>
              <a:t>parentheses</a:t>
            </a:r>
            <a:r>
              <a:rPr sz="1000" spc="25" dirty="0">
                <a:latin typeface="Tahoma"/>
                <a:cs typeface="Tahoma"/>
              </a:rPr>
              <a:t> </a:t>
            </a:r>
            <a:r>
              <a:rPr sz="1000" spc="-25" dirty="0">
                <a:latin typeface="Tahoma"/>
                <a:cs typeface="Tahoma"/>
              </a:rPr>
              <a:t>arbitrarily</a:t>
            </a:r>
            <a:r>
              <a:rPr sz="1000" spc="20" dirty="0">
                <a:latin typeface="Tahoma"/>
                <a:cs typeface="Tahoma"/>
              </a:rPr>
              <a:t> </a:t>
            </a:r>
            <a:r>
              <a:rPr sz="1000" spc="-20" dirty="0">
                <a:latin typeface="Tahoma"/>
                <a:cs typeface="Tahoma"/>
              </a:rPr>
              <a:t>in</a:t>
            </a:r>
            <a:r>
              <a:rPr sz="1000" spc="20" dirty="0">
                <a:latin typeface="Tahoma"/>
                <a:cs typeface="Tahoma"/>
              </a:rPr>
              <a:t> </a:t>
            </a:r>
            <a:r>
              <a:rPr sz="1000" spc="-35" dirty="0">
                <a:latin typeface="Tahoma"/>
                <a:cs typeface="Tahoma"/>
              </a:rPr>
              <a:t>long </a:t>
            </a:r>
            <a:r>
              <a:rPr sz="1000" spc="-30" dirty="0">
                <a:latin typeface="Tahoma"/>
                <a:cs typeface="Tahoma"/>
              </a:rPr>
              <a:t> intersections/unions</a:t>
            </a:r>
            <a:r>
              <a:rPr sz="1000" spc="25" dirty="0">
                <a:latin typeface="Tahoma"/>
                <a:cs typeface="Tahoma"/>
              </a:rPr>
              <a:t> </a:t>
            </a:r>
            <a:r>
              <a:rPr sz="1000" spc="-30" dirty="0">
                <a:latin typeface="Tahoma"/>
                <a:cs typeface="Tahoma"/>
              </a:rPr>
              <a:t>of</a:t>
            </a:r>
            <a:r>
              <a:rPr sz="1000" spc="25" dirty="0">
                <a:latin typeface="Tahoma"/>
                <a:cs typeface="Tahoma"/>
              </a:rPr>
              <a:t> </a:t>
            </a:r>
            <a:r>
              <a:rPr sz="1000" spc="-50" dirty="0">
                <a:latin typeface="Tahoma"/>
                <a:cs typeface="Tahoma"/>
              </a:rPr>
              <a:t>sets</a:t>
            </a:r>
            <a:r>
              <a:rPr sz="1000" spc="25" dirty="0">
                <a:latin typeface="Tahoma"/>
                <a:cs typeface="Tahoma"/>
              </a:rPr>
              <a:t> </a:t>
            </a:r>
            <a:r>
              <a:rPr sz="1000" spc="-35" dirty="0">
                <a:latin typeface="Tahoma"/>
                <a:cs typeface="Tahoma"/>
              </a:rPr>
              <a:t>-</a:t>
            </a:r>
            <a:r>
              <a:rPr sz="1000" spc="25" dirty="0">
                <a:latin typeface="Tahoma"/>
                <a:cs typeface="Tahoma"/>
              </a:rPr>
              <a:t> </a:t>
            </a:r>
            <a:r>
              <a:rPr sz="1000" spc="-40" dirty="0">
                <a:latin typeface="Tahoma"/>
                <a:cs typeface="Tahoma"/>
              </a:rPr>
              <a:t>the</a:t>
            </a:r>
            <a:r>
              <a:rPr sz="1000" spc="30" dirty="0">
                <a:latin typeface="Tahoma"/>
                <a:cs typeface="Tahoma"/>
              </a:rPr>
              <a:t> </a:t>
            </a:r>
            <a:r>
              <a:rPr sz="1000" spc="-30" dirty="0">
                <a:latin typeface="Tahoma"/>
                <a:cs typeface="Tahoma"/>
              </a:rPr>
              <a:t>resulting</a:t>
            </a:r>
            <a:r>
              <a:rPr sz="1000" spc="25" dirty="0">
                <a:latin typeface="Tahoma"/>
                <a:cs typeface="Tahoma"/>
              </a:rPr>
              <a:t> </a:t>
            </a:r>
            <a:r>
              <a:rPr sz="1000" spc="-45" dirty="0">
                <a:latin typeface="Tahoma"/>
                <a:cs typeface="Tahoma"/>
              </a:rPr>
              <a:t>set</a:t>
            </a:r>
            <a:r>
              <a:rPr sz="1000" spc="30" dirty="0">
                <a:latin typeface="Tahoma"/>
                <a:cs typeface="Tahoma"/>
              </a:rPr>
              <a:t> </a:t>
            </a:r>
            <a:r>
              <a:rPr sz="1000" spc="-25" dirty="0">
                <a:latin typeface="Tahoma"/>
                <a:cs typeface="Tahoma"/>
              </a:rPr>
              <a:t>doesn’t</a:t>
            </a:r>
            <a:r>
              <a:rPr sz="1000" spc="25" dirty="0">
                <a:latin typeface="Tahoma"/>
                <a:cs typeface="Tahoma"/>
              </a:rPr>
              <a:t> </a:t>
            </a:r>
            <a:r>
              <a:rPr sz="1000" spc="-55" dirty="0">
                <a:latin typeface="Tahoma"/>
                <a:cs typeface="Tahoma"/>
              </a:rPr>
              <a:t>depend</a:t>
            </a:r>
            <a:r>
              <a:rPr sz="1000" spc="25" dirty="0">
                <a:latin typeface="Tahoma"/>
                <a:cs typeface="Tahoma"/>
              </a:rPr>
              <a:t> </a:t>
            </a:r>
            <a:r>
              <a:rPr sz="1000" spc="-45" dirty="0">
                <a:latin typeface="Tahoma"/>
                <a:cs typeface="Tahoma"/>
              </a:rPr>
              <a:t>on</a:t>
            </a:r>
            <a:r>
              <a:rPr sz="1000" spc="20" dirty="0">
                <a:latin typeface="Tahoma"/>
                <a:cs typeface="Tahoma"/>
              </a:rPr>
              <a:t> </a:t>
            </a:r>
            <a:r>
              <a:rPr sz="1000" dirty="0">
                <a:latin typeface="Tahoma"/>
                <a:cs typeface="Tahoma"/>
              </a:rPr>
              <a:t>it. </a:t>
            </a:r>
            <a:r>
              <a:rPr sz="1000" spc="-295" dirty="0">
                <a:latin typeface="Tahoma"/>
                <a:cs typeface="Tahoma"/>
              </a:rPr>
              <a:t> </a:t>
            </a:r>
            <a:r>
              <a:rPr sz="1000" spc="-40" dirty="0">
                <a:latin typeface="Tahoma"/>
                <a:cs typeface="Tahoma"/>
              </a:rPr>
              <a:t>Therefore,</a:t>
            </a:r>
            <a:r>
              <a:rPr sz="1000" spc="15" dirty="0">
                <a:latin typeface="Tahoma"/>
                <a:cs typeface="Tahoma"/>
              </a:rPr>
              <a:t> </a:t>
            </a:r>
            <a:r>
              <a:rPr sz="1000" spc="-40" dirty="0">
                <a:latin typeface="Tahoma"/>
                <a:cs typeface="Tahoma"/>
              </a:rPr>
              <a:t>for</a:t>
            </a:r>
            <a:r>
              <a:rPr sz="1000" spc="15" dirty="0">
                <a:latin typeface="Tahoma"/>
                <a:cs typeface="Tahoma"/>
              </a:rPr>
              <a:t> </a:t>
            </a:r>
            <a:r>
              <a:rPr sz="1000" spc="-35" dirty="0">
                <a:latin typeface="Tahoma"/>
                <a:cs typeface="Tahoma"/>
              </a:rPr>
              <a:t>the</a:t>
            </a:r>
            <a:r>
              <a:rPr sz="1000" spc="15" dirty="0">
                <a:latin typeface="Tahoma"/>
                <a:cs typeface="Tahoma"/>
              </a:rPr>
              <a:t> </a:t>
            </a:r>
            <a:r>
              <a:rPr sz="1000" spc="-45" dirty="0">
                <a:latin typeface="Tahoma"/>
                <a:cs typeface="Tahoma"/>
              </a:rPr>
              <a:t>purpose</a:t>
            </a:r>
            <a:r>
              <a:rPr sz="1000" spc="10" dirty="0">
                <a:latin typeface="Tahoma"/>
                <a:cs typeface="Tahoma"/>
              </a:rPr>
              <a:t> </a:t>
            </a:r>
            <a:r>
              <a:rPr sz="1000" spc="-30" dirty="0">
                <a:latin typeface="Tahoma"/>
                <a:cs typeface="Tahoma"/>
              </a:rPr>
              <a:t>of</a:t>
            </a:r>
            <a:r>
              <a:rPr sz="1000" spc="20" dirty="0">
                <a:latin typeface="Tahoma"/>
                <a:cs typeface="Tahoma"/>
              </a:rPr>
              <a:t> </a:t>
            </a:r>
            <a:r>
              <a:rPr sz="1000" spc="-40" dirty="0">
                <a:latin typeface="Tahoma"/>
                <a:cs typeface="Tahoma"/>
              </a:rPr>
              <a:t>shortening</a:t>
            </a:r>
            <a:r>
              <a:rPr sz="1000" spc="15" dirty="0">
                <a:latin typeface="Tahoma"/>
                <a:cs typeface="Tahoma"/>
              </a:rPr>
              <a:t> </a:t>
            </a:r>
            <a:r>
              <a:rPr sz="1000" spc="-30" dirty="0">
                <a:latin typeface="Tahoma"/>
                <a:cs typeface="Tahoma"/>
              </a:rPr>
              <a:t>of</a:t>
            </a:r>
            <a:r>
              <a:rPr sz="1000" spc="20" dirty="0">
                <a:latin typeface="Tahoma"/>
                <a:cs typeface="Tahoma"/>
              </a:rPr>
              <a:t> </a:t>
            </a:r>
            <a:r>
              <a:rPr sz="1000" spc="-50" dirty="0">
                <a:latin typeface="Tahoma"/>
                <a:cs typeface="Tahoma"/>
              </a:rPr>
              <a:t>expressions,</a:t>
            </a:r>
            <a:r>
              <a:rPr sz="1000" spc="15" dirty="0">
                <a:latin typeface="Tahoma"/>
                <a:cs typeface="Tahoma"/>
              </a:rPr>
              <a:t> </a:t>
            </a:r>
            <a:r>
              <a:rPr sz="1000" spc="-35" dirty="0">
                <a:latin typeface="Tahoma"/>
                <a:cs typeface="Tahoma"/>
              </a:rPr>
              <a:t>instead</a:t>
            </a:r>
            <a:r>
              <a:rPr sz="1000" spc="15" dirty="0">
                <a:latin typeface="Tahoma"/>
                <a:cs typeface="Tahoma"/>
              </a:rPr>
              <a:t> </a:t>
            </a:r>
            <a:r>
              <a:rPr sz="1000" spc="-30" dirty="0">
                <a:latin typeface="Tahoma"/>
                <a:cs typeface="Tahoma"/>
              </a:rPr>
              <a:t>of </a:t>
            </a:r>
            <a:r>
              <a:rPr sz="1000" spc="-25" dirty="0">
                <a:latin typeface="Tahoma"/>
                <a:cs typeface="Tahoma"/>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dirty="0">
                <a:latin typeface="Arial"/>
                <a:cs typeface="Arial"/>
              </a:rPr>
              <a:t> </a:t>
            </a:r>
            <a:r>
              <a:rPr sz="1000" i="1" spc="-105" dirty="0">
                <a:latin typeface="Arial"/>
                <a:cs typeface="Arial"/>
              </a:rPr>
              <a:t> </a:t>
            </a:r>
            <a:r>
              <a:rPr sz="1000" spc="-95" dirty="0">
                <a:latin typeface="Tahoma"/>
                <a:cs typeface="Tahoma"/>
              </a:rPr>
              <a:t>w</a:t>
            </a:r>
            <a:r>
              <a:rPr sz="1000" spc="-85" dirty="0">
                <a:latin typeface="Tahoma"/>
                <a:cs typeface="Tahoma"/>
              </a:rPr>
              <a:t>e</a:t>
            </a:r>
            <a:r>
              <a:rPr sz="1000" spc="20" dirty="0">
                <a:latin typeface="Tahoma"/>
                <a:cs typeface="Tahoma"/>
              </a:rPr>
              <a:t> </a:t>
            </a:r>
            <a:r>
              <a:rPr sz="1000" spc="-10" dirty="0">
                <a:latin typeface="Tahoma"/>
                <a:cs typeface="Tahoma"/>
              </a:rPr>
              <a:t>will</a:t>
            </a:r>
            <a:r>
              <a:rPr sz="1000" spc="15" dirty="0">
                <a:latin typeface="Tahoma"/>
                <a:cs typeface="Tahoma"/>
              </a:rPr>
              <a:t> </a:t>
            </a:r>
            <a:r>
              <a:rPr sz="1000" spc="-30" dirty="0">
                <a:latin typeface="Tahoma"/>
                <a:cs typeface="Tahoma"/>
              </a:rPr>
              <a:t>write</a:t>
            </a:r>
            <a:r>
              <a:rPr sz="1000" spc="20" dirty="0">
                <a:latin typeface="Tahoma"/>
                <a:cs typeface="Tahoma"/>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20" dirty="0">
                <a:latin typeface="Tahoma"/>
                <a:cs typeface="Tahoma"/>
              </a:rPr>
              <a:t> </a:t>
            </a:r>
            <a:r>
              <a:rPr sz="1000" spc="-45" dirty="0">
                <a:latin typeface="Tahoma"/>
                <a:cs typeface="Tahoma"/>
              </a:rPr>
              <a:t>and</a:t>
            </a:r>
            <a:r>
              <a:rPr sz="1000" spc="20" dirty="0">
                <a:latin typeface="Tahoma"/>
                <a:cs typeface="Tahoma"/>
              </a:rPr>
              <a:t> </a:t>
            </a:r>
            <a:r>
              <a:rPr sz="1000" spc="-35" dirty="0">
                <a:latin typeface="Tahoma"/>
                <a:cs typeface="Tahoma"/>
              </a:rPr>
              <a:t>instead</a:t>
            </a:r>
            <a:r>
              <a:rPr sz="1000" spc="20" dirty="0">
                <a:latin typeface="Tahoma"/>
                <a:cs typeface="Tahoma"/>
              </a:rPr>
              <a:t> </a:t>
            </a:r>
            <a:r>
              <a:rPr sz="1000" spc="-20" dirty="0">
                <a:latin typeface="Tahoma"/>
                <a:cs typeface="Tahoma"/>
              </a:rPr>
              <a:t>of</a:t>
            </a:r>
            <a:r>
              <a:rPr sz="1000" spc="-25"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  </a:t>
            </a:r>
            <a:r>
              <a:rPr sz="1000" spc="-95" dirty="0">
                <a:latin typeface="Tahoma"/>
                <a:cs typeface="Tahoma"/>
              </a:rPr>
              <a:t>w</a:t>
            </a:r>
            <a:r>
              <a:rPr sz="1000" spc="-5" dirty="0">
                <a:latin typeface="Tahoma"/>
                <a:cs typeface="Tahoma"/>
              </a:rPr>
              <a:t>e’ll</a:t>
            </a:r>
            <a:r>
              <a:rPr sz="1000" spc="20" dirty="0">
                <a:latin typeface="Tahoma"/>
                <a:cs typeface="Tahoma"/>
              </a:rPr>
              <a:t> </a:t>
            </a:r>
            <a:r>
              <a:rPr sz="1000" spc="-30" dirty="0">
                <a:latin typeface="Tahoma"/>
                <a:cs typeface="Tahoma"/>
              </a:rPr>
              <a:t>write</a:t>
            </a:r>
            <a:r>
              <a:rPr sz="1000" spc="20" dirty="0">
                <a:latin typeface="Tahoma"/>
                <a:cs typeface="Tahoma"/>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dirty="0">
                <a:latin typeface="Arial"/>
                <a:cs typeface="Arial"/>
              </a:rPr>
              <a:t> </a:t>
            </a:r>
            <a:r>
              <a:rPr sz="1000" i="1" spc="-105" dirty="0">
                <a:latin typeface="Arial"/>
                <a:cs typeface="Arial"/>
              </a:rPr>
              <a:t> </a:t>
            </a:r>
            <a:r>
              <a:rPr sz="1000" spc="-35" dirty="0">
                <a:latin typeface="Tahoma"/>
                <a:cs typeface="Tahoma"/>
              </a:rPr>
              <a:t>acc</a:t>
            </a:r>
            <a:r>
              <a:rPr sz="1000" spc="-70" dirty="0">
                <a:latin typeface="Tahoma"/>
                <a:cs typeface="Tahoma"/>
              </a:rPr>
              <a:t>o</a:t>
            </a:r>
            <a:r>
              <a:rPr sz="1000" spc="-25" dirty="0">
                <a:latin typeface="Tahoma"/>
                <a:cs typeface="Tahoma"/>
              </a:rPr>
              <a:t>rdingl</a:t>
            </a:r>
            <a:r>
              <a:rPr sz="1000" spc="-114" dirty="0">
                <a:latin typeface="Tahoma"/>
                <a:cs typeface="Tahoma"/>
              </a:rPr>
              <a:t>y</a:t>
            </a:r>
            <a:r>
              <a:rPr sz="1000" spc="-30" dirty="0">
                <a:latin typeface="Tahoma"/>
                <a:cs typeface="Tahoma"/>
              </a:rPr>
              <a:t>.</a:t>
            </a:r>
            <a:endParaRPr sz="1000">
              <a:latin typeface="Tahoma"/>
              <a:cs typeface="Tahoma"/>
            </a:endParaRPr>
          </a:p>
        </p:txBody>
      </p:sp>
      <p:sp>
        <p:nvSpPr>
          <p:cNvPr id="40" name="object 40"/>
          <p:cNvSpPr/>
          <p:nvPr/>
        </p:nvSpPr>
        <p:spPr>
          <a:xfrm>
            <a:off x="698562" y="2746463"/>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1" name="object 41"/>
          <p:cNvSpPr txBox="1"/>
          <p:nvPr/>
        </p:nvSpPr>
        <p:spPr>
          <a:xfrm>
            <a:off x="749363" y="2776402"/>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42" name="object 42"/>
          <p:cNvGrpSpPr/>
          <p:nvPr/>
        </p:nvGrpSpPr>
        <p:grpSpPr>
          <a:xfrm>
            <a:off x="698562" y="2803404"/>
            <a:ext cx="3831590" cy="378460"/>
            <a:chOff x="698562" y="2803404"/>
            <a:chExt cx="3831590" cy="378460"/>
          </a:xfrm>
        </p:grpSpPr>
        <p:pic>
          <p:nvPicPr>
            <p:cNvPr id="43" name="object 43"/>
            <p:cNvPicPr/>
            <p:nvPr/>
          </p:nvPicPr>
          <p:blipFill>
            <a:blip r:embed="rId7" cstate="print"/>
            <a:stretch>
              <a:fillRect/>
            </a:stretch>
          </p:blipFill>
          <p:spPr>
            <a:xfrm>
              <a:off x="698563" y="2904058"/>
              <a:ext cx="3780284" cy="50609"/>
            </a:xfrm>
            <a:prstGeom prst="rect">
              <a:avLst/>
            </a:prstGeom>
          </p:spPr>
        </p:pic>
        <p:sp>
          <p:nvSpPr>
            <p:cNvPr id="44" name="object 44"/>
            <p:cNvSpPr/>
            <p:nvPr/>
          </p:nvSpPr>
          <p:spPr>
            <a:xfrm>
              <a:off x="749363" y="2803404"/>
              <a:ext cx="3780790" cy="378460"/>
            </a:xfrm>
            <a:custGeom>
              <a:avLst/>
              <a:gdLst/>
              <a:ahLst/>
              <a:cxnLst/>
              <a:rect l="l" t="t" r="r" b="b"/>
              <a:pathLst>
                <a:path w="3780790" h="378460">
                  <a:moveTo>
                    <a:pt x="3780285" y="0"/>
                  </a:moveTo>
                  <a:lnTo>
                    <a:pt x="0" y="0"/>
                  </a:lnTo>
                  <a:lnTo>
                    <a:pt x="0" y="377946"/>
                  </a:lnTo>
                  <a:lnTo>
                    <a:pt x="3780285" y="377946"/>
                  </a:lnTo>
                  <a:lnTo>
                    <a:pt x="3780285" y="0"/>
                  </a:lnTo>
                  <a:close/>
                </a:path>
              </a:pathLst>
            </a:custGeom>
            <a:solidFill>
              <a:srgbClr val="000000"/>
            </a:solidFill>
          </p:spPr>
          <p:txBody>
            <a:bodyPr wrap="square" lIns="0" tIns="0" rIns="0" bIns="0" rtlCol="0"/>
            <a:lstStyle/>
            <a:p>
              <a:endParaRPr/>
            </a:p>
          </p:txBody>
        </p:sp>
        <p:sp>
          <p:nvSpPr>
            <p:cNvPr id="45" name="object 45"/>
            <p:cNvSpPr/>
            <p:nvPr/>
          </p:nvSpPr>
          <p:spPr>
            <a:xfrm>
              <a:off x="698562" y="2948349"/>
              <a:ext cx="3780790" cy="182245"/>
            </a:xfrm>
            <a:custGeom>
              <a:avLst/>
              <a:gdLst/>
              <a:ahLst/>
              <a:cxnLst/>
              <a:rect l="l" t="t" r="r" b="b"/>
              <a:pathLst>
                <a:path w="3780790" h="182244">
                  <a:moveTo>
                    <a:pt x="3780285" y="0"/>
                  </a:moveTo>
                  <a:lnTo>
                    <a:pt x="0" y="0"/>
                  </a:lnTo>
                  <a:lnTo>
                    <a:pt x="0" y="131400"/>
                  </a:lnTo>
                  <a:lnTo>
                    <a:pt x="4008" y="151125"/>
                  </a:lnTo>
                  <a:lnTo>
                    <a:pt x="14922" y="167277"/>
                  </a:lnTo>
                  <a:lnTo>
                    <a:pt x="31075" y="178192"/>
                  </a:lnTo>
                  <a:lnTo>
                    <a:pt x="50800" y="182200"/>
                  </a:lnTo>
                  <a:lnTo>
                    <a:pt x="3729484" y="182200"/>
                  </a:lnTo>
                  <a:lnTo>
                    <a:pt x="3749209" y="178192"/>
                  </a:lnTo>
                  <a:lnTo>
                    <a:pt x="3765362" y="167277"/>
                  </a:lnTo>
                  <a:lnTo>
                    <a:pt x="3776276" y="151125"/>
                  </a:lnTo>
                  <a:lnTo>
                    <a:pt x="3780285" y="131400"/>
                  </a:lnTo>
                  <a:lnTo>
                    <a:pt x="3780285" y="0"/>
                  </a:lnTo>
                  <a:close/>
                </a:path>
              </a:pathLst>
            </a:custGeom>
            <a:solidFill>
              <a:srgbClr val="E9E9F2"/>
            </a:solidFill>
          </p:spPr>
          <p:txBody>
            <a:bodyPr wrap="square" lIns="0" tIns="0" rIns="0" bIns="0" rtlCol="0"/>
            <a:lstStyle/>
            <a:p>
              <a:endParaRPr/>
            </a:p>
          </p:txBody>
        </p:sp>
      </p:grpSp>
      <p:sp>
        <p:nvSpPr>
          <p:cNvPr id="46" name="object 46"/>
          <p:cNvSpPr txBox="1"/>
          <p:nvPr/>
        </p:nvSpPr>
        <p:spPr>
          <a:xfrm>
            <a:off x="698563" y="2803404"/>
            <a:ext cx="3831590" cy="378460"/>
          </a:xfrm>
          <a:prstGeom prst="rect">
            <a:avLst/>
          </a:prstGeom>
        </p:spPr>
        <p:txBody>
          <a:bodyPr vert="horz" wrap="square" lIns="0" tIns="6350" rIns="0" bIns="0" rtlCol="0">
            <a:spAutoFit/>
          </a:bodyPr>
          <a:lstStyle/>
          <a:p>
            <a:pPr>
              <a:lnSpc>
                <a:spcPct val="100000"/>
              </a:lnSpc>
              <a:spcBef>
                <a:spcPts val="50"/>
              </a:spcBef>
            </a:pPr>
            <a:endParaRPr sz="850">
              <a:latin typeface="Times New Roman"/>
              <a:cs typeface="Times New Roman"/>
            </a:endParaRPr>
          </a:p>
          <a:p>
            <a:pPr marL="50800">
              <a:lnSpc>
                <a:spcPct val="100000"/>
              </a:lnSpc>
              <a:spcBef>
                <a:spcPts val="5"/>
              </a:spcBef>
            </a:pPr>
            <a:r>
              <a:rPr sz="1000" spc="-30" dirty="0">
                <a:latin typeface="Tahoma"/>
                <a:cs typeface="Tahoma"/>
              </a:rPr>
              <a:t>Obviously</a:t>
            </a:r>
            <a:r>
              <a:rPr sz="1000" spc="15" dirty="0">
                <a:latin typeface="Tahoma"/>
                <a:cs typeface="Tahoma"/>
              </a:rPr>
              <a:t> </a:t>
            </a:r>
            <a:r>
              <a:rPr sz="1000" spc="-35" dirty="0">
                <a:latin typeface="Tahoma"/>
                <a:cs typeface="Tahoma"/>
              </a:rPr>
              <a:t>follows</a:t>
            </a:r>
            <a:r>
              <a:rPr sz="1000" spc="15" dirty="0">
                <a:latin typeface="Tahoma"/>
                <a:cs typeface="Tahoma"/>
              </a:rPr>
              <a:t> </a:t>
            </a:r>
            <a:r>
              <a:rPr sz="1000" spc="-35" dirty="0">
                <a:latin typeface="Tahoma"/>
                <a:cs typeface="Tahoma"/>
              </a:rPr>
              <a:t>from</a:t>
            </a:r>
            <a:r>
              <a:rPr sz="1000" spc="15" dirty="0">
                <a:latin typeface="Tahoma"/>
                <a:cs typeface="Tahoma"/>
              </a:rPr>
              <a:t> </a:t>
            </a:r>
            <a:r>
              <a:rPr sz="1000" spc="-35" dirty="0">
                <a:latin typeface="Tahoma"/>
                <a:cs typeface="Tahoma"/>
              </a:rPr>
              <a:t>the</a:t>
            </a:r>
            <a:r>
              <a:rPr sz="1000" spc="20" dirty="0">
                <a:latin typeface="Tahoma"/>
                <a:cs typeface="Tahoma"/>
              </a:rPr>
              <a:t> </a:t>
            </a:r>
            <a:r>
              <a:rPr sz="1000" spc="-30" dirty="0">
                <a:latin typeface="Tahoma"/>
                <a:cs typeface="Tahoma"/>
              </a:rPr>
              <a:t>definitions.</a:t>
            </a:r>
            <a:endParaRPr sz="1000">
              <a:latin typeface="Tahoma"/>
              <a:cs typeface="Tahoma"/>
            </a:endParaRPr>
          </a:p>
        </p:txBody>
      </p:sp>
      <p:grpSp>
        <p:nvGrpSpPr>
          <p:cNvPr id="47" name="object 47"/>
          <p:cNvGrpSpPr/>
          <p:nvPr/>
        </p:nvGrpSpPr>
        <p:grpSpPr>
          <a:xfrm>
            <a:off x="4335779" y="2976105"/>
            <a:ext cx="86360" cy="85725"/>
            <a:chOff x="4335779" y="2976105"/>
            <a:chExt cx="86360" cy="85725"/>
          </a:xfrm>
        </p:grpSpPr>
        <p:sp>
          <p:nvSpPr>
            <p:cNvPr id="48" name="object 48"/>
            <p:cNvSpPr/>
            <p:nvPr/>
          </p:nvSpPr>
          <p:spPr>
            <a:xfrm>
              <a:off x="4338307" y="2976105"/>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9" name="object 49"/>
            <p:cNvSpPr/>
            <p:nvPr/>
          </p:nvSpPr>
          <p:spPr>
            <a:xfrm>
              <a:off x="4340834" y="2978645"/>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0" name="object 50"/>
            <p:cNvSpPr/>
            <p:nvPr/>
          </p:nvSpPr>
          <p:spPr>
            <a:xfrm>
              <a:off x="4340834" y="3058985"/>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1" name="object 51"/>
            <p:cNvSpPr/>
            <p:nvPr/>
          </p:nvSpPr>
          <p:spPr>
            <a:xfrm>
              <a:off x="4419282" y="2976105"/>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720214" cy="244475"/>
          </a:xfrm>
          <a:prstGeom prst="rect">
            <a:avLst/>
          </a:prstGeom>
        </p:spPr>
        <p:txBody>
          <a:bodyPr vert="horz" wrap="square" lIns="0" tIns="17145" rIns="0" bIns="0" rtlCol="0">
            <a:spAutoFit/>
          </a:bodyPr>
          <a:lstStyle/>
          <a:p>
            <a:pPr marL="12700">
              <a:lnSpc>
                <a:spcPct val="100000"/>
              </a:lnSpc>
              <a:spcBef>
                <a:spcPts val="135"/>
              </a:spcBef>
            </a:pPr>
            <a:r>
              <a:rPr spc="-20" dirty="0"/>
              <a:t>Relation</a:t>
            </a:r>
            <a:r>
              <a:rPr spc="105" dirty="0"/>
              <a:t> </a:t>
            </a:r>
            <a:r>
              <a:rPr spc="-30" dirty="0"/>
              <a:t>of</a:t>
            </a:r>
            <a:r>
              <a:rPr spc="110" dirty="0"/>
              <a:t> </a:t>
            </a:r>
            <a:r>
              <a:rPr spc="-60" dirty="0"/>
              <a:t>inclusion</a:t>
            </a:r>
          </a:p>
        </p:txBody>
      </p:sp>
      <p:sp>
        <p:nvSpPr>
          <p:cNvPr id="30" name="object 30"/>
          <p:cNvSpPr txBox="1"/>
          <p:nvPr/>
        </p:nvSpPr>
        <p:spPr>
          <a:xfrm>
            <a:off x="736663" y="727905"/>
            <a:ext cx="3312160" cy="329565"/>
          </a:xfrm>
          <a:prstGeom prst="rect">
            <a:avLst/>
          </a:prstGeom>
        </p:spPr>
        <p:txBody>
          <a:bodyPr vert="horz" wrap="square" lIns="0" tIns="12065" rIns="0" bIns="0" rtlCol="0">
            <a:spAutoFit/>
          </a:bodyPr>
          <a:lstStyle/>
          <a:p>
            <a:pPr marL="12700" marR="5080">
              <a:lnSpc>
                <a:spcPct val="100000"/>
              </a:lnSpc>
              <a:spcBef>
                <a:spcPts val="95"/>
              </a:spcBef>
            </a:pPr>
            <a:r>
              <a:rPr sz="1000" spc="-20" dirty="0">
                <a:latin typeface="Tahoma"/>
                <a:cs typeface="Tahoma"/>
              </a:rPr>
              <a:t>Except</a:t>
            </a:r>
            <a:r>
              <a:rPr sz="1000" spc="10" dirty="0">
                <a:latin typeface="Tahoma"/>
                <a:cs typeface="Tahoma"/>
              </a:rPr>
              <a:t> </a:t>
            </a:r>
            <a:r>
              <a:rPr sz="1000" spc="-30" dirty="0">
                <a:latin typeface="Tahoma"/>
                <a:cs typeface="Tahoma"/>
              </a:rPr>
              <a:t>of</a:t>
            </a:r>
            <a:r>
              <a:rPr sz="1000" spc="15" dirty="0">
                <a:latin typeface="Tahoma"/>
                <a:cs typeface="Tahoma"/>
              </a:rPr>
              <a:t> </a:t>
            </a:r>
            <a:r>
              <a:rPr sz="1000" spc="-35" dirty="0">
                <a:latin typeface="Tahoma"/>
                <a:cs typeface="Tahoma"/>
              </a:rPr>
              <a:t>the</a:t>
            </a:r>
            <a:r>
              <a:rPr sz="1000" spc="15" dirty="0">
                <a:latin typeface="Tahoma"/>
                <a:cs typeface="Tahoma"/>
              </a:rPr>
              <a:t> </a:t>
            </a:r>
            <a:r>
              <a:rPr sz="1000" spc="-30" dirty="0">
                <a:latin typeface="Tahoma"/>
                <a:cs typeface="Tahoma"/>
              </a:rPr>
              <a:t>equality</a:t>
            </a:r>
            <a:r>
              <a:rPr sz="1000" spc="15" dirty="0">
                <a:latin typeface="Tahoma"/>
                <a:cs typeface="Tahoma"/>
              </a:rPr>
              <a:t> </a:t>
            </a:r>
            <a:r>
              <a:rPr sz="1000" spc="-25" dirty="0">
                <a:latin typeface="Tahoma"/>
                <a:cs typeface="Tahoma"/>
              </a:rPr>
              <a:t>relation,</a:t>
            </a:r>
            <a:r>
              <a:rPr sz="1000" spc="20" dirty="0">
                <a:latin typeface="Tahoma"/>
                <a:cs typeface="Tahoma"/>
              </a:rPr>
              <a:t> </a:t>
            </a:r>
            <a:r>
              <a:rPr sz="1000" spc="-10" dirty="0">
                <a:latin typeface="Tahoma"/>
                <a:cs typeface="Tahoma"/>
              </a:rPr>
              <a:t>let’s</a:t>
            </a:r>
            <a:r>
              <a:rPr sz="1000" spc="15" dirty="0">
                <a:latin typeface="Tahoma"/>
                <a:cs typeface="Tahoma"/>
              </a:rPr>
              <a:t> </a:t>
            </a:r>
            <a:r>
              <a:rPr sz="1000" spc="-40" dirty="0">
                <a:latin typeface="Tahoma"/>
                <a:cs typeface="Tahoma"/>
              </a:rPr>
              <a:t>consider</a:t>
            </a:r>
            <a:r>
              <a:rPr sz="1000" spc="20" dirty="0">
                <a:latin typeface="Tahoma"/>
                <a:cs typeface="Tahoma"/>
              </a:rPr>
              <a:t> </a:t>
            </a:r>
            <a:r>
              <a:rPr sz="1000" spc="-50" dirty="0">
                <a:latin typeface="Tahoma"/>
                <a:cs typeface="Tahoma"/>
              </a:rPr>
              <a:t>a</a:t>
            </a:r>
            <a:r>
              <a:rPr sz="1000" spc="10" dirty="0">
                <a:latin typeface="Tahoma"/>
                <a:cs typeface="Tahoma"/>
              </a:rPr>
              <a:t> </a:t>
            </a:r>
            <a:r>
              <a:rPr sz="1000" spc="-50" dirty="0">
                <a:latin typeface="Tahoma"/>
                <a:cs typeface="Tahoma"/>
              </a:rPr>
              <a:t>very</a:t>
            </a:r>
            <a:r>
              <a:rPr sz="1000" spc="15" dirty="0">
                <a:latin typeface="Tahoma"/>
                <a:cs typeface="Tahoma"/>
              </a:rPr>
              <a:t> </a:t>
            </a:r>
            <a:r>
              <a:rPr sz="1000" spc="-25" dirty="0">
                <a:latin typeface="Tahoma"/>
                <a:cs typeface="Tahoma"/>
              </a:rPr>
              <a:t>important </a:t>
            </a:r>
            <a:r>
              <a:rPr sz="1000" spc="-300" dirty="0">
                <a:latin typeface="Tahoma"/>
                <a:cs typeface="Tahoma"/>
              </a:rPr>
              <a:t> </a:t>
            </a:r>
            <a:r>
              <a:rPr sz="1000" spc="-25" dirty="0">
                <a:latin typeface="Tahoma"/>
                <a:cs typeface="Tahoma"/>
              </a:rPr>
              <a:t>relation</a:t>
            </a:r>
            <a:r>
              <a:rPr sz="1000" spc="15" dirty="0">
                <a:latin typeface="Tahoma"/>
                <a:cs typeface="Tahoma"/>
              </a:rPr>
              <a:t> </a:t>
            </a:r>
            <a:r>
              <a:rPr sz="1000" spc="-30" dirty="0">
                <a:latin typeface="Tahoma"/>
                <a:cs typeface="Tahoma"/>
              </a:rPr>
              <a:t>of</a:t>
            </a:r>
            <a:r>
              <a:rPr sz="1000" spc="20" dirty="0">
                <a:latin typeface="Tahoma"/>
                <a:cs typeface="Tahoma"/>
              </a:rPr>
              <a:t> </a:t>
            </a:r>
            <a:r>
              <a:rPr sz="1000" spc="-30" dirty="0">
                <a:latin typeface="Tahoma"/>
                <a:cs typeface="Tahoma"/>
              </a:rPr>
              <a:t>inclusion.</a:t>
            </a:r>
            <a:endParaRPr sz="1000">
              <a:latin typeface="Tahoma"/>
              <a:cs typeface="Tahoma"/>
            </a:endParaRPr>
          </a:p>
        </p:txBody>
      </p:sp>
      <p:sp>
        <p:nvSpPr>
          <p:cNvPr id="31" name="object 31"/>
          <p:cNvSpPr/>
          <p:nvPr/>
        </p:nvSpPr>
        <p:spPr>
          <a:xfrm>
            <a:off x="698562" y="1120228"/>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2" name="object 32"/>
          <p:cNvSpPr txBox="1"/>
          <p:nvPr/>
        </p:nvSpPr>
        <p:spPr>
          <a:xfrm>
            <a:off x="749363" y="1150167"/>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3" name="object 33"/>
          <p:cNvGrpSpPr/>
          <p:nvPr/>
        </p:nvGrpSpPr>
        <p:grpSpPr>
          <a:xfrm>
            <a:off x="698562" y="1177157"/>
            <a:ext cx="3831590" cy="833755"/>
            <a:chOff x="698562" y="1177157"/>
            <a:chExt cx="3831590" cy="833755"/>
          </a:xfrm>
        </p:grpSpPr>
        <p:pic>
          <p:nvPicPr>
            <p:cNvPr id="34" name="object 34"/>
            <p:cNvPicPr/>
            <p:nvPr/>
          </p:nvPicPr>
          <p:blipFill>
            <a:blip r:embed="rId7" cstate="print"/>
            <a:stretch>
              <a:fillRect/>
            </a:stretch>
          </p:blipFill>
          <p:spPr>
            <a:xfrm>
              <a:off x="698563" y="1277823"/>
              <a:ext cx="3780284" cy="50609"/>
            </a:xfrm>
            <a:prstGeom prst="rect">
              <a:avLst/>
            </a:prstGeom>
          </p:spPr>
        </p:pic>
        <p:sp>
          <p:nvSpPr>
            <p:cNvPr id="35" name="object 35"/>
            <p:cNvSpPr/>
            <p:nvPr/>
          </p:nvSpPr>
          <p:spPr>
            <a:xfrm>
              <a:off x="749363" y="1177157"/>
              <a:ext cx="3780790" cy="833755"/>
            </a:xfrm>
            <a:custGeom>
              <a:avLst/>
              <a:gdLst/>
              <a:ahLst/>
              <a:cxnLst/>
              <a:rect l="l" t="t" r="r" b="b"/>
              <a:pathLst>
                <a:path w="3780790" h="833755">
                  <a:moveTo>
                    <a:pt x="3780285" y="0"/>
                  </a:moveTo>
                  <a:lnTo>
                    <a:pt x="0" y="0"/>
                  </a:lnTo>
                  <a:lnTo>
                    <a:pt x="0" y="833444"/>
                  </a:lnTo>
                  <a:lnTo>
                    <a:pt x="3780285" y="833444"/>
                  </a:lnTo>
                  <a:lnTo>
                    <a:pt x="3780285" y="0"/>
                  </a:lnTo>
                  <a:close/>
                </a:path>
              </a:pathLst>
            </a:custGeom>
            <a:solidFill>
              <a:srgbClr val="000000"/>
            </a:solidFill>
          </p:spPr>
          <p:txBody>
            <a:bodyPr wrap="square" lIns="0" tIns="0" rIns="0" bIns="0" rtlCol="0"/>
            <a:lstStyle/>
            <a:p>
              <a:endParaRPr/>
            </a:p>
          </p:txBody>
        </p:sp>
        <p:sp>
          <p:nvSpPr>
            <p:cNvPr id="36" name="object 36"/>
            <p:cNvSpPr/>
            <p:nvPr/>
          </p:nvSpPr>
          <p:spPr>
            <a:xfrm>
              <a:off x="698562" y="1322102"/>
              <a:ext cx="3780790" cy="638175"/>
            </a:xfrm>
            <a:custGeom>
              <a:avLst/>
              <a:gdLst/>
              <a:ahLst/>
              <a:cxnLst/>
              <a:rect l="l" t="t" r="r" b="b"/>
              <a:pathLst>
                <a:path w="3780790" h="638175">
                  <a:moveTo>
                    <a:pt x="3780285" y="0"/>
                  </a:moveTo>
                  <a:lnTo>
                    <a:pt x="0" y="0"/>
                  </a:lnTo>
                  <a:lnTo>
                    <a:pt x="0" y="586897"/>
                  </a:lnTo>
                  <a:lnTo>
                    <a:pt x="4008" y="606622"/>
                  </a:lnTo>
                  <a:lnTo>
                    <a:pt x="14922" y="622775"/>
                  </a:lnTo>
                  <a:lnTo>
                    <a:pt x="31075" y="633689"/>
                  </a:lnTo>
                  <a:lnTo>
                    <a:pt x="50800" y="637698"/>
                  </a:lnTo>
                  <a:lnTo>
                    <a:pt x="3729484" y="637698"/>
                  </a:lnTo>
                  <a:lnTo>
                    <a:pt x="3749209" y="633689"/>
                  </a:lnTo>
                  <a:lnTo>
                    <a:pt x="3765362" y="622775"/>
                  </a:lnTo>
                  <a:lnTo>
                    <a:pt x="3776276" y="606622"/>
                  </a:lnTo>
                  <a:lnTo>
                    <a:pt x="3780285" y="586897"/>
                  </a:lnTo>
                  <a:lnTo>
                    <a:pt x="3780285" y="0"/>
                  </a:lnTo>
                  <a:close/>
                </a:path>
              </a:pathLst>
            </a:custGeom>
            <a:solidFill>
              <a:srgbClr val="E9E9F2"/>
            </a:solidFill>
          </p:spPr>
          <p:txBody>
            <a:bodyPr wrap="square" lIns="0" tIns="0" rIns="0" bIns="0" rtlCol="0"/>
            <a:lstStyle/>
            <a:p>
              <a:endParaRPr/>
            </a:p>
          </p:txBody>
        </p:sp>
      </p:grpSp>
      <p:sp>
        <p:nvSpPr>
          <p:cNvPr id="37" name="object 37"/>
          <p:cNvSpPr txBox="1"/>
          <p:nvPr/>
        </p:nvSpPr>
        <p:spPr>
          <a:xfrm>
            <a:off x="749363" y="1296052"/>
            <a:ext cx="3646804" cy="329565"/>
          </a:xfrm>
          <a:prstGeom prst="rect">
            <a:avLst/>
          </a:prstGeom>
        </p:spPr>
        <p:txBody>
          <a:bodyPr vert="horz" wrap="square" lIns="0" tIns="12065" rIns="0" bIns="0" rtlCol="0">
            <a:spAutoFit/>
          </a:bodyPr>
          <a:lstStyle/>
          <a:p>
            <a:pPr>
              <a:lnSpc>
                <a:spcPts val="1200"/>
              </a:lnSpc>
              <a:spcBef>
                <a:spcPts val="95"/>
              </a:spcBef>
            </a:pPr>
            <a:r>
              <a:rPr sz="1000" spc="-15" dirty="0">
                <a:latin typeface="Tahoma"/>
                <a:cs typeface="Tahoma"/>
              </a:rPr>
              <a:t>Two</a:t>
            </a:r>
            <a:r>
              <a:rPr sz="1000" spc="15" dirty="0">
                <a:latin typeface="Tahoma"/>
                <a:cs typeface="Tahoma"/>
              </a:rPr>
              <a:t> </a:t>
            </a:r>
            <a:r>
              <a:rPr sz="1000" spc="-50" dirty="0">
                <a:latin typeface="Tahoma"/>
                <a:cs typeface="Tahoma"/>
              </a:rPr>
              <a:t>sets</a:t>
            </a:r>
            <a:r>
              <a:rPr sz="1000" spc="15" dirty="0">
                <a:latin typeface="Tahoma"/>
                <a:cs typeface="Tahoma"/>
              </a:rPr>
              <a:t> </a:t>
            </a:r>
            <a:r>
              <a:rPr sz="1000" i="1" spc="-5" dirty="0">
                <a:latin typeface="Arial"/>
                <a:cs typeface="Arial"/>
              </a:rPr>
              <a:t>X</a:t>
            </a:r>
            <a:r>
              <a:rPr sz="1000" i="1" spc="185" dirty="0">
                <a:latin typeface="Arial"/>
                <a:cs typeface="Arial"/>
              </a:rPr>
              <a:t> </a:t>
            </a:r>
            <a:r>
              <a:rPr sz="1000" spc="-65" dirty="0">
                <a:latin typeface="Tahoma"/>
                <a:cs typeface="Tahoma"/>
              </a:rPr>
              <a:t>are</a:t>
            </a:r>
            <a:r>
              <a:rPr sz="1000" spc="15" dirty="0">
                <a:latin typeface="Tahoma"/>
                <a:cs typeface="Tahoma"/>
              </a:rPr>
              <a:t> </a:t>
            </a:r>
            <a:r>
              <a:rPr sz="1000" i="1" spc="-5" dirty="0">
                <a:latin typeface="Arial"/>
                <a:cs typeface="Arial"/>
              </a:rPr>
              <a:t>Y</a:t>
            </a:r>
            <a:r>
              <a:rPr sz="1000" i="1" spc="220" dirty="0">
                <a:latin typeface="Arial"/>
                <a:cs typeface="Arial"/>
              </a:rPr>
              <a:t> </a:t>
            </a:r>
            <a:r>
              <a:rPr sz="1000" spc="-20" dirty="0">
                <a:latin typeface="Tahoma"/>
                <a:cs typeface="Tahoma"/>
              </a:rPr>
              <a:t>in</a:t>
            </a:r>
            <a:r>
              <a:rPr sz="1000" spc="20" dirty="0">
                <a:latin typeface="Tahoma"/>
                <a:cs typeface="Tahoma"/>
              </a:rPr>
              <a:t> </a:t>
            </a:r>
            <a:r>
              <a:rPr sz="1000" spc="-35" dirty="0">
                <a:latin typeface="Tahoma"/>
                <a:cs typeface="Tahoma"/>
              </a:rPr>
              <a:t>the</a:t>
            </a:r>
            <a:r>
              <a:rPr sz="1000" spc="15" dirty="0">
                <a:latin typeface="Tahoma"/>
                <a:cs typeface="Tahoma"/>
              </a:rPr>
              <a:t> </a:t>
            </a:r>
            <a:r>
              <a:rPr sz="1000" spc="-25" dirty="0">
                <a:latin typeface="Tahoma"/>
                <a:cs typeface="Tahoma"/>
              </a:rPr>
              <a:t>relation</a:t>
            </a:r>
            <a:r>
              <a:rPr sz="1000" spc="20" dirty="0">
                <a:latin typeface="Tahoma"/>
                <a:cs typeface="Tahoma"/>
              </a:rPr>
              <a:t> </a:t>
            </a:r>
            <a:r>
              <a:rPr sz="1000" spc="-30" dirty="0">
                <a:latin typeface="Tahoma"/>
                <a:cs typeface="Tahoma"/>
              </a:rPr>
              <a:t>of</a:t>
            </a:r>
            <a:r>
              <a:rPr sz="1000" spc="15" dirty="0">
                <a:latin typeface="Tahoma"/>
                <a:cs typeface="Tahoma"/>
              </a:rPr>
              <a:t> </a:t>
            </a:r>
            <a:r>
              <a:rPr sz="1000" i="1" spc="-35" dirty="0">
                <a:latin typeface="Arial"/>
                <a:cs typeface="Arial"/>
              </a:rPr>
              <a:t>inclusion</a:t>
            </a:r>
            <a:r>
              <a:rPr sz="1000" spc="-35" dirty="0">
                <a:latin typeface="Tahoma"/>
                <a:cs typeface="Tahoma"/>
              </a:rPr>
              <a:t>,</a:t>
            </a:r>
            <a:r>
              <a:rPr sz="1000" spc="15" dirty="0">
                <a:latin typeface="Tahoma"/>
                <a:cs typeface="Tahoma"/>
              </a:rPr>
              <a:t> </a:t>
            </a:r>
            <a:r>
              <a:rPr sz="1000" spc="-45" dirty="0">
                <a:latin typeface="Tahoma"/>
                <a:cs typeface="Tahoma"/>
              </a:rPr>
              <a:t>and</a:t>
            </a:r>
            <a:r>
              <a:rPr sz="1000" spc="20" dirty="0">
                <a:latin typeface="Tahoma"/>
                <a:cs typeface="Tahoma"/>
              </a:rPr>
              <a:t> </a:t>
            </a:r>
            <a:r>
              <a:rPr sz="1000" spc="-20" dirty="0">
                <a:latin typeface="Tahoma"/>
                <a:cs typeface="Tahoma"/>
              </a:rPr>
              <a:t>this</a:t>
            </a:r>
            <a:r>
              <a:rPr sz="1000" spc="10" dirty="0">
                <a:latin typeface="Tahoma"/>
                <a:cs typeface="Tahoma"/>
              </a:rPr>
              <a:t> </a:t>
            </a:r>
            <a:r>
              <a:rPr sz="1000" spc="-30" dirty="0">
                <a:latin typeface="Tahoma"/>
                <a:cs typeface="Tahoma"/>
              </a:rPr>
              <a:t>is</a:t>
            </a:r>
            <a:r>
              <a:rPr sz="1000" spc="20" dirty="0">
                <a:latin typeface="Tahoma"/>
                <a:cs typeface="Tahoma"/>
              </a:rPr>
              <a:t> </a:t>
            </a:r>
            <a:r>
              <a:rPr sz="1000" spc="-45" dirty="0">
                <a:latin typeface="Tahoma"/>
                <a:cs typeface="Tahoma"/>
              </a:rPr>
              <a:t>denoted</a:t>
            </a:r>
            <a:r>
              <a:rPr sz="1000" spc="20" dirty="0">
                <a:latin typeface="Tahoma"/>
                <a:cs typeface="Tahoma"/>
              </a:rPr>
              <a:t> </a:t>
            </a:r>
            <a:r>
              <a:rPr sz="1000" spc="-55" dirty="0">
                <a:latin typeface="Tahoma"/>
                <a:cs typeface="Tahoma"/>
              </a:rPr>
              <a:t>by</a:t>
            </a:r>
            <a:endParaRPr sz="1000">
              <a:latin typeface="Tahoma"/>
              <a:cs typeface="Tahoma"/>
            </a:endParaRPr>
          </a:p>
          <a:p>
            <a:pPr>
              <a:lnSpc>
                <a:spcPts val="1200"/>
              </a:lnSpc>
            </a:pPr>
            <a:r>
              <a:rPr sz="1000" i="1" spc="-5" dirty="0">
                <a:latin typeface="Arial"/>
                <a:cs typeface="Arial"/>
              </a:rPr>
              <a:t>X</a:t>
            </a:r>
            <a:r>
              <a:rPr sz="1000" i="1" spc="130" dirty="0">
                <a:latin typeface="Arial"/>
                <a:cs typeface="Arial"/>
              </a:rPr>
              <a:t> </a:t>
            </a:r>
            <a:r>
              <a:rPr sz="1000" spc="-25" dirty="0">
                <a:latin typeface="Lucida Sans Unicode"/>
                <a:cs typeface="Lucida Sans Unicode"/>
              </a:rPr>
              <a:t>⊆</a:t>
            </a:r>
            <a:r>
              <a:rPr sz="1000" spc="-40" dirty="0">
                <a:latin typeface="Lucida Sans Unicode"/>
                <a:cs typeface="Lucida Sans Unicode"/>
              </a:rPr>
              <a:t> </a:t>
            </a:r>
            <a:r>
              <a:rPr sz="1000" i="1" spc="-5" dirty="0">
                <a:latin typeface="Arial"/>
                <a:cs typeface="Arial"/>
              </a:rPr>
              <a:t>Y</a:t>
            </a:r>
            <a:r>
              <a:rPr sz="1000" i="1" spc="-110" dirty="0">
                <a:latin typeface="Arial"/>
                <a:cs typeface="Arial"/>
              </a:rPr>
              <a:t> </a:t>
            </a:r>
            <a:r>
              <a:rPr sz="1000" spc="-30" dirty="0">
                <a:latin typeface="Tahoma"/>
                <a:cs typeface="Tahoma"/>
              </a:rPr>
              <a:t>,</a:t>
            </a:r>
            <a:r>
              <a:rPr sz="1000" spc="20" dirty="0">
                <a:latin typeface="Tahoma"/>
                <a:cs typeface="Tahoma"/>
              </a:rPr>
              <a:t> </a:t>
            </a:r>
            <a:r>
              <a:rPr sz="1000" spc="-20" dirty="0">
                <a:latin typeface="Tahoma"/>
                <a:cs typeface="Tahoma"/>
              </a:rPr>
              <a:t>iff</a:t>
            </a:r>
            <a:r>
              <a:rPr sz="1000" spc="20" dirty="0">
                <a:latin typeface="Tahoma"/>
                <a:cs typeface="Tahoma"/>
              </a:rPr>
              <a:t> </a:t>
            </a:r>
            <a:r>
              <a:rPr sz="1000" spc="-25" dirty="0">
                <a:latin typeface="Tahoma"/>
                <a:cs typeface="Tahoma"/>
              </a:rPr>
              <a:t>f</a:t>
            </a:r>
            <a:r>
              <a:rPr sz="1000" spc="-70" dirty="0">
                <a:latin typeface="Tahoma"/>
                <a:cs typeface="Tahoma"/>
              </a:rPr>
              <a:t>o</a:t>
            </a:r>
            <a:r>
              <a:rPr sz="1000" spc="-25" dirty="0">
                <a:latin typeface="Tahoma"/>
                <a:cs typeface="Tahoma"/>
              </a:rPr>
              <a:t>r</a:t>
            </a:r>
            <a:r>
              <a:rPr sz="1000" spc="20" dirty="0">
                <a:latin typeface="Tahoma"/>
                <a:cs typeface="Tahoma"/>
              </a:rPr>
              <a:t> </a:t>
            </a:r>
            <a:r>
              <a:rPr sz="1000" spc="-45" dirty="0">
                <a:latin typeface="Tahoma"/>
                <a:cs typeface="Tahoma"/>
              </a:rPr>
              <a:t>any</a:t>
            </a:r>
            <a:r>
              <a:rPr sz="1000" spc="15" dirty="0">
                <a:latin typeface="Tahoma"/>
                <a:cs typeface="Tahoma"/>
              </a:rPr>
              <a:t> </a:t>
            </a:r>
            <a:r>
              <a:rPr sz="1000" i="1" spc="-70" dirty="0">
                <a:latin typeface="Arial"/>
                <a:cs typeface="Arial"/>
              </a:rPr>
              <a:t>a</a:t>
            </a:r>
            <a:r>
              <a:rPr sz="1000" spc="-30" dirty="0">
                <a:latin typeface="Tahoma"/>
                <a:cs typeface="Tahoma"/>
              </a:rPr>
              <a:t>,</a:t>
            </a:r>
            <a:r>
              <a:rPr sz="1000" spc="20" dirty="0">
                <a:latin typeface="Tahoma"/>
                <a:cs typeface="Tahoma"/>
              </a:rPr>
              <a:t> </a:t>
            </a:r>
            <a:r>
              <a:rPr sz="1000" spc="-35" dirty="0">
                <a:latin typeface="Tahoma"/>
                <a:cs typeface="Tahoma"/>
              </a:rPr>
              <a:t>from</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spc="-145" dirty="0">
                <a:latin typeface="Arial"/>
                <a:cs typeface="Arial"/>
              </a:rPr>
              <a:t> </a:t>
            </a:r>
            <a:r>
              <a:rPr sz="1000" spc="-30" dirty="0">
                <a:latin typeface="Tahoma"/>
                <a:cs typeface="Tahoma"/>
              </a:rPr>
              <a:t>,</a:t>
            </a:r>
            <a:r>
              <a:rPr sz="1000" spc="20" dirty="0">
                <a:latin typeface="Tahoma"/>
                <a:cs typeface="Tahoma"/>
              </a:rPr>
              <a:t> </a:t>
            </a:r>
            <a:r>
              <a:rPr sz="1000" spc="15" dirty="0">
                <a:latin typeface="Tahoma"/>
                <a:cs typeface="Tahoma"/>
              </a:rPr>
              <a:t>it</a:t>
            </a:r>
            <a:r>
              <a:rPr sz="1000" spc="20" dirty="0">
                <a:latin typeface="Tahoma"/>
                <a:cs typeface="Tahoma"/>
              </a:rPr>
              <a:t> </a:t>
            </a:r>
            <a:r>
              <a:rPr sz="1000" spc="-20" dirty="0">
                <a:latin typeface="Tahoma"/>
                <a:cs typeface="Tahoma"/>
              </a:rPr>
              <a:t>foll</a:t>
            </a:r>
            <a:r>
              <a:rPr sz="1000" spc="-60" dirty="0">
                <a:latin typeface="Tahoma"/>
                <a:cs typeface="Tahoma"/>
              </a:rPr>
              <a:t>o</a:t>
            </a:r>
            <a:r>
              <a:rPr sz="1000" spc="-65" dirty="0">
                <a:latin typeface="Tahoma"/>
                <a:cs typeface="Tahoma"/>
              </a:rPr>
              <a:t>ws</a:t>
            </a:r>
            <a:r>
              <a:rPr sz="1000" spc="15" dirty="0">
                <a:latin typeface="Tahoma"/>
                <a:cs typeface="Tahoma"/>
              </a:rPr>
              <a:t> </a:t>
            </a:r>
            <a:r>
              <a:rPr sz="1000" spc="-10" dirty="0">
                <a:latin typeface="Tahoma"/>
                <a:cs typeface="Tahoma"/>
              </a:rPr>
              <a:t>that</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Y</a:t>
            </a:r>
            <a:r>
              <a:rPr sz="1000" i="1" spc="-110" dirty="0">
                <a:latin typeface="Arial"/>
                <a:cs typeface="Arial"/>
              </a:rPr>
              <a:t> </a:t>
            </a:r>
            <a:r>
              <a:rPr sz="1000" spc="-30" dirty="0">
                <a:latin typeface="Tahoma"/>
                <a:cs typeface="Tahoma"/>
              </a:rPr>
              <a:t>.</a:t>
            </a:r>
            <a:r>
              <a:rPr sz="1000" spc="130" dirty="0">
                <a:latin typeface="Tahoma"/>
                <a:cs typeface="Tahoma"/>
              </a:rPr>
              <a:t> </a:t>
            </a:r>
            <a:r>
              <a:rPr sz="1000" spc="-10" dirty="0">
                <a:latin typeface="Tahoma"/>
                <a:cs typeface="Tahoma"/>
              </a:rPr>
              <a:t>Also</a:t>
            </a:r>
            <a:r>
              <a:rPr sz="1000" spc="20" dirty="0">
                <a:latin typeface="Tahoma"/>
                <a:cs typeface="Tahoma"/>
              </a:rPr>
              <a:t> </a:t>
            </a:r>
            <a:r>
              <a:rPr sz="1000" spc="-95" dirty="0">
                <a:latin typeface="Tahoma"/>
                <a:cs typeface="Tahoma"/>
              </a:rPr>
              <a:t>w</a:t>
            </a:r>
            <a:r>
              <a:rPr sz="1000" spc="-5" dirty="0">
                <a:latin typeface="Tahoma"/>
                <a:cs typeface="Tahoma"/>
              </a:rPr>
              <a:t>e’ll</a:t>
            </a:r>
            <a:endParaRPr sz="1000">
              <a:latin typeface="Tahoma"/>
              <a:cs typeface="Tahoma"/>
            </a:endParaRPr>
          </a:p>
        </p:txBody>
      </p:sp>
      <p:sp>
        <p:nvSpPr>
          <p:cNvPr id="38" name="object 38"/>
          <p:cNvSpPr txBox="1"/>
          <p:nvPr/>
        </p:nvSpPr>
        <p:spPr>
          <a:xfrm>
            <a:off x="749363" y="1599722"/>
            <a:ext cx="3584575" cy="329565"/>
          </a:xfrm>
          <a:prstGeom prst="rect">
            <a:avLst/>
          </a:prstGeom>
        </p:spPr>
        <p:txBody>
          <a:bodyPr vert="horz" wrap="square" lIns="0" tIns="12065" rIns="0" bIns="0" rtlCol="0">
            <a:spAutoFit/>
          </a:bodyPr>
          <a:lstStyle/>
          <a:p>
            <a:pPr>
              <a:lnSpc>
                <a:spcPts val="1200"/>
              </a:lnSpc>
              <a:spcBef>
                <a:spcPts val="95"/>
              </a:spcBef>
            </a:pPr>
            <a:r>
              <a:rPr sz="1000" spc="-30" dirty="0">
                <a:latin typeface="Tahoma"/>
                <a:cs typeface="Tahoma"/>
              </a:rPr>
              <a:t>introduce</a:t>
            </a:r>
            <a:r>
              <a:rPr sz="1000" spc="20" dirty="0">
                <a:latin typeface="Tahoma"/>
                <a:cs typeface="Tahoma"/>
              </a:rPr>
              <a:t> </a:t>
            </a:r>
            <a:r>
              <a:rPr sz="1000" spc="-50" dirty="0">
                <a:latin typeface="Tahoma"/>
                <a:cs typeface="Tahoma"/>
              </a:rPr>
              <a:t>a</a:t>
            </a:r>
            <a:r>
              <a:rPr sz="1000" spc="20" dirty="0">
                <a:latin typeface="Tahoma"/>
                <a:cs typeface="Tahoma"/>
              </a:rPr>
              <a:t> </a:t>
            </a:r>
            <a:r>
              <a:rPr sz="1000" spc="-35" dirty="0">
                <a:latin typeface="Tahoma"/>
                <a:cs typeface="Tahoma"/>
              </a:rPr>
              <a:t>designation</a:t>
            </a:r>
            <a:r>
              <a:rPr sz="1000" spc="20" dirty="0">
                <a:latin typeface="Tahoma"/>
                <a:cs typeface="Tahoma"/>
              </a:rPr>
              <a:t> </a:t>
            </a:r>
            <a:r>
              <a:rPr sz="1000" spc="-40" dirty="0">
                <a:latin typeface="Tahoma"/>
                <a:cs typeface="Tahoma"/>
              </a:rPr>
              <a:t>for</a:t>
            </a:r>
            <a:r>
              <a:rPr sz="1000" spc="25" dirty="0">
                <a:latin typeface="Tahoma"/>
                <a:cs typeface="Tahoma"/>
              </a:rPr>
              <a:t> </a:t>
            </a:r>
            <a:r>
              <a:rPr sz="1000" spc="-35" dirty="0">
                <a:latin typeface="Tahoma"/>
                <a:cs typeface="Tahoma"/>
              </a:rPr>
              <a:t>the</a:t>
            </a:r>
            <a:r>
              <a:rPr sz="1000" spc="20" dirty="0">
                <a:latin typeface="Tahoma"/>
                <a:cs typeface="Tahoma"/>
              </a:rPr>
              <a:t> </a:t>
            </a:r>
            <a:r>
              <a:rPr sz="1000" spc="-10" dirty="0">
                <a:latin typeface="Tahoma"/>
                <a:cs typeface="Tahoma"/>
              </a:rPr>
              <a:t>strict</a:t>
            </a:r>
            <a:r>
              <a:rPr sz="1000" spc="20" dirty="0">
                <a:latin typeface="Tahoma"/>
                <a:cs typeface="Tahoma"/>
              </a:rPr>
              <a:t> </a:t>
            </a:r>
            <a:r>
              <a:rPr sz="1000" spc="-35" dirty="0">
                <a:latin typeface="Tahoma"/>
                <a:cs typeface="Tahoma"/>
              </a:rPr>
              <a:t>inclusion:</a:t>
            </a:r>
            <a:r>
              <a:rPr sz="1000" spc="120" dirty="0">
                <a:latin typeface="Tahoma"/>
                <a:cs typeface="Tahoma"/>
              </a:rPr>
              <a:t> </a:t>
            </a:r>
            <a:r>
              <a:rPr sz="1000" i="1" spc="-5" dirty="0">
                <a:latin typeface="Arial"/>
                <a:cs typeface="Arial"/>
              </a:rPr>
              <a:t>X</a:t>
            </a:r>
            <a:r>
              <a:rPr sz="1000" i="1" spc="135" dirty="0">
                <a:latin typeface="Arial"/>
                <a:cs typeface="Arial"/>
              </a:rPr>
              <a:t> </a:t>
            </a:r>
            <a:r>
              <a:rPr sz="1000" spc="-25" dirty="0">
                <a:latin typeface="Lucida Sans Unicode"/>
                <a:cs typeface="Lucida Sans Unicode"/>
              </a:rPr>
              <a:t>⊂</a:t>
            </a:r>
            <a:r>
              <a:rPr sz="1000" spc="-35" dirty="0">
                <a:latin typeface="Lucida Sans Unicode"/>
                <a:cs typeface="Lucida Sans Unicode"/>
              </a:rPr>
              <a:t> </a:t>
            </a:r>
            <a:r>
              <a:rPr sz="1000" i="1" spc="-5" dirty="0">
                <a:latin typeface="Arial"/>
                <a:cs typeface="Arial"/>
              </a:rPr>
              <a:t>Y</a:t>
            </a:r>
            <a:r>
              <a:rPr sz="1000" i="1" spc="225" dirty="0">
                <a:latin typeface="Arial"/>
                <a:cs typeface="Arial"/>
              </a:rPr>
              <a:t> </a:t>
            </a:r>
            <a:r>
              <a:rPr sz="1000" spc="-55" dirty="0">
                <a:latin typeface="Tahoma"/>
                <a:cs typeface="Tahoma"/>
              </a:rPr>
              <a:t>means,</a:t>
            </a:r>
            <a:r>
              <a:rPr sz="1000" spc="15" dirty="0">
                <a:latin typeface="Tahoma"/>
                <a:cs typeface="Tahoma"/>
              </a:rPr>
              <a:t> </a:t>
            </a:r>
            <a:r>
              <a:rPr sz="1000" spc="-10" dirty="0">
                <a:latin typeface="Tahoma"/>
                <a:cs typeface="Tahoma"/>
              </a:rPr>
              <a:t>that</a:t>
            </a:r>
            <a:endParaRPr sz="1000">
              <a:latin typeface="Tahoma"/>
              <a:cs typeface="Tahoma"/>
            </a:endParaRPr>
          </a:p>
          <a:p>
            <a:pPr>
              <a:lnSpc>
                <a:spcPts val="1200"/>
              </a:lnSpc>
            </a:pPr>
            <a:r>
              <a:rPr sz="1000" i="1" spc="-5" dirty="0">
                <a:latin typeface="Arial"/>
                <a:cs typeface="Arial"/>
              </a:rPr>
              <a:t>X</a:t>
            </a:r>
            <a:r>
              <a:rPr sz="1000" i="1" spc="130" dirty="0">
                <a:latin typeface="Arial"/>
                <a:cs typeface="Arial"/>
              </a:rPr>
              <a:t> </a:t>
            </a:r>
            <a:r>
              <a:rPr sz="1000" spc="-25" dirty="0">
                <a:latin typeface="Lucida Sans Unicode"/>
                <a:cs typeface="Lucida Sans Unicode"/>
              </a:rPr>
              <a:t>⊆</a:t>
            </a:r>
            <a:r>
              <a:rPr sz="1000" spc="-40" dirty="0">
                <a:latin typeface="Lucida Sans Unicode"/>
                <a:cs typeface="Lucida Sans Unicode"/>
              </a:rPr>
              <a:t> </a:t>
            </a:r>
            <a:r>
              <a:rPr sz="1000" i="1" spc="-5" dirty="0">
                <a:latin typeface="Arial"/>
                <a:cs typeface="Arial"/>
              </a:rPr>
              <a:t>Y</a:t>
            </a:r>
            <a:r>
              <a:rPr sz="1000" i="1" dirty="0">
                <a:latin typeface="Arial"/>
                <a:cs typeface="Arial"/>
              </a:rPr>
              <a:t> </a:t>
            </a:r>
            <a:r>
              <a:rPr sz="1000" i="1" spc="-55" dirty="0">
                <a:latin typeface="Arial"/>
                <a:cs typeface="Arial"/>
              </a:rPr>
              <a:t> </a:t>
            </a:r>
            <a:r>
              <a:rPr sz="1000" spc="-45" dirty="0">
                <a:latin typeface="Tahoma"/>
                <a:cs typeface="Tahoma"/>
              </a:rPr>
              <a:t>and</a:t>
            </a:r>
            <a:r>
              <a:rPr sz="1000" spc="20" dirty="0">
                <a:latin typeface="Tahoma"/>
                <a:cs typeface="Tahoma"/>
              </a:rPr>
              <a:t> </a:t>
            </a:r>
            <a:r>
              <a:rPr sz="1000" i="1" spc="-5" dirty="0">
                <a:latin typeface="Arial"/>
                <a:cs typeface="Arial"/>
              </a:rPr>
              <a:t>X</a:t>
            </a:r>
            <a:r>
              <a:rPr sz="1000" i="1" spc="130" dirty="0">
                <a:latin typeface="Arial"/>
                <a:cs typeface="Arial"/>
              </a:rPr>
              <a:t> </a:t>
            </a:r>
            <a:r>
              <a:rPr sz="1000" dirty="0">
                <a:latin typeface="Lucida Sans Unicode"/>
                <a:cs typeface="Lucida Sans Unicode"/>
              </a:rPr>
              <a:t≯</a:t>
            </a:r>
            <a:r>
              <a:rPr sz="1000" spc="45" dirty="0">
                <a:latin typeface="Tahoma"/>
                <a:cs typeface="Tahoma"/>
              </a:rPr>
              <a:t>=</a:t>
            </a:r>
            <a:r>
              <a:rPr sz="1000" spc="-35" dirty="0">
                <a:latin typeface="Tahoma"/>
                <a:cs typeface="Tahoma"/>
              </a:rPr>
              <a:t> </a:t>
            </a:r>
            <a:r>
              <a:rPr sz="1000" i="1" spc="-5" dirty="0">
                <a:latin typeface="Arial"/>
                <a:cs typeface="Arial"/>
              </a:rPr>
              <a:t>Y</a:t>
            </a:r>
            <a:r>
              <a:rPr sz="1000" i="1" spc="-110" dirty="0">
                <a:latin typeface="Arial"/>
                <a:cs typeface="Arial"/>
              </a:rPr>
              <a:t> </a:t>
            </a:r>
            <a:r>
              <a:rPr sz="1000" spc="-30" dirty="0">
                <a:latin typeface="Tahoma"/>
                <a:cs typeface="Tahoma"/>
              </a:rPr>
              <a:t>.</a:t>
            </a:r>
            <a:endParaRPr sz="1000">
              <a:latin typeface="Tahoma"/>
              <a:cs typeface="Tahoma"/>
            </a:endParaRPr>
          </a:p>
        </p:txBody>
      </p:sp>
      <p:sp>
        <p:nvSpPr>
          <p:cNvPr id="39" name="object 39"/>
          <p:cNvSpPr/>
          <p:nvPr/>
        </p:nvSpPr>
        <p:spPr>
          <a:xfrm>
            <a:off x="698562" y="2111730"/>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0" name="object 40"/>
          <p:cNvSpPr txBox="1"/>
          <p:nvPr/>
        </p:nvSpPr>
        <p:spPr>
          <a:xfrm>
            <a:off x="749363" y="2141656"/>
            <a:ext cx="401320" cy="128270"/>
          </a:xfrm>
          <a:prstGeom prst="rect">
            <a:avLst/>
          </a:prstGeom>
        </p:spPr>
        <p:txBody>
          <a:bodyPr vert="horz" wrap="square" lIns="0" tIns="0" rIns="0" bIns="0" rtlCol="0">
            <a:spAutoFit/>
          </a:bodyPr>
          <a:lstStyle/>
          <a:p>
            <a:pPr>
              <a:lnSpc>
                <a:spcPts val="955"/>
              </a:lnSpc>
            </a:pPr>
            <a:r>
              <a:rPr sz="1000" spc="-45" dirty="0">
                <a:solidFill>
                  <a:srgbClr val="FFFFFF"/>
                </a:solidFill>
                <a:latin typeface="Tahoma"/>
                <a:cs typeface="Tahoma"/>
              </a:rPr>
              <a:t>Rem</a:t>
            </a:r>
            <a:r>
              <a:rPr sz="1000" spc="-65" dirty="0">
                <a:solidFill>
                  <a:srgbClr val="FFFFFF"/>
                </a:solidFill>
                <a:latin typeface="Tahoma"/>
                <a:cs typeface="Tahoma"/>
              </a:rPr>
              <a:t>a</a:t>
            </a:r>
            <a:r>
              <a:rPr sz="1000" spc="-20" dirty="0">
                <a:solidFill>
                  <a:srgbClr val="FFFFFF"/>
                </a:solidFill>
                <a:latin typeface="Tahoma"/>
                <a:cs typeface="Tahoma"/>
              </a:rPr>
              <a:t>rk</a:t>
            </a:r>
            <a:endParaRPr sz="1000">
              <a:latin typeface="Tahoma"/>
              <a:cs typeface="Tahoma"/>
            </a:endParaRPr>
          </a:p>
        </p:txBody>
      </p:sp>
      <p:grpSp>
        <p:nvGrpSpPr>
          <p:cNvPr id="41" name="object 41"/>
          <p:cNvGrpSpPr/>
          <p:nvPr/>
        </p:nvGrpSpPr>
        <p:grpSpPr>
          <a:xfrm>
            <a:off x="698562" y="2168661"/>
            <a:ext cx="3831590" cy="522605"/>
            <a:chOff x="698562" y="2168661"/>
            <a:chExt cx="3831590" cy="522605"/>
          </a:xfrm>
        </p:grpSpPr>
        <p:pic>
          <p:nvPicPr>
            <p:cNvPr id="42" name="object 42"/>
            <p:cNvPicPr/>
            <p:nvPr/>
          </p:nvPicPr>
          <p:blipFill>
            <a:blip r:embed="rId7" cstate="print"/>
            <a:stretch>
              <a:fillRect/>
            </a:stretch>
          </p:blipFill>
          <p:spPr>
            <a:xfrm>
              <a:off x="698563" y="2269324"/>
              <a:ext cx="3780284" cy="50609"/>
            </a:xfrm>
            <a:prstGeom prst="rect">
              <a:avLst/>
            </a:prstGeom>
          </p:spPr>
        </p:pic>
        <p:sp>
          <p:nvSpPr>
            <p:cNvPr id="43" name="object 43"/>
            <p:cNvSpPr/>
            <p:nvPr/>
          </p:nvSpPr>
          <p:spPr>
            <a:xfrm>
              <a:off x="749363" y="2168661"/>
              <a:ext cx="3780790" cy="522605"/>
            </a:xfrm>
            <a:custGeom>
              <a:avLst/>
              <a:gdLst/>
              <a:ahLst/>
              <a:cxnLst/>
              <a:rect l="l" t="t" r="r" b="b"/>
              <a:pathLst>
                <a:path w="3780790" h="522605">
                  <a:moveTo>
                    <a:pt x="3780285" y="0"/>
                  </a:moveTo>
                  <a:lnTo>
                    <a:pt x="0" y="0"/>
                  </a:lnTo>
                  <a:lnTo>
                    <a:pt x="0" y="522381"/>
                  </a:lnTo>
                  <a:lnTo>
                    <a:pt x="3780285" y="522381"/>
                  </a:lnTo>
                  <a:lnTo>
                    <a:pt x="3780285" y="0"/>
                  </a:lnTo>
                  <a:close/>
                </a:path>
              </a:pathLst>
            </a:custGeom>
            <a:solidFill>
              <a:srgbClr val="000000"/>
            </a:solidFill>
          </p:spPr>
          <p:txBody>
            <a:bodyPr wrap="square" lIns="0" tIns="0" rIns="0" bIns="0" rtlCol="0"/>
            <a:lstStyle/>
            <a:p>
              <a:endParaRPr/>
            </a:p>
          </p:txBody>
        </p:sp>
        <p:sp>
          <p:nvSpPr>
            <p:cNvPr id="44" name="object 44"/>
            <p:cNvSpPr/>
            <p:nvPr/>
          </p:nvSpPr>
          <p:spPr>
            <a:xfrm>
              <a:off x="698562" y="2313606"/>
              <a:ext cx="3780790" cy="327025"/>
            </a:xfrm>
            <a:custGeom>
              <a:avLst/>
              <a:gdLst/>
              <a:ahLst/>
              <a:cxnLst/>
              <a:rect l="l" t="t" r="r" b="b"/>
              <a:pathLst>
                <a:path w="3780790" h="327025">
                  <a:moveTo>
                    <a:pt x="3780285" y="0"/>
                  </a:moveTo>
                  <a:lnTo>
                    <a:pt x="0" y="0"/>
                  </a:lnTo>
                  <a:lnTo>
                    <a:pt x="0" y="275834"/>
                  </a:lnTo>
                  <a:lnTo>
                    <a:pt x="4008" y="295559"/>
                  </a:lnTo>
                  <a:lnTo>
                    <a:pt x="14922" y="311712"/>
                  </a:lnTo>
                  <a:lnTo>
                    <a:pt x="31075" y="322626"/>
                  </a:lnTo>
                  <a:lnTo>
                    <a:pt x="50800" y="326634"/>
                  </a:lnTo>
                  <a:lnTo>
                    <a:pt x="3729484" y="326634"/>
                  </a:lnTo>
                  <a:lnTo>
                    <a:pt x="3749209" y="322626"/>
                  </a:lnTo>
                  <a:lnTo>
                    <a:pt x="3765362" y="311712"/>
                  </a:lnTo>
                  <a:lnTo>
                    <a:pt x="3776276" y="295559"/>
                  </a:lnTo>
                  <a:lnTo>
                    <a:pt x="3780285" y="275834"/>
                  </a:lnTo>
                  <a:lnTo>
                    <a:pt x="3780285" y="0"/>
                  </a:lnTo>
                  <a:close/>
                </a:path>
              </a:pathLst>
            </a:custGeom>
            <a:solidFill>
              <a:srgbClr val="E9E9F2"/>
            </a:solidFill>
          </p:spPr>
          <p:txBody>
            <a:bodyPr wrap="square" lIns="0" tIns="0" rIns="0" bIns="0" rtlCol="0"/>
            <a:lstStyle/>
            <a:p>
              <a:endParaRPr/>
            </a:p>
          </p:txBody>
        </p:sp>
      </p:grpSp>
      <p:sp>
        <p:nvSpPr>
          <p:cNvPr id="45" name="object 45"/>
          <p:cNvSpPr txBox="1"/>
          <p:nvPr/>
        </p:nvSpPr>
        <p:spPr>
          <a:xfrm>
            <a:off x="698563" y="2168661"/>
            <a:ext cx="3831590" cy="522605"/>
          </a:xfrm>
          <a:prstGeom prst="rect">
            <a:avLst/>
          </a:prstGeom>
        </p:spPr>
        <p:txBody>
          <a:bodyPr vert="horz" wrap="square" lIns="0" tIns="130810" rIns="0" bIns="0" rtlCol="0">
            <a:spAutoFit/>
          </a:bodyPr>
          <a:lstStyle/>
          <a:p>
            <a:pPr marL="50800" marR="137795">
              <a:lnSpc>
                <a:spcPct val="100000"/>
              </a:lnSpc>
              <a:spcBef>
                <a:spcPts val="1030"/>
              </a:spcBef>
            </a:pPr>
            <a:r>
              <a:rPr sz="1000" spc="-20" dirty="0">
                <a:latin typeface="Tahoma"/>
                <a:cs typeface="Tahoma"/>
              </a:rPr>
              <a:t>It’s</a:t>
            </a:r>
            <a:r>
              <a:rPr sz="1000" spc="20" dirty="0">
                <a:latin typeface="Tahoma"/>
                <a:cs typeface="Tahoma"/>
              </a:rPr>
              <a:t> </a:t>
            </a:r>
            <a:r>
              <a:rPr sz="1000" spc="-60" dirty="0">
                <a:latin typeface="Tahoma"/>
                <a:cs typeface="Tahoma"/>
              </a:rPr>
              <a:t>easy</a:t>
            </a:r>
            <a:r>
              <a:rPr sz="1000" spc="20" dirty="0">
                <a:latin typeface="Tahoma"/>
                <a:cs typeface="Tahoma"/>
              </a:rPr>
              <a:t> </a:t>
            </a:r>
            <a:r>
              <a:rPr sz="1000" spc="-10" dirty="0">
                <a:latin typeface="Tahoma"/>
                <a:cs typeface="Tahoma"/>
              </a:rPr>
              <a:t>to</a:t>
            </a:r>
            <a:r>
              <a:rPr sz="1000" spc="15" dirty="0">
                <a:latin typeface="Tahoma"/>
                <a:cs typeface="Tahoma"/>
              </a:rPr>
              <a:t> </a:t>
            </a:r>
            <a:r>
              <a:rPr sz="1000" spc="-65" dirty="0">
                <a:latin typeface="Tahoma"/>
                <a:cs typeface="Tahoma"/>
              </a:rPr>
              <a:t>see,</a:t>
            </a:r>
            <a:r>
              <a:rPr sz="1000" spc="20" dirty="0">
                <a:latin typeface="Tahoma"/>
                <a:cs typeface="Tahoma"/>
              </a:rPr>
              <a:t> </a:t>
            </a:r>
            <a:r>
              <a:rPr sz="1000" spc="-15" dirty="0">
                <a:latin typeface="Tahoma"/>
                <a:cs typeface="Tahoma"/>
              </a:rPr>
              <a:t>that</a:t>
            </a:r>
            <a:r>
              <a:rPr sz="1000" spc="20" dirty="0">
                <a:latin typeface="Tahoma"/>
                <a:cs typeface="Tahoma"/>
              </a:rPr>
              <a:t> </a:t>
            </a:r>
            <a:r>
              <a:rPr sz="1000" spc="-40" dirty="0">
                <a:latin typeface="Tahoma"/>
                <a:cs typeface="Tahoma"/>
              </a:rPr>
              <a:t>for</a:t>
            </a:r>
            <a:r>
              <a:rPr sz="1000" spc="20" dirty="0">
                <a:latin typeface="Tahoma"/>
                <a:cs typeface="Tahoma"/>
              </a:rPr>
              <a:t> </a:t>
            </a:r>
            <a:r>
              <a:rPr sz="1000" spc="-45" dirty="0">
                <a:latin typeface="Tahoma"/>
                <a:cs typeface="Tahoma"/>
              </a:rPr>
              <a:t>any</a:t>
            </a:r>
            <a:r>
              <a:rPr sz="1000" spc="20" dirty="0">
                <a:latin typeface="Tahoma"/>
                <a:cs typeface="Tahoma"/>
              </a:rPr>
              <a:t> </a:t>
            </a:r>
            <a:r>
              <a:rPr sz="1000" spc="-50" dirty="0">
                <a:latin typeface="Tahoma"/>
                <a:cs typeface="Tahoma"/>
              </a:rPr>
              <a:t>two</a:t>
            </a:r>
            <a:r>
              <a:rPr sz="1000" spc="15" dirty="0">
                <a:latin typeface="Tahoma"/>
                <a:cs typeface="Tahoma"/>
              </a:rPr>
              <a:t> </a:t>
            </a:r>
            <a:r>
              <a:rPr sz="1000" spc="-50" dirty="0">
                <a:latin typeface="Tahoma"/>
                <a:cs typeface="Tahoma"/>
              </a:rPr>
              <a:t>sets</a:t>
            </a:r>
            <a:r>
              <a:rPr sz="1000" spc="15" dirty="0">
                <a:latin typeface="Tahoma"/>
                <a:cs typeface="Tahoma"/>
              </a:rPr>
              <a:t> </a:t>
            </a:r>
            <a:r>
              <a:rPr sz="1000" i="1" spc="-5" dirty="0">
                <a:latin typeface="Arial"/>
                <a:cs typeface="Arial"/>
              </a:rPr>
              <a:t>X</a:t>
            </a:r>
            <a:r>
              <a:rPr sz="1000" i="1" spc="190" dirty="0">
                <a:latin typeface="Arial"/>
                <a:cs typeface="Arial"/>
              </a:rPr>
              <a:t> </a:t>
            </a:r>
            <a:r>
              <a:rPr sz="1000" spc="-45" dirty="0">
                <a:latin typeface="Tahoma"/>
                <a:cs typeface="Tahoma"/>
              </a:rPr>
              <a:t>and</a:t>
            </a:r>
            <a:r>
              <a:rPr sz="1000" spc="20" dirty="0">
                <a:latin typeface="Tahoma"/>
                <a:cs typeface="Tahoma"/>
              </a:rPr>
              <a:t> </a:t>
            </a:r>
            <a:r>
              <a:rPr sz="1000" i="1" spc="-5" dirty="0">
                <a:latin typeface="Arial"/>
                <a:cs typeface="Arial"/>
              </a:rPr>
              <a:t>Y</a:t>
            </a:r>
            <a:r>
              <a:rPr sz="1000" i="1" spc="225" dirty="0">
                <a:latin typeface="Arial"/>
                <a:cs typeface="Arial"/>
              </a:rPr>
              <a:t> </a:t>
            </a:r>
            <a:r>
              <a:rPr sz="1000" spc="-90" dirty="0">
                <a:latin typeface="Tahoma"/>
                <a:cs typeface="Tahoma"/>
              </a:rPr>
              <a:t>we</a:t>
            </a:r>
            <a:r>
              <a:rPr sz="1000" spc="20" dirty="0">
                <a:latin typeface="Tahoma"/>
                <a:cs typeface="Tahoma"/>
              </a:rPr>
              <a:t> </a:t>
            </a:r>
            <a:r>
              <a:rPr sz="1000" spc="-55" dirty="0">
                <a:latin typeface="Tahoma"/>
                <a:cs typeface="Tahoma"/>
              </a:rPr>
              <a:t>have</a:t>
            </a:r>
            <a:r>
              <a:rPr sz="1000" spc="15" dirty="0">
                <a:latin typeface="Tahoma"/>
                <a:cs typeface="Tahoma"/>
              </a:rPr>
              <a:t> </a:t>
            </a: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i="1" spc="-5" dirty="0">
                <a:latin typeface="Arial"/>
                <a:cs typeface="Arial"/>
              </a:rPr>
              <a:t>Y</a:t>
            </a:r>
            <a:r>
              <a:rPr sz="1000" i="1" spc="225" dirty="0">
                <a:latin typeface="Arial"/>
                <a:cs typeface="Arial"/>
              </a:rPr>
              <a:t> </a:t>
            </a:r>
            <a:r>
              <a:rPr sz="1000" spc="-20" dirty="0">
                <a:latin typeface="Tahoma"/>
                <a:cs typeface="Tahoma"/>
              </a:rPr>
              <a:t>iff</a:t>
            </a:r>
            <a:r>
              <a:rPr sz="1000" spc="20" dirty="0">
                <a:latin typeface="Tahoma"/>
                <a:cs typeface="Tahoma"/>
              </a:rPr>
              <a:t> </a:t>
            </a:r>
            <a:r>
              <a:rPr sz="1000" spc="15" dirty="0">
                <a:latin typeface="Tahoma"/>
                <a:cs typeface="Tahoma"/>
              </a:rPr>
              <a:t>it </a:t>
            </a:r>
            <a:r>
              <a:rPr sz="1000" spc="-300" dirty="0">
                <a:latin typeface="Tahoma"/>
                <a:cs typeface="Tahoma"/>
              </a:rPr>
              <a:t> </a:t>
            </a:r>
            <a:r>
              <a:rPr sz="1000" spc="-40" dirty="0">
                <a:latin typeface="Tahoma"/>
                <a:cs typeface="Tahoma"/>
              </a:rPr>
              <a:t>holds</a:t>
            </a:r>
            <a:r>
              <a:rPr sz="1000" spc="10" dirty="0">
                <a:latin typeface="Tahoma"/>
                <a:cs typeface="Tahoma"/>
              </a:rPr>
              <a:t> </a:t>
            </a:r>
            <a:r>
              <a:rPr sz="1000" i="1" spc="-5" dirty="0">
                <a:latin typeface="Arial"/>
                <a:cs typeface="Arial"/>
              </a:rPr>
              <a:t>X</a:t>
            </a:r>
            <a:r>
              <a:rPr sz="1000" i="1" spc="130" dirty="0">
                <a:latin typeface="Arial"/>
                <a:cs typeface="Arial"/>
              </a:rPr>
              <a:t> </a:t>
            </a:r>
            <a:r>
              <a:rPr sz="1000" spc="-25" dirty="0">
                <a:latin typeface="Lucida Sans Unicode"/>
                <a:cs typeface="Lucida Sans Unicode"/>
              </a:rPr>
              <a:t>⊆</a:t>
            </a:r>
            <a:r>
              <a:rPr sz="1000" spc="-40" dirty="0">
                <a:latin typeface="Lucida Sans Unicode"/>
                <a:cs typeface="Lucida Sans Unicode"/>
              </a:rPr>
              <a:t> </a:t>
            </a:r>
            <a:r>
              <a:rPr sz="1000" i="1" spc="-5" dirty="0">
                <a:latin typeface="Arial"/>
                <a:cs typeface="Arial"/>
              </a:rPr>
              <a:t>Y</a:t>
            </a:r>
            <a:r>
              <a:rPr sz="1000" i="1" spc="220" dirty="0">
                <a:latin typeface="Arial"/>
                <a:cs typeface="Arial"/>
              </a:rPr>
              <a:t> </a:t>
            </a:r>
            <a:r>
              <a:rPr sz="1000" spc="-45" dirty="0">
                <a:latin typeface="Tahoma"/>
                <a:cs typeface="Tahoma"/>
              </a:rPr>
              <a:t>and</a:t>
            </a:r>
            <a:r>
              <a:rPr sz="1000" spc="20" dirty="0">
                <a:latin typeface="Tahoma"/>
                <a:cs typeface="Tahoma"/>
              </a:rPr>
              <a:t> </a:t>
            </a:r>
            <a:r>
              <a:rPr sz="1000" i="1" spc="-5" dirty="0">
                <a:latin typeface="Arial"/>
                <a:cs typeface="Arial"/>
              </a:rPr>
              <a:t>Y</a:t>
            </a:r>
            <a:r>
              <a:rPr sz="1000" i="1" spc="165" dirty="0">
                <a:latin typeface="Arial"/>
                <a:cs typeface="Arial"/>
              </a:rPr>
              <a:t> </a:t>
            </a:r>
            <a:r>
              <a:rPr sz="1000" spc="-2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spc="-145" dirty="0">
                <a:latin typeface="Arial"/>
                <a:cs typeface="Arial"/>
              </a:rPr>
              <a:t> </a:t>
            </a:r>
            <a:r>
              <a:rPr sz="1000" spc="-30" dirty="0">
                <a:latin typeface="Tahoma"/>
                <a:cs typeface="Tahoma"/>
              </a:rPr>
              <a:t>.</a:t>
            </a:r>
            <a:endParaRPr sz="1000">
              <a:latin typeface="Tahoma"/>
              <a:cs typeface="Tahoma"/>
            </a:endParaRPr>
          </a:p>
        </p:txBody>
      </p:sp>
      <p:sp>
        <p:nvSpPr>
          <p:cNvPr id="46" name="object 46"/>
          <p:cNvSpPr/>
          <p:nvPr/>
        </p:nvSpPr>
        <p:spPr>
          <a:xfrm>
            <a:off x="698562" y="2792158"/>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7" name="object 47"/>
          <p:cNvSpPr txBox="1"/>
          <p:nvPr/>
        </p:nvSpPr>
        <p:spPr>
          <a:xfrm>
            <a:off x="749363" y="2822097"/>
            <a:ext cx="401320" cy="128270"/>
          </a:xfrm>
          <a:prstGeom prst="rect">
            <a:avLst/>
          </a:prstGeom>
        </p:spPr>
        <p:txBody>
          <a:bodyPr vert="horz" wrap="square" lIns="0" tIns="0" rIns="0" bIns="0" rtlCol="0">
            <a:spAutoFit/>
          </a:bodyPr>
          <a:lstStyle/>
          <a:p>
            <a:pPr>
              <a:lnSpc>
                <a:spcPts val="955"/>
              </a:lnSpc>
            </a:pPr>
            <a:r>
              <a:rPr sz="1000" spc="-45" dirty="0">
                <a:solidFill>
                  <a:srgbClr val="FFFFFF"/>
                </a:solidFill>
                <a:latin typeface="Tahoma"/>
                <a:cs typeface="Tahoma"/>
              </a:rPr>
              <a:t>Rem</a:t>
            </a:r>
            <a:r>
              <a:rPr sz="1000" spc="-65" dirty="0">
                <a:solidFill>
                  <a:srgbClr val="FFFFFF"/>
                </a:solidFill>
                <a:latin typeface="Tahoma"/>
                <a:cs typeface="Tahoma"/>
              </a:rPr>
              <a:t>a</a:t>
            </a:r>
            <a:r>
              <a:rPr sz="1000" spc="-20" dirty="0">
                <a:solidFill>
                  <a:srgbClr val="FFFFFF"/>
                </a:solidFill>
                <a:latin typeface="Tahoma"/>
                <a:cs typeface="Tahoma"/>
              </a:rPr>
              <a:t>rk</a:t>
            </a:r>
            <a:endParaRPr sz="1000">
              <a:latin typeface="Tahoma"/>
              <a:cs typeface="Tahoma"/>
            </a:endParaRPr>
          </a:p>
        </p:txBody>
      </p:sp>
      <p:grpSp>
        <p:nvGrpSpPr>
          <p:cNvPr id="48" name="object 48"/>
          <p:cNvGrpSpPr/>
          <p:nvPr/>
        </p:nvGrpSpPr>
        <p:grpSpPr>
          <a:xfrm>
            <a:off x="698562" y="2849092"/>
            <a:ext cx="3831590" cy="385445"/>
            <a:chOff x="698562" y="2849092"/>
            <a:chExt cx="3831590" cy="385445"/>
          </a:xfrm>
        </p:grpSpPr>
        <p:pic>
          <p:nvPicPr>
            <p:cNvPr id="49" name="object 49"/>
            <p:cNvPicPr/>
            <p:nvPr/>
          </p:nvPicPr>
          <p:blipFill>
            <a:blip r:embed="rId7" cstate="print"/>
            <a:stretch>
              <a:fillRect/>
            </a:stretch>
          </p:blipFill>
          <p:spPr>
            <a:xfrm>
              <a:off x="698563" y="2949765"/>
              <a:ext cx="3780284" cy="50609"/>
            </a:xfrm>
            <a:prstGeom prst="rect">
              <a:avLst/>
            </a:prstGeom>
          </p:spPr>
        </p:pic>
        <p:sp>
          <p:nvSpPr>
            <p:cNvPr id="50" name="object 50"/>
            <p:cNvSpPr/>
            <p:nvPr/>
          </p:nvSpPr>
          <p:spPr>
            <a:xfrm>
              <a:off x="749363" y="2849092"/>
              <a:ext cx="3780790" cy="385445"/>
            </a:xfrm>
            <a:custGeom>
              <a:avLst/>
              <a:gdLst/>
              <a:ahLst/>
              <a:cxnLst/>
              <a:rect l="l" t="t" r="r" b="b"/>
              <a:pathLst>
                <a:path w="3780790" h="385444">
                  <a:moveTo>
                    <a:pt x="3780285" y="0"/>
                  </a:moveTo>
                  <a:lnTo>
                    <a:pt x="0" y="0"/>
                  </a:lnTo>
                  <a:lnTo>
                    <a:pt x="0" y="384976"/>
                  </a:lnTo>
                  <a:lnTo>
                    <a:pt x="3780285" y="384976"/>
                  </a:lnTo>
                  <a:lnTo>
                    <a:pt x="3780285" y="0"/>
                  </a:lnTo>
                  <a:close/>
                </a:path>
              </a:pathLst>
            </a:custGeom>
            <a:solidFill>
              <a:srgbClr val="000000"/>
            </a:solidFill>
          </p:spPr>
          <p:txBody>
            <a:bodyPr wrap="square" lIns="0" tIns="0" rIns="0" bIns="0" rtlCol="0"/>
            <a:lstStyle/>
            <a:p>
              <a:endParaRPr/>
            </a:p>
          </p:txBody>
        </p:sp>
        <p:sp>
          <p:nvSpPr>
            <p:cNvPr id="51" name="object 51"/>
            <p:cNvSpPr/>
            <p:nvPr/>
          </p:nvSpPr>
          <p:spPr>
            <a:xfrm>
              <a:off x="698562" y="2994038"/>
              <a:ext cx="3780790" cy="189230"/>
            </a:xfrm>
            <a:custGeom>
              <a:avLst/>
              <a:gdLst/>
              <a:ahLst/>
              <a:cxnLst/>
              <a:rect l="l" t="t" r="r" b="b"/>
              <a:pathLst>
                <a:path w="3780790" h="189230">
                  <a:moveTo>
                    <a:pt x="3780285" y="0"/>
                  </a:moveTo>
                  <a:lnTo>
                    <a:pt x="0" y="0"/>
                  </a:lnTo>
                  <a:lnTo>
                    <a:pt x="0" y="138429"/>
                  </a:lnTo>
                  <a:lnTo>
                    <a:pt x="4008" y="158154"/>
                  </a:lnTo>
                  <a:lnTo>
                    <a:pt x="14922" y="174307"/>
                  </a:lnTo>
                  <a:lnTo>
                    <a:pt x="31075" y="185221"/>
                  </a:lnTo>
                  <a:lnTo>
                    <a:pt x="50800" y="189229"/>
                  </a:lnTo>
                  <a:lnTo>
                    <a:pt x="3729484" y="189229"/>
                  </a:lnTo>
                  <a:lnTo>
                    <a:pt x="3749209" y="185221"/>
                  </a:lnTo>
                  <a:lnTo>
                    <a:pt x="3765362" y="174307"/>
                  </a:lnTo>
                  <a:lnTo>
                    <a:pt x="3776276" y="158154"/>
                  </a:lnTo>
                  <a:lnTo>
                    <a:pt x="3780285" y="138429"/>
                  </a:lnTo>
                  <a:lnTo>
                    <a:pt x="3780285" y="0"/>
                  </a:lnTo>
                  <a:close/>
                </a:path>
              </a:pathLst>
            </a:custGeom>
            <a:solidFill>
              <a:srgbClr val="E9E9F2"/>
            </a:solidFill>
          </p:spPr>
          <p:txBody>
            <a:bodyPr wrap="square" lIns="0" tIns="0" rIns="0" bIns="0" rtlCol="0"/>
            <a:lstStyle/>
            <a:p>
              <a:endParaRPr/>
            </a:p>
          </p:txBody>
        </p:sp>
      </p:grpSp>
      <p:sp>
        <p:nvSpPr>
          <p:cNvPr id="52" name="object 52"/>
          <p:cNvSpPr txBox="1"/>
          <p:nvPr/>
        </p:nvSpPr>
        <p:spPr>
          <a:xfrm>
            <a:off x="698563" y="2849092"/>
            <a:ext cx="3831590" cy="385445"/>
          </a:xfrm>
          <a:prstGeom prst="rect">
            <a:avLst/>
          </a:prstGeom>
        </p:spPr>
        <p:txBody>
          <a:bodyPr vert="horz" wrap="square" lIns="0" tIns="137795" rIns="0" bIns="0" rtlCol="0">
            <a:spAutoFit/>
          </a:bodyPr>
          <a:lstStyle/>
          <a:p>
            <a:pPr marL="50800">
              <a:lnSpc>
                <a:spcPct val="100000"/>
              </a:lnSpc>
              <a:spcBef>
                <a:spcPts val="1085"/>
              </a:spcBef>
            </a:pPr>
            <a:r>
              <a:rPr sz="1000" spc="-20" dirty="0">
                <a:latin typeface="Tahoma"/>
                <a:cs typeface="Tahoma"/>
              </a:rPr>
              <a:t>Empty</a:t>
            </a:r>
            <a:r>
              <a:rPr sz="1000" spc="25" dirty="0">
                <a:latin typeface="Tahoma"/>
                <a:cs typeface="Tahoma"/>
              </a:rPr>
              <a:t> </a:t>
            </a:r>
            <a:r>
              <a:rPr sz="1000" spc="-45" dirty="0">
                <a:latin typeface="Tahoma"/>
                <a:cs typeface="Tahoma"/>
              </a:rPr>
              <a:t>set</a:t>
            </a:r>
            <a:r>
              <a:rPr sz="1000" spc="20" dirty="0">
                <a:latin typeface="Tahoma"/>
                <a:cs typeface="Tahoma"/>
              </a:rPr>
              <a:t> </a:t>
            </a:r>
            <a:r>
              <a:rPr sz="1000" spc="-30" dirty="0">
                <a:latin typeface="Tahoma"/>
                <a:cs typeface="Tahoma"/>
              </a:rPr>
              <a:t>is</a:t>
            </a:r>
            <a:r>
              <a:rPr sz="1000" spc="25" dirty="0">
                <a:latin typeface="Tahoma"/>
                <a:cs typeface="Tahoma"/>
              </a:rPr>
              <a:t> </a:t>
            </a:r>
            <a:r>
              <a:rPr sz="1000" spc="-35" dirty="0">
                <a:latin typeface="Tahoma"/>
                <a:cs typeface="Tahoma"/>
              </a:rPr>
              <a:t>contained</a:t>
            </a:r>
            <a:r>
              <a:rPr sz="1000" spc="25" dirty="0">
                <a:latin typeface="Tahoma"/>
                <a:cs typeface="Tahoma"/>
              </a:rPr>
              <a:t> </a:t>
            </a:r>
            <a:r>
              <a:rPr sz="1000" spc="-20" dirty="0">
                <a:latin typeface="Tahoma"/>
                <a:cs typeface="Tahoma"/>
              </a:rPr>
              <a:t>in</a:t>
            </a:r>
            <a:r>
              <a:rPr sz="1000" spc="25" dirty="0">
                <a:latin typeface="Tahoma"/>
                <a:cs typeface="Tahoma"/>
              </a:rPr>
              <a:t> </a:t>
            </a:r>
            <a:r>
              <a:rPr sz="1000" i="1" spc="-55" dirty="0">
                <a:latin typeface="Arial"/>
                <a:cs typeface="Arial"/>
              </a:rPr>
              <a:t>any</a:t>
            </a:r>
            <a:r>
              <a:rPr sz="1000" i="1" spc="55" dirty="0">
                <a:latin typeface="Arial"/>
                <a:cs typeface="Arial"/>
              </a:rPr>
              <a:t> </a:t>
            </a:r>
            <a:r>
              <a:rPr sz="1000" i="1" spc="-30" dirty="0">
                <a:latin typeface="Arial"/>
                <a:cs typeface="Arial"/>
              </a:rPr>
              <a:t>other</a:t>
            </a:r>
            <a:r>
              <a:rPr sz="1000" i="1" spc="170" dirty="0">
                <a:latin typeface="Arial"/>
                <a:cs typeface="Arial"/>
              </a:rPr>
              <a:t> </a:t>
            </a:r>
            <a:r>
              <a:rPr sz="1000" spc="-55" dirty="0">
                <a:latin typeface="Tahoma"/>
                <a:cs typeface="Tahoma"/>
              </a:rPr>
              <a:t>set:</a:t>
            </a:r>
            <a:r>
              <a:rPr sz="1000" spc="135" dirty="0">
                <a:latin typeface="Tahoma"/>
                <a:cs typeface="Tahoma"/>
              </a:rPr>
              <a:t> </a:t>
            </a:r>
            <a:r>
              <a:rPr sz="1000" spc="-480" dirty="0">
                <a:latin typeface="Lucida Sans Unicode"/>
                <a:cs typeface="Lucida Sans Unicode"/>
              </a:rPr>
              <a:t>∅</a:t>
            </a:r>
            <a:r>
              <a:rPr sz="1000" spc="-35" dirty="0">
                <a:latin typeface="Lucida Sans Unicode"/>
                <a:cs typeface="Lucida Sans Unicode"/>
              </a:rPr>
              <a:t> </a:t>
            </a:r>
            <a:r>
              <a:rPr sz="1000" spc="-25" dirty="0">
                <a:latin typeface="Lucida Sans Unicode"/>
                <a:cs typeface="Lucida Sans Unicode"/>
              </a:rPr>
              <a:t>⊆</a:t>
            </a:r>
            <a:r>
              <a:rPr sz="1000" spc="-35" dirty="0">
                <a:latin typeface="Lucida Sans Unicode"/>
                <a:cs typeface="Lucida Sans Unicode"/>
              </a:rPr>
              <a:t> </a:t>
            </a:r>
            <a:r>
              <a:rPr sz="1000" i="1" spc="-20" dirty="0">
                <a:latin typeface="Arial"/>
                <a:cs typeface="Arial"/>
              </a:rPr>
              <a:t>A</a:t>
            </a:r>
            <a:r>
              <a:rPr sz="1000" spc="-20" dirty="0">
                <a:latin typeface="Tahoma"/>
                <a:cs typeface="Tahoma"/>
              </a:rPr>
              <a:t>.</a:t>
            </a:r>
            <a:r>
              <a:rPr sz="1000" spc="135" dirty="0">
                <a:latin typeface="Tahoma"/>
                <a:cs typeface="Tahoma"/>
              </a:rPr>
              <a:t> </a:t>
            </a:r>
            <a:r>
              <a:rPr sz="1000" spc="-75" dirty="0">
                <a:latin typeface="Tahoma"/>
                <a:cs typeface="Tahoma"/>
              </a:rPr>
              <a:t>In</a:t>
            </a:r>
            <a:r>
              <a:rPr sz="1000" spc="25" dirty="0">
                <a:latin typeface="Tahoma"/>
                <a:cs typeface="Tahoma"/>
              </a:rPr>
              <a:t> </a:t>
            </a:r>
            <a:r>
              <a:rPr sz="1000" spc="-35" dirty="0">
                <a:latin typeface="Tahoma"/>
                <a:cs typeface="Tahoma"/>
              </a:rPr>
              <a:t>particular:</a:t>
            </a:r>
            <a:r>
              <a:rPr sz="1000" spc="135" dirty="0">
                <a:latin typeface="Tahoma"/>
                <a:cs typeface="Tahoma"/>
              </a:rPr>
              <a:t> </a:t>
            </a:r>
            <a:r>
              <a:rPr sz="1000" spc="-480" dirty="0">
                <a:latin typeface="Lucida Sans Unicode"/>
                <a:cs typeface="Lucida Sans Unicode"/>
              </a:rPr>
              <a:t>∅</a:t>
            </a:r>
            <a:r>
              <a:rPr sz="1000" spc="-35" dirty="0">
                <a:latin typeface="Lucida Sans Unicode"/>
                <a:cs typeface="Lucida Sans Unicode"/>
              </a:rPr>
              <a:t> </a:t>
            </a:r>
            <a:r>
              <a:rPr sz="1000" spc="-25" dirty="0">
                <a:latin typeface="Lucida Sans Unicode"/>
                <a:cs typeface="Lucida Sans Unicode"/>
              </a:rPr>
              <a:t>⊆</a:t>
            </a:r>
            <a:r>
              <a:rPr sz="1000" spc="-35" dirty="0">
                <a:latin typeface="Lucida Sans Unicode"/>
                <a:cs typeface="Lucida Sans Unicode"/>
              </a:rPr>
              <a:t> </a:t>
            </a:r>
            <a:r>
              <a:rPr sz="1000" spc="-254" dirty="0">
                <a:latin typeface="Lucida Sans Unicode"/>
                <a:cs typeface="Lucida Sans Unicode"/>
              </a:rPr>
              <a:t>∅</a:t>
            </a:r>
            <a:r>
              <a:rPr sz="1000" spc="-254" dirty="0">
                <a:latin typeface="Tahoma"/>
                <a:cs typeface="Tahoma"/>
              </a:rPr>
              <a:t>.</a:t>
            </a:r>
            <a:endParaRPr sz="1000">
              <a:latin typeface="Tahoma"/>
              <a:cs typeface="Tahoma"/>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103630" cy="244475"/>
          </a:xfrm>
          <a:prstGeom prst="rect">
            <a:avLst/>
          </a:prstGeom>
        </p:spPr>
        <p:txBody>
          <a:bodyPr vert="horz" wrap="square" lIns="0" tIns="17145" rIns="0" bIns="0" rtlCol="0">
            <a:spAutoFit/>
          </a:bodyPr>
          <a:lstStyle/>
          <a:p>
            <a:pPr marL="12700">
              <a:lnSpc>
                <a:spcPct val="100000"/>
              </a:lnSpc>
              <a:spcBef>
                <a:spcPts val="135"/>
              </a:spcBef>
            </a:pPr>
            <a:r>
              <a:rPr spc="-10" dirty="0"/>
              <a:t>Distributivity</a:t>
            </a:r>
          </a:p>
        </p:txBody>
      </p:sp>
      <p:sp>
        <p:nvSpPr>
          <p:cNvPr id="30" name="object 30"/>
          <p:cNvSpPr/>
          <p:nvPr/>
        </p:nvSpPr>
        <p:spPr>
          <a:xfrm>
            <a:off x="698562" y="848905"/>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878844"/>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32" name="object 32"/>
          <p:cNvGrpSpPr/>
          <p:nvPr/>
        </p:nvGrpSpPr>
        <p:grpSpPr>
          <a:xfrm>
            <a:off x="698562" y="905830"/>
            <a:ext cx="3831590" cy="953135"/>
            <a:chOff x="698562" y="905830"/>
            <a:chExt cx="3831590" cy="953135"/>
          </a:xfrm>
        </p:grpSpPr>
        <p:pic>
          <p:nvPicPr>
            <p:cNvPr id="33" name="object 33"/>
            <p:cNvPicPr/>
            <p:nvPr/>
          </p:nvPicPr>
          <p:blipFill>
            <a:blip r:embed="rId7" cstate="print"/>
            <a:stretch>
              <a:fillRect/>
            </a:stretch>
          </p:blipFill>
          <p:spPr>
            <a:xfrm>
              <a:off x="698563" y="1012126"/>
              <a:ext cx="3780284" cy="50609"/>
            </a:xfrm>
            <a:prstGeom prst="rect">
              <a:avLst/>
            </a:prstGeom>
          </p:spPr>
        </p:pic>
        <p:sp>
          <p:nvSpPr>
            <p:cNvPr id="34" name="object 34"/>
            <p:cNvSpPr/>
            <p:nvPr/>
          </p:nvSpPr>
          <p:spPr>
            <a:xfrm>
              <a:off x="749363" y="905830"/>
              <a:ext cx="3780790" cy="953135"/>
            </a:xfrm>
            <a:custGeom>
              <a:avLst/>
              <a:gdLst/>
              <a:ahLst/>
              <a:cxnLst/>
              <a:rect l="l" t="t" r="r" b="b"/>
              <a:pathLst>
                <a:path w="3780790" h="953135">
                  <a:moveTo>
                    <a:pt x="3780285" y="0"/>
                  </a:moveTo>
                  <a:lnTo>
                    <a:pt x="0" y="0"/>
                  </a:lnTo>
                  <a:lnTo>
                    <a:pt x="0" y="952942"/>
                  </a:lnTo>
                  <a:lnTo>
                    <a:pt x="3780285" y="952942"/>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056399"/>
              <a:ext cx="3780790" cy="751840"/>
            </a:xfrm>
            <a:custGeom>
              <a:avLst/>
              <a:gdLst/>
              <a:ahLst/>
              <a:cxnLst/>
              <a:rect l="l" t="t" r="r" b="b"/>
              <a:pathLst>
                <a:path w="3780790" h="751839">
                  <a:moveTo>
                    <a:pt x="3780285" y="0"/>
                  </a:moveTo>
                  <a:lnTo>
                    <a:pt x="0" y="0"/>
                  </a:lnTo>
                  <a:lnTo>
                    <a:pt x="0" y="700772"/>
                  </a:lnTo>
                  <a:lnTo>
                    <a:pt x="4008" y="720497"/>
                  </a:lnTo>
                  <a:lnTo>
                    <a:pt x="14922" y="736650"/>
                  </a:lnTo>
                  <a:lnTo>
                    <a:pt x="31075" y="747564"/>
                  </a:lnTo>
                  <a:lnTo>
                    <a:pt x="50800" y="751572"/>
                  </a:lnTo>
                  <a:lnTo>
                    <a:pt x="3729484" y="751572"/>
                  </a:lnTo>
                  <a:lnTo>
                    <a:pt x="3749209" y="747564"/>
                  </a:lnTo>
                  <a:lnTo>
                    <a:pt x="3765362" y="736650"/>
                  </a:lnTo>
                  <a:lnTo>
                    <a:pt x="3776276" y="720497"/>
                  </a:lnTo>
                  <a:lnTo>
                    <a:pt x="3780285" y="700772"/>
                  </a:lnTo>
                  <a:lnTo>
                    <a:pt x="3780285" y="0"/>
                  </a:lnTo>
                  <a:close/>
                </a:path>
              </a:pathLst>
            </a:custGeom>
            <a:solidFill>
              <a:srgbClr val="E9E9F2"/>
            </a:solidFill>
          </p:spPr>
          <p:txBody>
            <a:bodyPr wrap="square" lIns="0" tIns="0" rIns="0" bIns="0" rtlCol="0"/>
            <a:lstStyle/>
            <a:p>
              <a:endParaRPr/>
            </a:p>
          </p:txBody>
        </p:sp>
        <p:pic>
          <p:nvPicPr>
            <p:cNvPr id="36" name="object 36"/>
            <p:cNvPicPr/>
            <p:nvPr/>
          </p:nvPicPr>
          <p:blipFill>
            <a:blip r:embed="rId8" cstate="print"/>
            <a:stretch>
              <a:fillRect/>
            </a:stretch>
          </p:blipFill>
          <p:spPr>
            <a:xfrm>
              <a:off x="830757" y="1270676"/>
              <a:ext cx="104301" cy="104301"/>
            </a:xfrm>
            <a:prstGeom prst="rect">
              <a:avLst/>
            </a:prstGeom>
          </p:spPr>
        </p:pic>
      </p:grpSp>
      <p:sp>
        <p:nvSpPr>
          <p:cNvPr id="37" name="object 37"/>
          <p:cNvSpPr txBox="1"/>
          <p:nvPr/>
        </p:nvSpPr>
        <p:spPr>
          <a:xfrm>
            <a:off x="830757" y="1270676"/>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1</a:t>
            </a:r>
            <a:endParaRPr sz="500">
              <a:latin typeface="Microsoft Sans Serif"/>
              <a:cs typeface="Microsoft Sans Serif"/>
            </a:endParaRPr>
          </a:p>
        </p:txBody>
      </p:sp>
      <p:pic>
        <p:nvPicPr>
          <p:cNvPr id="38" name="object 38"/>
          <p:cNvPicPr/>
          <p:nvPr/>
        </p:nvPicPr>
        <p:blipFill>
          <a:blip r:embed="rId8" cstate="print"/>
          <a:stretch>
            <a:fillRect/>
          </a:stretch>
        </p:blipFill>
        <p:spPr>
          <a:xfrm>
            <a:off x="830757" y="1460465"/>
            <a:ext cx="104301" cy="104301"/>
          </a:xfrm>
          <a:prstGeom prst="rect">
            <a:avLst/>
          </a:prstGeom>
        </p:spPr>
      </p:pic>
      <p:sp>
        <p:nvSpPr>
          <p:cNvPr id="39" name="object 39"/>
          <p:cNvSpPr txBox="1"/>
          <p:nvPr/>
        </p:nvSpPr>
        <p:spPr>
          <a:xfrm>
            <a:off x="830757" y="1460465"/>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2</a:t>
            </a:r>
            <a:endParaRPr sz="500">
              <a:latin typeface="Microsoft Sans Serif"/>
              <a:cs typeface="Microsoft Sans Serif"/>
            </a:endParaRPr>
          </a:p>
        </p:txBody>
      </p:sp>
      <p:sp>
        <p:nvSpPr>
          <p:cNvPr id="40" name="object 40"/>
          <p:cNvSpPr txBox="1"/>
          <p:nvPr/>
        </p:nvSpPr>
        <p:spPr>
          <a:xfrm>
            <a:off x="698563" y="905830"/>
            <a:ext cx="3831590" cy="953135"/>
          </a:xfrm>
          <a:prstGeom prst="rect">
            <a:avLst/>
          </a:prstGeom>
        </p:spPr>
        <p:txBody>
          <a:bodyPr vert="horz" wrap="square" lIns="0" tIns="5080" rIns="0" bIns="0" rtlCol="0">
            <a:spAutoFit/>
          </a:bodyPr>
          <a:lstStyle/>
          <a:p>
            <a:pPr>
              <a:lnSpc>
                <a:spcPct val="100000"/>
              </a:lnSpc>
              <a:spcBef>
                <a:spcPts val="40"/>
              </a:spcBef>
            </a:pPr>
            <a:endParaRPr sz="900">
              <a:latin typeface="Times New Roman"/>
              <a:cs typeface="Times New Roman"/>
            </a:endParaRPr>
          </a:p>
          <a:p>
            <a:pPr marL="50800">
              <a:lnSpc>
                <a:spcPct val="100000"/>
              </a:lnSpc>
            </a:pPr>
            <a:r>
              <a:rPr sz="1000" spc="15" dirty="0">
                <a:latin typeface="Tahoma"/>
                <a:cs typeface="Tahoma"/>
              </a:rPr>
              <a:t>F</a:t>
            </a:r>
            <a:r>
              <a:rPr sz="1000" spc="-75" dirty="0">
                <a:latin typeface="Tahoma"/>
                <a:cs typeface="Tahoma"/>
              </a:rPr>
              <a:t>o</a:t>
            </a:r>
            <a:r>
              <a:rPr sz="1000" spc="-25" dirty="0">
                <a:latin typeface="Tahoma"/>
                <a:cs typeface="Tahoma"/>
              </a:rPr>
              <a:t>r</a:t>
            </a:r>
            <a:r>
              <a:rPr sz="1000" spc="20" dirty="0">
                <a:latin typeface="Tahoma"/>
                <a:cs typeface="Tahoma"/>
              </a:rPr>
              <a:t> </a:t>
            </a:r>
            <a:r>
              <a:rPr sz="1000" spc="-45" dirty="0">
                <a:latin typeface="Tahoma"/>
                <a:cs typeface="Tahoma"/>
              </a:rPr>
              <a:t>any</a:t>
            </a:r>
            <a:r>
              <a:rPr sz="1000" spc="15" dirty="0">
                <a:latin typeface="Tahoma"/>
                <a:cs typeface="Tahoma"/>
              </a:rPr>
              <a:t> </a:t>
            </a:r>
            <a:r>
              <a:rPr sz="1000" spc="-50" dirty="0">
                <a:latin typeface="Tahoma"/>
                <a:cs typeface="Tahoma"/>
              </a:rPr>
              <a:t>sets</a:t>
            </a:r>
            <a:r>
              <a:rPr sz="1000" spc="15" dirty="0">
                <a:latin typeface="Tahoma"/>
                <a:cs typeface="Tahoma"/>
              </a:rPr>
              <a:t> </a:t>
            </a:r>
            <a:r>
              <a:rPr sz="1000" i="1" spc="125" dirty="0">
                <a:latin typeface="Arial"/>
                <a:cs typeface="Arial"/>
              </a:rPr>
              <a:t>X</a:t>
            </a:r>
            <a:r>
              <a:rPr sz="1000" i="1" spc="-90" dirty="0">
                <a:latin typeface="Verdana"/>
                <a:cs typeface="Verdana"/>
              </a:rPr>
              <a:t>,</a:t>
            </a:r>
            <a:r>
              <a:rPr sz="1000" i="1" spc="-185" dirty="0">
                <a:latin typeface="Verdana"/>
                <a:cs typeface="Verdana"/>
              </a:rPr>
              <a:t> </a:t>
            </a:r>
            <a:r>
              <a:rPr sz="1000" i="1" spc="-5" dirty="0">
                <a:latin typeface="Arial"/>
                <a:cs typeface="Arial"/>
              </a:rPr>
              <a:t>Y</a:t>
            </a:r>
            <a:r>
              <a:rPr sz="1000" i="1" dirty="0">
                <a:latin typeface="Arial"/>
                <a:cs typeface="Arial"/>
              </a:rPr>
              <a:t> </a:t>
            </a:r>
            <a:r>
              <a:rPr sz="1000" i="1" spc="-55" dirty="0">
                <a:latin typeface="Arial"/>
                <a:cs typeface="Arial"/>
              </a:rPr>
              <a:t> </a:t>
            </a:r>
            <a:r>
              <a:rPr sz="1000" spc="-45" dirty="0">
                <a:latin typeface="Tahoma"/>
                <a:cs typeface="Tahoma"/>
              </a:rPr>
              <a:t>and</a:t>
            </a:r>
            <a:r>
              <a:rPr sz="1000" spc="20" dirty="0">
                <a:latin typeface="Tahoma"/>
                <a:cs typeface="Tahoma"/>
              </a:rPr>
              <a:t> </a:t>
            </a:r>
            <a:r>
              <a:rPr sz="1000" i="1" spc="-5" dirty="0">
                <a:latin typeface="Arial"/>
                <a:cs typeface="Arial"/>
              </a:rPr>
              <a:t>Z</a:t>
            </a:r>
            <a:r>
              <a:rPr sz="1000" i="1" spc="-160" dirty="0">
                <a:latin typeface="Arial"/>
                <a:cs typeface="Arial"/>
              </a:rPr>
              <a:t> </a:t>
            </a:r>
            <a:r>
              <a:rPr sz="1000" spc="-80" dirty="0">
                <a:latin typeface="Tahoma"/>
                <a:cs typeface="Tahoma"/>
              </a:rPr>
              <a:t>:</a:t>
            </a:r>
            <a:endParaRPr sz="1000">
              <a:latin typeface="Tahoma"/>
              <a:cs typeface="Tahoma"/>
            </a:endParaRPr>
          </a:p>
          <a:p>
            <a:pPr marL="303530">
              <a:lnSpc>
                <a:spcPct val="100000"/>
              </a:lnSpc>
              <a:spcBef>
                <a:spcPts val="295"/>
              </a:spcBef>
            </a:pP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14" dirty="0">
                <a:latin typeface="Arial"/>
                <a:cs typeface="Arial"/>
              </a:rPr>
              <a:t> </a:t>
            </a:r>
            <a:r>
              <a:rPr sz="1000" spc="45" dirty="0">
                <a:latin typeface="Tahoma"/>
                <a:cs typeface="Tahoma"/>
              </a:rPr>
              <a:t>=</a:t>
            </a:r>
            <a:r>
              <a:rPr sz="1000" spc="-35" dirty="0">
                <a:latin typeface="Tahoma"/>
                <a:cs typeface="Tahoma"/>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15" dirty="0">
                <a:latin typeface="Tahoma"/>
                <a:cs typeface="Tahoma"/>
              </a:rPr>
              <a:t>),</a:t>
            </a:r>
            <a:endParaRPr sz="1000">
              <a:latin typeface="Tahoma"/>
              <a:cs typeface="Tahoma"/>
            </a:endParaRPr>
          </a:p>
          <a:p>
            <a:pPr marL="303530">
              <a:lnSpc>
                <a:spcPct val="100000"/>
              </a:lnSpc>
              <a:spcBef>
                <a:spcPts val="295"/>
              </a:spcBef>
            </a:pP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14" dirty="0">
                <a:latin typeface="Arial"/>
                <a:cs typeface="Arial"/>
              </a:rPr>
              <a:t> </a:t>
            </a:r>
            <a:r>
              <a:rPr sz="1000" spc="45" dirty="0">
                <a:latin typeface="Tahoma"/>
                <a:cs typeface="Tahoma"/>
              </a:rPr>
              <a:t>=</a:t>
            </a:r>
            <a:r>
              <a:rPr sz="1000" spc="-35" dirty="0">
                <a:latin typeface="Tahoma"/>
                <a:cs typeface="Tahoma"/>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endParaRPr sz="1000">
              <a:latin typeface="Tahoma"/>
              <a:cs typeface="Tahoma"/>
            </a:endParaRPr>
          </a:p>
          <a:p>
            <a:pPr marL="50800">
              <a:lnSpc>
                <a:spcPct val="100000"/>
              </a:lnSpc>
              <a:spcBef>
                <a:spcPts val="295"/>
              </a:spcBef>
            </a:pPr>
            <a:r>
              <a:rPr sz="1000" spc="-35" dirty="0">
                <a:latin typeface="Tahoma"/>
                <a:cs typeface="Tahoma"/>
              </a:rPr>
              <a:t>-</a:t>
            </a:r>
            <a:r>
              <a:rPr sz="1000" spc="15" dirty="0">
                <a:latin typeface="Tahoma"/>
                <a:cs typeface="Tahoma"/>
              </a:rPr>
              <a:t> </a:t>
            </a:r>
            <a:r>
              <a:rPr sz="1000" b="1" spc="-20" dirty="0">
                <a:latin typeface="Arial"/>
                <a:cs typeface="Arial"/>
              </a:rPr>
              <a:t>distributivi</a:t>
            </a:r>
            <a:r>
              <a:rPr sz="1000" b="1" spc="-55" dirty="0">
                <a:latin typeface="Arial"/>
                <a:cs typeface="Arial"/>
              </a:rPr>
              <a:t>t</a:t>
            </a:r>
            <a:r>
              <a:rPr sz="1000" b="1" spc="-60" dirty="0">
                <a:latin typeface="Arial"/>
                <a:cs typeface="Arial"/>
              </a:rPr>
              <a:t>y</a:t>
            </a:r>
            <a:r>
              <a:rPr sz="1000" b="1" spc="70" dirty="0">
                <a:latin typeface="Arial"/>
                <a:cs typeface="Arial"/>
              </a:rPr>
              <a:t> </a:t>
            </a:r>
            <a:r>
              <a:rPr sz="1000" spc="-30" dirty="0">
                <a:latin typeface="Tahoma"/>
                <a:cs typeface="Tahoma"/>
              </a:rPr>
              <a:t>of</a:t>
            </a:r>
            <a:r>
              <a:rPr sz="1000" spc="15" dirty="0">
                <a:latin typeface="Tahoma"/>
                <a:cs typeface="Tahoma"/>
              </a:rPr>
              <a:t> </a:t>
            </a:r>
            <a:r>
              <a:rPr sz="1000" spc="-45" dirty="0">
                <a:latin typeface="Tahoma"/>
                <a:cs typeface="Tahoma"/>
              </a:rPr>
              <a:t>o</a:t>
            </a:r>
            <a:r>
              <a:rPr sz="1000" spc="-20" dirty="0">
                <a:latin typeface="Tahoma"/>
                <a:cs typeface="Tahoma"/>
              </a:rPr>
              <a:t>p</a:t>
            </a:r>
            <a:r>
              <a:rPr sz="1000" spc="-35" dirty="0">
                <a:latin typeface="Tahoma"/>
                <a:cs typeface="Tahoma"/>
              </a:rPr>
              <a:t>erations</a:t>
            </a:r>
            <a:r>
              <a:rPr sz="1000" spc="20" dirty="0">
                <a:latin typeface="Tahoma"/>
                <a:cs typeface="Tahoma"/>
              </a:rPr>
              <a:t> </a:t>
            </a:r>
            <a:r>
              <a:rPr sz="1000" spc="-135" dirty="0">
                <a:latin typeface="Lucida Sans Unicode"/>
                <a:cs typeface="Lucida Sans Unicode"/>
              </a:rPr>
              <a:t>∩</a:t>
            </a:r>
            <a:r>
              <a:rPr sz="1000" spc="15" dirty="0">
                <a:latin typeface="Lucida Sans Unicode"/>
                <a:cs typeface="Lucida Sans Unicode"/>
              </a:rPr>
              <a:t> </a:t>
            </a:r>
            <a:r>
              <a:rPr sz="1000" spc="-45" dirty="0">
                <a:latin typeface="Tahoma"/>
                <a:cs typeface="Tahoma"/>
              </a:rPr>
              <a:t>and</a:t>
            </a:r>
            <a:r>
              <a:rPr sz="1000" spc="20" dirty="0">
                <a:latin typeface="Tahoma"/>
                <a:cs typeface="Tahoma"/>
              </a:rPr>
              <a:t> </a:t>
            </a:r>
            <a:r>
              <a:rPr sz="1000" spc="-135" dirty="0">
                <a:latin typeface="Lucida Sans Unicode"/>
                <a:cs typeface="Lucida Sans Unicode"/>
              </a:rPr>
              <a:t>∪</a:t>
            </a:r>
            <a:r>
              <a:rPr sz="1000" spc="15" dirty="0">
                <a:latin typeface="Lucida Sans Unicode"/>
                <a:cs typeface="Lucida Sans Unicode"/>
              </a:rPr>
              <a:t> </a:t>
            </a:r>
            <a:r>
              <a:rPr sz="1000" spc="-50" dirty="0">
                <a:latin typeface="Tahoma"/>
                <a:cs typeface="Tahoma"/>
              </a:rPr>
              <a:t>among</a:t>
            </a:r>
            <a:r>
              <a:rPr sz="1000" spc="15" dirty="0">
                <a:latin typeface="Tahoma"/>
                <a:cs typeface="Tahoma"/>
              </a:rPr>
              <a:t> </a:t>
            </a:r>
            <a:r>
              <a:rPr sz="1000" spc="-50" dirty="0">
                <a:latin typeface="Tahoma"/>
                <a:cs typeface="Tahoma"/>
              </a:rPr>
              <a:t>each</a:t>
            </a:r>
            <a:r>
              <a:rPr sz="1000" spc="20" dirty="0">
                <a:latin typeface="Tahoma"/>
                <a:cs typeface="Tahoma"/>
              </a:rPr>
              <a:t> </a:t>
            </a:r>
            <a:r>
              <a:rPr sz="1000" spc="-35" dirty="0">
                <a:latin typeface="Tahoma"/>
                <a:cs typeface="Tahoma"/>
              </a:rPr>
              <a:t>other</a:t>
            </a:r>
            <a:endParaRPr sz="1000">
              <a:latin typeface="Tahoma"/>
              <a:cs typeface="Tahoma"/>
            </a:endParaRPr>
          </a:p>
        </p:txBody>
      </p:sp>
      <p:sp>
        <p:nvSpPr>
          <p:cNvPr id="41" name="object 41"/>
          <p:cNvSpPr/>
          <p:nvPr/>
        </p:nvSpPr>
        <p:spPr>
          <a:xfrm>
            <a:off x="698562" y="2288158"/>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2" name="object 42"/>
          <p:cNvSpPr txBox="1"/>
          <p:nvPr/>
        </p:nvSpPr>
        <p:spPr>
          <a:xfrm>
            <a:off x="749363" y="2318097"/>
            <a:ext cx="293370"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43" name="object 43"/>
          <p:cNvGrpSpPr/>
          <p:nvPr/>
        </p:nvGrpSpPr>
        <p:grpSpPr>
          <a:xfrm>
            <a:off x="698562" y="2345093"/>
            <a:ext cx="3831590" cy="840740"/>
            <a:chOff x="698562" y="2345093"/>
            <a:chExt cx="3831590" cy="840740"/>
          </a:xfrm>
        </p:grpSpPr>
        <p:pic>
          <p:nvPicPr>
            <p:cNvPr id="44" name="object 44"/>
            <p:cNvPicPr/>
            <p:nvPr/>
          </p:nvPicPr>
          <p:blipFill>
            <a:blip r:embed="rId9" cstate="print"/>
            <a:stretch>
              <a:fillRect/>
            </a:stretch>
          </p:blipFill>
          <p:spPr>
            <a:xfrm>
              <a:off x="698563" y="2445765"/>
              <a:ext cx="3780284" cy="50609"/>
            </a:xfrm>
            <a:prstGeom prst="rect">
              <a:avLst/>
            </a:prstGeom>
          </p:spPr>
        </p:pic>
        <p:sp>
          <p:nvSpPr>
            <p:cNvPr id="45" name="object 45"/>
            <p:cNvSpPr/>
            <p:nvPr/>
          </p:nvSpPr>
          <p:spPr>
            <a:xfrm>
              <a:off x="749363" y="2345093"/>
              <a:ext cx="3780790" cy="840740"/>
            </a:xfrm>
            <a:custGeom>
              <a:avLst/>
              <a:gdLst/>
              <a:ahLst/>
              <a:cxnLst/>
              <a:rect l="l" t="t" r="r" b="b"/>
              <a:pathLst>
                <a:path w="3780790" h="840739">
                  <a:moveTo>
                    <a:pt x="3780285" y="0"/>
                  </a:moveTo>
                  <a:lnTo>
                    <a:pt x="0" y="0"/>
                  </a:lnTo>
                  <a:lnTo>
                    <a:pt x="0" y="840473"/>
                  </a:lnTo>
                  <a:lnTo>
                    <a:pt x="3780285" y="840473"/>
                  </a:lnTo>
                  <a:lnTo>
                    <a:pt x="3780285" y="0"/>
                  </a:lnTo>
                  <a:close/>
                </a:path>
              </a:pathLst>
            </a:custGeom>
            <a:solidFill>
              <a:srgbClr val="000000"/>
            </a:solidFill>
          </p:spPr>
          <p:txBody>
            <a:bodyPr wrap="square" lIns="0" tIns="0" rIns="0" bIns="0" rtlCol="0"/>
            <a:lstStyle/>
            <a:p>
              <a:endParaRPr/>
            </a:p>
          </p:txBody>
        </p:sp>
        <p:sp>
          <p:nvSpPr>
            <p:cNvPr id="46" name="object 46"/>
            <p:cNvSpPr/>
            <p:nvPr/>
          </p:nvSpPr>
          <p:spPr>
            <a:xfrm>
              <a:off x="698562" y="2490039"/>
              <a:ext cx="3780790" cy="645160"/>
            </a:xfrm>
            <a:custGeom>
              <a:avLst/>
              <a:gdLst/>
              <a:ahLst/>
              <a:cxnLst/>
              <a:rect l="l" t="t" r="r" b="b"/>
              <a:pathLst>
                <a:path w="3780790" h="645160">
                  <a:moveTo>
                    <a:pt x="3780285" y="0"/>
                  </a:moveTo>
                  <a:lnTo>
                    <a:pt x="0" y="0"/>
                  </a:lnTo>
                  <a:lnTo>
                    <a:pt x="0" y="593927"/>
                  </a:lnTo>
                  <a:lnTo>
                    <a:pt x="4008" y="613652"/>
                  </a:lnTo>
                  <a:lnTo>
                    <a:pt x="14922" y="629805"/>
                  </a:lnTo>
                  <a:lnTo>
                    <a:pt x="31075" y="640719"/>
                  </a:lnTo>
                  <a:lnTo>
                    <a:pt x="50800" y="644727"/>
                  </a:lnTo>
                  <a:lnTo>
                    <a:pt x="3729484" y="644727"/>
                  </a:lnTo>
                  <a:lnTo>
                    <a:pt x="3749209" y="640719"/>
                  </a:lnTo>
                  <a:lnTo>
                    <a:pt x="3765362" y="629805"/>
                  </a:lnTo>
                  <a:lnTo>
                    <a:pt x="3776276" y="613652"/>
                  </a:lnTo>
                  <a:lnTo>
                    <a:pt x="3780285" y="593927"/>
                  </a:lnTo>
                  <a:lnTo>
                    <a:pt x="3780285" y="0"/>
                  </a:lnTo>
                  <a:close/>
                </a:path>
              </a:pathLst>
            </a:custGeom>
            <a:solidFill>
              <a:srgbClr val="E9E9F2"/>
            </a:solidFill>
          </p:spPr>
          <p:txBody>
            <a:bodyPr wrap="square" lIns="0" tIns="0" rIns="0" bIns="0" rtlCol="0"/>
            <a:lstStyle/>
            <a:p>
              <a:endParaRPr/>
            </a:p>
          </p:txBody>
        </p:sp>
      </p:grpSp>
      <p:sp>
        <p:nvSpPr>
          <p:cNvPr id="47" name="object 47"/>
          <p:cNvSpPr txBox="1"/>
          <p:nvPr/>
        </p:nvSpPr>
        <p:spPr>
          <a:xfrm>
            <a:off x="736663" y="1871235"/>
            <a:ext cx="3506470" cy="1225550"/>
          </a:xfrm>
          <a:prstGeom prst="rect">
            <a:avLst/>
          </a:prstGeom>
        </p:spPr>
        <p:txBody>
          <a:bodyPr vert="horz" wrap="square" lIns="0" tIns="12065" rIns="0" bIns="0" rtlCol="0">
            <a:spAutoFit/>
          </a:bodyPr>
          <a:lstStyle/>
          <a:p>
            <a:pPr marL="12700" marR="5080">
              <a:lnSpc>
                <a:spcPct val="100000"/>
              </a:lnSpc>
              <a:spcBef>
                <a:spcPts val="95"/>
              </a:spcBef>
            </a:pPr>
            <a:r>
              <a:rPr sz="1000" spc="-10" dirty="0">
                <a:latin typeface="Tahoma"/>
                <a:cs typeface="Tahoma"/>
              </a:rPr>
              <a:t>Distributivity</a:t>
            </a:r>
            <a:r>
              <a:rPr sz="1000" spc="20" dirty="0">
                <a:latin typeface="Tahoma"/>
                <a:cs typeface="Tahoma"/>
              </a:rPr>
              <a:t> </a:t>
            </a:r>
            <a:r>
              <a:rPr sz="1000" spc="-45" dirty="0">
                <a:latin typeface="Tahoma"/>
                <a:cs typeface="Tahoma"/>
              </a:rPr>
              <a:t>helps</a:t>
            </a:r>
            <a:r>
              <a:rPr sz="1000" spc="25" dirty="0">
                <a:latin typeface="Tahoma"/>
                <a:cs typeface="Tahoma"/>
              </a:rPr>
              <a:t> </a:t>
            </a:r>
            <a:r>
              <a:rPr sz="1000" spc="-10" dirty="0">
                <a:latin typeface="Tahoma"/>
                <a:cs typeface="Tahoma"/>
              </a:rPr>
              <a:t>to</a:t>
            </a:r>
            <a:r>
              <a:rPr sz="1000" spc="20" dirty="0">
                <a:latin typeface="Tahoma"/>
                <a:cs typeface="Tahoma"/>
              </a:rPr>
              <a:t> </a:t>
            </a:r>
            <a:r>
              <a:rPr sz="1000" spc="-55" dirty="0">
                <a:latin typeface="Tahoma"/>
                <a:cs typeface="Tahoma"/>
              </a:rPr>
              <a:t>pass</a:t>
            </a:r>
            <a:r>
              <a:rPr sz="1000" spc="25" dirty="0">
                <a:latin typeface="Tahoma"/>
                <a:cs typeface="Tahoma"/>
              </a:rPr>
              <a:t> </a:t>
            </a:r>
            <a:r>
              <a:rPr sz="1000" spc="-35" dirty="0">
                <a:latin typeface="Tahoma"/>
                <a:cs typeface="Tahoma"/>
              </a:rPr>
              <a:t>operations</a:t>
            </a:r>
            <a:r>
              <a:rPr sz="1000" spc="25" dirty="0">
                <a:latin typeface="Tahoma"/>
                <a:cs typeface="Tahoma"/>
              </a:rPr>
              <a:t> </a:t>
            </a:r>
            <a:r>
              <a:rPr sz="1000" spc="-30" dirty="0">
                <a:latin typeface="Tahoma"/>
                <a:cs typeface="Tahoma"/>
              </a:rPr>
              <a:t>of</a:t>
            </a:r>
            <a:r>
              <a:rPr sz="1000" spc="20" dirty="0">
                <a:latin typeface="Tahoma"/>
                <a:cs typeface="Tahoma"/>
              </a:rPr>
              <a:t> </a:t>
            </a:r>
            <a:r>
              <a:rPr sz="1000" spc="-25" dirty="0">
                <a:latin typeface="Tahoma"/>
                <a:cs typeface="Tahoma"/>
              </a:rPr>
              <a:t>union/intersection</a:t>
            </a:r>
            <a:r>
              <a:rPr sz="1000" spc="25" dirty="0">
                <a:latin typeface="Tahoma"/>
                <a:cs typeface="Tahoma"/>
              </a:rPr>
              <a:t> </a:t>
            </a:r>
            <a:r>
              <a:rPr sz="1000" spc="-40" dirty="0">
                <a:latin typeface="Tahoma"/>
                <a:cs typeface="Tahoma"/>
              </a:rPr>
              <a:t>inside </a:t>
            </a:r>
            <a:r>
              <a:rPr sz="1000" spc="-295" dirty="0">
                <a:latin typeface="Tahoma"/>
                <a:cs typeface="Tahoma"/>
              </a:rPr>
              <a:t> </a:t>
            </a:r>
            <a:r>
              <a:rPr sz="1000" spc="-55" dirty="0">
                <a:latin typeface="Tahoma"/>
                <a:cs typeface="Tahoma"/>
              </a:rPr>
              <a:t>parentheses,</a:t>
            </a:r>
            <a:r>
              <a:rPr sz="1000" spc="20" dirty="0">
                <a:latin typeface="Tahoma"/>
                <a:cs typeface="Tahoma"/>
              </a:rPr>
              <a:t> </a:t>
            </a:r>
            <a:r>
              <a:rPr sz="1000" spc="-35" dirty="0">
                <a:latin typeface="Tahoma"/>
                <a:cs typeface="Tahoma"/>
              </a:rPr>
              <a:t>which</a:t>
            </a:r>
            <a:r>
              <a:rPr sz="1000" spc="15" dirty="0">
                <a:latin typeface="Tahoma"/>
                <a:cs typeface="Tahoma"/>
              </a:rPr>
              <a:t> </a:t>
            </a:r>
            <a:r>
              <a:rPr sz="1000" spc="-25" dirty="0">
                <a:latin typeface="Tahoma"/>
                <a:cs typeface="Tahoma"/>
              </a:rPr>
              <a:t>contain</a:t>
            </a:r>
            <a:r>
              <a:rPr sz="1000" spc="15" dirty="0">
                <a:latin typeface="Tahoma"/>
                <a:cs typeface="Tahoma"/>
              </a:rPr>
              <a:t> </a:t>
            </a:r>
            <a:r>
              <a:rPr sz="1000" spc="-35" dirty="0">
                <a:latin typeface="Tahoma"/>
                <a:cs typeface="Tahoma"/>
              </a:rPr>
              <a:t>the</a:t>
            </a:r>
            <a:r>
              <a:rPr sz="1000" spc="20" dirty="0">
                <a:latin typeface="Tahoma"/>
                <a:cs typeface="Tahoma"/>
              </a:rPr>
              <a:t> </a:t>
            </a:r>
            <a:r>
              <a:rPr sz="1000" spc="-35" dirty="0">
                <a:latin typeface="Tahoma"/>
                <a:cs typeface="Tahoma"/>
              </a:rPr>
              <a:t>opposite</a:t>
            </a:r>
            <a:r>
              <a:rPr sz="1000" spc="20" dirty="0">
                <a:latin typeface="Tahoma"/>
                <a:cs typeface="Tahoma"/>
              </a:rPr>
              <a:t> </a:t>
            </a:r>
            <a:r>
              <a:rPr sz="1000" spc="-30" dirty="0">
                <a:latin typeface="Tahoma"/>
                <a:cs typeface="Tahoma"/>
              </a:rPr>
              <a:t>operation.</a:t>
            </a:r>
            <a:endParaRPr sz="1000">
              <a:latin typeface="Tahoma"/>
              <a:cs typeface="Tahoma"/>
            </a:endParaRPr>
          </a:p>
          <a:p>
            <a:pPr>
              <a:lnSpc>
                <a:spcPct val="100000"/>
              </a:lnSpc>
            </a:pPr>
            <a:endParaRPr sz="1000">
              <a:latin typeface="Tahoma"/>
              <a:cs typeface="Tahoma"/>
            </a:endParaRPr>
          </a:p>
          <a:p>
            <a:pPr>
              <a:lnSpc>
                <a:spcPct val="100000"/>
              </a:lnSpc>
              <a:spcBef>
                <a:spcPts val="35"/>
              </a:spcBef>
            </a:pPr>
            <a:endParaRPr sz="850">
              <a:latin typeface="Tahoma"/>
              <a:cs typeface="Tahoma"/>
            </a:endParaRPr>
          </a:p>
          <a:p>
            <a:pPr marL="12700" marR="60325">
              <a:lnSpc>
                <a:spcPct val="100000"/>
              </a:lnSpc>
            </a:pPr>
            <a:r>
              <a:rPr sz="1000" spc="-5" dirty="0">
                <a:latin typeface="Tahoma"/>
                <a:cs typeface="Tahoma"/>
              </a:rPr>
              <a:t>Let’s</a:t>
            </a:r>
            <a:r>
              <a:rPr sz="1000" spc="15" dirty="0">
                <a:latin typeface="Tahoma"/>
                <a:cs typeface="Tahoma"/>
              </a:rPr>
              <a:t> </a:t>
            </a:r>
            <a:r>
              <a:rPr sz="1000" spc="-55" dirty="0">
                <a:latin typeface="Tahoma"/>
                <a:cs typeface="Tahoma"/>
              </a:rPr>
              <a:t>prove</a:t>
            </a:r>
            <a:r>
              <a:rPr sz="1000" spc="20" dirty="0">
                <a:latin typeface="Tahoma"/>
                <a:cs typeface="Tahoma"/>
              </a:rPr>
              <a:t> </a:t>
            </a:r>
            <a:r>
              <a:rPr sz="1000" spc="-35" dirty="0">
                <a:latin typeface="Tahoma"/>
                <a:cs typeface="Tahoma"/>
              </a:rPr>
              <a:t>the</a:t>
            </a:r>
            <a:r>
              <a:rPr sz="1000" spc="15" dirty="0">
                <a:latin typeface="Tahoma"/>
                <a:cs typeface="Tahoma"/>
              </a:rPr>
              <a:t> </a:t>
            </a:r>
            <a:r>
              <a:rPr sz="1000" spc="-15" dirty="0">
                <a:latin typeface="Tahoma"/>
                <a:cs typeface="Tahoma"/>
              </a:rPr>
              <a:t>first</a:t>
            </a:r>
            <a:r>
              <a:rPr sz="1000" spc="20" dirty="0">
                <a:latin typeface="Tahoma"/>
                <a:cs typeface="Tahoma"/>
              </a:rPr>
              <a:t> </a:t>
            </a:r>
            <a:r>
              <a:rPr sz="1000" spc="-40" dirty="0">
                <a:latin typeface="Tahoma"/>
                <a:cs typeface="Tahoma"/>
              </a:rPr>
              <a:t>equality.</a:t>
            </a:r>
            <a:r>
              <a:rPr sz="1000" spc="130" dirty="0">
                <a:latin typeface="Tahoma"/>
                <a:cs typeface="Tahoma"/>
              </a:rPr>
              <a:t> </a:t>
            </a:r>
            <a:r>
              <a:rPr sz="1000" spc="-20" dirty="0">
                <a:latin typeface="Tahoma"/>
                <a:cs typeface="Tahoma"/>
              </a:rPr>
              <a:t>To</a:t>
            </a:r>
            <a:r>
              <a:rPr sz="1000" spc="15" dirty="0">
                <a:latin typeface="Tahoma"/>
                <a:cs typeface="Tahoma"/>
              </a:rPr>
              <a:t> </a:t>
            </a:r>
            <a:r>
              <a:rPr sz="1000" spc="-45" dirty="0">
                <a:latin typeface="Tahoma"/>
                <a:cs typeface="Tahoma"/>
              </a:rPr>
              <a:t>do</a:t>
            </a:r>
            <a:r>
              <a:rPr sz="1000" spc="20" dirty="0">
                <a:latin typeface="Tahoma"/>
                <a:cs typeface="Tahoma"/>
              </a:rPr>
              <a:t> </a:t>
            </a:r>
            <a:r>
              <a:rPr sz="1000" spc="-25" dirty="0">
                <a:latin typeface="Tahoma"/>
                <a:cs typeface="Tahoma"/>
              </a:rPr>
              <a:t>this,</a:t>
            </a:r>
            <a:r>
              <a:rPr sz="1000" spc="20" dirty="0">
                <a:latin typeface="Tahoma"/>
                <a:cs typeface="Tahoma"/>
              </a:rPr>
              <a:t> </a:t>
            </a:r>
            <a:r>
              <a:rPr sz="1000" spc="-90" dirty="0">
                <a:latin typeface="Tahoma"/>
                <a:cs typeface="Tahoma"/>
              </a:rPr>
              <a:t>we</a:t>
            </a:r>
            <a:r>
              <a:rPr sz="1000" spc="10" dirty="0">
                <a:latin typeface="Tahoma"/>
                <a:cs typeface="Tahoma"/>
              </a:rPr>
              <a:t> </a:t>
            </a:r>
            <a:r>
              <a:rPr sz="1000" spc="-65" dirty="0">
                <a:latin typeface="Tahoma"/>
                <a:cs typeface="Tahoma"/>
              </a:rPr>
              <a:t>use</a:t>
            </a:r>
            <a:r>
              <a:rPr sz="1000" spc="20" dirty="0">
                <a:latin typeface="Tahoma"/>
                <a:cs typeface="Tahoma"/>
              </a:rPr>
              <a:t> </a:t>
            </a:r>
            <a:r>
              <a:rPr sz="1000" spc="-35" dirty="0">
                <a:latin typeface="Tahoma"/>
                <a:cs typeface="Tahoma"/>
              </a:rPr>
              <a:t>the</a:t>
            </a:r>
            <a:r>
              <a:rPr sz="1000" spc="15" dirty="0">
                <a:latin typeface="Tahoma"/>
                <a:cs typeface="Tahoma"/>
              </a:rPr>
              <a:t> </a:t>
            </a:r>
            <a:r>
              <a:rPr sz="1000" spc="-30" dirty="0">
                <a:latin typeface="Tahoma"/>
                <a:cs typeface="Tahoma"/>
              </a:rPr>
              <a:t>reduction</a:t>
            </a:r>
            <a:r>
              <a:rPr sz="1000" spc="20" dirty="0">
                <a:latin typeface="Tahoma"/>
                <a:cs typeface="Tahoma"/>
              </a:rPr>
              <a:t> </a:t>
            </a:r>
            <a:r>
              <a:rPr sz="1000" spc="-30" dirty="0">
                <a:latin typeface="Tahoma"/>
                <a:cs typeface="Tahoma"/>
              </a:rPr>
              <a:t>of </a:t>
            </a:r>
            <a:r>
              <a:rPr sz="1000" spc="-295" dirty="0">
                <a:latin typeface="Tahoma"/>
                <a:cs typeface="Tahoma"/>
              </a:rPr>
              <a:t> </a:t>
            </a:r>
            <a:r>
              <a:rPr sz="1000" spc="-30" dirty="0">
                <a:latin typeface="Tahoma"/>
                <a:cs typeface="Tahoma"/>
              </a:rPr>
              <a:t>equality</a:t>
            </a:r>
            <a:r>
              <a:rPr sz="1000" spc="15" dirty="0">
                <a:latin typeface="Tahoma"/>
                <a:cs typeface="Tahoma"/>
              </a:rPr>
              <a:t> </a:t>
            </a:r>
            <a:r>
              <a:rPr sz="1000" spc="-10" dirty="0">
                <a:latin typeface="Tahoma"/>
                <a:cs typeface="Tahoma"/>
              </a:rPr>
              <a:t>to</a:t>
            </a:r>
            <a:r>
              <a:rPr sz="1000" spc="15" dirty="0">
                <a:latin typeface="Tahoma"/>
                <a:cs typeface="Tahoma"/>
              </a:rPr>
              <a:t> </a:t>
            </a:r>
            <a:r>
              <a:rPr sz="1000" spc="-50" dirty="0">
                <a:latin typeface="Tahoma"/>
                <a:cs typeface="Tahoma"/>
              </a:rPr>
              <a:t>subset</a:t>
            </a:r>
            <a:r>
              <a:rPr sz="1000" spc="15" dirty="0">
                <a:latin typeface="Tahoma"/>
                <a:cs typeface="Tahoma"/>
              </a:rPr>
              <a:t> </a:t>
            </a:r>
            <a:r>
              <a:rPr sz="1000" spc="-25" dirty="0">
                <a:latin typeface="Tahoma"/>
                <a:cs typeface="Tahoma"/>
              </a:rPr>
              <a:t>relation,</a:t>
            </a:r>
            <a:r>
              <a:rPr sz="1000" spc="20" dirty="0">
                <a:latin typeface="Tahoma"/>
                <a:cs typeface="Tahoma"/>
              </a:rPr>
              <a:t> </a:t>
            </a:r>
            <a:r>
              <a:rPr sz="1000" spc="-35" dirty="0">
                <a:latin typeface="Tahoma"/>
                <a:cs typeface="Tahoma"/>
              </a:rPr>
              <a:t>i.e.</a:t>
            </a:r>
            <a:r>
              <a:rPr sz="1000" spc="125" dirty="0">
                <a:latin typeface="Tahoma"/>
                <a:cs typeface="Tahoma"/>
              </a:rPr>
              <a:t> </a:t>
            </a:r>
            <a:r>
              <a:rPr sz="1000" spc="-20" dirty="0">
                <a:latin typeface="Tahoma"/>
                <a:cs typeface="Tahoma"/>
              </a:rPr>
              <a:t>we’ll</a:t>
            </a:r>
            <a:r>
              <a:rPr sz="1000" spc="20" dirty="0">
                <a:latin typeface="Tahoma"/>
                <a:cs typeface="Tahoma"/>
              </a:rPr>
              <a:t> </a:t>
            </a:r>
            <a:r>
              <a:rPr sz="1000" spc="-50" dirty="0">
                <a:latin typeface="Tahoma"/>
                <a:cs typeface="Tahoma"/>
              </a:rPr>
              <a:t>prove,</a:t>
            </a:r>
            <a:r>
              <a:rPr sz="1000" spc="20" dirty="0">
                <a:latin typeface="Tahoma"/>
                <a:cs typeface="Tahoma"/>
              </a:rPr>
              <a:t> </a:t>
            </a:r>
            <a:r>
              <a:rPr sz="1000" spc="-10" dirty="0">
                <a:latin typeface="Tahoma"/>
                <a:cs typeface="Tahoma"/>
              </a:rPr>
              <a:t>that</a:t>
            </a:r>
            <a:endParaRPr sz="1000">
              <a:latin typeface="Tahoma"/>
              <a:cs typeface="Tahoma"/>
            </a:endParaRPr>
          </a:p>
          <a:p>
            <a:pPr marL="12065" marR="1392555">
              <a:lnSpc>
                <a:spcPts val="1200"/>
              </a:lnSpc>
              <a:spcBef>
                <a:spcPts val="30"/>
              </a:spcBef>
            </a:pP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14" dirty="0">
                <a:latin typeface="Arial"/>
                <a:cs typeface="Arial"/>
              </a:rPr>
              <a:t> </a:t>
            </a:r>
            <a:r>
              <a:rPr sz="1000" spc="-25" dirty="0">
                <a:latin typeface="Lucida Sans Unicode"/>
                <a:cs typeface="Lucida Sans Unicode"/>
              </a:rPr>
              <a:t>⊆</a:t>
            </a:r>
            <a:r>
              <a:rPr sz="1000" spc="-40" dirty="0">
                <a:latin typeface="Lucida Sans Unicode"/>
                <a:cs typeface="Lucida Sans Unicode"/>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20" dirty="0">
                <a:latin typeface="Tahoma"/>
                <a:cs typeface="Tahoma"/>
              </a:rPr>
              <a:t> </a:t>
            </a:r>
            <a:r>
              <a:rPr sz="1000" spc="-40" dirty="0">
                <a:latin typeface="Tahoma"/>
                <a:cs typeface="Tahoma"/>
              </a:rPr>
              <a:t>and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35" dirty="0">
                <a:latin typeface="Tahoma"/>
                <a:cs typeface="Tahoma"/>
              </a:rPr>
              <a:t> </a:t>
            </a:r>
            <a:r>
              <a:rPr sz="1000" spc="-25" dirty="0">
                <a:latin typeface="Lucida Sans Unicode"/>
                <a:cs typeface="Lucida Sans Unicode"/>
              </a:rPr>
              <a:t>⊆</a:t>
            </a:r>
            <a:r>
              <a:rPr sz="1000" spc="-40" dirty="0">
                <a:latin typeface="Lucida Sans Unicode"/>
                <a:cs typeface="Lucida Sans Unicode"/>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endParaRPr sz="1000">
              <a:latin typeface="Tahoma"/>
              <a:cs typeface="Tahoma"/>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735455" cy="244475"/>
          </a:xfrm>
          <a:prstGeom prst="rect">
            <a:avLst/>
          </a:prstGeom>
        </p:spPr>
        <p:txBody>
          <a:bodyPr vert="horz" wrap="square" lIns="0" tIns="17145" rIns="0" bIns="0" rtlCol="0">
            <a:spAutoFit/>
          </a:bodyPr>
          <a:lstStyle/>
          <a:p>
            <a:pPr marL="12700">
              <a:lnSpc>
                <a:spcPct val="100000"/>
              </a:lnSpc>
              <a:spcBef>
                <a:spcPts val="135"/>
              </a:spcBef>
            </a:pPr>
            <a:r>
              <a:rPr spc="-10" dirty="0"/>
              <a:t>Distributivity</a:t>
            </a:r>
            <a:r>
              <a:rPr spc="125" dirty="0"/>
              <a:t> </a:t>
            </a:r>
            <a:r>
              <a:rPr spc="55" dirty="0"/>
              <a:t>-</a:t>
            </a:r>
            <a:r>
              <a:rPr spc="125" dirty="0"/>
              <a:t> </a:t>
            </a:r>
            <a:r>
              <a:rPr spc="-40" dirty="0"/>
              <a:t>proof</a:t>
            </a:r>
          </a:p>
        </p:txBody>
      </p:sp>
      <p:grpSp>
        <p:nvGrpSpPr>
          <p:cNvPr id="30" name="object 30"/>
          <p:cNvGrpSpPr/>
          <p:nvPr/>
        </p:nvGrpSpPr>
        <p:grpSpPr>
          <a:xfrm>
            <a:off x="698562" y="1156372"/>
            <a:ext cx="3831590" cy="1568450"/>
            <a:chOff x="698562" y="1156372"/>
            <a:chExt cx="3831590" cy="1568450"/>
          </a:xfrm>
        </p:grpSpPr>
        <p:sp>
          <p:nvSpPr>
            <p:cNvPr id="31" name="object 31"/>
            <p:cNvSpPr/>
            <p:nvPr/>
          </p:nvSpPr>
          <p:spPr>
            <a:xfrm>
              <a:off x="698562" y="1156372"/>
              <a:ext cx="3780790" cy="82550"/>
            </a:xfrm>
            <a:custGeom>
              <a:avLst/>
              <a:gdLst/>
              <a:ahLst/>
              <a:cxnLst/>
              <a:rect l="l" t="t" r="r" b="b"/>
              <a:pathLst>
                <a:path w="3780790" h="82550">
                  <a:moveTo>
                    <a:pt x="3729484" y="0"/>
                  </a:moveTo>
                  <a:lnTo>
                    <a:pt x="50800" y="0"/>
                  </a:lnTo>
                  <a:lnTo>
                    <a:pt x="31075" y="4008"/>
                  </a:lnTo>
                  <a:lnTo>
                    <a:pt x="14922" y="14922"/>
                  </a:lnTo>
                  <a:lnTo>
                    <a:pt x="4008" y="31075"/>
                  </a:lnTo>
                  <a:lnTo>
                    <a:pt x="0" y="50800"/>
                  </a:lnTo>
                  <a:lnTo>
                    <a:pt x="0" y="82384"/>
                  </a:lnTo>
                  <a:lnTo>
                    <a:pt x="3780285" y="82384"/>
                  </a:lnTo>
                  <a:lnTo>
                    <a:pt x="3780285" y="50800"/>
                  </a:lnTo>
                  <a:lnTo>
                    <a:pt x="3776276" y="31075"/>
                  </a:lnTo>
                  <a:lnTo>
                    <a:pt x="3765362" y="14922"/>
                  </a:lnTo>
                  <a:lnTo>
                    <a:pt x="3749209" y="4008"/>
                  </a:lnTo>
                  <a:lnTo>
                    <a:pt x="3729484" y="0"/>
                  </a:lnTo>
                  <a:close/>
                </a:path>
              </a:pathLst>
            </a:custGeom>
            <a:solidFill>
              <a:srgbClr val="E9E9F2"/>
            </a:solidFill>
          </p:spPr>
          <p:txBody>
            <a:bodyPr wrap="square" lIns="0" tIns="0" rIns="0" bIns="0" rtlCol="0"/>
            <a:lstStyle/>
            <a:p>
              <a:endParaRPr/>
            </a:p>
          </p:txBody>
        </p:sp>
        <p:sp>
          <p:nvSpPr>
            <p:cNvPr id="32" name="object 32"/>
            <p:cNvSpPr/>
            <p:nvPr/>
          </p:nvSpPr>
          <p:spPr>
            <a:xfrm>
              <a:off x="749363" y="1219625"/>
              <a:ext cx="3780790" cy="1504950"/>
            </a:xfrm>
            <a:custGeom>
              <a:avLst/>
              <a:gdLst/>
              <a:ahLst/>
              <a:cxnLst/>
              <a:rect l="l" t="t" r="r" b="b"/>
              <a:pathLst>
                <a:path w="3780790" h="1504950">
                  <a:moveTo>
                    <a:pt x="3780285" y="0"/>
                  </a:moveTo>
                  <a:lnTo>
                    <a:pt x="0" y="0"/>
                  </a:lnTo>
                  <a:lnTo>
                    <a:pt x="0" y="1504741"/>
                  </a:lnTo>
                  <a:lnTo>
                    <a:pt x="3780285" y="1504741"/>
                  </a:lnTo>
                  <a:lnTo>
                    <a:pt x="3780285" y="0"/>
                  </a:lnTo>
                  <a:close/>
                </a:path>
              </a:pathLst>
            </a:custGeom>
            <a:solidFill>
              <a:srgbClr val="000000"/>
            </a:solidFill>
          </p:spPr>
          <p:txBody>
            <a:bodyPr wrap="square" lIns="0" tIns="0" rIns="0" bIns="0" rtlCol="0"/>
            <a:lstStyle/>
            <a:p>
              <a:endParaRPr/>
            </a:p>
          </p:txBody>
        </p:sp>
        <p:sp>
          <p:nvSpPr>
            <p:cNvPr id="33" name="object 33"/>
            <p:cNvSpPr/>
            <p:nvPr/>
          </p:nvSpPr>
          <p:spPr>
            <a:xfrm>
              <a:off x="698562" y="1200788"/>
              <a:ext cx="3780790" cy="1473200"/>
            </a:xfrm>
            <a:custGeom>
              <a:avLst/>
              <a:gdLst/>
              <a:ahLst/>
              <a:cxnLst/>
              <a:rect l="l" t="t" r="r" b="b"/>
              <a:pathLst>
                <a:path w="3780790" h="1473200">
                  <a:moveTo>
                    <a:pt x="3780285" y="0"/>
                  </a:moveTo>
                  <a:lnTo>
                    <a:pt x="0" y="0"/>
                  </a:lnTo>
                  <a:lnTo>
                    <a:pt x="0" y="1421977"/>
                  </a:lnTo>
                  <a:lnTo>
                    <a:pt x="4008" y="1441702"/>
                  </a:lnTo>
                  <a:lnTo>
                    <a:pt x="14922" y="1457855"/>
                  </a:lnTo>
                  <a:lnTo>
                    <a:pt x="31075" y="1468769"/>
                  </a:lnTo>
                  <a:lnTo>
                    <a:pt x="50800" y="1472777"/>
                  </a:lnTo>
                  <a:lnTo>
                    <a:pt x="3729484" y="1472777"/>
                  </a:lnTo>
                  <a:lnTo>
                    <a:pt x="3749209" y="1468769"/>
                  </a:lnTo>
                  <a:lnTo>
                    <a:pt x="3765362" y="1457855"/>
                  </a:lnTo>
                  <a:lnTo>
                    <a:pt x="3776276" y="1441702"/>
                  </a:lnTo>
                  <a:lnTo>
                    <a:pt x="3780285" y="1421977"/>
                  </a:lnTo>
                  <a:lnTo>
                    <a:pt x="3780285" y="0"/>
                  </a:lnTo>
                  <a:close/>
                </a:path>
              </a:pathLst>
            </a:custGeom>
            <a:solidFill>
              <a:srgbClr val="E9E9F2"/>
            </a:solidFill>
          </p:spPr>
          <p:txBody>
            <a:bodyPr wrap="square" lIns="0" tIns="0" rIns="0" bIns="0" rtlCol="0"/>
            <a:lstStyle/>
            <a:p>
              <a:endParaRPr/>
            </a:p>
          </p:txBody>
        </p:sp>
      </p:grpSp>
      <p:sp>
        <p:nvSpPr>
          <p:cNvPr id="34" name="object 34"/>
          <p:cNvSpPr txBox="1"/>
          <p:nvPr/>
        </p:nvSpPr>
        <p:spPr>
          <a:xfrm>
            <a:off x="736663" y="1174742"/>
            <a:ext cx="1410970"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Tahoma"/>
                <a:cs typeface="Tahoma"/>
              </a:rPr>
              <a:t>Continuation</a:t>
            </a:r>
            <a:r>
              <a:rPr sz="1000" dirty="0">
                <a:latin typeface="Tahoma"/>
                <a:cs typeface="Tahoma"/>
              </a:rPr>
              <a:t> </a:t>
            </a:r>
            <a:r>
              <a:rPr sz="1000" spc="-30" dirty="0">
                <a:latin typeface="Tahoma"/>
                <a:cs typeface="Tahoma"/>
              </a:rPr>
              <a:t>of</a:t>
            </a:r>
            <a:r>
              <a:rPr sz="1000" spc="5" dirty="0">
                <a:latin typeface="Tahoma"/>
                <a:cs typeface="Tahoma"/>
              </a:rPr>
              <a:t> </a:t>
            </a:r>
            <a:r>
              <a:rPr sz="1000" spc="-35" dirty="0">
                <a:latin typeface="Tahoma"/>
                <a:cs typeface="Tahoma"/>
              </a:rPr>
              <a:t>the</a:t>
            </a:r>
            <a:r>
              <a:rPr sz="1000" spc="5" dirty="0">
                <a:latin typeface="Tahoma"/>
                <a:cs typeface="Tahoma"/>
              </a:rPr>
              <a:t> </a:t>
            </a:r>
            <a:r>
              <a:rPr sz="1000" spc="-35" dirty="0">
                <a:latin typeface="Tahoma"/>
                <a:cs typeface="Tahoma"/>
              </a:rPr>
              <a:t>proof.</a:t>
            </a:r>
            <a:endParaRPr sz="1000">
              <a:latin typeface="Tahoma"/>
              <a:cs typeface="Tahoma"/>
            </a:endParaRPr>
          </a:p>
        </p:txBody>
      </p:sp>
      <p:sp>
        <p:nvSpPr>
          <p:cNvPr id="35" name="object 35"/>
          <p:cNvSpPr txBox="1"/>
          <p:nvPr/>
        </p:nvSpPr>
        <p:spPr>
          <a:xfrm>
            <a:off x="736663" y="1326583"/>
            <a:ext cx="352171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Tahoma"/>
                <a:cs typeface="Tahoma"/>
              </a:rPr>
              <a:t>Let’s</a:t>
            </a:r>
            <a:r>
              <a:rPr sz="1000" spc="20" dirty="0">
                <a:latin typeface="Tahoma"/>
                <a:cs typeface="Tahoma"/>
              </a:rPr>
              <a:t> </a:t>
            </a:r>
            <a:r>
              <a:rPr sz="1000" spc="-65" dirty="0">
                <a:latin typeface="Tahoma"/>
                <a:cs typeface="Tahoma"/>
              </a:rPr>
              <a:t>show</a:t>
            </a:r>
            <a:r>
              <a:rPr sz="1000" spc="15" dirty="0">
                <a:latin typeface="Tahoma"/>
                <a:cs typeface="Tahoma"/>
              </a:rPr>
              <a:t> </a:t>
            </a:r>
            <a:r>
              <a:rPr sz="1000" spc="-35" dirty="0">
                <a:latin typeface="Tahoma"/>
                <a:cs typeface="Tahoma"/>
              </a:rPr>
              <a:t>the</a:t>
            </a:r>
            <a:r>
              <a:rPr sz="1000" spc="15" dirty="0">
                <a:latin typeface="Tahoma"/>
                <a:cs typeface="Tahoma"/>
              </a:rPr>
              <a:t> </a:t>
            </a:r>
            <a:r>
              <a:rPr sz="1000" spc="-15" dirty="0">
                <a:latin typeface="Tahoma"/>
                <a:cs typeface="Tahoma"/>
              </a:rPr>
              <a:t>first</a:t>
            </a:r>
            <a:r>
              <a:rPr sz="1000" spc="20" dirty="0">
                <a:latin typeface="Tahoma"/>
                <a:cs typeface="Tahoma"/>
              </a:rPr>
              <a:t> </a:t>
            </a:r>
            <a:r>
              <a:rPr sz="1000" spc="-35" dirty="0">
                <a:latin typeface="Tahoma"/>
                <a:cs typeface="Tahoma"/>
              </a:rPr>
              <a:t>inclusion:</a:t>
            </a:r>
            <a:r>
              <a:rPr sz="1000" spc="135" dirty="0">
                <a:latin typeface="Tahoma"/>
                <a:cs typeface="Tahoma"/>
              </a:rPr>
              <a:t> </a:t>
            </a:r>
            <a:r>
              <a:rPr sz="1000" spc="-5"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20" dirty="0">
                <a:latin typeface="Arial"/>
                <a:cs typeface="Arial"/>
              </a:rPr>
              <a:t> </a:t>
            </a:r>
            <a:r>
              <a:rPr sz="1000" spc="-25" dirty="0">
                <a:latin typeface="Lucida Sans Unicode"/>
                <a:cs typeface="Lucida Sans Unicode"/>
              </a:rPr>
              <a:t>⊆</a:t>
            </a:r>
            <a:r>
              <a:rPr sz="1000" spc="-40" dirty="0">
                <a:latin typeface="Lucida Sans Unicode"/>
                <a:cs typeface="Lucida Sans Unicode"/>
              </a:rPr>
              <a:t> </a:t>
            </a:r>
            <a:r>
              <a:rPr sz="1000" dirty="0">
                <a:latin typeface="Tahoma"/>
                <a:cs typeface="Tahoma"/>
              </a:rPr>
              <a:t>(</a:t>
            </a:r>
            <a:r>
              <a:rPr sz="1000" i="1"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90"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15" dirty="0">
                <a:latin typeface="Tahoma"/>
                <a:cs typeface="Tahoma"/>
              </a:rPr>
              <a:t>).</a:t>
            </a:r>
            <a:endParaRPr sz="1000">
              <a:latin typeface="Tahoma"/>
              <a:cs typeface="Tahoma"/>
            </a:endParaRPr>
          </a:p>
        </p:txBody>
      </p:sp>
      <p:sp>
        <p:nvSpPr>
          <p:cNvPr id="36" name="object 36"/>
          <p:cNvSpPr txBox="1"/>
          <p:nvPr/>
        </p:nvSpPr>
        <p:spPr>
          <a:xfrm>
            <a:off x="736663" y="1478412"/>
            <a:ext cx="370459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Tahoma"/>
                <a:cs typeface="Tahoma"/>
              </a:rPr>
              <a:t>Let’s</a:t>
            </a:r>
            <a:r>
              <a:rPr sz="1000" spc="-20" dirty="0">
                <a:latin typeface="Tahoma"/>
                <a:cs typeface="Tahoma"/>
              </a:rPr>
              <a:t> </a:t>
            </a:r>
            <a:r>
              <a:rPr sz="1000" spc="-40" dirty="0">
                <a:latin typeface="Tahoma"/>
                <a:cs typeface="Tahoma"/>
              </a:rPr>
              <a:t>consider</a:t>
            </a:r>
            <a:r>
              <a:rPr sz="1000" spc="-15" dirty="0">
                <a:latin typeface="Tahoma"/>
                <a:cs typeface="Tahoma"/>
              </a:rPr>
              <a:t> </a:t>
            </a:r>
            <a:r>
              <a:rPr sz="1000" spc="-50" dirty="0">
                <a:latin typeface="Tahoma"/>
                <a:cs typeface="Tahoma"/>
              </a:rPr>
              <a:t>element</a:t>
            </a:r>
            <a:r>
              <a:rPr sz="1000" spc="-20" dirty="0">
                <a:latin typeface="Tahoma"/>
                <a:cs typeface="Tahoma"/>
              </a:rPr>
              <a:t> </a:t>
            </a:r>
            <a:r>
              <a:rPr sz="1000" i="1" spc="-50" dirty="0">
                <a:latin typeface="Arial"/>
                <a:cs typeface="Arial"/>
              </a:rPr>
              <a:t>a</a:t>
            </a:r>
            <a:r>
              <a:rPr sz="1000" spc="-50" dirty="0">
                <a:latin typeface="Tahoma"/>
                <a:cs typeface="Tahoma"/>
              </a:rPr>
              <a:t>,</a:t>
            </a:r>
            <a:r>
              <a:rPr sz="1000" spc="-10" dirty="0">
                <a:latin typeface="Tahoma"/>
                <a:cs typeface="Tahoma"/>
              </a:rPr>
              <a:t> </a:t>
            </a:r>
            <a:r>
              <a:rPr sz="1000" spc="-40" dirty="0">
                <a:latin typeface="Tahoma"/>
                <a:cs typeface="Tahoma"/>
              </a:rPr>
              <a:t>for</a:t>
            </a:r>
            <a:r>
              <a:rPr sz="1000" spc="-15" dirty="0">
                <a:latin typeface="Tahoma"/>
                <a:cs typeface="Tahoma"/>
              </a:rPr>
              <a:t> </a:t>
            </a:r>
            <a:r>
              <a:rPr sz="1000" spc="-35" dirty="0">
                <a:latin typeface="Tahoma"/>
                <a:cs typeface="Tahoma"/>
              </a:rPr>
              <a:t>which</a:t>
            </a:r>
            <a:r>
              <a:rPr sz="1000" spc="-20" dirty="0">
                <a:latin typeface="Tahoma"/>
                <a:cs typeface="Tahoma"/>
              </a:rPr>
              <a:t> </a:t>
            </a:r>
            <a:r>
              <a:rPr sz="1000" i="1" spc="-80" dirty="0">
                <a:latin typeface="Arial"/>
                <a:cs typeface="Arial"/>
              </a:rPr>
              <a:t>a</a:t>
            </a:r>
            <a:r>
              <a:rPr sz="1000" i="1" spc="10" dirty="0">
                <a:latin typeface="Arial"/>
                <a:cs typeface="Arial"/>
              </a:rPr>
              <a:t> </a:t>
            </a:r>
            <a:r>
              <a:rPr sz="1000" spc="-135" dirty="0">
                <a:latin typeface="Lucida Sans Unicode"/>
                <a:cs typeface="Lucida Sans Unicode"/>
              </a:rPr>
              <a:t>∈</a:t>
            </a:r>
            <a:r>
              <a:rPr sz="1000" spc="-35" dirty="0">
                <a:latin typeface="Lucida Sans Unicode"/>
                <a:cs typeface="Lucida Sans Unicode"/>
              </a:rPr>
              <a:t> </a:t>
            </a:r>
            <a:r>
              <a:rPr sz="1000" dirty="0">
                <a:latin typeface="Tahoma"/>
                <a:cs typeface="Tahoma"/>
              </a:rPr>
              <a:t>(</a:t>
            </a:r>
            <a:r>
              <a:rPr sz="1000" i="1" dirty="0">
                <a:latin typeface="Arial"/>
                <a:cs typeface="Arial"/>
              </a:rPr>
              <a:t>X</a:t>
            </a:r>
            <a:r>
              <a:rPr sz="1000" i="1" spc="-5" dirty="0">
                <a:latin typeface="Arial"/>
                <a:cs typeface="Arial"/>
              </a:rPr>
              <a:t> </a:t>
            </a:r>
            <a:r>
              <a:rPr sz="1000" spc="-135" dirty="0">
                <a:latin typeface="Lucida Sans Unicode"/>
                <a:cs typeface="Lucida Sans Unicode"/>
              </a:rPr>
              <a:t>∩</a:t>
            </a:r>
            <a:r>
              <a:rPr sz="1000" spc="-175" dirty="0">
                <a:latin typeface="Lucida Sans Unicode"/>
                <a:cs typeface="Lucida Sans Unicode"/>
              </a:rPr>
              <a:t> </a:t>
            </a:r>
            <a:r>
              <a:rPr sz="1000" i="1" spc="-5" dirty="0">
                <a:latin typeface="Arial"/>
                <a:cs typeface="Arial"/>
              </a:rPr>
              <a:t>Y</a:t>
            </a:r>
            <a:r>
              <a:rPr sz="1000" i="1" spc="-105" dirty="0">
                <a:latin typeface="Arial"/>
                <a:cs typeface="Arial"/>
              </a:rPr>
              <a:t> </a:t>
            </a:r>
            <a:r>
              <a:rPr sz="1000" dirty="0">
                <a:latin typeface="Tahoma"/>
                <a:cs typeface="Tahoma"/>
              </a:rPr>
              <a:t>)</a:t>
            </a:r>
            <a:r>
              <a:rPr sz="1000" spc="-170" dirty="0">
                <a:latin typeface="Tahoma"/>
                <a:cs typeface="Tahoma"/>
              </a:rPr>
              <a:t> </a:t>
            </a:r>
            <a:r>
              <a:rPr sz="1000" spc="-135" dirty="0">
                <a:latin typeface="Lucida Sans Unicode"/>
                <a:cs typeface="Lucida Sans Unicode"/>
              </a:rPr>
              <a:t>∪</a:t>
            </a:r>
            <a:r>
              <a:rPr sz="1000" spc="-175" dirty="0">
                <a:latin typeface="Lucida Sans Unicode"/>
                <a:cs typeface="Lucida Sans Unicode"/>
              </a:rPr>
              <a:t> </a:t>
            </a:r>
            <a:r>
              <a:rPr sz="1000" i="1" spc="-5" dirty="0">
                <a:latin typeface="Arial"/>
                <a:cs typeface="Arial"/>
              </a:rPr>
              <a:t>Z</a:t>
            </a:r>
            <a:r>
              <a:rPr sz="1000" i="1" spc="-155" dirty="0">
                <a:latin typeface="Arial"/>
                <a:cs typeface="Arial"/>
              </a:rPr>
              <a:t> </a:t>
            </a:r>
            <a:r>
              <a:rPr sz="1000" spc="-30" dirty="0">
                <a:latin typeface="Tahoma"/>
                <a:cs typeface="Tahoma"/>
              </a:rPr>
              <a:t>.</a:t>
            </a:r>
            <a:r>
              <a:rPr sz="1000" spc="120" dirty="0">
                <a:latin typeface="Tahoma"/>
                <a:cs typeface="Tahoma"/>
              </a:rPr>
              <a:t> </a:t>
            </a:r>
            <a:r>
              <a:rPr sz="1000" spc="-40" dirty="0">
                <a:latin typeface="Tahoma"/>
                <a:cs typeface="Tahoma"/>
              </a:rPr>
              <a:t>It</a:t>
            </a:r>
            <a:r>
              <a:rPr sz="1000" spc="-20" dirty="0">
                <a:latin typeface="Tahoma"/>
                <a:cs typeface="Tahoma"/>
              </a:rPr>
              <a:t> </a:t>
            </a:r>
            <a:r>
              <a:rPr sz="1000" spc="-60" dirty="0">
                <a:latin typeface="Tahoma"/>
                <a:cs typeface="Tahoma"/>
              </a:rPr>
              <a:t>means</a:t>
            </a:r>
            <a:r>
              <a:rPr sz="1000" spc="-15" dirty="0">
                <a:latin typeface="Tahoma"/>
                <a:cs typeface="Tahoma"/>
              </a:rPr>
              <a:t> </a:t>
            </a:r>
            <a:r>
              <a:rPr sz="1000" spc="15" dirty="0">
                <a:latin typeface="Tahoma"/>
                <a:cs typeface="Tahoma"/>
              </a:rPr>
              <a:t>it</a:t>
            </a:r>
            <a:r>
              <a:rPr sz="1000" spc="-20" dirty="0">
                <a:latin typeface="Tahoma"/>
                <a:cs typeface="Tahoma"/>
              </a:rPr>
              <a:t> </a:t>
            </a:r>
            <a:r>
              <a:rPr sz="1000" spc="-40" dirty="0">
                <a:latin typeface="Tahoma"/>
                <a:cs typeface="Tahoma"/>
              </a:rPr>
              <a:t>holds</a:t>
            </a:r>
            <a:endParaRPr sz="1000">
              <a:latin typeface="Tahoma"/>
              <a:cs typeface="Tahoma"/>
            </a:endParaRPr>
          </a:p>
        </p:txBody>
      </p:sp>
      <p:pic>
        <p:nvPicPr>
          <p:cNvPr id="37" name="object 37"/>
          <p:cNvPicPr/>
          <p:nvPr/>
        </p:nvPicPr>
        <p:blipFill>
          <a:blip r:embed="rId7" cstate="print"/>
          <a:stretch>
            <a:fillRect/>
          </a:stretch>
        </p:blipFill>
        <p:spPr>
          <a:xfrm>
            <a:off x="879551" y="1897126"/>
            <a:ext cx="59601" cy="59601"/>
          </a:xfrm>
          <a:prstGeom prst="rect">
            <a:avLst/>
          </a:prstGeom>
        </p:spPr>
      </p:pic>
      <p:sp>
        <p:nvSpPr>
          <p:cNvPr id="38" name="object 38"/>
          <p:cNvSpPr txBox="1"/>
          <p:nvPr/>
        </p:nvSpPr>
        <p:spPr>
          <a:xfrm>
            <a:off x="736663" y="1592281"/>
            <a:ext cx="3534410" cy="405130"/>
          </a:xfrm>
          <a:prstGeom prst="rect">
            <a:avLst/>
          </a:prstGeom>
        </p:spPr>
        <p:txBody>
          <a:bodyPr vert="horz" wrap="square" lIns="0" tIns="50165" rIns="0" bIns="0" rtlCol="0">
            <a:spAutoFit/>
          </a:bodyPr>
          <a:lstStyle/>
          <a:p>
            <a:pPr algn="ctr">
              <a:lnSpc>
                <a:spcPct val="100000"/>
              </a:lnSpc>
              <a:spcBef>
                <a:spcPts val="395"/>
              </a:spcBef>
            </a:pPr>
            <a:r>
              <a:rPr sz="1000" spc="-60" dirty="0">
                <a:latin typeface="Tahoma"/>
                <a:cs typeface="Tahoma"/>
              </a:rPr>
              <a:t>one</a:t>
            </a:r>
            <a:r>
              <a:rPr sz="1000" spc="15" dirty="0">
                <a:latin typeface="Tahoma"/>
                <a:cs typeface="Tahoma"/>
              </a:rPr>
              <a:t> </a:t>
            </a:r>
            <a:r>
              <a:rPr sz="1000" spc="-30" dirty="0">
                <a:latin typeface="Tahoma"/>
                <a:cs typeface="Tahoma"/>
              </a:rPr>
              <a:t>of</a:t>
            </a:r>
            <a:r>
              <a:rPr sz="1000" spc="25" dirty="0">
                <a:latin typeface="Tahoma"/>
                <a:cs typeface="Tahoma"/>
              </a:rPr>
              <a:t> </a:t>
            </a:r>
            <a:r>
              <a:rPr sz="1000" spc="-50" dirty="0">
                <a:latin typeface="Tahoma"/>
                <a:cs typeface="Tahoma"/>
              </a:rPr>
              <a:t>two</a:t>
            </a:r>
            <a:r>
              <a:rPr sz="1000" spc="20" dirty="0">
                <a:latin typeface="Tahoma"/>
                <a:cs typeface="Tahoma"/>
              </a:rPr>
              <a:t> </a:t>
            </a:r>
            <a:r>
              <a:rPr sz="1000" spc="-40" dirty="0">
                <a:latin typeface="Tahoma"/>
                <a:cs typeface="Tahoma"/>
              </a:rPr>
              <a:t>variants:</a:t>
            </a:r>
            <a:r>
              <a:rPr sz="1000" spc="13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35" dirty="0">
                <a:latin typeface="Lucida Sans Unicode"/>
                <a:cs typeface="Lucida Sans Unicode"/>
              </a:rPr>
              <a:t> </a:t>
            </a:r>
            <a:r>
              <a:rPr sz="1000" i="1" spc="-5" dirty="0">
                <a:latin typeface="Arial"/>
                <a:cs typeface="Arial"/>
              </a:rPr>
              <a:t>X</a:t>
            </a:r>
            <a:r>
              <a:rPr sz="1000" i="1" spc="80"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229" dirty="0">
                <a:latin typeface="Arial"/>
                <a:cs typeface="Arial"/>
              </a:rPr>
              <a:t> </a:t>
            </a:r>
            <a:r>
              <a:rPr sz="1000" spc="-50" dirty="0">
                <a:latin typeface="Tahoma"/>
                <a:cs typeface="Tahoma"/>
              </a:rPr>
              <a:t>or</a:t>
            </a:r>
            <a:r>
              <a:rPr sz="1000" spc="20" dirty="0">
                <a:latin typeface="Tahoma"/>
                <a:cs typeface="Tahoma"/>
              </a:rPr>
              <a:t> </a:t>
            </a:r>
            <a:r>
              <a:rPr sz="1000" i="1" spc="-80" dirty="0">
                <a:latin typeface="Arial"/>
                <a:cs typeface="Arial"/>
              </a:rPr>
              <a:t>a</a:t>
            </a:r>
            <a:r>
              <a:rPr sz="1000" i="1" spc="10" dirty="0">
                <a:latin typeface="Arial"/>
                <a:cs typeface="Arial"/>
              </a:rPr>
              <a:t> </a:t>
            </a:r>
            <a:r>
              <a:rPr sz="1000" spc="-135" dirty="0">
                <a:latin typeface="Lucida Sans Unicode"/>
                <a:cs typeface="Lucida Sans Unicode"/>
              </a:rPr>
              <a:t>∈</a:t>
            </a:r>
            <a:r>
              <a:rPr sz="1000" spc="-35"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135" dirty="0">
                <a:latin typeface="Tahoma"/>
                <a:cs typeface="Tahoma"/>
              </a:rPr>
              <a:t> </a:t>
            </a:r>
            <a:r>
              <a:rPr sz="1000" spc="-40" dirty="0">
                <a:latin typeface="Tahoma"/>
                <a:cs typeface="Tahoma"/>
              </a:rPr>
              <a:t>Consider</a:t>
            </a:r>
            <a:r>
              <a:rPr sz="1000" spc="20" dirty="0">
                <a:latin typeface="Tahoma"/>
                <a:cs typeface="Tahoma"/>
              </a:rPr>
              <a:t> </a:t>
            </a:r>
            <a:r>
              <a:rPr sz="1000" spc="-55" dirty="0">
                <a:latin typeface="Tahoma"/>
                <a:cs typeface="Tahoma"/>
              </a:rPr>
              <a:t>these</a:t>
            </a:r>
            <a:r>
              <a:rPr sz="1000" spc="20" dirty="0">
                <a:latin typeface="Tahoma"/>
                <a:cs typeface="Tahoma"/>
              </a:rPr>
              <a:t> </a:t>
            </a:r>
            <a:r>
              <a:rPr sz="1000" spc="-35" dirty="0">
                <a:latin typeface="Tahoma"/>
                <a:cs typeface="Tahoma"/>
              </a:rPr>
              <a:t>variants.</a:t>
            </a:r>
            <a:endParaRPr sz="1000">
              <a:latin typeface="Tahoma"/>
              <a:cs typeface="Tahoma"/>
            </a:endParaRPr>
          </a:p>
          <a:p>
            <a:pPr marR="52705" algn="ctr">
              <a:lnSpc>
                <a:spcPct val="100000"/>
              </a:lnSpc>
              <a:spcBef>
                <a:spcPts val="295"/>
              </a:spcBef>
            </a:pPr>
            <a:r>
              <a:rPr sz="1000" spc="-10" dirty="0">
                <a:latin typeface="Tahoma"/>
                <a:cs typeface="Tahoma"/>
              </a:rPr>
              <a:t>Let</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spc="-30" dirty="0">
                <a:latin typeface="Tahoma"/>
                <a:cs typeface="Tahoma"/>
              </a:rPr>
              <a:t>.</a:t>
            </a:r>
            <a:r>
              <a:rPr sz="1000" spc="130" dirty="0">
                <a:latin typeface="Tahoma"/>
                <a:cs typeface="Tahoma"/>
              </a:rPr>
              <a:t> </a:t>
            </a:r>
            <a:r>
              <a:rPr sz="1000" spc="-40" dirty="0">
                <a:latin typeface="Tahoma"/>
                <a:cs typeface="Tahoma"/>
              </a:rPr>
              <a:t>It</a:t>
            </a:r>
            <a:r>
              <a:rPr sz="1000" spc="20" dirty="0">
                <a:latin typeface="Tahoma"/>
                <a:cs typeface="Tahoma"/>
              </a:rPr>
              <a:t> </a:t>
            </a:r>
            <a:r>
              <a:rPr sz="1000" spc="-55" dirty="0">
                <a:latin typeface="Tahoma"/>
                <a:cs typeface="Tahoma"/>
              </a:rPr>
              <a:t>means,</a:t>
            </a:r>
            <a:r>
              <a:rPr sz="1000" spc="15" dirty="0">
                <a:latin typeface="Tahoma"/>
                <a:cs typeface="Tahoma"/>
              </a:rPr>
              <a:t> </a:t>
            </a:r>
            <a:r>
              <a:rPr sz="1000" spc="-10" dirty="0">
                <a:latin typeface="Tahoma"/>
                <a:cs typeface="Tahoma"/>
              </a:rPr>
              <a:t>that</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dirty="0">
                <a:latin typeface="Arial"/>
                <a:cs typeface="Arial"/>
              </a:rPr>
              <a:t> </a:t>
            </a:r>
            <a:r>
              <a:rPr sz="1000" i="1" spc="-90" dirty="0">
                <a:latin typeface="Arial"/>
                <a:cs typeface="Arial"/>
              </a:rPr>
              <a:t> </a:t>
            </a:r>
            <a:r>
              <a:rPr sz="1000" spc="-45" dirty="0">
                <a:latin typeface="Tahoma"/>
                <a:cs typeface="Tahoma"/>
              </a:rPr>
              <a:t>and</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Y</a:t>
            </a:r>
            <a:r>
              <a:rPr sz="1000" i="1" spc="-110" dirty="0">
                <a:latin typeface="Arial"/>
                <a:cs typeface="Arial"/>
              </a:rPr>
              <a:t> </a:t>
            </a:r>
            <a:r>
              <a:rPr sz="1000" spc="-30" dirty="0">
                <a:latin typeface="Tahoma"/>
                <a:cs typeface="Tahoma"/>
              </a:rPr>
              <a:t>.</a:t>
            </a:r>
            <a:r>
              <a:rPr sz="1000" spc="130" dirty="0">
                <a:latin typeface="Tahoma"/>
                <a:cs typeface="Tahoma"/>
              </a:rPr>
              <a:t> </a:t>
            </a:r>
            <a:r>
              <a:rPr sz="1000" spc="-20" dirty="0">
                <a:latin typeface="Tahoma"/>
                <a:cs typeface="Tahoma"/>
              </a:rPr>
              <a:t>Then</a:t>
            </a:r>
            <a:endParaRPr sz="1000">
              <a:latin typeface="Tahoma"/>
              <a:cs typeface="Tahoma"/>
            </a:endParaRPr>
          </a:p>
        </p:txBody>
      </p:sp>
      <p:pic>
        <p:nvPicPr>
          <p:cNvPr id="39" name="object 39"/>
          <p:cNvPicPr/>
          <p:nvPr/>
        </p:nvPicPr>
        <p:blipFill>
          <a:blip r:embed="rId8" cstate="print"/>
          <a:stretch>
            <a:fillRect/>
          </a:stretch>
        </p:blipFill>
        <p:spPr>
          <a:xfrm>
            <a:off x="879551" y="2390571"/>
            <a:ext cx="59601" cy="59601"/>
          </a:xfrm>
          <a:prstGeom prst="rect">
            <a:avLst/>
          </a:prstGeom>
        </p:spPr>
      </p:pic>
      <p:sp>
        <p:nvSpPr>
          <p:cNvPr id="40" name="object 40"/>
          <p:cNvSpPr txBox="1"/>
          <p:nvPr/>
        </p:nvSpPr>
        <p:spPr>
          <a:xfrm>
            <a:off x="989711" y="1971857"/>
            <a:ext cx="3451225" cy="671195"/>
          </a:xfrm>
          <a:prstGeom prst="rect">
            <a:avLst/>
          </a:prstGeom>
        </p:spPr>
        <p:txBody>
          <a:bodyPr vert="horz" wrap="square" lIns="0" tIns="12065" rIns="0" bIns="0" rtlCol="0">
            <a:spAutoFit/>
          </a:bodyPr>
          <a:lstStyle/>
          <a:p>
            <a:pPr marL="12700" marR="475615">
              <a:lnSpc>
                <a:spcPct val="100000"/>
              </a:lnSpc>
              <a:spcBef>
                <a:spcPts val="95"/>
              </a:spcBef>
            </a:pPr>
            <a:r>
              <a:rPr sz="1000" spc="-35" dirty="0">
                <a:latin typeface="Tahoma"/>
                <a:cs typeface="Tahoma"/>
              </a:rPr>
              <a:t>obviously</a:t>
            </a:r>
            <a:r>
              <a:rPr sz="1000" spc="15" dirty="0">
                <a:latin typeface="Tahoma"/>
                <a:cs typeface="Tahoma"/>
              </a:rPr>
              <a:t> </a:t>
            </a:r>
            <a:r>
              <a:rPr sz="1000" spc="-95" dirty="0">
                <a:latin typeface="Tahoma"/>
                <a:cs typeface="Tahoma"/>
              </a:rPr>
              <a:t>w</a:t>
            </a:r>
            <a:r>
              <a:rPr sz="1000" spc="-5" dirty="0">
                <a:latin typeface="Tahoma"/>
                <a:cs typeface="Tahoma"/>
              </a:rPr>
              <a:t>e’ll</a:t>
            </a:r>
            <a:r>
              <a:rPr sz="1000" spc="15" dirty="0">
                <a:latin typeface="Tahoma"/>
                <a:cs typeface="Tahoma"/>
              </a:rPr>
              <a:t> </a:t>
            </a:r>
            <a:r>
              <a:rPr sz="1000" spc="-40" dirty="0">
                <a:latin typeface="Tahoma"/>
                <a:cs typeface="Tahoma"/>
              </a:rPr>
              <a:t>get</a:t>
            </a:r>
            <a:r>
              <a:rPr sz="1000" spc="2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dirty="0">
                <a:latin typeface="Arial"/>
                <a:cs typeface="Arial"/>
              </a:rPr>
              <a:t> </a:t>
            </a:r>
            <a:r>
              <a:rPr sz="1000" i="1" spc="-105" dirty="0">
                <a:latin typeface="Arial"/>
                <a:cs typeface="Arial"/>
              </a:rPr>
              <a:t> </a:t>
            </a:r>
            <a:r>
              <a:rPr sz="1000" spc="-45" dirty="0">
                <a:latin typeface="Tahoma"/>
                <a:cs typeface="Tahoma"/>
              </a:rPr>
              <a:t>and</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130" dirty="0">
                <a:latin typeface="Tahoma"/>
                <a:cs typeface="Tahoma"/>
              </a:rPr>
              <a:t> </a:t>
            </a:r>
            <a:r>
              <a:rPr sz="1000" spc="-25" dirty="0">
                <a:latin typeface="Tahoma"/>
                <a:cs typeface="Tahoma"/>
              </a:rPr>
              <a:t>Then,</a:t>
            </a:r>
            <a:r>
              <a:rPr sz="1000" spc="20" dirty="0">
                <a:latin typeface="Tahoma"/>
                <a:cs typeface="Tahoma"/>
              </a:rPr>
              <a:t> </a:t>
            </a:r>
            <a:r>
              <a:rPr sz="1000" spc="-70" dirty="0">
                <a:latin typeface="Tahoma"/>
                <a:cs typeface="Tahoma"/>
              </a:rPr>
              <a:t>b</a:t>
            </a:r>
            <a:r>
              <a:rPr sz="1000" spc="-30" dirty="0">
                <a:latin typeface="Tahoma"/>
                <a:cs typeface="Tahoma"/>
              </a:rPr>
              <a:t>y  </a:t>
            </a:r>
            <a:r>
              <a:rPr sz="1000" spc="-25" dirty="0">
                <a:latin typeface="Tahoma"/>
                <a:cs typeface="Tahoma"/>
              </a:rPr>
              <a:t>definition</a:t>
            </a:r>
            <a:r>
              <a:rPr sz="1000" spc="20" dirty="0">
                <a:latin typeface="Tahoma"/>
                <a:cs typeface="Tahoma"/>
              </a:rPr>
              <a:t> </a:t>
            </a:r>
            <a:r>
              <a:rPr sz="1000" spc="-30" dirty="0">
                <a:latin typeface="Tahoma"/>
                <a:cs typeface="Tahoma"/>
              </a:rPr>
              <a:t>of</a:t>
            </a:r>
            <a:r>
              <a:rPr sz="1000" spc="15" dirty="0">
                <a:latin typeface="Tahoma"/>
                <a:cs typeface="Tahoma"/>
              </a:rPr>
              <a:t> </a:t>
            </a:r>
            <a:r>
              <a:rPr sz="1000" spc="-135" dirty="0">
                <a:latin typeface="Lucida Sans Unicode"/>
                <a:cs typeface="Lucida Sans Unicode"/>
              </a:rPr>
              <a:t>∩</a:t>
            </a:r>
            <a:r>
              <a:rPr sz="1000" spc="-30" dirty="0">
                <a:latin typeface="Tahoma"/>
                <a:cs typeface="Tahoma"/>
              </a:rPr>
              <a:t>,</a:t>
            </a:r>
            <a:r>
              <a:rPr sz="1000" spc="20" dirty="0">
                <a:latin typeface="Tahoma"/>
                <a:cs typeface="Tahoma"/>
              </a:rPr>
              <a:t> </a:t>
            </a:r>
            <a:r>
              <a:rPr sz="1000" spc="-95" dirty="0">
                <a:latin typeface="Tahoma"/>
                <a:cs typeface="Tahoma"/>
              </a:rPr>
              <a:t>w</a:t>
            </a:r>
            <a:r>
              <a:rPr sz="1000" spc="-85" dirty="0">
                <a:latin typeface="Tahoma"/>
                <a:cs typeface="Tahoma"/>
              </a:rPr>
              <a:t>e</a:t>
            </a:r>
            <a:r>
              <a:rPr sz="1000" spc="15" dirty="0">
                <a:latin typeface="Tahoma"/>
                <a:cs typeface="Tahoma"/>
              </a:rPr>
              <a:t> </a:t>
            </a:r>
            <a:r>
              <a:rPr sz="1000" spc="-40" dirty="0">
                <a:latin typeface="Tahoma"/>
                <a:cs typeface="Tahoma"/>
              </a:rPr>
              <a:t>get</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15" dirty="0">
                <a:latin typeface="Tahoma"/>
                <a:cs typeface="Tahoma"/>
              </a:rPr>
              <a:t>).</a:t>
            </a:r>
            <a:endParaRPr sz="1000">
              <a:latin typeface="Tahoma"/>
              <a:cs typeface="Tahoma"/>
            </a:endParaRPr>
          </a:p>
          <a:p>
            <a:pPr marL="12700" marR="5080">
              <a:lnSpc>
                <a:spcPct val="100000"/>
              </a:lnSpc>
              <a:spcBef>
                <a:spcPts val="290"/>
              </a:spcBef>
            </a:pPr>
            <a:r>
              <a:rPr sz="1000" spc="-75" dirty="0">
                <a:latin typeface="Tahoma"/>
                <a:cs typeface="Tahoma"/>
              </a:rPr>
              <a:t>In</a:t>
            </a:r>
            <a:r>
              <a:rPr sz="1000" spc="-70" dirty="0">
                <a:latin typeface="Tahoma"/>
                <a:cs typeface="Tahoma"/>
              </a:rPr>
              <a:t> </a:t>
            </a:r>
            <a:r>
              <a:rPr sz="1000" spc="-35" dirty="0">
                <a:latin typeface="Tahoma"/>
                <a:cs typeface="Tahoma"/>
              </a:rPr>
              <a:t>the </a:t>
            </a:r>
            <a:r>
              <a:rPr sz="1000" spc="-50" dirty="0">
                <a:latin typeface="Tahoma"/>
                <a:cs typeface="Tahoma"/>
              </a:rPr>
              <a:t>second </a:t>
            </a:r>
            <a:r>
              <a:rPr sz="1000" spc="-55" dirty="0">
                <a:latin typeface="Tahoma"/>
                <a:cs typeface="Tahoma"/>
              </a:rPr>
              <a:t>case </a:t>
            </a:r>
            <a:r>
              <a:rPr sz="1000" spc="-90" dirty="0">
                <a:latin typeface="Tahoma"/>
                <a:cs typeface="Tahoma"/>
              </a:rPr>
              <a:t>we</a:t>
            </a:r>
            <a:r>
              <a:rPr sz="1000" spc="-85" dirty="0">
                <a:latin typeface="Tahoma"/>
                <a:cs typeface="Tahoma"/>
              </a:rPr>
              <a:t> </a:t>
            </a:r>
            <a:r>
              <a:rPr sz="1000" spc="-55" dirty="0">
                <a:latin typeface="Tahoma"/>
                <a:cs typeface="Tahoma"/>
              </a:rPr>
              <a:t>reason </a:t>
            </a:r>
            <a:r>
              <a:rPr sz="1000" spc="-30" dirty="0">
                <a:latin typeface="Tahoma"/>
                <a:cs typeface="Tahoma"/>
              </a:rPr>
              <a:t>analogically:</a:t>
            </a:r>
            <a:r>
              <a:rPr sz="1000" spc="-25" dirty="0">
                <a:latin typeface="Tahoma"/>
                <a:cs typeface="Tahoma"/>
              </a:rPr>
              <a:t> </a:t>
            </a:r>
            <a:r>
              <a:rPr sz="1000" spc="-55" dirty="0">
                <a:latin typeface="Tahoma"/>
                <a:cs typeface="Tahoma"/>
              </a:rPr>
              <a:t>because </a:t>
            </a:r>
            <a:r>
              <a:rPr sz="1000" spc="-30" dirty="0">
                <a:latin typeface="Tahoma"/>
                <a:cs typeface="Tahoma"/>
              </a:rPr>
              <a:t>of </a:t>
            </a:r>
            <a:r>
              <a:rPr sz="1000" i="1" spc="-80" dirty="0">
                <a:latin typeface="Arial"/>
                <a:cs typeface="Arial"/>
              </a:rPr>
              <a:t>a</a:t>
            </a:r>
            <a:r>
              <a:rPr sz="1000" i="1" spc="-75" dirty="0">
                <a:latin typeface="Arial"/>
                <a:cs typeface="Arial"/>
              </a:rPr>
              <a:t> </a:t>
            </a:r>
            <a:r>
              <a:rPr sz="1000" spc="-135" dirty="0">
                <a:latin typeface="Lucida Sans Unicode"/>
                <a:cs typeface="Lucida Sans Unicode"/>
              </a:rPr>
              <a:t>∈</a:t>
            </a:r>
            <a:r>
              <a:rPr sz="1000" spc="45" dirty="0">
                <a:latin typeface="Lucida Sans Unicode"/>
                <a:cs typeface="Lucida Sans Unicode"/>
              </a:rPr>
              <a:t> </a:t>
            </a:r>
            <a:r>
              <a:rPr sz="1000" i="1" spc="-5" dirty="0">
                <a:latin typeface="Arial"/>
                <a:cs typeface="Arial"/>
              </a:rPr>
              <a:t>Z</a:t>
            </a:r>
            <a:r>
              <a:rPr sz="1000" i="1" spc="265" dirty="0">
                <a:latin typeface="Arial"/>
                <a:cs typeface="Arial"/>
              </a:rPr>
              <a:t> </a:t>
            </a:r>
            <a:r>
              <a:rPr sz="1000" spc="-90" dirty="0">
                <a:latin typeface="Tahoma"/>
                <a:cs typeface="Tahoma"/>
              </a:rPr>
              <a:t>we </a:t>
            </a:r>
            <a:r>
              <a:rPr sz="1000" spc="-85" dirty="0">
                <a:latin typeface="Tahoma"/>
                <a:cs typeface="Tahoma"/>
              </a:rPr>
              <a:t> </a:t>
            </a:r>
            <a:r>
              <a:rPr sz="1000" spc="-40" dirty="0">
                <a:latin typeface="Tahoma"/>
                <a:cs typeface="Tahoma"/>
              </a:rPr>
              <a:t>get</a:t>
            </a:r>
            <a:r>
              <a:rPr sz="100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spc="50" dirty="0">
                <a:latin typeface="Arial"/>
                <a:cs typeface="Arial"/>
              </a:rPr>
              <a:t> </a:t>
            </a:r>
            <a:r>
              <a:rPr sz="1000" spc="-135" dirty="0">
                <a:latin typeface="Lucida Sans Unicode"/>
                <a:cs typeface="Lucida Sans Unicode"/>
              </a:rPr>
              <a:t>∪</a:t>
            </a:r>
            <a:r>
              <a:rPr sz="1000" spc="-130" dirty="0">
                <a:latin typeface="Lucida Sans Unicode"/>
                <a:cs typeface="Lucida Sans Unicode"/>
              </a:rPr>
              <a:t> </a:t>
            </a:r>
            <a:r>
              <a:rPr sz="1000" i="1" spc="-5" dirty="0">
                <a:latin typeface="Arial"/>
                <a:cs typeface="Arial"/>
              </a:rPr>
              <a:t>Z</a:t>
            </a:r>
            <a:r>
              <a:rPr sz="1000" i="1" spc="160" dirty="0">
                <a:latin typeface="Arial"/>
                <a:cs typeface="Arial"/>
              </a:rPr>
              <a:t> </a:t>
            </a:r>
            <a:r>
              <a:rPr sz="1000" spc="-45" dirty="0">
                <a:latin typeface="Tahoma"/>
                <a:cs typeface="Tahoma"/>
              </a:rPr>
              <a:t>and</a:t>
            </a:r>
            <a:r>
              <a:rPr sz="100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35" dirty="0">
                <a:latin typeface="Lucida Sans Unicode"/>
                <a:cs typeface="Lucida Sans Unicode"/>
              </a:rPr>
              <a:t> </a:t>
            </a:r>
            <a:r>
              <a:rPr sz="1000" i="1" spc="-5" dirty="0">
                <a:latin typeface="Arial"/>
                <a:cs typeface="Arial"/>
              </a:rPr>
              <a:t>Y</a:t>
            </a:r>
            <a:r>
              <a:rPr sz="1000" i="1" spc="80" dirty="0">
                <a:latin typeface="Arial"/>
                <a:cs typeface="Arial"/>
              </a:rPr>
              <a:t> </a:t>
            </a:r>
            <a:r>
              <a:rPr sz="1000" spc="-135" dirty="0">
                <a:latin typeface="Lucida Sans Unicode"/>
                <a:cs typeface="Lucida Sans Unicode"/>
              </a:rPr>
              <a:t>∪</a:t>
            </a:r>
            <a:r>
              <a:rPr sz="1000" spc="-130"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5" dirty="0">
                <a:latin typeface="Tahoma"/>
                <a:cs typeface="Tahoma"/>
              </a:rPr>
              <a:t> </a:t>
            </a:r>
            <a:r>
              <a:rPr sz="1000" spc="-40" dirty="0">
                <a:latin typeface="Tahoma"/>
                <a:cs typeface="Tahoma"/>
              </a:rPr>
              <a:t>then</a:t>
            </a:r>
            <a:r>
              <a:rPr sz="1000" spc="5" dirty="0">
                <a:latin typeface="Tahoma"/>
                <a:cs typeface="Tahoma"/>
              </a:rPr>
              <a:t> </a:t>
            </a:r>
            <a:r>
              <a:rPr sz="1000" spc="-30" dirty="0">
                <a:latin typeface="Tahoma"/>
                <a:cs typeface="Tahoma"/>
              </a:rPr>
              <a:t>analogically</a:t>
            </a:r>
            <a:r>
              <a:rPr sz="1000" dirty="0">
                <a:latin typeface="Tahoma"/>
                <a:cs typeface="Tahoma"/>
              </a:rPr>
              <a:t> </a:t>
            </a:r>
            <a:r>
              <a:rPr sz="1000" spc="-10" dirty="0">
                <a:latin typeface="Tahoma"/>
                <a:cs typeface="Tahoma"/>
              </a:rPr>
              <a:t>to</a:t>
            </a:r>
            <a:r>
              <a:rPr sz="1000" dirty="0">
                <a:latin typeface="Tahoma"/>
                <a:cs typeface="Tahoma"/>
              </a:rPr>
              <a:t> </a:t>
            </a:r>
            <a:r>
              <a:rPr sz="1000" spc="-35" dirty="0">
                <a:latin typeface="Tahoma"/>
                <a:cs typeface="Tahoma"/>
              </a:rPr>
              <a:t>the</a:t>
            </a:r>
            <a:r>
              <a:rPr sz="1000" spc="5" dirty="0">
                <a:latin typeface="Tahoma"/>
                <a:cs typeface="Tahoma"/>
              </a:rPr>
              <a:t> </a:t>
            </a:r>
            <a:r>
              <a:rPr sz="1000" spc="-15" dirty="0">
                <a:latin typeface="Tahoma"/>
                <a:cs typeface="Tahoma"/>
              </a:rPr>
              <a:t>first</a:t>
            </a:r>
            <a:r>
              <a:rPr sz="1000" dirty="0">
                <a:latin typeface="Tahoma"/>
                <a:cs typeface="Tahoma"/>
              </a:rPr>
              <a:t> </a:t>
            </a:r>
            <a:r>
              <a:rPr sz="1000" spc="-50" dirty="0">
                <a:latin typeface="Tahoma"/>
                <a:cs typeface="Tahoma"/>
              </a:rPr>
              <a:t>case.</a:t>
            </a:r>
            <a:endParaRPr sz="1000">
              <a:latin typeface="Tahoma"/>
              <a:cs typeface="Tahoma"/>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735455" cy="244475"/>
          </a:xfrm>
          <a:prstGeom prst="rect">
            <a:avLst/>
          </a:prstGeom>
        </p:spPr>
        <p:txBody>
          <a:bodyPr vert="horz" wrap="square" lIns="0" tIns="17145" rIns="0" bIns="0" rtlCol="0">
            <a:spAutoFit/>
          </a:bodyPr>
          <a:lstStyle/>
          <a:p>
            <a:pPr marL="12700">
              <a:lnSpc>
                <a:spcPct val="100000"/>
              </a:lnSpc>
              <a:spcBef>
                <a:spcPts val="135"/>
              </a:spcBef>
            </a:pPr>
            <a:r>
              <a:rPr spc="-10" dirty="0"/>
              <a:t>Distributivity</a:t>
            </a:r>
            <a:r>
              <a:rPr spc="125" dirty="0"/>
              <a:t> </a:t>
            </a:r>
            <a:r>
              <a:rPr spc="55" dirty="0"/>
              <a:t>-</a:t>
            </a:r>
            <a:r>
              <a:rPr spc="125" dirty="0"/>
              <a:t> </a:t>
            </a:r>
            <a:r>
              <a:rPr spc="-40" dirty="0"/>
              <a:t>proof</a:t>
            </a:r>
          </a:p>
        </p:txBody>
      </p:sp>
      <p:grpSp>
        <p:nvGrpSpPr>
          <p:cNvPr id="30" name="object 30"/>
          <p:cNvGrpSpPr/>
          <p:nvPr/>
        </p:nvGrpSpPr>
        <p:grpSpPr>
          <a:xfrm>
            <a:off x="698562" y="1019733"/>
            <a:ext cx="3831590" cy="1910080"/>
            <a:chOff x="698562" y="1019733"/>
            <a:chExt cx="3831590" cy="1910080"/>
          </a:xfrm>
        </p:grpSpPr>
        <p:sp>
          <p:nvSpPr>
            <p:cNvPr id="31" name="object 31"/>
            <p:cNvSpPr/>
            <p:nvPr/>
          </p:nvSpPr>
          <p:spPr>
            <a:xfrm>
              <a:off x="698562" y="1019733"/>
              <a:ext cx="3780790" cy="82550"/>
            </a:xfrm>
            <a:custGeom>
              <a:avLst/>
              <a:gdLst/>
              <a:ahLst/>
              <a:cxnLst/>
              <a:rect l="l" t="t" r="r" b="b"/>
              <a:pathLst>
                <a:path w="3780790" h="82550">
                  <a:moveTo>
                    <a:pt x="3729484" y="0"/>
                  </a:moveTo>
                  <a:lnTo>
                    <a:pt x="50800" y="0"/>
                  </a:lnTo>
                  <a:lnTo>
                    <a:pt x="31075" y="4008"/>
                  </a:lnTo>
                  <a:lnTo>
                    <a:pt x="14922" y="14922"/>
                  </a:lnTo>
                  <a:lnTo>
                    <a:pt x="4008" y="31075"/>
                  </a:lnTo>
                  <a:lnTo>
                    <a:pt x="0" y="50800"/>
                  </a:lnTo>
                  <a:lnTo>
                    <a:pt x="0" y="82384"/>
                  </a:lnTo>
                  <a:lnTo>
                    <a:pt x="3780285" y="82384"/>
                  </a:lnTo>
                  <a:lnTo>
                    <a:pt x="3780285" y="50800"/>
                  </a:lnTo>
                  <a:lnTo>
                    <a:pt x="3776276" y="31075"/>
                  </a:lnTo>
                  <a:lnTo>
                    <a:pt x="3765362" y="14922"/>
                  </a:lnTo>
                  <a:lnTo>
                    <a:pt x="3749209" y="4008"/>
                  </a:lnTo>
                  <a:lnTo>
                    <a:pt x="3729484" y="0"/>
                  </a:lnTo>
                  <a:close/>
                </a:path>
              </a:pathLst>
            </a:custGeom>
            <a:solidFill>
              <a:srgbClr val="E9E9F2"/>
            </a:solidFill>
          </p:spPr>
          <p:txBody>
            <a:bodyPr wrap="square" lIns="0" tIns="0" rIns="0" bIns="0" rtlCol="0"/>
            <a:lstStyle/>
            <a:p>
              <a:endParaRPr/>
            </a:p>
          </p:txBody>
        </p:sp>
        <p:sp>
          <p:nvSpPr>
            <p:cNvPr id="32" name="object 32"/>
            <p:cNvSpPr/>
            <p:nvPr/>
          </p:nvSpPr>
          <p:spPr>
            <a:xfrm>
              <a:off x="749363" y="1082967"/>
              <a:ext cx="3780790" cy="1846580"/>
            </a:xfrm>
            <a:custGeom>
              <a:avLst/>
              <a:gdLst/>
              <a:ahLst/>
              <a:cxnLst/>
              <a:rect l="l" t="t" r="r" b="b"/>
              <a:pathLst>
                <a:path w="3780790" h="1846580">
                  <a:moveTo>
                    <a:pt x="3780285" y="0"/>
                  </a:moveTo>
                  <a:lnTo>
                    <a:pt x="0" y="0"/>
                  </a:lnTo>
                  <a:lnTo>
                    <a:pt x="0" y="1846364"/>
                  </a:lnTo>
                  <a:lnTo>
                    <a:pt x="3780285" y="1846364"/>
                  </a:lnTo>
                  <a:lnTo>
                    <a:pt x="3780285" y="0"/>
                  </a:lnTo>
                  <a:close/>
                </a:path>
              </a:pathLst>
            </a:custGeom>
            <a:solidFill>
              <a:srgbClr val="000000"/>
            </a:solidFill>
          </p:spPr>
          <p:txBody>
            <a:bodyPr wrap="square" lIns="0" tIns="0" rIns="0" bIns="0" rtlCol="0"/>
            <a:lstStyle/>
            <a:p>
              <a:endParaRPr/>
            </a:p>
          </p:txBody>
        </p:sp>
        <p:sp>
          <p:nvSpPr>
            <p:cNvPr id="33" name="object 33"/>
            <p:cNvSpPr/>
            <p:nvPr/>
          </p:nvSpPr>
          <p:spPr>
            <a:xfrm>
              <a:off x="698562" y="1064130"/>
              <a:ext cx="3780790" cy="1814830"/>
            </a:xfrm>
            <a:custGeom>
              <a:avLst/>
              <a:gdLst/>
              <a:ahLst/>
              <a:cxnLst/>
              <a:rect l="l" t="t" r="r" b="b"/>
              <a:pathLst>
                <a:path w="3780790" h="1814830">
                  <a:moveTo>
                    <a:pt x="3780285" y="0"/>
                  </a:moveTo>
                  <a:lnTo>
                    <a:pt x="0" y="0"/>
                  </a:lnTo>
                  <a:lnTo>
                    <a:pt x="0" y="1763600"/>
                  </a:lnTo>
                  <a:lnTo>
                    <a:pt x="4008" y="1783325"/>
                  </a:lnTo>
                  <a:lnTo>
                    <a:pt x="14922" y="1799478"/>
                  </a:lnTo>
                  <a:lnTo>
                    <a:pt x="31075" y="1810392"/>
                  </a:lnTo>
                  <a:lnTo>
                    <a:pt x="50800" y="1814401"/>
                  </a:lnTo>
                  <a:lnTo>
                    <a:pt x="3729484" y="1814401"/>
                  </a:lnTo>
                  <a:lnTo>
                    <a:pt x="3749209" y="1810392"/>
                  </a:lnTo>
                  <a:lnTo>
                    <a:pt x="3765362" y="1799478"/>
                  </a:lnTo>
                  <a:lnTo>
                    <a:pt x="3776276" y="1783325"/>
                  </a:lnTo>
                  <a:lnTo>
                    <a:pt x="3780285" y="1763600"/>
                  </a:lnTo>
                  <a:lnTo>
                    <a:pt x="3780285" y="0"/>
                  </a:lnTo>
                  <a:close/>
                </a:path>
              </a:pathLst>
            </a:custGeom>
            <a:solidFill>
              <a:srgbClr val="E9E9F2"/>
            </a:solidFill>
          </p:spPr>
          <p:txBody>
            <a:bodyPr wrap="square" lIns="0" tIns="0" rIns="0" bIns="0" rtlCol="0"/>
            <a:lstStyle/>
            <a:p>
              <a:endParaRPr/>
            </a:p>
          </p:txBody>
        </p:sp>
      </p:grpSp>
      <p:sp>
        <p:nvSpPr>
          <p:cNvPr id="34" name="object 34"/>
          <p:cNvSpPr txBox="1"/>
          <p:nvPr/>
        </p:nvSpPr>
        <p:spPr>
          <a:xfrm>
            <a:off x="736663" y="1038103"/>
            <a:ext cx="2174240" cy="329565"/>
          </a:xfrm>
          <a:prstGeom prst="rect">
            <a:avLst/>
          </a:prstGeom>
        </p:spPr>
        <p:txBody>
          <a:bodyPr vert="horz" wrap="square" lIns="0" tIns="12065" rIns="0" bIns="0" rtlCol="0">
            <a:spAutoFit/>
          </a:bodyPr>
          <a:lstStyle/>
          <a:p>
            <a:pPr marL="12700">
              <a:lnSpc>
                <a:spcPts val="1200"/>
              </a:lnSpc>
              <a:spcBef>
                <a:spcPts val="95"/>
              </a:spcBef>
            </a:pPr>
            <a:r>
              <a:rPr sz="1000" spc="-25" dirty="0">
                <a:latin typeface="Tahoma"/>
                <a:cs typeface="Tahoma"/>
              </a:rPr>
              <a:t>Ending</a:t>
            </a:r>
            <a:r>
              <a:rPr sz="1000" spc="-5" dirty="0">
                <a:latin typeface="Tahoma"/>
                <a:cs typeface="Tahoma"/>
              </a:rPr>
              <a:t> </a:t>
            </a:r>
            <a:r>
              <a:rPr sz="1000" spc="-30" dirty="0">
                <a:latin typeface="Tahoma"/>
                <a:cs typeface="Tahoma"/>
              </a:rPr>
              <a:t>of</a:t>
            </a:r>
            <a:r>
              <a:rPr sz="1000" spc="5" dirty="0">
                <a:latin typeface="Tahoma"/>
                <a:cs typeface="Tahoma"/>
              </a:rPr>
              <a:t> </a:t>
            </a:r>
            <a:r>
              <a:rPr sz="1000" spc="-35" dirty="0">
                <a:latin typeface="Tahoma"/>
                <a:cs typeface="Tahoma"/>
              </a:rPr>
              <a:t>the</a:t>
            </a:r>
            <a:r>
              <a:rPr sz="1000" spc="-5" dirty="0">
                <a:latin typeface="Tahoma"/>
                <a:cs typeface="Tahoma"/>
              </a:rPr>
              <a:t> </a:t>
            </a:r>
            <a:r>
              <a:rPr sz="1000" spc="-35" dirty="0">
                <a:latin typeface="Tahoma"/>
                <a:cs typeface="Tahoma"/>
              </a:rPr>
              <a:t>proof.</a:t>
            </a:r>
            <a:endParaRPr sz="1000">
              <a:latin typeface="Tahoma"/>
              <a:cs typeface="Tahoma"/>
            </a:endParaRPr>
          </a:p>
          <a:p>
            <a:pPr marL="12700">
              <a:lnSpc>
                <a:spcPts val="1200"/>
              </a:lnSpc>
            </a:pPr>
            <a:r>
              <a:rPr sz="1000" spc="-20" dirty="0">
                <a:latin typeface="Tahoma"/>
                <a:cs typeface="Tahoma"/>
              </a:rPr>
              <a:t>we’ll</a:t>
            </a:r>
            <a:r>
              <a:rPr sz="1000" spc="15" dirty="0">
                <a:latin typeface="Tahoma"/>
                <a:cs typeface="Tahoma"/>
              </a:rPr>
              <a:t> </a:t>
            </a:r>
            <a:r>
              <a:rPr sz="1000" spc="-65" dirty="0">
                <a:latin typeface="Tahoma"/>
                <a:cs typeface="Tahoma"/>
              </a:rPr>
              <a:t>show</a:t>
            </a:r>
            <a:r>
              <a:rPr sz="1000" spc="10" dirty="0">
                <a:latin typeface="Tahoma"/>
                <a:cs typeface="Tahoma"/>
              </a:rPr>
              <a:t> </a:t>
            </a:r>
            <a:r>
              <a:rPr sz="1000" spc="-35" dirty="0">
                <a:latin typeface="Tahoma"/>
                <a:cs typeface="Tahoma"/>
              </a:rPr>
              <a:t>the</a:t>
            </a:r>
            <a:r>
              <a:rPr sz="1000" spc="20" dirty="0">
                <a:latin typeface="Tahoma"/>
                <a:cs typeface="Tahoma"/>
              </a:rPr>
              <a:t> </a:t>
            </a:r>
            <a:r>
              <a:rPr sz="1000" spc="-50" dirty="0">
                <a:latin typeface="Tahoma"/>
                <a:cs typeface="Tahoma"/>
              </a:rPr>
              <a:t>second</a:t>
            </a:r>
            <a:r>
              <a:rPr sz="1000" spc="10" dirty="0">
                <a:latin typeface="Tahoma"/>
                <a:cs typeface="Tahoma"/>
              </a:rPr>
              <a:t> </a:t>
            </a:r>
            <a:r>
              <a:rPr sz="1000" spc="-30" dirty="0">
                <a:latin typeface="Tahoma"/>
                <a:cs typeface="Tahoma"/>
              </a:rPr>
              <a:t>inclusion,</a:t>
            </a:r>
            <a:r>
              <a:rPr sz="1000" spc="20" dirty="0">
                <a:latin typeface="Tahoma"/>
                <a:cs typeface="Tahoma"/>
              </a:rPr>
              <a:t> </a:t>
            </a:r>
            <a:r>
              <a:rPr sz="1000" spc="-35" dirty="0">
                <a:latin typeface="Tahoma"/>
                <a:cs typeface="Tahoma"/>
              </a:rPr>
              <a:t>i.e.</a:t>
            </a:r>
            <a:r>
              <a:rPr sz="1000" spc="125" dirty="0">
                <a:latin typeface="Tahoma"/>
                <a:cs typeface="Tahoma"/>
              </a:rPr>
              <a:t> </a:t>
            </a:r>
            <a:r>
              <a:rPr sz="1000" spc="-10" dirty="0">
                <a:latin typeface="Tahoma"/>
                <a:cs typeface="Tahoma"/>
              </a:rPr>
              <a:t>that</a:t>
            </a:r>
            <a:endParaRPr sz="1000">
              <a:latin typeface="Tahoma"/>
              <a:cs typeface="Tahoma"/>
            </a:endParaRPr>
          </a:p>
        </p:txBody>
      </p:sp>
      <p:sp>
        <p:nvSpPr>
          <p:cNvPr id="35" name="object 35"/>
          <p:cNvSpPr txBox="1"/>
          <p:nvPr/>
        </p:nvSpPr>
        <p:spPr>
          <a:xfrm>
            <a:off x="736663" y="1341760"/>
            <a:ext cx="3437890"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Tahoma"/>
                <a:cs typeface="Tahoma"/>
              </a:rPr>
              <a:t>(</a:t>
            </a:r>
            <a:r>
              <a:rPr sz="1000" i="1"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35" dirty="0">
                <a:latin typeface="Tahoma"/>
                <a:cs typeface="Tahoma"/>
              </a:rPr>
              <a:t> </a:t>
            </a:r>
            <a:r>
              <a:rPr sz="1000" spc="-25" dirty="0">
                <a:latin typeface="Lucida Sans Unicode"/>
                <a:cs typeface="Lucida Sans Unicode"/>
              </a:rPr>
              <a:t>⊆</a:t>
            </a:r>
            <a:r>
              <a:rPr sz="1000" spc="-35" dirty="0">
                <a:latin typeface="Lucida Sans Unicode"/>
                <a:cs typeface="Lucida Sans Unicode"/>
              </a:rPr>
              <a:t> </a:t>
            </a:r>
            <a:r>
              <a:rPr sz="1000" dirty="0">
                <a:latin typeface="Tahoma"/>
                <a:cs typeface="Tahoma"/>
              </a:rPr>
              <a:t>(</a:t>
            </a:r>
            <a:r>
              <a:rPr sz="1000" i="1"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130" dirty="0">
                <a:latin typeface="Tahoma"/>
                <a:cs typeface="Tahoma"/>
              </a:rPr>
              <a:t> </a:t>
            </a:r>
            <a:r>
              <a:rPr sz="1000" spc="-5" dirty="0">
                <a:latin typeface="Tahoma"/>
                <a:cs typeface="Tahoma"/>
              </a:rPr>
              <a:t>Let’s</a:t>
            </a:r>
            <a:r>
              <a:rPr sz="1000" spc="20" dirty="0">
                <a:latin typeface="Tahoma"/>
                <a:cs typeface="Tahoma"/>
              </a:rPr>
              <a:t> </a:t>
            </a:r>
            <a:r>
              <a:rPr sz="1000" spc="-40" dirty="0">
                <a:latin typeface="Tahoma"/>
                <a:cs typeface="Tahoma"/>
              </a:rPr>
              <a:t>take</a:t>
            </a:r>
            <a:r>
              <a:rPr sz="1000" spc="20" dirty="0">
                <a:latin typeface="Tahoma"/>
                <a:cs typeface="Tahoma"/>
              </a:rPr>
              <a:t> </a:t>
            </a:r>
            <a:r>
              <a:rPr sz="1000" spc="-65" dirty="0">
                <a:latin typeface="Tahoma"/>
                <a:cs typeface="Tahoma"/>
              </a:rPr>
              <a:t>some</a:t>
            </a:r>
            <a:r>
              <a:rPr sz="1000" spc="20" dirty="0">
                <a:latin typeface="Tahoma"/>
                <a:cs typeface="Tahoma"/>
              </a:rPr>
              <a:t> </a:t>
            </a:r>
            <a:r>
              <a:rPr sz="1000" i="1" spc="-80" dirty="0">
                <a:latin typeface="Arial"/>
                <a:cs typeface="Arial"/>
              </a:rPr>
              <a:t>a</a:t>
            </a:r>
            <a:r>
              <a:rPr sz="1000" i="1" spc="60" dirty="0">
                <a:latin typeface="Arial"/>
                <a:cs typeface="Arial"/>
              </a:rPr>
              <a:t> </a:t>
            </a:r>
            <a:r>
              <a:rPr sz="1000" spc="-40" dirty="0">
                <a:latin typeface="Tahoma"/>
                <a:cs typeface="Tahoma"/>
              </a:rPr>
              <a:t>for</a:t>
            </a:r>
            <a:r>
              <a:rPr sz="1000" spc="20" dirty="0">
                <a:latin typeface="Tahoma"/>
                <a:cs typeface="Tahoma"/>
              </a:rPr>
              <a:t> </a:t>
            </a:r>
            <a:r>
              <a:rPr sz="1000" spc="-35" dirty="0">
                <a:latin typeface="Tahoma"/>
                <a:cs typeface="Tahoma"/>
              </a:rPr>
              <a:t>which</a:t>
            </a:r>
            <a:endParaRPr sz="1000">
              <a:latin typeface="Tahoma"/>
              <a:cs typeface="Tahoma"/>
            </a:endParaRPr>
          </a:p>
        </p:txBody>
      </p:sp>
      <p:sp>
        <p:nvSpPr>
          <p:cNvPr id="36" name="object 36"/>
          <p:cNvSpPr txBox="1"/>
          <p:nvPr/>
        </p:nvSpPr>
        <p:spPr>
          <a:xfrm>
            <a:off x="736663" y="1493588"/>
            <a:ext cx="3553460" cy="177800"/>
          </a:xfrm>
          <a:prstGeom prst="rect">
            <a:avLst/>
          </a:prstGeom>
        </p:spPr>
        <p:txBody>
          <a:bodyPr vert="horz" wrap="square" lIns="0" tIns="12065" rIns="0" bIns="0" rtlCol="0">
            <a:spAutoFit/>
          </a:bodyPr>
          <a:lstStyle/>
          <a:p>
            <a:pPr marL="12700">
              <a:lnSpc>
                <a:spcPct val="100000"/>
              </a:lnSpc>
              <a:spcBef>
                <a:spcPts val="95"/>
              </a:spcBef>
            </a:pP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15" dirty="0">
                <a:latin typeface="Tahoma"/>
                <a:cs typeface="Tahoma"/>
              </a:rPr>
              <a:t>).</a:t>
            </a:r>
            <a:r>
              <a:rPr sz="1000" spc="130" dirty="0">
                <a:latin typeface="Tahoma"/>
                <a:cs typeface="Tahoma"/>
              </a:rPr>
              <a:t> </a:t>
            </a:r>
            <a:r>
              <a:rPr sz="1000" spc="-20" dirty="0">
                <a:latin typeface="Tahoma"/>
                <a:cs typeface="Tahoma"/>
              </a:rPr>
              <a:t>Then</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dirty="0">
                <a:latin typeface="Arial"/>
                <a:cs typeface="Arial"/>
              </a:rPr>
              <a:t> </a:t>
            </a:r>
            <a:r>
              <a:rPr sz="1000" i="1" spc="-105" dirty="0">
                <a:latin typeface="Arial"/>
                <a:cs typeface="Arial"/>
              </a:rPr>
              <a:t> </a:t>
            </a:r>
            <a:r>
              <a:rPr sz="1000" spc="-45" dirty="0">
                <a:latin typeface="Tahoma"/>
                <a:cs typeface="Tahoma"/>
              </a:rPr>
              <a:t>and</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Y</a:t>
            </a:r>
            <a:r>
              <a:rPr sz="1000" i="1" spc="114"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130" dirty="0">
                <a:latin typeface="Tahoma"/>
                <a:cs typeface="Tahoma"/>
              </a:rPr>
              <a:t> </a:t>
            </a:r>
            <a:r>
              <a:rPr sz="1000" spc="50" dirty="0">
                <a:latin typeface="Tahoma"/>
                <a:cs typeface="Tahoma"/>
              </a:rPr>
              <a:t>P</a:t>
            </a:r>
            <a:r>
              <a:rPr sz="1000" spc="-40" dirty="0">
                <a:latin typeface="Tahoma"/>
                <a:cs typeface="Tahoma"/>
              </a:rPr>
              <a:t>ossible</a:t>
            </a:r>
            <a:endParaRPr sz="1000">
              <a:latin typeface="Tahoma"/>
              <a:cs typeface="Tahoma"/>
            </a:endParaRPr>
          </a:p>
        </p:txBody>
      </p:sp>
      <p:grpSp>
        <p:nvGrpSpPr>
          <p:cNvPr id="37" name="object 37"/>
          <p:cNvGrpSpPr/>
          <p:nvPr/>
        </p:nvGrpSpPr>
        <p:grpSpPr>
          <a:xfrm>
            <a:off x="879551" y="1912302"/>
            <a:ext cx="59690" cy="249554"/>
            <a:chOff x="879551" y="1912302"/>
            <a:chExt cx="59690" cy="249554"/>
          </a:xfrm>
        </p:grpSpPr>
        <p:pic>
          <p:nvPicPr>
            <p:cNvPr id="38" name="object 38"/>
            <p:cNvPicPr/>
            <p:nvPr/>
          </p:nvPicPr>
          <p:blipFill>
            <a:blip r:embed="rId7" cstate="print"/>
            <a:stretch>
              <a:fillRect/>
            </a:stretch>
          </p:blipFill>
          <p:spPr>
            <a:xfrm>
              <a:off x="879551" y="1912302"/>
              <a:ext cx="59601" cy="59601"/>
            </a:xfrm>
            <a:prstGeom prst="rect">
              <a:avLst/>
            </a:prstGeom>
          </p:spPr>
        </p:pic>
        <p:pic>
          <p:nvPicPr>
            <p:cNvPr id="39" name="object 39"/>
            <p:cNvPicPr/>
            <p:nvPr/>
          </p:nvPicPr>
          <p:blipFill>
            <a:blip r:embed="rId7" cstate="print"/>
            <a:stretch>
              <a:fillRect/>
            </a:stretch>
          </p:blipFill>
          <p:spPr>
            <a:xfrm>
              <a:off x="879551" y="2102091"/>
              <a:ext cx="59601" cy="59601"/>
            </a:xfrm>
            <a:prstGeom prst="rect">
              <a:avLst/>
            </a:prstGeom>
          </p:spPr>
        </p:pic>
      </p:grpSp>
      <p:sp>
        <p:nvSpPr>
          <p:cNvPr id="40" name="object 40"/>
          <p:cNvSpPr txBox="1"/>
          <p:nvPr/>
        </p:nvSpPr>
        <p:spPr>
          <a:xfrm>
            <a:off x="736663" y="1607458"/>
            <a:ext cx="3653154" cy="1240155"/>
          </a:xfrm>
          <a:prstGeom prst="rect">
            <a:avLst/>
          </a:prstGeom>
        </p:spPr>
        <p:txBody>
          <a:bodyPr vert="horz" wrap="square" lIns="0" tIns="50165" rIns="0" bIns="0" rtlCol="0">
            <a:spAutoFit/>
          </a:bodyPr>
          <a:lstStyle/>
          <a:p>
            <a:pPr marL="12700">
              <a:lnSpc>
                <a:spcPct val="100000"/>
              </a:lnSpc>
              <a:spcBef>
                <a:spcPts val="395"/>
              </a:spcBef>
            </a:pPr>
            <a:r>
              <a:rPr sz="1000" spc="-35" dirty="0">
                <a:latin typeface="Tahoma"/>
                <a:cs typeface="Tahoma"/>
              </a:rPr>
              <a:t>variants</a:t>
            </a:r>
            <a:r>
              <a:rPr sz="1000" spc="5" dirty="0">
                <a:latin typeface="Tahoma"/>
                <a:cs typeface="Tahoma"/>
              </a:rPr>
              <a:t> </a:t>
            </a:r>
            <a:r>
              <a:rPr sz="1000" spc="-30" dirty="0">
                <a:latin typeface="Tahoma"/>
                <a:cs typeface="Tahoma"/>
              </a:rPr>
              <a:t>of</a:t>
            </a:r>
            <a:r>
              <a:rPr sz="1000" spc="10" dirty="0">
                <a:latin typeface="Tahoma"/>
                <a:cs typeface="Tahoma"/>
              </a:rPr>
              <a:t> </a:t>
            </a:r>
            <a:r>
              <a:rPr sz="1000" spc="-45" dirty="0">
                <a:latin typeface="Tahoma"/>
                <a:cs typeface="Tahoma"/>
              </a:rPr>
              <a:t>membership</a:t>
            </a:r>
            <a:r>
              <a:rPr sz="1000" dirty="0">
                <a:latin typeface="Tahoma"/>
                <a:cs typeface="Tahoma"/>
              </a:rPr>
              <a:t> </a:t>
            </a:r>
            <a:r>
              <a:rPr sz="1000" spc="-30" dirty="0">
                <a:latin typeface="Tahoma"/>
                <a:cs typeface="Tahoma"/>
              </a:rPr>
              <a:t>of</a:t>
            </a:r>
            <a:r>
              <a:rPr sz="1000" spc="10" dirty="0">
                <a:latin typeface="Tahoma"/>
                <a:cs typeface="Tahoma"/>
              </a:rPr>
              <a:t> </a:t>
            </a:r>
            <a:r>
              <a:rPr sz="1000" i="1" spc="-75" dirty="0">
                <a:latin typeface="Arial"/>
                <a:cs typeface="Arial"/>
              </a:rPr>
              <a:t>a</a:t>
            </a:r>
            <a:r>
              <a:rPr sz="1000" spc="-75" dirty="0">
                <a:latin typeface="Tahoma"/>
                <a:cs typeface="Tahoma"/>
              </a:rPr>
              <a:t>:</a:t>
            </a:r>
            <a:endParaRPr sz="1000">
              <a:latin typeface="Tahoma"/>
              <a:cs typeface="Tahoma"/>
            </a:endParaRPr>
          </a:p>
          <a:p>
            <a:pPr marL="265430">
              <a:lnSpc>
                <a:spcPct val="100000"/>
              </a:lnSpc>
              <a:spcBef>
                <a:spcPts val="295"/>
              </a:spcBef>
            </a:pP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130" dirty="0">
                <a:latin typeface="Tahoma"/>
                <a:cs typeface="Tahoma"/>
              </a:rPr>
              <a:t> </a:t>
            </a:r>
            <a:r>
              <a:rPr sz="1000" spc="-75" dirty="0">
                <a:latin typeface="Tahoma"/>
                <a:cs typeface="Tahoma"/>
              </a:rPr>
              <a:t>In</a:t>
            </a:r>
            <a:r>
              <a:rPr sz="1000" spc="20" dirty="0">
                <a:latin typeface="Tahoma"/>
                <a:cs typeface="Tahoma"/>
              </a:rPr>
              <a:t> </a:t>
            </a:r>
            <a:r>
              <a:rPr sz="1000" spc="-20" dirty="0">
                <a:latin typeface="Tahoma"/>
                <a:cs typeface="Tahoma"/>
              </a:rPr>
              <a:t>this</a:t>
            </a:r>
            <a:r>
              <a:rPr sz="1000" spc="15" dirty="0">
                <a:latin typeface="Tahoma"/>
                <a:cs typeface="Tahoma"/>
              </a:rPr>
              <a:t> </a:t>
            </a:r>
            <a:r>
              <a:rPr sz="1000" spc="-55" dirty="0">
                <a:latin typeface="Tahoma"/>
                <a:cs typeface="Tahoma"/>
              </a:rPr>
              <a:t>case</a:t>
            </a:r>
            <a:r>
              <a:rPr sz="1000" spc="15" dirty="0">
                <a:latin typeface="Tahoma"/>
                <a:cs typeface="Tahoma"/>
              </a:rPr>
              <a:t> </a:t>
            </a:r>
            <a:r>
              <a:rPr sz="1000" spc="5" dirty="0">
                <a:latin typeface="Tahoma"/>
                <a:cs typeface="Tahoma"/>
              </a:rPr>
              <a:t>it’s</a:t>
            </a:r>
            <a:r>
              <a:rPr sz="1000" spc="20" dirty="0">
                <a:latin typeface="Tahoma"/>
                <a:cs typeface="Tahoma"/>
              </a:rPr>
              <a:t> </a:t>
            </a:r>
            <a:r>
              <a:rPr sz="1000" spc="-35" dirty="0">
                <a:latin typeface="Tahoma"/>
                <a:cs typeface="Tahoma"/>
              </a:rPr>
              <a:t>cle</a:t>
            </a:r>
            <a:r>
              <a:rPr sz="1000" spc="-75" dirty="0">
                <a:latin typeface="Tahoma"/>
                <a:cs typeface="Tahoma"/>
              </a:rPr>
              <a:t>a</a:t>
            </a:r>
            <a:r>
              <a:rPr sz="1000" spc="-25" dirty="0">
                <a:latin typeface="Tahoma"/>
                <a:cs typeface="Tahoma"/>
              </a:rPr>
              <a:t>r</a:t>
            </a:r>
            <a:r>
              <a:rPr sz="1000" spc="20" dirty="0">
                <a:latin typeface="Tahoma"/>
                <a:cs typeface="Tahoma"/>
              </a:rPr>
              <a:t> </a:t>
            </a:r>
            <a:r>
              <a:rPr sz="1000" spc="-10" dirty="0">
                <a:latin typeface="Tahoma"/>
                <a:cs typeface="Tahoma"/>
              </a:rPr>
              <a:t>that</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endParaRPr sz="1000">
              <a:latin typeface="Tahoma"/>
              <a:cs typeface="Tahoma"/>
            </a:endParaRPr>
          </a:p>
          <a:p>
            <a:pPr marL="265430">
              <a:lnSpc>
                <a:spcPts val="1200"/>
              </a:lnSpc>
              <a:spcBef>
                <a:spcPts val="290"/>
              </a:spcBef>
            </a:pPr>
            <a:r>
              <a:rPr sz="1000" i="1" spc="-80" dirty="0">
                <a:latin typeface="Arial"/>
                <a:cs typeface="Arial"/>
              </a:rPr>
              <a:t>a</a:t>
            </a:r>
            <a:r>
              <a:rPr sz="1000" i="1" spc="5" dirty="0">
                <a:latin typeface="Arial"/>
                <a:cs typeface="Arial"/>
              </a:rPr>
              <a:t> </a:t>
            </a:r>
            <a:r>
              <a:rPr sz="1000" spc="-690" dirty="0">
                <a:latin typeface="Lucida Sans Unicode"/>
                <a:cs typeface="Lucida Sans Unicode"/>
              </a:rPr>
              <a:t>∈</a:t>
            </a:r>
            <a:r>
              <a:rPr sz="1000" i="1" spc="40" dirty="0">
                <a:latin typeface="Verdana"/>
                <a:cs typeface="Verdana"/>
              </a:rPr>
              <a:t>/</a:t>
            </a:r>
            <a:r>
              <a:rPr sz="1000" i="1" spc="-20" dirty="0">
                <a:latin typeface="Verdana"/>
                <a:cs typeface="Verdana"/>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130" dirty="0">
                <a:latin typeface="Tahoma"/>
                <a:cs typeface="Tahoma"/>
              </a:rPr>
              <a:t> </a:t>
            </a:r>
            <a:r>
              <a:rPr sz="1000" spc="-20" dirty="0">
                <a:latin typeface="Tahoma"/>
                <a:cs typeface="Tahoma"/>
              </a:rPr>
              <a:t>Then</a:t>
            </a:r>
            <a:r>
              <a:rPr sz="1000" spc="20" dirty="0">
                <a:latin typeface="Tahoma"/>
                <a:cs typeface="Tahoma"/>
              </a:rPr>
              <a:t> </a:t>
            </a:r>
            <a:r>
              <a:rPr sz="1000" spc="15" dirty="0">
                <a:latin typeface="Tahoma"/>
                <a:cs typeface="Tahoma"/>
              </a:rPr>
              <a:t>it</a:t>
            </a:r>
            <a:r>
              <a:rPr sz="1000" spc="20" dirty="0">
                <a:latin typeface="Tahoma"/>
                <a:cs typeface="Tahoma"/>
              </a:rPr>
              <a:t> </a:t>
            </a:r>
            <a:r>
              <a:rPr sz="1000" spc="-35" dirty="0">
                <a:latin typeface="Tahoma"/>
                <a:cs typeface="Tahoma"/>
              </a:rPr>
              <a:t>must</a:t>
            </a:r>
            <a:r>
              <a:rPr sz="1000" spc="15" dirty="0">
                <a:latin typeface="Tahoma"/>
                <a:cs typeface="Tahoma"/>
              </a:rPr>
              <a:t> </a:t>
            </a:r>
            <a:r>
              <a:rPr sz="1000" spc="-30" dirty="0">
                <a:latin typeface="Tahoma"/>
                <a:cs typeface="Tahoma"/>
              </a:rPr>
              <a:t>hold</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dirty="0">
                <a:latin typeface="Arial"/>
                <a:cs typeface="Arial"/>
              </a:rPr>
              <a:t> </a:t>
            </a:r>
            <a:r>
              <a:rPr sz="1000" i="1" spc="-90" dirty="0">
                <a:latin typeface="Arial"/>
                <a:cs typeface="Arial"/>
              </a:rPr>
              <a:t> </a:t>
            </a:r>
            <a:r>
              <a:rPr sz="1000" spc="-45" dirty="0">
                <a:latin typeface="Tahoma"/>
                <a:cs typeface="Tahoma"/>
              </a:rPr>
              <a:t>and</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Y</a:t>
            </a:r>
            <a:r>
              <a:rPr sz="1000" i="1" spc="-110" dirty="0">
                <a:latin typeface="Arial"/>
                <a:cs typeface="Arial"/>
              </a:rPr>
              <a:t> </a:t>
            </a:r>
            <a:r>
              <a:rPr sz="1000" spc="-30" dirty="0">
                <a:latin typeface="Tahoma"/>
                <a:cs typeface="Tahoma"/>
              </a:rPr>
              <a:t>,</a:t>
            </a:r>
            <a:r>
              <a:rPr sz="1000" spc="20" dirty="0">
                <a:latin typeface="Tahoma"/>
                <a:cs typeface="Tahoma"/>
              </a:rPr>
              <a:t> </a:t>
            </a:r>
            <a:r>
              <a:rPr sz="1000" spc="-45" dirty="0">
                <a:latin typeface="Tahoma"/>
                <a:cs typeface="Tahoma"/>
              </a:rPr>
              <a:t>and</a:t>
            </a:r>
            <a:r>
              <a:rPr sz="1000" spc="20" dirty="0">
                <a:latin typeface="Tahoma"/>
                <a:cs typeface="Tahoma"/>
              </a:rPr>
              <a:t> </a:t>
            </a:r>
            <a:r>
              <a:rPr sz="1000" spc="15" dirty="0">
                <a:latin typeface="Tahoma"/>
                <a:cs typeface="Tahoma"/>
              </a:rPr>
              <a:t>it</a:t>
            </a:r>
            <a:r>
              <a:rPr sz="1000" spc="20" dirty="0">
                <a:latin typeface="Tahoma"/>
                <a:cs typeface="Tahoma"/>
              </a:rPr>
              <a:t> </a:t>
            </a:r>
            <a:r>
              <a:rPr sz="1000" spc="-55" dirty="0">
                <a:latin typeface="Tahoma"/>
                <a:cs typeface="Tahoma"/>
              </a:rPr>
              <a:t>means,</a:t>
            </a:r>
            <a:r>
              <a:rPr sz="1000" spc="15" dirty="0">
                <a:latin typeface="Tahoma"/>
                <a:cs typeface="Tahoma"/>
              </a:rPr>
              <a:t> </a:t>
            </a:r>
            <a:r>
              <a:rPr sz="1000" spc="-10" dirty="0">
                <a:latin typeface="Tahoma"/>
                <a:cs typeface="Tahoma"/>
              </a:rPr>
              <a:t>that</a:t>
            </a:r>
            <a:endParaRPr sz="1000">
              <a:latin typeface="Tahoma"/>
              <a:cs typeface="Tahoma"/>
            </a:endParaRPr>
          </a:p>
          <a:p>
            <a:pPr marL="265430">
              <a:lnSpc>
                <a:spcPts val="1200"/>
              </a:lnSpc>
            </a:pP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spc="-30" dirty="0">
                <a:latin typeface="Tahoma"/>
                <a:cs typeface="Tahoma"/>
              </a:rPr>
              <a:t>,</a:t>
            </a:r>
            <a:r>
              <a:rPr sz="1000" spc="20" dirty="0">
                <a:latin typeface="Tahoma"/>
                <a:cs typeface="Tahoma"/>
              </a:rPr>
              <a:t> </a:t>
            </a:r>
            <a:r>
              <a:rPr sz="1000" spc="-45" dirty="0">
                <a:latin typeface="Tahoma"/>
                <a:cs typeface="Tahoma"/>
              </a:rPr>
              <a:t>and</a:t>
            </a:r>
            <a:r>
              <a:rPr sz="1000" spc="20" dirty="0">
                <a:latin typeface="Tahoma"/>
                <a:cs typeface="Tahoma"/>
              </a:rPr>
              <a:t> </a:t>
            </a:r>
            <a:r>
              <a:rPr sz="1000" spc="-50" dirty="0">
                <a:latin typeface="Tahoma"/>
                <a:cs typeface="Tahoma"/>
              </a:rPr>
              <a:t>ag</a:t>
            </a:r>
            <a:r>
              <a:rPr sz="1000" spc="-55" dirty="0">
                <a:latin typeface="Tahoma"/>
                <a:cs typeface="Tahoma"/>
              </a:rPr>
              <a:t>a</a:t>
            </a:r>
            <a:r>
              <a:rPr sz="1000" spc="-20" dirty="0">
                <a:latin typeface="Tahoma"/>
                <a:cs typeface="Tahoma"/>
              </a:rPr>
              <a:t>in</a:t>
            </a:r>
            <a:r>
              <a:rPr sz="1000" spc="20" dirty="0">
                <a:latin typeface="Tahoma"/>
                <a:cs typeface="Tahoma"/>
              </a:rPr>
              <a:t> </a:t>
            </a:r>
            <a:r>
              <a:rPr sz="1000" spc="-95" dirty="0">
                <a:latin typeface="Tahoma"/>
                <a:cs typeface="Tahoma"/>
              </a:rPr>
              <a:t>w</a:t>
            </a:r>
            <a:r>
              <a:rPr sz="1000" spc="-85" dirty="0">
                <a:latin typeface="Tahoma"/>
                <a:cs typeface="Tahoma"/>
              </a:rPr>
              <a:t>e</a:t>
            </a:r>
            <a:r>
              <a:rPr sz="1000" spc="15" dirty="0">
                <a:latin typeface="Tahoma"/>
                <a:cs typeface="Tahoma"/>
              </a:rPr>
              <a:t> </a:t>
            </a:r>
            <a:r>
              <a:rPr sz="1000" spc="-40" dirty="0">
                <a:latin typeface="Tahoma"/>
                <a:cs typeface="Tahoma"/>
              </a:rPr>
              <a:t>get</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dirty="0">
                <a:latin typeface="Tahoma"/>
                <a:cs typeface="Tahoma"/>
              </a:rPr>
              <a:t>(</a:t>
            </a:r>
            <a:r>
              <a:rPr sz="1000" i="1" spc="-5" dirty="0">
                <a:latin typeface="Arial"/>
                <a:cs typeface="Arial"/>
              </a:rPr>
              <a:t>X</a:t>
            </a:r>
            <a:r>
              <a:rPr sz="1000" i="1" spc="75"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endParaRPr sz="1000">
              <a:latin typeface="Tahoma"/>
              <a:cs typeface="Tahoma"/>
            </a:endParaRPr>
          </a:p>
          <a:p>
            <a:pPr marL="12700" marR="171450">
              <a:lnSpc>
                <a:spcPct val="100000"/>
              </a:lnSpc>
              <a:spcBef>
                <a:spcPts val="295"/>
              </a:spcBef>
            </a:pPr>
            <a:r>
              <a:rPr sz="1000" spc="-75" dirty="0">
                <a:latin typeface="Tahoma"/>
                <a:cs typeface="Tahoma"/>
              </a:rPr>
              <a:t>In</a:t>
            </a:r>
            <a:r>
              <a:rPr sz="1000" spc="20" dirty="0">
                <a:latin typeface="Tahoma"/>
                <a:cs typeface="Tahoma"/>
              </a:rPr>
              <a:t> </a:t>
            </a:r>
            <a:r>
              <a:rPr sz="1000" spc="-20" dirty="0">
                <a:latin typeface="Tahoma"/>
                <a:cs typeface="Tahoma"/>
              </a:rPr>
              <a:t>both</a:t>
            </a:r>
            <a:r>
              <a:rPr sz="1000" spc="15" dirty="0">
                <a:latin typeface="Tahoma"/>
                <a:cs typeface="Tahoma"/>
              </a:rPr>
              <a:t> </a:t>
            </a:r>
            <a:r>
              <a:rPr sz="1000" spc="-60" dirty="0">
                <a:latin typeface="Tahoma"/>
                <a:cs typeface="Tahoma"/>
              </a:rPr>
              <a:t>cases</a:t>
            </a:r>
            <a:r>
              <a:rPr sz="1000" spc="25" dirty="0">
                <a:latin typeface="Tahoma"/>
                <a:cs typeface="Tahoma"/>
              </a:rPr>
              <a:t> </a:t>
            </a:r>
            <a:r>
              <a:rPr sz="1000" spc="-90" dirty="0">
                <a:latin typeface="Tahoma"/>
                <a:cs typeface="Tahoma"/>
              </a:rPr>
              <a:t>we</a:t>
            </a:r>
            <a:r>
              <a:rPr sz="1000" spc="15" dirty="0">
                <a:latin typeface="Tahoma"/>
                <a:cs typeface="Tahoma"/>
              </a:rPr>
              <a:t> </a:t>
            </a:r>
            <a:r>
              <a:rPr sz="1000" spc="-25" dirty="0">
                <a:latin typeface="Tahoma"/>
                <a:cs typeface="Tahoma"/>
              </a:rPr>
              <a:t>obtain</a:t>
            </a:r>
            <a:r>
              <a:rPr sz="1000" spc="20" dirty="0">
                <a:latin typeface="Tahoma"/>
                <a:cs typeface="Tahoma"/>
              </a:rPr>
              <a:t> </a:t>
            </a:r>
            <a:r>
              <a:rPr sz="1000" spc="-35" dirty="0">
                <a:latin typeface="Tahoma"/>
                <a:cs typeface="Tahoma"/>
              </a:rPr>
              <a:t>the</a:t>
            </a:r>
            <a:r>
              <a:rPr sz="1000" spc="20" dirty="0">
                <a:latin typeface="Tahoma"/>
                <a:cs typeface="Tahoma"/>
              </a:rPr>
              <a:t> </a:t>
            </a:r>
            <a:r>
              <a:rPr sz="1000" spc="-60" dirty="0">
                <a:latin typeface="Tahoma"/>
                <a:cs typeface="Tahoma"/>
              </a:rPr>
              <a:t>demanded:</a:t>
            </a:r>
            <a:r>
              <a:rPr sz="1000" spc="130" dirty="0">
                <a:latin typeface="Tahoma"/>
                <a:cs typeface="Tahoma"/>
              </a:rPr>
              <a:t> </a:t>
            </a:r>
            <a:r>
              <a:rPr sz="1000" i="1" spc="-80" dirty="0">
                <a:latin typeface="Arial"/>
                <a:cs typeface="Arial"/>
              </a:rPr>
              <a:t>a</a:t>
            </a:r>
            <a:r>
              <a:rPr sz="1000" i="1" spc="1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dirty="0">
                <a:latin typeface="Tahoma"/>
                <a:cs typeface="Tahoma"/>
              </a:rPr>
              <a:t>(</a:t>
            </a:r>
            <a:r>
              <a:rPr sz="1000" i="1" dirty="0">
                <a:latin typeface="Arial"/>
                <a:cs typeface="Arial"/>
              </a:rPr>
              <a:t>X</a:t>
            </a:r>
            <a:r>
              <a:rPr sz="1000" i="1" spc="80" dirty="0">
                <a:latin typeface="Arial"/>
                <a:cs typeface="Arial"/>
              </a:rPr>
              <a:t> </a:t>
            </a:r>
            <a:r>
              <a:rPr sz="1000" spc="-135" dirty="0">
                <a:latin typeface="Lucida Sans Unicode"/>
                <a:cs typeface="Lucida Sans Unicode"/>
              </a:rPr>
              <a:t>∩</a:t>
            </a:r>
            <a:r>
              <a:rPr sz="1000" spc="-95" dirty="0">
                <a:latin typeface="Lucida Sans Unicode"/>
                <a:cs typeface="Lucida Sans Unicode"/>
              </a:rPr>
              <a:t> </a:t>
            </a:r>
            <a:r>
              <a:rPr sz="1000" i="1" spc="-5" dirty="0">
                <a:latin typeface="Arial"/>
                <a:cs typeface="Arial"/>
              </a:rPr>
              <a:t>Y</a:t>
            </a:r>
            <a:r>
              <a:rPr sz="1000" i="1" spc="-110" dirty="0">
                <a:latin typeface="Arial"/>
                <a:cs typeface="Arial"/>
              </a:rPr>
              <a:t> </a:t>
            </a:r>
            <a:r>
              <a:rPr sz="1000" dirty="0">
                <a:latin typeface="Tahoma"/>
                <a:cs typeface="Tahoma"/>
              </a:rPr>
              <a:t>)</a:t>
            </a:r>
            <a:r>
              <a:rPr sz="1000" spc="-95" dirty="0">
                <a:latin typeface="Tahoma"/>
                <a:cs typeface="Tahoma"/>
              </a:rPr>
              <a:t> </a:t>
            </a:r>
            <a:r>
              <a:rPr sz="1000" spc="-135" dirty="0">
                <a:latin typeface="Lucida Sans Unicode"/>
                <a:cs typeface="Lucida Sans Unicode"/>
              </a:rPr>
              <a:t>∪</a:t>
            </a:r>
            <a:r>
              <a:rPr sz="1000" spc="-90" dirty="0">
                <a:latin typeface="Lucida Sans Unicode"/>
                <a:cs typeface="Lucida Sans Unicode"/>
              </a:rPr>
              <a:t> </a:t>
            </a:r>
            <a:r>
              <a:rPr sz="1000" i="1" spc="-5" dirty="0">
                <a:latin typeface="Arial"/>
                <a:cs typeface="Arial"/>
              </a:rPr>
              <a:t>Z</a:t>
            </a:r>
            <a:r>
              <a:rPr sz="1000" i="1" spc="-160" dirty="0">
                <a:latin typeface="Arial"/>
                <a:cs typeface="Arial"/>
              </a:rPr>
              <a:t> </a:t>
            </a:r>
            <a:r>
              <a:rPr sz="1000" spc="-30" dirty="0">
                <a:latin typeface="Tahoma"/>
                <a:cs typeface="Tahoma"/>
              </a:rPr>
              <a:t>,</a:t>
            </a:r>
            <a:r>
              <a:rPr sz="1000" spc="20" dirty="0">
                <a:latin typeface="Tahoma"/>
                <a:cs typeface="Tahoma"/>
              </a:rPr>
              <a:t> </a:t>
            </a:r>
            <a:r>
              <a:rPr sz="1000" spc="-50" dirty="0">
                <a:latin typeface="Tahoma"/>
                <a:cs typeface="Tahoma"/>
              </a:rPr>
              <a:t>so,</a:t>
            </a:r>
            <a:r>
              <a:rPr sz="1000" spc="20" dirty="0">
                <a:latin typeface="Tahoma"/>
                <a:cs typeface="Tahoma"/>
              </a:rPr>
              <a:t> </a:t>
            </a:r>
            <a:r>
              <a:rPr sz="1000" spc="-35" dirty="0">
                <a:latin typeface="Tahoma"/>
                <a:cs typeface="Tahoma"/>
              </a:rPr>
              <a:t>the </a:t>
            </a:r>
            <a:r>
              <a:rPr sz="1000" spc="-295" dirty="0">
                <a:latin typeface="Tahoma"/>
                <a:cs typeface="Tahoma"/>
              </a:rPr>
              <a:t> </a:t>
            </a:r>
            <a:r>
              <a:rPr sz="1000" spc="-50" dirty="0">
                <a:latin typeface="Tahoma"/>
                <a:cs typeface="Tahoma"/>
              </a:rPr>
              <a:t>inverse</a:t>
            </a:r>
            <a:r>
              <a:rPr sz="1000" spc="20" dirty="0">
                <a:latin typeface="Tahoma"/>
                <a:cs typeface="Tahoma"/>
              </a:rPr>
              <a:t> </a:t>
            </a:r>
            <a:r>
              <a:rPr sz="1000" spc="-30" dirty="0">
                <a:latin typeface="Tahoma"/>
                <a:cs typeface="Tahoma"/>
              </a:rPr>
              <a:t>inclusion</a:t>
            </a:r>
            <a:r>
              <a:rPr sz="1000" spc="20" dirty="0">
                <a:latin typeface="Tahoma"/>
                <a:cs typeface="Tahoma"/>
              </a:rPr>
              <a:t> </a:t>
            </a:r>
            <a:r>
              <a:rPr sz="1000" spc="-30" dirty="0">
                <a:latin typeface="Tahoma"/>
                <a:cs typeface="Tahoma"/>
              </a:rPr>
              <a:t>is</a:t>
            </a:r>
            <a:r>
              <a:rPr sz="1000" spc="20" dirty="0">
                <a:latin typeface="Tahoma"/>
                <a:cs typeface="Tahoma"/>
              </a:rPr>
              <a:t> </a:t>
            </a:r>
            <a:r>
              <a:rPr sz="1000" spc="-50" dirty="0">
                <a:latin typeface="Tahoma"/>
                <a:cs typeface="Tahoma"/>
              </a:rPr>
              <a:t>proved.</a:t>
            </a:r>
            <a:r>
              <a:rPr sz="1000" spc="130" dirty="0">
                <a:latin typeface="Tahoma"/>
                <a:cs typeface="Tahoma"/>
              </a:rPr>
              <a:t> </a:t>
            </a:r>
            <a:r>
              <a:rPr sz="1000" spc="-15" dirty="0">
                <a:latin typeface="Tahoma"/>
                <a:cs typeface="Tahoma"/>
              </a:rPr>
              <a:t>The</a:t>
            </a:r>
            <a:r>
              <a:rPr sz="1000" spc="15" dirty="0">
                <a:latin typeface="Tahoma"/>
                <a:cs typeface="Tahoma"/>
              </a:rPr>
              <a:t> </a:t>
            </a:r>
            <a:r>
              <a:rPr sz="1000" spc="-50" dirty="0">
                <a:latin typeface="Tahoma"/>
                <a:cs typeface="Tahoma"/>
              </a:rPr>
              <a:t>second</a:t>
            </a:r>
            <a:r>
              <a:rPr sz="1000" spc="20" dirty="0">
                <a:latin typeface="Tahoma"/>
                <a:cs typeface="Tahoma"/>
              </a:rPr>
              <a:t> </a:t>
            </a:r>
            <a:r>
              <a:rPr sz="1000" spc="-30" dirty="0">
                <a:latin typeface="Tahoma"/>
                <a:cs typeface="Tahoma"/>
              </a:rPr>
              <a:t>equality</a:t>
            </a:r>
            <a:r>
              <a:rPr sz="1000" spc="15" dirty="0">
                <a:latin typeface="Tahoma"/>
                <a:cs typeface="Tahoma"/>
              </a:rPr>
              <a:t> </a:t>
            </a:r>
            <a:r>
              <a:rPr sz="1000" spc="-30" dirty="0">
                <a:latin typeface="Tahoma"/>
                <a:cs typeface="Tahoma"/>
              </a:rPr>
              <a:t>is</a:t>
            </a:r>
            <a:r>
              <a:rPr sz="1000" spc="20" dirty="0">
                <a:latin typeface="Tahoma"/>
                <a:cs typeface="Tahoma"/>
              </a:rPr>
              <a:t> </a:t>
            </a:r>
            <a:r>
              <a:rPr sz="1000" spc="-50" dirty="0">
                <a:latin typeface="Tahoma"/>
                <a:cs typeface="Tahoma"/>
              </a:rPr>
              <a:t>proved </a:t>
            </a:r>
            <a:r>
              <a:rPr sz="1000" spc="-45" dirty="0">
                <a:latin typeface="Tahoma"/>
                <a:cs typeface="Tahoma"/>
              </a:rPr>
              <a:t> </a:t>
            </a:r>
            <a:r>
              <a:rPr sz="1000" spc="-35" dirty="0">
                <a:latin typeface="Tahoma"/>
                <a:cs typeface="Tahoma"/>
              </a:rPr>
              <a:t>analogically.</a:t>
            </a:r>
            <a:endParaRPr sz="1000">
              <a:latin typeface="Tahoma"/>
              <a:cs typeface="Tahoma"/>
            </a:endParaRPr>
          </a:p>
        </p:txBody>
      </p:sp>
      <p:grpSp>
        <p:nvGrpSpPr>
          <p:cNvPr id="41" name="object 41"/>
          <p:cNvGrpSpPr/>
          <p:nvPr/>
        </p:nvGrpSpPr>
        <p:grpSpPr>
          <a:xfrm>
            <a:off x="4335779" y="2724099"/>
            <a:ext cx="86360" cy="85725"/>
            <a:chOff x="4335779" y="2724099"/>
            <a:chExt cx="86360" cy="85725"/>
          </a:xfrm>
        </p:grpSpPr>
        <p:sp>
          <p:nvSpPr>
            <p:cNvPr id="42" name="object 42"/>
            <p:cNvSpPr/>
            <p:nvPr/>
          </p:nvSpPr>
          <p:spPr>
            <a:xfrm>
              <a:off x="4338307" y="2724099"/>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3" name="object 43"/>
            <p:cNvSpPr/>
            <p:nvPr/>
          </p:nvSpPr>
          <p:spPr>
            <a:xfrm>
              <a:off x="4340834" y="2726626"/>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4" name="object 44"/>
            <p:cNvSpPr/>
            <p:nvPr/>
          </p:nvSpPr>
          <p:spPr>
            <a:xfrm>
              <a:off x="4340834" y="2806979"/>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5" name="object 45"/>
            <p:cNvSpPr/>
            <p:nvPr/>
          </p:nvSpPr>
          <p:spPr>
            <a:xfrm>
              <a:off x="4419282" y="2724099"/>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844550" cy="244475"/>
          </a:xfrm>
          <a:prstGeom prst="rect">
            <a:avLst/>
          </a:prstGeom>
        </p:spPr>
        <p:txBody>
          <a:bodyPr vert="horz" wrap="square" lIns="0" tIns="17145" rIns="0" bIns="0" rtlCol="0">
            <a:spAutoFit/>
          </a:bodyPr>
          <a:lstStyle/>
          <a:p>
            <a:pPr marL="12700">
              <a:lnSpc>
                <a:spcPct val="100000"/>
              </a:lnSpc>
              <a:spcBef>
                <a:spcPts val="135"/>
              </a:spcBef>
            </a:pPr>
            <a:r>
              <a:rPr spc="-45" dirty="0"/>
              <a:t>Power</a:t>
            </a:r>
            <a:r>
              <a:rPr spc="65" dirty="0"/>
              <a:t> </a:t>
            </a:r>
            <a:r>
              <a:rPr spc="-40" dirty="0"/>
              <a:t>set</a:t>
            </a:r>
          </a:p>
        </p:txBody>
      </p:sp>
      <p:sp>
        <p:nvSpPr>
          <p:cNvPr id="29" name="object 29"/>
          <p:cNvSpPr/>
          <p:nvPr/>
        </p:nvSpPr>
        <p:spPr>
          <a:xfrm>
            <a:off x="698562" y="1287805"/>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0" name="object 30"/>
          <p:cNvSpPr txBox="1"/>
          <p:nvPr/>
        </p:nvSpPr>
        <p:spPr>
          <a:xfrm>
            <a:off x="749363" y="1317744"/>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1" name="object 31"/>
          <p:cNvGrpSpPr/>
          <p:nvPr/>
        </p:nvGrpSpPr>
        <p:grpSpPr>
          <a:xfrm>
            <a:off x="698562" y="1344738"/>
            <a:ext cx="3831590" cy="512445"/>
            <a:chOff x="698562" y="1344738"/>
            <a:chExt cx="3831590" cy="512445"/>
          </a:xfrm>
        </p:grpSpPr>
        <p:pic>
          <p:nvPicPr>
            <p:cNvPr id="32" name="object 32"/>
            <p:cNvPicPr/>
            <p:nvPr/>
          </p:nvPicPr>
          <p:blipFill>
            <a:blip r:embed="rId7" cstate="print"/>
            <a:stretch>
              <a:fillRect/>
            </a:stretch>
          </p:blipFill>
          <p:spPr>
            <a:xfrm>
              <a:off x="698563" y="1445412"/>
              <a:ext cx="3780284" cy="50609"/>
            </a:xfrm>
            <a:prstGeom prst="rect">
              <a:avLst/>
            </a:prstGeom>
          </p:spPr>
        </p:pic>
        <p:sp>
          <p:nvSpPr>
            <p:cNvPr id="33" name="object 33"/>
            <p:cNvSpPr/>
            <p:nvPr/>
          </p:nvSpPr>
          <p:spPr>
            <a:xfrm>
              <a:off x="749363" y="1344738"/>
              <a:ext cx="3780790" cy="512445"/>
            </a:xfrm>
            <a:custGeom>
              <a:avLst/>
              <a:gdLst/>
              <a:ahLst/>
              <a:cxnLst/>
              <a:rect l="l" t="t" r="r" b="b"/>
              <a:pathLst>
                <a:path w="3780790" h="512444">
                  <a:moveTo>
                    <a:pt x="3780285" y="0"/>
                  </a:moveTo>
                  <a:lnTo>
                    <a:pt x="0" y="0"/>
                  </a:lnTo>
                  <a:lnTo>
                    <a:pt x="0" y="512206"/>
                  </a:lnTo>
                  <a:lnTo>
                    <a:pt x="3780285" y="512206"/>
                  </a:lnTo>
                  <a:lnTo>
                    <a:pt x="3780285" y="0"/>
                  </a:lnTo>
                  <a:close/>
                </a:path>
              </a:pathLst>
            </a:custGeom>
            <a:solidFill>
              <a:srgbClr val="000000"/>
            </a:solidFill>
          </p:spPr>
          <p:txBody>
            <a:bodyPr wrap="square" lIns="0" tIns="0" rIns="0" bIns="0" rtlCol="0"/>
            <a:lstStyle/>
            <a:p>
              <a:endParaRPr/>
            </a:p>
          </p:txBody>
        </p:sp>
        <p:sp>
          <p:nvSpPr>
            <p:cNvPr id="34" name="object 34"/>
            <p:cNvSpPr/>
            <p:nvPr/>
          </p:nvSpPr>
          <p:spPr>
            <a:xfrm>
              <a:off x="698562" y="1489683"/>
              <a:ext cx="3780790" cy="316865"/>
            </a:xfrm>
            <a:custGeom>
              <a:avLst/>
              <a:gdLst/>
              <a:ahLst/>
              <a:cxnLst/>
              <a:rect l="l" t="t" r="r" b="b"/>
              <a:pathLst>
                <a:path w="3780790" h="316864">
                  <a:moveTo>
                    <a:pt x="3780285" y="0"/>
                  </a:moveTo>
                  <a:lnTo>
                    <a:pt x="0" y="0"/>
                  </a:lnTo>
                  <a:lnTo>
                    <a:pt x="0" y="265659"/>
                  </a:lnTo>
                  <a:lnTo>
                    <a:pt x="4008" y="285384"/>
                  </a:lnTo>
                  <a:lnTo>
                    <a:pt x="14922" y="301537"/>
                  </a:lnTo>
                  <a:lnTo>
                    <a:pt x="31075" y="312451"/>
                  </a:lnTo>
                  <a:lnTo>
                    <a:pt x="50800" y="316460"/>
                  </a:lnTo>
                  <a:lnTo>
                    <a:pt x="3729484" y="316460"/>
                  </a:lnTo>
                  <a:lnTo>
                    <a:pt x="3749209" y="312451"/>
                  </a:lnTo>
                  <a:lnTo>
                    <a:pt x="3765362" y="301537"/>
                  </a:lnTo>
                  <a:lnTo>
                    <a:pt x="3776276" y="285384"/>
                  </a:lnTo>
                  <a:lnTo>
                    <a:pt x="3780285" y="265659"/>
                  </a:lnTo>
                  <a:lnTo>
                    <a:pt x="3780285" y="0"/>
                  </a:lnTo>
                  <a:close/>
                </a:path>
              </a:pathLst>
            </a:custGeom>
            <a:solidFill>
              <a:srgbClr val="E9E9F2"/>
            </a:solidFill>
          </p:spPr>
          <p:txBody>
            <a:bodyPr wrap="square" lIns="0" tIns="0" rIns="0" bIns="0" rtlCol="0"/>
            <a:lstStyle/>
            <a:p>
              <a:endParaRPr/>
            </a:p>
          </p:txBody>
        </p:sp>
      </p:grpSp>
      <p:sp>
        <p:nvSpPr>
          <p:cNvPr id="35" name="object 35"/>
          <p:cNvSpPr txBox="1"/>
          <p:nvPr/>
        </p:nvSpPr>
        <p:spPr>
          <a:xfrm>
            <a:off x="749363" y="1470665"/>
            <a:ext cx="3691890" cy="177800"/>
          </a:xfrm>
          <a:prstGeom prst="rect">
            <a:avLst/>
          </a:prstGeom>
        </p:spPr>
        <p:txBody>
          <a:bodyPr vert="horz" wrap="square" lIns="0" tIns="12065" rIns="0" bIns="0" rtlCol="0">
            <a:spAutoFit/>
          </a:bodyPr>
          <a:lstStyle/>
          <a:p>
            <a:pPr>
              <a:lnSpc>
                <a:spcPct val="100000"/>
              </a:lnSpc>
              <a:spcBef>
                <a:spcPts val="95"/>
              </a:spcBef>
            </a:pPr>
            <a:r>
              <a:rPr sz="1000" spc="-25" dirty="0">
                <a:latin typeface="Tahoma"/>
                <a:cs typeface="Tahoma"/>
              </a:rPr>
              <a:t>Lest</a:t>
            </a:r>
            <a:r>
              <a:rPr sz="1000" spc="10" dirty="0">
                <a:latin typeface="Tahoma"/>
                <a:cs typeface="Tahoma"/>
              </a:rPr>
              <a:t> </a:t>
            </a:r>
            <a:r>
              <a:rPr sz="1000" i="1" spc="-5" dirty="0">
                <a:latin typeface="Arial"/>
                <a:cs typeface="Arial"/>
              </a:rPr>
              <a:t>A</a:t>
            </a:r>
            <a:r>
              <a:rPr sz="1000" i="1" spc="45" dirty="0">
                <a:latin typeface="Arial"/>
                <a:cs typeface="Arial"/>
              </a:rPr>
              <a:t> </a:t>
            </a:r>
            <a:r>
              <a:rPr sz="1000" spc="-50" dirty="0">
                <a:latin typeface="Tahoma"/>
                <a:cs typeface="Tahoma"/>
              </a:rPr>
              <a:t>be</a:t>
            </a:r>
            <a:r>
              <a:rPr sz="1000" spc="10" dirty="0">
                <a:latin typeface="Tahoma"/>
                <a:cs typeface="Tahoma"/>
              </a:rPr>
              <a:t> </a:t>
            </a:r>
            <a:r>
              <a:rPr sz="1000" spc="-50" dirty="0">
                <a:latin typeface="Tahoma"/>
                <a:cs typeface="Tahoma"/>
              </a:rPr>
              <a:t>a</a:t>
            </a:r>
            <a:r>
              <a:rPr sz="1000" spc="15" dirty="0">
                <a:latin typeface="Tahoma"/>
                <a:cs typeface="Tahoma"/>
              </a:rPr>
              <a:t> </a:t>
            </a:r>
            <a:r>
              <a:rPr sz="1000" spc="-40" dirty="0">
                <a:latin typeface="Tahoma"/>
                <a:cs typeface="Tahoma"/>
              </a:rPr>
              <a:t>set.</a:t>
            </a:r>
            <a:r>
              <a:rPr sz="1000" spc="125" dirty="0">
                <a:latin typeface="Tahoma"/>
                <a:cs typeface="Tahoma"/>
              </a:rPr>
              <a:t> </a:t>
            </a:r>
            <a:r>
              <a:rPr sz="1000" spc="-15" dirty="0">
                <a:latin typeface="Tahoma"/>
                <a:cs typeface="Tahoma"/>
              </a:rPr>
              <a:t>The</a:t>
            </a:r>
            <a:r>
              <a:rPr sz="1000" spc="10" dirty="0">
                <a:latin typeface="Tahoma"/>
                <a:cs typeface="Tahoma"/>
              </a:rPr>
              <a:t> </a:t>
            </a:r>
            <a:r>
              <a:rPr sz="1000" spc="-35" dirty="0">
                <a:latin typeface="Tahoma"/>
                <a:cs typeface="Tahoma"/>
              </a:rPr>
              <a:t>the</a:t>
            </a:r>
            <a:r>
              <a:rPr sz="1000" spc="15" dirty="0">
                <a:latin typeface="Tahoma"/>
                <a:cs typeface="Tahoma"/>
              </a:rPr>
              <a:t> </a:t>
            </a:r>
            <a:r>
              <a:rPr sz="1000" spc="-45" dirty="0">
                <a:latin typeface="Tahoma"/>
                <a:cs typeface="Tahoma"/>
              </a:rPr>
              <a:t>set</a:t>
            </a:r>
            <a:r>
              <a:rPr sz="1000" spc="10" dirty="0">
                <a:latin typeface="Tahoma"/>
                <a:cs typeface="Tahoma"/>
              </a:rPr>
              <a:t> </a:t>
            </a:r>
            <a:r>
              <a:rPr sz="1000" spc="55" dirty="0">
                <a:latin typeface="Lucida Sans Unicode"/>
                <a:cs typeface="Lucida Sans Unicode"/>
              </a:rPr>
              <a:t>P</a:t>
            </a:r>
            <a:r>
              <a:rPr sz="1000" spc="55" dirty="0">
                <a:latin typeface="Tahoma"/>
                <a:cs typeface="Tahoma"/>
              </a:rPr>
              <a:t>(</a:t>
            </a:r>
            <a:r>
              <a:rPr sz="1000" i="1" spc="55" dirty="0">
                <a:latin typeface="Arial"/>
                <a:cs typeface="Arial"/>
              </a:rPr>
              <a:t>A</a:t>
            </a:r>
            <a:r>
              <a:rPr sz="1000" spc="55" dirty="0">
                <a:latin typeface="Tahoma"/>
                <a:cs typeface="Tahoma"/>
              </a:rPr>
              <a:t>)</a:t>
            </a:r>
            <a:r>
              <a:rPr sz="1000" spc="-35" dirty="0">
                <a:latin typeface="Tahoma"/>
                <a:cs typeface="Tahoma"/>
              </a:rPr>
              <a:t> </a:t>
            </a:r>
            <a:r>
              <a:rPr sz="1000" spc="55" dirty="0">
                <a:latin typeface="Lucida Sans Unicode"/>
                <a:cs typeface="Lucida Sans Unicode"/>
              </a:rPr>
              <a:t>⇌</a:t>
            </a:r>
            <a:r>
              <a:rPr sz="1000" spc="-35" dirty="0">
                <a:latin typeface="Lucida Sans Unicode"/>
                <a:cs typeface="Lucida Sans Unicode"/>
              </a:rPr>
              <a:t> </a:t>
            </a:r>
            <a:r>
              <a:rPr sz="1000" spc="35" dirty="0">
                <a:latin typeface="Lucida Sans Unicode"/>
                <a:cs typeface="Lucida Sans Unicode"/>
              </a:rPr>
              <a:t>{</a:t>
            </a:r>
            <a:r>
              <a:rPr sz="1000" i="1" spc="35" dirty="0">
                <a:latin typeface="Arial"/>
                <a:cs typeface="Arial"/>
              </a:rPr>
              <a:t>B</a:t>
            </a:r>
            <a:r>
              <a:rPr sz="1000" spc="35" dirty="0">
                <a:latin typeface="Lucida Sans Unicode"/>
                <a:cs typeface="Lucida Sans Unicode"/>
              </a:rPr>
              <a:t>|</a:t>
            </a:r>
            <a:r>
              <a:rPr sz="1000" i="1" spc="35" dirty="0">
                <a:latin typeface="Arial"/>
                <a:cs typeface="Arial"/>
              </a:rPr>
              <a:t>B</a:t>
            </a:r>
            <a:r>
              <a:rPr sz="1000" i="1" spc="80" dirty="0">
                <a:latin typeface="Arial"/>
                <a:cs typeface="Arial"/>
              </a:rPr>
              <a:t> </a:t>
            </a:r>
            <a:r>
              <a:rPr sz="1000" spc="-25" dirty="0">
                <a:latin typeface="Lucida Sans Unicode"/>
                <a:cs typeface="Lucida Sans Unicode"/>
              </a:rPr>
              <a:t>⊆</a:t>
            </a:r>
            <a:r>
              <a:rPr sz="1000" spc="-40" dirty="0">
                <a:latin typeface="Lucida Sans Unicode"/>
                <a:cs typeface="Lucida Sans Unicode"/>
              </a:rPr>
              <a:t> </a:t>
            </a:r>
            <a:r>
              <a:rPr sz="1000" i="1" spc="80" dirty="0">
                <a:latin typeface="Arial"/>
                <a:cs typeface="Arial"/>
              </a:rPr>
              <a:t>A</a:t>
            </a:r>
            <a:r>
              <a:rPr sz="1000" spc="80" dirty="0">
                <a:latin typeface="Lucida Sans Unicode"/>
                <a:cs typeface="Lucida Sans Unicode"/>
              </a:rPr>
              <a:t>}</a:t>
            </a:r>
            <a:r>
              <a:rPr sz="1000" spc="5" dirty="0">
                <a:latin typeface="Lucida Sans Unicode"/>
                <a:cs typeface="Lucida Sans Unicode"/>
              </a:rPr>
              <a:t> </a:t>
            </a:r>
            <a:r>
              <a:rPr sz="1000" spc="-30" dirty="0">
                <a:latin typeface="Tahoma"/>
                <a:cs typeface="Tahoma"/>
              </a:rPr>
              <a:t>is</a:t>
            </a:r>
            <a:r>
              <a:rPr sz="1000" spc="15" dirty="0">
                <a:latin typeface="Tahoma"/>
                <a:cs typeface="Tahoma"/>
              </a:rPr>
              <a:t> </a:t>
            </a:r>
            <a:r>
              <a:rPr sz="1000" spc="-30" dirty="0">
                <a:latin typeface="Tahoma"/>
                <a:cs typeface="Tahoma"/>
              </a:rPr>
              <a:t>called</a:t>
            </a:r>
            <a:r>
              <a:rPr sz="1000" spc="10" dirty="0">
                <a:latin typeface="Tahoma"/>
                <a:cs typeface="Tahoma"/>
              </a:rPr>
              <a:t> </a:t>
            </a:r>
            <a:r>
              <a:rPr sz="1000" spc="-35" dirty="0">
                <a:latin typeface="Tahoma"/>
                <a:cs typeface="Tahoma"/>
              </a:rPr>
              <a:t>the</a:t>
            </a:r>
            <a:r>
              <a:rPr sz="1000" spc="10" dirty="0">
                <a:latin typeface="Tahoma"/>
                <a:cs typeface="Tahoma"/>
              </a:rPr>
              <a:t> </a:t>
            </a:r>
            <a:r>
              <a:rPr sz="1000" b="1" spc="-55" dirty="0">
                <a:latin typeface="Arial"/>
                <a:cs typeface="Arial"/>
              </a:rPr>
              <a:t>power</a:t>
            </a:r>
            <a:endParaRPr sz="1000">
              <a:latin typeface="Arial"/>
              <a:cs typeface="Arial"/>
            </a:endParaRPr>
          </a:p>
        </p:txBody>
      </p:sp>
      <p:sp>
        <p:nvSpPr>
          <p:cNvPr id="36" name="object 36"/>
          <p:cNvSpPr txBox="1"/>
          <p:nvPr/>
        </p:nvSpPr>
        <p:spPr>
          <a:xfrm>
            <a:off x="749363" y="1622493"/>
            <a:ext cx="680720" cy="177800"/>
          </a:xfrm>
          <a:prstGeom prst="rect">
            <a:avLst/>
          </a:prstGeom>
        </p:spPr>
        <p:txBody>
          <a:bodyPr vert="horz" wrap="square" lIns="0" tIns="12065" rIns="0" bIns="0" rtlCol="0">
            <a:spAutoFit/>
          </a:bodyPr>
          <a:lstStyle/>
          <a:p>
            <a:pPr>
              <a:lnSpc>
                <a:spcPct val="100000"/>
              </a:lnSpc>
              <a:spcBef>
                <a:spcPts val="95"/>
              </a:spcBef>
            </a:pPr>
            <a:r>
              <a:rPr sz="1000" b="1" spc="-40" dirty="0">
                <a:latin typeface="Arial"/>
                <a:cs typeface="Arial"/>
              </a:rPr>
              <a:t>set</a:t>
            </a:r>
            <a:r>
              <a:rPr sz="1000" b="1" spc="25" dirty="0">
                <a:latin typeface="Arial"/>
                <a:cs typeface="Arial"/>
              </a:rPr>
              <a:t> </a:t>
            </a:r>
            <a:r>
              <a:rPr sz="1000" spc="-30" dirty="0">
                <a:latin typeface="Tahoma"/>
                <a:cs typeface="Tahoma"/>
              </a:rPr>
              <a:t>of</a:t>
            </a:r>
            <a:r>
              <a:rPr sz="1000" spc="-5" dirty="0">
                <a:latin typeface="Tahoma"/>
                <a:cs typeface="Tahoma"/>
              </a:rPr>
              <a:t> </a:t>
            </a:r>
            <a:r>
              <a:rPr sz="1000" spc="-45" dirty="0">
                <a:latin typeface="Tahoma"/>
                <a:cs typeface="Tahoma"/>
              </a:rPr>
              <a:t>set</a:t>
            </a:r>
            <a:r>
              <a:rPr sz="1000" dirty="0">
                <a:latin typeface="Tahoma"/>
                <a:cs typeface="Tahoma"/>
              </a:rPr>
              <a:t> </a:t>
            </a:r>
            <a:r>
              <a:rPr sz="1000" i="1" spc="-20" dirty="0">
                <a:latin typeface="Arial"/>
                <a:cs typeface="Arial"/>
              </a:rPr>
              <a:t>A</a:t>
            </a:r>
            <a:r>
              <a:rPr sz="1000" spc="-20" dirty="0">
                <a:latin typeface="Tahoma"/>
                <a:cs typeface="Tahoma"/>
              </a:rPr>
              <a:t>.</a:t>
            </a:r>
            <a:endParaRPr sz="1000">
              <a:latin typeface="Tahoma"/>
              <a:cs typeface="Tahoma"/>
            </a:endParaRPr>
          </a:p>
        </p:txBody>
      </p:sp>
      <p:sp>
        <p:nvSpPr>
          <p:cNvPr id="37" name="object 37"/>
          <p:cNvSpPr/>
          <p:nvPr/>
        </p:nvSpPr>
        <p:spPr>
          <a:xfrm>
            <a:off x="698562" y="1958072"/>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1987999"/>
            <a:ext cx="467995" cy="128270"/>
          </a:xfrm>
          <a:prstGeom prst="rect">
            <a:avLst/>
          </a:prstGeom>
        </p:spPr>
        <p:txBody>
          <a:bodyPr vert="horz" wrap="square" lIns="0" tIns="0" rIns="0" bIns="0" rtlCol="0">
            <a:spAutoFit/>
          </a:bodyPr>
          <a:lstStyle/>
          <a:p>
            <a:pPr>
              <a:lnSpc>
                <a:spcPts val="955"/>
              </a:lnSpc>
            </a:pPr>
            <a:r>
              <a:rPr sz="1000" spc="-20" dirty="0">
                <a:solidFill>
                  <a:srgbClr val="FFFFFF"/>
                </a:solidFill>
                <a:latin typeface="Tahoma"/>
                <a:cs typeface="Tahoma"/>
              </a:rPr>
              <a:t>The</a:t>
            </a:r>
            <a:r>
              <a:rPr sz="1000" spc="-50" dirty="0">
                <a:solidFill>
                  <a:srgbClr val="FFFFFF"/>
                </a:solidFill>
                <a:latin typeface="Tahoma"/>
                <a:cs typeface="Tahoma"/>
              </a:rPr>
              <a:t>o</a:t>
            </a:r>
            <a:r>
              <a:rPr sz="1000" spc="-55" dirty="0">
                <a:solidFill>
                  <a:srgbClr val="FFFFFF"/>
                </a:solidFill>
                <a:latin typeface="Tahoma"/>
                <a:cs typeface="Tahoma"/>
              </a:rPr>
              <a:t>rem</a:t>
            </a:r>
            <a:endParaRPr sz="1000">
              <a:latin typeface="Tahoma"/>
              <a:cs typeface="Tahoma"/>
            </a:endParaRPr>
          </a:p>
        </p:txBody>
      </p:sp>
      <p:grpSp>
        <p:nvGrpSpPr>
          <p:cNvPr id="39" name="object 39"/>
          <p:cNvGrpSpPr/>
          <p:nvPr/>
        </p:nvGrpSpPr>
        <p:grpSpPr>
          <a:xfrm>
            <a:off x="698562" y="2015005"/>
            <a:ext cx="3831590" cy="512445"/>
            <a:chOff x="698562" y="2015005"/>
            <a:chExt cx="3831590" cy="512445"/>
          </a:xfrm>
        </p:grpSpPr>
        <p:pic>
          <p:nvPicPr>
            <p:cNvPr id="40" name="object 40"/>
            <p:cNvPicPr/>
            <p:nvPr/>
          </p:nvPicPr>
          <p:blipFill>
            <a:blip r:embed="rId7" cstate="print"/>
            <a:stretch>
              <a:fillRect/>
            </a:stretch>
          </p:blipFill>
          <p:spPr>
            <a:xfrm>
              <a:off x="698563" y="2115667"/>
              <a:ext cx="3780284" cy="50609"/>
            </a:xfrm>
            <a:prstGeom prst="rect">
              <a:avLst/>
            </a:prstGeom>
          </p:spPr>
        </p:pic>
        <p:sp>
          <p:nvSpPr>
            <p:cNvPr id="41" name="object 41"/>
            <p:cNvSpPr/>
            <p:nvPr/>
          </p:nvSpPr>
          <p:spPr>
            <a:xfrm>
              <a:off x="749363" y="2015005"/>
              <a:ext cx="3780790" cy="512445"/>
            </a:xfrm>
            <a:custGeom>
              <a:avLst/>
              <a:gdLst/>
              <a:ahLst/>
              <a:cxnLst/>
              <a:rect l="l" t="t" r="r" b="b"/>
              <a:pathLst>
                <a:path w="3780790" h="512444">
                  <a:moveTo>
                    <a:pt x="3780285" y="0"/>
                  </a:moveTo>
                  <a:lnTo>
                    <a:pt x="0" y="0"/>
                  </a:lnTo>
                  <a:lnTo>
                    <a:pt x="0" y="512206"/>
                  </a:lnTo>
                  <a:lnTo>
                    <a:pt x="3780285" y="512206"/>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2159951"/>
              <a:ext cx="3780790" cy="316865"/>
            </a:xfrm>
            <a:custGeom>
              <a:avLst/>
              <a:gdLst/>
              <a:ahLst/>
              <a:cxnLst/>
              <a:rect l="l" t="t" r="r" b="b"/>
              <a:pathLst>
                <a:path w="3780790" h="316864">
                  <a:moveTo>
                    <a:pt x="3780285" y="0"/>
                  </a:moveTo>
                  <a:lnTo>
                    <a:pt x="0" y="0"/>
                  </a:lnTo>
                  <a:lnTo>
                    <a:pt x="0" y="265659"/>
                  </a:lnTo>
                  <a:lnTo>
                    <a:pt x="4008" y="285384"/>
                  </a:lnTo>
                  <a:lnTo>
                    <a:pt x="14922" y="301537"/>
                  </a:lnTo>
                  <a:lnTo>
                    <a:pt x="31075" y="312451"/>
                  </a:lnTo>
                  <a:lnTo>
                    <a:pt x="50800" y="316460"/>
                  </a:lnTo>
                  <a:lnTo>
                    <a:pt x="3729484" y="316460"/>
                  </a:lnTo>
                  <a:lnTo>
                    <a:pt x="3749209" y="312451"/>
                  </a:lnTo>
                  <a:lnTo>
                    <a:pt x="3765362" y="301537"/>
                  </a:lnTo>
                  <a:lnTo>
                    <a:pt x="3776276" y="285384"/>
                  </a:lnTo>
                  <a:lnTo>
                    <a:pt x="3780285" y="265659"/>
                  </a:lnTo>
                  <a:lnTo>
                    <a:pt x="3780285" y="0"/>
                  </a:lnTo>
                  <a:close/>
                </a:path>
              </a:pathLst>
            </a:custGeom>
            <a:solidFill>
              <a:srgbClr val="E9E9F2"/>
            </a:solidFill>
          </p:spPr>
          <p:txBody>
            <a:bodyPr wrap="square" lIns="0" tIns="0" rIns="0" bIns="0" rtlCol="0"/>
            <a:lstStyle/>
            <a:p>
              <a:endParaRPr/>
            </a:p>
          </p:txBody>
        </p:sp>
      </p:grpSp>
      <p:sp>
        <p:nvSpPr>
          <p:cNvPr id="43" name="object 43"/>
          <p:cNvSpPr txBox="1"/>
          <p:nvPr/>
        </p:nvSpPr>
        <p:spPr>
          <a:xfrm>
            <a:off x="711263" y="2140933"/>
            <a:ext cx="3656329" cy="329565"/>
          </a:xfrm>
          <a:prstGeom prst="rect">
            <a:avLst/>
          </a:prstGeom>
        </p:spPr>
        <p:txBody>
          <a:bodyPr vert="horz" wrap="square" lIns="0" tIns="12065" rIns="0" bIns="0" rtlCol="0">
            <a:spAutoFit/>
          </a:bodyPr>
          <a:lstStyle/>
          <a:p>
            <a:pPr marL="38100" marR="43180">
              <a:lnSpc>
                <a:spcPct val="100000"/>
              </a:lnSpc>
              <a:spcBef>
                <a:spcPts val="95"/>
              </a:spcBef>
            </a:pPr>
            <a:r>
              <a:rPr sz="1000" spc="-60" dirty="0">
                <a:latin typeface="Tahoma"/>
                <a:cs typeface="Tahoma"/>
              </a:rPr>
              <a:t>If</a:t>
            </a:r>
            <a:r>
              <a:rPr sz="1000" spc="20" dirty="0">
                <a:latin typeface="Tahoma"/>
                <a:cs typeface="Tahoma"/>
              </a:rPr>
              <a:t> </a:t>
            </a:r>
            <a:r>
              <a:rPr sz="1000" i="1" spc="-10" dirty="0">
                <a:latin typeface="Arial"/>
                <a:cs typeface="Arial"/>
              </a:rPr>
              <a:t>A</a:t>
            </a:r>
            <a:r>
              <a:rPr sz="1050" i="1" spc="-15" baseline="-11904" dirty="0">
                <a:latin typeface="Arial"/>
                <a:cs typeface="Arial"/>
              </a:rPr>
              <a:t>n</a:t>
            </a:r>
            <a:r>
              <a:rPr sz="1050" i="1" spc="209" baseline="-11904" dirty="0">
                <a:latin typeface="Arial"/>
                <a:cs typeface="Arial"/>
              </a:rPr>
              <a:t> </a:t>
            </a:r>
            <a:r>
              <a:rPr sz="1000" spc="45" dirty="0">
                <a:latin typeface="Tahoma"/>
                <a:cs typeface="Tahoma"/>
              </a:rPr>
              <a:t>=</a:t>
            </a:r>
            <a:r>
              <a:rPr sz="1000" spc="-30" dirty="0">
                <a:latin typeface="Tahoma"/>
                <a:cs typeface="Tahoma"/>
              </a:rPr>
              <a:t> </a:t>
            </a:r>
            <a:r>
              <a:rPr sz="1000" spc="5" dirty="0">
                <a:latin typeface="Lucida Sans Unicode"/>
                <a:cs typeface="Lucida Sans Unicode"/>
              </a:rPr>
              <a:t>{</a:t>
            </a:r>
            <a:r>
              <a:rPr sz="1000" i="1" spc="5" dirty="0">
                <a:latin typeface="Arial"/>
                <a:cs typeface="Arial"/>
              </a:rPr>
              <a:t>a</a:t>
            </a:r>
            <a:r>
              <a:rPr sz="1050" spc="7" baseline="-11904" dirty="0">
                <a:latin typeface="Microsoft Sans Serif"/>
                <a:cs typeface="Microsoft Sans Serif"/>
              </a:rPr>
              <a:t>1</a:t>
            </a:r>
            <a:r>
              <a:rPr sz="1000" i="1" spc="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spc="170" dirty="0">
                <a:latin typeface="Lucida Sans Unicode"/>
                <a:cs typeface="Lucida Sans Unicode"/>
              </a:rPr>
              <a:t>}</a:t>
            </a:r>
            <a:r>
              <a:rPr sz="1000" spc="15" dirty="0">
                <a:latin typeface="Lucida Sans Unicode"/>
                <a:cs typeface="Lucida Sans Unicode"/>
              </a:rPr>
              <a:t> </a:t>
            </a:r>
            <a:r>
              <a:rPr sz="1000" spc="-30" dirty="0">
                <a:latin typeface="Tahoma"/>
                <a:cs typeface="Tahoma"/>
              </a:rPr>
              <a:t>is</a:t>
            </a:r>
            <a:r>
              <a:rPr sz="1000" spc="25" dirty="0">
                <a:latin typeface="Tahoma"/>
                <a:cs typeface="Tahoma"/>
              </a:rPr>
              <a:t> </a:t>
            </a:r>
            <a:r>
              <a:rPr sz="1000" spc="-50" dirty="0">
                <a:latin typeface="Tahoma"/>
                <a:cs typeface="Tahoma"/>
              </a:rPr>
              <a:t>a</a:t>
            </a:r>
            <a:r>
              <a:rPr sz="1000" spc="20" dirty="0">
                <a:latin typeface="Tahoma"/>
                <a:cs typeface="Tahoma"/>
              </a:rPr>
              <a:t> </a:t>
            </a:r>
            <a:r>
              <a:rPr sz="1000" spc="-45" dirty="0">
                <a:latin typeface="Tahoma"/>
                <a:cs typeface="Tahoma"/>
              </a:rPr>
              <a:t>set</a:t>
            </a:r>
            <a:r>
              <a:rPr sz="1000" spc="15" dirty="0">
                <a:latin typeface="Tahoma"/>
                <a:cs typeface="Tahoma"/>
              </a:rPr>
              <a:t> </a:t>
            </a:r>
            <a:r>
              <a:rPr sz="1000" spc="-30" dirty="0">
                <a:latin typeface="Tahoma"/>
                <a:cs typeface="Tahoma"/>
              </a:rPr>
              <a:t>of</a:t>
            </a:r>
            <a:r>
              <a:rPr sz="1000" spc="20" dirty="0">
                <a:latin typeface="Tahoma"/>
                <a:cs typeface="Tahoma"/>
              </a:rPr>
              <a:t> </a:t>
            </a:r>
            <a:r>
              <a:rPr sz="1000" i="1" spc="-45" dirty="0">
                <a:latin typeface="Arial"/>
                <a:cs typeface="Arial"/>
              </a:rPr>
              <a:t>n</a:t>
            </a:r>
            <a:r>
              <a:rPr sz="1000" i="1" spc="70" dirty="0">
                <a:latin typeface="Arial"/>
                <a:cs typeface="Arial"/>
              </a:rPr>
              <a:t> </a:t>
            </a:r>
            <a:r>
              <a:rPr sz="1000" spc="-45" dirty="0">
                <a:latin typeface="Tahoma"/>
                <a:cs typeface="Tahoma"/>
              </a:rPr>
              <a:t>elements,</a:t>
            </a:r>
            <a:r>
              <a:rPr sz="1000" spc="20" dirty="0">
                <a:latin typeface="Tahoma"/>
                <a:cs typeface="Tahoma"/>
              </a:rPr>
              <a:t> </a:t>
            </a:r>
            <a:r>
              <a:rPr sz="1000" spc="-40" dirty="0">
                <a:latin typeface="Tahoma"/>
                <a:cs typeface="Tahoma"/>
              </a:rPr>
              <a:t>then</a:t>
            </a:r>
            <a:r>
              <a:rPr sz="1000" spc="20" dirty="0">
                <a:latin typeface="Tahoma"/>
                <a:cs typeface="Tahoma"/>
              </a:rPr>
              <a:t> </a:t>
            </a:r>
            <a:r>
              <a:rPr sz="1000" spc="-45" dirty="0">
                <a:latin typeface="Tahoma"/>
                <a:cs typeface="Tahoma"/>
              </a:rPr>
              <a:t>set</a:t>
            </a:r>
            <a:r>
              <a:rPr sz="1000" spc="20" dirty="0">
                <a:latin typeface="Tahoma"/>
                <a:cs typeface="Tahoma"/>
              </a:rPr>
              <a:t> </a:t>
            </a:r>
            <a:r>
              <a:rPr sz="1000" spc="50" dirty="0">
                <a:latin typeface="Lucida Sans Unicode"/>
                <a:cs typeface="Lucida Sans Unicode"/>
              </a:rPr>
              <a:t>P</a:t>
            </a:r>
            <a:r>
              <a:rPr sz="1000" spc="50" dirty="0">
                <a:latin typeface="Tahoma"/>
                <a:cs typeface="Tahoma"/>
              </a:rPr>
              <a:t>(</a:t>
            </a:r>
            <a:r>
              <a:rPr sz="1000" i="1" spc="50" dirty="0">
                <a:latin typeface="Arial"/>
                <a:cs typeface="Arial"/>
              </a:rPr>
              <a:t>A</a:t>
            </a:r>
            <a:r>
              <a:rPr sz="1050" i="1" spc="75" baseline="-11904" dirty="0">
                <a:latin typeface="Arial"/>
                <a:cs typeface="Arial"/>
              </a:rPr>
              <a:t>n</a:t>
            </a:r>
            <a:r>
              <a:rPr sz="1050" i="1" spc="-195" baseline="-11904" dirty="0">
                <a:latin typeface="Arial"/>
                <a:cs typeface="Arial"/>
              </a:rPr>
              <a:t> </a:t>
            </a:r>
            <a:r>
              <a:rPr sz="1000" dirty="0">
                <a:latin typeface="Tahoma"/>
                <a:cs typeface="Tahoma"/>
              </a:rPr>
              <a:t>)</a:t>
            </a:r>
            <a:r>
              <a:rPr sz="1000" spc="20" dirty="0">
                <a:latin typeface="Tahoma"/>
                <a:cs typeface="Tahoma"/>
              </a:rPr>
              <a:t> </a:t>
            </a:r>
            <a:r>
              <a:rPr sz="1000" spc="-35" dirty="0">
                <a:latin typeface="Tahoma"/>
                <a:cs typeface="Tahoma"/>
              </a:rPr>
              <a:t>consists </a:t>
            </a:r>
            <a:r>
              <a:rPr sz="1000" spc="-300" dirty="0">
                <a:latin typeface="Tahoma"/>
                <a:cs typeface="Tahoma"/>
              </a:rPr>
              <a:t> </a:t>
            </a:r>
            <a:r>
              <a:rPr sz="1000" spc="-30" dirty="0">
                <a:latin typeface="Tahoma"/>
                <a:cs typeface="Tahoma"/>
              </a:rPr>
              <a:t>of</a:t>
            </a:r>
            <a:r>
              <a:rPr sz="1000" spc="10" dirty="0">
                <a:latin typeface="Tahoma"/>
                <a:cs typeface="Tahoma"/>
              </a:rPr>
              <a:t> </a:t>
            </a:r>
            <a:r>
              <a:rPr sz="1000" spc="-30" dirty="0">
                <a:latin typeface="Tahoma"/>
                <a:cs typeface="Tahoma"/>
              </a:rPr>
              <a:t>2</a:t>
            </a:r>
            <a:r>
              <a:rPr sz="1050" i="1" spc="-44" baseline="27777" dirty="0">
                <a:latin typeface="Arial"/>
                <a:cs typeface="Arial"/>
              </a:rPr>
              <a:t>n</a:t>
            </a:r>
            <a:r>
              <a:rPr sz="1050" i="1" spc="60" baseline="27777" dirty="0">
                <a:latin typeface="Arial"/>
                <a:cs typeface="Arial"/>
              </a:rPr>
              <a:t> </a:t>
            </a:r>
            <a:r>
              <a:rPr sz="1000" spc="-45" dirty="0">
                <a:latin typeface="Tahoma"/>
                <a:cs typeface="Tahoma"/>
              </a:rPr>
              <a:t>elements.</a:t>
            </a:r>
            <a:endParaRPr sz="1000">
              <a:latin typeface="Tahoma"/>
              <a:cs typeface="Tahoma"/>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FFFFFF"/>
                </a:solidFill>
                <a:latin typeface="Microsoft Sans Serif"/>
                <a:cs typeface="Microsoft Sans Serif"/>
                <a:hlinkClick r:id="rId4" action="ppaction://hlinksldjump"/>
              </a:rPr>
              <a:t>Properties</a:t>
            </a:r>
            <a:r>
              <a:rPr sz="500" dirty="0">
                <a:solidFill>
                  <a:srgbClr val="FFFFFF"/>
                </a:solidFill>
                <a:latin typeface="Microsoft Sans Serif"/>
                <a:cs typeface="Microsoft Sans Serif"/>
                <a:hlinkClick r:id="rId4" action="ppaction://hlinksldjump"/>
              </a:rPr>
              <a:t> of</a:t>
            </a:r>
            <a:r>
              <a:rPr sz="500" spc="5" dirty="0">
                <a:solidFill>
                  <a:srgbClr val="FFFFFF"/>
                </a:solidFill>
                <a:latin typeface="Microsoft Sans Serif"/>
                <a:cs typeface="Microsoft Sans Serif"/>
                <a:hlinkClick r:id="rId4" action="ppaction://hlinksldjump"/>
              </a:rPr>
              <a:t> </a:t>
            </a:r>
            <a:r>
              <a:rPr sz="500" spc="-15" dirty="0">
                <a:solidFill>
                  <a:srgbClr val="FFFFFF"/>
                </a:solidFill>
                <a:latin typeface="Microsoft Sans Serif"/>
                <a:cs typeface="Microsoft Sans Serif"/>
                <a:hlinkClick r:id="rId4" action="ppaction://hlinksldjump"/>
              </a:rPr>
              <a:t>set </a:t>
            </a:r>
            <a:r>
              <a:rPr sz="500" spc="-120" dirty="0">
                <a:solidFill>
                  <a:srgbClr val="FFFFFF"/>
                </a:solidFill>
                <a:latin typeface="Microsoft Sans Serif"/>
                <a:cs typeface="Microsoft Sans Serif"/>
                <a:hlinkClick r:id="rId4" action="ppaction://hlinksldjump"/>
              </a:rPr>
              <a:t> </a:t>
            </a:r>
            <a:r>
              <a:rPr sz="500" spc="-10" dirty="0">
                <a:solidFill>
                  <a:srgbClr val="FFFFFF"/>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844550" cy="244475"/>
          </a:xfrm>
          <a:prstGeom prst="rect">
            <a:avLst/>
          </a:prstGeom>
        </p:spPr>
        <p:txBody>
          <a:bodyPr vert="horz" wrap="square" lIns="0" tIns="17145" rIns="0" bIns="0" rtlCol="0">
            <a:spAutoFit/>
          </a:bodyPr>
          <a:lstStyle/>
          <a:p>
            <a:pPr marL="12700">
              <a:lnSpc>
                <a:spcPct val="100000"/>
              </a:lnSpc>
              <a:spcBef>
                <a:spcPts val="135"/>
              </a:spcBef>
            </a:pPr>
            <a:r>
              <a:rPr spc="-45" dirty="0"/>
              <a:t>Power</a:t>
            </a:r>
            <a:r>
              <a:rPr spc="65" dirty="0"/>
              <a:t> </a:t>
            </a:r>
            <a:r>
              <a:rPr spc="-40" dirty="0"/>
              <a:t>set</a:t>
            </a:r>
          </a:p>
        </p:txBody>
      </p:sp>
      <p:sp>
        <p:nvSpPr>
          <p:cNvPr id="30" name="object 30"/>
          <p:cNvSpPr/>
          <p:nvPr/>
        </p:nvSpPr>
        <p:spPr>
          <a:xfrm>
            <a:off x="698562" y="951128"/>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981054"/>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32" name="object 32"/>
          <p:cNvGrpSpPr/>
          <p:nvPr/>
        </p:nvGrpSpPr>
        <p:grpSpPr>
          <a:xfrm>
            <a:off x="698562" y="1008034"/>
            <a:ext cx="3831590" cy="2024380"/>
            <a:chOff x="698562" y="1008034"/>
            <a:chExt cx="3831590" cy="2024380"/>
          </a:xfrm>
        </p:grpSpPr>
        <p:pic>
          <p:nvPicPr>
            <p:cNvPr id="33" name="object 33"/>
            <p:cNvPicPr/>
            <p:nvPr/>
          </p:nvPicPr>
          <p:blipFill>
            <a:blip r:embed="rId7" cstate="print"/>
            <a:stretch>
              <a:fillRect/>
            </a:stretch>
          </p:blipFill>
          <p:spPr>
            <a:xfrm>
              <a:off x="698563" y="1108722"/>
              <a:ext cx="3780284" cy="50609"/>
            </a:xfrm>
            <a:prstGeom prst="rect">
              <a:avLst/>
            </a:prstGeom>
          </p:spPr>
        </p:pic>
        <p:sp>
          <p:nvSpPr>
            <p:cNvPr id="34" name="object 34"/>
            <p:cNvSpPr/>
            <p:nvPr/>
          </p:nvSpPr>
          <p:spPr>
            <a:xfrm>
              <a:off x="749363" y="1008034"/>
              <a:ext cx="3780790" cy="2024380"/>
            </a:xfrm>
            <a:custGeom>
              <a:avLst/>
              <a:gdLst/>
              <a:ahLst/>
              <a:cxnLst/>
              <a:rect l="l" t="t" r="r" b="b"/>
              <a:pathLst>
                <a:path w="3780790" h="2024380">
                  <a:moveTo>
                    <a:pt x="3780285" y="0"/>
                  </a:moveTo>
                  <a:lnTo>
                    <a:pt x="0" y="0"/>
                  </a:lnTo>
                  <a:lnTo>
                    <a:pt x="0" y="2024205"/>
                  </a:lnTo>
                  <a:lnTo>
                    <a:pt x="3780285" y="2024205"/>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152979"/>
              <a:ext cx="3780790" cy="1828800"/>
            </a:xfrm>
            <a:custGeom>
              <a:avLst/>
              <a:gdLst/>
              <a:ahLst/>
              <a:cxnLst/>
              <a:rect l="l" t="t" r="r" b="b"/>
              <a:pathLst>
                <a:path w="3780790" h="1828800">
                  <a:moveTo>
                    <a:pt x="3780285" y="0"/>
                  </a:moveTo>
                  <a:lnTo>
                    <a:pt x="0" y="0"/>
                  </a:lnTo>
                  <a:lnTo>
                    <a:pt x="0" y="1777659"/>
                  </a:lnTo>
                  <a:lnTo>
                    <a:pt x="4008" y="1797384"/>
                  </a:lnTo>
                  <a:lnTo>
                    <a:pt x="14922" y="1813537"/>
                  </a:lnTo>
                  <a:lnTo>
                    <a:pt x="31075" y="1824451"/>
                  </a:lnTo>
                  <a:lnTo>
                    <a:pt x="50800" y="1828459"/>
                  </a:lnTo>
                  <a:lnTo>
                    <a:pt x="3729484" y="1828459"/>
                  </a:lnTo>
                  <a:lnTo>
                    <a:pt x="3749209" y="1824451"/>
                  </a:lnTo>
                  <a:lnTo>
                    <a:pt x="3765362" y="1813537"/>
                  </a:lnTo>
                  <a:lnTo>
                    <a:pt x="3776276" y="1797384"/>
                  </a:lnTo>
                  <a:lnTo>
                    <a:pt x="3780285" y="1777659"/>
                  </a:lnTo>
                  <a:lnTo>
                    <a:pt x="3780285" y="0"/>
                  </a:lnTo>
                  <a:close/>
                </a:path>
              </a:pathLst>
            </a:custGeom>
            <a:solidFill>
              <a:srgbClr val="E9E9F2"/>
            </a:solidFill>
          </p:spPr>
          <p:txBody>
            <a:bodyPr wrap="square" lIns="0" tIns="0" rIns="0" bIns="0" rtlCol="0"/>
            <a:lstStyle/>
            <a:p>
              <a:endParaRPr/>
            </a:p>
          </p:txBody>
        </p:sp>
      </p:grpSp>
      <p:sp>
        <p:nvSpPr>
          <p:cNvPr id="36" name="object 36"/>
          <p:cNvSpPr txBox="1"/>
          <p:nvPr/>
        </p:nvSpPr>
        <p:spPr>
          <a:xfrm>
            <a:off x="736663" y="1133975"/>
            <a:ext cx="3572510" cy="177800"/>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Induction</a:t>
            </a:r>
            <a:r>
              <a:rPr sz="1000" spc="20" dirty="0">
                <a:latin typeface="Tahoma"/>
                <a:cs typeface="Tahoma"/>
              </a:rPr>
              <a:t> </a:t>
            </a:r>
            <a:r>
              <a:rPr sz="1000" spc="-45" dirty="0">
                <a:latin typeface="Tahoma"/>
                <a:cs typeface="Tahoma"/>
              </a:rPr>
              <a:t>on</a:t>
            </a:r>
            <a:r>
              <a:rPr sz="1000" spc="15" dirty="0">
                <a:latin typeface="Tahoma"/>
                <a:cs typeface="Tahoma"/>
              </a:rPr>
              <a:t> </a:t>
            </a:r>
            <a:r>
              <a:rPr sz="1000" i="1" spc="-30" dirty="0">
                <a:latin typeface="Arial"/>
                <a:cs typeface="Arial"/>
              </a:rPr>
              <a:t>n</a:t>
            </a:r>
            <a:r>
              <a:rPr sz="1000" spc="-30" dirty="0">
                <a:latin typeface="Tahoma"/>
                <a:cs typeface="Tahoma"/>
              </a:rPr>
              <a:t>.</a:t>
            </a:r>
            <a:r>
              <a:rPr sz="1000" spc="130" dirty="0">
                <a:latin typeface="Tahoma"/>
                <a:cs typeface="Tahoma"/>
              </a:rPr>
              <a:t> </a:t>
            </a:r>
            <a:r>
              <a:rPr sz="1000" spc="-35" dirty="0">
                <a:latin typeface="Tahoma"/>
                <a:cs typeface="Tahoma"/>
              </a:rPr>
              <a:t>When</a:t>
            </a:r>
            <a:r>
              <a:rPr sz="1000" spc="20" dirty="0">
                <a:latin typeface="Tahoma"/>
                <a:cs typeface="Tahoma"/>
              </a:rPr>
              <a:t> </a:t>
            </a:r>
            <a:r>
              <a:rPr sz="1000" i="1" spc="-45" dirty="0">
                <a:latin typeface="Arial"/>
                <a:cs typeface="Arial"/>
              </a:rPr>
              <a:t>n</a:t>
            </a:r>
            <a:r>
              <a:rPr sz="1000" i="1" spc="15" dirty="0">
                <a:latin typeface="Arial"/>
                <a:cs typeface="Arial"/>
              </a:rPr>
              <a:t> </a:t>
            </a:r>
            <a:r>
              <a:rPr sz="1000" spc="45" dirty="0">
                <a:latin typeface="Tahoma"/>
                <a:cs typeface="Tahoma"/>
              </a:rPr>
              <a:t>=</a:t>
            </a:r>
            <a:r>
              <a:rPr sz="1000" spc="-35" dirty="0">
                <a:latin typeface="Tahoma"/>
                <a:cs typeface="Tahoma"/>
              </a:rPr>
              <a:t> </a:t>
            </a:r>
            <a:r>
              <a:rPr sz="1000" spc="-50" dirty="0">
                <a:latin typeface="Tahoma"/>
                <a:cs typeface="Tahoma"/>
              </a:rPr>
              <a:t>0</a:t>
            </a:r>
            <a:r>
              <a:rPr sz="1000" spc="15" dirty="0">
                <a:latin typeface="Tahoma"/>
                <a:cs typeface="Tahoma"/>
              </a:rPr>
              <a:t> </a:t>
            </a:r>
            <a:r>
              <a:rPr sz="1000" spc="-95" dirty="0">
                <a:latin typeface="Tahoma"/>
                <a:cs typeface="Tahoma"/>
              </a:rPr>
              <a:t>w</a:t>
            </a:r>
            <a:r>
              <a:rPr sz="1000" spc="-85" dirty="0">
                <a:latin typeface="Tahoma"/>
                <a:cs typeface="Tahoma"/>
              </a:rPr>
              <a:t>e</a:t>
            </a:r>
            <a:r>
              <a:rPr sz="1000" spc="20" dirty="0">
                <a:latin typeface="Tahoma"/>
                <a:cs typeface="Tahoma"/>
              </a:rPr>
              <a:t> </a:t>
            </a:r>
            <a:r>
              <a:rPr sz="1000" spc="-55" dirty="0">
                <a:latin typeface="Tahoma"/>
                <a:cs typeface="Tahoma"/>
              </a:rPr>
              <a:t>have</a:t>
            </a:r>
            <a:r>
              <a:rPr sz="1000" spc="15" dirty="0">
                <a:latin typeface="Tahoma"/>
                <a:cs typeface="Tahoma"/>
              </a:rPr>
              <a:t> </a:t>
            </a:r>
            <a:r>
              <a:rPr sz="1000" spc="215" dirty="0">
                <a:latin typeface="Lucida Sans Unicode"/>
                <a:cs typeface="Lucida Sans Unicode"/>
              </a:rPr>
              <a:t>P</a:t>
            </a:r>
            <a:r>
              <a:rPr sz="1000" dirty="0">
                <a:latin typeface="Tahoma"/>
                <a:cs typeface="Tahoma"/>
              </a:rPr>
              <a:t>(</a:t>
            </a:r>
            <a:r>
              <a:rPr sz="1000" spc="-480" dirty="0">
                <a:latin typeface="Lucida Sans Unicode"/>
                <a:cs typeface="Lucida Sans Unicode"/>
              </a:rPr>
              <a:t>∅</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spc="-45" dirty="0">
                <a:latin typeface="Lucida Sans Unicode"/>
                <a:cs typeface="Lucida Sans Unicode"/>
              </a:rPr>
              <a:t>{∅}</a:t>
            </a:r>
            <a:r>
              <a:rPr sz="1000" spc="-30" dirty="0">
                <a:latin typeface="Tahoma"/>
                <a:cs typeface="Tahoma"/>
              </a:rPr>
              <a:t>,</a:t>
            </a:r>
            <a:r>
              <a:rPr sz="1000" spc="20" dirty="0">
                <a:latin typeface="Tahoma"/>
                <a:cs typeface="Tahoma"/>
              </a:rPr>
              <a:t> </a:t>
            </a:r>
            <a:r>
              <a:rPr sz="1000" spc="-35" dirty="0">
                <a:latin typeface="Tahoma"/>
                <a:cs typeface="Tahoma"/>
              </a:rPr>
              <a:t>i.e</a:t>
            </a:r>
            <a:r>
              <a:rPr sz="1000" spc="20" dirty="0">
                <a:latin typeface="Tahoma"/>
                <a:cs typeface="Tahoma"/>
              </a:rPr>
              <a:t> </a:t>
            </a:r>
            <a:r>
              <a:rPr sz="1000" spc="15" dirty="0">
                <a:latin typeface="Tahoma"/>
                <a:cs typeface="Tahoma"/>
              </a:rPr>
              <a:t>it</a:t>
            </a:r>
            <a:r>
              <a:rPr sz="1000" spc="20" dirty="0">
                <a:latin typeface="Tahoma"/>
                <a:cs typeface="Tahoma"/>
              </a:rPr>
              <a:t> </a:t>
            </a:r>
            <a:r>
              <a:rPr sz="1000" spc="-35" dirty="0">
                <a:latin typeface="Tahoma"/>
                <a:cs typeface="Tahoma"/>
              </a:rPr>
              <a:t>consists</a:t>
            </a:r>
            <a:r>
              <a:rPr sz="1000" spc="15" dirty="0">
                <a:latin typeface="Tahoma"/>
                <a:cs typeface="Tahoma"/>
              </a:rPr>
              <a:t> </a:t>
            </a:r>
            <a:r>
              <a:rPr sz="1000" spc="-30" dirty="0">
                <a:latin typeface="Tahoma"/>
                <a:cs typeface="Tahoma"/>
              </a:rPr>
              <a:t>of</a:t>
            </a:r>
            <a:endParaRPr sz="1000">
              <a:latin typeface="Tahoma"/>
              <a:cs typeface="Tahoma"/>
            </a:endParaRPr>
          </a:p>
        </p:txBody>
      </p:sp>
      <p:sp>
        <p:nvSpPr>
          <p:cNvPr id="37" name="object 37"/>
          <p:cNvSpPr txBox="1"/>
          <p:nvPr/>
        </p:nvSpPr>
        <p:spPr>
          <a:xfrm>
            <a:off x="736663" y="1285803"/>
            <a:ext cx="697865" cy="177800"/>
          </a:xfrm>
          <a:prstGeom prst="rect">
            <a:avLst/>
          </a:prstGeom>
        </p:spPr>
        <p:txBody>
          <a:bodyPr vert="horz" wrap="square" lIns="0" tIns="12065" rIns="0" bIns="0" rtlCol="0">
            <a:spAutoFit/>
          </a:bodyPr>
          <a:lstStyle/>
          <a:p>
            <a:pPr marL="12700">
              <a:lnSpc>
                <a:spcPct val="100000"/>
              </a:lnSpc>
              <a:spcBef>
                <a:spcPts val="95"/>
              </a:spcBef>
            </a:pPr>
            <a:r>
              <a:rPr sz="1000" spc="-60" dirty="0">
                <a:latin typeface="Tahoma"/>
                <a:cs typeface="Tahoma"/>
              </a:rPr>
              <a:t>one</a:t>
            </a:r>
            <a:r>
              <a:rPr sz="1000" spc="15" dirty="0">
                <a:latin typeface="Tahoma"/>
                <a:cs typeface="Tahoma"/>
              </a:rPr>
              <a:t> </a:t>
            </a:r>
            <a:r>
              <a:rPr sz="1000" spc="-60" dirty="0">
                <a:latin typeface="Tahoma"/>
                <a:cs typeface="Tahoma"/>
              </a:rPr>
              <a:t>eleme</a:t>
            </a:r>
            <a:r>
              <a:rPr sz="1000" spc="-50" dirty="0">
                <a:latin typeface="Tahoma"/>
                <a:cs typeface="Tahoma"/>
              </a:rPr>
              <a:t>n</a:t>
            </a:r>
            <a:r>
              <a:rPr sz="1000" spc="25" dirty="0">
                <a:latin typeface="Tahoma"/>
                <a:cs typeface="Tahoma"/>
              </a:rPr>
              <a:t>t</a:t>
            </a:r>
            <a:r>
              <a:rPr sz="1000" spc="-30" dirty="0">
                <a:latin typeface="Tahoma"/>
                <a:cs typeface="Tahoma"/>
              </a:rPr>
              <a:t>.</a:t>
            </a:r>
            <a:endParaRPr sz="1000">
              <a:latin typeface="Tahoma"/>
              <a:cs typeface="Tahoma"/>
            </a:endParaRPr>
          </a:p>
        </p:txBody>
      </p:sp>
      <p:sp>
        <p:nvSpPr>
          <p:cNvPr id="38" name="object 38"/>
          <p:cNvSpPr txBox="1"/>
          <p:nvPr/>
        </p:nvSpPr>
        <p:spPr>
          <a:xfrm>
            <a:off x="736663" y="1437645"/>
            <a:ext cx="3672204" cy="177800"/>
          </a:xfrm>
          <a:prstGeom prst="rect">
            <a:avLst/>
          </a:prstGeom>
        </p:spPr>
        <p:txBody>
          <a:bodyPr vert="horz" wrap="square" lIns="0" tIns="12065" rIns="0" bIns="0" rtlCol="0">
            <a:spAutoFit/>
          </a:bodyPr>
          <a:lstStyle/>
          <a:p>
            <a:pPr marL="12700">
              <a:lnSpc>
                <a:spcPct val="100000"/>
              </a:lnSpc>
              <a:spcBef>
                <a:spcPts val="95"/>
              </a:spcBef>
            </a:pPr>
            <a:r>
              <a:rPr sz="1000" spc="-30" dirty="0">
                <a:latin typeface="Tahoma"/>
                <a:cs typeface="Tahoma"/>
              </a:rPr>
              <a:t>Step</a:t>
            </a:r>
            <a:r>
              <a:rPr sz="1000" spc="15" dirty="0">
                <a:latin typeface="Tahoma"/>
                <a:cs typeface="Tahoma"/>
              </a:rPr>
              <a:t> </a:t>
            </a:r>
            <a:r>
              <a:rPr sz="1000" spc="-30" dirty="0">
                <a:latin typeface="Tahoma"/>
                <a:cs typeface="Tahoma"/>
              </a:rPr>
              <a:t>of</a:t>
            </a:r>
            <a:r>
              <a:rPr sz="1000" spc="25" dirty="0">
                <a:latin typeface="Tahoma"/>
                <a:cs typeface="Tahoma"/>
              </a:rPr>
              <a:t> </a:t>
            </a:r>
            <a:r>
              <a:rPr sz="1000" spc="-25" dirty="0">
                <a:latin typeface="Tahoma"/>
                <a:cs typeface="Tahoma"/>
              </a:rPr>
              <a:t>induction.</a:t>
            </a:r>
            <a:r>
              <a:rPr sz="1000" spc="130" dirty="0">
                <a:latin typeface="Tahoma"/>
                <a:cs typeface="Tahoma"/>
              </a:rPr>
              <a:t> </a:t>
            </a:r>
            <a:r>
              <a:rPr sz="1000" spc="-5" dirty="0">
                <a:latin typeface="Tahoma"/>
                <a:cs typeface="Tahoma"/>
              </a:rPr>
              <a:t>Let’s</a:t>
            </a:r>
            <a:r>
              <a:rPr sz="1000" spc="25" dirty="0">
                <a:latin typeface="Tahoma"/>
                <a:cs typeface="Tahoma"/>
              </a:rPr>
              <a:t> </a:t>
            </a:r>
            <a:r>
              <a:rPr sz="1000" spc="-40" dirty="0">
                <a:latin typeface="Tahoma"/>
                <a:cs typeface="Tahoma"/>
              </a:rPr>
              <a:t>consider,</a:t>
            </a:r>
            <a:r>
              <a:rPr sz="1000" spc="25" dirty="0">
                <a:latin typeface="Tahoma"/>
                <a:cs typeface="Tahoma"/>
              </a:rPr>
              <a:t> </a:t>
            </a:r>
            <a:r>
              <a:rPr sz="1000" spc="-10" dirty="0">
                <a:latin typeface="Tahoma"/>
                <a:cs typeface="Tahoma"/>
              </a:rPr>
              <a:t>that</a:t>
            </a:r>
            <a:r>
              <a:rPr sz="1000" spc="15" dirty="0">
                <a:latin typeface="Tahoma"/>
                <a:cs typeface="Tahoma"/>
              </a:rPr>
              <a:t> </a:t>
            </a:r>
            <a:r>
              <a:rPr sz="1000" spc="-35" dirty="0">
                <a:latin typeface="Tahoma"/>
                <a:cs typeface="Tahoma"/>
              </a:rPr>
              <a:t>statement</a:t>
            </a:r>
            <a:r>
              <a:rPr sz="1000" spc="20" dirty="0">
                <a:latin typeface="Tahoma"/>
                <a:cs typeface="Tahoma"/>
              </a:rPr>
              <a:t> </a:t>
            </a:r>
            <a:r>
              <a:rPr sz="1000" spc="-30" dirty="0">
                <a:latin typeface="Tahoma"/>
                <a:cs typeface="Tahoma"/>
              </a:rPr>
              <a:t>is</a:t>
            </a:r>
            <a:r>
              <a:rPr sz="1000" spc="20" dirty="0">
                <a:latin typeface="Tahoma"/>
                <a:cs typeface="Tahoma"/>
              </a:rPr>
              <a:t> </a:t>
            </a:r>
            <a:r>
              <a:rPr sz="1000" spc="-50" dirty="0">
                <a:latin typeface="Tahoma"/>
                <a:cs typeface="Tahoma"/>
              </a:rPr>
              <a:t>proved</a:t>
            </a:r>
            <a:r>
              <a:rPr sz="1000" spc="25" dirty="0">
                <a:latin typeface="Tahoma"/>
                <a:cs typeface="Tahoma"/>
              </a:rPr>
              <a:t> </a:t>
            </a:r>
            <a:r>
              <a:rPr sz="1000" spc="-40" dirty="0">
                <a:latin typeface="Tahoma"/>
                <a:cs typeface="Tahoma"/>
              </a:rPr>
              <a:t>for</a:t>
            </a:r>
            <a:r>
              <a:rPr sz="1000" spc="15" dirty="0">
                <a:latin typeface="Tahoma"/>
                <a:cs typeface="Tahoma"/>
              </a:rPr>
              <a:t> </a:t>
            </a:r>
            <a:r>
              <a:rPr sz="1000" i="1" spc="-45" dirty="0">
                <a:latin typeface="Arial"/>
                <a:cs typeface="Arial"/>
              </a:rPr>
              <a:t>n</a:t>
            </a:r>
            <a:r>
              <a:rPr sz="1000" i="1" spc="-35" dirty="0">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spc="-40" dirty="0">
                <a:latin typeface="Tahoma"/>
                <a:cs typeface="Tahoma"/>
              </a:rPr>
              <a:t>1,</a:t>
            </a:r>
            <a:endParaRPr sz="1000">
              <a:latin typeface="Tahoma"/>
              <a:cs typeface="Tahoma"/>
            </a:endParaRPr>
          </a:p>
        </p:txBody>
      </p:sp>
      <p:sp>
        <p:nvSpPr>
          <p:cNvPr id="39" name="object 39"/>
          <p:cNvSpPr txBox="1"/>
          <p:nvPr/>
        </p:nvSpPr>
        <p:spPr>
          <a:xfrm>
            <a:off x="711263" y="1589473"/>
            <a:ext cx="3677920" cy="177800"/>
          </a:xfrm>
          <a:prstGeom prst="rect">
            <a:avLst/>
          </a:prstGeom>
        </p:spPr>
        <p:txBody>
          <a:bodyPr vert="horz" wrap="square" lIns="0" tIns="12065" rIns="0" bIns="0" rtlCol="0">
            <a:spAutoFit/>
          </a:bodyPr>
          <a:lstStyle/>
          <a:p>
            <a:pPr marL="38100">
              <a:lnSpc>
                <a:spcPct val="100000"/>
              </a:lnSpc>
              <a:spcBef>
                <a:spcPts val="95"/>
              </a:spcBef>
            </a:pPr>
            <a:r>
              <a:rPr sz="1000" spc="-35" dirty="0">
                <a:latin typeface="Tahoma"/>
                <a:cs typeface="Tahoma"/>
              </a:rPr>
              <a:t>i.e.</a:t>
            </a:r>
            <a:r>
              <a:rPr sz="1000" spc="135" dirty="0">
                <a:latin typeface="Tahoma"/>
                <a:cs typeface="Tahoma"/>
              </a:rPr>
              <a:t> </a:t>
            </a:r>
            <a:r>
              <a:rPr sz="1000" spc="65" dirty="0">
                <a:latin typeface="Lucida Sans Unicode"/>
                <a:cs typeface="Lucida Sans Unicode"/>
              </a:rPr>
              <a:t>P</a:t>
            </a:r>
            <a:r>
              <a:rPr sz="1000" spc="65" dirty="0">
                <a:latin typeface="Tahoma"/>
                <a:cs typeface="Tahoma"/>
              </a:rPr>
              <a:t>(</a:t>
            </a:r>
            <a:r>
              <a:rPr sz="1000" i="1" spc="65" dirty="0">
                <a:latin typeface="Arial"/>
                <a:cs typeface="Arial"/>
              </a:rPr>
              <a:t>A</a:t>
            </a:r>
            <a:r>
              <a:rPr sz="1050" i="1" spc="97" baseline="-11904" dirty="0">
                <a:latin typeface="Arial"/>
                <a:cs typeface="Arial"/>
              </a:rPr>
              <a:t>n−</a:t>
            </a:r>
            <a:r>
              <a:rPr sz="1050" spc="97" baseline="-11904" dirty="0">
                <a:latin typeface="Microsoft Sans Serif"/>
                <a:cs typeface="Microsoft Sans Serif"/>
              </a:rPr>
              <a:t>1</a:t>
            </a:r>
            <a:r>
              <a:rPr sz="1000" spc="65" dirty="0">
                <a:latin typeface="Tahoma"/>
                <a:cs typeface="Tahoma"/>
              </a:rPr>
              <a:t>)</a:t>
            </a:r>
            <a:r>
              <a:rPr sz="1000" spc="25" dirty="0">
                <a:latin typeface="Tahoma"/>
                <a:cs typeface="Tahoma"/>
              </a:rPr>
              <a:t> </a:t>
            </a:r>
            <a:r>
              <a:rPr sz="1000" spc="-35" dirty="0">
                <a:latin typeface="Tahoma"/>
                <a:cs typeface="Tahoma"/>
              </a:rPr>
              <a:t>consists</a:t>
            </a:r>
            <a:r>
              <a:rPr sz="1000" spc="20" dirty="0">
                <a:latin typeface="Tahoma"/>
                <a:cs typeface="Tahoma"/>
              </a:rPr>
              <a:t> </a:t>
            </a:r>
            <a:r>
              <a:rPr sz="1000" spc="-30" dirty="0">
                <a:latin typeface="Tahoma"/>
                <a:cs typeface="Tahoma"/>
              </a:rPr>
              <a:t>of</a:t>
            </a:r>
            <a:r>
              <a:rPr sz="1000" spc="20" dirty="0">
                <a:latin typeface="Tahoma"/>
                <a:cs typeface="Tahoma"/>
              </a:rPr>
              <a:t> </a:t>
            </a:r>
            <a:r>
              <a:rPr sz="1000" spc="35" dirty="0">
                <a:latin typeface="Tahoma"/>
                <a:cs typeface="Tahoma"/>
              </a:rPr>
              <a:t>2</a:t>
            </a:r>
            <a:r>
              <a:rPr sz="1050" i="1" spc="52" baseline="27777" dirty="0">
                <a:latin typeface="Arial"/>
                <a:cs typeface="Arial"/>
              </a:rPr>
              <a:t>n−</a:t>
            </a:r>
            <a:r>
              <a:rPr sz="1050" spc="52" baseline="27777" dirty="0">
                <a:latin typeface="Microsoft Sans Serif"/>
                <a:cs typeface="Microsoft Sans Serif"/>
              </a:rPr>
              <a:t>1</a:t>
            </a:r>
            <a:r>
              <a:rPr sz="1050" spc="307" baseline="27777" dirty="0">
                <a:latin typeface="Microsoft Sans Serif"/>
                <a:cs typeface="Microsoft Sans Serif"/>
              </a:rPr>
              <a:t> </a:t>
            </a:r>
            <a:r>
              <a:rPr sz="1000" spc="-50" dirty="0">
                <a:latin typeface="Tahoma"/>
                <a:cs typeface="Tahoma"/>
              </a:rPr>
              <a:t>subsets.</a:t>
            </a:r>
            <a:r>
              <a:rPr sz="1000" spc="135" dirty="0">
                <a:latin typeface="Tahoma"/>
                <a:cs typeface="Tahoma"/>
              </a:rPr>
              <a:t> </a:t>
            </a:r>
            <a:r>
              <a:rPr sz="1000" spc="-15" dirty="0">
                <a:latin typeface="Tahoma"/>
                <a:cs typeface="Tahoma"/>
              </a:rPr>
              <a:t>Arbitrary</a:t>
            </a:r>
            <a:r>
              <a:rPr sz="1000" spc="25" dirty="0">
                <a:latin typeface="Tahoma"/>
                <a:cs typeface="Tahoma"/>
              </a:rPr>
              <a:t> </a:t>
            </a:r>
            <a:r>
              <a:rPr sz="1000" spc="-50" dirty="0">
                <a:latin typeface="Tahoma"/>
                <a:cs typeface="Tahoma"/>
              </a:rPr>
              <a:t>subset</a:t>
            </a:r>
            <a:r>
              <a:rPr sz="1000" spc="15" dirty="0">
                <a:latin typeface="Tahoma"/>
                <a:cs typeface="Tahoma"/>
              </a:rPr>
              <a:t> </a:t>
            </a:r>
            <a:r>
              <a:rPr sz="1000" spc="-35" dirty="0">
                <a:latin typeface="Tahoma"/>
                <a:cs typeface="Tahoma"/>
              </a:rPr>
              <a:t>from</a:t>
            </a:r>
            <a:r>
              <a:rPr sz="1000" spc="25" dirty="0">
                <a:latin typeface="Tahoma"/>
                <a:cs typeface="Tahoma"/>
              </a:rPr>
              <a:t> </a:t>
            </a:r>
            <a:r>
              <a:rPr sz="1000" i="1" spc="-10" dirty="0">
                <a:latin typeface="Arial"/>
                <a:cs typeface="Arial"/>
              </a:rPr>
              <a:t>A</a:t>
            </a:r>
            <a:r>
              <a:rPr sz="1050" i="1" spc="-15" baseline="-11904" dirty="0">
                <a:latin typeface="Arial"/>
                <a:cs typeface="Arial"/>
              </a:rPr>
              <a:t>n</a:t>
            </a:r>
            <a:r>
              <a:rPr sz="1050" i="1" spc="37" baseline="-11904" dirty="0">
                <a:latin typeface="Arial"/>
                <a:cs typeface="Arial"/>
              </a:rPr>
              <a:t> </a:t>
            </a:r>
            <a:r>
              <a:rPr sz="1000" spc="-10" dirty="0">
                <a:latin typeface="Tahoma"/>
                <a:cs typeface="Tahoma"/>
              </a:rPr>
              <a:t>will</a:t>
            </a:r>
            <a:endParaRPr sz="1000">
              <a:latin typeface="Tahoma"/>
              <a:cs typeface="Tahoma"/>
            </a:endParaRPr>
          </a:p>
        </p:txBody>
      </p:sp>
      <p:grpSp>
        <p:nvGrpSpPr>
          <p:cNvPr id="40" name="object 40"/>
          <p:cNvGrpSpPr/>
          <p:nvPr/>
        </p:nvGrpSpPr>
        <p:grpSpPr>
          <a:xfrm>
            <a:off x="879551" y="2008187"/>
            <a:ext cx="59690" cy="249554"/>
            <a:chOff x="879551" y="2008187"/>
            <a:chExt cx="59690" cy="249554"/>
          </a:xfrm>
        </p:grpSpPr>
        <p:pic>
          <p:nvPicPr>
            <p:cNvPr id="41" name="object 41"/>
            <p:cNvPicPr/>
            <p:nvPr/>
          </p:nvPicPr>
          <p:blipFill>
            <a:blip r:embed="rId8" cstate="print"/>
            <a:stretch>
              <a:fillRect/>
            </a:stretch>
          </p:blipFill>
          <p:spPr>
            <a:xfrm>
              <a:off x="879551" y="2008187"/>
              <a:ext cx="59601" cy="59601"/>
            </a:xfrm>
            <a:prstGeom prst="rect">
              <a:avLst/>
            </a:prstGeom>
          </p:spPr>
        </p:pic>
        <p:pic>
          <p:nvPicPr>
            <p:cNvPr id="42" name="object 42"/>
            <p:cNvPicPr/>
            <p:nvPr/>
          </p:nvPicPr>
          <p:blipFill>
            <a:blip r:embed="rId9" cstate="print"/>
            <a:stretch>
              <a:fillRect/>
            </a:stretch>
          </p:blipFill>
          <p:spPr>
            <a:xfrm>
              <a:off x="879551" y="2197976"/>
              <a:ext cx="59601" cy="59601"/>
            </a:xfrm>
            <a:prstGeom prst="rect">
              <a:avLst/>
            </a:prstGeom>
          </p:spPr>
        </p:pic>
      </p:grpSp>
      <p:sp>
        <p:nvSpPr>
          <p:cNvPr id="43" name="object 43"/>
          <p:cNvSpPr txBox="1"/>
          <p:nvPr/>
        </p:nvSpPr>
        <p:spPr>
          <a:xfrm>
            <a:off x="660463" y="1703343"/>
            <a:ext cx="3739515" cy="1240155"/>
          </a:xfrm>
          <a:prstGeom prst="rect">
            <a:avLst/>
          </a:prstGeom>
        </p:spPr>
        <p:txBody>
          <a:bodyPr vert="horz" wrap="square" lIns="0" tIns="50165" rIns="0" bIns="0" rtlCol="0">
            <a:spAutoFit/>
          </a:bodyPr>
          <a:lstStyle/>
          <a:p>
            <a:pPr marL="88900">
              <a:lnSpc>
                <a:spcPct val="100000"/>
              </a:lnSpc>
              <a:spcBef>
                <a:spcPts val="395"/>
              </a:spcBef>
            </a:pPr>
            <a:r>
              <a:rPr sz="1000" spc="-50" dirty="0">
                <a:latin typeface="Tahoma"/>
                <a:cs typeface="Tahoma"/>
              </a:rPr>
              <a:t>be</a:t>
            </a:r>
            <a:r>
              <a:rPr sz="1000" dirty="0">
                <a:latin typeface="Tahoma"/>
                <a:cs typeface="Tahoma"/>
              </a:rPr>
              <a:t> </a:t>
            </a:r>
            <a:r>
              <a:rPr sz="1000" spc="-35" dirty="0">
                <a:latin typeface="Tahoma"/>
                <a:cs typeface="Tahoma"/>
              </a:rPr>
              <a:t>uniquely</a:t>
            </a:r>
            <a:r>
              <a:rPr sz="1000" spc="10" dirty="0">
                <a:latin typeface="Tahoma"/>
                <a:cs typeface="Tahoma"/>
              </a:rPr>
              <a:t> </a:t>
            </a:r>
            <a:r>
              <a:rPr sz="1000" spc="-45" dirty="0">
                <a:latin typeface="Tahoma"/>
                <a:cs typeface="Tahoma"/>
              </a:rPr>
              <a:t>determined</a:t>
            </a:r>
            <a:r>
              <a:rPr sz="1000" spc="10" dirty="0">
                <a:latin typeface="Tahoma"/>
                <a:cs typeface="Tahoma"/>
              </a:rPr>
              <a:t> </a:t>
            </a:r>
            <a:r>
              <a:rPr sz="1000" spc="-65" dirty="0">
                <a:latin typeface="Tahoma"/>
                <a:cs typeface="Tahoma"/>
              </a:rPr>
              <a:t>by:</a:t>
            </a:r>
            <a:endParaRPr sz="1000">
              <a:latin typeface="Tahoma"/>
              <a:cs typeface="Tahoma"/>
            </a:endParaRPr>
          </a:p>
          <a:p>
            <a:pPr marL="341630" marR="294005">
              <a:lnSpc>
                <a:spcPct val="124500"/>
              </a:lnSpc>
            </a:pPr>
            <a:r>
              <a:rPr sz="1000" spc="-15" dirty="0">
                <a:latin typeface="Tahoma"/>
                <a:cs typeface="Tahoma"/>
              </a:rPr>
              <a:t>its</a:t>
            </a:r>
            <a:r>
              <a:rPr sz="1000" spc="20" dirty="0">
                <a:latin typeface="Tahoma"/>
                <a:cs typeface="Tahoma"/>
              </a:rPr>
              <a:t> </a:t>
            </a:r>
            <a:r>
              <a:rPr sz="1000" spc="-30" dirty="0">
                <a:latin typeface="Tahoma"/>
                <a:cs typeface="Tahoma"/>
              </a:rPr>
              <a:t>part,</a:t>
            </a:r>
            <a:r>
              <a:rPr sz="1000" spc="20" dirty="0">
                <a:latin typeface="Tahoma"/>
                <a:cs typeface="Tahoma"/>
              </a:rPr>
              <a:t> </a:t>
            </a:r>
            <a:r>
              <a:rPr sz="1000" spc="-35" dirty="0">
                <a:latin typeface="Tahoma"/>
                <a:cs typeface="Tahoma"/>
              </a:rPr>
              <a:t>which</a:t>
            </a:r>
            <a:r>
              <a:rPr sz="1000" spc="15" dirty="0">
                <a:latin typeface="Tahoma"/>
                <a:cs typeface="Tahoma"/>
              </a:rPr>
              <a:t> </a:t>
            </a:r>
            <a:r>
              <a:rPr sz="1000" spc="-35" dirty="0">
                <a:latin typeface="Tahoma"/>
                <a:cs typeface="Tahoma"/>
              </a:rPr>
              <a:t>lies</a:t>
            </a:r>
            <a:r>
              <a:rPr sz="1000" spc="25" dirty="0">
                <a:latin typeface="Tahoma"/>
                <a:cs typeface="Tahoma"/>
              </a:rPr>
              <a:t> </a:t>
            </a:r>
            <a:r>
              <a:rPr sz="1000" spc="-20" dirty="0">
                <a:latin typeface="Tahoma"/>
                <a:cs typeface="Tahoma"/>
              </a:rPr>
              <a:t>in</a:t>
            </a:r>
            <a:r>
              <a:rPr sz="1000" spc="15" dirty="0">
                <a:latin typeface="Tahoma"/>
                <a:cs typeface="Tahoma"/>
              </a:rPr>
              <a:t> </a:t>
            </a:r>
            <a:r>
              <a:rPr sz="1000" i="1" spc="40" dirty="0">
                <a:latin typeface="Arial"/>
                <a:cs typeface="Arial"/>
              </a:rPr>
              <a:t>A</a:t>
            </a:r>
            <a:r>
              <a:rPr sz="1050" i="1" spc="60" baseline="-11904" dirty="0">
                <a:latin typeface="Arial"/>
                <a:cs typeface="Arial"/>
              </a:rPr>
              <a:t>n−</a:t>
            </a:r>
            <a:r>
              <a:rPr sz="1050" spc="60" baseline="-11904" dirty="0">
                <a:latin typeface="Microsoft Sans Serif"/>
                <a:cs typeface="Microsoft Sans Serif"/>
              </a:rPr>
              <a:t>1</a:t>
            </a:r>
            <a:r>
              <a:rPr sz="1000" spc="40" dirty="0">
                <a:latin typeface="Tahoma"/>
                <a:cs typeface="Tahoma"/>
              </a:rPr>
              <a:t>,</a:t>
            </a:r>
            <a:r>
              <a:rPr sz="1000" spc="20" dirty="0">
                <a:latin typeface="Tahoma"/>
                <a:cs typeface="Tahoma"/>
              </a:rPr>
              <a:t> </a:t>
            </a:r>
            <a:r>
              <a:rPr sz="1000" spc="-35" dirty="0">
                <a:latin typeface="Tahoma"/>
                <a:cs typeface="Tahoma"/>
              </a:rPr>
              <a:t>i.e.</a:t>
            </a:r>
            <a:r>
              <a:rPr sz="1000" spc="135" dirty="0">
                <a:latin typeface="Tahoma"/>
                <a:cs typeface="Tahoma"/>
              </a:rPr>
              <a:t> </a:t>
            </a:r>
            <a:r>
              <a:rPr sz="1000" spc="-55" dirty="0">
                <a:latin typeface="Tahoma"/>
                <a:cs typeface="Tahoma"/>
              </a:rPr>
              <a:t>by</a:t>
            </a:r>
            <a:r>
              <a:rPr sz="1000" spc="15" dirty="0">
                <a:latin typeface="Tahoma"/>
                <a:cs typeface="Tahoma"/>
              </a:rPr>
              <a:t> </a:t>
            </a:r>
            <a:r>
              <a:rPr sz="1000" spc="-50" dirty="0">
                <a:latin typeface="Tahoma"/>
                <a:cs typeface="Tahoma"/>
              </a:rPr>
              <a:t>an</a:t>
            </a:r>
            <a:r>
              <a:rPr sz="1000" spc="20" dirty="0">
                <a:latin typeface="Tahoma"/>
                <a:cs typeface="Tahoma"/>
              </a:rPr>
              <a:t> </a:t>
            </a:r>
            <a:r>
              <a:rPr sz="1000" spc="-45" dirty="0">
                <a:latin typeface="Tahoma"/>
                <a:cs typeface="Tahoma"/>
              </a:rPr>
              <a:t>element</a:t>
            </a:r>
            <a:r>
              <a:rPr sz="1000" spc="15" dirty="0">
                <a:latin typeface="Tahoma"/>
                <a:cs typeface="Tahoma"/>
              </a:rPr>
              <a:t> </a:t>
            </a:r>
            <a:r>
              <a:rPr sz="1000" spc="-30" dirty="0">
                <a:latin typeface="Tahoma"/>
                <a:cs typeface="Tahoma"/>
              </a:rPr>
              <a:t>of</a:t>
            </a:r>
            <a:r>
              <a:rPr sz="1000" spc="25" dirty="0">
                <a:latin typeface="Tahoma"/>
                <a:cs typeface="Tahoma"/>
              </a:rPr>
              <a:t> </a:t>
            </a:r>
            <a:r>
              <a:rPr sz="1000" spc="65" dirty="0">
                <a:latin typeface="Lucida Sans Unicode"/>
                <a:cs typeface="Lucida Sans Unicode"/>
              </a:rPr>
              <a:t>P</a:t>
            </a:r>
            <a:r>
              <a:rPr sz="1000" spc="65" dirty="0">
                <a:latin typeface="Tahoma"/>
                <a:cs typeface="Tahoma"/>
              </a:rPr>
              <a:t>(</a:t>
            </a:r>
            <a:r>
              <a:rPr sz="1000" i="1" spc="65" dirty="0">
                <a:latin typeface="Arial"/>
                <a:cs typeface="Arial"/>
              </a:rPr>
              <a:t>A</a:t>
            </a:r>
            <a:r>
              <a:rPr sz="1050" i="1" spc="97" baseline="-11904" dirty="0">
                <a:latin typeface="Arial"/>
                <a:cs typeface="Arial"/>
              </a:rPr>
              <a:t>n−</a:t>
            </a:r>
            <a:r>
              <a:rPr sz="1050" spc="97" baseline="-11904" dirty="0">
                <a:latin typeface="Microsoft Sans Serif"/>
                <a:cs typeface="Microsoft Sans Serif"/>
              </a:rPr>
              <a:t>1</a:t>
            </a:r>
            <a:r>
              <a:rPr sz="1000" spc="65" dirty="0">
                <a:latin typeface="Tahoma"/>
                <a:cs typeface="Tahoma"/>
              </a:rPr>
              <a:t>) </a:t>
            </a:r>
            <a:r>
              <a:rPr sz="1000" spc="-300" dirty="0">
                <a:latin typeface="Tahoma"/>
                <a:cs typeface="Tahoma"/>
              </a:rPr>
              <a:t> </a:t>
            </a:r>
            <a:r>
              <a:rPr sz="1000" spc="-30" dirty="0">
                <a:latin typeface="Tahoma"/>
                <a:cs typeface="Tahoma"/>
              </a:rPr>
              <a:t>information</a:t>
            </a:r>
            <a:r>
              <a:rPr sz="1000" spc="15" dirty="0">
                <a:latin typeface="Tahoma"/>
                <a:cs typeface="Tahoma"/>
              </a:rPr>
              <a:t> </a:t>
            </a:r>
            <a:r>
              <a:rPr sz="1000" spc="-25" dirty="0">
                <a:latin typeface="Tahoma"/>
                <a:cs typeface="Tahoma"/>
              </a:rPr>
              <a:t>about</a:t>
            </a:r>
            <a:r>
              <a:rPr sz="1000" spc="15" dirty="0">
                <a:latin typeface="Tahoma"/>
                <a:cs typeface="Tahoma"/>
              </a:rPr>
              <a:t> </a:t>
            </a:r>
            <a:r>
              <a:rPr sz="1000" spc="-35" dirty="0">
                <a:latin typeface="Tahoma"/>
                <a:cs typeface="Tahoma"/>
              </a:rPr>
              <a:t>the</a:t>
            </a:r>
            <a:r>
              <a:rPr sz="1000" spc="20" dirty="0">
                <a:latin typeface="Tahoma"/>
                <a:cs typeface="Tahoma"/>
              </a:rPr>
              <a:t> </a:t>
            </a:r>
            <a:r>
              <a:rPr sz="1000" spc="-60" dirty="0">
                <a:latin typeface="Tahoma"/>
                <a:cs typeface="Tahoma"/>
              </a:rPr>
              <a:t>presence</a:t>
            </a:r>
            <a:r>
              <a:rPr sz="1000" spc="20" dirty="0">
                <a:latin typeface="Tahoma"/>
                <a:cs typeface="Tahoma"/>
              </a:rPr>
              <a:t> </a:t>
            </a:r>
            <a:r>
              <a:rPr sz="1000" spc="-30" dirty="0">
                <a:latin typeface="Tahoma"/>
                <a:cs typeface="Tahoma"/>
              </a:rPr>
              <a:t>of</a:t>
            </a:r>
            <a:r>
              <a:rPr sz="1000" spc="15" dirty="0">
                <a:latin typeface="Tahoma"/>
                <a:cs typeface="Tahoma"/>
              </a:rPr>
              <a:t> </a:t>
            </a:r>
            <a:r>
              <a:rPr sz="1000" i="1" spc="-45" dirty="0">
                <a:latin typeface="Arial"/>
                <a:cs typeface="Arial"/>
              </a:rPr>
              <a:t>a</a:t>
            </a:r>
            <a:r>
              <a:rPr sz="1050" i="1" spc="-67" baseline="-11904" dirty="0">
                <a:latin typeface="Arial"/>
                <a:cs typeface="Arial"/>
              </a:rPr>
              <a:t>n</a:t>
            </a:r>
            <a:r>
              <a:rPr sz="1050" i="1" spc="82" baseline="-11904" dirty="0">
                <a:latin typeface="Arial"/>
                <a:cs typeface="Arial"/>
              </a:rPr>
              <a:t> </a:t>
            </a:r>
            <a:r>
              <a:rPr sz="1000" spc="-20" dirty="0">
                <a:latin typeface="Tahoma"/>
                <a:cs typeface="Tahoma"/>
              </a:rPr>
              <a:t>in</a:t>
            </a:r>
            <a:r>
              <a:rPr sz="1000" spc="20" dirty="0">
                <a:latin typeface="Tahoma"/>
                <a:cs typeface="Tahoma"/>
              </a:rPr>
              <a:t> </a:t>
            </a:r>
            <a:r>
              <a:rPr sz="1000" spc="-15" dirty="0">
                <a:latin typeface="Tahoma"/>
                <a:cs typeface="Tahoma"/>
              </a:rPr>
              <a:t>it:</a:t>
            </a:r>
            <a:r>
              <a:rPr sz="1000" spc="130" dirty="0">
                <a:latin typeface="Tahoma"/>
                <a:cs typeface="Tahoma"/>
              </a:rPr>
              <a:t> </a:t>
            </a:r>
            <a:r>
              <a:rPr sz="1000" spc="-35" dirty="0">
                <a:latin typeface="Tahoma"/>
                <a:cs typeface="Tahoma"/>
              </a:rPr>
              <a:t>true</a:t>
            </a:r>
            <a:r>
              <a:rPr sz="1000" spc="10" dirty="0">
                <a:latin typeface="Tahoma"/>
                <a:cs typeface="Tahoma"/>
              </a:rPr>
              <a:t> </a:t>
            </a:r>
            <a:r>
              <a:rPr sz="1000" spc="-50" dirty="0">
                <a:latin typeface="Tahoma"/>
                <a:cs typeface="Tahoma"/>
              </a:rPr>
              <a:t>or</a:t>
            </a:r>
            <a:r>
              <a:rPr sz="1000" spc="20" dirty="0">
                <a:latin typeface="Tahoma"/>
                <a:cs typeface="Tahoma"/>
              </a:rPr>
              <a:t> </a:t>
            </a:r>
            <a:r>
              <a:rPr sz="1000" spc="-40" dirty="0">
                <a:latin typeface="Tahoma"/>
                <a:cs typeface="Tahoma"/>
              </a:rPr>
              <a:t>false.</a:t>
            </a:r>
            <a:endParaRPr sz="1000">
              <a:latin typeface="Tahoma"/>
              <a:cs typeface="Tahoma"/>
            </a:endParaRPr>
          </a:p>
          <a:p>
            <a:pPr marL="88265" marR="55880">
              <a:lnSpc>
                <a:spcPct val="100000"/>
              </a:lnSpc>
              <a:spcBef>
                <a:spcPts val="295"/>
              </a:spcBef>
            </a:pPr>
            <a:r>
              <a:rPr sz="1000" spc="-30" dirty="0">
                <a:latin typeface="Tahoma"/>
                <a:cs typeface="Tahoma"/>
              </a:rPr>
              <a:t>Since</a:t>
            </a:r>
            <a:r>
              <a:rPr sz="1000" spc="15" dirty="0">
                <a:latin typeface="Tahoma"/>
                <a:cs typeface="Tahoma"/>
              </a:rPr>
              <a:t> </a:t>
            </a:r>
            <a:r>
              <a:rPr sz="1000" spc="-45" dirty="0">
                <a:latin typeface="Tahoma"/>
                <a:cs typeface="Tahoma"/>
              </a:rPr>
              <a:t>there</a:t>
            </a:r>
            <a:r>
              <a:rPr sz="1000" spc="20" dirty="0">
                <a:latin typeface="Tahoma"/>
                <a:cs typeface="Tahoma"/>
              </a:rPr>
              <a:t> </a:t>
            </a:r>
            <a:r>
              <a:rPr sz="1000" spc="-65" dirty="0">
                <a:latin typeface="Tahoma"/>
                <a:cs typeface="Tahoma"/>
              </a:rPr>
              <a:t>are</a:t>
            </a:r>
            <a:r>
              <a:rPr sz="1000" spc="25" dirty="0">
                <a:latin typeface="Tahoma"/>
                <a:cs typeface="Tahoma"/>
              </a:rPr>
              <a:t> </a:t>
            </a:r>
            <a:r>
              <a:rPr sz="1000" spc="35" dirty="0">
                <a:latin typeface="Tahoma"/>
                <a:cs typeface="Tahoma"/>
              </a:rPr>
              <a:t>2</a:t>
            </a:r>
            <a:r>
              <a:rPr sz="1050" i="1" spc="52" baseline="27777" dirty="0">
                <a:latin typeface="Arial"/>
                <a:cs typeface="Arial"/>
              </a:rPr>
              <a:t>n−</a:t>
            </a:r>
            <a:r>
              <a:rPr sz="1050" spc="52" baseline="27777" dirty="0">
                <a:latin typeface="Microsoft Sans Serif"/>
                <a:cs typeface="Microsoft Sans Serif"/>
              </a:rPr>
              <a:t>1</a:t>
            </a:r>
            <a:r>
              <a:rPr sz="1050" spc="300" baseline="27777" dirty="0">
                <a:latin typeface="Microsoft Sans Serif"/>
                <a:cs typeface="Microsoft Sans Serif"/>
              </a:rPr>
              <a:t> </a:t>
            </a:r>
            <a:r>
              <a:rPr sz="1000" spc="-50" dirty="0">
                <a:latin typeface="Tahoma"/>
                <a:cs typeface="Tahoma"/>
              </a:rPr>
              <a:t>elements</a:t>
            </a:r>
            <a:r>
              <a:rPr sz="1000" spc="20" dirty="0">
                <a:latin typeface="Tahoma"/>
                <a:cs typeface="Tahoma"/>
              </a:rPr>
              <a:t> </a:t>
            </a:r>
            <a:r>
              <a:rPr sz="1000" spc="-20" dirty="0">
                <a:latin typeface="Tahoma"/>
                <a:cs typeface="Tahoma"/>
              </a:rPr>
              <a:t>in</a:t>
            </a:r>
            <a:r>
              <a:rPr sz="1000" spc="20" dirty="0">
                <a:latin typeface="Tahoma"/>
                <a:cs typeface="Tahoma"/>
              </a:rPr>
              <a:t> </a:t>
            </a:r>
            <a:r>
              <a:rPr sz="1000" spc="55" dirty="0">
                <a:latin typeface="Lucida Sans Unicode"/>
                <a:cs typeface="Lucida Sans Unicode"/>
              </a:rPr>
              <a:t>P</a:t>
            </a:r>
            <a:r>
              <a:rPr sz="1000" spc="55" dirty="0">
                <a:latin typeface="Tahoma"/>
                <a:cs typeface="Tahoma"/>
              </a:rPr>
              <a:t>(</a:t>
            </a:r>
            <a:r>
              <a:rPr sz="1000" i="1" spc="55" dirty="0">
                <a:latin typeface="Arial"/>
                <a:cs typeface="Arial"/>
              </a:rPr>
              <a:t>A</a:t>
            </a:r>
            <a:r>
              <a:rPr sz="1050" i="1" spc="82" baseline="-11904" dirty="0">
                <a:latin typeface="Arial"/>
                <a:cs typeface="Arial"/>
              </a:rPr>
              <a:t>n−</a:t>
            </a:r>
            <a:r>
              <a:rPr sz="1050" spc="82" baseline="-11904" dirty="0">
                <a:latin typeface="Microsoft Sans Serif"/>
                <a:cs typeface="Microsoft Sans Serif"/>
              </a:rPr>
              <a:t>1</a:t>
            </a:r>
            <a:r>
              <a:rPr sz="1000" spc="55" dirty="0">
                <a:latin typeface="Tahoma"/>
                <a:cs typeface="Tahoma"/>
              </a:rPr>
              <a:t>),</a:t>
            </a:r>
            <a:r>
              <a:rPr sz="1000" spc="25" dirty="0">
                <a:latin typeface="Tahoma"/>
                <a:cs typeface="Tahoma"/>
              </a:rPr>
              <a:t> </a:t>
            </a:r>
            <a:r>
              <a:rPr sz="1000" spc="-45" dirty="0">
                <a:latin typeface="Tahoma"/>
                <a:cs typeface="Tahoma"/>
              </a:rPr>
              <a:t>and</a:t>
            </a:r>
            <a:r>
              <a:rPr sz="1000" spc="20" dirty="0">
                <a:latin typeface="Tahoma"/>
                <a:cs typeface="Tahoma"/>
              </a:rPr>
              <a:t> </a:t>
            </a:r>
            <a:r>
              <a:rPr sz="1000" spc="-50" dirty="0">
                <a:latin typeface="Tahoma"/>
                <a:cs typeface="Tahoma"/>
              </a:rPr>
              <a:t>each</a:t>
            </a:r>
            <a:r>
              <a:rPr sz="1000" spc="20" dirty="0">
                <a:latin typeface="Tahoma"/>
                <a:cs typeface="Tahoma"/>
              </a:rPr>
              <a:t> </a:t>
            </a:r>
            <a:r>
              <a:rPr sz="1000" spc="-50" dirty="0">
                <a:latin typeface="Tahoma"/>
                <a:cs typeface="Tahoma"/>
              </a:rPr>
              <a:t>subset</a:t>
            </a:r>
            <a:r>
              <a:rPr sz="1000" spc="15" dirty="0">
                <a:latin typeface="Tahoma"/>
                <a:cs typeface="Tahoma"/>
              </a:rPr>
              <a:t> </a:t>
            </a:r>
            <a:r>
              <a:rPr sz="1000" spc="-35" dirty="0">
                <a:latin typeface="Tahoma"/>
                <a:cs typeface="Tahoma"/>
              </a:rPr>
              <a:t>from </a:t>
            </a:r>
            <a:r>
              <a:rPr sz="1000" spc="-30" dirty="0">
                <a:latin typeface="Tahoma"/>
                <a:cs typeface="Tahoma"/>
              </a:rPr>
              <a:t> </a:t>
            </a:r>
            <a:r>
              <a:rPr sz="1000" spc="65" dirty="0">
                <a:latin typeface="Lucida Sans Unicode"/>
                <a:cs typeface="Lucida Sans Unicode"/>
              </a:rPr>
              <a:t>P</a:t>
            </a:r>
            <a:r>
              <a:rPr sz="1000" spc="65" dirty="0">
                <a:latin typeface="Tahoma"/>
                <a:cs typeface="Tahoma"/>
              </a:rPr>
              <a:t>(</a:t>
            </a:r>
            <a:r>
              <a:rPr sz="1000" i="1" spc="65" dirty="0">
                <a:latin typeface="Arial"/>
                <a:cs typeface="Arial"/>
              </a:rPr>
              <a:t>A</a:t>
            </a:r>
            <a:r>
              <a:rPr sz="1050" i="1" spc="97" baseline="-11904" dirty="0">
                <a:latin typeface="Arial"/>
                <a:cs typeface="Arial"/>
              </a:rPr>
              <a:t>n−</a:t>
            </a:r>
            <a:r>
              <a:rPr sz="1050" spc="97" baseline="-11904" dirty="0">
                <a:latin typeface="Microsoft Sans Serif"/>
                <a:cs typeface="Microsoft Sans Serif"/>
              </a:rPr>
              <a:t>1</a:t>
            </a:r>
            <a:r>
              <a:rPr sz="1000" spc="65" dirty="0">
                <a:latin typeface="Tahoma"/>
                <a:cs typeface="Tahoma"/>
              </a:rPr>
              <a:t>) </a:t>
            </a:r>
            <a:r>
              <a:rPr sz="1000" spc="-55" dirty="0">
                <a:latin typeface="Tahoma"/>
                <a:cs typeface="Tahoma"/>
              </a:rPr>
              <a:t>generates</a:t>
            </a:r>
            <a:r>
              <a:rPr sz="1000" spc="-50" dirty="0">
                <a:latin typeface="Tahoma"/>
                <a:cs typeface="Tahoma"/>
              </a:rPr>
              <a:t> </a:t>
            </a:r>
            <a:r>
              <a:rPr sz="1000" spc="-30" dirty="0">
                <a:latin typeface="Tahoma"/>
                <a:cs typeface="Tahoma"/>
              </a:rPr>
              <a:t>exactly </a:t>
            </a:r>
            <a:r>
              <a:rPr sz="1000" spc="-50" dirty="0">
                <a:latin typeface="Tahoma"/>
                <a:cs typeface="Tahoma"/>
              </a:rPr>
              <a:t>two subsets </a:t>
            </a:r>
            <a:r>
              <a:rPr sz="1000" spc="-20" dirty="0">
                <a:latin typeface="Tahoma"/>
                <a:cs typeface="Tahoma"/>
              </a:rPr>
              <a:t>in </a:t>
            </a:r>
            <a:r>
              <a:rPr sz="1000" spc="50" dirty="0">
                <a:latin typeface="Lucida Sans Unicode"/>
                <a:cs typeface="Lucida Sans Unicode"/>
              </a:rPr>
              <a:t>P</a:t>
            </a:r>
            <a:r>
              <a:rPr sz="1000" spc="50" dirty="0">
                <a:latin typeface="Tahoma"/>
                <a:cs typeface="Tahoma"/>
              </a:rPr>
              <a:t>(</a:t>
            </a:r>
            <a:r>
              <a:rPr sz="1000" i="1" spc="50" dirty="0">
                <a:latin typeface="Arial"/>
                <a:cs typeface="Arial"/>
              </a:rPr>
              <a:t>A</a:t>
            </a:r>
            <a:r>
              <a:rPr sz="1050" i="1" spc="75" baseline="-11904" dirty="0">
                <a:latin typeface="Arial"/>
                <a:cs typeface="Arial"/>
              </a:rPr>
              <a:t>n </a:t>
            </a:r>
            <a:r>
              <a:rPr sz="1000" spc="-40" dirty="0">
                <a:latin typeface="Tahoma"/>
                <a:cs typeface="Tahoma"/>
              </a:rPr>
              <a:t>):</a:t>
            </a:r>
            <a:r>
              <a:rPr sz="1000" spc="-35" dirty="0">
                <a:latin typeface="Tahoma"/>
                <a:cs typeface="Tahoma"/>
              </a:rPr>
              <a:t> which </a:t>
            </a:r>
            <a:r>
              <a:rPr sz="1000" spc="-25" dirty="0">
                <a:latin typeface="Tahoma"/>
                <a:cs typeface="Tahoma"/>
              </a:rPr>
              <a:t>contain </a:t>
            </a:r>
            <a:r>
              <a:rPr sz="1000" i="1" spc="-45" dirty="0">
                <a:latin typeface="Arial"/>
                <a:cs typeface="Arial"/>
              </a:rPr>
              <a:t>a</a:t>
            </a:r>
            <a:r>
              <a:rPr sz="1050" i="1" spc="-67" baseline="-11904" dirty="0">
                <a:latin typeface="Arial"/>
                <a:cs typeface="Arial"/>
              </a:rPr>
              <a:t>n </a:t>
            </a:r>
            <a:r>
              <a:rPr sz="1050" i="1" spc="-60" baseline="-11904" dirty="0">
                <a:latin typeface="Arial"/>
                <a:cs typeface="Arial"/>
              </a:rPr>
              <a:t> </a:t>
            </a:r>
            <a:r>
              <a:rPr sz="1000" spc="-45" dirty="0">
                <a:latin typeface="Tahoma"/>
                <a:cs typeface="Tahoma"/>
              </a:rPr>
              <a:t>and</a:t>
            </a:r>
            <a:r>
              <a:rPr sz="1000" spc="15" dirty="0">
                <a:latin typeface="Tahoma"/>
                <a:cs typeface="Tahoma"/>
              </a:rPr>
              <a:t> </a:t>
            </a:r>
            <a:r>
              <a:rPr sz="1000" spc="-35" dirty="0">
                <a:latin typeface="Tahoma"/>
                <a:cs typeface="Tahoma"/>
              </a:rPr>
              <a:t>which</a:t>
            </a:r>
            <a:r>
              <a:rPr sz="1000" spc="25" dirty="0">
                <a:latin typeface="Tahoma"/>
                <a:cs typeface="Tahoma"/>
              </a:rPr>
              <a:t> </a:t>
            </a:r>
            <a:r>
              <a:rPr sz="1000" spc="-25" dirty="0">
                <a:latin typeface="Tahoma"/>
                <a:cs typeface="Tahoma"/>
              </a:rPr>
              <a:t>doesn’t,</a:t>
            </a:r>
            <a:r>
              <a:rPr sz="1000" spc="25" dirty="0">
                <a:latin typeface="Tahoma"/>
                <a:cs typeface="Tahoma"/>
              </a:rPr>
              <a:t> </a:t>
            </a:r>
            <a:r>
              <a:rPr sz="1000" spc="-40" dirty="0">
                <a:latin typeface="Tahoma"/>
                <a:cs typeface="Tahoma"/>
              </a:rPr>
              <a:t>then</a:t>
            </a:r>
            <a:r>
              <a:rPr sz="1000" spc="15" dirty="0">
                <a:latin typeface="Tahoma"/>
                <a:cs typeface="Tahoma"/>
              </a:rPr>
              <a:t> </a:t>
            </a:r>
            <a:r>
              <a:rPr sz="1000" spc="-45" dirty="0">
                <a:latin typeface="Tahoma"/>
                <a:cs typeface="Tahoma"/>
              </a:rPr>
              <a:t>there</a:t>
            </a:r>
            <a:r>
              <a:rPr sz="1000" spc="20" dirty="0">
                <a:latin typeface="Tahoma"/>
                <a:cs typeface="Tahoma"/>
              </a:rPr>
              <a:t> </a:t>
            </a:r>
            <a:r>
              <a:rPr sz="1000" spc="-65" dirty="0">
                <a:latin typeface="Tahoma"/>
                <a:cs typeface="Tahoma"/>
              </a:rPr>
              <a:t>are</a:t>
            </a:r>
            <a:r>
              <a:rPr sz="1000" spc="25" dirty="0">
                <a:latin typeface="Tahoma"/>
                <a:cs typeface="Tahoma"/>
              </a:rPr>
              <a:t> </a:t>
            </a:r>
            <a:r>
              <a:rPr sz="1000" spc="-30" dirty="0">
                <a:latin typeface="Tahoma"/>
                <a:cs typeface="Tahoma"/>
              </a:rPr>
              <a:t>exactly</a:t>
            </a:r>
            <a:r>
              <a:rPr sz="1000" spc="20" dirty="0">
                <a:latin typeface="Tahoma"/>
                <a:cs typeface="Tahoma"/>
              </a:rPr>
              <a:t> </a:t>
            </a:r>
            <a:r>
              <a:rPr sz="1000" spc="-50" dirty="0">
                <a:latin typeface="Tahoma"/>
                <a:cs typeface="Tahoma"/>
              </a:rPr>
              <a:t>2</a:t>
            </a:r>
            <a:r>
              <a:rPr sz="1000" spc="-90" dirty="0">
                <a:latin typeface="Tahoma"/>
                <a:cs typeface="Tahoma"/>
              </a:rPr>
              <a:t> </a:t>
            </a:r>
            <a:r>
              <a:rPr sz="1000" spc="-300" dirty="0">
                <a:latin typeface="Lucida Sans Unicode"/>
                <a:cs typeface="Lucida Sans Unicode"/>
              </a:rPr>
              <a:t>∗</a:t>
            </a:r>
            <a:r>
              <a:rPr sz="1000" spc="-285" dirty="0">
                <a:latin typeface="Lucida Sans Unicode"/>
                <a:cs typeface="Lucida Sans Unicode"/>
              </a:rPr>
              <a:t> </a:t>
            </a:r>
            <a:r>
              <a:rPr sz="1000" spc="35" dirty="0">
                <a:latin typeface="Tahoma"/>
                <a:cs typeface="Tahoma"/>
              </a:rPr>
              <a:t>2</a:t>
            </a:r>
            <a:r>
              <a:rPr sz="1050" i="1" spc="52" baseline="27777" dirty="0">
                <a:latin typeface="Arial"/>
                <a:cs typeface="Arial"/>
              </a:rPr>
              <a:t>n−</a:t>
            </a:r>
            <a:r>
              <a:rPr sz="1050" spc="52" baseline="27777" dirty="0">
                <a:latin typeface="Microsoft Sans Serif"/>
                <a:cs typeface="Microsoft Sans Serif"/>
              </a:rPr>
              <a:t>1</a:t>
            </a:r>
            <a:r>
              <a:rPr sz="1050" spc="209" baseline="27777" dirty="0">
                <a:latin typeface="Microsoft Sans Serif"/>
                <a:cs typeface="Microsoft Sans Serif"/>
              </a:rPr>
              <a:t> </a:t>
            </a:r>
            <a:r>
              <a:rPr sz="1000" spc="45" dirty="0">
                <a:latin typeface="Tahoma"/>
                <a:cs typeface="Tahoma"/>
              </a:rPr>
              <a:t>=</a:t>
            </a:r>
            <a:r>
              <a:rPr sz="1000" spc="-30" dirty="0">
                <a:latin typeface="Tahoma"/>
                <a:cs typeface="Tahoma"/>
              </a:rPr>
              <a:t> 2</a:t>
            </a:r>
            <a:r>
              <a:rPr sz="1050" i="1" spc="-44" baseline="27777" dirty="0">
                <a:latin typeface="Arial"/>
                <a:cs typeface="Arial"/>
              </a:rPr>
              <a:t>n</a:t>
            </a:r>
            <a:r>
              <a:rPr sz="1050" i="1" spc="60" baseline="27777" dirty="0">
                <a:latin typeface="Arial"/>
                <a:cs typeface="Arial"/>
              </a:rPr>
              <a:t> </a:t>
            </a:r>
            <a:r>
              <a:rPr sz="1000" spc="-50" dirty="0">
                <a:latin typeface="Tahoma"/>
                <a:cs typeface="Tahoma"/>
              </a:rPr>
              <a:t>elements</a:t>
            </a:r>
            <a:r>
              <a:rPr sz="1000" spc="15" dirty="0">
                <a:latin typeface="Tahoma"/>
                <a:cs typeface="Tahoma"/>
              </a:rPr>
              <a:t> </a:t>
            </a:r>
            <a:r>
              <a:rPr sz="1000" spc="-20" dirty="0">
                <a:latin typeface="Tahoma"/>
                <a:cs typeface="Tahoma"/>
              </a:rPr>
              <a:t>in </a:t>
            </a:r>
            <a:r>
              <a:rPr sz="1000" spc="-300" dirty="0">
                <a:latin typeface="Tahoma"/>
                <a:cs typeface="Tahoma"/>
              </a:rPr>
              <a:t> </a:t>
            </a:r>
            <a:r>
              <a:rPr sz="1000" spc="55" dirty="0">
                <a:latin typeface="Lucida Sans Unicode"/>
                <a:cs typeface="Lucida Sans Unicode"/>
              </a:rPr>
              <a:t>P</a:t>
            </a:r>
            <a:r>
              <a:rPr sz="1000" spc="55" dirty="0">
                <a:latin typeface="Tahoma"/>
                <a:cs typeface="Tahoma"/>
              </a:rPr>
              <a:t>(</a:t>
            </a:r>
            <a:r>
              <a:rPr sz="1000" i="1" spc="55" dirty="0">
                <a:latin typeface="Arial"/>
                <a:cs typeface="Arial"/>
              </a:rPr>
              <a:t>A</a:t>
            </a:r>
            <a:r>
              <a:rPr sz="1050" i="1" spc="82" baseline="-11904" dirty="0">
                <a:latin typeface="Arial"/>
                <a:cs typeface="Arial"/>
              </a:rPr>
              <a:t>n−</a:t>
            </a:r>
            <a:r>
              <a:rPr sz="1050" spc="82" baseline="-11904" dirty="0">
                <a:latin typeface="Microsoft Sans Serif"/>
                <a:cs typeface="Microsoft Sans Serif"/>
              </a:rPr>
              <a:t>1</a:t>
            </a:r>
            <a:r>
              <a:rPr sz="1000" spc="55" dirty="0">
                <a:latin typeface="Tahoma"/>
                <a:cs typeface="Tahoma"/>
              </a:rPr>
              <a:t>).</a:t>
            </a:r>
            <a:endParaRPr sz="1000">
              <a:latin typeface="Tahoma"/>
              <a:cs typeface="Tahoma"/>
            </a:endParaRPr>
          </a:p>
        </p:txBody>
      </p:sp>
      <p:grpSp>
        <p:nvGrpSpPr>
          <p:cNvPr id="44" name="object 44"/>
          <p:cNvGrpSpPr/>
          <p:nvPr/>
        </p:nvGrpSpPr>
        <p:grpSpPr>
          <a:xfrm>
            <a:off x="4335779" y="2819971"/>
            <a:ext cx="86360" cy="85725"/>
            <a:chOff x="4335779" y="2819971"/>
            <a:chExt cx="86360" cy="85725"/>
          </a:xfrm>
        </p:grpSpPr>
        <p:sp>
          <p:nvSpPr>
            <p:cNvPr id="45" name="object 45"/>
            <p:cNvSpPr/>
            <p:nvPr/>
          </p:nvSpPr>
          <p:spPr>
            <a:xfrm>
              <a:off x="4338307" y="2819971"/>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6" name="object 46"/>
            <p:cNvSpPr/>
            <p:nvPr/>
          </p:nvSpPr>
          <p:spPr>
            <a:xfrm>
              <a:off x="4340834" y="2822511"/>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7" name="object 47"/>
            <p:cNvSpPr/>
            <p:nvPr/>
          </p:nvSpPr>
          <p:spPr>
            <a:xfrm>
              <a:off x="4340834" y="2902851"/>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8" name="object 48"/>
            <p:cNvSpPr/>
            <p:nvPr/>
          </p:nvSpPr>
          <p:spPr>
            <a:xfrm>
              <a:off x="4419282" y="2819971"/>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843405" cy="244475"/>
          </a:xfrm>
          <a:prstGeom prst="rect">
            <a:avLst/>
          </a:prstGeom>
        </p:spPr>
        <p:txBody>
          <a:bodyPr vert="horz" wrap="square" lIns="0" tIns="17145" rIns="0" bIns="0" rtlCol="0">
            <a:spAutoFit/>
          </a:bodyPr>
          <a:lstStyle/>
          <a:p>
            <a:pPr marL="12700">
              <a:lnSpc>
                <a:spcPct val="100000"/>
              </a:lnSpc>
              <a:spcBef>
                <a:spcPts val="135"/>
              </a:spcBef>
            </a:pPr>
            <a:r>
              <a:rPr spc="10" dirty="0"/>
              <a:t>Mathematical</a:t>
            </a:r>
            <a:r>
              <a:rPr spc="105" dirty="0"/>
              <a:t> </a:t>
            </a:r>
            <a:r>
              <a:rPr spc="-50" dirty="0"/>
              <a:t>notions</a:t>
            </a:r>
          </a:p>
        </p:txBody>
      </p:sp>
      <p:grpSp>
        <p:nvGrpSpPr>
          <p:cNvPr id="30" name="object 30"/>
          <p:cNvGrpSpPr/>
          <p:nvPr/>
        </p:nvGrpSpPr>
        <p:grpSpPr>
          <a:xfrm>
            <a:off x="698562" y="994270"/>
            <a:ext cx="3831590" cy="1012190"/>
            <a:chOff x="698562" y="994270"/>
            <a:chExt cx="3831590" cy="1012190"/>
          </a:xfrm>
        </p:grpSpPr>
        <p:sp>
          <p:nvSpPr>
            <p:cNvPr id="31" name="object 31"/>
            <p:cNvSpPr/>
            <p:nvPr/>
          </p:nvSpPr>
          <p:spPr>
            <a:xfrm>
              <a:off x="698562" y="994270"/>
              <a:ext cx="3780790" cy="82550"/>
            </a:xfrm>
            <a:custGeom>
              <a:avLst/>
              <a:gdLst/>
              <a:ahLst/>
              <a:cxnLst/>
              <a:rect l="l" t="t" r="r" b="b"/>
              <a:pathLst>
                <a:path w="3780790" h="82550">
                  <a:moveTo>
                    <a:pt x="3729484" y="0"/>
                  </a:moveTo>
                  <a:lnTo>
                    <a:pt x="50800" y="0"/>
                  </a:lnTo>
                  <a:lnTo>
                    <a:pt x="31075" y="4008"/>
                  </a:lnTo>
                  <a:lnTo>
                    <a:pt x="14922" y="14922"/>
                  </a:lnTo>
                  <a:lnTo>
                    <a:pt x="4008" y="31075"/>
                  </a:lnTo>
                  <a:lnTo>
                    <a:pt x="0" y="50800"/>
                  </a:lnTo>
                  <a:lnTo>
                    <a:pt x="0" y="82384"/>
                  </a:lnTo>
                  <a:lnTo>
                    <a:pt x="3780285" y="82384"/>
                  </a:lnTo>
                  <a:lnTo>
                    <a:pt x="3780285" y="50800"/>
                  </a:lnTo>
                  <a:lnTo>
                    <a:pt x="3776276" y="31075"/>
                  </a:lnTo>
                  <a:lnTo>
                    <a:pt x="3765362" y="14922"/>
                  </a:lnTo>
                  <a:lnTo>
                    <a:pt x="3749209" y="4008"/>
                  </a:lnTo>
                  <a:lnTo>
                    <a:pt x="3729484" y="0"/>
                  </a:lnTo>
                  <a:close/>
                </a:path>
              </a:pathLst>
            </a:custGeom>
            <a:solidFill>
              <a:srgbClr val="E9E9F2"/>
            </a:solidFill>
          </p:spPr>
          <p:txBody>
            <a:bodyPr wrap="square" lIns="0" tIns="0" rIns="0" bIns="0" rtlCol="0"/>
            <a:lstStyle/>
            <a:p>
              <a:endParaRPr/>
            </a:p>
          </p:txBody>
        </p:sp>
        <p:sp>
          <p:nvSpPr>
            <p:cNvPr id="32" name="object 32"/>
            <p:cNvSpPr/>
            <p:nvPr/>
          </p:nvSpPr>
          <p:spPr>
            <a:xfrm>
              <a:off x="749363" y="1057520"/>
              <a:ext cx="3780790" cy="949325"/>
            </a:xfrm>
            <a:custGeom>
              <a:avLst/>
              <a:gdLst/>
              <a:ahLst/>
              <a:cxnLst/>
              <a:rect l="l" t="t" r="r" b="b"/>
              <a:pathLst>
                <a:path w="3780790" h="949325">
                  <a:moveTo>
                    <a:pt x="3780285" y="0"/>
                  </a:moveTo>
                  <a:lnTo>
                    <a:pt x="0" y="0"/>
                  </a:lnTo>
                  <a:lnTo>
                    <a:pt x="0" y="948725"/>
                  </a:lnTo>
                  <a:lnTo>
                    <a:pt x="3780285" y="948725"/>
                  </a:lnTo>
                  <a:lnTo>
                    <a:pt x="3780285" y="0"/>
                  </a:lnTo>
                  <a:close/>
                </a:path>
              </a:pathLst>
            </a:custGeom>
            <a:solidFill>
              <a:srgbClr val="000000"/>
            </a:solidFill>
          </p:spPr>
          <p:txBody>
            <a:bodyPr wrap="square" lIns="0" tIns="0" rIns="0" bIns="0" rtlCol="0"/>
            <a:lstStyle/>
            <a:p>
              <a:endParaRPr/>
            </a:p>
          </p:txBody>
        </p:sp>
        <p:sp>
          <p:nvSpPr>
            <p:cNvPr id="33" name="object 33"/>
            <p:cNvSpPr/>
            <p:nvPr/>
          </p:nvSpPr>
          <p:spPr>
            <a:xfrm>
              <a:off x="698562" y="1038683"/>
              <a:ext cx="3780790" cy="916940"/>
            </a:xfrm>
            <a:custGeom>
              <a:avLst/>
              <a:gdLst/>
              <a:ahLst/>
              <a:cxnLst/>
              <a:rect l="l" t="t" r="r" b="b"/>
              <a:pathLst>
                <a:path w="3780790" h="916939">
                  <a:moveTo>
                    <a:pt x="3780285" y="0"/>
                  </a:moveTo>
                  <a:lnTo>
                    <a:pt x="0" y="0"/>
                  </a:lnTo>
                  <a:lnTo>
                    <a:pt x="0" y="865960"/>
                  </a:lnTo>
                  <a:lnTo>
                    <a:pt x="4008" y="885685"/>
                  </a:lnTo>
                  <a:lnTo>
                    <a:pt x="14922" y="901838"/>
                  </a:lnTo>
                  <a:lnTo>
                    <a:pt x="31075" y="912752"/>
                  </a:lnTo>
                  <a:lnTo>
                    <a:pt x="50800" y="916761"/>
                  </a:lnTo>
                  <a:lnTo>
                    <a:pt x="3729484" y="916761"/>
                  </a:lnTo>
                  <a:lnTo>
                    <a:pt x="3749209" y="912752"/>
                  </a:lnTo>
                  <a:lnTo>
                    <a:pt x="3765362" y="901838"/>
                  </a:lnTo>
                  <a:lnTo>
                    <a:pt x="3776276" y="885685"/>
                  </a:lnTo>
                  <a:lnTo>
                    <a:pt x="3780285" y="865960"/>
                  </a:lnTo>
                  <a:lnTo>
                    <a:pt x="3780285" y="0"/>
                  </a:lnTo>
                  <a:close/>
                </a:path>
              </a:pathLst>
            </a:custGeom>
            <a:solidFill>
              <a:srgbClr val="E9E9F2"/>
            </a:solidFill>
          </p:spPr>
          <p:txBody>
            <a:bodyPr wrap="square" lIns="0" tIns="0" rIns="0" bIns="0" rtlCol="0"/>
            <a:lstStyle/>
            <a:p>
              <a:endParaRPr/>
            </a:p>
          </p:txBody>
        </p:sp>
      </p:grpSp>
      <p:sp>
        <p:nvSpPr>
          <p:cNvPr id="34" name="object 34"/>
          <p:cNvSpPr txBox="1"/>
          <p:nvPr/>
        </p:nvSpPr>
        <p:spPr>
          <a:xfrm>
            <a:off x="736663" y="1012639"/>
            <a:ext cx="3656965" cy="936625"/>
          </a:xfrm>
          <a:prstGeom prst="rect">
            <a:avLst/>
          </a:prstGeom>
        </p:spPr>
        <p:txBody>
          <a:bodyPr vert="horz" wrap="square" lIns="0" tIns="12065" rIns="0" bIns="0" rtlCol="0">
            <a:spAutoFit/>
          </a:bodyPr>
          <a:lstStyle/>
          <a:p>
            <a:pPr marL="12700" marR="5080">
              <a:lnSpc>
                <a:spcPct val="100000"/>
              </a:lnSpc>
              <a:spcBef>
                <a:spcPts val="95"/>
              </a:spcBef>
            </a:pPr>
            <a:r>
              <a:rPr sz="1000" spc="-5" dirty="0">
                <a:latin typeface="Tahoma"/>
                <a:cs typeface="Tahoma"/>
              </a:rPr>
              <a:t>As</a:t>
            </a:r>
            <a:r>
              <a:rPr sz="1000" spc="20" dirty="0">
                <a:latin typeface="Tahoma"/>
                <a:cs typeface="Tahoma"/>
              </a:rPr>
              <a:t> </a:t>
            </a:r>
            <a:r>
              <a:rPr sz="1000" spc="15" dirty="0">
                <a:latin typeface="Tahoma"/>
                <a:cs typeface="Tahoma"/>
              </a:rPr>
              <a:t>it</a:t>
            </a:r>
            <a:r>
              <a:rPr sz="1000" spc="25" dirty="0">
                <a:latin typeface="Tahoma"/>
                <a:cs typeface="Tahoma"/>
              </a:rPr>
              <a:t> </a:t>
            </a:r>
            <a:r>
              <a:rPr sz="1000" spc="-70" dirty="0">
                <a:latin typeface="Tahoma"/>
                <a:cs typeface="Tahoma"/>
              </a:rPr>
              <a:t>was</a:t>
            </a:r>
            <a:r>
              <a:rPr sz="1000" spc="20" dirty="0">
                <a:latin typeface="Tahoma"/>
                <a:cs typeface="Tahoma"/>
              </a:rPr>
              <a:t> </a:t>
            </a:r>
            <a:r>
              <a:rPr sz="1000" spc="-35" dirty="0">
                <a:latin typeface="Tahoma"/>
                <a:cs typeface="Tahoma"/>
              </a:rPr>
              <a:t>stated</a:t>
            </a:r>
            <a:r>
              <a:rPr sz="1000" spc="25" dirty="0">
                <a:latin typeface="Tahoma"/>
                <a:cs typeface="Tahoma"/>
              </a:rPr>
              <a:t> </a:t>
            </a:r>
            <a:r>
              <a:rPr sz="1000" spc="-20" dirty="0">
                <a:latin typeface="Tahoma"/>
                <a:cs typeface="Tahoma"/>
              </a:rPr>
              <a:t>in</a:t>
            </a:r>
            <a:r>
              <a:rPr sz="1000" spc="20" dirty="0">
                <a:latin typeface="Tahoma"/>
                <a:cs typeface="Tahoma"/>
              </a:rPr>
              <a:t> </a:t>
            </a:r>
            <a:r>
              <a:rPr sz="1000" spc="-35" dirty="0">
                <a:latin typeface="Tahoma"/>
                <a:cs typeface="Tahoma"/>
              </a:rPr>
              <a:t>the</a:t>
            </a:r>
            <a:r>
              <a:rPr sz="1000" spc="20" dirty="0">
                <a:latin typeface="Tahoma"/>
                <a:cs typeface="Tahoma"/>
              </a:rPr>
              <a:t> </a:t>
            </a:r>
            <a:r>
              <a:rPr sz="1000" spc="-50" dirty="0">
                <a:latin typeface="Tahoma"/>
                <a:cs typeface="Tahoma"/>
              </a:rPr>
              <a:t>previous</a:t>
            </a:r>
            <a:r>
              <a:rPr sz="1000" spc="25" dirty="0">
                <a:latin typeface="Tahoma"/>
                <a:cs typeface="Tahoma"/>
              </a:rPr>
              <a:t> </a:t>
            </a:r>
            <a:r>
              <a:rPr sz="1000" spc="-45" dirty="0">
                <a:latin typeface="Tahoma"/>
                <a:cs typeface="Tahoma"/>
              </a:rPr>
              <a:t>theme,</a:t>
            </a:r>
            <a:r>
              <a:rPr sz="1000" spc="20" dirty="0">
                <a:latin typeface="Tahoma"/>
                <a:cs typeface="Tahoma"/>
              </a:rPr>
              <a:t> </a:t>
            </a:r>
            <a:r>
              <a:rPr sz="1000" spc="-10" dirty="0">
                <a:latin typeface="Tahoma"/>
                <a:cs typeface="Tahoma"/>
              </a:rPr>
              <a:t>all</a:t>
            </a:r>
            <a:r>
              <a:rPr sz="1000" spc="20" dirty="0">
                <a:latin typeface="Tahoma"/>
                <a:cs typeface="Tahoma"/>
              </a:rPr>
              <a:t> </a:t>
            </a:r>
            <a:r>
              <a:rPr sz="1000" spc="-30" dirty="0">
                <a:latin typeface="Tahoma"/>
                <a:cs typeface="Tahoma"/>
              </a:rPr>
              <a:t>mathematical</a:t>
            </a:r>
            <a:r>
              <a:rPr sz="1000" spc="20" dirty="0">
                <a:latin typeface="Tahoma"/>
                <a:cs typeface="Tahoma"/>
              </a:rPr>
              <a:t> </a:t>
            </a:r>
            <a:r>
              <a:rPr sz="1000" spc="-35" dirty="0">
                <a:latin typeface="Tahoma"/>
                <a:cs typeface="Tahoma"/>
              </a:rPr>
              <a:t>objects</a:t>
            </a:r>
            <a:r>
              <a:rPr sz="1000" spc="20" dirty="0">
                <a:latin typeface="Tahoma"/>
                <a:cs typeface="Tahoma"/>
              </a:rPr>
              <a:t> </a:t>
            </a:r>
            <a:r>
              <a:rPr sz="1000" spc="-20" dirty="0">
                <a:latin typeface="Tahoma"/>
                <a:cs typeface="Tahoma"/>
              </a:rPr>
              <a:t>in </a:t>
            </a:r>
            <a:r>
              <a:rPr sz="1000" spc="-15" dirty="0">
                <a:latin typeface="Tahoma"/>
                <a:cs typeface="Tahoma"/>
              </a:rPr>
              <a:t> fact </a:t>
            </a:r>
            <a:r>
              <a:rPr sz="1000" spc="-65" dirty="0">
                <a:latin typeface="Tahoma"/>
                <a:cs typeface="Tahoma"/>
              </a:rPr>
              <a:t>are</a:t>
            </a:r>
            <a:r>
              <a:rPr sz="1000" spc="-60" dirty="0">
                <a:latin typeface="Tahoma"/>
                <a:cs typeface="Tahoma"/>
              </a:rPr>
              <a:t> </a:t>
            </a:r>
            <a:r>
              <a:rPr sz="1000" spc="-45" dirty="0">
                <a:latin typeface="Tahoma"/>
                <a:cs typeface="Tahoma"/>
              </a:rPr>
              <a:t>sets.</a:t>
            </a:r>
            <a:r>
              <a:rPr sz="1000" spc="-40" dirty="0">
                <a:latin typeface="Tahoma"/>
                <a:cs typeface="Tahoma"/>
              </a:rPr>
              <a:t> </a:t>
            </a:r>
            <a:r>
              <a:rPr sz="1000" spc="-20" dirty="0">
                <a:latin typeface="Tahoma"/>
                <a:cs typeface="Tahoma"/>
              </a:rPr>
              <a:t>Then </a:t>
            </a:r>
            <a:r>
              <a:rPr sz="1000" spc="15" dirty="0">
                <a:latin typeface="Tahoma"/>
                <a:cs typeface="Tahoma"/>
              </a:rPr>
              <a:t>it </a:t>
            </a:r>
            <a:r>
              <a:rPr sz="1000" spc="-25" dirty="0">
                <a:latin typeface="Tahoma"/>
                <a:cs typeface="Tahoma"/>
              </a:rPr>
              <a:t>naturally </a:t>
            </a:r>
            <a:r>
              <a:rPr sz="1000" spc="-50" dirty="0">
                <a:latin typeface="Tahoma"/>
                <a:cs typeface="Tahoma"/>
              </a:rPr>
              <a:t>arise a </a:t>
            </a:r>
            <a:r>
              <a:rPr sz="1000" spc="-45" dirty="0">
                <a:latin typeface="Tahoma"/>
                <a:cs typeface="Tahoma"/>
              </a:rPr>
              <a:t>question:</a:t>
            </a:r>
            <a:r>
              <a:rPr sz="1000" spc="-40" dirty="0">
                <a:latin typeface="Tahoma"/>
                <a:cs typeface="Tahoma"/>
              </a:rPr>
              <a:t> </a:t>
            </a:r>
            <a:r>
              <a:rPr sz="1000" spc="-60" dirty="0">
                <a:latin typeface="Tahoma"/>
                <a:cs typeface="Tahoma"/>
              </a:rPr>
              <a:t>how</a:t>
            </a:r>
            <a:r>
              <a:rPr sz="1000" spc="-55" dirty="0">
                <a:latin typeface="Tahoma"/>
                <a:cs typeface="Tahoma"/>
              </a:rPr>
              <a:t> </a:t>
            </a:r>
            <a:r>
              <a:rPr sz="1000" spc="-45" dirty="0">
                <a:latin typeface="Tahoma"/>
                <a:cs typeface="Tahoma"/>
              </a:rPr>
              <a:t>do </a:t>
            </a:r>
            <a:r>
              <a:rPr sz="1000" spc="-35" dirty="0">
                <a:latin typeface="Tahoma"/>
                <a:cs typeface="Tahoma"/>
              </a:rPr>
              <a:t>different </a:t>
            </a:r>
            <a:r>
              <a:rPr sz="1000" spc="-30" dirty="0">
                <a:latin typeface="Tahoma"/>
                <a:cs typeface="Tahoma"/>
              </a:rPr>
              <a:t> mathematical</a:t>
            </a:r>
            <a:r>
              <a:rPr sz="1000" spc="20" dirty="0">
                <a:latin typeface="Tahoma"/>
                <a:cs typeface="Tahoma"/>
              </a:rPr>
              <a:t> </a:t>
            </a:r>
            <a:r>
              <a:rPr sz="1000" spc="-35" dirty="0">
                <a:latin typeface="Tahoma"/>
                <a:cs typeface="Tahoma"/>
              </a:rPr>
              <a:t>objects,</a:t>
            </a:r>
            <a:r>
              <a:rPr sz="1000" spc="30" dirty="0">
                <a:latin typeface="Tahoma"/>
                <a:cs typeface="Tahoma"/>
              </a:rPr>
              <a:t> </a:t>
            </a:r>
            <a:r>
              <a:rPr sz="1000" spc="-30" dirty="0">
                <a:latin typeface="Tahoma"/>
                <a:cs typeface="Tahoma"/>
              </a:rPr>
              <a:t>like</a:t>
            </a:r>
            <a:r>
              <a:rPr sz="1000" spc="20" dirty="0">
                <a:latin typeface="Tahoma"/>
                <a:cs typeface="Tahoma"/>
              </a:rPr>
              <a:t> </a:t>
            </a:r>
            <a:r>
              <a:rPr sz="1000" spc="-45" dirty="0">
                <a:latin typeface="Tahoma"/>
                <a:cs typeface="Tahoma"/>
              </a:rPr>
              <a:t>numbers,</a:t>
            </a:r>
            <a:r>
              <a:rPr sz="1000" spc="25" dirty="0">
                <a:latin typeface="Tahoma"/>
                <a:cs typeface="Tahoma"/>
              </a:rPr>
              <a:t> </a:t>
            </a:r>
            <a:r>
              <a:rPr sz="1000" spc="-30" dirty="0">
                <a:latin typeface="Tahoma"/>
                <a:cs typeface="Tahoma"/>
              </a:rPr>
              <a:t>functions,</a:t>
            </a:r>
            <a:r>
              <a:rPr sz="1000" spc="25" dirty="0">
                <a:latin typeface="Tahoma"/>
                <a:cs typeface="Tahoma"/>
              </a:rPr>
              <a:t> </a:t>
            </a:r>
            <a:r>
              <a:rPr sz="1000" spc="-45" dirty="0">
                <a:latin typeface="Tahoma"/>
                <a:cs typeface="Tahoma"/>
              </a:rPr>
              <a:t>various</a:t>
            </a:r>
            <a:r>
              <a:rPr sz="1000" spc="30" dirty="0">
                <a:latin typeface="Tahoma"/>
                <a:cs typeface="Tahoma"/>
              </a:rPr>
              <a:t> </a:t>
            </a:r>
            <a:r>
              <a:rPr sz="1000" spc="-55" dirty="0">
                <a:latin typeface="Tahoma"/>
                <a:cs typeface="Tahoma"/>
              </a:rPr>
              <a:t>spaces</a:t>
            </a:r>
            <a:r>
              <a:rPr sz="1000" spc="30" dirty="0">
                <a:latin typeface="Tahoma"/>
                <a:cs typeface="Tahoma"/>
              </a:rPr>
              <a:t> </a:t>
            </a:r>
            <a:r>
              <a:rPr sz="1000" spc="-45" dirty="0">
                <a:latin typeface="Tahoma"/>
                <a:cs typeface="Tahoma"/>
              </a:rPr>
              <a:t>and</a:t>
            </a:r>
            <a:r>
              <a:rPr sz="1000" spc="20" dirty="0">
                <a:latin typeface="Tahoma"/>
                <a:cs typeface="Tahoma"/>
              </a:rPr>
              <a:t> </a:t>
            </a:r>
            <a:r>
              <a:rPr sz="1000" spc="-55" dirty="0">
                <a:latin typeface="Tahoma"/>
                <a:cs typeface="Tahoma"/>
              </a:rPr>
              <a:t>so </a:t>
            </a:r>
            <a:r>
              <a:rPr sz="1000" spc="-295" dirty="0">
                <a:latin typeface="Tahoma"/>
                <a:cs typeface="Tahoma"/>
              </a:rPr>
              <a:t> </a:t>
            </a:r>
            <a:r>
              <a:rPr sz="1000" spc="-45" dirty="0">
                <a:latin typeface="Tahoma"/>
                <a:cs typeface="Tahoma"/>
              </a:rPr>
              <a:t>on </a:t>
            </a:r>
            <a:r>
              <a:rPr sz="1000" spc="-65" dirty="0">
                <a:latin typeface="Tahoma"/>
                <a:cs typeface="Tahoma"/>
              </a:rPr>
              <a:t>are</a:t>
            </a:r>
            <a:r>
              <a:rPr sz="1000" spc="-60" dirty="0">
                <a:latin typeface="Tahoma"/>
                <a:cs typeface="Tahoma"/>
              </a:rPr>
              <a:t> </a:t>
            </a:r>
            <a:r>
              <a:rPr sz="1000" spc="-55" dirty="0">
                <a:latin typeface="Tahoma"/>
                <a:cs typeface="Tahoma"/>
              </a:rPr>
              <a:t>represented </a:t>
            </a:r>
            <a:r>
              <a:rPr sz="1000" spc="-60" dirty="0">
                <a:latin typeface="Tahoma"/>
                <a:cs typeface="Tahoma"/>
              </a:rPr>
              <a:t>as</a:t>
            </a:r>
            <a:r>
              <a:rPr sz="1000" spc="-55" dirty="0">
                <a:latin typeface="Tahoma"/>
                <a:cs typeface="Tahoma"/>
              </a:rPr>
              <a:t> </a:t>
            </a:r>
            <a:r>
              <a:rPr sz="1000" spc="-40" dirty="0">
                <a:latin typeface="Tahoma"/>
                <a:cs typeface="Tahoma"/>
              </a:rPr>
              <a:t>sets?</a:t>
            </a:r>
            <a:r>
              <a:rPr sz="1000" spc="229" dirty="0">
                <a:latin typeface="Tahoma"/>
                <a:cs typeface="Tahoma"/>
              </a:rPr>
              <a:t> </a:t>
            </a:r>
            <a:r>
              <a:rPr sz="1000" spc="-20" dirty="0">
                <a:latin typeface="Tahoma"/>
                <a:cs typeface="Tahoma"/>
              </a:rPr>
              <a:t>To </a:t>
            </a:r>
            <a:r>
              <a:rPr sz="1000" spc="-60" dirty="0">
                <a:latin typeface="Tahoma"/>
                <a:cs typeface="Tahoma"/>
              </a:rPr>
              <a:t>answer</a:t>
            </a:r>
            <a:r>
              <a:rPr sz="1000" spc="195" dirty="0">
                <a:latin typeface="Tahoma"/>
                <a:cs typeface="Tahoma"/>
              </a:rPr>
              <a:t> </a:t>
            </a:r>
            <a:r>
              <a:rPr sz="1000" spc="-20" dirty="0">
                <a:latin typeface="Tahoma"/>
                <a:cs typeface="Tahoma"/>
              </a:rPr>
              <a:t>this </a:t>
            </a:r>
            <a:r>
              <a:rPr sz="1000" spc="-40" dirty="0">
                <a:latin typeface="Tahoma"/>
                <a:cs typeface="Tahoma"/>
              </a:rPr>
              <a:t>question </a:t>
            </a:r>
            <a:r>
              <a:rPr sz="1000" spc="-20" dirty="0">
                <a:latin typeface="Tahoma"/>
                <a:cs typeface="Tahoma"/>
              </a:rPr>
              <a:t>we’ll </a:t>
            </a:r>
            <a:r>
              <a:rPr sz="1000" spc="-15" dirty="0">
                <a:latin typeface="Tahoma"/>
                <a:cs typeface="Tahoma"/>
              </a:rPr>
              <a:t> </a:t>
            </a:r>
            <a:r>
              <a:rPr sz="1000" spc="-40" dirty="0">
                <a:latin typeface="Tahoma"/>
                <a:cs typeface="Tahoma"/>
              </a:rPr>
              <a:t>consequently</a:t>
            </a:r>
            <a:r>
              <a:rPr sz="1000" spc="15" dirty="0">
                <a:latin typeface="Tahoma"/>
                <a:cs typeface="Tahoma"/>
              </a:rPr>
              <a:t> </a:t>
            </a:r>
            <a:r>
              <a:rPr sz="1000" spc="-30" dirty="0">
                <a:latin typeface="Tahoma"/>
                <a:cs typeface="Tahoma"/>
              </a:rPr>
              <a:t>introduce</a:t>
            </a:r>
            <a:r>
              <a:rPr sz="1000" spc="25" dirty="0">
                <a:latin typeface="Tahoma"/>
                <a:cs typeface="Tahoma"/>
              </a:rPr>
              <a:t> </a:t>
            </a:r>
            <a:r>
              <a:rPr sz="1000" spc="-50" dirty="0">
                <a:latin typeface="Tahoma"/>
                <a:cs typeface="Tahoma"/>
              </a:rPr>
              <a:t>a</a:t>
            </a:r>
            <a:r>
              <a:rPr sz="1000" spc="25" dirty="0">
                <a:latin typeface="Tahoma"/>
                <a:cs typeface="Tahoma"/>
              </a:rPr>
              <a:t> </a:t>
            </a:r>
            <a:r>
              <a:rPr sz="1000" spc="-60" dirty="0">
                <a:latin typeface="Tahoma"/>
                <a:cs typeface="Tahoma"/>
              </a:rPr>
              <a:t>sequence</a:t>
            </a:r>
            <a:r>
              <a:rPr sz="1000" spc="15" dirty="0">
                <a:latin typeface="Tahoma"/>
                <a:cs typeface="Tahoma"/>
              </a:rPr>
              <a:t> </a:t>
            </a:r>
            <a:r>
              <a:rPr sz="1000" spc="-30" dirty="0">
                <a:latin typeface="Tahoma"/>
                <a:cs typeface="Tahoma"/>
              </a:rPr>
              <a:t>of</a:t>
            </a:r>
            <a:r>
              <a:rPr sz="1000" spc="25" dirty="0">
                <a:latin typeface="Tahoma"/>
                <a:cs typeface="Tahoma"/>
              </a:rPr>
              <a:t> </a:t>
            </a:r>
            <a:r>
              <a:rPr sz="1000" spc="-35" dirty="0">
                <a:latin typeface="Tahoma"/>
                <a:cs typeface="Tahoma"/>
              </a:rPr>
              <a:t>notions,</a:t>
            </a:r>
            <a:r>
              <a:rPr sz="1000" spc="25" dirty="0">
                <a:latin typeface="Tahoma"/>
                <a:cs typeface="Tahoma"/>
              </a:rPr>
              <a:t> </a:t>
            </a:r>
            <a:r>
              <a:rPr sz="1000" spc="-35" dirty="0">
                <a:latin typeface="Tahoma"/>
                <a:cs typeface="Tahoma"/>
              </a:rPr>
              <a:t>which</a:t>
            </a:r>
            <a:r>
              <a:rPr sz="1000" spc="15" dirty="0">
                <a:latin typeface="Tahoma"/>
                <a:cs typeface="Tahoma"/>
              </a:rPr>
              <a:t> </a:t>
            </a:r>
            <a:r>
              <a:rPr sz="1000" spc="-40" dirty="0">
                <a:latin typeface="Tahoma"/>
                <a:cs typeface="Tahoma"/>
              </a:rPr>
              <a:t>describe</a:t>
            </a:r>
            <a:r>
              <a:rPr sz="1000" spc="20" dirty="0">
                <a:latin typeface="Tahoma"/>
                <a:cs typeface="Tahoma"/>
              </a:rPr>
              <a:t> </a:t>
            </a:r>
            <a:r>
              <a:rPr sz="1000" spc="-35" dirty="0">
                <a:latin typeface="Tahoma"/>
                <a:cs typeface="Tahoma"/>
              </a:rPr>
              <a:t>basic </a:t>
            </a:r>
            <a:r>
              <a:rPr sz="1000" spc="-30" dirty="0">
                <a:latin typeface="Tahoma"/>
                <a:cs typeface="Tahoma"/>
              </a:rPr>
              <a:t> mathematical</a:t>
            </a:r>
            <a:r>
              <a:rPr sz="1000" spc="10" dirty="0">
                <a:latin typeface="Tahoma"/>
                <a:cs typeface="Tahoma"/>
              </a:rPr>
              <a:t> </a:t>
            </a:r>
            <a:r>
              <a:rPr sz="1000" spc="-30" dirty="0">
                <a:latin typeface="Tahoma"/>
                <a:cs typeface="Tahoma"/>
              </a:rPr>
              <a:t>notions.</a:t>
            </a:r>
            <a:endParaRPr sz="1000">
              <a:latin typeface="Tahoma"/>
              <a:cs typeface="Tahoma"/>
            </a:endParaRPr>
          </a:p>
        </p:txBody>
      </p:sp>
      <p:grpSp>
        <p:nvGrpSpPr>
          <p:cNvPr id="35" name="object 35"/>
          <p:cNvGrpSpPr/>
          <p:nvPr/>
        </p:nvGrpSpPr>
        <p:grpSpPr>
          <a:xfrm>
            <a:off x="698562" y="2107374"/>
            <a:ext cx="3831590" cy="860425"/>
            <a:chOff x="698562" y="2107374"/>
            <a:chExt cx="3831590" cy="860425"/>
          </a:xfrm>
        </p:grpSpPr>
        <p:sp>
          <p:nvSpPr>
            <p:cNvPr id="36" name="object 36"/>
            <p:cNvSpPr/>
            <p:nvPr/>
          </p:nvSpPr>
          <p:spPr>
            <a:xfrm>
              <a:off x="698562" y="2107374"/>
              <a:ext cx="3780790" cy="82550"/>
            </a:xfrm>
            <a:custGeom>
              <a:avLst/>
              <a:gdLst/>
              <a:ahLst/>
              <a:cxnLst/>
              <a:rect l="l" t="t" r="r" b="b"/>
              <a:pathLst>
                <a:path w="3780790" h="82550">
                  <a:moveTo>
                    <a:pt x="3729484" y="0"/>
                  </a:moveTo>
                  <a:lnTo>
                    <a:pt x="50800" y="0"/>
                  </a:lnTo>
                  <a:lnTo>
                    <a:pt x="31075" y="4008"/>
                  </a:lnTo>
                  <a:lnTo>
                    <a:pt x="14922" y="14922"/>
                  </a:lnTo>
                  <a:lnTo>
                    <a:pt x="4008" y="31075"/>
                  </a:lnTo>
                  <a:lnTo>
                    <a:pt x="0" y="50800"/>
                  </a:lnTo>
                  <a:lnTo>
                    <a:pt x="0" y="82384"/>
                  </a:lnTo>
                  <a:lnTo>
                    <a:pt x="3780285" y="82384"/>
                  </a:lnTo>
                  <a:lnTo>
                    <a:pt x="3780285" y="50800"/>
                  </a:lnTo>
                  <a:lnTo>
                    <a:pt x="3776276" y="31075"/>
                  </a:lnTo>
                  <a:lnTo>
                    <a:pt x="3765362" y="14922"/>
                  </a:lnTo>
                  <a:lnTo>
                    <a:pt x="3749209" y="4008"/>
                  </a:lnTo>
                  <a:lnTo>
                    <a:pt x="3729484" y="0"/>
                  </a:lnTo>
                  <a:close/>
                </a:path>
              </a:pathLst>
            </a:custGeom>
            <a:solidFill>
              <a:srgbClr val="E9E9F2"/>
            </a:solidFill>
          </p:spPr>
          <p:txBody>
            <a:bodyPr wrap="square" lIns="0" tIns="0" rIns="0" bIns="0" rtlCol="0"/>
            <a:lstStyle/>
            <a:p>
              <a:endParaRPr/>
            </a:p>
          </p:txBody>
        </p:sp>
        <p:sp>
          <p:nvSpPr>
            <p:cNvPr id="37" name="object 37"/>
            <p:cNvSpPr/>
            <p:nvPr/>
          </p:nvSpPr>
          <p:spPr>
            <a:xfrm>
              <a:off x="749363" y="2170628"/>
              <a:ext cx="3780790" cy="796925"/>
            </a:xfrm>
            <a:custGeom>
              <a:avLst/>
              <a:gdLst/>
              <a:ahLst/>
              <a:cxnLst/>
              <a:rect l="l" t="t" r="r" b="b"/>
              <a:pathLst>
                <a:path w="3780790" h="796925">
                  <a:moveTo>
                    <a:pt x="3780285" y="0"/>
                  </a:moveTo>
                  <a:lnTo>
                    <a:pt x="0" y="0"/>
                  </a:lnTo>
                  <a:lnTo>
                    <a:pt x="0" y="796892"/>
                  </a:lnTo>
                  <a:lnTo>
                    <a:pt x="3780285" y="796892"/>
                  </a:lnTo>
                  <a:lnTo>
                    <a:pt x="3780285" y="0"/>
                  </a:lnTo>
                  <a:close/>
                </a:path>
              </a:pathLst>
            </a:custGeom>
            <a:solidFill>
              <a:srgbClr val="000000"/>
            </a:solidFill>
          </p:spPr>
          <p:txBody>
            <a:bodyPr wrap="square" lIns="0" tIns="0" rIns="0" bIns="0" rtlCol="0"/>
            <a:lstStyle/>
            <a:p>
              <a:endParaRPr/>
            </a:p>
          </p:txBody>
        </p:sp>
        <p:sp>
          <p:nvSpPr>
            <p:cNvPr id="38" name="object 38"/>
            <p:cNvSpPr/>
            <p:nvPr/>
          </p:nvSpPr>
          <p:spPr>
            <a:xfrm>
              <a:off x="698562" y="2151792"/>
              <a:ext cx="3780790" cy="765175"/>
            </a:xfrm>
            <a:custGeom>
              <a:avLst/>
              <a:gdLst/>
              <a:ahLst/>
              <a:cxnLst/>
              <a:rect l="l" t="t" r="r" b="b"/>
              <a:pathLst>
                <a:path w="3780790" h="765175">
                  <a:moveTo>
                    <a:pt x="3780285" y="0"/>
                  </a:moveTo>
                  <a:lnTo>
                    <a:pt x="0" y="0"/>
                  </a:lnTo>
                  <a:lnTo>
                    <a:pt x="0" y="714128"/>
                  </a:lnTo>
                  <a:lnTo>
                    <a:pt x="4008" y="733852"/>
                  </a:lnTo>
                  <a:lnTo>
                    <a:pt x="14922" y="750005"/>
                  </a:lnTo>
                  <a:lnTo>
                    <a:pt x="31075" y="760919"/>
                  </a:lnTo>
                  <a:lnTo>
                    <a:pt x="50800" y="764928"/>
                  </a:lnTo>
                  <a:lnTo>
                    <a:pt x="3729484" y="764928"/>
                  </a:lnTo>
                  <a:lnTo>
                    <a:pt x="3749209" y="760919"/>
                  </a:lnTo>
                  <a:lnTo>
                    <a:pt x="3765362" y="750005"/>
                  </a:lnTo>
                  <a:lnTo>
                    <a:pt x="3776276" y="733852"/>
                  </a:lnTo>
                  <a:lnTo>
                    <a:pt x="3780285" y="714128"/>
                  </a:lnTo>
                  <a:lnTo>
                    <a:pt x="3780285" y="0"/>
                  </a:lnTo>
                  <a:close/>
                </a:path>
              </a:pathLst>
            </a:custGeom>
            <a:solidFill>
              <a:srgbClr val="E9E9F2"/>
            </a:solidFill>
          </p:spPr>
          <p:txBody>
            <a:bodyPr wrap="square" lIns="0" tIns="0" rIns="0" bIns="0" rtlCol="0"/>
            <a:lstStyle/>
            <a:p>
              <a:endParaRPr/>
            </a:p>
          </p:txBody>
        </p:sp>
      </p:grpSp>
      <p:sp>
        <p:nvSpPr>
          <p:cNvPr id="39" name="object 39"/>
          <p:cNvSpPr txBox="1"/>
          <p:nvPr/>
        </p:nvSpPr>
        <p:spPr>
          <a:xfrm>
            <a:off x="736663" y="2125743"/>
            <a:ext cx="3569970" cy="784860"/>
          </a:xfrm>
          <a:prstGeom prst="rect">
            <a:avLst/>
          </a:prstGeom>
        </p:spPr>
        <p:txBody>
          <a:bodyPr vert="horz" wrap="square" lIns="0" tIns="12065" rIns="0" bIns="0" rtlCol="0">
            <a:spAutoFit/>
          </a:bodyPr>
          <a:lstStyle/>
          <a:p>
            <a:pPr marL="12700" marR="5080">
              <a:lnSpc>
                <a:spcPct val="100000"/>
              </a:lnSpc>
              <a:spcBef>
                <a:spcPts val="95"/>
              </a:spcBef>
            </a:pPr>
            <a:r>
              <a:rPr sz="1000" spc="25" dirty="0">
                <a:latin typeface="Tahoma"/>
                <a:cs typeface="Tahoma"/>
              </a:rPr>
              <a:t>At</a:t>
            </a:r>
            <a:r>
              <a:rPr sz="1000" spc="15" dirty="0">
                <a:latin typeface="Tahoma"/>
                <a:cs typeface="Tahoma"/>
              </a:rPr>
              <a:t> </a:t>
            </a:r>
            <a:r>
              <a:rPr sz="1000" spc="-15" dirty="0">
                <a:latin typeface="Tahoma"/>
                <a:cs typeface="Tahoma"/>
              </a:rPr>
              <a:t>first</a:t>
            </a:r>
            <a:r>
              <a:rPr sz="1000" spc="15" dirty="0">
                <a:latin typeface="Tahoma"/>
                <a:cs typeface="Tahoma"/>
              </a:rPr>
              <a:t> </a:t>
            </a:r>
            <a:r>
              <a:rPr sz="1000" spc="-10" dirty="0">
                <a:latin typeface="Tahoma"/>
                <a:cs typeface="Tahoma"/>
              </a:rPr>
              <a:t>let’s</a:t>
            </a:r>
            <a:r>
              <a:rPr sz="1000" spc="15" dirty="0">
                <a:latin typeface="Tahoma"/>
                <a:cs typeface="Tahoma"/>
              </a:rPr>
              <a:t> </a:t>
            </a:r>
            <a:r>
              <a:rPr sz="1000" spc="-35" dirty="0">
                <a:latin typeface="Tahoma"/>
                <a:cs typeface="Tahoma"/>
              </a:rPr>
              <a:t>note,</a:t>
            </a:r>
            <a:r>
              <a:rPr sz="1000" spc="20" dirty="0">
                <a:latin typeface="Tahoma"/>
                <a:cs typeface="Tahoma"/>
              </a:rPr>
              <a:t> </a:t>
            </a:r>
            <a:r>
              <a:rPr sz="1000" spc="-10" dirty="0">
                <a:latin typeface="Tahoma"/>
                <a:cs typeface="Tahoma"/>
              </a:rPr>
              <a:t>that</a:t>
            </a:r>
            <a:r>
              <a:rPr sz="1000" spc="15" dirty="0">
                <a:latin typeface="Tahoma"/>
                <a:cs typeface="Tahoma"/>
              </a:rPr>
              <a:t> </a:t>
            </a:r>
            <a:r>
              <a:rPr sz="1000" spc="-40" dirty="0">
                <a:latin typeface="Tahoma"/>
                <a:cs typeface="Tahoma"/>
              </a:rPr>
              <a:t>set,</a:t>
            </a:r>
            <a:r>
              <a:rPr sz="1000" spc="10" dirty="0">
                <a:latin typeface="Tahoma"/>
                <a:cs typeface="Tahoma"/>
              </a:rPr>
              <a:t> </a:t>
            </a:r>
            <a:r>
              <a:rPr sz="1000" spc="-35" dirty="0">
                <a:latin typeface="Tahoma"/>
                <a:cs typeface="Tahoma"/>
              </a:rPr>
              <a:t>which</a:t>
            </a:r>
            <a:r>
              <a:rPr sz="1000" spc="20" dirty="0">
                <a:latin typeface="Tahoma"/>
                <a:cs typeface="Tahoma"/>
              </a:rPr>
              <a:t> </a:t>
            </a:r>
            <a:r>
              <a:rPr sz="1000" spc="-35" dirty="0">
                <a:latin typeface="Tahoma"/>
                <a:cs typeface="Tahoma"/>
              </a:rPr>
              <a:t>consists</a:t>
            </a:r>
            <a:r>
              <a:rPr sz="1000" spc="15" dirty="0">
                <a:latin typeface="Tahoma"/>
                <a:cs typeface="Tahoma"/>
              </a:rPr>
              <a:t> </a:t>
            </a:r>
            <a:r>
              <a:rPr sz="1000" spc="-30" dirty="0">
                <a:latin typeface="Tahoma"/>
                <a:cs typeface="Tahoma"/>
              </a:rPr>
              <a:t>of</a:t>
            </a:r>
            <a:r>
              <a:rPr sz="1000" spc="10" dirty="0">
                <a:latin typeface="Tahoma"/>
                <a:cs typeface="Tahoma"/>
              </a:rPr>
              <a:t> </a:t>
            </a:r>
            <a:r>
              <a:rPr sz="1000" spc="-50" dirty="0">
                <a:latin typeface="Tahoma"/>
                <a:cs typeface="Tahoma"/>
              </a:rPr>
              <a:t>two</a:t>
            </a:r>
            <a:r>
              <a:rPr sz="1000" spc="15" dirty="0">
                <a:latin typeface="Tahoma"/>
                <a:cs typeface="Tahoma"/>
              </a:rPr>
              <a:t> </a:t>
            </a:r>
            <a:r>
              <a:rPr sz="1000" spc="-45" dirty="0">
                <a:latin typeface="Tahoma"/>
                <a:cs typeface="Tahoma"/>
              </a:rPr>
              <a:t>elements,</a:t>
            </a:r>
            <a:r>
              <a:rPr sz="1000" spc="20" dirty="0">
                <a:latin typeface="Tahoma"/>
                <a:cs typeface="Tahoma"/>
              </a:rPr>
              <a:t> </a:t>
            </a:r>
            <a:r>
              <a:rPr sz="1000" spc="-40" dirty="0">
                <a:latin typeface="Tahoma"/>
                <a:cs typeface="Tahoma"/>
              </a:rPr>
              <a:t>for </a:t>
            </a:r>
            <a:r>
              <a:rPr sz="1000" spc="-35" dirty="0">
                <a:latin typeface="Tahoma"/>
                <a:cs typeface="Tahoma"/>
              </a:rPr>
              <a:t> </a:t>
            </a:r>
            <a:r>
              <a:rPr sz="1000" spc="-50" dirty="0">
                <a:latin typeface="Tahoma"/>
                <a:cs typeface="Tahoma"/>
              </a:rPr>
              <a:t>example</a:t>
            </a:r>
            <a:r>
              <a:rPr sz="1000" spc="20" dirty="0">
                <a:latin typeface="Tahoma"/>
                <a:cs typeface="Tahoma"/>
              </a:rPr>
              <a:t> </a:t>
            </a:r>
            <a:r>
              <a:rPr sz="1000" spc="5" dirty="0">
                <a:latin typeface="Lucida Sans Unicode"/>
                <a:cs typeface="Lucida Sans Unicode"/>
              </a:rPr>
              <a:t>{</a:t>
            </a:r>
            <a:r>
              <a:rPr sz="1000" i="1" spc="5" dirty="0">
                <a:latin typeface="Arial"/>
                <a:cs typeface="Arial"/>
              </a:rPr>
              <a:t>a</a:t>
            </a:r>
            <a:r>
              <a:rPr sz="1000" i="1" spc="5" dirty="0">
                <a:latin typeface="Verdana"/>
                <a:cs typeface="Verdana"/>
              </a:rPr>
              <a:t>,</a:t>
            </a:r>
            <a:r>
              <a:rPr sz="1000" i="1" spc="-185" dirty="0">
                <a:latin typeface="Verdana"/>
                <a:cs typeface="Verdana"/>
              </a:rPr>
              <a:t> </a:t>
            </a:r>
            <a:r>
              <a:rPr sz="1000" i="1" spc="40" dirty="0">
                <a:latin typeface="Arial"/>
                <a:cs typeface="Arial"/>
              </a:rPr>
              <a:t>b</a:t>
            </a:r>
            <a:r>
              <a:rPr sz="1000" spc="40" dirty="0">
                <a:latin typeface="Lucida Sans Unicode"/>
                <a:cs typeface="Lucida Sans Unicode"/>
              </a:rPr>
              <a:t>}</a:t>
            </a:r>
            <a:r>
              <a:rPr sz="1000" spc="40" dirty="0">
                <a:latin typeface="Tahoma"/>
                <a:cs typeface="Tahoma"/>
              </a:rPr>
              <a:t>,</a:t>
            </a:r>
            <a:r>
              <a:rPr sz="1000" spc="25" dirty="0">
                <a:latin typeface="Tahoma"/>
                <a:cs typeface="Tahoma"/>
              </a:rPr>
              <a:t> </a:t>
            </a:r>
            <a:r>
              <a:rPr sz="1000" spc="-25" dirty="0">
                <a:latin typeface="Tahoma"/>
                <a:cs typeface="Tahoma"/>
              </a:rPr>
              <a:t>doesn’t</a:t>
            </a:r>
            <a:r>
              <a:rPr sz="1000" spc="15" dirty="0">
                <a:latin typeface="Tahoma"/>
                <a:cs typeface="Tahoma"/>
              </a:rPr>
              <a:t> </a:t>
            </a:r>
            <a:r>
              <a:rPr sz="1000" spc="-55" dirty="0">
                <a:latin typeface="Tahoma"/>
                <a:cs typeface="Tahoma"/>
              </a:rPr>
              <a:t>depend</a:t>
            </a:r>
            <a:r>
              <a:rPr sz="1000" spc="25" dirty="0">
                <a:latin typeface="Tahoma"/>
                <a:cs typeface="Tahoma"/>
              </a:rPr>
              <a:t> </a:t>
            </a:r>
            <a:r>
              <a:rPr sz="1000" spc="-45" dirty="0">
                <a:latin typeface="Tahoma"/>
                <a:cs typeface="Tahoma"/>
              </a:rPr>
              <a:t>on</a:t>
            </a:r>
            <a:r>
              <a:rPr sz="1000" spc="20" dirty="0">
                <a:latin typeface="Tahoma"/>
                <a:cs typeface="Tahoma"/>
              </a:rPr>
              <a:t> </a:t>
            </a:r>
            <a:r>
              <a:rPr sz="1000" spc="-35" dirty="0">
                <a:latin typeface="Tahoma"/>
                <a:cs typeface="Tahoma"/>
              </a:rPr>
              <a:t>the</a:t>
            </a:r>
            <a:r>
              <a:rPr sz="1000" spc="15" dirty="0">
                <a:latin typeface="Tahoma"/>
                <a:cs typeface="Tahoma"/>
              </a:rPr>
              <a:t> </a:t>
            </a:r>
            <a:r>
              <a:rPr sz="1000" spc="-45" dirty="0">
                <a:latin typeface="Tahoma"/>
                <a:cs typeface="Tahoma"/>
              </a:rPr>
              <a:t>order,</a:t>
            </a:r>
            <a:r>
              <a:rPr sz="1000" spc="25" dirty="0">
                <a:latin typeface="Tahoma"/>
                <a:cs typeface="Tahoma"/>
              </a:rPr>
              <a:t> </a:t>
            </a:r>
            <a:r>
              <a:rPr sz="1000" spc="-20" dirty="0">
                <a:latin typeface="Tahoma"/>
                <a:cs typeface="Tahoma"/>
              </a:rPr>
              <a:t>in</a:t>
            </a:r>
            <a:r>
              <a:rPr sz="1000" spc="20" dirty="0">
                <a:latin typeface="Tahoma"/>
                <a:cs typeface="Tahoma"/>
              </a:rPr>
              <a:t> </a:t>
            </a:r>
            <a:r>
              <a:rPr sz="1000" spc="-35" dirty="0">
                <a:latin typeface="Tahoma"/>
                <a:cs typeface="Tahoma"/>
              </a:rPr>
              <a:t>which</a:t>
            </a:r>
            <a:r>
              <a:rPr sz="1000" spc="20" dirty="0">
                <a:latin typeface="Tahoma"/>
                <a:cs typeface="Tahoma"/>
              </a:rPr>
              <a:t> </a:t>
            </a:r>
            <a:r>
              <a:rPr sz="1000" spc="-50" dirty="0">
                <a:latin typeface="Tahoma"/>
                <a:cs typeface="Tahoma"/>
              </a:rPr>
              <a:t>elements</a:t>
            </a:r>
            <a:r>
              <a:rPr sz="1000" spc="20" dirty="0">
                <a:latin typeface="Tahoma"/>
                <a:cs typeface="Tahoma"/>
              </a:rPr>
              <a:t> </a:t>
            </a:r>
            <a:r>
              <a:rPr sz="1000" i="1" spc="-80" dirty="0">
                <a:latin typeface="Arial"/>
                <a:cs typeface="Arial"/>
              </a:rPr>
              <a:t>a </a:t>
            </a:r>
            <a:r>
              <a:rPr sz="1000" i="1" spc="-75" dirty="0">
                <a:latin typeface="Arial"/>
                <a:cs typeface="Arial"/>
              </a:rPr>
              <a:t> </a:t>
            </a:r>
            <a:r>
              <a:rPr sz="1000" spc="-45" dirty="0">
                <a:latin typeface="Tahoma"/>
                <a:cs typeface="Tahoma"/>
              </a:rPr>
              <a:t>and</a:t>
            </a:r>
            <a:r>
              <a:rPr sz="1000" spc="20" dirty="0">
                <a:latin typeface="Tahoma"/>
                <a:cs typeface="Tahoma"/>
              </a:rPr>
              <a:t> </a:t>
            </a:r>
            <a:r>
              <a:rPr sz="1000" i="1" spc="-45" dirty="0">
                <a:latin typeface="Arial"/>
                <a:cs typeface="Arial"/>
              </a:rPr>
              <a:t>b</a:t>
            </a:r>
            <a:r>
              <a:rPr sz="1000" i="1" spc="85" dirty="0">
                <a:latin typeface="Arial"/>
                <a:cs typeface="Arial"/>
              </a:rPr>
              <a:t> </a:t>
            </a:r>
            <a:r>
              <a:rPr sz="1000" spc="-65" dirty="0">
                <a:latin typeface="Tahoma"/>
                <a:cs typeface="Tahoma"/>
              </a:rPr>
              <a:t>are</a:t>
            </a:r>
            <a:r>
              <a:rPr sz="1000" spc="20" dirty="0">
                <a:latin typeface="Tahoma"/>
                <a:cs typeface="Tahoma"/>
              </a:rPr>
              <a:t> </a:t>
            </a:r>
            <a:r>
              <a:rPr sz="1000" spc="-25" dirty="0">
                <a:latin typeface="Tahoma"/>
                <a:cs typeface="Tahoma"/>
              </a:rPr>
              <a:t>listed,</a:t>
            </a:r>
            <a:r>
              <a:rPr sz="1000" spc="20" dirty="0">
                <a:latin typeface="Tahoma"/>
                <a:cs typeface="Tahoma"/>
              </a:rPr>
              <a:t> </a:t>
            </a:r>
            <a:r>
              <a:rPr sz="1000" spc="-55" dirty="0">
                <a:latin typeface="Tahoma"/>
                <a:cs typeface="Tahoma"/>
              </a:rPr>
              <a:t>so</a:t>
            </a:r>
            <a:r>
              <a:rPr sz="1000" spc="15" dirty="0">
                <a:latin typeface="Tahoma"/>
                <a:cs typeface="Tahoma"/>
              </a:rPr>
              <a:t> </a:t>
            </a:r>
            <a:r>
              <a:rPr sz="1000" spc="5" dirty="0">
                <a:latin typeface="Lucida Sans Unicode"/>
                <a:cs typeface="Lucida Sans Unicode"/>
              </a:rPr>
              <a:t>{</a:t>
            </a:r>
            <a:r>
              <a:rPr sz="1000" i="1" spc="5" dirty="0">
                <a:latin typeface="Arial"/>
                <a:cs typeface="Arial"/>
              </a:rPr>
              <a:t>a</a:t>
            </a:r>
            <a:r>
              <a:rPr sz="1000" i="1" spc="5" dirty="0">
                <a:latin typeface="Verdana"/>
                <a:cs typeface="Verdana"/>
              </a:rPr>
              <a:t>,</a:t>
            </a:r>
            <a:r>
              <a:rPr sz="1000" i="1" spc="-185" dirty="0">
                <a:latin typeface="Verdana"/>
                <a:cs typeface="Verdana"/>
              </a:rPr>
              <a:t> </a:t>
            </a:r>
            <a:r>
              <a:rPr sz="1000" i="1" spc="80" dirty="0">
                <a:latin typeface="Arial"/>
                <a:cs typeface="Arial"/>
              </a:rPr>
              <a:t>b</a:t>
            </a:r>
            <a:r>
              <a:rPr sz="1000" spc="80" dirty="0">
                <a:latin typeface="Lucida Sans Unicode"/>
                <a:cs typeface="Lucida Sans Unicode"/>
              </a:rPr>
              <a:t>}</a:t>
            </a:r>
            <a:r>
              <a:rPr sz="1000" spc="-40" dirty="0">
                <a:latin typeface="Lucida Sans Unicode"/>
                <a:cs typeface="Lucida Sans Unicode"/>
              </a:rPr>
              <a:t> </a:t>
            </a:r>
            <a:r>
              <a:rPr sz="1000" spc="45" dirty="0">
                <a:latin typeface="Tahoma"/>
                <a:cs typeface="Tahoma"/>
              </a:rPr>
              <a:t>=</a:t>
            </a:r>
            <a:r>
              <a:rPr sz="1000" spc="-35" dirty="0">
                <a:latin typeface="Tahoma"/>
                <a:cs typeface="Tahoma"/>
              </a:rPr>
              <a:t> </a:t>
            </a:r>
            <a:r>
              <a:rPr sz="1000" spc="20" dirty="0">
                <a:latin typeface="Lucida Sans Unicode"/>
                <a:cs typeface="Lucida Sans Unicode"/>
              </a:rPr>
              <a:t>{</a:t>
            </a:r>
            <a:r>
              <a:rPr sz="1000" i="1" spc="20" dirty="0">
                <a:latin typeface="Arial"/>
                <a:cs typeface="Arial"/>
              </a:rPr>
              <a:t>b</a:t>
            </a:r>
            <a:r>
              <a:rPr sz="1000" i="1" spc="20" dirty="0">
                <a:latin typeface="Verdana"/>
                <a:cs typeface="Verdana"/>
              </a:rPr>
              <a:t>,</a:t>
            </a:r>
            <a:r>
              <a:rPr sz="1000" i="1" spc="-185" dirty="0">
                <a:latin typeface="Verdana"/>
                <a:cs typeface="Verdana"/>
              </a:rPr>
              <a:t> </a:t>
            </a:r>
            <a:r>
              <a:rPr sz="1000" i="1" spc="25" dirty="0">
                <a:latin typeface="Arial"/>
                <a:cs typeface="Arial"/>
              </a:rPr>
              <a:t>a</a:t>
            </a:r>
            <a:r>
              <a:rPr sz="1000" spc="25" dirty="0">
                <a:latin typeface="Lucida Sans Unicode"/>
                <a:cs typeface="Lucida Sans Unicode"/>
              </a:rPr>
              <a:t>}</a:t>
            </a:r>
            <a:r>
              <a:rPr sz="1000" spc="25" dirty="0">
                <a:latin typeface="Tahoma"/>
                <a:cs typeface="Tahoma"/>
              </a:rPr>
              <a:t>.</a:t>
            </a:r>
            <a:r>
              <a:rPr sz="1000" spc="130" dirty="0">
                <a:latin typeface="Tahoma"/>
                <a:cs typeface="Tahoma"/>
              </a:rPr>
              <a:t> </a:t>
            </a:r>
            <a:r>
              <a:rPr sz="1000" spc="-40" dirty="0">
                <a:latin typeface="Tahoma"/>
                <a:cs typeface="Tahoma"/>
              </a:rPr>
              <a:t>Therefore</a:t>
            </a:r>
            <a:r>
              <a:rPr sz="1000" spc="20" dirty="0">
                <a:latin typeface="Tahoma"/>
                <a:cs typeface="Tahoma"/>
              </a:rPr>
              <a:t> </a:t>
            </a:r>
            <a:r>
              <a:rPr sz="1000" spc="-50" dirty="0">
                <a:latin typeface="Tahoma"/>
                <a:cs typeface="Tahoma"/>
              </a:rPr>
              <a:t>a</a:t>
            </a:r>
            <a:r>
              <a:rPr sz="1000" spc="15" dirty="0">
                <a:latin typeface="Tahoma"/>
                <a:cs typeface="Tahoma"/>
              </a:rPr>
              <a:t> </a:t>
            </a:r>
            <a:r>
              <a:rPr sz="1000" spc="-45" dirty="0">
                <a:latin typeface="Tahoma"/>
                <a:cs typeface="Tahoma"/>
              </a:rPr>
              <a:t>two-element</a:t>
            </a:r>
            <a:r>
              <a:rPr sz="1000" spc="15" dirty="0">
                <a:latin typeface="Tahoma"/>
                <a:cs typeface="Tahoma"/>
              </a:rPr>
              <a:t> </a:t>
            </a:r>
            <a:r>
              <a:rPr sz="1000" spc="-45" dirty="0">
                <a:latin typeface="Tahoma"/>
                <a:cs typeface="Tahoma"/>
              </a:rPr>
              <a:t>set</a:t>
            </a:r>
            <a:r>
              <a:rPr sz="1000" spc="20" dirty="0">
                <a:latin typeface="Tahoma"/>
                <a:cs typeface="Tahoma"/>
              </a:rPr>
              <a:t> </a:t>
            </a:r>
            <a:r>
              <a:rPr sz="1000" spc="-30" dirty="0">
                <a:latin typeface="Tahoma"/>
                <a:cs typeface="Tahoma"/>
              </a:rPr>
              <a:t>is </a:t>
            </a:r>
            <a:r>
              <a:rPr sz="1000" spc="-295" dirty="0">
                <a:latin typeface="Tahoma"/>
                <a:cs typeface="Tahoma"/>
              </a:rPr>
              <a:t> </a:t>
            </a:r>
            <a:r>
              <a:rPr sz="1000" spc="-40" dirty="0">
                <a:latin typeface="Tahoma"/>
                <a:cs typeface="Tahoma"/>
              </a:rPr>
              <a:t>also</a:t>
            </a:r>
            <a:r>
              <a:rPr sz="1000" spc="15" dirty="0">
                <a:latin typeface="Tahoma"/>
                <a:cs typeface="Tahoma"/>
              </a:rPr>
              <a:t> </a:t>
            </a:r>
            <a:r>
              <a:rPr sz="1000" spc="-30" dirty="0">
                <a:latin typeface="Tahoma"/>
                <a:cs typeface="Tahoma"/>
              </a:rPr>
              <a:t>called</a:t>
            </a:r>
            <a:r>
              <a:rPr sz="1000" spc="25" dirty="0">
                <a:latin typeface="Tahoma"/>
                <a:cs typeface="Tahoma"/>
              </a:rPr>
              <a:t> </a:t>
            </a:r>
            <a:r>
              <a:rPr sz="1000" i="1" spc="-55" dirty="0">
                <a:latin typeface="Arial"/>
                <a:cs typeface="Arial"/>
              </a:rPr>
              <a:t>unordered</a:t>
            </a:r>
            <a:r>
              <a:rPr sz="1000" i="1" spc="55" dirty="0">
                <a:latin typeface="Arial"/>
                <a:cs typeface="Arial"/>
              </a:rPr>
              <a:t> </a:t>
            </a:r>
            <a:r>
              <a:rPr sz="1000" i="1" spc="-30" dirty="0">
                <a:latin typeface="Arial"/>
                <a:cs typeface="Arial"/>
              </a:rPr>
              <a:t>pair</a:t>
            </a:r>
            <a:r>
              <a:rPr sz="1000" spc="-30" dirty="0">
                <a:latin typeface="Tahoma"/>
                <a:cs typeface="Tahoma"/>
              </a:rPr>
              <a:t>.</a:t>
            </a:r>
            <a:r>
              <a:rPr sz="1000" spc="135" dirty="0">
                <a:latin typeface="Tahoma"/>
                <a:cs typeface="Tahoma"/>
              </a:rPr>
              <a:t> </a:t>
            </a:r>
            <a:r>
              <a:rPr sz="1000" spc="-40" dirty="0">
                <a:latin typeface="Tahoma"/>
                <a:cs typeface="Tahoma"/>
              </a:rPr>
              <a:t>How</a:t>
            </a:r>
            <a:r>
              <a:rPr sz="1000" spc="20" dirty="0">
                <a:latin typeface="Tahoma"/>
                <a:cs typeface="Tahoma"/>
              </a:rPr>
              <a:t> </a:t>
            </a:r>
            <a:r>
              <a:rPr sz="1000" spc="-40" dirty="0">
                <a:latin typeface="Tahoma"/>
                <a:cs typeface="Tahoma"/>
              </a:rPr>
              <a:t>can</a:t>
            </a:r>
            <a:r>
              <a:rPr sz="1000" spc="20" dirty="0">
                <a:latin typeface="Tahoma"/>
                <a:cs typeface="Tahoma"/>
              </a:rPr>
              <a:t> </a:t>
            </a:r>
            <a:r>
              <a:rPr sz="1000" spc="-90" dirty="0">
                <a:latin typeface="Tahoma"/>
                <a:cs typeface="Tahoma"/>
              </a:rPr>
              <a:t>we</a:t>
            </a:r>
            <a:r>
              <a:rPr sz="1000" spc="15" dirty="0">
                <a:latin typeface="Tahoma"/>
                <a:cs typeface="Tahoma"/>
              </a:rPr>
              <a:t> </a:t>
            </a:r>
            <a:r>
              <a:rPr sz="1000" spc="-45" dirty="0">
                <a:latin typeface="Tahoma"/>
                <a:cs typeface="Tahoma"/>
              </a:rPr>
              <a:t>define</a:t>
            </a:r>
            <a:r>
              <a:rPr sz="1000" spc="25" dirty="0">
                <a:latin typeface="Tahoma"/>
                <a:cs typeface="Tahoma"/>
              </a:rPr>
              <a:t> </a:t>
            </a:r>
            <a:r>
              <a:rPr sz="1000" spc="-50" dirty="0">
                <a:latin typeface="Tahoma"/>
                <a:cs typeface="Tahoma"/>
              </a:rPr>
              <a:t>an</a:t>
            </a:r>
            <a:r>
              <a:rPr sz="1000" spc="20" dirty="0">
                <a:latin typeface="Tahoma"/>
                <a:cs typeface="Tahoma"/>
              </a:rPr>
              <a:t> </a:t>
            </a:r>
            <a:r>
              <a:rPr sz="1000" i="1" spc="-60" dirty="0">
                <a:latin typeface="Arial"/>
                <a:cs typeface="Arial"/>
              </a:rPr>
              <a:t>ordered</a:t>
            </a:r>
            <a:r>
              <a:rPr sz="1000" i="1" spc="150" dirty="0">
                <a:latin typeface="Arial"/>
                <a:cs typeface="Arial"/>
              </a:rPr>
              <a:t> </a:t>
            </a:r>
            <a:r>
              <a:rPr sz="1000" spc="-25" dirty="0">
                <a:latin typeface="Tahoma"/>
                <a:cs typeface="Tahoma"/>
              </a:rPr>
              <a:t>pair</a:t>
            </a:r>
            <a:r>
              <a:rPr sz="1000" spc="25" dirty="0">
                <a:latin typeface="Tahoma"/>
                <a:cs typeface="Tahoma"/>
              </a:rPr>
              <a:t> </a:t>
            </a:r>
            <a:r>
              <a:rPr sz="1000" spc="-30" dirty="0">
                <a:latin typeface="Tahoma"/>
                <a:cs typeface="Tahoma"/>
              </a:rPr>
              <a:t>of </a:t>
            </a:r>
            <a:r>
              <a:rPr sz="1000" spc="-25" dirty="0">
                <a:latin typeface="Tahoma"/>
                <a:cs typeface="Tahoma"/>
              </a:rPr>
              <a:t> </a:t>
            </a:r>
            <a:r>
              <a:rPr sz="1000" spc="-45" dirty="0">
                <a:latin typeface="Tahoma"/>
                <a:cs typeface="Tahoma"/>
              </a:rPr>
              <a:t>elements?</a:t>
            </a:r>
            <a:endParaRPr sz="1000">
              <a:latin typeface="Tahoma"/>
              <a:cs typeface="Tahoma"/>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076325" cy="244475"/>
          </a:xfrm>
          <a:prstGeom prst="rect">
            <a:avLst/>
          </a:prstGeom>
        </p:spPr>
        <p:txBody>
          <a:bodyPr vert="horz" wrap="square" lIns="0" tIns="17145" rIns="0" bIns="0" rtlCol="0">
            <a:spAutoFit/>
          </a:bodyPr>
          <a:lstStyle/>
          <a:p>
            <a:pPr marL="12700">
              <a:lnSpc>
                <a:spcPct val="100000"/>
              </a:lnSpc>
              <a:spcBef>
                <a:spcPts val="135"/>
              </a:spcBef>
            </a:pPr>
            <a:r>
              <a:rPr spc="-25" dirty="0"/>
              <a:t>Ordered</a:t>
            </a:r>
            <a:r>
              <a:rPr spc="55" dirty="0"/>
              <a:t> </a:t>
            </a:r>
            <a:r>
              <a:rPr spc="-30" dirty="0"/>
              <a:t>pair</a:t>
            </a:r>
          </a:p>
        </p:txBody>
      </p:sp>
      <p:sp>
        <p:nvSpPr>
          <p:cNvPr id="30" name="object 30"/>
          <p:cNvSpPr/>
          <p:nvPr/>
        </p:nvSpPr>
        <p:spPr>
          <a:xfrm>
            <a:off x="698562" y="1141323"/>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1171249"/>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2" name="object 32"/>
          <p:cNvGrpSpPr/>
          <p:nvPr/>
        </p:nvGrpSpPr>
        <p:grpSpPr>
          <a:xfrm>
            <a:off x="698562" y="1198250"/>
            <a:ext cx="3831590" cy="670560"/>
            <a:chOff x="698562" y="1198250"/>
            <a:chExt cx="3831590" cy="670560"/>
          </a:xfrm>
        </p:grpSpPr>
        <p:pic>
          <p:nvPicPr>
            <p:cNvPr id="33" name="object 33"/>
            <p:cNvPicPr/>
            <p:nvPr/>
          </p:nvPicPr>
          <p:blipFill>
            <a:blip r:embed="rId7" cstate="print"/>
            <a:stretch>
              <a:fillRect/>
            </a:stretch>
          </p:blipFill>
          <p:spPr>
            <a:xfrm>
              <a:off x="698563" y="1298917"/>
              <a:ext cx="3780284" cy="50609"/>
            </a:xfrm>
            <a:prstGeom prst="rect">
              <a:avLst/>
            </a:prstGeom>
          </p:spPr>
        </p:pic>
        <p:sp>
          <p:nvSpPr>
            <p:cNvPr id="34" name="object 34"/>
            <p:cNvSpPr/>
            <p:nvPr/>
          </p:nvSpPr>
          <p:spPr>
            <a:xfrm>
              <a:off x="749363" y="1198250"/>
              <a:ext cx="3780790" cy="670560"/>
            </a:xfrm>
            <a:custGeom>
              <a:avLst/>
              <a:gdLst/>
              <a:ahLst/>
              <a:cxnLst/>
              <a:rect l="l" t="t" r="r" b="b"/>
              <a:pathLst>
                <a:path w="3780790" h="670560">
                  <a:moveTo>
                    <a:pt x="3780285" y="0"/>
                  </a:moveTo>
                  <a:lnTo>
                    <a:pt x="0" y="0"/>
                  </a:lnTo>
                  <a:lnTo>
                    <a:pt x="0" y="670365"/>
                  </a:lnTo>
                  <a:lnTo>
                    <a:pt x="3780285" y="670365"/>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343195"/>
              <a:ext cx="3780790" cy="474980"/>
            </a:xfrm>
            <a:custGeom>
              <a:avLst/>
              <a:gdLst/>
              <a:ahLst/>
              <a:cxnLst/>
              <a:rect l="l" t="t" r="r" b="b"/>
              <a:pathLst>
                <a:path w="3780790" h="474980">
                  <a:moveTo>
                    <a:pt x="3780285" y="0"/>
                  </a:moveTo>
                  <a:lnTo>
                    <a:pt x="0" y="0"/>
                  </a:lnTo>
                  <a:lnTo>
                    <a:pt x="0" y="423818"/>
                  </a:lnTo>
                  <a:lnTo>
                    <a:pt x="4008" y="443543"/>
                  </a:lnTo>
                  <a:lnTo>
                    <a:pt x="14922" y="459696"/>
                  </a:lnTo>
                  <a:lnTo>
                    <a:pt x="31075" y="470610"/>
                  </a:lnTo>
                  <a:lnTo>
                    <a:pt x="50800" y="474619"/>
                  </a:lnTo>
                  <a:lnTo>
                    <a:pt x="3729484" y="474619"/>
                  </a:lnTo>
                  <a:lnTo>
                    <a:pt x="3749209" y="470610"/>
                  </a:lnTo>
                  <a:lnTo>
                    <a:pt x="3765362" y="459696"/>
                  </a:lnTo>
                  <a:lnTo>
                    <a:pt x="3776276" y="443543"/>
                  </a:lnTo>
                  <a:lnTo>
                    <a:pt x="3780285" y="423818"/>
                  </a:lnTo>
                  <a:lnTo>
                    <a:pt x="3780285" y="0"/>
                  </a:lnTo>
                  <a:close/>
                </a:path>
              </a:pathLst>
            </a:custGeom>
            <a:solidFill>
              <a:srgbClr val="E9E9F2"/>
            </a:solidFill>
          </p:spPr>
          <p:txBody>
            <a:bodyPr wrap="square" lIns="0" tIns="0" rIns="0" bIns="0" rtlCol="0"/>
            <a:lstStyle/>
            <a:p>
              <a:endParaRPr/>
            </a:p>
          </p:txBody>
        </p:sp>
      </p:grpSp>
      <p:sp>
        <p:nvSpPr>
          <p:cNvPr id="36" name="object 36"/>
          <p:cNvSpPr txBox="1"/>
          <p:nvPr/>
        </p:nvSpPr>
        <p:spPr>
          <a:xfrm>
            <a:off x="698563" y="1198250"/>
            <a:ext cx="3831590" cy="670560"/>
          </a:xfrm>
          <a:prstGeom prst="rect">
            <a:avLst/>
          </a:prstGeom>
        </p:spPr>
        <p:txBody>
          <a:bodyPr vert="horz" wrap="square" lIns="0" tIns="6350" rIns="0" bIns="0" rtlCol="0">
            <a:spAutoFit/>
          </a:bodyPr>
          <a:lstStyle/>
          <a:p>
            <a:pPr>
              <a:lnSpc>
                <a:spcPct val="100000"/>
              </a:lnSpc>
              <a:spcBef>
                <a:spcPts val="50"/>
              </a:spcBef>
            </a:pPr>
            <a:endParaRPr sz="900">
              <a:latin typeface="Times New Roman"/>
              <a:cs typeface="Times New Roman"/>
            </a:endParaRPr>
          </a:p>
          <a:p>
            <a:pPr marL="50800">
              <a:lnSpc>
                <a:spcPct val="100000"/>
              </a:lnSpc>
            </a:pPr>
            <a:r>
              <a:rPr sz="1000" spc="-10" dirty="0">
                <a:latin typeface="Tahoma"/>
                <a:cs typeface="Tahoma"/>
              </a:rPr>
              <a:t>Let</a:t>
            </a:r>
            <a:r>
              <a:rPr sz="1000" spc="15" dirty="0">
                <a:latin typeface="Tahoma"/>
                <a:cs typeface="Tahoma"/>
              </a:rPr>
              <a:t> </a:t>
            </a:r>
            <a:r>
              <a:rPr sz="1000" i="1" spc="-80" dirty="0">
                <a:latin typeface="Arial"/>
                <a:cs typeface="Arial"/>
              </a:rPr>
              <a:t>a</a:t>
            </a:r>
            <a:r>
              <a:rPr sz="1000" i="1" spc="-80" dirty="0">
                <a:latin typeface="Verdana"/>
                <a:cs typeface="Verdana"/>
              </a:rPr>
              <a:t>,</a:t>
            </a:r>
            <a:r>
              <a:rPr sz="1000" i="1" spc="-185" dirty="0">
                <a:latin typeface="Verdana"/>
                <a:cs typeface="Verdana"/>
              </a:rPr>
              <a:t> </a:t>
            </a:r>
            <a:r>
              <a:rPr sz="1000" i="1" spc="-45" dirty="0">
                <a:latin typeface="Arial"/>
                <a:cs typeface="Arial"/>
              </a:rPr>
              <a:t>b</a:t>
            </a:r>
            <a:r>
              <a:rPr sz="1000" i="1" spc="85" dirty="0">
                <a:latin typeface="Arial"/>
                <a:cs typeface="Arial"/>
              </a:rPr>
              <a:t> </a:t>
            </a:r>
            <a:r>
              <a:rPr sz="1000" spc="-50" dirty="0">
                <a:latin typeface="Tahoma"/>
                <a:cs typeface="Tahoma"/>
              </a:rPr>
              <a:t>be</a:t>
            </a:r>
            <a:r>
              <a:rPr sz="1000" spc="15" dirty="0">
                <a:latin typeface="Tahoma"/>
                <a:cs typeface="Tahoma"/>
              </a:rPr>
              <a:t> </a:t>
            </a:r>
            <a:r>
              <a:rPr sz="1000" spc="-50" dirty="0">
                <a:latin typeface="Tahoma"/>
                <a:cs typeface="Tahoma"/>
              </a:rPr>
              <a:t>two</a:t>
            </a:r>
            <a:r>
              <a:rPr sz="1000" spc="15" dirty="0">
                <a:latin typeface="Tahoma"/>
                <a:cs typeface="Tahoma"/>
              </a:rPr>
              <a:t> </a:t>
            </a:r>
            <a:r>
              <a:rPr sz="1000" spc="-45" dirty="0">
                <a:latin typeface="Tahoma"/>
                <a:cs typeface="Tahoma"/>
              </a:rPr>
              <a:t>elements.</a:t>
            </a:r>
            <a:r>
              <a:rPr sz="1000" spc="130" dirty="0">
                <a:latin typeface="Tahoma"/>
                <a:cs typeface="Tahoma"/>
              </a:rPr>
              <a:t> </a:t>
            </a:r>
            <a:r>
              <a:rPr sz="1000" b="1" spc="-35" dirty="0">
                <a:latin typeface="Arial"/>
                <a:cs typeface="Arial"/>
              </a:rPr>
              <a:t>Ordered</a:t>
            </a:r>
            <a:r>
              <a:rPr sz="1000" b="1" spc="85" dirty="0">
                <a:latin typeface="Arial"/>
                <a:cs typeface="Arial"/>
              </a:rPr>
              <a:t> </a:t>
            </a:r>
            <a:r>
              <a:rPr sz="1000" b="1" spc="-35" dirty="0">
                <a:latin typeface="Arial"/>
                <a:cs typeface="Arial"/>
              </a:rPr>
              <a:t>pair</a:t>
            </a:r>
            <a:r>
              <a:rPr sz="1000" b="1" spc="65" dirty="0">
                <a:latin typeface="Arial"/>
                <a:cs typeface="Arial"/>
              </a:rPr>
              <a:t> </a:t>
            </a:r>
            <a:r>
              <a:rPr sz="1000" spc="-55" dirty="0">
                <a:latin typeface="Tahoma"/>
                <a:cs typeface="Tahoma"/>
              </a:rPr>
              <a:t>(</a:t>
            </a:r>
            <a:r>
              <a:rPr sz="1000" i="1" spc="-55" dirty="0">
                <a:latin typeface="Arial"/>
                <a:cs typeface="Arial"/>
              </a:rPr>
              <a:t>a</a:t>
            </a:r>
            <a:r>
              <a:rPr sz="1000" i="1" spc="-55" dirty="0">
                <a:latin typeface="Verdana"/>
                <a:cs typeface="Verdana"/>
              </a:rPr>
              <a:t>,</a:t>
            </a:r>
            <a:r>
              <a:rPr sz="1000" i="1" spc="-185" dirty="0">
                <a:latin typeface="Verdana"/>
                <a:cs typeface="Verdana"/>
              </a:rPr>
              <a:t> </a:t>
            </a:r>
            <a:r>
              <a:rPr sz="1000" i="1" spc="-5" dirty="0">
                <a:latin typeface="Arial"/>
                <a:cs typeface="Arial"/>
              </a:rPr>
              <a:t>b</a:t>
            </a:r>
            <a:r>
              <a:rPr sz="1000" spc="-5" dirty="0">
                <a:latin typeface="Tahoma"/>
                <a:cs typeface="Tahoma"/>
              </a:rPr>
              <a:t>)</a:t>
            </a:r>
            <a:r>
              <a:rPr sz="1000" spc="20" dirty="0">
                <a:latin typeface="Tahoma"/>
                <a:cs typeface="Tahoma"/>
              </a:rPr>
              <a:t> </a:t>
            </a:r>
            <a:r>
              <a:rPr sz="1000" spc="-30" dirty="0">
                <a:latin typeface="Tahoma"/>
                <a:cs typeface="Tahoma"/>
              </a:rPr>
              <a:t>is</a:t>
            </a:r>
            <a:r>
              <a:rPr sz="1000" spc="20" dirty="0">
                <a:latin typeface="Tahoma"/>
                <a:cs typeface="Tahoma"/>
              </a:rPr>
              <a:t> </a:t>
            </a:r>
            <a:r>
              <a:rPr sz="1000" spc="-35" dirty="0">
                <a:latin typeface="Tahoma"/>
                <a:cs typeface="Tahoma"/>
              </a:rPr>
              <a:t>the</a:t>
            </a:r>
            <a:r>
              <a:rPr sz="1000" spc="15" dirty="0">
                <a:latin typeface="Tahoma"/>
                <a:cs typeface="Tahoma"/>
              </a:rPr>
              <a:t> </a:t>
            </a:r>
            <a:r>
              <a:rPr sz="1000" spc="-45" dirty="0">
                <a:latin typeface="Tahoma"/>
                <a:cs typeface="Tahoma"/>
              </a:rPr>
              <a:t>set</a:t>
            </a:r>
            <a:endParaRPr sz="1000">
              <a:latin typeface="Tahoma"/>
              <a:cs typeface="Tahoma"/>
            </a:endParaRPr>
          </a:p>
          <a:p>
            <a:pPr>
              <a:lnSpc>
                <a:spcPct val="100000"/>
              </a:lnSpc>
              <a:spcBef>
                <a:spcPts val="25"/>
              </a:spcBef>
            </a:pPr>
            <a:endParaRPr sz="800">
              <a:latin typeface="Tahoma"/>
              <a:cs typeface="Tahoma"/>
            </a:endParaRPr>
          </a:p>
          <a:p>
            <a:pPr marR="43180" algn="ctr">
              <a:lnSpc>
                <a:spcPct val="100000"/>
              </a:lnSpc>
              <a:spcBef>
                <a:spcPts val="5"/>
              </a:spcBef>
            </a:pP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dirty="0">
                <a:latin typeface="Tahoma"/>
                <a:cs typeface="Tahoma"/>
              </a:rPr>
              <a:t>)</a:t>
            </a:r>
            <a:r>
              <a:rPr sz="1000" spc="-35" dirty="0">
                <a:latin typeface="Tahoma"/>
                <a:cs typeface="Tahoma"/>
              </a:rPr>
              <a:t> </a:t>
            </a:r>
            <a:r>
              <a:rPr sz="1000" spc="55" dirty="0">
                <a:latin typeface="Lucida Sans Unicode"/>
                <a:cs typeface="Lucida Sans Unicode"/>
              </a:rPr>
              <a:t>⇌</a:t>
            </a:r>
            <a:r>
              <a:rPr sz="1000" spc="-40" dirty="0">
                <a:latin typeface="Lucida Sans Unicode"/>
                <a:cs typeface="Lucida Sans Unicode"/>
              </a:rPr>
              <a:t> </a:t>
            </a:r>
            <a:r>
              <a:rPr sz="1000" spc="170" dirty="0">
                <a:latin typeface="Lucida Sans Unicode"/>
                <a:cs typeface="Lucida Sans Unicode"/>
              </a:rPr>
              <a:t>{</a:t>
            </a:r>
            <a:r>
              <a:rPr sz="1000" spc="165" dirty="0">
                <a:latin typeface="Lucida Sans Unicode"/>
                <a:cs typeface="Lucida Sans Unicode"/>
              </a:rPr>
              <a:t>{</a:t>
            </a:r>
            <a:r>
              <a:rPr sz="1000" i="1" spc="-70" dirty="0">
                <a:latin typeface="Arial"/>
                <a:cs typeface="Arial"/>
              </a:rPr>
              <a:t>a</a:t>
            </a:r>
            <a:r>
              <a:rPr sz="1000" spc="170" dirty="0">
                <a:latin typeface="Lucida Sans Unicode"/>
                <a:cs typeface="Lucida Sans Unicode"/>
              </a:rPr>
              <a:t>}</a:t>
            </a:r>
            <a:r>
              <a:rPr sz="1000" i="1" spc="-90" dirty="0">
                <a:latin typeface="Verdana"/>
                <a:cs typeface="Verdana"/>
              </a:rPr>
              <a:t>,</a:t>
            </a:r>
            <a:r>
              <a:rPr sz="1000" i="1" spc="-185" dirty="0">
                <a:latin typeface="Verdana"/>
                <a:cs typeface="Verdan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spc="170" dirty="0">
                <a:latin typeface="Lucida Sans Unicode"/>
                <a:cs typeface="Lucida Sans Unicode"/>
              </a:rPr>
              <a:t>}}</a:t>
            </a:r>
            <a:endParaRPr sz="1000">
              <a:latin typeface="Lucida Sans Unicode"/>
              <a:cs typeface="Lucida Sans Unicode"/>
            </a:endParaRPr>
          </a:p>
        </p:txBody>
      </p:sp>
      <p:sp>
        <p:nvSpPr>
          <p:cNvPr id="37" name="object 37"/>
          <p:cNvSpPr/>
          <p:nvPr/>
        </p:nvSpPr>
        <p:spPr>
          <a:xfrm>
            <a:off x="698562" y="2146172"/>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2176111"/>
            <a:ext cx="401320" cy="128270"/>
          </a:xfrm>
          <a:prstGeom prst="rect">
            <a:avLst/>
          </a:prstGeom>
        </p:spPr>
        <p:txBody>
          <a:bodyPr vert="horz" wrap="square" lIns="0" tIns="0" rIns="0" bIns="0" rtlCol="0">
            <a:spAutoFit/>
          </a:bodyPr>
          <a:lstStyle/>
          <a:p>
            <a:pPr>
              <a:lnSpc>
                <a:spcPts val="955"/>
              </a:lnSpc>
            </a:pPr>
            <a:r>
              <a:rPr sz="1000" spc="-45" dirty="0">
                <a:solidFill>
                  <a:srgbClr val="FFFFFF"/>
                </a:solidFill>
                <a:latin typeface="Tahoma"/>
                <a:cs typeface="Tahoma"/>
              </a:rPr>
              <a:t>Rem</a:t>
            </a:r>
            <a:r>
              <a:rPr sz="1000" spc="-65" dirty="0">
                <a:solidFill>
                  <a:srgbClr val="FFFFFF"/>
                </a:solidFill>
                <a:latin typeface="Tahoma"/>
                <a:cs typeface="Tahoma"/>
              </a:rPr>
              <a:t>a</a:t>
            </a:r>
            <a:r>
              <a:rPr sz="1000" spc="-20" dirty="0">
                <a:solidFill>
                  <a:srgbClr val="FFFFFF"/>
                </a:solidFill>
                <a:latin typeface="Tahoma"/>
                <a:cs typeface="Tahoma"/>
              </a:rPr>
              <a:t>rk</a:t>
            </a:r>
            <a:endParaRPr sz="1000">
              <a:latin typeface="Tahoma"/>
              <a:cs typeface="Tahoma"/>
            </a:endParaRPr>
          </a:p>
        </p:txBody>
      </p:sp>
      <p:grpSp>
        <p:nvGrpSpPr>
          <p:cNvPr id="39" name="object 39"/>
          <p:cNvGrpSpPr/>
          <p:nvPr/>
        </p:nvGrpSpPr>
        <p:grpSpPr>
          <a:xfrm>
            <a:off x="698562" y="2203109"/>
            <a:ext cx="3831590" cy="544195"/>
            <a:chOff x="698562" y="2203109"/>
            <a:chExt cx="3831590" cy="544195"/>
          </a:xfrm>
        </p:grpSpPr>
        <p:pic>
          <p:nvPicPr>
            <p:cNvPr id="40" name="object 40"/>
            <p:cNvPicPr/>
            <p:nvPr/>
          </p:nvPicPr>
          <p:blipFill>
            <a:blip r:embed="rId7" cstate="print"/>
            <a:stretch>
              <a:fillRect/>
            </a:stretch>
          </p:blipFill>
          <p:spPr>
            <a:xfrm>
              <a:off x="698563" y="2303767"/>
              <a:ext cx="3780284" cy="50609"/>
            </a:xfrm>
            <a:prstGeom prst="rect">
              <a:avLst/>
            </a:prstGeom>
          </p:spPr>
        </p:pic>
        <p:sp>
          <p:nvSpPr>
            <p:cNvPr id="41" name="object 41"/>
            <p:cNvSpPr/>
            <p:nvPr/>
          </p:nvSpPr>
          <p:spPr>
            <a:xfrm>
              <a:off x="749363" y="2203109"/>
              <a:ext cx="3780790" cy="544195"/>
            </a:xfrm>
            <a:custGeom>
              <a:avLst/>
              <a:gdLst/>
              <a:ahLst/>
              <a:cxnLst/>
              <a:rect l="l" t="t" r="r" b="b"/>
              <a:pathLst>
                <a:path w="3780790" h="544194">
                  <a:moveTo>
                    <a:pt x="3780285" y="0"/>
                  </a:moveTo>
                  <a:lnTo>
                    <a:pt x="0" y="0"/>
                  </a:lnTo>
                  <a:lnTo>
                    <a:pt x="0" y="543838"/>
                  </a:lnTo>
                  <a:lnTo>
                    <a:pt x="3780285" y="543838"/>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2348055"/>
              <a:ext cx="3780790" cy="348615"/>
            </a:xfrm>
            <a:custGeom>
              <a:avLst/>
              <a:gdLst/>
              <a:ahLst/>
              <a:cxnLst/>
              <a:rect l="l" t="t" r="r" b="b"/>
              <a:pathLst>
                <a:path w="3780790" h="348614">
                  <a:moveTo>
                    <a:pt x="3780285" y="0"/>
                  </a:moveTo>
                  <a:lnTo>
                    <a:pt x="0" y="0"/>
                  </a:lnTo>
                  <a:lnTo>
                    <a:pt x="0" y="297291"/>
                  </a:lnTo>
                  <a:lnTo>
                    <a:pt x="4008" y="317016"/>
                  </a:lnTo>
                  <a:lnTo>
                    <a:pt x="14922" y="333169"/>
                  </a:lnTo>
                  <a:lnTo>
                    <a:pt x="31075" y="344083"/>
                  </a:lnTo>
                  <a:lnTo>
                    <a:pt x="50800" y="348091"/>
                  </a:lnTo>
                  <a:lnTo>
                    <a:pt x="3729484" y="348091"/>
                  </a:lnTo>
                  <a:lnTo>
                    <a:pt x="3749209" y="344083"/>
                  </a:lnTo>
                  <a:lnTo>
                    <a:pt x="3765362" y="333169"/>
                  </a:lnTo>
                  <a:lnTo>
                    <a:pt x="3776276" y="317016"/>
                  </a:lnTo>
                  <a:lnTo>
                    <a:pt x="3780285" y="297291"/>
                  </a:lnTo>
                  <a:lnTo>
                    <a:pt x="3780285" y="0"/>
                  </a:lnTo>
                  <a:close/>
                </a:path>
              </a:pathLst>
            </a:custGeom>
            <a:solidFill>
              <a:srgbClr val="E9E9F2"/>
            </a:solidFill>
          </p:spPr>
          <p:txBody>
            <a:bodyPr wrap="square" lIns="0" tIns="0" rIns="0" bIns="0" rtlCol="0"/>
            <a:lstStyle/>
            <a:p>
              <a:endParaRPr/>
            </a:p>
          </p:txBody>
        </p:sp>
      </p:grpSp>
      <p:sp>
        <p:nvSpPr>
          <p:cNvPr id="43" name="object 43"/>
          <p:cNvSpPr txBox="1"/>
          <p:nvPr/>
        </p:nvSpPr>
        <p:spPr>
          <a:xfrm>
            <a:off x="736663" y="1881078"/>
            <a:ext cx="3517900" cy="777240"/>
          </a:xfrm>
          <a:prstGeom prst="rect">
            <a:avLst/>
          </a:prstGeom>
        </p:spPr>
        <p:txBody>
          <a:bodyPr vert="horz" wrap="square" lIns="0" tIns="12065" rIns="0" bIns="0" rtlCol="0">
            <a:spAutoFit/>
          </a:bodyPr>
          <a:lstStyle/>
          <a:p>
            <a:pPr marL="12700">
              <a:lnSpc>
                <a:spcPct val="100000"/>
              </a:lnSpc>
              <a:spcBef>
                <a:spcPts val="95"/>
              </a:spcBef>
            </a:pPr>
            <a:r>
              <a:rPr sz="1000" spc="-40" dirty="0">
                <a:latin typeface="Tahoma"/>
                <a:cs typeface="Tahoma"/>
              </a:rPr>
              <a:t>Here</a:t>
            </a:r>
            <a:r>
              <a:rPr sz="1000" spc="10" dirty="0">
                <a:latin typeface="Tahoma"/>
                <a:cs typeface="Tahoma"/>
              </a:rPr>
              <a:t> </a:t>
            </a:r>
            <a:r>
              <a:rPr sz="1000" spc="-45" dirty="0">
                <a:latin typeface="Tahoma"/>
                <a:cs typeface="Tahoma"/>
              </a:rPr>
              <a:t>and</a:t>
            </a:r>
            <a:r>
              <a:rPr sz="1000" spc="20" dirty="0">
                <a:latin typeface="Tahoma"/>
                <a:cs typeface="Tahoma"/>
              </a:rPr>
              <a:t> </a:t>
            </a:r>
            <a:r>
              <a:rPr sz="1000" spc="-30" dirty="0">
                <a:latin typeface="Tahoma"/>
                <a:cs typeface="Tahoma"/>
              </a:rPr>
              <a:t>further</a:t>
            </a:r>
            <a:r>
              <a:rPr sz="1000" spc="15" dirty="0">
                <a:latin typeface="Tahoma"/>
                <a:cs typeface="Tahoma"/>
              </a:rPr>
              <a:t> </a:t>
            </a:r>
            <a:r>
              <a:rPr sz="1000" spc="-40" dirty="0">
                <a:latin typeface="Tahoma"/>
                <a:cs typeface="Tahoma"/>
              </a:rPr>
              <a:t>sign</a:t>
            </a:r>
            <a:r>
              <a:rPr sz="1000" spc="20" dirty="0">
                <a:latin typeface="Tahoma"/>
                <a:cs typeface="Tahoma"/>
              </a:rPr>
              <a:t> </a:t>
            </a:r>
            <a:r>
              <a:rPr sz="1000" spc="55" dirty="0">
                <a:latin typeface="Lucida Sans Unicode"/>
                <a:cs typeface="Lucida Sans Unicode"/>
              </a:rPr>
              <a:t>⇌</a:t>
            </a:r>
            <a:r>
              <a:rPr sz="1000" spc="15" dirty="0">
                <a:latin typeface="Lucida Sans Unicode"/>
                <a:cs typeface="Lucida Sans Unicode"/>
              </a:rPr>
              <a:t> </a:t>
            </a:r>
            <a:r>
              <a:rPr sz="1000" spc="-10" dirty="0">
                <a:latin typeface="Tahoma"/>
                <a:cs typeface="Tahoma"/>
              </a:rPr>
              <a:t>will</a:t>
            </a:r>
            <a:r>
              <a:rPr sz="1000" spc="10" dirty="0">
                <a:latin typeface="Tahoma"/>
                <a:cs typeface="Tahoma"/>
              </a:rPr>
              <a:t> </a:t>
            </a:r>
            <a:r>
              <a:rPr sz="1000" spc="-50" dirty="0">
                <a:latin typeface="Tahoma"/>
                <a:cs typeface="Tahoma"/>
              </a:rPr>
              <a:t>be</a:t>
            </a:r>
            <a:r>
              <a:rPr sz="1000" spc="15" dirty="0">
                <a:latin typeface="Tahoma"/>
                <a:cs typeface="Tahoma"/>
              </a:rPr>
              <a:t> </a:t>
            </a:r>
            <a:r>
              <a:rPr sz="1000" spc="-50" dirty="0">
                <a:latin typeface="Tahoma"/>
                <a:cs typeface="Tahoma"/>
              </a:rPr>
              <a:t>read</a:t>
            </a:r>
            <a:r>
              <a:rPr sz="1000" spc="20" dirty="0">
                <a:latin typeface="Tahoma"/>
                <a:cs typeface="Tahoma"/>
              </a:rPr>
              <a:t> </a:t>
            </a:r>
            <a:r>
              <a:rPr sz="1000" spc="-60" dirty="0">
                <a:latin typeface="Tahoma"/>
                <a:cs typeface="Tahoma"/>
              </a:rPr>
              <a:t>as</a:t>
            </a:r>
            <a:r>
              <a:rPr sz="1000" spc="15" dirty="0">
                <a:latin typeface="Tahoma"/>
                <a:cs typeface="Tahoma"/>
              </a:rPr>
              <a:t> </a:t>
            </a:r>
            <a:r>
              <a:rPr sz="1000" spc="-20" dirty="0">
                <a:latin typeface="Tahoma"/>
                <a:cs typeface="Tahoma"/>
              </a:rPr>
              <a:t>“equal</a:t>
            </a:r>
            <a:r>
              <a:rPr sz="1000" spc="15" dirty="0">
                <a:latin typeface="Tahoma"/>
                <a:cs typeface="Tahoma"/>
              </a:rPr>
              <a:t> </a:t>
            </a:r>
            <a:r>
              <a:rPr sz="1000" spc="-55" dirty="0">
                <a:latin typeface="Tahoma"/>
                <a:cs typeface="Tahoma"/>
              </a:rPr>
              <a:t>by</a:t>
            </a:r>
            <a:r>
              <a:rPr sz="1000" spc="10" dirty="0">
                <a:latin typeface="Tahoma"/>
                <a:cs typeface="Tahoma"/>
              </a:rPr>
              <a:t> </a:t>
            </a:r>
            <a:r>
              <a:rPr sz="1000" spc="-15" dirty="0">
                <a:latin typeface="Tahoma"/>
                <a:cs typeface="Tahoma"/>
              </a:rPr>
              <a:t>definition”.</a:t>
            </a:r>
            <a:endParaRPr sz="1000">
              <a:latin typeface="Tahoma"/>
              <a:cs typeface="Tahoma"/>
            </a:endParaRPr>
          </a:p>
          <a:p>
            <a:pPr>
              <a:lnSpc>
                <a:spcPct val="100000"/>
              </a:lnSpc>
              <a:spcBef>
                <a:spcPts val="35"/>
              </a:spcBef>
            </a:pPr>
            <a:endParaRPr sz="1900">
              <a:latin typeface="Tahoma"/>
              <a:cs typeface="Tahoma"/>
            </a:endParaRPr>
          </a:p>
          <a:p>
            <a:pPr marL="12700">
              <a:lnSpc>
                <a:spcPts val="1200"/>
              </a:lnSpc>
              <a:tabLst>
                <a:tab pos="2728595" algn="l"/>
              </a:tabLst>
            </a:pPr>
            <a:r>
              <a:rPr sz="1000" spc="15" dirty="0">
                <a:latin typeface="Tahoma"/>
                <a:cs typeface="Tahoma"/>
              </a:rPr>
              <a:t>By</a:t>
            </a:r>
            <a:r>
              <a:rPr sz="1000" spc="20" dirty="0">
                <a:latin typeface="Tahoma"/>
                <a:cs typeface="Tahoma"/>
              </a:rPr>
              <a:t> </a:t>
            </a:r>
            <a:r>
              <a:rPr sz="1000" spc="-25" dirty="0">
                <a:latin typeface="Tahoma"/>
                <a:cs typeface="Tahoma"/>
              </a:rPr>
              <a:t>definition</a:t>
            </a:r>
            <a:r>
              <a:rPr sz="1000" spc="20" dirty="0">
                <a:latin typeface="Tahoma"/>
                <a:cs typeface="Tahoma"/>
              </a:rPr>
              <a:t> </a:t>
            </a:r>
            <a:r>
              <a:rPr sz="1000" spc="5" dirty="0">
                <a:latin typeface="Tahoma"/>
                <a:cs typeface="Tahoma"/>
              </a:rPr>
              <a:t>it’s</a:t>
            </a:r>
            <a:r>
              <a:rPr sz="1000" spc="20" dirty="0">
                <a:latin typeface="Tahoma"/>
                <a:cs typeface="Tahoma"/>
              </a:rPr>
              <a:t> </a:t>
            </a:r>
            <a:r>
              <a:rPr sz="1000" spc="-35" dirty="0">
                <a:latin typeface="Tahoma"/>
                <a:cs typeface="Tahoma"/>
              </a:rPr>
              <a:t>cle</a:t>
            </a:r>
            <a:r>
              <a:rPr sz="1000" spc="-75" dirty="0">
                <a:latin typeface="Tahoma"/>
                <a:cs typeface="Tahoma"/>
              </a:rPr>
              <a:t>a</a:t>
            </a:r>
            <a:r>
              <a:rPr sz="1000" spc="-25" dirty="0">
                <a:latin typeface="Tahoma"/>
                <a:cs typeface="Tahoma"/>
              </a:rPr>
              <a:t>r,</a:t>
            </a:r>
            <a:r>
              <a:rPr sz="1000" spc="20" dirty="0">
                <a:latin typeface="Tahoma"/>
                <a:cs typeface="Tahoma"/>
              </a:rPr>
              <a:t> </a:t>
            </a:r>
            <a:r>
              <a:rPr sz="1000" spc="-10" dirty="0">
                <a:latin typeface="Tahoma"/>
                <a:cs typeface="Tahoma"/>
              </a:rPr>
              <a:t>t</a:t>
            </a:r>
            <a:r>
              <a:rPr sz="1000" spc="-20" dirty="0">
                <a:latin typeface="Tahoma"/>
                <a:cs typeface="Tahoma"/>
              </a:rPr>
              <a:t>h</a:t>
            </a:r>
            <a:r>
              <a:rPr sz="1000" spc="-15" dirty="0">
                <a:latin typeface="Tahoma"/>
                <a:cs typeface="Tahoma"/>
              </a:rPr>
              <a:t>at</a:t>
            </a:r>
            <a:r>
              <a:rPr sz="1000" spc="20" dirty="0">
                <a:latin typeface="Tahoma"/>
                <a:cs typeface="Tahoma"/>
              </a:rPr>
              <a:t> </a:t>
            </a:r>
            <a:r>
              <a:rPr sz="1000" spc="-5" dirty="0">
                <a:latin typeface="Tahoma"/>
                <a:cs typeface="Tahoma"/>
              </a:rPr>
              <a:t>if</a:t>
            </a:r>
            <a:r>
              <a:rPr sz="1000" spc="15" dirty="0">
                <a:latin typeface="Tahoma"/>
                <a:cs typeface="Tahoma"/>
              </a:rPr>
              <a:t> </a:t>
            </a:r>
            <a:r>
              <a:rPr sz="1000" i="1" spc="-80" dirty="0">
                <a:latin typeface="Arial"/>
                <a:cs typeface="Arial"/>
              </a:rPr>
              <a:t>a</a:t>
            </a:r>
            <a:r>
              <a:rPr sz="1000" i="1" spc="5" dirty="0">
                <a:latin typeface="Arial"/>
                <a:cs typeface="Arial"/>
              </a:rPr>
              <a:t> </a:t>
            </a:r>
            <a:r>
              <a:rPr sz="1000" dirty="0">
                <a:latin typeface="Lucida Sans Unicode"/>
                <a:cs typeface="Lucida Sans Unicode"/>
              </a:rPr>
              <a:t≯</a:t>
            </a:r>
            <a:r>
              <a:rPr sz="1000" spc="45" dirty="0">
                <a:latin typeface="Tahoma"/>
                <a:cs typeface="Tahoma"/>
              </a:rPr>
              <a:t>=</a:t>
            </a:r>
            <a:r>
              <a:rPr sz="1000" spc="-35" dirty="0">
                <a:latin typeface="Tahoma"/>
                <a:cs typeface="Tahoma"/>
              </a:rPr>
              <a:t> </a:t>
            </a:r>
            <a:r>
              <a:rPr sz="1000" i="1" spc="-15" dirty="0">
                <a:latin typeface="Arial"/>
                <a:cs typeface="Arial"/>
              </a:rPr>
              <a:t>b</a:t>
            </a:r>
            <a:r>
              <a:rPr sz="1000" spc="-30" dirty="0">
                <a:latin typeface="Tahoma"/>
                <a:cs typeface="Tahoma"/>
              </a:rPr>
              <a:t>,</a:t>
            </a:r>
            <a:r>
              <a:rPr sz="1000" spc="20" dirty="0">
                <a:latin typeface="Tahoma"/>
                <a:cs typeface="Tahoma"/>
              </a:rPr>
              <a:t> </a:t>
            </a:r>
            <a:r>
              <a:rPr sz="1000" spc="-40" dirty="0">
                <a:latin typeface="Tahoma"/>
                <a:cs typeface="Tahoma"/>
              </a:rPr>
              <a:t>then</a:t>
            </a:r>
            <a:r>
              <a:rPr sz="1000" spc="20" dirty="0">
                <a:latin typeface="Tahoma"/>
                <a:cs typeface="Tahoma"/>
              </a:rPr>
              <a:t> </a:t>
            </a: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dirty="0">
                <a:latin typeface="Tahoma"/>
                <a:cs typeface="Tahoma"/>
              </a:rPr>
              <a:t>)</a:t>
            </a:r>
            <a:r>
              <a:rPr sz="1000" spc="-35" dirty="0">
                <a:latin typeface="Tahoma"/>
                <a:cs typeface="Tahoma"/>
              </a:rPr>
              <a:t> </a:t>
            </a:r>
            <a:r>
              <a:rPr sz="1000" spc="-730" dirty="0">
                <a:latin typeface="Tahoma"/>
                <a:cs typeface="Tahoma"/>
              </a:rPr>
              <a:t>=</a:t>
            </a:r>
            <a:r>
              <a:rPr sz="1000" dirty="0">
                <a:latin typeface="Lucida Sans Unicode"/>
                <a:cs typeface="Lucida Sans Unicode"/>
              </a:rPr>
              <a:t≯	</a:t>
            </a:r>
            <a:r>
              <a:rPr sz="1000" dirty="0">
                <a:latin typeface="Tahoma"/>
                <a:cs typeface="Tahoma"/>
              </a:rPr>
              <a:t>(</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70" dirty="0">
                <a:latin typeface="Arial"/>
                <a:cs typeface="Arial"/>
              </a:rPr>
              <a:t>a</a:t>
            </a:r>
            <a:r>
              <a:rPr sz="1000" spc="-15" dirty="0">
                <a:latin typeface="Tahoma"/>
                <a:cs typeface="Tahoma"/>
              </a:rPr>
              <a:t>),</a:t>
            </a:r>
            <a:r>
              <a:rPr sz="1000" spc="20" dirty="0">
                <a:latin typeface="Tahoma"/>
                <a:cs typeface="Tahoma"/>
              </a:rPr>
              <a:t> </a:t>
            </a:r>
            <a:r>
              <a:rPr sz="1000" spc="-15" dirty="0">
                <a:latin typeface="Tahoma"/>
                <a:cs typeface="Tahoma"/>
              </a:rPr>
              <a:t>b</a:t>
            </a:r>
            <a:r>
              <a:rPr sz="1000" spc="-60" dirty="0">
                <a:latin typeface="Tahoma"/>
                <a:cs typeface="Tahoma"/>
              </a:rPr>
              <a:t>ecause</a:t>
            </a:r>
            <a:endParaRPr sz="1000">
              <a:latin typeface="Tahoma"/>
              <a:cs typeface="Tahoma"/>
            </a:endParaRPr>
          </a:p>
          <a:p>
            <a:pPr marL="12700">
              <a:lnSpc>
                <a:spcPts val="1200"/>
              </a:lnSpc>
              <a:tabLst>
                <a:tab pos="866140" algn="l"/>
              </a:tabLst>
            </a:pPr>
            <a:r>
              <a:rPr sz="1000" spc="170" dirty="0">
                <a:latin typeface="Lucida Sans Unicode"/>
                <a:cs typeface="Lucida Sans Unicode"/>
              </a:rPr>
              <a:t>{{</a:t>
            </a:r>
            <a:r>
              <a:rPr sz="1000" i="1" spc="-70" dirty="0">
                <a:latin typeface="Arial"/>
                <a:cs typeface="Arial"/>
              </a:rPr>
              <a:t>a</a:t>
            </a:r>
            <a:r>
              <a:rPr sz="1000" spc="170" dirty="0">
                <a:latin typeface="Lucida Sans Unicode"/>
                <a:cs typeface="Lucida Sans Unicode"/>
              </a:rPr>
              <a:t>}</a:t>
            </a:r>
            <a:r>
              <a:rPr sz="1000" i="1" spc="-90" dirty="0">
                <a:latin typeface="Verdana"/>
                <a:cs typeface="Verdana"/>
              </a:rPr>
              <a:t>,</a:t>
            </a:r>
            <a:r>
              <a:rPr sz="1000" i="1" spc="-185" dirty="0">
                <a:latin typeface="Verdana"/>
                <a:cs typeface="Verdan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spc="170" dirty="0">
                <a:latin typeface="Lucida Sans Unicode"/>
                <a:cs typeface="Lucida Sans Unicode"/>
              </a:rPr>
              <a:t>}}</a:t>
            </a:r>
            <a:r>
              <a:rPr sz="1000" spc="-40" dirty="0">
                <a:latin typeface="Lucida Sans Unicode"/>
                <a:cs typeface="Lucida Sans Unicode"/>
              </a:rPr>
              <a:t> </a:t>
            </a:r>
            <a:r>
              <a:rPr sz="1000" spc="-730" dirty="0">
                <a:latin typeface="Tahoma"/>
                <a:cs typeface="Tahoma"/>
              </a:rPr>
              <a:t>=</a:t>
            </a:r>
            <a:r>
              <a:rPr sz="1000" dirty="0">
                <a:latin typeface="Lucida Sans Unicode"/>
                <a:cs typeface="Lucida Sans Unicode"/>
              </a:rPr>
              <a:t≯	</a:t>
            </a:r>
            <a:r>
              <a:rPr sz="1000" spc="170" dirty="0">
                <a:latin typeface="Lucida Sans Unicode"/>
                <a:cs typeface="Lucida Sans Unicode"/>
              </a:rPr>
              <a:t>{</a:t>
            </a:r>
            <a:r>
              <a:rPr sz="1000" spc="165" dirty="0">
                <a:latin typeface="Lucida Sans Unicode"/>
                <a:cs typeface="Lucida Sans Unicode"/>
              </a:rPr>
              <a:t>{</a:t>
            </a:r>
            <a:r>
              <a:rPr sz="1000" i="1" spc="-15" dirty="0">
                <a:latin typeface="Arial"/>
                <a:cs typeface="Arial"/>
              </a:rPr>
              <a:t>b</a:t>
            </a:r>
            <a:r>
              <a:rPr sz="1000" spc="170" dirty="0">
                <a:latin typeface="Lucida Sans Unicode"/>
                <a:cs typeface="Lucida Sans Unicode"/>
              </a:rPr>
              <a:t>}</a:t>
            </a:r>
            <a:r>
              <a:rPr sz="1000" i="1" spc="-90" dirty="0">
                <a:latin typeface="Verdana"/>
                <a:cs typeface="Verdana"/>
              </a:rPr>
              <a:t>,</a:t>
            </a:r>
            <a:r>
              <a:rPr sz="1000" i="1" spc="-185" dirty="0">
                <a:latin typeface="Verdana"/>
                <a:cs typeface="Verdan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spc="170" dirty="0">
                <a:latin typeface="Lucida Sans Unicode"/>
                <a:cs typeface="Lucida Sans Unicode"/>
              </a:rPr>
              <a:t>}</a:t>
            </a:r>
            <a:r>
              <a:rPr sz="1000" spc="165" dirty="0">
                <a:latin typeface="Lucida Sans Unicode"/>
                <a:cs typeface="Lucida Sans Unicode"/>
              </a:rPr>
              <a:t>}</a:t>
            </a:r>
            <a:r>
              <a:rPr sz="1000" spc="-30" dirty="0">
                <a:latin typeface="Tahoma"/>
                <a:cs typeface="Tahoma"/>
              </a:rPr>
              <a:t>.</a:t>
            </a:r>
            <a:endParaRPr sz="1000">
              <a:latin typeface="Tahoma"/>
              <a:cs typeface="Tahoma"/>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1181735" cy="244475"/>
          </a:xfrm>
          <a:prstGeom prst="rect">
            <a:avLst/>
          </a:prstGeom>
        </p:spPr>
        <p:txBody>
          <a:bodyPr vert="horz" wrap="square" lIns="0" tIns="17145" rIns="0" bIns="0" rtlCol="0">
            <a:spAutoFit/>
          </a:bodyPr>
          <a:lstStyle/>
          <a:p>
            <a:pPr marL="12700">
              <a:lnSpc>
                <a:spcPct val="100000"/>
              </a:lnSpc>
              <a:spcBef>
                <a:spcPts val="135"/>
              </a:spcBef>
            </a:pPr>
            <a:r>
              <a:rPr spc="-25" dirty="0"/>
              <a:t>Ordered</a:t>
            </a:r>
            <a:r>
              <a:rPr spc="65" dirty="0"/>
              <a:t> </a:t>
            </a:r>
            <a:r>
              <a:rPr spc="-15" dirty="0"/>
              <a:t>tuple</a:t>
            </a:r>
          </a:p>
        </p:txBody>
      </p:sp>
      <p:sp>
        <p:nvSpPr>
          <p:cNvPr id="29" name="object 29"/>
          <p:cNvSpPr txBox="1"/>
          <p:nvPr/>
        </p:nvSpPr>
        <p:spPr>
          <a:xfrm>
            <a:off x="736663" y="1361127"/>
            <a:ext cx="3703320" cy="633095"/>
          </a:xfrm>
          <a:prstGeom prst="rect">
            <a:avLst/>
          </a:prstGeom>
        </p:spPr>
        <p:txBody>
          <a:bodyPr vert="horz" wrap="square" lIns="0" tIns="12065" rIns="0" bIns="0" rtlCol="0">
            <a:spAutoFit/>
          </a:bodyPr>
          <a:lstStyle/>
          <a:p>
            <a:pPr marL="12700" marR="5080">
              <a:lnSpc>
                <a:spcPct val="100000"/>
              </a:lnSpc>
              <a:spcBef>
                <a:spcPts val="95"/>
              </a:spcBef>
            </a:pPr>
            <a:r>
              <a:rPr sz="1000" spc="-25" dirty="0">
                <a:latin typeface="Tahoma"/>
                <a:cs typeface="Tahoma"/>
              </a:rPr>
              <a:t>Further</a:t>
            </a:r>
            <a:r>
              <a:rPr sz="1000" spc="20" dirty="0">
                <a:latin typeface="Tahoma"/>
                <a:cs typeface="Tahoma"/>
              </a:rPr>
              <a:t> </a:t>
            </a:r>
            <a:r>
              <a:rPr sz="1000" spc="-90" dirty="0">
                <a:latin typeface="Tahoma"/>
                <a:cs typeface="Tahoma"/>
              </a:rPr>
              <a:t>we</a:t>
            </a:r>
            <a:r>
              <a:rPr sz="1000" spc="15" dirty="0">
                <a:latin typeface="Tahoma"/>
                <a:cs typeface="Tahoma"/>
              </a:rPr>
              <a:t> </a:t>
            </a:r>
            <a:r>
              <a:rPr sz="1000" spc="-65" dirty="0">
                <a:latin typeface="Tahoma"/>
                <a:cs typeface="Tahoma"/>
              </a:rPr>
              <a:t>need</a:t>
            </a:r>
            <a:r>
              <a:rPr sz="1000" spc="20" dirty="0">
                <a:latin typeface="Tahoma"/>
                <a:cs typeface="Tahoma"/>
              </a:rPr>
              <a:t> </a:t>
            </a:r>
            <a:r>
              <a:rPr sz="1000" spc="-10" dirty="0">
                <a:latin typeface="Tahoma"/>
                <a:cs typeface="Tahoma"/>
              </a:rPr>
              <a:t>to</a:t>
            </a:r>
            <a:r>
              <a:rPr sz="1000" spc="15" dirty="0">
                <a:latin typeface="Tahoma"/>
                <a:cs typeface="Tahoma"/>
              </a:rPr>
              <a:t> </a:t>
            </a:r>
            <a:r>
              <a:rPr sz="1000" spc="-45" dirty="0">
                <a:latin typeface="Tahoma"/>
                <a:cs typeface="Tahoma"/>
              </a:rPr>
              <a:t>define</a:t>
            </a:r>
            <a:r>
              <a:rPr sz="1000" spc="20" dirty="0">
                <a:latin typeface="Tahoma"/>
                <a:cs typeface="Tahoma"/>
              </a:rPr>
              <a:t> </a:t>
            </a:r>
            <a:r>
              <a:rPr sz="1000" spc="-25" dirty="0">
                <a:latin typeface="Tahoma"/>
                <a:cs typeface="Tahoma"/>
              </a:rPr>
              <a:t>not</a:t>
            </a:r>
            <a:r>
              <a:rPr sz="1000" spc="20" dirty="0">
                <a:latin typeface="Tahoma"/>
                <a:cs typeface="Tahoma"/>
              </a:rPr>
              <a:t> </a:t>
            </a:r>
            <a:r>
              <a:rPr sz="1000" spc="-30" dirty="0">
                <a:latin typeface="Tahoma"/>
                <a:cs typeface="Tahoma"/>
              </a:rPr>
              <a:t>only</a:t>
            </a:r>
            <a:r>
              <a:rPr sz="1000" spc="15" dirty="0">
                <a:latin typeface="Tahoma"/>
                <a:cs typeface="Tahoma"/>
              </a:rPr>
              <a:t> </a:t>
            </a:r>
            <a:r>
              <a:rPr sz="1000" spc="-55" dirty="0">
                <a:latin typeface="Tahoma"/>
                <a:cs typeface="Tahoma"/>
              </a:rPr>
              <a:t>ordered</a:t>
            </a:r>
            <a:r>
              <a:rPr sz="1000" spc="20" dirty="0">
                <a:latin typeface="Tahoma"/>
                <a:cs typeface="Tahoma"/>
              </a:rPr>
              <a:t> </a:t>
            </a:r>
            <a:r>
              <a:rPr sz="1000" spc="-25" dirty="0">
                <a:latin typeface="Tahoma"/>
                <a:cs typeface="Tahoma"/>
              </a:rPr>
              <a:t>pair,</a:t>
            </a:r>
            <a:r>
              <a:rPr sz="1000" spc="20" dirty="0">
                <a:latin typeface="Tahoma"/>
                <a:cs typeface="Tahoma"/>
              </a:rPr>
              <a:t> </a:t>
            </a:r>
            <a:r>
              <a:rPr sz="1000" spc="-20" dirty="0">
                <a:latin typeface="Tahoma"/>
                <a:cs typeface="Tahoma"/>
              </a:rPr>
              <a:t>but</a:t>
            </a:r>
            <a:r>
              <a:rPr sz="1000" spc="20" dirty="0">
                <a:latin typeface="Tahoma"/>
                <a:cs typeface="Tahoma"/>
              </a:rPr>
              <a:t> </a:t>
            </a:r>
            <a:r>
              <a:rPr sz="1000" spc="-40" dirty="0">
                <a:latin typeface="Tahoma"/>
                <a:cs typeface="Tahoma"/>
              </a:rPr>
              <a:t>also</a:t>
            </a:r>
            <a:r>
              <a:rPr sz="1000" spc="15" dirty="0">
                <a:latin typeface="Tahoma"/>
                <a:cs typeface="Tahoma"/>
              </a:rPr>
              <a:t> </a:t>
            </a:r>
            <a:r>
              <a:rPr sz="1000" spc="-55" dirty="0">
                <a:latin typeface="Tahoma"/>
                <a:cs typeface="Tahoma"/>
              </a:rPr>
              <a:t>ordered </a:t>
            </a:r>
            <a:r>
              <a:rPr sz="1000" spc="-50" dirty="0">
                <a:latin typeface="Tahoma"/>
                <a:cs typeface="Tahoma"/>
              </a:rPr>
              <a:t> </a:t>
            </a:r>
            <a:r>
              <a:rPr sz="1000" spc="-20" dirty="0">
                <a:latin typeface="Tahoma"/>
                <a:cs typeface="Tahoma"/>
              </a:rPr>
              <a:t>triple,</a:t>
            </a:r>
            <a:r>
              <a:rPr sz="1000" spc="15" dirty="0">
                <a:latin typeface="Tahoma"/>
                <a:cs typeface="Tahoma"/>
              </a:rPr>
              <a:t> </a:t>
            </a:r>
            <a:r>
              <a:rPr sz="1000" spc="-55" dirty="0">
                <a:latin typeface="Tahoma"/>
                <a:cs typeface="Tahoma"/>
              </a:rPr>
              <a:t>ordered</a:t>
            </a:r>
            <a:r>
              <a:rPr sz="1000" spc="20" dirty="0">
                <a:latin typeface="Tahoma"/>
                <a:cs typeface="Tahoma"/>
              </a:rPr>
              <a:t> </a:t>
            </a:r>
            <a:r>
              <a:rPr sz="1000" spc="-40" dirty="0">
                <a:latin typeface="Tahoma"/>
                <a:cs typeface="Tahoma"/>
              </a:rPr>
              <a:t>quadruple</a:t>
            </a:r>
            <a:r>
              <a:rPr sz="1000" spc="20" dirty="0">
                <a:latin typeface="Tahoma"/>
                <a:cs typeface="Tahoma"/>
              </a:rPr>
              <a:t> </a:t>
            </a:r>
            <a:r>
              <a:rPr sz="1000" spc="-45" dirty="0">
                <a:latin typeface="Tahoma"/>
                <a:cs typeface="Tahoma"/>
              </a:rPr>
              <a:t>and</a:t>
            </a:r>
            <a:r>
              <a:rPr sz="1000" spc="20" dirty="0">
                <a:latin typeface="Tahoma"/>
                <a:cs typeface="Tahoma"/>
              </a:rPr>
              <a:t> </a:t>
            </a:r>
            <a:r>
              <a:rPr sz="1000" spc="-55" dirty="0">
                <a:latin typeface="Tahoma"/>
                <a:cs typeface="Tahoma"/>
              </a:rPr>
              <a:t>so</a:t>
            </a:r>
            <a:r>
              <a:rPr sz="1000" spc="20" dirty="0">
                <a:latin typeface="Tahoma"/>
                <a:cs typeface="Tahoma"/>
              </a:rPr>
              <a:t> </a:t>
            </a:r>
            <a:r>
              <a:rPr sz="1000" spc="-40" dirty="0">
                <a:latin typeface="Tahoma"/>
                <a:cs typeface="Tahoma"/>
              </a:rPr>
              <a:t>on,</a:t>
            </a:r>
            <a:r>
              <a:rPr sz="1000" spc="15" dirty="0">
                <a:latin typeface="Tahoma"/>
                <a:cs typeface="Tahoma"/>
              </a:rPr>
              <a:t> </a:t>
            </a:r>
            <a:r>
              <a:rPr sz="1000" spc="-35" dirty="0">
                <a:latin typeface="Tahoma"/>
                <a:cs typeface="Tahoma"/>
              </a:rPr>
              <a:t>i.e.</a:t>
            </a:r>
            <a:r>
              <a:rPr sz="1000" spc="130" dirty="0">
                <a:latin typeface="Tahoma"/>
                <a:cs typeface="Tahoma"/>
              </a:rPr>
              <a:t> </a:t>
            </a:r>
            <a:r>
              <a:rPr sz="1000" spc="-55" dirty="0">
                <a:latin typeface="Tahoma"/>
                <a:cs typeface="Tahoma"/>
              </a:rPr>
              <a:t>ordered</a:t>
            </a:r>
            <a:r>
              <a:rPr sz="1000" spc="25" dirty="0">
                <a:latin typeface="Tahoma"/>
                <a:cs typeface="Tahoma"/>
              </a:rPr>
              <a:t> </a:t>
            </a:r>
            <a:r>
              <a:rPr sz="1000" spc="-25" dirty="0">
                <a:latin typeface="Tahoma"/>
                <a:cs typeface="Tahoma"/>
              </a:rPr>
              <a:t>collection</a:t>
            </a:r>
            <a:r>
              <a:rPr sz="1000" spc="15" dirty="0">
                <a:latin typeface="Tahoma"/>
                <a:cs typeface="Tahoma"/>
              </a:rPr>
              <a:t> </a:t>
            </a:r>
            <a:r>
              <a:rPr sz="1000" spc="-30" dirty="0">
                <a:latin typeface="Tahoma"/>
                <a:cs typeface="Tahoma"/>
              </a:rPr>
              <a:t>of</a:t>
            </a:r>
            <a:r>
              <a:rPr sz="1000" spc="20" dirty="0">
                <a:latin typeface="Tahoma"/>
                <a:cs typeface="Tahoma"/>
              </a:rPr>
              <a:t> </a:t>
            </a:r>
            <a:r>
              <a:rPr sz="1000" i="1" spc="-45" dirty="0">
                <a:latin typeface="Arial"/>
                <a:cs typeface="Arial"/>
              </a:rPr>
              <a:t>n </a:t>
            </a:r>
            <a:r>
              <a:rPr sz="1000" i="1" spc="-40" dirty="0">
                <a:latin typeface="Arial"/>
                <a:cs typeface="Arial"/>
              </a:rPr>
              <a:t> </a:t>
            </a:r>
            <a:r>
              <a:rPr sz="1000" spc="-45" dirty="0">
                <a:latin typeface="Tahoma"/>
                <a:cs typeface="Tahoma"/>
              </a:rPr>
              <a:t>elements.</a:t>
            </a:r>
            <a:r>
              <a:rPr sz="1000" spc="135" dirty="0">
                <a:latin typeface="Tahoma"/>
                <a:cs typeface="Tahoma"/>
              </a:rPr>
              <a:t> </a:t>
            </a:r>
            <a:r>
              <a:rPr sz="1000" spc="-40" dirty="0">
                <a:latin typeface="Tahoma"/>
                <a:cs typeface="Tahoma"/>
              </a:rPr>
              <a:t>Ordered</a:t>
            </a:r>
            <a:r>
              <a:rPr sz="1000" spc="20" dirty="0">
                <a:latin typeface="Tahoma"/>
                <a:cs typeface="Tahoma"/>
              </a:rPr>
              <a:t> </a:t>
            </a:r>
            <a:r>
              <a:rPr sz="1000" spc="-25" dirty="0">
                <a:latin typeface="Tahoma"/>
                <a:cs typeface="Tahoma"/>
              </a:rPr>
              <a:t>collection</a:t>
            </a:r>
            <a:r>
              <a:rPr sz="1000" spc="15" dirty="0">
                <a:latin typeface="Tahoma"/>
                <a:cs typeface="Tahoma"/>
              </a:rPr>
              <a:t> </a:t>
            </a:r>
            <a:r>
              <a:rPr sz="1000" spc="-30" dirty="0">
                <a:latin typeface="Tahoma"/>
                <a:cs typeface="Tahoma"/>
              </a:rPr>
              <a:t>of</a:t>
            </a:r>
            <a:r>
              <a:rPr sz="1000" spc="30" dirty="0">
                <a:latin typeface="Tahoma"/>
                <a:cs typeface="Tahoma"/>
              </a:rPr>
              <a:t> </a:t>
            </a:r>
            <a:r>
              <a:rPr sz="1000" i="1" spc="-45" dirty="0">
                <a:latin typeface="Arial"/>
                <a:cs typeface="Arial"/>
              </a:rPr>
              <a:t>n</a:t>
            </a:r>
            <a:r>
              <a:rPr sz="1000" i="1" spc="75" dirty="0">
                <a:latin typeface="Arial"/>
                <a:cs typeface="Arial"/>
              </a:rPr>
              <a:t> </a:t>
            </a:r>
            <a:r>
              <a:rPr sz="1000" spc="-50" dirty="0">
                <a:latin typeface="Tahoma"/>
                <a:cs typeface="Tahoma"/>
              </a:rPr>
              <a:t>elements</a:t>
            </a:r>
            <a:r>
              <a:rPr sz="1000" spc="25" dirty="0">
                <a:latin typeface="Tahoma"/>
                <a:cs typeface="Tahoma"/>
              </a:rPr>
              <a:t> </a:t>
            </a:r>
            <a:r>
              <a:rPr sz="1000" spc="-30" dirty="0">
                <a:latin typeface="Tahoma"/>
                <a:cs typeface="Tahoma"/>
              </a:rPr>
              <a:t>is</a:t>
            </a:r>
            <a:r>
              <a:rPr sz="1000" spc="25" dirty="0">
                <a:latin typeface="Tahoma"/>
                <a:cs typeface="Tahoma"/>
              </a:rPr>
              <a:t> </a:t>
            </a:r>
            <a:r>
              <a:rPr sz="1000" spc="-30" dirty="0">
                <a:latin typeface="Tahoma"/>
                <a:cs typeface="Tahoma"/>
              </a:rPr>
              <a:t>called</a:t>
            </a:r>
            <a:r>
              <a:rPr sz="1000" spc="20" dirty="0">
                <a:latin typeface="Tahoma"/>
                <a:cs typeface="Tahoma"/>
              </a:rPr>
              <a:t> </a:t>
            </a:r>
            <a:r>
              <a:rPr sz="1000" spc="-50" dirty="0">
                <a:latin typeface="Tahoma"/>
                <a:cs typeface="Tahoma"/>
              </a:rPr>
              <a:t>a</a:t>
            </a:r>
            <a:r>
              <a:rPr sz="1000" spc="25" dirty="0">
                <a:latin typeface="Tahoma"/>
                <a:cs typeface="Tahoma"/>
              </a:rPr>
              <a:t> </a:t>
            </a:r>
            <a:r>
              <a:rPr sz="1000" b="1" spc="-25" dirty="0">
                <a:latin typeface="Arial"/>
                <a:cs typeface="Arial"/>
              </a:rPr>
              <a:t>tuple</a:t>
            </a:r>
            <a:r>
              <a:rPr sz="1000" b="1" spc="50" dirty="0">
                <a:latin typeface="Arial"/>
                <a:cs typeface="Arial"/>
              </a:rPr>
              <a:t> </a:t>
            </a:r>
            <a:r>
              <a:rPr sz="1000" spc="-30" dirty="0">
                <a:latin typeface="Tahoma"/>
                <a:cs typeface="Tahoma"/>
              </a:rPr>
              <a:t>of</a:t>
            </a:r>
            <a:r>
              <a:rPr sz="1000" spc="20" dirty="0">
                <a:latin typeface="Tahoma"/>
                <a:cs typeface="Tahoma"/>
              </a:rPr>
              <a:t> </a:t>
            </a:r>
            <a:r>
              <a:rPr sz="1000" spc="-35" dirty="0">
                <a:latin typeface="Tahoma"/>
                <a:cs typeface="Tahoma"/>
              </a:rPr>
              <a:t>length</a:t>
            </a:r>
            <a:endParaRPr sz="1000">
              <a:latin typeface="Tahoma"/>
              <a:cs typeface="Tahoma"/>
            </a:endParaRPr>
          </a:p>
          <a:p>
            <a:pPr marL="12700">
              <a:lnSpc>
                <a:spcPts val="1185"/>
              </a:lnSpc>
            </a:pPr>
            <a:r>
              <a:rPr sz="1000" i="1" spc="-30" dirty="0">
                <a:latin typeface="Arial"/>
                <a:cs typeface="Arial"/>
              </a:rPr>
              <a:t>n</a:t>
            </a:r>
            <a:r>
              <a:rPr sz="1000" spc="-30" dirty="0">
                <a:latin typeface="Tahoma"/>
                <a:cs typeface="Tahoma"/>
              </a:rPr>
              <a:t>.</a:t>
            </a:r>
            <a:r>
              <a:rPr sz="1000" spc="130" dirty="0">
                <a:latin typeface="Tahoma"/>
                <a:cs typeface="Tahoma"/>
              </a:rPr>
              <a:t> </a:t>
            </a:r>
            <a:r>
              <a:rPr sz="1000" spc="-15" dirty="0">
                <a:latin typeface="Tahoma"/>
                <a:cs typeface="Tahoma"/>
              </a:rPr>
              <a:t>The</a:t>
            </a:r>
            <a:r>
              <a:rPr sz="1000" spc="25" dirty="0">
                <a:latin typeface="Tahoma"/>
                <a:cs typeface="Tahoma"/>
              </a:rPr>
              <a:t> </a:t>
            </a:r>
            <a:r>
              <a:rPr sz="1000" spc="-25" dirty="0">
                <a:latin typeface="Tahoma"/>
                <a:cs typeface="Tahoma"/>
              </a:rPr>
              <a:t>definition</a:t>
            </a:r>
            <a:r>
              <a:rPr sz="1000" spc="25" dirty="0">
                <a:latin typeface="Tahoma"/>
                <a:cs typeface="Tahoma"/>
              </a:rPr>
              <a:t> </a:t>
            </a:r>
            <a:r>
              <a:rPr sz="1000" spc="-30" dirty="0">
                <a:latin typeface="Tahoma"/>
                <a:cs typeface="Tahoma"/>
              </a:rPr>
              <a:t>of</a:t>
            </a:r>
            <a:r>
              <a:rPr sz="1000" spc="20" dirty="0">
                <a:latin typeface="Tahoma"/>
                <a:cs typeface="Tahoma"/>
              </a:rPr>
              <a:t> </a:t>
            </a:r>
            <a:r>
              <a:rPr sz="1000" spc="-30" dirty="0">
                <a:latin typeface="Tahoma"/>
                <a:cs typeface="Tahoma"/>
              </a:rPr>
              <a:t>tuple</a:t>
            </a:r>
            <a:r>
              <a:rPr sz="1000" spc="20" dirty="0">
                <a:latin typeface="Tahoma"/>
                <a:cs typeface="Tahoma"/>
              </a:rPr>
              <a:t> </a:t>
            </a:r>
            <a:r>
              <a:rPr sz="1000" spc="-30" dirty="0">
                <a:latin typeface="Tahoma"/>
                <a:cs typeface="Tahoma"/>
              </a:rPr>
              <a:t>is</a:t>
            </a:r>
            <a:r>
              <a:rPr sz="1000" spc="25" dirty="0">
                <a:latin typeface="Tahoma"/>
                <a:cs typeface="Tahoma"/>
              </a:rPr>
              <a:t> </a:t>
            </a:r>
            <a:r>
              <a:rPr sz="1000" spc="-55" dirty="0">
                <a:latin typeface="Tahoma"/>
                <a:cs typeface="Tahoma"/>
              </a:rPr>
              <a:t>done</a:t>
            </a:r>
            <a:r>
              <a:rPr sz="1000" spc="25" dirty="0">
                <a:latin typeface="Tahoma"/>
                <a:cs typeface="Tahoma"/>
              </a:rPr>
              <a:t> </a:t>
            </a:r>
            <a:r>
              <a:rPr sz="1000" spc="-55" dirty="0">
                <a:latin typeface="Tahoma"/>
                <a:cs typeface="Tahoma"/>
              </a:rPr>
              <a:t>by</a:t>
            </a:r>
            <a:r>
              <a:rPr sz="1000" spc="20" dirty="0">
                <a:latin typeface="Tahoma"/>
                <a:cs typeface="Tahoma"/>
              </a:rPr>
              <a:t> </a:t>
            </a:r>
            <a:r>
              <a:rPr sz="1000" spc="-30" dirty="0">
                <a:latin typeface="Tahoma"/>
                <a:cs typeface="Tahoma"/>
              </a:rPr>
              <a:t>induction:</a:t>
            </a:r>
            <a:r>
              <a:rPr sz="1000" spc="135" dirty="0">
                <a:latin typeface="Tahoma"/>
                <a:cs typeface="Tahoma"/>
              </a:rPr>
              <a:t> </a:t>
            </a:r>
            <a:r>
              <a:rPr sz="1000" spc="-5" dirty="0">
                <a:latin typeface="Tahoma"/>
                <a:cs typeface="Tahoma"/>
              </a:rPr>
              <a:t>if</a:t>
            </a:r>
            <a:r>
              <a:rPr sz="1000" spc="25" dirty="0">
                <a:latin typeface="Tahoma"/>
                <a:cs typeface="Tahoma"/>
              </a:rPr>
              <a:t> </a:t>
            </a:r>
            <a:r>
              <a:rPr sz="1000" spc="-50" dirty="0">
                <a:latin typeface="Tahoma"/>
                <a:cs typeface="Tahoma"/>
              </a:rPr>
              <a:t>a</a:t>
            </a:r>
            <a:r>
              <a:rPr sz="1000" spc="25" dirty="0">
                <a:latin typeface="Tahoma"/>
                <a:cs typeface="Tahoma"/>
              </a:rPr>
              <a:t> </a:t>
            </a:r>
            <a:r>
              <a:rPr sz="1000" spc="-30" dirty="0">
                <a:latin typeface="Tahoma"/>
                <a:cs typeface="Tahoma"/>
              </a:rPr>
              <a:t>tuple</a:t>
            </a:r>
            <a:r>
              <a:rPr sz="1000" spc="15" dirty="0">
                <a:latin typeface="Tahoma"/>
                <a:cs typeface="Tahoma"/>
              </a:rPr>
              <a:t> </a:t>
            </a:r>
            <a:r>
              <a:rPr sz="1000" spc="-30" dirty="0">
                <a:latin typeface="Tahoma"/>
                <a:cs typeface="Tahoma"/>
              </a:rPr>
              <a:t>of</a:t>
            </a:r>
            <a:r>
              <a:rPr sz="1000" spc="20" dirty="0">
                <a:latin typeface="Tahoma"/>
                <a:cs typeface="Tahoma"/>
              </a:rPr>
              <a:t> </a:t>
            </a:r>
            <a:r>
              <a:rPr sz="1000" spc="-35" dirty="0">
                <a:latin typeface="Tahoma"/>
                <a:cs typeface="Tahoma"/>
              </a:rPr>
              <a:t>length</a:t>
            </a:r>
            <a:endParaRPr sz="1000">
              <a:latin typeface="Tahoma"/>
              <a:cs typeface="Tahoma"/>
            </a:endParaRPr>
          </a:p>
        </p:txBody>
      </p:sp>
      <p:sp>
        <p:nvSpPr>
          <p:cNvPr id="30" name="object 30"/>
          <p:cNvSpPr txBox="1"/>
          <p:nvPr/>
        </p:nvSpPr>
        <p:spPr>
          <a:xfrm>
            <a:off x="736663" y="1968441"/>
            <a:ext cx="3255010" cy="329565"/>
          </a:xfrm>
          <a:prstGeom prst="rect">
            <a:avLst/>
          </a:prstGeom>
        </p:spPr>
        <p:txBody>
          <a:bodyPr vert="horz" wrap="square" lIns="0" tIns="12065" rIns="0" bIns="0" rtlCol="0">
            <a:spAutoFit/>
          </a:bodyPr>
          <a:lstStyle/>
          <a:p>
            <a:pPr marL="12700" marR="5080">
              <a:lnSpc>
                <a:spcPct val="100000"/>
              </a:lnSpc>
              <a:spcBef>
                <a:spcPts val="95"/>
              </a:spcBef>
            </a:pPr>
            <a:r>
              <a:rPr sz="1000" i="1" spc="-45" dirty="0">
                <a:latin typeface="Arial"/>
                <a:cs typeface="Arial"/>
              </a:rPr>
              <a:t>n</a:t>
            </a:r>
            <a:r>
              <a:rPr sz="1000" i="1" spc="-40" dirty="0">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spc="-50" dirty="0">
                <a:latin typeface="Tahoma"/>
                <a:cs typeface="Tahoma"/>
              </a:rPr>
              <a:t>1</a:t>
            </a:r>
            <a:r>
              <a:rPr sz="1000" spc="15" dirty="0">
                <a:latin typeface="Tahoma"/>
                <a:cs typeface="Tahoma"/>
              </a:rPr>
              <a:t> </a:t>
            </a:r>
            <a:r>
              <a:rPr sz="1000" spc="-30" dirty="0">
                <a:latin typeface="Tahoma"/>
                <a:cs typeface="Tahoma"/>
              </a:rPr>
              <a:t>is</a:t>
            </a:r>
            <a:r>
              <a:rPr sz="1000" spc="20" dirty="0">
                <a:latin typeface="Tahoma"/>
                <a:cs typeface="Tahoma"/>
              </a:rPr>
              <a:t> </a:t>
            </a:r>
            <a:r>
              <a:rPr sz="1000" spc="-40" dirty="0">
                <a:latin typeface="Tahoma"/>
                <a:cs typeface="Tahoma"/>
              </a:rPr>
              <a:t>already</a:t>
            </a:r>
            <a:r>
              <a:rPr sz="1000" spc="20" dirty="0">
                <a:latin typeface="Tahoma"/>
                <a:cs typeface="Tahoma"/>
              </a:rPr>
              <a:t> </a:t>
            </a:r>
            <a:r>
              <a:rPr sz="1000" spc="-45" dirty="0">
                <a:latin typeface="Tahoma"/>
                <a:cs typeface="Tahoma"/>
              </a:rPr>
              <a:t>defined,</a:t>
            </a:r>
            <a:r>
              <a:rPr sz="1000" spc="20" dirty="0">
                <a:latin typeface="Tahoma"/>
                <a:cs typeface="Tahoma"/>
              </a:rPr>
              <a:t> </a:t>
            </a:r>
            <a:r>
              <a:rPr sz="1000" spc="-90" dirty="0">
                <a:latin typeface="Tahoma"/>
                <a:cs typeface="Tahoma"/>
              </a:rPr>
              <a:t>we</a:t>
            </a:r>
            <a:r>
              <a:rPr sz="1000" spc="15" dirty="0">
                <a:latin typeface="Tahoma"/>
                <a:cs typeface="Tahoma"/>
              </a:rPr>
              <a:t> </a:t>
            </a:r>
            <a:r>
              <a:rPr sz="1000" spc="-40" dirty="0">
                <a:latin typeface="Tahoma"/>
                <a:cs typeface="Tahoma"/>
              </a:rPr>
              <a:t>can</a:t>
            </a:r>
            <a:r>
              <a:rPr sz="1000" spc="20" dirty="0">
                <a:latin typeface="Tahoma"/>
                <a:cs typeface="Tahoma"/>
              </a:rPr>
              <a:t> </a:t>
            </a:r>
            <a:r>
              <a:rPr sz="1000" spc="-45" dirty="0">
                <a:latin typeface="Tahoma"/>
                <a:cs typeface="Tahoma"/>
              </a:rPr>
              <a:t>define</a:t>
            </a:r>
            <a:r>
              <a:rPr sz="1000" spc="20" dirty="0">
                <a:latin typeface="Tahoma"/>
                <a:cs typeface="Tahoma"/>
              </a:rPr>
              <a:t> </a:t>
            </a:r>
            <a:r>
              <a:rPr sz="1000" spc="-50" dirty="0">
                <a:latin typeface="Tahoma"/>
                <a:cs typeface="Tahoma"/>
              </a:rPr>
              <a:t>a</a:t>
            </a:r>
            <a:r>
              <a:rPr sz="1000" spc="15" dirty="0">
                <a:latin typeface="Tahoma"/>
                <a:cs typeface="Tahoma"/>
              </a:rPr>
              <a:t> </a:t>
            </a:r>
            <a:r>
              <a:rPr sz="1000" spc="-30" dirty="0">
                <a:latin typeface="Tahoma"/>
                <a:cs typeface="Tahoma"/>
              </a:rPr>
              <a:t>tuple</a:t>
            </a:r>
            <a:r>
              <a:rPr sz="1000" spc="15" dirty="0">
                <a:latin typeface="Tahoma"/>
                <a:cs typeface="Tahoma"/>
              </a:rPr>
              <a:t> </a:t>
            </a:r>
            <a:r>
              <a:rPr sz="1000" spc="-30" dirty="0">
                <a:latin typeface="Tahoma"/>
                <a:cs typeface="Tahoma"/>
              </a:rPr>
              <a:t>of</a:t>
            </a:r>
            <a:r>
              <a:rPr sz="1000" spc="20" dirty="0">
                <a:latin typeface="Tahoma"/>
                <a:cs typeface="Tahoma"/>
              </a:rPr>
              <a:t> </a:t>
            </a:r>
            <a:r>
              <a:rPr sz="1000" spc="-35" dirty="0">
                <a:latin typeface="Tahoma"/>
                <a:cs typeface="Tahoma"/>
              </a:rPr>
              <a:t>length</a:t>
            </a:r>
            <a:r>
              <a:rPr sz="1000" spc="15" dirty="0">
                <a:latin typeface="Tahoma"/>
                <a:cs typeface="Tahoma"/>
              </a:rPr>
              <a:t> </a:t>
            </a:r>
            <a:r>
              <a:rPr sz="1000" i="1" spc="-45" dirty="0">
                <a:latin typeface="Arial"/>
                <a:cs typeface="Arial"/>
              </a:rPr>
              <a:t>n</a:t>
            </a:r>
            <a:r>
              <a:rPr sz="1000" i="1" spc="70" dirty="0">
                <a:latin typeface="Arial"/>
                <a:cs typeface="Arial"/>
              </a:rPr>
              <a:t> </a:t>
            </a:r>
            <a:r>
              <a:rPr sz="1000" spc="-55" dirty="0">
                <a:latin typeface="Tahoma"/>
                <a:cs typeface="Tahoma"/>
              </a:rPr>
              <a:t>by </a:t>
            </a:r>
            <a:r>
              <a:rPr sz="1000" spc="-295" dirty="0">
                <a:latin typeface="Tahoma"/>
                <a:cs typeface="Tahoma"/>
              </a:rPr>
              <a:t> </a:t>
            </a:r>
            <a:r>
              <a:rPr sz="1000" spc="-30" dirty="0">
                <a:latin typeface="Tahoma"/>
                <a:cs typeface="Tahoma"/>
              </a:rPr>
              <a:t>operation</a:t>
            </a:r>
            <a:r>
              <a:rPr sz="1000" spc="10" dirty="0">
                <a:latin typeface="Tahoma"/>
                <a:cs typeface="Tahoma"/>
              </a:rPr>
              <a:t> </a:t>
            </a:r>
            <a:r>
              <a:rPr sz="1000" spc="-30" dirty="0">
                <a:latin typeface="Tahoma"/>
                <a:cs typeface="Tahoma"/>
              </a:rPr>
              <a:t>of</a:t>
            </a:r>
            <a:r>
              <a:rPr sz="1000" spc="15" dirty="0">
                <a:latin typeface="Tahoma"/>
                <a:cs typeface="Tahoma"/>
              </a:rPr>
              <a:t> </a:t>
            </a:r>
            <a:r>
              <a:rPr sz="1000" spc="-30" dirty="0">
                <a:latin typeface="Tahoma"/>
                <a:cs typeface="Tahoma"/>
              </a:rPr>
              <a:t>creating</a:t>
            </a:r>
            <a:r>
              <a:rPr sz="1000" spc="20" dirty="0">
                <a:latin typeface="Tahoma"/>
                <a:cs typeface="Tahoma"/>
              </a:rPr>
              <a:t> </a:t>
            </a:r>
            <a:r>
              <a:rPr sz="1000" spc="-30" dirty="0">
                <a:latin typeface="Tahoma"/>
                <a:cs typeface="Tahoma"/>
              </a:rPr>
              <a:t>of</a:t>
            </a:r>
            <a:r>
              <a:rPr sz="1000" spc="10" dirty="0">
                <a:latin typeface="Tahoma"/>
                <a:cs typeface="Tahoma"/>
              </a:rPr>
              <a:t> </a:t>
            </a:r>
            <a:r>
              <a:rPr sz="1000" spc="-50" dirty="0">
                <a:latin typeface="Tahoma"/>
                <a:cs typeface="Tahoma"/>
              </a:rPr>
              <a:t>an</a:t>
            </a:r>
            <a:r>
              <a:rPr sz="1000" spc="15" dirty="0">
                <a:latin typeface="Tahoma"/>
                <a:cs typeface="Tahoma"/>
              </a:rPr>
              <a:t> </a:t>
            </a:r>
            <a:r>
              <a:rPr sz="1000" spc="-55" dirty="0">
                <a:latin typeface="Tahoma"/>
                <a:cs typeface="Tahoma"/>
              </a:rPr>
              <a:t>ordered</a:t>
            </a:r>
            <a:r>
              <a:rPr sz="1000" spc="20" dirty="0">
                <a:latin typeface="Tahoma"/>
                <a:cs typeface="Tahoma"/>
              </a:rPr>
              <a:t> </a:t>
            </a:r>
            <a:r>
              <a:rPr sz="1000" spc="-25" dirty="0">
                <a:latin typeface="Tahoma"/>
                <a:cs typeface="Tahoma"/>
              </a:rPr>
              <a:t>pair.</a:t>
            </a:r>
            <a:endParaRPr sz="1000">
              <a:latin typeface="Tahoma"/>
              <a:cs typeface="Tahoma"/>
            </a:endParaRP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1457960" cy="244475"/>
          </a:xfrm>
          <a:prstGeom prst="rect">
            <a:avLst/>
          </a:prstGeom>
        </p:spPr>
        <p:txBody>
          <a:bodyPr vert="horz" wrap="square" lIns="0" tIns="17145" rIns="0" bIns="0" rtlCol="0">
            <a:spAutoFit/>
          </a:bodyPr>
          <a:lstStyle/>
          <a:p>
            <a:pPr marL="12700">
              <a:lnSpc>
                <a:spcPct val="100000"/>
              </a:lnSpc>
              <a:spcBef>
                <a:spcPts val="135"/>
              </a:spcBef>
            </a:pPr>
            <a:r>
              <a:rPr spc="-25" dirty="0"/>
              <a:t>Tuple</a:t>
            </a:r>
            <a:r>
              <a:rPr spc="114" dirty="0"/>
              <a:t> </a:t>
            </a:r>
            <a:r>
              <a:rPr spc="-30" dirty="0"/>
              <a:t>of</a:t>
            </a:r>
            <a:r>
              <a:rPr spc="120" dirty="0"/>
              <a:t> </a:t>
            </a:r>
            <a:r>
              <a:rPr spc="-25" dirty="0"/>
              <a:t>length</a:t>
            </a:r>
            <a:r>
              <a:rPr spc="114" dirty="0"/>
              <a:t> </a:t>
            </a:r>
            <a:r>
              <a:rPr b="0" i="1" spc="20" dirty="0">
                <a:latin typeface="Times New Roman"/>
                <a:cs typeface="Times New Roman"/>
              </a:rPr>
              <a:t>n</a:t>
            </a:r>
          </a:p>
        </p:txBody>
      </p:sp>
      <p:sp>
        <p:nvSpPr>
          <p:cNvPr id="29" name="object 29"/>
          <p:cNvSpPr/>
          <p:nvPr/>
        </p:nvSpPr>
        <p:spPr>
          <a:xfrm>
            <a:off x="698562" y="1260131"/>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0" name="object 30"/>
          <p:cNvSpPr txBox="1"/>
          <p:nvPr/>
        </p:nvSpPr>
        <p:spPr>
          <a:xfrm>
            <a:off x="749363" y="1290058"/>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1" name="object 31"/>
          <p:cNvGrpSpPr/>
          <p:nvPr/>
        </p:nvGrpSpPr>
        <p:grpSpPr>
          <a:xfrm>
            <a:off x="698562" y="1317052"/>
            <a:ext cx="3831590" cy="923925"/>
            <a:chOff x="698562" y="1317052"/>
            <a:chExt cx="3831590" cy="923925"/>
          </a:xfrm>
        </p:grpSpPr>
        <p:pic>
          <p:nvPicPr>
            <p:cNvPr id="32" name="object 32"/>
            <p:cNvPicPr/>
            <p:nvPr/>
          </p:nvPicPr>
          <p:blipFill>
            <a:blip r:embed="rId7" cstate="print"/>
            <a:stretch>
              <a:fillRect/>
            </a:stretch>
          </p:blipFill>
          <p:spPr>
            <a:xfrm>
              <a:off x="698563" y="1417726"/>
              <a:ext cx="3780284" cy="50609"/>
            </a:xfrm>
            <a:prstGeom prst="rect">
              <a:avLst/>
            </a:prstGeom>
          </p:spPr>
        </p:pic>
        <p:sp>
          <p:nvSpPr>
            <p:cNvPr id="33" name="object 33"/>
            <p:cNvSpPr/>
            <p:nvPr/>
          </p:nvSpPr>
          <p:spPr>
            <a:xfrm>
              <a:off x="749363" y="1317052"/>
              <a:ext cx="3780790" cy="923925"/>
            </a:xfrm>
            <a:custGeom>
              <a:avLst/>
              <a:gdLst/>
              <a:ahLst/>
              <a:cxnLst/>
              <a:rect l="l" t="t" r="r" b="b"/>
              <a:pathLst>
                <a:path w="3780790" h="923925">
                  <a:moveTo>
                    <a:pt x="3780285" y="0"/>
                  </a:moveTo>
                  <a:lnTo>
                    <a:pt x="0" y="0"/>
                  </a:lnTo>
                  <a:lnTo>
                    <a:pt x="0" y="923419"/>
                  </a:lnTo>
                  <a:lnTo>
                    <a:pt x="3780285" y="923419"/>
                  </a:lnTo>
                  <a:lnTo>
                    <a:pt x="3780285" y="0"/>
                  </a:lnTo>
                  <a:close/>
                </a:path>
              </a:pathLst>
            </a:custGeom>
            <a:solidFill>
              <a:srgbClr val="000000"/>
            </a:solidFill>
          </p:spPr>
          <p:txBody>
            <a:bodyPr wrap="square" lIns="0" tIns="0" rIns="0" bIns="0" rtlCol="0"/>
            <a:lstStyle/>
            <a:p>
              <a:endParaRPr/>
            </a:p>
          </p:txBody>
        </p:sp>
        <p:sp>
          <p:nvSpPr>
            <p:cNvPr id="34" name="object 34"/>
            <p:cNvSpPr/>
            <p:nvPr/>
          </p:nvSpPr>
          <p:spPr>
            <a:xfrm>
              <a:off x="698562" y="1461997"/>
              <a:ext cx="3780790" cy="727710"/>
            </a:xfrm>
            <a:custGeom>
              <a:avLst/>
              <a:gdLst/>
              <a:ahLst/>
              <a:cxnLst/>
              <a:rect l="l" t="t" r="r" b="b"/>
              <a:pathLst>
                <a:path w="3780790" h="727710">
                  <a:moveTo>
                    <a:pt x="3780285" y="0"/>
                  </a:moveTo>
                  <a:lnTo>
                    <a:pt x="0" y="0"/>
                  </a:lnTo>
                  <a:lnTo>
                    <a:pt x="0" y="676873"/>
                  </a:lnTo>
                  <a:lnTo>
                    <a:pt x="4008" y="696597"/>
                  </a:lnTo>
                  <a:lnTo>
                    <a:pt x="14922" y="712750"/>
                  </a:lnTo>
                  <a:lnTo>
                    <a:pt x="31075" y="723664"/>
                  </a:lnTo>
                  <a:lnTo>
                    <a:pt x="50800" y="727673"/>
                  </a:lnTo>
                  <a:lnTo>
                    <a:pt x="3729484" y="727673"/>
                  </a:lnTo>
                  <a:lnTo>
                    <a:pt x="3749209" y="723664"/>
                  </a:lnTo>
                  <a:lnTo>
                    <a:pt x="3765362" y="712750"/>
                  </a:lnTo>
                  <a:lnTo>
                    <a:pt x="3776276" y="696597"/>
                  </a:lnTo>
                  <a:lnTo>
                    <a:pt x="3780285" y="676873"/>
                  </a:lnTo>
                  <a:lnTo>
                    <a:pt x="3780285" y="0"/>
                  </a:lnTo>
                  <a:close/>
                </a:path>
              </a:pathLst>
            </a:custGeom>
            <a:solidFill>
              <a:srgbClr val="E9E9F2"/>
            </a:solidFill>
          </p:spPr>
          <p:txBody>
            <a:bodyPr wrap="square" lIns="0" tIns="0" rIns="0" bIns="0" rtlCol="0"/>
            <a:lstStyle/>
            <a:p>
              <a:endParaRPr/>
            </a:p>
          </p:txBody>
        </p:sp>
        <p:pic>
          <p:nvPicPr>
            <p:cNvPr id="35" name="object 35"/>
            <p:cNvPicPr/>
            <p:nvPr/>
          </p:nvPicPr>
          <p:blipFill>
            <a:blip r:embed="rId8" cstate="print"/>
            <a:stretch>
              <a:fillRect/>
            </a:stretch>
          </p:blipFill>
          <p:spPr>
            <a:xfrm>
              <a:off x="879551" y="1861693"/>
              <a:ext cx="59601" cy="59601"/>
            </a:xfrm>
            <a:prstGeom prst="rect">
              <a:avLst/>
            </a:prstGeom>
          </p:spPr>
        </p:pic>
        <p:pic>
          <p:nvPicPr>
            <p:cNvPr id="36" name="object 36"/>
            <p:cNvPicPr/>
            <p:nvPr/>
          </p:nvPicPr>
          <p:blipFill>
            <a:blip r:embed="rId8" cstate="print"/>
            <a:stretch>
              <a:fillRect/>
            </a:stretch>
          </p:blipFill>
          <p:spPr>
            <a:xfrm>
              <a:off x="879551" y="2051481"/>
              <a:ext cx="59601" cy="59601"/>
            </a:xfrm>
            <a:prstGeom prst="rect">
              <a:avLst/>
            </a:prstGeom>
          </p:spPr>
        </p:pic>
      </p:grpSp>
      <p:sp>
        <p:nvSpPr>
          <p:cNvPr id="37" name="object 37"/>
          <p:cNvSpPr txBox="1"/>
          <p:nvPr/>
        </p:nvSpPr>
        <p:spPr>
          <a:xfrm>
            <a:off x="698563" y="1317052"/>
            <a:ext cx="3831590" cy="923925"/>
          </a:xfrm>
          <a:prstGeom prst="rect">
            <a:avLst/>
          </a:prstGeom>
        </p:spPr>
        <p:txBody>
          <a:bodyPr vert="horz" wrap="square" lIns="0" tIns="6350" rIns="0" bIns="0" rtlCol="0">
            <a:spAutoFit/>
          </a:bodyPr>
          <a:lstStyle/>
          <a:p>
            <a:pPr>
              <a:lnSpc>
                <a:spcPct val="100000"/>
              </a:lnSpc>
              <a:spcBef>
                <a:spcPts val="50"/>
              </a:spcBef>
            </a:pPr>
            <a:endParaRPr sz="900">
              <a:latin typeface="Times New Roman"/>
              <a:cs typeface="Times New Roman"/>
            </a:endParaRPr>
          </a:p>
          <a:p>
            <a:pPr marL="50800" marR="116205">
              <a:lnSpc>
                <a:spcPct val="100000"/>
              </a:lnSpc>
            </a:pPr>
            <a:r>
              <a:rPr sz="1000" spc="-10" dirty="0">
                <a:latin typeface="Tahoma"/>
                <a:cs typeface="Tahoma"/>
              </a:rPr>
              <a:t>Let </a:t>
            </a:r>
            <a:r>
              <a:rPr sz="1000" i="1" spc="-45" dirty="0">
                <a:latin typeface="Arial"/>
                <a:cs typeface="Arial"/>
              </a:rPr>
              <a:t>n</a:t>
            </a:r>
            <a:r>
              <a:rPr sz="1000" i="1" spc="-40" dirty="0">
                <a:latin typeface="Arial"/>
                <a:cs typeface="Arial"/>
              </a:rPr>
              <a:t> </a:t>
            </a:r>
            <a:r>
              <a:rPr sz="1000" spc="-50" dirty="0">
                <a:latin typeface="Tahoma"/>
                <a:cs typeface="Tahoma"/>
              </a:rPr>
              <a:t>be a </a:t>
            </a:r>
            <a:r>
              <a:rPr sz="1000" spc="-25" dirty="0">
                <a:latin typeface="Tahoma"/>
                <a:cs typeface="Tahoma"/>
              </a:rPr>
              <a:t>natural </a:t>
            </a:r>
            <a:r>
              <a:rPr sz="1000" spc="-45" dirty="0">
                <a:latin typeface="Tahoma"/>
                <a:cs typeface="Tahoma"/>
              </a:rPr>
              <a:t>number.</a:t>
            </a:r>
            <a:r>
              <a:rPr sz="1000" spc="220" dirty="0">
                <a:latin typeface="Tahoma"/>
                <a:cs typeface="Tahoma"/>
              </a:rPr>
              <a:t> </a:t>
            </a:r>
            <a:r>
              <a:rPr sz="1000" spc="-15" dirty="0">
                <a:latin typeface="Tahoma"/>
                <a:cs typeface="Tahoma"/>
              </a:rPr>
              <a:t>The </a:t>
            </a:r>
            <a:r>
              <a:rPr sz="1000" spc="-50" dirty="0">
                <a:latin typeface="Tahoma"/>
                <a:cs typeface="Tahoma"/>
              </a:rPr>
              <a:t>a </a:t>
            </a:r>
            <a:r>
              <a:rPr sz="1000" b="1" spc="-25" dirty="0">
                <a:latin typeface="Arial"/>
                <a:cs typeface="Arial"/>
              </a:rPr>
              <a:t>tuple</a:t>
            </a:r>
            <a:r>
              <a:rPr sz="1000" b="1" spc="229" dirty="0">
                <a:latin typeface="Arial"/>
                <a:cs typeface="Arial"/>
              </a:rPr>
              <a:t> </a:t>
            </a:r>
            <a:r>
              <a:rPr sz="1000" spc="-30" dirty="0">
                <a:latin typeface="Tahoma"/>
                <a:cs typeface="Tahoma"/>
              </a:rPr>
              <a:t>of </a:t>
            </a:r>
            <a:r>
              <a:rPr sz="1000" spc="-35" dirty="0">
                <a:latin typeface="Tahoma"/>
                <a:cs typeface="Tahoma"/>
              </a:rPr>
              <a:t>length </a:t>
            </a:r>
            <a:r>
              <a:rPr sz="1000" i="1" spc="-45" dirty="0">
                <a:latin typeface="Arial"/>
                <a:cs typeface="Arial"/>
              </a:rPr>
              <a:t>n</a:t>
            </a:r>
            <a:r>
              <a:rPr sz="1000" i="1" spc="185" dirty="0">
                <a:latin typeface="Arial"/>
                <a:cs typeface="Arial"/>
              </a:rPr>
              <a:t> </a:t>
            </a:r>
            <a:r>
              <a:rPr sz="1000" spc="-25" dirty="0">
                <a:latin typeface="Tahoma"/>
                <a:cs typeface="Tahoma"/>
              </a:rPr>
              <a:t>(</a:t>
            </a:r>
            <a:r>
              <a:rPr sz="1000" i="1" spc="-25" dirty="0">
                <a:latin typeface="Arial"/>
                <a:cs typeface="Arial"/>
              </a:rPr>
              <a:t>n</a:t>
            </a:r>
            <a:r>
              <a:rPr sz="1000" spc="-25" dirty="0">
                <a:latin typeface="Tahoma"/>
                <a:cs typeface="Tahoma"/>
              </a:rPr>
              <a:t>-tuple), </a:t>
            </a:r>
            <a:r>
              <a:rPr sz="1000" spc="-35" dirty="0">
                <a:latin typeface="Tahoma"/>
                <a:cs typeface="Tahoma"/>
              </a:rPr>
              <a:t>which </a:t>
            </a:r>
            <a:r>
              <a:rPr sz="1000" spc="-300" dirty="0">
                <a:latin typeface="Tahoma"/>
                <a:cs typeface="Tahoma"/>
              </a:rPr>
              <a:t> </a:t>
            </a:r>
            <a:r>
              <a:rPr sz="1000" spc="-30" dirty="0">
                <a:latin typeface="Tahoma"/>
                <a:cs typeface="Tahoma"/>
              </a:rPr>
              <a:t>is</a:t>
            </a:r>
            <a:r>
              <a:rPr sz="1000" spc="20" dirty="0">
                <a:latin typeface="Tahoma"/>
                <a:cs typeface="Tahoma"/>
              </a:rPr>
              <a:t> </a:t>
            </a:r>
            <a:r>
              <a:rPr sz="1000" spc="-45" dirty="0">
                <a:latin typeface="Tahoma"/>
                <a:cs typeface="Tahoma"/>
              </a:rPr>
              <a:t>designated</a:t>
            </a:r>
            <a:r>
              <a:rPr sz="1000" spc="20" dirty="0">
                <a:latin typeface="Tahoma"/>
                <a:cs typeface="Tahoma"/>
              </a:rPr>
              <a:t> </a:t>
            </a:r>
            <a:r>
              <a:rPr sz="1000" spc="-60" dirty="0">
                <a:latin typeface="Tahoma"/>
                <a:cs typeface="Tahoma"/>
              </a:rPr>
              <a:t>as</a:t>
            </a:r>
            <a:r>
              <a:rPr sz="1000" spc="15" dirty="0">
                <a:latin typeface="Tahoma"/>
                <a:cs typeface="Tahoma"/>
              </a:rPr>
              <a:t> </a:t>
            </a:r>
            <a:r>
              <a:rPr sz="1000" i="1" spc="-270" dirty="0">
                <a:latin typeface="Arial"/>
                <a:cs typeface="Arial"/>
              </a:rPr>
              <a:t>a</a:t>
            </a:r>
            <a:r>
              <a:rPr sz="1000" spc="-270" dirty="0">
                <a:latin typeface="Tahoma"/>
                <a:cs typeface="Tahoma"/>
              </a:rPr>
              <a:t>¯</a:t>
            </a:r>
            <a:r>
              <a:rPr sz="1000" spc="-245" dirty="0">
                <a:latin typeface="Tahoma"/>
                <a:cs typeface="Tahoma"/>
              </a:rPr>
              <a:t> </a:t>
            </a:r>
            <a:r>
              <a:rPr sz="1000" spc="45" dirty="0">
                <a:latin typeface="Tahoma"/>
                <a:cs typeface="Tahoma"/>
              </a:rPr>
              <a:t>=</a:t>
            </a:r>
            <a:r>
              <a:rPr sz="1000" spc="-35" dirty="0">
                <a:latin typeface="Tahoma"/>
                <a:cs typeface="Tahoma"/>
              </a:rPr>
              <a:t> (</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spc="-15" dirty="0">
                <a:latin typeface="Tahoma"/>
                <a:cs typeface="Tahoma"/>
              </a:rPr>
              <a:t>),</a:t>
            </a:r>
            <a:r>
              <a:rPr sz="1000" spc="20" dirty="0">
                <a:latin typeface="Tahoma"/>
                <a:cs typeface="Tahoma"/>
              </a:rPr>
              <a:t> </a:t>
            </a:r>
            <a:r>
              <a:rPr sz="1000" spc="-30" dirty="0">
                <a:latin typeface="Tahoma"/>
                <a:cs typeface="Tahoma"/>
              </a:rPr>
              <a:t>is</a:t>
            </a:r>
            <a:r>
              <a:rPr sz="1000" spc="20" dirty="0">
                <a:latin typeface="Tahoma"/>
                <a:cs typeface="Tahoma"/>
              </a:rPr>
              <a:t> </a:t>
            </a:r>
            <a:r>
              <a:rPr sz="1000" spc="-45" dirty="0">
                <a:latin typeface="Tahoma"/>
                <a:cs typeface="Tahoma"/>
              </a:rPr>
              <a:t>defined</a:t>
            </a:r>
            <a:r>
              <a:rPr sz="1000" spc="25" dirty="0">
                <a:latin typeface="Tahoma"/>
                <a:cs typeface="Tahoma"/>
              </a:rPr>
              <a:t> </a:t>
            </a:r>
            <a:r>
              <a:rPr sz="1000" spc="-20" dirty="0">
                <a:latin typeface="Tahoma"/>
                <a:cs typeface="Tahoma"/>
              </a:rPr>
              <a:t>in</a:t>
            </a:r>
            <a:r>
              <a:rPr sz="1000" spc="20" dirty="0">
                <a:latin typeface="Tahoma"/>
                <a:cs typeface="Tahoma"/>
              </a:rPr>
              <a:t> </a:t>
            </a:r>
            <a:r>
              <a:rPr sz="1000" spc="-50" dirty="0">
                <a:latin typeface="Tahoma"/>
                <a:cs typeface="Tahoma"/>
              </a:rPr>
              <a:t>a</a:t>
            </a:r>
            <a:r>
              <a:rPr sz="1000" spc="20" dirty="0">
                <a:latin typeface="Tahoma"/>
                <a:cs typeface="Tahoma"/>
              </a:rPr>
              <a:t> </a:t>
            </a:r>
            <a:r>
              <a:rPr sz="1000" spc="-30" dirty="0">
                <a:latin typeface="Tahoma"/>
                <a:cs typeface="Tahoma"/>
              </a:rPr>
              <a:t>following</a:t>
            </a:r>
            <a:r>
              <a:rPr sz="1000" spc="15" dirty="0">
                <a:latin typeface="Tahoma"/>
                <a:cs typeface="Tahoma"/>
              </a:rPr>
              <a:t> </a:t>
            </a:r>
            <a:r>
              <a:rPr sz="1000" spc="-75" dirty="0">
                <a:latin typeface="Tahoma"/>
                <a:cs typeface="Tahoma"/>
              </a:rPr>
              <a:t>way:</a:t>
            </a:r>
            <a:endParaRPr sz="1000">
              <a:latin typeface="Tahoma"/>
              <a:cs typeface="Tahoma"/>
            </a:endParaRPr>
          </a:p>
          <a:p>
            <a:pPr marL="303530">
              <a:lnSpc>
                <a:spcPct val="100000"/>
              </a:lnSpc>
              <a:spcBef>
                <a:spcPts val="290"/>
              </a:spcBef>
            </a:pPr>
            <a:r>
              <a:rPr sz="1000" spc="-5" dirty="0">
                <a:latin typeface="Tahoma"/>
                <a:cs typeface="Tahoma"/>
              </a:rPr>
              <a:t>if</a:t>
            </a:r>
            <a:r>
              <a:rPr sz="1000" spc="10" dirty="0">
                <a:latin typeface="Tahoma"/>
                <a:cs typeface="Tahoma"/>
              </a:rPr>
              <a:t> </a:t>
            </a:r>
            <a:r>
              <a:rPr sz="1000" i="1" spc="-45" dirty="0">
                <a:latin typeface="Arial"/>
                <a:cs typeface="Arial"/>
              </a:rPr>
              <a:t>n</a:t>
            </a:r>
            <a:r>
              <a:rPr sz="1000" i="1" spc="5" dirty="0">
                <a:latin typeface="Arial"/>
                <a:cs typeface="Arial"/>
              </a:rPr>
              <a:t> </a:t>
            </a:r>
            <a:r>
              <a:rPr sz="1000" spc="45" dirty="0">
                <a:latin typeface="Tahoma"/>
                <a:cs typeface="Tahoma"/>
              </a:rPr>
              <a:t>=</a:t>
            </a:r>
            <a:r>
              <a:rPr sz="1000" spc="-45" dirty="0">
                <a:latin typeface="Tahoma"/>
                <a:cs typeface="Tahoma"/>
              </a:rPr>
              <a:t> </a:t>
            </a:r>
            <a:r>
              <a:rPr sz="1000" spc="-40" dirty="0">
                <a:latin typeface="Tahoma"/>
                <a:cs typeface="Tahoma"/>
              </a:rPr>
              <a:t>1,</a:t>
            </a:r>
            <a:r>
              <a:rPr sz="1000" spc="10" dirty="0">
                <a:latin typeface="Tahoma"/>
                <a:cs typeface="Tahoma"/>
              </a:rPr>
              <a:t> </a:t>
            </a:r>
            <a:r>
              <a:rPr sz="1000" spc="-40" dirty="0">
                <a:latin typeface="Tahoma"/>
                <a:cs typeface="Tahoma"/>
              </a:rPr>
              <a:t>then</a:t>
            </a:r>
            <a:r>
              <a:rPr sz="1000" spc="5" dirty="0">
                <a:latin typeface="Tahoma"/>
                <a:cs typeface="Tahoma"/>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00" spc="-10" dirty="0">
                <a:latin typeface="Tahoma"/>
                <a:cs typeface="Tahoma"/>
              </a:rPr>
              <a:t>)</a:t>
            </a:r>
            <a:r>
              <a:rPr sz="1000" spc="-45" dirty="0">
                <a:latin typeface="Tahoma"/>
                <a:cs typeface="Tahoma"/>
              </a:rPr>
              <a:t> </a:t>
            </a:r>
            <a:r>
              <a:rPr sz="1000" spc="55" dirty="0">
                <a:latin typeface="Lucida Sans Unicode"/>
                <a:cs typeface="Lucida Sans Unicode"/>
              </a:rPr>
              <a:t>⇌</a:t>
            </a:r>
            <a:r>
              <a:rPr sz="1000" spc="-45" dirty="0">
                <a:latin typeface="Lucida Sans Unicode"/>
                <a:cs typeface="Lucida Sans Unicode"/>
              </a:rPr>
              <a:t> </a:t>
            </a:r>
            <a:r>
              <a:rPr sz="1000" i="1" spc="-25" dirty="0">
                <a:latin typeface="Arial"/>
                <a:cs typeface="Arial"/>
              </a:rPr>
              <a:t>a</a:t>
            </a:r>
            <a:r>
              <a:rPr sz="1050" spc="-37" baseline="-11904" dirty="0">
                <a:latin typeface="Microsoft Sans Serif"/>
                <a:cs typeface="Microsoft Sans Serif"/>
              </a:rPr>
              <a:t>1</a:t>
            </a:r>
            <a:r>
              <a:rPr sz="1000" spc="-25" dirty="0">
                <a:latin typeface="Tahoma"/>
                <a:cs typeface="Tahoma"/>
              </a:rPr>
              <a:t>,</a:t>
            </a:r>
            <a:endParaRPr sz="1000">
              <a:latin typeface="Tahoma"/>
              <a:cs typeface="Tahoma"/>
            </a:endParaRPr>
          </a:p>
          <a:p>
            <a:pPr marL="303530">
              <a:lnSpc>
                <a:spcPct val="100000"/>
              </a:lnSpc>
              <a:spcBef>
                <a:spcPts val="295"/>
              </a:spcBef>
            </a:pPr>
            <a:r>
              <a:rPr sz="1000" spc="-5" dirty="0">
                <a:latin typeface="Tahoma"/>
                <a:cs typeface="Tahoma"/>
              </a:rPr>
              <a:t>if</a:t>
            </a:r>
            <a:r>
              <a:rPr sz="1000" spc="20" dirty="0">
                <a:latin typeface="Tahoma"/>
                <a:cs typeface="Tahoma"/>
              </a:rPr>
              <a:t> </a:t>
            </a:r>
            <a:r>
              <a:rPr sz="1000" i="1" spc="-45" dirty="0">
                <a:latin typeface="Arial"/>
                <a:cs typeface="Arial"/>
              </a:rPr>
              <a:t>n</a:t>
            </a:r>
            <a:r>
              <a:rPr sz="1000" i="1" spc="15" dirty="0">
                <a:latin typeface="Arial"/>
                <a:cs typeface="Arial"/>
              </a:rPr>
              <a:t> </a:t>
            </a:r>
            <a:r>
              <a:rPr sz="1000" i="1" spc="-45" dirty="0">
                <a:latin typeface="Verdana"/>
                <a:cs typeface="Verdana"/>
              </a:rPr>
              <a:t>&gt;</a:t>
            </a:r>
            <a:r>
              <a:rPr sz="1000" i="1" spc="-75" dirty="0">
                <a:latin typeface="Verdana"/>
                <a:cs typeface="Verdana"/>
              </a:rPr>
              <a:t> </a:t>
            </a:r>
            <a:r>
              <a:rPr sz="1000" spc="-40" dirty="0">
                <a:latin typeface="Tahoma"/>
                <a:cs typeface="Tahoma"/>
              </a:rPr>
              <a:t>1,</a:t>
            </a:r>
            <a:r>
              <a:rPr sz="1000" spc="20" dirty="0">
                <a:latin typeface="Tahoma"/>
                <a:cs typeface="Tahoma"/>
              </a:rPr>
              <a:t> </a:t>
            </a:r>
            <a:r>
              <a:rPr sz="1000" spc="-40" dirty="0">
                <a:latin typeface="Tahoma"/>
                <a:cs typeface="Tahoma"/>
              </a:rPr>
              <a:t>then</a:t>
            </a:r>
            <a:r>
              <a:rPr sz="1000" spc="20" dirty="0">
                <a:latin typeface="Tahoma"/>
                <a:cs typeface="Tahoma"/>
              </a:rPr>
              <a:t> </a:t>
            </a:r>
            <a:r>
              <a:rPr sz="1000" spc="-35" dirty="0">
                <a:latin typeface="Tahoma"/>
                <a:cs typeface="Tahoma"/>
              </a:rPr>
              <a:t>(</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dirty="0">
                <a:latin typeface="Tahoma"/>
                <a:cs typeface="Tahoma"/>
              </a:rPr>
              <a:t>)</a:t>
            </a:r>
            <a:r>
              <a:rPr sz="1000" spc="-35" dirty="0">
                <a:latin typeface="Tahoma"/>
                <a:cs typeface="Tahoma"/>
              </a:rPr>
              <a:t> </a:t>
            </a:r>
            <a:r>
              <a:rPr sz="1000" spc="55" dirty="0">
                <a:latin typeface="Lucida Sans Unicode"/>
                <a:cs typeface="Lucida Sans Unicode"/>
              </a:rPr>
              <a:t>⇌</a:t>
            </a:r>
            <a:r>
              <a:rPr sz="1000" spc="-35" dirty="0">
                <a:latin typeface="Lucida Sans Unicode"/>
                <a:cs typeface="Lucida Sans Unicode"/>
              </a:rPr>
              <a:t> </a:t>
            </a:r>
            <a:r>
              <a:rPr sz="1000" spc="-30" dirty="0">
                <a:latin typeface="Tahoma"/>
                <a:cs typeface="Tahoma"/>
              </a:rPr>
              <a:t>((</a:t>
            </a:r>
            <a:r>
              <a:rPr sz="1000" i="1" spc="-30" dirty="0">
                <a:latin typeface="Arial"/>
                <a:cs typeface="Arial"/>
              </a:rPr>
              <a:t>a</a:t>
            </a:r>
            <a:r>
              <a:rPr sz="1050" spc="-44" baseline="-11904" dirty="0">
                <a:latin typeface="Microsoft Sans Serif"/>
                <a:cs typeface="Microsoft Sans Serif"/>
              </a:rPr>
              <a:t>1</a:t>
            </a:r>
            <a:r>
              <a:rPr sz="1000" i="1" spc="-3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10" dirty="0">
                <a:latin typeface="Arial"/>
                <a:cs typeface="Arial"/>
              </a:rPr>
              <a:t>a</a:t>
            </a:r>
            <a:r>
              <a:rPr sz="1050" i="1" spc="15" baseline="-11904" dirty="0">
                <a:latin typeface="Arial"/>
                <a:cs typeface="Arial"/>
              </a:rPr>
              <a:t>n−</a:t>
            </a:r>
            <a:r>
              <a:rPr sz="1050" spc="15" baseline="-11904" dirty="0">
                <a:latin typeface="Microsoft Sans Serif"/>
                <a:cs typeface="Microsoft Sans Serif"/>
              </a:rPr>
              <a:t>1</a:t>
            </a:r>
            <a:r>
              <a:rPr sz="1000" spc="10" dirty="0">
                <a:latin typeface="Tahoma"/>
                <a:cs typeface="Tahoma"/>
              </a:rPr>
              <a:t>)</a:t>
            </a:r>
            <a:r>
              <a:rPr sz="1000" i="1" spc="10" dirty="0">
                <a:latin typeface="Verdana"/>
                <a:cs typeface="Verdana"/>
              </a:rPr>
              <a:t>,</a:t>
            </a:r>
            <a:r>
              <a:rPr sz="1000" i="1" spc="-185"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spc="-15" dirty="0">
                <a:latin typeface="Tahoma"/>
                <a:cs typeface="Tahoma"/>
              </a:rPr>
              <a:t>).</a:t>
            </a:r>
            <a:endParaRPr sz="1000">
              <a:latin typeface="Tahoma"/>
              <a:cs typeface="Tahoma"/>
            </a:endParaRPr>
          </a:p>
        </p:txBody>
      </p:sp>
      <p:sp>
        <p:nvSpPr>
          <p:cNvPr id="38" name="object 38"/>
          <p:cNvSpPr txBox="1"/>
          <p:nvPr/>
        </p:nvSpPr>
        <p:spPr>
          <a:xfrm>
            <a:off x="711263" y="2252934"/>
            <a:ext cx="3520440" cy="329565"/>
          </a:xfrm>
          <a:prstGeom prst="rect">
            <a:avLst/>
          </a:prstGeom>
        </p:spPr>
        <p:txBody>
          <a:bodyPr vert="horz" wrap="square" lIns="0" tIns="12065" rIns="0" bIns="0" rtlCol="0">
            <a:spAutoFit/>
          </a:bodyPr>
          <a:lstStyle/>
          <a:p>
            <a:pPr marL="38100" marR="30480">
              <a:lnSpc>
                <a:spcPct val="100000"/>
              </a:lnSpc>
              <a:spcBef>
                <a:spcPts val="95"/>
              </a:spcBef>
            </a:pPr>
            <a:r>
              <a:rPr sz="1000" spc="-10" dirty="0">
                <a:latin typeface="Tahoma"/>
                <a:cs typeface="Tahoma"/>
              </a:rPr>
              <a:t>Let</a:t>
            </a:r>
            <a:r>
              <a:rPr sz="1000" spc="15" dirty="0">
                <a:latin typeface="Tahoma"/>
                <a:cs typeface="Tahoma"/>
              </a:rPr>
              <a:t> </a:t>
            </a:r>
            <a:r>
              <a:rPr sz="1000" i="1" spc="-270" dirty="0">
                <a:latin typeface="Arial"/>
                <a:cs typeface="Arial"/>
              </a:rPr>
              <a:t>a</a:t>
            </a:r>
            <a:r>
              <a:rPr sz="1000" spc="-270" dirty="0">
                <a:latin typeface="Tahoma"/>
                <a:cs typeface="Tahoma"/>
              </a:rPr>
              <a:t>¯</a:t>
            </a:r>
            <a:r>
              <a:rPr sz="1000" spc="-245" dirty="0">
                <a:latin typeface="Tahoma"/>
                <a:cs typeface="Tahoma"/>
              </a:rPr>
              <a:t> </a:t>
            </a:r>
            <a:r>
              <a:rPr sz="1000" spc="45" dirty="0">
                <a:latin typeface="Tahoma"/>
                <a:cs typeface="Tahoma"/>
              </a:rPr>
              <a:t>=</a:t>
            </a:r>
            <a:r>
              <a:rPr sz="1000" spc="-35" dirty="0">
                <a:latin typeface="Tahoma"/>
                <a:cs typeface="Tahoma"/>
              </a:rPr>
              <a:t> (</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dirty="0">
                <a:latin typeface="Tahoma"/>
                <a:cs typeface="Tahoma"/>
              </a:rPr>
              <a:t>)</a:t>
            </a:r>
            <a:r>
              <a:rPr sz="1000" spc="20" dirty="0">
                <a:latin typeface="Tahoma"/>
                <a:cs typeface="Tahoma"/>
              </a:rPr>
              <a:t> </a:t>
            </a:r>
            <a:r>
              <a:rPr sz="1000" spc="-50" dirty="0">
                <a:latin typeface="Tahoma"/>
                <a:cs typeface="Tahoma"/>
              </a:rPr>
              <a:t>be</a:t>
            </a:r>
            <a:r>
              <a:rPr sz="1000" spc="20" dirty="0">
                <a:latin typeface="Tahoma"/>
                <a:cs typeface="Tahoma"/>
              </a:rPr>
              <a:t> </a:t>
            </a:r>
            <a:r>
              <a:rPr sz="1000" spc="-50" dirty="0">
                <a:latin typeface="Tahoma"/>
                <a:cs typeface="Tahoma"/>
              </a:rPr>
              <a:t>a</a:t>
            </a:r>
            <a:r>
              <a:rPr sz="1000" spc="20" dirty="0">
                <a:latin typeface="Tahoma"/>
                <a:cs typeface="Tahoma"/>
              </a:rPr>
              <a:t> </a:t>
            </a:r>
            <a:r>
              <a:rPr sz="1000" spc="-30" dirty="0">
                <a:latin typeface="Tahoma"/>
                <a:cs typeface="Tahoma"/>
              </a:rPr>
              <a:t>tuple.</a:t>
            </a:r>
            <a:r>
              <a:rPr sz="1000" spc="130" dirty="0">
                <a:latin typeface="Tahoma"/>
                <a:cs typeface="Tahoma"/>
              </a:rPr>
              <a:t> </a:t>
            </a:r>
            <a:r>
              <a:rPr sz="1000" spc="-20" dirty="0">
                <a:latin typeface="Tahoma"/>
                <a:cs typeface="Tahoma"/>
              </a:rPr>
              <a:t>Then</a:t>
            </a:r>
            <a:r>
              <a:rPr sz="1000" spc="20" dirty="0">
                <a:latin typeface="Tahoma"/>
                <a:cs typeface="Tahoma"/>
              </a:rPr>
              <a:t> </a:t>
            </a:r>
            <a:r>
              <a:rPr sz="1000" i="1" spc="10" dirty="0">
                <a:latin typeface="Arial"/>
                <a:cs typeface="Arial"/>
              </a:rPr>
              <a:t>l</a:t>
            </a:r>
            <a:r>
              <a:rPr sz="1000" i="1" spc="-185" dirty="0">
                <a:latin typeface="Arial"/>
                <a:cs typeface="Arial"/>
              </a:rPr>
              <a:t> </a:t>
            </a:r>
            <a:r>
              <a:rPr sz="1000" spc="-155" dirty="0">
                <a:latin typeface="Tahoma"/>
                <a:cs typeface="Tahoma"/>
              </a:rPr>
              <a:t>(</a:t>
            </a:r>
            <a:r>
              <a:rPr sz="1000" i="1" spc="-155" dirty="0">
                <a:latin typeface="Arial"/>
                <a:cs typeface="Arial"/>
              </a:rPr>
              <a:t>a</a:t>
            </a:r>
            <a:r>
              <a:rPr sz="1000" spc="-155" dirty="0">
                <a:latin typeface="Tahoma"/>
                <a:cs typeface="Tahoma"/>
              </a:rPr>
              <a:t>¯)</a:t>
            </a:r>
            <a:r>
              <a:rPr sz="1000" spc="-35" dirty="0">
                <a:latin typeface="Tahoma"/>
                <a:cs typeface="Tahoma"/>
              </a:rPr>
              <a:t> </a:t>
            </a:r>
            <a:r>
              <a:rPr sz="1000" spc="45" dirty="0">
                <a:latin typeface="Tahoma"/>
                <a:cs typeface="Tahoma"/>
              </a:rPr>
              <a:t>=</a:t>
            </a:r>
            <a:r>
              <a:rPr sz="1000" spc="-35" dirty="0">
                <a:latin typeface="Tahoma"/>
                <a:cs typeface="Tahoma"/>
              </a:rPr>
              <a:t> </a:t>
            </a:r>
            <a:r>
              <a:rPr sz="1000" i="1" spc="-45" dirty="0">
                <a:latin typeface="Arial"/>
                <a:cs typeface="Arial"/>
              </a:rPr>
              <a:t>n</a:t>
            </a:r>
            <a:r>
              <a:rPr sz="1000" i="1" spc="70" dirty="0">
                <a:latin typeface="Arial"/>
                <a:cs typeface="Arial"/>
              </a:rPr>
              <a:t> </a:t>
            </a:r>
            <a:r>
              <a:rPr sz="1000" spc="-30" dirty="0">
                <a:latin typeface="Tahoma"/>
                <a:cs typeface="Tahoma"/>
              </a:rPr>
              <a:t>is</a:t>
            </a:r>
            <a:r>
              <a:rPr sz="1000" spc="20" dirty="0">
                <a:latin typeface="Tahoma"/>
                <a:cs typeface="Tahoma"/>
              </a:rPr>
              <a:t> </a:t>
            </a:r>
            <a:r>
              <a:rPr sz="1000" spc="-50" dirty="0">
                <a:latin typeface="Tahoma"/>
                <a:cs typeface="Tahoma"/>
              </a:rPr>
              <a:t>a</a:t>
            </a:r>
            <a:r>
              <a:rPr sz="1000" spc="25" dirty="0">
                <a:latin typeface="Tahoma"/>
                <a:cs typeface="Tahoma"/>
              </a:rPr>
              <a:t> </a:t>
            </a:r>
            <a:r>
              <a:rPr sz="1000" spc="-35" dirty="0">
                <a:latin typeface="Tahoma"/>
                <a:cs typeface="Tahoma"/>
              </a:rPr>
              <a:t>length</a:t>
            </a:r>
            <a:r>
              <a:rPr sz="1000" spc="20" dirty="0">
                <a:latin typeface="Tahoma"/>
                <a:cs typeface="Tahoma"/>
              </a:rPr>
              <a:t> </a:t>
            </a:r>
            <a:r>
              <a:rPr sz="1000" spc="-30" dirty="0">
                <a:latin typeface="Tahoma"/>
                <a:cs typeface="Tahoma"/>
              </a:rPr>
              <a:t>of</a:t>
            </a:r>
            <a:r>
              <a:rPr sz="1000" spc="15" dirty="0">
                <a:latin typeface="Tahoma"/>
                <a:cs typeface="Tahoma"/>
              </a:rPr>
              <a:t> </a:t>
            </a:r>
            <a:r>
              <a:rPr sz="1000" spc="-20" dirty="0">
                <a:latin typeface="Tahoma"/>
                <a:cs typeface="Tahoma"/>
              </a:rPr>
              <a:t>this </a:t>
            </a:r>
            <a:r>
              <a:rPr sz="1000" spc="-300" dirty="0">
                <a:latin typeface="Tahoma"/>
                <a:cs typeface="Tahoma"/>
              </a:rPr>
              <a:t> </a:t>
            </a:r>
            <a:r>
              <a:rPr sz="1000" spc="-30" dirty="0">
                <a:latin typeface="Tahoma"/>
                <a:cs typeface="Tahoma"/>
              </a:rPr>
              <a:t>tuple.</a:t>
            </a:r>
            <a:endParaRPr sz="1000">
              <a:latin typeface="Tahoma"/>
              <a:cs typeface="Tahoma"/>
            </a:endParaRPr>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016760" cy="244475"/>
          </a:xfrm>
          <a:prstGeom prst="rect">
            <a:avLst/>
          </a:prstGeom>
        </p:spPr>
        <p:txBody>
          <a:bodyPr vert="horz" wrap="square" lIns="0" tIns="17145" rIns="0" bIns="0" rtlCol="0">
            <a:spAutoFit/>
          </a:bodyPr>
          <a:lstStyle/>
          <a:p>
            <a:pPr marL="12700">
              <a:lnSpc>
                <a:spcPct val="100000"/>
              </a:lnSpc>
              <a:spcBef>
                <a:spcPts val="135"/>
              </a:spcBef>
            </a:pPr>
            <a:r>
              <a:rPr spc="-25" dirty="0"/>
              <a:t>Concatenation</a:t>
            </a:r>
            <a:r>
              <a:rPr spc="95" dirty="0"/>
              <a:t> </a:t>
            </a:r>
            <a:r>
              <a:rPr spc="-30" dirty="0"/>
              <a:t>of</a:t>
            </a:r>
            <a:r>
              <a:rPr spc="100" dirty="0"/>
              <a:t> </a:t>
            </a:r>
            <a:r>
              <a:rPr spc="-40" dirty="0"/>
              <a:t>tuples</a:t>
            </a:r>
          </a:p>
        </p:txBody>
      </p:sp>
      <p:sp>
        <p:nvSpPr>
          <p:cNvPr id="30" name="object 30"/>
          <p:cNvSpPr txBox="1"/>
          <p:nvPr/>
        </p:nvSpPr>
        <p:spPr>
          <a:xfrm>
            <a:off x="736663" y="1102657"/>
            <a:ext cx="2962910" cy="177800"/>
          </a:xfrm>
          <a:prstGeom prst="rect">
            <a:avLst/>
          </a:prstGeom>
        </p:spPr>
        <p:txBody>
          <a:bodyPr vert="horz" wrap="square" lIns="0" tIns="12065" rIns="0" bIns="0" rtlCol="0">
            <a:spAutoFit/>
          </a:bodyPr>
          <a:lstStyle/>
          <a:p>
            <a:pPr marL="12700">
              <a:lnSpc>
                <a:spcPct val="100000"/>
              </a:lnSpc>
              <a:spcBef>
                <a:spcPts val="95"/>
              </a:spcBef>
            </a:pPr>
            <a:r>
              <a:rPr sz="1000" spc="-40" dirty="0">
                <a:latin typeface="Tahoma"/>
                <a:cs typeface="Tahoma"/>
              </a:rPr>
              <a:t>We</a:t>
            </a:r>
            <a:r>
              <a:rPr sz="1000" spc="15" dirty="0">
                <a:latin typeface="Tahoma"/>
                <a:cs typeface="Tahoma"/>
              </a:rPr>
              <a:t> </a:t>
            </a:r>
            <a:r>
              <a:rPr sz="1000" spc="-40" dirty="0">
                <a:latin typeface="Tahoma"/>
                <a:cs typeface="Tahoma"/>
              </a:rPr>
              <a:t>can</a:t>
            </a:r>
            <a:r>
              <a:rPr sz="1000" spc="10" dirty="0">
                <a:latin typeface="Tahoma"/>
                <a:cs typeface="Tahoma"/>
              </a:rPr>
              <a:t> </a:t>
            </a:r>
            <a:r>
              <a:rPr sz="1000" spc="-45" dirty="0">
                <a:latin typeface="Tahoma"/>
                <a:cs typeface="Tahoma"/>
              </a:rPr>
              <a:t>define</a:t>
            </a:r>
            <a:r>
              <a:rPr sz="1000" spc="20" dirty="0">
                <a:latin typeface="Tahoma"/>
                <a:cs typeface="Tahoma"/>
              </a:rPr>
              <a:t> </a:t>
            </a:r>
            <a:r>
              <a:rPr sz="1000" spc="-50" dirty="0">
                <a:latin typeface="Tahoma"/>
                <a:cs typeface="Tahoma"/>
              </a:rPr>
              <a:t>an</a:t>
            </a:r>
            <a:r>
              <a:rPr sz="1000" spc="15" dirty="0">
                <a:latin typeface="Tahoma"/>
                <a:cs typeface="Tahoma"/>
              </a:rPr>
              <a:t> </a:t>
            </a:r>
            <a:r>
              <a:rPr sz="1000" spc="-30" dirty="0">
                <a:latin typeface="Tahoma"/>
                <a:cs typeface="Tahoma"/>
              </a:rPr>
              <a:t>operation</a:t>
            </a:r>
            <a:r>
              <a:rPr sz="1000" spc="15" dirty="0">
                <a:latin typeface="Tahoma"/>
                <a:cs typeface="Tahoma"/>
              </a:rPr>
              <a:t> </a:t>
            </a:r>
            <a:r>
              <a:rPr sz="1000" spc="-30" dirty="0">
                <a:latin typeface="Tahoma"/>
                <a:cs typeface="Tahoma"/>
              </a:rPr>
              <a:t>of</a:t>
            </a:r>
            <a:r>
              <a:rPr sz="1000" spc="15" dirty="0">
                <a:latin typeface="Tahoma"/>
                <a:cs typeface="Tahoma"/>
              </a:rPr>
              <a:t> </a:t>
            </a:r>
            <a:r>
              <a:rPr sz="1000" spc="-30" dirty="0">
                <a:latin typeface="Tahoma"/>
                <a:cs typeface="Tahoma"/>
              </a:rPr>
              <a:t>concatenation</a:t>
            </a:r>
            <a:r>
              <a:rPr sz="1000" spc="10" dirty="0">
                <a:latin typeface="Tahoma"/>
                <a:cs typeface="Tahoma"/>
              </a:rPr>
              <a:t> </a:t>
            </a:r>
            <a:r>
              <a:rPr sz="1000" spc="-45" dirty="0">
                <a:latin typeface="Tahoma"/>
                <a:cs typeface="Tahoma"/>
              </a:rPr>
              <a:t>on</a:t>
            </a:r>
            <a:r>
              <a:rPr sz="1000" spc="15" dirty="0">
                <a:latin typeface="Tahoma"/>
                <a:cs typeface="Tahoma"/>
              </a:rPr>
              <a:t> </a:t>
            </a:r>
            <a:r>
              <a:rPr sz="1000" spc="-35" dirty="0">
                <a:latin typeface="Tahoma"/>
                <a:cs typeface="Tahoma"/>
              </a:rPr>
              <a:t>tuples.</a:t>
            </a:r>
            <a:endParaRPr sz="1000">
              <a:latin typeface="Tahoma"/>
              <a:cs typeface="Tahoma"/>
            </a:endParaRPr>
          </a:p>
        </p:txBody>
      </p:sp>
      <p:sp>
        <p:nvSpPr>
          <p:cNvPr id="31" name="object 31"/>
          <p:cNvSpPr/>
          <p:nvPr/>
        </p:nvSpPr>
        <p:spPr>
          <a:xfrm>
            <a:off x="698562" y="1367751"/>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2" name="object 32"/>
          <p:cNvSpPr txBox="1"/>
          <p:nvPr/>
        </p:nvSpPr>
        <p:spPr>
          <a:xfrm>
            <a:off x="749363" y="1397678"/>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3" name="object 33"/>
          <p:cNvGrpSpPr/>
          <p:nvPr/>
        </p:nvGrpSpPr>
        <p:grpSpPr>
          <a:xfrm>
            <a:off x="698562" y="1424682"/>
            <a:ext cx="3831590" cy="678180"/>
            <a:chOff x="698562" y="1424682"/>
            <a:chExt cx="3831590" cy="678180"/>
          </a:xfrm>
        </p:grpSpPr>
        <p:pic>
          <p:nvPicPr>
            <p:cNvPr id="34" name="object 34"/>
            <p:cNvPicPr/>
            <p:nvPr/>
          </p:nvPicPr>
          <p:blipFill>
            <a:blip r:embed="rId7" cstate="print"/>
            <a:stretch>
              <a:fillRect/>
            </a:stretch>
          </p:blipFill>
          <p:spPr>
            <a:xfrm>
              <a:off x="698563" y="1525346"/>
              <a:ext cx="3780284" cy="50609"/>
            </a:xfrm>
            <a:prstGeom prst="rect">
              <a:avLst/>
            </a:prstGeom>
          </p:spPr>
        </p:pic>
        <p:sp>
          <p:nvSpPr>
            <p:cNvPr id="35" name="object 35"/>
            <p:cNvSpPr/>
            <p:nvPr/>
          </p:nvSpPr>
          <p:spPr>
            <a:xfrm>
              <a:off x="749363" y="1424682"/>
              <a:ext cx="3780790" cy="678180"/>
            </a:xfrm>
            <a:custGeom>
              <a:avLst/>
              <a:gdLst/>
              <a:ahLst/>
              <a:cxnLst/>
              <a:rect l="l" t="t" r="r" b="b"/>
              <a:pathLst>
                <a:path w="3780790" h="678180">
                  <a:moveTo>
                    <a:pt x="3780285" y="0"/>
                  </a:moveTo>
                  <a:lnTo>
                    <a:pt x="0" y="0"/>
                  </a:lnTo>
                  <a:lnTo>
                    <a:pt x="0" y="677816"/>
                  </a:lnTo>
                  <a:lnTo>
                    <a:pt x="3780285" y="677816"/>
                  </a:lnTo>
                  <a:lnTo>
                    <a:pt x="3780285" y="0"/>
                  </a:lnTo>
                  <a:close/>
                </a:path>
              </a:pathLst>
            </a:custGeom>
            <a:solidFill>
              <a:srgbClr val="000000"/>
            </a:solidFill>
          </p:spPr>
          <p:txBody>
            <a:bodyPr wrap="square" lIns="0" tIns="0" rIns="0" bIns="0" rtlCol="0"/>
            <a:lstStyle/>
            <a:p>
              <a:endParaRPr/>
            </a:p>
          </p:txBody>
        </p:sp>
        <p:sp>
          <p:nvSpPr>
            <p:cNvPr id="36" name="object 36"/>
            <p:cNvSpPr/>
            <p:nvPr/>
          </p:nvSpPr>
          <p:spPr>
            <a:xfrm>
              <a:off x="698562" y="1569628"/>
              <a:ext cx="3780790" cy="482600"/>
            </a:xfrm>
            <a:custGeom>
              <a:avLst/>
              <a:gdLst/>
              <a:ahLst/>
              <a:cxnLst/>
              <a:rect l="l" t="t" r="r" b="b"/>
              <a:pathLst>
                <a:path w="3780790" h="482600">
                  <a:moveTo>
                    <a:pt x="3780285" y="0"/>
                  </a:moveTo>
                  <a:lnTo>
                    <a:pt x="0" y="0"/>
                  </a:lnTo>
                  <a:lnTo>
                    <a:pt x="0" y="431269"/>
                  </a:lnTo>
                  <a:lnTo>
                    <a:pt x="4008" y="450994"/>
                  </a:lnTo>
                  <a:lnTo>
                    <a:pt x="14922" y="467147"/>
                  </a:lnTo>
                  <a:lnTo>
                    <a:pt x="31075" y="478061"/>
                  </a:lnTo>
                  <a:lnTo>
                    <a:pt x="50800" y="482069"/>
                  </a:lnTo>
                  <a:lnTo>
                    <a:pt x="3729484" y="482069"/>
                  </a:lnTo>
                  <a:lnTo>
                    <a:pt x="3749209" y="478061"/>
                  </a:lnTo>
                  <a:lnTo>
                    <a:pt x="3765362" y="467147"/>
                  </a:lnTo>
                  <a:lnTo>
                    <a:pt x="3776276" y="450994"/>
                  </a:lnTo>
                  <a:lnTo>
                    <a:pt x="3780285" y="431269"/>
                  </a:lnTo>
                  <a:lnTo>
                    <a:pt x="3780285" y="0"/>
                  </a:lnTo>
                  <a:close/>
                </a:path>
              </a:pathLst>
            </a:custGeom>
            <a:solidFill>
              <a:srgbClr val="E9E9F2"/>
            </a:solidFill>
          </p:spPr>
          <p:txBody>
            <a:bodyPr wrap="square" lIns="0" tIns="0" rIns="0" bIns="0" rtlCol="0"/>
            <a:lstStyle/>
            <a:p>
              <a:endParaRPr/>
            </a:p>
          </p:txBody>
        </p:sp>
      </p:grpSp>
      <p:sp>
        <p:nvSpPr>
          <p:cNvPr id="37" name="object 37"/>
          <p:cNvSpPr txBox="1"/>
          <p:nvPr/>
        </p:nvSpPr>
        <p:spPr>
          <a:xfrm>
            <a:off x="698563" y="1424682"/>
            <a:ext cx="3831590" cy="678180"/>
          </a:xfrm>
          <a:prstGeom prst="rect">
            <a:avLst/>
          </a:prstGeom>
        </p:spPr>
        <p:txBody>
          <a:bodyPr vert="horz" wrap="square" lIns="0" tIns="5715" rIns="0" bIns="0" rtlCol="0">
            <a:spAutoFit/>
          </a:bodyPr>
          <a:lstStyle/>
          <a:p>
            <a:pPr>
              <a:lnSpc>
                <a:spcPct val="100000"/>
              </a:lnSpc>
              <a:spcBef>
                <a:spcPts val="45"/>
              </a:spcBef>
            </a:pPr>
            <a:endParaRPr sz="1000">
              <a:latin typeface="Times New Roman"/>
              <a:cs typeface="Times New Roman"/>
            </a:endParaRPr>
          </a:p>
          <a:p>
            <a:pPr marL="50800">
              <a:lnSpc>
                <a:spcPts val="1200"/>
              </a:lnSpc>
            </a:pPr>
            <a:r>
              <a:rPr sz="1000" spc="-10" dirty="0">
                <a:latin typeface="Tahoma"/>
                <a:cs typeface="Tahoma"/>
              </a:rPr>
              <a:t>Let</a:t>
            </a:r>
            <a:r>
              <a:rPr sz="1000" spc="15" dirty="0">
                <a:latin typeface="Tahoma"/>
                <a:cs typeface="Tahoma"/>
              </a:rPr>
              <a:t> </a:t>
            </a:r>
            <a:r>
              <a:rPr sz="1000" i="1" spc="-270" dirty="0">
                <a:latin typeface="Arial"/>
                <a:cs typeface="Arial"/>
              </a:rPr>
              <a:t>a</a:t>
            </a:r>
            <a:r>
              <a:rPr sz="1000" spc="-270" dirty="0">
                <a:latin typeface="Tahoma"/>
                <a:cs typeface="Tahoma"/>
              </a:rPr>
              <a:t>¯</a:t>
            </a:r>
            <a:r>
              <a:rPr sz="1000" spc="-200" dirty="0">
                <a:latin typeface="Tahoma"/>
                <a:cs typeface="Tahoma"/>
              </a:rPr>
              <a:t> </a:t>
            </a:r>
            <a:r>
              <a:rPr sz="1000" spc="45" dirty="0">
                <a:latin typeface="Tahoma"/>
                <a:cs typeface="Tahoma"/>
              </a:rPr>
              <a:t>=</a:t>
            </a:r>
            <a:r>
              <a:rPr sz="1000" spc="-35" dirty="0">
                <a:latin typeface="Tahoma"/>
                <a:cs typeface="Tahoma"/>
              </a:rPr>
              <a:t> (</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dirty="0">
                <a:latin typeface="Tahoma"/>
                <a:cs typeface="Tahoma"/>
              </a:rPr>
              <a:t>)</a:t>
            </a:r>
            <a:r>
              <a:rPr sz="1000" spc="25" dirty="0">
                <a:latin typeface="Tahoma"/>
                <a:cs typeface="Tahoma"/>
              </a:rPr>
              <a:t> </a:t>
            </a:r>
            <a:r>
              <a:rPr sz="1000" spc="-45" dirty="0">
                <a:latin typeface="Tahoma"/>
                <a:cs typeface="Tahoma"/>
              </a:rPr>
              <a:t>and</a:t>
            </a:r>
            <a:r>
              <a:rPr sz="1000" spc="20" dirty="0">
                <a:latin typeface="Tahoma"/>
                <a:cs typeface="Tahoma"/>
              </a:rPr>
              <a:t> </a:t>
            </a:r>
            <a:r>
              <a:rPr sz="1000" i="1" spc="-270" dirty="0">
                <a:latin typeface="Arial"/>
                <a:cs typeface="Arial"/>
              </a:rPr>
              <a:t>b</a:t>
            </a:r>
            <a:r>
              <a:rPr sz="1500" spc="-405" baseline="13888" dirty="0">
                <a:latin typeface="Tahoma"/>
                <a:cs typeface="Tahoma"/>
              </a:rPr>
              <a:t>¯</a:t>
            </a:r>
            <a:r>
              <a:rPr sz="1500" spc="-284" baseline="13888" dirty="0">
                <a:latin typeface="Tahoma"/>
                <a:cs typeface="Tahoma"/>
              </a:rPr>
              <a:t> </a:t>
            </a:r>
            <a:r>
              <a:rPr sz="1000" spc="45" dirty="0">
                <a:latin typeface="Tahoma"/>
                <a:cs typeface="Tahoma"/>
              </a:rPr>
              <a:t>=</a:t>
            </a:r>
            <a:r>
              <a:rPr sz="1000" spc="-35" dirty="0">
                <a:latin typeface="Tahoma"/>
                <a:cs typeface="Tahoma"/>
              </a:rPr>
              <a:t> </a:t>
            </a:r>
            <a:r>
              <a:rPr sz="1000" spc="-25" dirty="0">
                <a:latin typeface="Tahoma"/>
                <a:cs typeface="Tahoma"/>
              </a:rPr>
              <a:t>(</a:t>
            </a:r>
            <a:r>
              <a:rPr sz="1000" i="1" spc="-25" dirty="0">
                <a:latin typeface="Arial"/>
                <a:cs typeface="Arial"/>
              </a:rPr>
              <a:t>b</a:t>
            </a:r>
            <a:r>
              <a:rPr sz="1050" spc="-37" baseline="-11904" dirty="0">
                <a:latin typeface="Microsoft Sans Serif"/>
                <a:cs typeface="Microsoft Sans Serif"/>
              </a:rPr>
              <a:t>1</a:t>
            </a:r>
            <a:r>
              <a:rPr sz="1000" i="1" spc="-2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20" dirty="0">
                <a:latin typeface="Arial"/>
                <a:cs typeface="Arial"/>
              </a:rPr>
              <a:t>b</a:t>
            </a:r>
            <a:r>
              <a:rPr sz="1050" i="1" spc="-30" baseline="-11904" dirty="0">
                <a:latin typeface="Arial"/>
                <a:cs typeface="Arial"/>
              </a:rPr>
              <a:t>m</a:t>
            </a:r>
            <a:r>
              <a:rPr sz="1050" i="1" spc="-202" baseline="-11904" dirty="0">
                <a:latin typeface="Arial"/>
                <a:cs typeface="Arial"/>
              </a:rPr>
              <a:t> </a:t>
            </a:r>
            <a:r>
              <a:rPr sz="1000" dirty="0">
                <a:latin typeface="Tahoma"/>
                <a:cs typeface="Tahoma"/>
              </a:rPr>
              <a:t>)</a:t>
            </a:r>
            <a:r>
              <a:rPr sz="1000" spc="20" dirty="0">
                <a:latin typeface="Tahoma"/>
                <a:cs typeface="Tahoma"/>
              </a:rPr>
              <a:t> </a:t>
            </a:r>
            <a:r>
              <a:rPr sz="1000" spc="-50" dirty="0">
                <a:latin typeface="Tahoma"/>
                <a:cs typeface="Tahoma"/>
              </a:rPr>
              <a:t>be</a:t>
            </a:r>
            <a:r>
              <a:rPr sz="1000" spc="15" dirty="0">
                <a:latin typeface="Tahoma"/>
                <a:cs typeface="Tahoma"/>
              </a:rPr>
              <a:t> </a:t>
            </a:r>
            <a:r>
              <a:rPr sz="1000" spc="-50" dirty="0">
                <a:latin typeface="Tahoma"/>
                <a:cs typeface="Tahoma"/>
              </a:rPr>
              <a:t>two</a:t>
            </a:r>
            <a:r>
              <a:rPr sz="1000" spc="15" dirty="0">
                <a:latin typeface="Tahoma"/>
                <a:cs typeface="Tahoma"/>
              </a:rPr>
              <a:t> </a:t>
            </a:r>
            <a:r>
              <a:rPr sz="1000" spc="-35" dirty="0">
                <a:latin typeface="Tahoma"/>
                <a:cs typeface="Tahoma"/>
              </a:rPr>
              <a:t>tuples.</a:t>
            </a:r>
            <a:r>
              <a:rPr sz="1000" spc="130" dirty="0">
                <a:latin typeface="Tahoma"/>
                <a:cs typeface="Tahoma"/>
              </a:rPr>
              <a:t> </a:t>
            </a:r>
            <a:r>
              <a:rPr sz="1000" spc="-20" dirty="0">
                <a:latin typeface="Tahoma"/>
                <a:cs typeface="Tahoma"/>
              </a:rPr>
              <a:t>Then</a:t>
            </a:r>
            <a:endParaRPr sz="1000">
              <a:latin typeface="Tahoma"/>
              <a:cs typeface="Tahoma"/>
            </a:endParaRPr>
          </a:p>
          <a:p>
            <a:pPr marL="50800">
              <a:lnSpc>
                <a:spcPts val="1195"/>
              </a:lnSpc>
            </a:pPr>
            <a:r>
              <a:rPr sz="1000" i="1" spc="-210" dirty="0">
                <a:latin typeface="Arial"/>
                <a:cs typeface="Arial"/>
              </a:rPr>
              <a:t>a</a:t>
            </a:r>
            <a:r>
              <a:rPr sz="1000" spc="-210" dirty="0">
                <a:latin typeface="Tahoma"/>
                <a:cs typeface="Tahoma"/>
              </a:rPr>
              <a:t>¯ˆ</a:t>
            </a:r>
            <a:r>
              <a:rPr sz="1000" i="1" spc="-210" dirty="0">
                <a:latin typeface="Arial"/>
                <a:cs typeface="Arial"/>
              </a:rPr>
              <a:t>b</a:t>
            </a:r>
            <a:r>
              <a:rPr sz="1500" spc="-315" baseline="13888" dirty="0">
                <a:latin typeface="Tahoma"/>
                <a:cs typeface="Tahoma"/>
              </a:rPr>
              <a:t>¯</a:t>
            </a:r>
            <a:r>
              <a:rPr sz="1500" spc="-240" baseline="13888" dirty="0">
                <a:latin typeface="Tahoma"/>
                <a:cs typeface="Tahoma"/>
              </a:rPr>
              <a:t> </a:t>
            </a:r>
            <a:r>
              <a:rPr sz="1000" spc="55" dirty="0">
                <a:latin typeface="Lucida Sans Unicode"/>
                <a:cs typeface="Lucida Sans Unicode"/>
              </a:rPr>
              <a:t>⇌</a:t>
            </a:r>
            <a:r>
              <a:rPr sz="1000" spc="-40" dirty="0">
                <a:latin typeface="Lucida Sans Unicode"/>
                <a:cs typeface="Lucida Sans Unicode"/>
              </a:rPr>
              <a:t> </a:t>
            </a:r>
            <a:r>
              <a:rPr sz="1000" spc="-35" dirty="0">
                <a:latin typeface="Tahoma"/>
                <a:cs typeface="Tahoma"/>
              </a:rPr>
              <a:t>(</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40" dirty="0">
                <a:latin typeface="Arial"/>
                <a:cs typeface="Arial"/>
              </a:rPr>
              <a:t>a</a:t>
            </a:r>
            <a:r>
              <a:rPr sz="1050" i="1" spc="-60" baseline="-11904" dirty="0">
                <a:latin typeface="Arial"/>
                <a:cs typeface="Arial"/>
              </a:rPr>
              <a:t>n</a:t>
            </a:r>
            <a:r>
              <a:rPr sz="1000" i="1" spc="-40" dirty="0">
                <a:latin typeface="Verdana"/>
                <a:cs typeface="Verdana"/>
              </a:rPr>
              <a:t>,</a:t>
            </a:r>
            <a:r>
              <a:rPr sz="1000" i="1" spc="-185" dirty="0">
                <a:latin typeface="Verdana"/>
                <a:cs typeface="Verdana"/>
              </a:rPr>
              <a:t> </a:t>
            </a:r>
            <a:r>
              <a:rPr sz="1000" i="1" spc="-35" dirty="0">
                <a:latin typeface="Arial"/>
                <a:cs typeface="Arial"/>
              </a:rPr>
              <a:t>b</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20" dirty="0">
                <a:latin typeface="Arial"/>
                <a:cs typeface="Arial"/>
              </a:rPr>
              <a:t>b</a:t>
            </a:r>
            <a:r>
              <a:rPr sz="1050" i="1" spc="-30" baseline="-11904" dirty="0">
                <a:latin typeface="Arial"/>
                <a:cs typeface="Arial"/>
              </a:rPr>
              <a:t>m</a:t>
            </a:r>
            <a:r>
              <a:rPr sz="1050" i="1" spc="-202" baseline="-11904" dirty="0">
                <a:latin typeface="Arial"/>
                <a:cs typeface="Arial"/>
              </a:rPr>
              <a:t> </a:t>
            </a:r>
            <a:r>
              <a:rPr sz="1000" dirty="0">
                <a:latin typeface="Tahoma"/>
                <a:cs typeface="Tahoma"/>
              </a:rPr>
              <a:t>)</a:t>
            </a:r>
            <a:r>
              <a:rPr sz="1000" spc="20" dirty="0">
                <a:latin typeface="Tahoma"/>
                <a:cs typeface="Tahoma"/>
              </a:rPr>
              <a:t> </a:t>
            </a:r>
            <a:r>
              <a:rPr sz="1000" spc="-35" dirty="0">
                <a:latin typeface="Tahoma"/>
                <a:cs typeface="Tahoma"/>
              </a:rPr>
              <a:t>-</a:t>
            </a:r>
            <a:r>
              <a:rPr sz="1000" spc="25" dirty="0">
                <a:latin typeface="Tahoma"/>
                <a:cs typeface="Tahoma"/>
              </a:rPr>
              <a:t> </a:t>
            </a:r>
            <a:r>
              <a:rPr sz="1000" spc="-30" dirty="0">
                <a:latin typeface="Tahoma"/>
                <a:cs typeface="Tahoma"/>
              </a:rPr>
              <a:t>is</a:t>
            </a:r>
            <a:r>
              <a:rPr sz="1000" spc="20" dirty="0">
                <a:latin typeface="Tahoma"/>
                <a:cs typeface="Tahoma"/>
              </a:rPr>
              <a:t> </a:t>
            </a:r>
            <a:r>
              <a:rPr sz="1000" spc="-50" dirty="0">
                <a:latin typeface="Tahoma"/>
                <a:cs typeface="Tahoma"/>
              </a:rPr>
              <a:t>a</a:t>
            </a:r>
            <a:r>
              <a:rPr sz="1000" spc="15" dirty="0">
                <a:latin typeface="Tahoma"/>
                <a:cs typeface="Tahoma"/>
              </a:rPr>
              <a:t> </a:t>
            </a:r>
            <a:r>
              <a:rPr sz="1000" b="1" spc="-35" dirty="0">
                <a:latin typeface="Arial"/>
                <a:cs typeface="Arial"/>
              </a:rPr>
              <a:t>concatenation</a:t>
            </a:r>
            <a:r>
              <a:rPr sz="1000" b="1" spc="50" dirty="0">
                <a:latin typeface="Arial"/>
                <a:cs typeface="Arial"/>
              </a:rPr>
              <a:t> </a:t>
            </a:r>
            <a:r>
              <a:rPr sz="1000" spc="-30" dirty="0">
                <a:latin typeface="Tahoma"/>
                <a:cs typeface="Tahoma"/>
              </a:rPr>
              <a:t>of</a:t>
            </a:r>
            <a:r>
              <a:rPr sz="1000" spc="15" dirty="0">
                <a:latin typeface="Tahoma"/>
                <a:cs typeface="Tahoma"/>
              </a:rPr>
              <a:t> </a:t>
            </a:r>
            <a:r>
              <a:rPr sz="1000" spc="-35" dirty="0">
                <a:latin typeface="Tahoma"/>
                <a:cs typeface="Tahoma"/>
              </a:rPr>
              <a:t>tuples</a:t>
            </a:r>
            <a:r>
              <a:rPr sz="1000" spc="20" dirty="0">
                <a:latin typeface="Tahoma"/>
                <a:cs typeface="Tahoma"/>
              </a:rPr>
              <a:t> </a:t>
            </a:r>
            <a:r>
              <a:rPr sz="1000" i="1" spc="-270" dirty="0">
                <a:latin typeface="Arial"/>
                <a:cs typeface="Arial"/>
              </a:rPr>
              <a:t>a</a:t>
            </a:r>
            <a:r>
              <a:rPr sz="1000" spc="-270" dirty="0">
                <a:latin typeface="Tahoma"/>
                <a:cs typeface="Tahoma"/>
              </a:rPr>
              <a:t>¯</a:t>
            </a:r>
            <a:r>
              <a:rPr sz="1000" spc="-190" dirty="0">
                <a:latin typeface="Tahoma"/>
                <a:cs typeface="Tahoma"/>
              </a:rPr>
              <a:t> </a:t>
            </a:r>
            <a:r>
              <a:rPr sz="1000" spc="-45" dirty="0">
                <a:latin typeface="Tahoma"/>
                <a:cs typeface="Tahoma"/>
              </a:rPr>
              <a:t>and</a:t>
            </a:r>
            <a:endParaRPr sz="1000">
              <a:latin typeface="Tahoma"/>
              <a:cs typeface="Tahoma"/>
            </a:endParaRPr>
          </a:p>
          <a:p>
            <a:pPr marL="50800">
              <a:lnSpc>
                <a:spcPts val="1200"/>
              </a:lnSpc>
            </a:pPr>
            <a:r>
              <a:rPr sz="1000" i="1" spc="-200" dirty="0">
                <a:latin typeface="Arial"/>
                <a:cs typeface="Arial"/>
              </a:rPr>
              <a:t>b</a:t>
            </a:r>
            <a:r>
              <a:rPr sz="1500" spc="-300" baseline="13888" dirty="0">
                <a:latin typeface="Tahoma"/>
                <a:cs typeface="Tahoma"/>
              </a:rPr>
              <a:t>¯</a:t>
            </a:r>
            <a:r>
              <a:rPr sz="1000" spc="-200" dirty="0">
                <a:latin typeface="Tahoma"/>
                <a:cs typeface="Tahoma"/>
              </a:rPr>
              <a:t>.</a:t>
            </a:r>
            <a:endParaRPr sz="1000">
              <a:latin typeface="Tahoma"/>
              <a:cs typeface="Tahoma"/>
            </a:endParaRPr>
          </a:p>
        </p:txBody>
      </p:sp>
      <p:sp>
        <p:nvSpPr>
          <p:cNvPr id="38" name="object 38"/>
          <p:cNvSpPr/>
          <p:nvPr/>
        </p:nvSpPr>
        <p:spPr>
          <a:xfrm>
            <a:off x="698562" y="2203614"/>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9" name="object 39"/>
          <p:cNvSpPr txBox="1"/>
          <p:nvPr/>
        </p:nvSpPr>
        <p:spPr>
          <a:xfrm>
            <a:off x="749363" y="2233553"/>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40" name="object 40"/>
          <p:cNvGrpSpPr/>
          <p:nvPr/>
        </p:nvGrpSpPr>
        <p:grpSpPr>
          <a:xfrm>
            <a:off x="698562" y="2260548"/>
            <a:ext cx="3831590" cy="411480"/>
            <a:chOff x="698562" y="2260548"/>
            <a:chExt cx="3831590" cy="411480"/>
          </a:xfrm>
        </p:grpSpPr>
        <p:pic>
          <p:nvPicPr>
            <p:cNvPr id="41" name="object 41"/>
            <p:cNvPicPr/>
            <p:nvPr/>
          </p:nvPicPr>
          <p:blipFill>
            <a:blip r:embed="rId8" cstate="print"/>
            <a:stretch>
              <a:fillRect/>
            </a:stretch>
          </p:blipFill>
          <p:spPr>
            <a:xfrm>
              <a:off x="698563" y="2366835"/>
              <a:ext cx="3780284" cy="50609"/>
            </a:xfrm>
            <a:prstGeom prst="rect">
              <a:avLst/>
            </a:prstGeom>
          </p:spPr>
        </p:pic>
        <p:sp>
          <p:nvSpPr>
            <p:cNvPr id="42" name="object 42"/>
            <p:cNvSpPr/>
            <p:nvPr/>
          </p:nvSpPr>
          <p:spPr>
            <a:xfrm>
              <a:off x="749363" y="2260548"/>
              <a:ext cx="3780790" cy="411480"/>
            </a:xfrm>
            <a:custGeom>
              <a:avLst/>
              <a:gdLst/>
              <a:ahLst/>
              <a:cxnLst/>
              <a:rect l="l" t="t" r="r" b="b"/>
              <a:pathLst>
                <a:path w="3780790" h="411480">
                  <a:moveTo>
                    <a:pt x="3780285" y="0"/>
                  </a:moveTo>
                  <a:lnTo>
                    <a:pt x="0" y="0"/>
                  </a:lnTo>
                  <a:lnTo>
                    <a:pt x="0" y="411406"/>
                  </a:lnTo>
                  <a:lnTo>
                    <a:pt x="3780285" y="411406"/>
                  </a:lnTo>
                  <a:lnTo>
                    <a:pt x="3780285" y="0"/>
                  </a:lnTo>
                  <a:close/>
                </a:path>
              </a:pathLst>
            </a:custGeom>
            <a:solidFill>
              <a:srgbClr val="000000"/>
            </a:solidFill>
          </p:spPr>
          <p:txBody>
            <a:bodyPr wrap="square" lIns="0" tIns="0" rIns="0" bIns="0" rtlCol="0"/>
            <a:lstStyle/>
            <a:p>
              <a:endParaRPr/>
            </a:p>
          </p:txBody>
        </p:sp>
        <p:sp>
          <p:nvSpPr>
            <p:cNvPr id="43" name="object 43"/>
            <p:cNvSpPr/>
            <p:nvPr/>
          </p:nvSpPr>
          <p:spPr>
            <a:xfrm>
              <a:off x="698562" y="2411117"/>
              <a:ext cx="3780790" cy="210185"/>
            </a:xfrm>
            <a:custGeom>
              <a:avLst/>
              <a:gdLst/>
              <a:ahLst/>
              <a:cxnLst/>
              <a:rect l="l" t="t" r="r" b="b"/>
              <a:pathLst>
                <a:path w="3780790" h="210185">
                  <a:moveTo>
                    <a:pt x="3780285" y="0"/>
                  </a:moveTo>
                  <a:lnTo>
                    <a:pt x="0" y="0"/>
                  </a:lnTo>
                  <a:lnTo>
                    <a:pt x="0" y="159236"/>
                  </a:lnTo>
                  <a:lnTo>
                    <a:pt x="4008" y="178960"/>
                  </a:lnTo>
                  <a:lnTo>
                    <a:pt x="14922" y="195113"/>
                  </a:lnTo>
                  <a:lnTo>
                    <a:pt x="31075" y="206027"/>
                  </a:lnTo>
                  <a:lnTo>
                    <a:pt x="50800" y="210036"/>
                  </a:lnTo>
                  <a:lnTo>
                    <a:pt x="3729484" y="210036"/>
                  </a:lnTo>
                  <a:lnTo>
                    <a:pt x="3749209" y="206027"/>
                  </a:lnTo>
                  <a:lnTo>
                    <a:pt x="3765362" y="195113"/>
                  </a:lnTo>
                  <a:lnTo>
                    <a:pt x="3776276" y="178960"/>
                  </a:lnTo>
                  <a:lnTo>
                    <a:pt x="3780285" y="159236"/>
                  </a:lnTo>
                  <a:lnTo>
                    <a:pt x="3780285" y="0"/>
                  </a:lnTo>
                  <a:close/>
                </a:path>
              </a:pathLst>
            </a:custGeom>
            <a:solidFill>
              <a:srgbClr val="E9E9F2"/>
            </a:solidFill>
          </p:spPr>
          <p:txBody>
            <a:bodyPr wrap="square" lIns="0" tIns="0" rIns="0" bIns="0" rtlCol="0"/>
            <a:lstStyle/>
            <a:p>
              <a:endParaRPr/>
            </a:p>
          </p:txBody>
        </p:sp>
      </p:grpSp>
      <p:sp>
        <p:nvSpPr>
          <p:cNvPr id="44" name="object 44"/>
          <p:cNvSpPr txBox="1"/>
          <p:nvPr/>
        </p:nvSpPr>
        <p:spPr>
          <a:xfrm>
            <a:off x="698563" y="2260548"/>
            <a:ext cx="3831590" cy="411480"/>
          </a:xfrm>
          <a:prstGeom prst="rect">
            <a:avLst/>
          </a:prstGeom>
        </p:spPr>
        <p:txBody>
          <a:bodyPr vert="horz" wrap="square" lIns="0" tIns="3810" rIns="0" bIns="0" rtlCol="0">
            <a:spAutoFit/>
          </a:bodyPr>
          <a:lstStyle/>
          <a:p>
            <a:pPr>
              <a:lnSpc>
                <a:spcPct val="100000"/>
              </a:lnSpc>
              <a:spcBef>
                <a:spcPts val="30"/>
              </a:spcBef>
            </a:pPr>
            <a:endParaRPr sz="1050">
              <a:latin typeface="Times New Roman"/>
              <a:cs typeface="Times New Roman"/>
            </a:endParaRPr>
          </a:p>
          <a:p>
            <a:pPr marL="50800">
              <a:lnSpc>
                <a:spcPct val="100000"/>
              </a:lnSpc>
            </a:pPr>
            <a:r>
              <a:rPr sz="1000" spc="-40" dirty="0">
                <a:latin typeface="Tahoma"/>
                <a:cs typeface="Tahoma"/>
              </a:rPr>
              <a:t>It</a:t>
            </a:r>
            <a:r>
              <a:rPr sz="1000" spc="20" dirty="0">
                <a:latin typeface="Tahoma"/>
                <a:cs typeface="Tahoma"/>
              </a:rPr>
              <a:t> </a:t>
            </a:r>
            <a:r>
              <a:rPr sz="1000" spc="-30" dirty="0">
                <a:latin typeface="Tahoma"/>
                <a:cs typeface="Tahoma"/>
              </a:rPr>
              <a:t>is</a:t>
            </a:r>
            <a:r>
              <a:rPr sz="1000" spc="20" dirty="0">
                <a:latin typeface="Tahoma"/>
                <a:cs typeface="Tahoma"/>
              </a:rPr>
              <a:t> </a:t>
            </a:r>
            <a:r>
              <a:rPr sz="1000" spc="-35" dirty="0">
                <a:latin typeface="Tahoma"/>
                <a:cs typeface="Tahoma"/>
              </a:rPr>
              <a:t>cle</a:t>
            </a:r>
            <a:r>
              <a:rPr sz="1000" spc="-75" dirty="0">
                <a:latin typeface="Tahoma"/>
                <a:cs typeface="Tahoma"/>
              </a:rPr>
              <a:t>a</a:t>
            </a:r>
            <a:r>
              <a:rPr sz="1000" spc="-25" dirty="0">
                <a:latin typeface="Tahoma"/>
                <a:cs typeface="Tahoma"/>
              </a:rPr>
              <a:t>r,</a:t>
            </a:r>
            <a:r>
              <a:rPr sz="1000" spc="20" dirty="0">
                <a:latin typeface="Tahoma"/>
                <a:cs typeface="Tahoma"/>
              </a:rPr>
              <a:t> </a:t>
            </a:r>
            <a:r>
              <a:rPr sz="1000" spc="-10" dirty="0">
                <a:latin typeface="Tahoma"/>
                <a:cs typeface="Tahoma"/>
              </a:rPr>
              <a:t>that</a:t>
            </a:r>
            <a:r>
              <a:rPr sz="1000" spc="20" dirty="0">
                <a:latin typeface="Tahoma"/>
                <a:cs typeface="Tahoma"/>
              </a:rPr>
              <a:t> </a:t>
            </a:r>
            <a:r>
              <a:rPr sz="1000" i="1" spc="10" dirty="0">
                <a:latin typeface="Arial"/>
                <a:cs typeface="Arial"/>
              </a:rPr>
              <a:t>l</a:t>
            </a:r>
            <a:r>
              <a:rPr sz="1000" i="1" spc="-185" dirty="0">
                <a:latin typeface="Arial"/>
                <a:cs typeface="Arial"/>
              </a:rPr>
              <a:t> </a:t>
            </a:r>
            <a:r>
              <a:rPr sz="1000" dirty="0">
                <a:latin typeface="Tahoma"/>
                <a:cs typeface="Tahoma"/>
              </a:rPr>
              <a:t>(</a:t>
            </a:r>
            <a:r>
              <a:rPr sz="1000" i="1" spc="-484" dirty="0">
                <a:latin typeface="Arial"/>
                <a:cs typeface="Arial"/>
              </a:rPr>
              <a:t>a</a:t>
            </a:r>
            <a:r>
              <a:rPr sz="1000" spc="-55" dirty="0">
                <a:latin typeface="Tahoma"/>
                <a:cs typeface="Tahoma"/>
              </a:rPr>
              <a:t>¯</a:t>
            </a:r>
            <a:r>
              <a:rPr sz="1000" spc="30" dirty="0">
                <a:latin typeface="Tahoma"/>
                <a:cs typeface="Tahoma"/>
              </a:rPr>
              <a:t>ˆ</a:t>
            </a:r>
            <a:r>
              <a:rPr sz="1000" i="1" spc="-490" dirty="0">
                <a:latin typeface="Arial"/>
                <a:cs typeface="Arial"/>
              </a:rPr>
              <a:t>b</a:t>
            </a:r>
            <a:r>
              <a:rPr sz="1500" spc="-120" baseline="13888" dirty="0">
                <a:latin typeface="Tahoma"/>
                <a:cs typeface="Tahoma"/>
              </a:rPr>
              <a:t>¯</a:t>
            </a:r>
            <a:r>
              <a:rPr sz="1000" dirty="0">
                <a:latin typeface="Tahoma"/>
                <a:cs typeface="Tahoma"/>
              </a:rPr>
              <a:t>)</a:t>
            </a:r>
            <a:r>
              <a:rPr sz="1000" spc="-35" dirty="0">
                <a:latin typeface="Tahoma"/>
                <a:cs typeface="Tahoma"/>
              </a:rPr>
              <a:t> </a:t>
            </a:r>
            <a:r>
              <a:rPr sz="1000" spc="45" dirty="0">
                <a:latin typeface="Tahoma"/>
                <a:cs typeface="Tahoma"/>
              </a:rPr>
              <a:t>=</a:t>
            </a:r>
            <a:r>
              <a:rPr sz="1000" spc="20" dirty="0">
                <a:latin typeface="Tahoma"/>
                <a:cs typeface="Tahoma"/>
              </a:rPr>
              <a:t> </a:t>
            </a:r>
            <a:r>
              <a:rPr sz="1000" spc="-5" dirty="0">
                <a:latin typeface="Tahoma"/>
                <a:cs typeface="Tahoma"/>
              </a:rPr>
              <a:t>?</a:t>
            </a:r>
            <a:endParaRPr sz="1000">
              <a:latin typeface="Tahoma"/>
              <a:cs typeface="Tahoma"/>
            </a:endParaRP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016760" cy="244475"/>
          </a:xfrm>
          <a:prstGeom prst="rect">
            <a:avLst/>
          </a:prstGeom>
        </p:spPr>
        <p:txBody>
          <a:bodyPr vert="horz" wrap="square" lIns="0" tIns="17145" rIns="0" bIns="0" rtlCol="0">
            <a:spAutoFit/>
          </a:bodyPr>
          <a:lstStyle/>
          <a:p>
            <a:pPr marL="12700">
              <a:lnSpc>
                <a:spcPct val="100000"/>
              </a:lnSpc>
              <a:spcBef>
                <a:spcPts val="135"/>
              </a:spcBef>
            </a:pPr>
            <a:r>
              <a:rPr spc="-25" dirty="0"/>
              <a:t>Concatenation</a:t>
            </a:r>
            <a:r>
              <a:rPr spc="95" dirty="0"/>
              <a:t> </a:t>
            </a:r>
            <a:r>
              <a:rPr spc="-30" dirty="0"/>
              <a:t>of</a:t>
            </a:r>
            <a:r>
              <a:rPr spc="100" dirty="0"/>
              <a:t> </a:t>
            </a:r>
            <a:r>
              <a:rPr spc="-40" dirty="0"/>
              <a:t>tuples</a:t>
            </a:r>
          </a:p>
        </p:txBody>
      </p:sp>
      <p:sp>
        <p:nvSpPr>
          <p:cNvPr id="30" name="object 30"/>
          <p:cNvSpPr txBox="1"/>
          <p:nvPr/>
        </p:nvSpPr>
        <p:spPr>
          <a:xfrm>
            <a:off x="736663" y="1102657"/>
            <a:ext cx="2962910" cy="177800"/>
          </a:xfrm>
          <a:prstGeom prst="rect">
            <a:avLst/>
          </a:prstGeom>
        </p:spPr>
        <p:txBody>
          <a:bodyPr vert="horz" wrap="square" lIns="0" tIns="12065" rIns="0" bIns="0" rtlCol="0">
            <a:spAutoFit/>
          </a:bodyPr>
          <a:lstStyle/>
          <a:p>
            <a:pPr marL="12700">
              <a:lnSpc>
                <a:spcPct val="100000"/>
              </a:lnSpc>
              <a:spcBef>
                <a:spcPts val="95"/>
              </a:spcBef>
            </a:pPr>
            <a:r>
              <a:rPr sz="1000" spc="-40" dirty="0">
                <a:latin typeface="Tahoma"/>
                <a:cs typeface="Tahoma"/>
              </a:rPr>
              <a:t>We</a:t>
            </a:r>
            <a:r>
              <a:rPr sz="1000" spc="15" dirty="0">
                <a:latin typeface="Tahoma"/>
                <a:cs typeface="Tahoma"/>
              </a:rPr>
              <a:t> </a:t>
            </a:r>
            <a:r>
              <a:rPr sz="1000" spc="-40" dirty="0">
                <a:latin typeface="Tahoma"/>
                <a:cs typeface="Tahoma"/>
              </a:rPr>
              <a:t>can</a:t>
            </a:r>
            <a:r>
              <a:rPr sz="1000" spc="10" dirty="0">
                <a:latin typeface="Tahoma"/>
                <a:cs typeface="Tahoma"/>
              </a:rPr>
              <a:t> </a:t>
            </a:r>
            <a:r>
              <a:rPr sz="1000" spc="-45" dirty="0">
                <a:latin typeface="Tahoma"/>
                <a:cs typeface="Tahoma"/>
              </a:rPr>
              <a:t>define</a:t>
            </a:r>
            <a:r>
              <a:rPr sz="1000" spc="20" dirty="0">
                <a:latin typeface="Tahoma"/>
                <a:cs typeface="Tahoma"/>
              </a:rPr>
              <a:t> </a:t>
            </a:r>
            <a:r>
              <a:rPr sz="1000" spc="-50" dirty="0">
                <a:latin typeface="Tahoma"/>
                <a:cs typeface="Tahoma"/>
              </a:rPr>
              <a:t>an</a:t>
            </a:r>
            <a:r>
              <a:rPr sz="1000" spc="15" dirty="0">
                <a:latin typeface="Tahoma"/>
                <a:cs typeface="Tahoma"/>
              </a:rPr>
              <a:t> </a:t>
            </a:r>
            <a:r>
              <a:rPr sz="1000" spc="-30" dirty="0">
                <a:latin typeface="Tahoma"/>
                <a:cs typeface="Tahoma"/>
              </a:rPr>
              <a:t>operation</a:t>
            </a:r>
            <a:r>
              <a:rPr sz="1000" spc="15" dirty="0">
                <a:latin typeface="Tahoma"/>
                <a:cs typeface="Tahoma"/>
              </a:rPr>
              <a:t> </a:t>
            </a:r>
            <a:r>
              <a:rPr sz="1000" spc="-30" dirty="0">
                <a:latin typeface="Tahoma"/>
                <a:cs typeface="Tahoma"/>
              </a:rPr>
              <a:t>of</a:t>
            </a:r>
            <a:r>
              <a:rPr sz="1000" spc="15" dirty="0">
                <a:latin typeface="Tahoma"/>
                <a:cs typeface="Tahoma"/>
              </a:rPr>
              <a:t> </a:t>
            </a:r>
            <a:r>
              <a:rPr sz="1000" spc="-30" dirty="0">
                <a:latin typeface="Tahoma"/>
                <a:cs typeface="Tahoma"/>
              </a:rPr>
              <a:t>concatenation</a:t>
            </a:r>
            <a:r>
              <a:rPr sz="1000" spc="10" dirty="0">
                <a:latin typeface="Tahoma"/>
                <a:cs typeface="Tahoma"/>
              </a:rPr>
              <a:t> </a:t>
            </a:r>
            <a:r>
              <a:rPr sz="1000" spc="-45" dirty="0">
                <a:latin typeface="Tahoma"/>
                <a:cs typeface="Tahoma"/>
              </a:rPr>
              <a:t>on</a:t>
            </a:r>
            <a:r>
              <a:rPr sz="1000" spc="15" dirty="0">
                <a:latin typeface="Tahoma"/>
                <a:cs typeface="Tahoma"/>
              </a:rPr>
              <a:t> </a:t>
            </a:r>
            <a:r>
              <a:rPr sz="1000" spc="-35" dirty="0">
                <a:latin typeface="Tahoma"/>
                <a:cs typeface="Tahoma"/>
              </a:rPr>
              <a:t>tuples.</a:t>
            </a:r>
            <a:endParaRPr sz="1000">
              <a:latin typeface="Tahoma"/>
              <a:cs typeface="Tahoma"/>
            </a:endParaRPr>
          </a:p>
        </p:txBody>
      </p:sp>
      <p:sp>
        <p:nvSpPr>
          <p:cNvPr id="31" name="object 31"/>
          <p:cNvSpPr/>
          <p:nvPr/>
        </p:nvSpPr>
        <p:spPr>
          <a:xfrm>
            <a:off x="698562" y="1367751"/>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2" name="object 32"/>
          <p:cNvSpPr txBox="1"/>
          <p:nvPr/>
        </p:nvSpPr>
        <p:spPr>
          <a:xfrm>
            <a:off x="749363" y="1397678"/>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3" name="object 33"/>
          <p:cNvGrpSpPr/>
          <p:nvPr/>
        </p:nvGrpSpPr>
        <p:grpSpPr>
          <a:xfrm>
            <a:off x="698562" y="1424682"/>
            <a:ext cx="3831590" cy="678180"/>
            <a:chOff x="698562" y="1424682"/>
            <a:chExt cx="3831590" cy="678180"/>
          </a:xfrm>
        </p:grpSpPr>
        <p:pic>
          <p:nvPicPr>
            <p:cNvPr id="34" name="object 34"/>
            <p:cNvPicPr/>
            <p:nvPr/>
          </p:nvPicPr>
          <p:blipFill>
            <a:blip r:embed="rId7" cstate="print"/>
            <a:stretch>
              <a:fillRect/>
            </a:stretch>
          </p:blipFill>
          <p:spPr>
            <a:xfrm>
              <a:off x="698563" y="1525346"/>
              <a:ext cx="3780284" cy="50609"/>
            </a:xfrm>
            <a:prstGeom prst="rect">
              <a:avLst/>
            </a:prstGeom>
          </p:spPr>
        </p:pic>
        <p:sp>
          <p:nvSpPr>
            <p:cNvPr id="35" name="object 35"/>
            <p:cNvSpPr/>
            <p:nvPr/>
          </p:nvSpPr>
          <p:spPr>
            <a:xfrm>
              <a:off x="749363" y="1424682"/>
              <a:ext cx="3780790" cy="678180"/>
            </a:xfrm>
            <a:custGeom>
              <a:avLst/>
              <a:gdLst/>
              <a:ahLst/>
              <a:cxnLst/>
              <a:rect l="l" t="t" r="r" b="b"/>
              <a:pathLst>
                <a:path w="3780790" h="678180">
                  <a:moveTo>
                    <a:pt x="3780285" y="0"/>
                  </a:moveTo>
                  <a:lnTo>
                    <a:pt x="0" y="0"/>
                  </a:lnTo>
                  <a:lnTo>
                    <a:pt x="0" y="677816"/>
                  </a:lnTo>
                  <a:lnTo>
                    <a:pt x="3780285" y="677816"/>
                  </a:lnTo>
                  <a:lnTo>
                    <a:pt x="3780285" y="0"/>
                  </a:lnTo>
                  <a:close/>
                </a:path>
              </a:pathLst>
            </a:custGeom>
            <a:solidFill>
              <a:srgbClr val="000000"/>
            </a:solidFill>
          </p:spPr>
          <p:txBody>
            <a:bodyPr wrap="square" lIns="0" tIns="0" rIns="0" bIns="0" rtlCol="0"/>
            <a:lstStyle/>
            <a:p>
              <a:endParaRPr/>
            </a:p>
          </p:txBody>
        </p:sp>
        <p:sp>
          <p:nvSpPr>
            <p:cNvPr id="36" name="object 36"/>
            <p:cNvSpPr/>
            <p:nvPr/>
          </p:nvSpPr>
          <p:spPr>
            <a:xfrm>
              <a:off x="698562" y="1569628"/>
              <a:ext cx="3780790" cy="482600"/>
            </a:xfrm>
            <a:custGeom>
              <a:avLst/>
              <a:gdLst/>
              <a:ahLst/>
              <a:cxnLst/>
              <a:rect l="l" t="t" r="r" b="b"/>
              <a:pathLst>
                <a:path w="3780790" h="482600">
                  <a:moveTo>
                    <a:pt x="3780285" y="0"/>
                  </a:moveTo>
                  <a:lnTo>
                    <a:pt x="0" y="0"/>
                  </a:lnTo>
                  <a:lnTo>
                    <a:pt x="0" y="431269"/>
                  </a:lnTo>
                  <a:lnTo>
                    <a:pt x="4008" y="450994"/>
                  </a:lnTo>
                  <a:lnTo>
                    <a:pt x="14922" y="467147"/>
                  </a:lnTo>
                  <a:lnTo>
                    <a:pt x="31075" y="478061"/>
                  </a:lnTo>
                  <a:lnTo>
                    <a:pt x="50800" y="482069"/>
                  </a:lnTo>
                  <a:lnTo>
                    <a:pt x="3729484" y="482069"/>
                  </a:lnTo>
                  <a:lnTo>
                    <a:pt x="3749209" y="478061"/>
                  </a:lnTo>
                  <a:lnTo>
                    <a:pt x="3765362" y="467147"/>
                  </a:lnTo>
                  <a:lnTo>
                    <a:pt x="3776276" y="450994"/>
                  </a:lnTo>
                  <a:lnTo>
                    <a:pt x="3780285" y="431269"/>
                  </a:lnTo>
                  <a:lnTo>
                    <a:pt x="3780285" y="0"/>
                  </a:lnTo>
                  <a:close/>
                </a:path>
              </a:pathLst>
            </a:custGeom>
            <a:solidFill>
              <a:srgbClr val="E9E9F2"/>
            </a:solidFill>
          </p:spPr>
          <p:txBody>
            <a:bodyPr wrap="square" lIns="0" tIns="0" rIns="0" bIns="0" rtlCol="0"/>
            <a:lstStyle/>
            <a:p>
              <a:endParaRPr/>
            </a:p>
          </p:txBody>
        </p:sp>
      </p:grpSp>
      <p:sp>
        <p:nvSpPr>
          <p:cNvPr id="37" name="object 37"/>
          <p:cNvSpPr txBox="1"/>
          <p:nvPr/>
        </p:nvSpPr>
        <p:spPr>
          <a:xfrm>
            <a:off x="698563" y="1424682"/>
            <a:ext cx="3831590" cy="678180"/>
          </a:xfrm>
          <a:prstGeom prst="rect">
            <a:avLst/>
          </a:prstGeom>
        </p:spPr>
        <p:txBody>
          <a:bodyPr vert="horz" wrap="square" lIns="0" tIns="5715" rIns="0" bIns="0" rtlCol="0">
            <a:spAutoFit/>
          </a:bodyPr>
          <a:lstStyle/>
          <a:p>
            <a:pPr>
              <a:lnSpc>
                <a:spcPct val="100000"/>
              </a:lnSpc>
              <a:spcBef>
                <a:spcPts val="45"/>
              </a:spcBef>
            </a:pPr>
            <a:endParaRPr sz="1000">
              <a:latin typeface="Times New Roman"/>
              <a:cs typeface="Times New Roman"/>
            </a:endParaRPr>
          </a:p>
          <a:p>
            <a:pPr marL="50800">
              <a:lnSpc>
                <a:spcPts val="1200"/>
              </a:lnSpc>
            </a:pPr>
            <a:r>
              <a:rPr sz="1000" spc="-10" dirty="0">
                <a:latin typeface="Tahoma"/>
                <a:cs typeface="Tahoma"/>
              </a:rPr>
              <a:t>Let</a:t>
            </a:r>
            <a:r>
              <a:rPr sz="1000" spc="15" dirty="0">
                <a:latin typeface="Tahoma"/>
                <a:cs typeface="Tahoma"/>
              </a:rPr>
              <a:t> </a:t>
            </a:r>
            <a:r>
              <a:rPr sz="1000" i="1" spc="-270" dirty="0">
                <a:latin typeface="Arial"/>
                <a:cs typeface="Arial"/>
              </a:rPr>
              <a:t>a</a:t>
            </a:r>
            <a:r>
              <a:rPr sz="1000" spc="-270" dirty="0">
                <a:latin typeface="Tahoma"/>
                <a:cs typeface="Tahoma"/>
              </a:rPr>
              <a:t>¯</a:t>
            </a:r>
            <a:r>
              <a:rPr sz="1000" spc="-200" dirty="0">
                <a:latin typeface="Tahoma"/>
                <a:cs typeface="Tahoma"/>
              </a:rPr>
              <a:t> </a:t>
            </a:r>
            <a:r>
              <a:rPr sz="1000" spc="45" dirty="0">
                <a:latin typeface="Tahoma"/>
                <a:cs typeface="Tahoma"/>
              </a:rPr>
              <a:t>=</a:t>
            </a:r>
            <a:r>
              <a:rPr sz="1000" spc="-35" dirty="0">
                <a:latin typeface="Tahoma"/>
                <a:cs typeface="Tahoma"/>
              </a:rPr>
              <a:t> (</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dirty="0">
                <a:latin typeface="Tahoma"/>
                <a:cs typeface="Tahoma"/>
              </a:rPr>
              <a:t>)</a:t>
            </a:r>
            <a:r>
              <a:rPr sz="1000" spc="25" dirty="0">
                <a:latin typeface="Tahoma"/>
                <a:cs typeface="Tahoma"/>
              </a:rPr>
              <a:t> </a:t>
            </a:r>
            <a:r>
              <a:rPr sz="1000" spc="-45" dirty="0">
                <a:latin typeface="Tahoma"/>
                <a:cs typeface="Tahoma"/>
              </a:rPr>
              <a:t>and</a:t>
            </a:r>
            <a:r>
              <a:rPr sz="1000" spc="20" dirty="0">
                <a:latin typeface="Tahoma"/>
                <a:cs typeface="Tahoma"/>
              </a:rPr>
              <a:t> </a:t>
            </a:r>
            <a:r>
              <a:rPr sz="1000" i="1" spc="-270" dirty="0">
                <a:latin typeface="Arial"/>
                <a:cs typeface="Arial"/>
              </a:rPr>
              <a:t>b</a:t>
            </a:r>
            <a:r>
              <a:rPr sz="1500" spc="-405" baseline="13888" dirty="0">
                <a:latin typeface="Tahoma"/>
                <a:cs typeface="Tahoma"/>
              </a:rPr>
              <a:t>¯</a:t>
            </a:r>
            <a:r>
              <a:rPr sz="1500" spc="-284" baseline="13888" dirty="0">
                <a:latin typeface="Tahoma"/>
                <a:cs typeface="Tahoma"/>
              </a:rPr>
              <a:t> </a:t>
            </a:r>
            <a:r>
              <a:rPr sz="1000" spc="45" dirty="0">
                <a:latin typeface="Tahoma"/>
                <a:cs typeface="Tahoma"/>
              </a:rPr>
              <a:t>=</a:t>
            </a:r>
            <a:r>
              <a:rPr sz="1000" spc="-35" dirty="0">
                <a:latin typeface="Tahoma"/>
                <a:cs typeface="Tahoma"/>
              </a:rPr>
              <a:t> </a:t>
            </a:r>
            <a:r>
              <a:rPr sz="1000" spc="-25" dirty="0">
                <a:latin typeface="Tahoma"/>
                <a:cs typeface="Tahoma"/>
              </a:rPr>
              <a:t>(</a:t>
            </a:r>
            <a:r>
              <a:rPr sz="1000" i="1" spc="-25" dirty="0">
                <a:latin typeface="Arial"/>
                <a:cs typeface="Arial"/>
              </a:rPr>
              <a:t>b</a:t>
            </a:r>
            <a:r>
              <a:rPr sz="1050" spc="-37" baseline="-11904" dirty="0">
                <a:latin typeface="Microsoft Sans Serif"/>
                <a:cs typeface="Microsoft Sans Serif"/>
              </a:rPr>
              <a:t>1</a:t>
            </a:r>
            <a:r>
              <a:rPr sz="1000" i="1" spc="-2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20" dirty="0">
                <a:latin typeface="Arial"/>
                <a:cs typeface="Arial"/>
              </a:rPr>
              <a:t>b</a:t>
            </a:r>
            <a:r>
              <a:rPr sz="1050" i="1" spc="-30" baseline="-11904" dirty="0">
                <a:latin typeface="Arial"/>
                <a:cs typeface="Arial"/>
              </a:rPr>
              <a:t>m</a:t>
            </a:r>
            <a:r>
              <a:rPr sz="1050" i="1" spc="-202" baseline="-11904" dirty="0">
                <a:latin typeface="Arial"/>
                <a:cs typeface="Arial"/>
              </a:rPr>
              <a:t> </a:t>
            </a:r>
            <a:r>
              <a:rPr sz="1000" dirty="0">
                <a:latin typeface="Tahoma"/>
                <a:cs typeface="Tahoma"/>
              </a:rPr>
              <a:t>)</a:t>
            </a:r>
            <a:r>
              <a:rPr sz="1000" spc="20" dirty="0">
                <a:latin typeface="Tahoma"/>
                <a:cs typeface="Tahoma"/>
              </a:rPr>
              <a:t> </a:t>
            </a:r>
            <a:r>
              <a:rPr sz="1000" spc="-50" dirty="0">
                <a:latin typeface="Tahoma"/>
                <a:cs typeface="Tahoma"/>
              </a:rPr>
              <a:t>be</a:t>
            </a:r>
            <a:r>
              <a:rPr sz="1000" spc="15" dirty="0">
                <a:latin typeface="Tahoma"/>
                <a:cs typeface="Tahoma"/>
              </a:rPr>
              <a:t> </a:t>
            </a:r>
            <a:r>
              <a:rPr sz="1000" spc="-50" dirty="0">
                <a:latin typeface="Tahoma"/>
                <a:cs typeface="Tahoma"/>
              </a:rPr>
              <a:t>two</a:t>
            </a:r>
            <a:r>
              <a:rPr sz="1000" spc="15" dirty="0">
                <a:latin typeface="Tahoma"/>
                <a:cs typeface="Tahoma"/>
              </a:rPr>
              <a:t> </a:t>
            </a:r>
            <a:r>
              <a:rPr sz="1000" spc="-35" dirty="0">
                <a:latin typeface="Tahoma"/>
                <a:cs typeface="Tahoma"/>
              </a:rPr>
              <a:t>tuples.</a:t>
            </a:r>
            <a:r>
              <a:rPr sz="1000" spc="130" dirty="0">
                <a:latin typeface="Tahoma"/>
                <a:cs typeface="Tahoma"/>
              </a:rPr>
              <a:t> </a:t>
            </a:r>
            <a:r>
              <a:rPr sz="1000" spc="-20" dirty="0">
                <a:latin typeface="Tahoma"/>
                <a:cs typeface="Tahoma"/>
              </a:rPr>
              <a:t>Then</a:t>
            </a:r>
            <a:endParaRPr sz="1000">
              <a:latin typeface="Tahoma"/>
              <a:cs typeface="Tahoma"/>
            </a:endParaRPr>
          </a:p>
          <a:p>
            <a:pPr marL="50800">
              <a:lnSpc>
                <a:spcPts val="1195"/>
              </a:lnSpc>
            </a:pPr>
            <a:r>
              <a:rPr sz="1000" i="1" spc="-210" dirty="0">
                <a:latin typeface="Arial"/>
                <a:cs typeface="Arial"/>
              </a:rPr>
              <a:t>a</a:t>
            </a:r>
            <a:r>
              <a:rPr sz="1000" spc="-210" dirty="0">
                <a:latin typeface="Tahoma"/>
                <a:cs typeface="Tahoma"/>
              </a:rPr>
              <a:t>¯ˆ</a:t>
            </a:r>
            <a:r>
              <a:rPr sz="1000" i="1" spc="-210" dirty="0">
                <a:latin typeface="Arial"/>
                <a:cs typeface="Arial"/>
              </a:rPr>
              <a:t>b</a:t>
            </a:r>
            <a:r>
              <a:rPr sz="1500" spc="-315" baseline="13888" dirty="0">
                <a:latin typeface="Tahoma"/>
                <a:cs typeface="Tahoma"/>
              </a:rPr>
              <a:t>¯</a:t>
            </a:r>
            <a:r>
              <a:rPr sz="1500" spc="-240" baseline="13888" dirty="0">
                <a:latin typeface="Tahoma"/>
                <a:cs typeface="Tahoma"/>
              </a:rPr>
              <a:t> </a:t>
            </a:r>
            <a:r>
              <a:rPr sz="1000" spc="55" dirty="0">
                <a:latin typeface="Lucida Sans Unicode"/>
                <a:cs typeface="Lucida Sans Unicode"/>
              </a:rPr>
              <a:t>⇌</a:t>
            </a:r>
            <a:r>
              <a:rPr sz="1000" spc="-40" dirty="0">
                <a:latin typeface="Lucida Sans Unicode"/>
                <a:cs typeface="Lucida Sans Unicode"/>
              </a:rPr>
              <a:t> </a:t>
            </a:r>
            <a:r>
              <a:rPr sz="1000" spc="-35" dirty="0">
                <a:latin typeface="Tahoma"/>
                <a:cs typeface="Tahoma"/>
              </a:rPr>
              <a:t>(</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40" dirty="0">
                <a:latin typeface="Arial"/>
                <a:cs typeface="Arial"/>
              </a:rPr>
              <a:t>a</a:t>
            </a:r>
            <a:r>
              <a:rPr sz="1050" i="1" spc="-60" baseline="-11904" dirty="0">
                <a:latin typeface="Arial"/>
                <a:cs typeface="Arial"/>
              </a:rPr>
              <a:t>n</a:t>
            </a:r>
            <a:r>
              <a:rPr sz="1000" i="1" spc="-40" dirty="0">
                <a:latin typeface="Verdana"/>
                <a:cs typeface="Verdana"/>
              </a:rPr>
              <a:t>,</a:t>
            </a:r>
            <a:r>
              <a:rPr sz="1000" i="1" spc="-185" dirty="0">
                <a:latin typeface="Verdana"/>
                <a:cs typeface="Verdana"/>
              </a:rPr>
              <a:t> </a:t>
            </a:r>
            <a:r>
              <a:rPr sz="1000" i="1" spc="-35" dirty="0">
                <a:latin typeface="Arial"/>
                <a:cs typeface="Arial"/>
              </a:rPr>
              <a:t>b</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20" dirty="0">
                <a:latin typeface="Arial"/>
                <a:cs typeface="Arial"/>
              </a:rPr>
              <a:t>b</a:t>
            </a:r>
            <a:r>
              <a:rPr sz="1050" i="1" spc="-30" baseline="-11904" dirty="0">
                <a:latin typeface="Arial"/>
                <a:cs typeface="Arial"/>
              </a:rPr>
              <a:t>m</a:t>
            </a:r>
            <a:r>
              <a:rPr sz="1050" i="1" spc="-202" baseline="-11904" dirty="0">
                <a:latin typeface="Arial"/>
                <a:cs typeface="Arial"/>
              </a:rPr>
              <a:t> </a:t>
            </a:r>
            <a:r>
              <a:rPr sz="1000" dirty="0">
                <a:latin typeface="Tahoma"/>
                <a:cs typeface="Tahoma"/>
              </a:rPr>
              <a:t>)</a:t>
            </a:r>
            <a:r>
              <a:rPr sz="1000" spc="20" dirty="0">
                <a:latin typeface="Tahoma"/>
                <a:cs typeface="Tahoma"/>
              </a:rPr>
              <a:t> </a:t>
            </a:r>
            <a:r>
              <a:rPr sz="1000" spc="-35" dirty="0">
                <a:latin typeface="Tahoma"/>
                <a:cs typeface="Tahoma"/>
              </a:rPr>
              <a:t>-</a:t>
            </a:r>
            <a:r>
              <a:rPr sz="1000" spc="25" dirty="0">
                <a:latin typeface="Tahoma"/>
                <a:cs typeface="Tahoma"/>
              </a:rPr>
              <a:t> </a:t>
            </a:r>
            <a:r>
              <a:rPr sz="1000" spc="-30" dirty="0">
                <a:latin typeface="Tahoma"/>
                <a:cs typeface="Tahoma"/>
              </a:rPr>
              <a:t>is</a:t>
            </a:r>
            <a:r>
              <a:rPr sz="1000" spc="20" dirty="0">
                <a:latin typeface="Tahoma"/>
                <a:cs typeface="Tahoma"/>
              </a:rPr>
              <a:t> </a:t>
            </a:r>
            <a:r>
              <a:rPr sz="1000" spc="-50" dirty="0">
                <a:latin typeface="Tahoma"/>
                <a:cs typeface="Tahoma"/>
              </a:rPr>
              <a:t>a</a:t>
            </a:r>
            <a:r>
              <a:rPr sz="1000" spc="15" dirty="0">
                <a:latin typeface="Tahoma"/>
                <a:cs typeface="Tahoma"/>
              </a:rPr>
              <a:t> </a:t>
            </a:r>
            <a:r>
              <a:rPr sz="1000" b="1" spc="-35" dirty="0">
                <a:latin typeface="Arial"/>
                <a:cs typeface="Arial"/>
              </a:rPr>
              <a:t>concatenation</a:t>
            </a:r>
            <a:r>
              <a:rPr sz="1000" b="1" spc="50" dirty="0">
                <a:latin typeface="Arial"/>
                <a:cs typeface="Arial"/>
              </a:rPr>
              <a:t> </a:t>
            </a:r>
            <a:r>
              <a:rPr sz="1000" spc="-30" dirty="0">
                <a:latin typeface="Tahoma"/>
                <a:cs typeface="Tahoma"/>
              </a:rPr>
              <a:t>of</a:t>
            </a:r>
            <a:r>
              <a:rPr sz="1000" spc="15" dirty="0">
                <a:latin typeface="Tahoma"/>
                <a:cs typeface="Tahoma"/>
              </a:rPr>
              <a:t> </a:t>
            </a:r>
            <a:r>
              <a:rPr sz="1000" spc="-35" dirty="0">
                <a:latin typeface="Tahoma"/>
                <a:cs typeface="Tahoma"/>
              </a:rPr>
              <a:t>tuples</a:t>
            </a:r>
            <a:r>
              <a:rPr sz="1000" spc="20" dirty="0">
                <a:latin typeface="Tahoma"/>
                <a:cs typeface="Tahoma"/>
              </a:rPr>
              <a:t> </a:t>
            </a:r>
            <a:r>
              <a:rPr sz="1000" i="1" spc="-270" dirty="0">
                <a:latin typeface="Arial"/>
                <a:cs typeface="Arial"/>
              </a:rPr>
              <a:t>a</a:t>
            </a:r>
            <a:r>
              <a:rPr sz="1000" spc="-270" dirty="0">
                <a:latin typeface="Tahoma"/>
                <a:cs typeface="Tahoma"/>
              </a:rPr>
              <a:t>¯</a:t>
            </a:r>
            <a:r>
              <a:rPr sz="1000" spc="-190" dirty="0">
                <a:latin typeface="Tahoma"/>
                <a:cs typeface="Tahoma"/>
              </a:rPr>
              <a:t> </a:t>
            </a:r>
            <a:r>
              <a:rPr sz="1000" spc="-45" dirty="0">
                <a:latin typeface="Tahoma"/>
                <a:cs typeface="Tahoma"/>
              </a:rPr>
              <a:t>and</a:t>
            </a:r>
            <a:endParaRPr sz="1000">
              <a:latin typeface="Tahoma"/>
              <a:cs typeface="Tahoma"/>
            </a:endParaRPr>
          </a:p>
          <a:p>
            <a:pPr marL="50800">
              <a:lnSpc>
                <a:spcPts val="1200"/>
              </a:lnSpc>
            </a:pPr>
            <a:r>
              <a:rPr sz="1000" i="1" spc="-200" dirty="0">
                <a:latin typeface="Arial"/>
                <a:cs typeface="Arial"/>
              </a:rPr>
              <a:t>b</a:t>
            </a:r>
            <a:r>
              <a:rPr sz="1500" spc="-300" baseline="13888" dirty="0">
                <a:latin typeface="Tahoma"/>
                <a:cs typeface="Tahoma"/>
              </a:rPr>
              <a:t>¯</a:t>
            </a:r>
            <a:r>
              <a:rPr sz="1000" spc="-200" dirty="0">
                <a:latin typeface="Tahoma"/>
                <a:cs typeface="Tahoma"/>
              </a:rPr>
              <a:t>.</a:t>
            </a:r>
            <a:endParaRPr sz="1000">
              <a:latin typeface="Tahoma"/>
              <a:cs typeface="Tahoma"/>
            </a:endParaRPr>
          </a:p>
        </p:txBody>
      </p:sp>
      <p:sp>
        <p:nvSpPr>
          <p:cNvPr id="38" name="object 38"/>
          <p:cNvSpPr/>
          <p:nvPr/>
        </p:nvSpPr>
        <p:spPr>
          <a:xfrm>
            <a:off x="698562" y="2203614"/>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9" name="object 39"/>
          <p:cNvSpPr txBox="1"/>
          <p:nvPr/>
        </p:nvSpPr>
        <p:spPr>
          <a:xfrm>
            <a:off x="749363" y="2233553"/>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40" name="object 40"/>
          <p:cNvGrpSpPr/>
          <p:nvPr/>
        </p:nvGrpSpPr>
        <p:grpSpPr>
          <a:xfrm>
            <a:off x="698562" y="2260548"/>
            <a:ext cx="3831590" cy="411480"/>
            <a:chOff x="698562" y="2260548"/>
            <a:chExt cx="3831590" cy="411480"/>
          </a:xfrm>
        </p:grpSpPr>
        <p:pic>
          <p:nvPicPr>
            <p:cNvPr id="41" name="object 41"/>
            <p:cNvPicPr/>
            <p:nvPr/>
          </p:nvPicPr>
          <p:blipFill>
            <a:blip r:embed="rId8" cstate="print"/>
            <a:stretch>
              <a:fillRect/>
            </a:stretch>
          </p:blipFill>
          <p:spPr>
            <a:xfrm>
              <a:off x="698563" y="2366835"/>
              <a:ext cx="3780284" cy="50609"/>
            </a:xfrm>
            <a:prstGeom prst="rect">
              <a:avLst/>
            </a:prstGeom>
          </p:spPr>
        </p:pic>
        <p:sp>
          <p:nvSpPr>
            <p:cNvPr id="42" name="object 42"/>
            <p:cNvSpPr/>
            <p:nvPr/>
          </p:nvSpPr>
          <p:spPr>
            <a:xfrm>
              <a:off x="749363" y="2260548"/>
              <a:ext cx="3780790" cy="411480"/>
            </a:xfrm>
            <a:custGeom>
              <a:avLst/>
              <a:gdLst/>
              <a:ahLst/>
              <a:cxnLst/>
              <a:rect l="l" t="t" r="r" b="b"/>
              <a:pathLst>
                <a:path w="3780790" h="411480">
                  <a:moveTo>
                    <a:pt x="3780285" y="0"/>
                  </a:moveTo>
                  <a:lnTo>
                    <a:pt x="0" y="0"/>
                  </a:lnTo>
                  <a:lnTo>
                    <a:pt x="0" y="411406"/>
                  </a:lnTo>
                  <a:lnTo>
                    <a:pt x="3780285" y="411406"/>
                  </a:lnTo>
                  <a:lnTo>
                    <a:pt x="3780285" y="0"/>
                  </a:lnTo>
                  <a:close/>
                </a:path>
              </a:pathLst>
            </a:custGeom>
            <a:solidFill>
              <a:srgbClr val="000000"/>
            </a:solidFill>
          </p:spPr>
          <p:txBody>
            <a:bodyPr wrap="square" lIns="0" tIns="0" rIns="0" bIns="0" rtlCol="0"/>
            <a:lstStyle/>
            <a:p>
              <a:endParaRPr/>
            </a:p>
          </p:txBody>
        </p:sp>
        <p:sp>
          <p:nvSpPr>
            <p:cNvPr id="43" name="object 43"/>
            <p:cNvSpPr/>
            <p:nvPr/>
          </p:nvSpPr>
          <p:spPr>
            <a:xfrm>
              <a:off x="698562" y="2411117"/>
              <a:ext cx="3780790" cy="210185"/>
            </a:xfrm>
            <a:custGeom>
              <a:avLst/>
              <a:gdLst/>
              <a:ahLst/>
              <a:cxnLst/>
              <a:rect l="l" t="t" r="r" b="b"/>
              <a:pathLst>
                <a:path w="3780790" h="210185">
                  <a:moveTo>
                    <a:pt x="3780285" y="0"/>
                  </a:moveTo>
                  <a:lnTo>
                    <a:pt x="0" y="0"/>
                  </a:lnTo>
                  <a:lnTo>
                    <a:pt x="0" y="159236"/>
                  </a:lnTo>
                  <a:lnTo>
                    <a:pt x="4008" y="178960"/>
                  </a:lnTo>
                  <a:lnTo>
                    <a:pt x="14922" y="195113"/>
                  </a:lnTo>
                  <a:lnTo>
                    <a:pt x="31075" y="206027"/>
                  </a:lnTo>
                  <a:lnTo>
                    <a:pt x="50800" y="210036"/>
                  </a:lnTo>
                  <a:lnTo>
                    <a:pt x="3729484" y="210036"/>
                  </a:lnTo>
                  <a:lnTo>
                    <a:pt x="3749209" y="206027"/>
                  </a:lnTo>
                  <a:lnTo>
                    <a:pt x="3765362" y="195113"/>
                  </a:lnTo>
                  <a:lnTo>
                    <a:pt x="3776276" y="178960"/>
                  </a:lnTo>
                  <a:lnTo>
                    <a:pt x="3780285" y="159236"/>
                  </a:lnTo>
                  <a:lnTo>
                    <a:pt x="3780285" y="0"/>
                  </a:lnTo>
                  <a:close/>
                </a:path>
              </a:pathLst>
            </a:custGeom>
            <a:solidFill>
              <a:srgbClr val="E9E9F2"/>
            </a:solidFill>
          </p:spPr>
          <p:txBody>
            <a:bodyPr wrap="square" lIns="0" tIns="0" rIns="0" bIns="0" rtlCol="0"/>
            <a:lstStyle/>
            <a:p>
              <a:endParaRPr/>
            </a:p>
          </p:txBody>
        </p:sp>
      </p:grpSp>
      <p:sp>
        <p:nvSpPr>
          <p:cNvPr id="44" name="object 44"/>
          <p:cNvSpPr txBox="1"/>
          <p:nvPr/>
        </p:nvSpPr>
        <p:spPr>
          <a:xfrm>
            <a:off x="698563" y="2260548"/>
            <a:ext cx="3831590" cy="411480"/>
          </a:xfrm>
          <a:prstGeom prst="rect">
            <a:avLst/>
          </a:prstGeom>
        </p:spPr>
        <p:txBody>
          <a:bodyPr vert="horz" wrap="square" lIns="0" tIns="3810" rIns="0" bIns="0" rtlCol="0">
            <a:spAutoFit/>
          </a:bodyPr>
          <a:lstStyle/>
          <a:p>
            <a:pPr>
              <a:lnSpc>
                <a:spcPct val="100000"/>
              </a:lnSpc>
              <a:spcBef>
                <a:spcPts val="30"/>
              </a:spcBef>
            </a:pPr>
            <a:endParaRPr sz="1050">
              <a:latin typeface="Times New Roman"/>
              <a:cs typeface="Times New Roman"/>
            </a:endParaRPr>
          </a:p>
          <a:p>
            <a:pPr marL="50800">
              <a:lnSpc>
                <a:spcPct val="100000"/>
              </a:lnSpc>
            </a:pPr>
            <a:r>
              <a:rPr sz="1000" spc="-40" dirty="0">
                <a:latin typeface="Tahoma"/>
                <a:cs typeface="Tahoma"/>
              </a:rPr>
              <a:t>It</a:t>
            </a:r>
            <a:r>
              <a:rPr sz="1000" spc="20" dirty="0">
                <a:latin typeface="Tahoma"/>
                <a:cs typeface="Tahoma"/>
              </a:rPr>
              <a:t> </a:t>
            </a:r>
            <a:r>
              <a:rPr sz="1000" spc="-30" dirty="0">
                <a:latin typeface="Tahoma"/>
                <a:cs typeface="Tahoma"/>
              </a:rPr>
              <a:t>is</a:t>
            </a:r>
            <a:r>
              <a:rPr sz="1000" spc="20" dirty="0">
                <a:latin typeface="Tahoma"/>
                <a:cs typeface="Tahoma"/>
              </a:rPr>
              <a:t> </a:t>
            </a:r>
            <a:r>
              <a:rPr sz="1000" spc="-35" dirty="0">
                <a:latin typeface="Tahoma"/>
                <a:cs typeface="Tahoma"/>
              </a:rPr>
              <a:t>cle</a:t>
            </a:r>
            <a:r>
              <a:rPr sz="1000" spc="-75" dirty="0">
                <a:latin typeface="Tahoma"/>
                <a:cs typeface="Tahoma"/>
              </a:rPr>
              <a:t>a</a:t>
            </a:r>
            <a:r>
              <a:rPr sz="1000" spc="-25" dirty="0">
                <a:latin typeface="Tahoma"/>
                <a:cs typeface="Tahoma"/>
              </a:rPr>
              <a:t>r,</a:t>
            </a:r>
            <a:r>
              <a:rPr sz="1000" spc="20" dirty="0">
                <a:latin typeface="Tahoma"/>
                <a:cs typeface="Tahoma"/>
              </a:rPr>
              <a:t> </a:t>
            </a:r>
            <a:r>
              <a:rPr sz="1000" spc="-10" dirty="0">
                <a:latin typeface="Tahoma"/>
                <a:cs typeface="Tahoma"/>
              </a:rPr>
              <a:t>that</a:t>
            </a:r>
            <a:r>
              <a:rPr sz="1000" spc="20" dirty="0">
                <a:latin typeface="Tahoma"/>
                <a:cs typeface="Tahoma"/>
              </a:rPr>
              <a:t> </a:t>
            </a:r>
            <a:r>
              <a:rPr sz="1000" i="1" spc="10" dirty="0">
                <a:latin typeface="Arial"/>
                <a:cs typeface="Arial"/>
              </a:rPr>
              <a:t>l</a:t>
            </a:r>
            <a:r>
              <a:rPr sz="1000" i="1" spc="-185" dirty="0">
                <a:latin typeface="Arial"/>
                <a:cs typeface="Arial"/>
              </a:rPr>
              <a:t> </a:t>
            </a:r>
            <a:r>
              <a:rPr sz="1000" dirty="0">
                <a:latin typeface="Tahoma"/>
                <a:cs typeface="Tahoma"/>
              </a:rPr>
              <a:t>(</a:t>
            </a:r>
            <a:r>
              <a:rPr sz="1000" i="1" spc="-484" dirty="0">
                <a:latin typeface="Arial"/>
                <a:cs typeface="Arial"/>
              </a:rPr>
              <a:t>a</a:t>
            </a:r>
            <a:r>
              <a:rPr sz="1000" spc="-55" dirty="0">
                <a:latin typeface="Tahoma"/>
                <a:cs typeface="Tahoma"/>
              </a:rPr>
              <a:t>¯</a:t>
            </a:r>
            <a:r>
              <a:rPr sz="1000" spc="30" dirty="0">
                <a:latin typeface="Tahoma"/>
                <a:cs typeface="Tahoma"/>
              </a:rPr>
              <a:t>ˆ</a:t>
            </a:r>
            <a:r>
              <a:rPr sz="1000" i="1" spc="-490" dirty="0">
                <a:latin typeface="Arial"/>
                <a:cs typeface="Arial"/>
              </a:rPr>
              <a:t>b</a:t>
            </a:r>
            <a:r>
              <a:rPr sz="1500" spc="-120" baseline="13888" dirty="0">
                <a:latin typeface="Tahoma"/>
                <a:cs typeface="Tahoma"/>
              </a:rPr>
              <a:t>¯</a:t>
            </a:r>
            <a:r>
              <a:rPr sz="1000" dirty="0">
                <a:latin typeface="Tahoma"/>
                <a:cs typeface="Tahoma"/>
              </a:rPr>
              <a:t>)</a:t>
            </a:r>
            <a:r>
              <a:rPr sz="1000" spc="-35" dirty="0">
                <a:latin typeface="Tahoma"/>
                <a:cs typeface="Tahoma"/>
              </a:rPr>
              <a:t> </a:t>
            </a:r>
            <a:r>
              <a:rPr sz="1000" spc="45" dirty="0">
                <a:latin typeface="Tahoma"/>
                <a:cs typeface="Tahoma"/>
              </a:rPr>
              <a:t>=</a:t>
            </a:r>
            <a:r>
              <a:rPr sz="1000" spc="20" dirty="0">
                <a:latin typeface="Tahoma"/>
                <a:cs typeface="Tahoma"/>
              </a:rPr>
              <a:t> </a:t>
            </a:r>
            <a:r>
              <a:rPr sz="1000" spc="-5" dirty="0">
                <a:latin typeface="Tahoma"/>
                <a:cs typeface="Tahoma"/>
              </a:rPr>
              <a:t>?</a:t>
            </a:r>
            <a:endParaRPr sz="1000">
              <a:latin typeface="Tahoma"/>
              <a:cs typeface="Tahoma"/>
            </a:endParaRP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016760" cy="244475"/>
          </a:xfrm>
          <a:prstGeom prst="rect">
            <a:avLst/>
          </a:prstGeom>
        </p:spPr>
        <p:txBody>
          <a:bodyPr vert="horz" wrap="square" lIns="0" tIns="17145" rIns="0" bIns="0" rtlCol="0">
            <a:spAutoFit/>
          </a:bodyPr>
          <a:lstStyle/>
          <a:p>
            <a:pPr marL="12700">
              <a:lnSpc>
                <a:spcPct val="100000"/>
              </a:lnSpc>
              <a:spcBef>
                <a:spcPts val="135"/>
              </a:spcBef>
            </a:pPr>
            <a:r>
              <a:rPr spc="-25" dirty="0"/>
              <a:t>Concatenation</a:t>
            </a:r>
            <a:r>
              <a:rPr spc="95" dirty="0"/>
              <a:t> </a:t>
            </a:r>
            <a:r>
              <a:rPr spc="-30" dirty="0"/>
              <a:t>of</a:t>
            </a:r>
            <a:r>
              <a:rPr spc="100" dirty="0"/>
              <a:t> </a:t>
            </a:r>
            <a:r>
              <a:rPr spc="-40" dirty="0"/>
              <a:t>tuples</a:t>
            </a:r>
          </a:p>
        </p:txBody>
      </p:sp>
      <p:sp>
        <p:nvSpPr>
          <p:cNvPr id="30" name="object 30"/>
          <p:cNvSpPr txBox="1"/>
          <p:nvPr/>
        </p:nvSpPr>
        <p:spPr>
          <a:xfrm>
            <a:off x="736663" y="1102657"/>
            <a:ext cx="2962910" cy="177800"/>
          </a:xfrm>
          <a:prstGeom prst="rect">
            <a:avLst/>
          </a:prstGeom>
        </p:spPr>
        <p:txBody>
          <a:bodyPr vert="horz" wrap="square" lIns="0" tIns="12065" rIns="0" bIns="0" rtlCol="0">
            <a:spAutoFit/>
          </a:bodyPr>
          <a:lstStyle/>
          <a:p>
            <a:pPr marL="12700">
              <a:lnSpc>
                <a:spcPct val="100000"/>
              </a:lnSpc>
              <a:spcBef>
                <a:spcPts val="95"/>
              </a:spcBef>
            </a:pPr>
            <a:r>
              <a:rPr sz="1000" spc="-40" dirty="0">
                <a:latin typeface="Tahoma"/>
                <a:cs typeface="Tahoma"/>
              </a:rPr>
              <a:t>We</a:t>
            </a:r>
            <a:r>
              <a:rPr sz="1000" spc="15" dirty="0">
                <a:latin typeface="Tahoma"/>
                <a:cs typeface="Tahoma"/>
              </a:rPr>
              <a:t> </a:t>
            </a:r>
            <a:r>
              <a:rPr sz="1000" spc="-40" dirty="0">
                <a:latin typeface="Tahoma"/>
                <a:cs typeface="Tahoma"/>
              </a:rPr>
              <a:t>can</a:t>
            </a:r>
            <a:r>
              <a:rPr sz="1000" spc="10" dirty="0">
                <a:latin typeface="Tahoma"/>
                <a:cs typeface="Tahoma"/>
              </a:rPr>
              <a:t> </a:t>
            </a:r>
            <a:r>
              <a:rPr sz="1000" spc="-45" dirty="0">
                <a:latin typeface="Tahoma"/>
                <a:cs typeface="Tahoma"/>
              </a:rPr>
              <a:t>define</a:t>
            </a:r>
            <a:r>
              <a:rPr sz="1000" spc="20" dirty="0">
                <a:latin typeface="Tahoma"/>
                <a:cs typeface="Tahoma"/>
              </a:rPr>
              <a:t> </a:t>
            </a:r>
            <a:r>
              <a:rPr sz="1000" spc="-50" dirty="0">
                <a:latin typeface="Tahoma"/>
                <a:cs typeface="Tahoma"/>
              </a:rPr>
              <a:t>an</a:t>
            </a:r>
            <a:r>
              <a:rPr sz="1000" spc="15" dirty="0">
                <a:latin typeface="Tahoma"/>
                <a:cs typeface="Tahoma"/>
              </a:rPr>
              <a:t> </a:t>
            </a:r>
            <a:r>
              <a:rPr sz="1000" spc="-30" dirty="0">
                <a:latin typeface="Tahoma"/>
                <a:cs typeface="Tahoma"/>
              </a:rPr>
              <a:t>operation</a:t>
            </a:r>
            <a:r>
              <a:rPr sz="1000" spc="15" dirty="0">
                <a:latin typeface="Tahoma"/>
                <a:cs typeface="Tahoma"/>
              </a:rPr>
              <a:t> </a:t>
            </a:r>
            <a:r>
              <a:rPr sz="1000" spc="-30" dirty="0">
                <a:latin typeface="Tahoma"/>
                <a:cs typeface="Tahoma"/>
              </a:rPr>
              <a:t>of</a:t>
            </a:r>
            <a:r>
              <a:rPr sz="1000" spc="15" dirty="0">
                <a:latin typeface="Tahoma"/>
                <a:cs typeface="Tahoma"/>
              </a:rPr>
              <a:t> </a:t>
            </a:r>
            <a:r>
              <a:rPr sz="1000" spc="-30" dirty="0">
                <a:latin typeface="Tahoma"/>
                <a:cs typeface="Tahoma"/>
              </a:rPr>
              <a:t>concatenation</a:t>
            </a:r>
            <a:r>
              <a:rPr sz="1000" spc="10" dirty="0">
                <a:latin typeface="Tahoma"/>
                <a:cs typeface="Tahoma"/>
              </a:rPr>
              <a:t> </a:t>
            </a:r>
            <a:r>
              <a:rPr sz="1000" spc="-45" dirty="0">
                <a:latin typeface="Tahoma"/>
                <a:cs typeface="Tahoma"/>
              </a:rPr>
              <a:t>on</a:t>
            </a:r>
            <a:r>
              <a:rPr sz="1000" spc="15" dirty="0">
                <a:latin typeface="Tahoma"/>
                <a:cs typeface="Tahoma"/>
              </a:rPr>
              <a:t> </a:t>
            </a:r>
            <a:r>
              <a:rPr sz="1000" spc="-35" dirty="0">
                <a:latin typeface="Tahoma"/>
                <a:cs typeface="Tahoma"/>
              </a:rPr>
              <a:t>tuples.</a:t>
            </a:r>
            <a:endParaRPr sz="1000">
              <a:latin typeface="Tahoma"/>
              <a:cs typeface="Tahoma"/>
            </a:endParaRPr>
          </a:p>
        </p:txBody>
      </p:sp>
      <p:sp>
        <p:nvSpPr>
          <p:cNvPr id="31" name="object 31"/>
          <p:cNvSpPr/>
          <p:nvPr/>
        </p:nvSpPr>
        <p:spPr>
          <a:xfrm>
            <a:off x="698562" y="1367751"/>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2" name="object 32"/>
          <p:cNvSpPr txBox="1"/>
          <p:nvPr/>
        </p:nvSpPr>
        <p:spPr>
          <a:xfrm>
            <a:off x="749363" y="1397678"/>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3" name="object 33"/>
          <p:cNvGrpSpPr/>
          <p:nvPr/>
        </p:nvGrpSpPr>
        <p:grpSpPr>
          <a:xfrm>
            <a:off x="698562" y="1424682"/>
            <a:ext cx="3831590" cy="678180"/>
            <a:chOff x="698562" y="1424682"/>
            <a:chExt cx="3831590" cy="678180"/>
          </a:xfrm>
        </p:grpSpPr>
        <p:pic>
          <p:nvPicPr>
            <p:cNvPr id="34" name="object 34"/>
            <p:cNvPicPr/>
            <p:nvPr/>
          </p:nvPicPr>
          <p:blipFill>
            <a:blip r:embed="rId7" cstate="print"/>
            <a:stretch>
              <a:fillRect/>
            </a:stretch>
          </p:blipFill>
          <p:spPr>
            <a:xfrm>
              <a:off x="698563" y="1525346"/>
              <a:ext cx="3780284" cy="50609"/>
            </a:xfrm>
            <a:prstGeom prst="rect">
              <a:avLst/>
            </a:prstGeom>
          </p:spPr>
        </p:pic>
        <p:sp>
          <p:nvSpPr>
            <p:cNvPr id="35" name="object 35"/>
            <p:cNvSpPr/>
            <p:nvPr/>
          </p:nvSpPr>
          <p:spPr>
            <a:xfrm>
              <a:off x="749363" y="1424682"/>
              <a:ext cx="3780790" cy="678180"/>
            </a:xfrm>
            <a:custGeom>
              <a:avLst/>
              <a:gdLst/>
              <a:ahLst/>
              <a:cxnLst/>
              <a:rect l="l" t="t" r="r" b="b"/>
              <a:pathLst>
                <a:path w="3780790" h="678180">
                  <a:moveTo>
                    <a:pt x="3780285" y="0"/>
                  </a:moveTo>
                  <a:lnTo>
                    <a:pt x="0" y="0"/>
                  </a:lnTo>
                  <a:lnTo>
                    <a:pt x="0" y="677816"/>
                  </a:lnTo>
                  <a:lnTo>
                    <a:pt x="3780285" y="677816"/>
                  </a:lnTo>
                  <a:lnTo>
                    <a:pt x="3780285" y="0"/>
                  </a:lnTo>
                  <a:close/>
                </a:path>
              </a:pathLst>
            </a:custGeom>
            <a:solidFill>
              <a:srgbClr val="000000"/>
            </a:solidFill>
          </p:spPr>
          <p:txBody>
            <a:bodyPr wrap="square" lIns="0" tIns="0" rIns="0" bIns="0" rtlCol="0"/>
            <a:lstStyle/>
            <a:p>
              <a:endParaRPr/>
            </a:p>
          </p:txBody>
        </p:sp>
        <p:sp>
          <p:nvSpPr>
            <p:cNvPr id="36" name="object 36"/>
            <p:cNvSpPr/>
            <p:nvPr/>
          </p:nvSpPr>
          <p:spPr>
            <a:xfrm>
              <a:off x="698562" y="1569628"/>
              <a:ext cx="3780790" cy="482600"/>
            </a:xfrm>
            <a:custGeom>
              <a:avLst/>
              <a:gdLst/>
              <a:ahLst/>
              <a:cxnLst/>
              <a:rect l="l" t="t" r="r" b="b"/>
              <a:pathLst>
                <a:path w="3780790" h="482600">
                  <a:moveTo>
                    <a:pt x="3780285" y="0"/>
                  </a:moveTo>
                  <a:lnTo>
                    <a:pt x="0" y="0"/>
                  </a:lnTo>
                  <a:lnTo>
                    <a:pt x="0" y="431269"/>
                  </a:lnTo>
                  <a:lnTo>
                    <a:pt x="4008" y="450994"/>
                  </a:lnTo>
                  <a:lnTo>
                    <a:pt x="14922" y="467147"/>
                  </a:lnTo>
                  <a:lnTo>
                    <a:pt x="31075" y="478061"/>
                  </a:lnTo>
                  <a:lnTo>
                    <a:pt x="50800" y="482069"/>
                  </a:lnTo>
                  <a:lnTo>
                    <a:pt x="3729484" y="482069"/>
                  </a:lnTo>
                  <a:lnTo>
                    <a:pt x="3749209" y="478061"/>
                  </a:lnTo>
                  <a:lnTo>
                    <a:pt x="3765362" y="467147"/>
                  </a:lnTo>
                  <a:lnTo>
                    <a:pt x="3776276" y="450994"/>
                  </a:lnTo>
                  <a:lnTo>
                    <a:pt x="3780285" y="431269"/>
                  </a:lnTo>
                  <a:lnTo>
                    <a:pt x="3780285" y="0"/>
                  </a:lnTo>
                  <a:close/>
                </a:path>
              </a:pathLst>
            </a:custGeom>
            <a:solidFill>
              <a:srgbClr val="E9E9F2"/>
            </a:solidFill>
          </p:spPr>
          <p:txBody>
            <a:bodyPr wrap="square" lIns="0" tIns="0" rIns="0" bIns="0" rtlCol="0"/>
            <a:lstStyle/>
            <a:p>
              <a:endParaRPr/>
            </a:p>
          </p:txBody>
        </p:sp>
      </p:grpSp>
      <p:sp>
        <p:nvSpPr>
          <p:cNvPr id="37" name="object 37"/>
          <p:cNvSpPr txBox="1"/>
          <p:nvPr/>
        </p:nvSpPr>
        <p:spPr>
          <a:xfrm>
            <a:off x="698563" y="1424682"/>
            <a:ext cx="3831590" cy="678180"/>
          </a:xfrm>
          <a:prstGeom prst="rect">
            <a:avLst/>
          </a:prstGeom>
        </p:spPr>
        <p:txBody>
          <a:bodyPr vert="horz" wrap="square" lIns="0" tIns="5715" rIns="0" bIns="0" rtlCol="0">
            <a:spAutoFit/>
          </a:bodyPr>
          <a:lstStyle/>
          <a:p>
            <a:pPr>
              <a:lnSpc>
                <a:spcPct val="100000"/>
              </a:lnSpc>
              <a:spcBef>
                <a:spcPts val="45"/>
              </a:spcBef>
            </a:pPr>
            <a:endParaRPr sz="1000">
              <a:latin typeface="Times New Roman"/>
              <a:cs typeface="Times New Roman"/>
            </a:endParaRPr>
          </a:p>
          <a:p>
            <a:pPr marL="50800">
              <a:lnSpc>
                <a:spcPts val="1200"/>
              </a:lnSpc>
            </a:pPr>
            <a:r>
              <a:rPr sz="1000" spc="-10" dirty="0">
                <a:latin typeface="Tahoma"/>
                <a:cs typeface="Tahoma"/>
              </a:rPr>
              <a:t>Let</a:t>
            </a:r>
            <a:r>
              <a:rPr sz="1000" spc="15" dirty="0">
                <a:latin typeface="Tahoma"/>
                <a:cs typeface="Tahoma"/>
              </a:rPr>
              <a:t> </a:t>
            </a:r>
            <a:r>
              <a:rPr sz="1000" i="1" spc="-270" dirty="0">
                <a:latin typeface="Arial"/>
                <a:cs typeface="Arial"/>
              </a:rPr>
              <a:t>a</a:t>
            </a:r>
            <a:r>
              <a:rPr sz="1000" spc="-270" dirty="0">
                <a:latin typeface="Tahoma"/>
                <a:cs typeface="Tahoma"/>
              </a:rPr>
              <a:t>¯</a:t>
            </a:r>
            <a:r>
              <a:rPr sz="1000" spc="-200" dirty="0">
                <a:latin typeface="Tahoma"/>
                <a:cs typeface="Tahoma"/>
              </a:rPr>
              <a:t> </a:t>
            </a:r>
            <a:r>
              <a:rPr sz="1000" spc="45" dirty="0">
                <a:latin typeface="Tahoma"/>
                <a:cs typeface="Tahoma"/>
              </a:rPr>
              <a:t>=</a:t>
            </a:r>
            <a:r>
              <a:rPr sz="1000" spc="-35" dirty="0">
                <a:latin typeface="Tahoma"/>
                <a:cs typeface="Tahoma"/>
              </a:rPr>
              <a:t> (</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dirty="0">
                <a:latin typeface="Tahoma"/>
                <a:cs typeface="Tahoma"/>
              </a:rPr>
              <a:t>)</a:t>
            </a:r>
            <a:r>
              <a:rPr sz="1000" spc="25" dirty="0">
                <a:latin typeface="Tahoma"/>
                <a:cs typeface="Tahoma"/>
              </a:rPr>
              <a:t> </a:t>
            </a:r>
            <a:r>
              <a:rPr sz="1000" spc="-45" dirty="0">
                <a:latin typeface="Tahoma"/>
                <a:cs typeface="Tahoma"/>
              </a:rPr>
              <a:t>and</a:t>
            </a:r>
            <a:r>
              <a:rPr sz="1000" spc="20" dirty="0">
                <a:latin typeface="Tahoma"/>
                <a:cs typeface="Tahoma"/>
              </a:rPr>
              <a:t> </a:t>
            </a:r>
            <a:r>
              <a:rPr sz="1000" i="1" spc="-270" dirty="0">
                <a:latin typeface="Arial"/>
                <a:cs typeface="Arial"/>
              </a:rPr>
              <a:t>b</a:t>
            </a:r>
            <a:r>
              <a:rPr sz="1500" spc="-405" baseline="13888" dirty="0">
                <a:latin typeface="Tahoma"/>
                <a:cs typeface="Tahoma"/>
              </a:rPr>
              <a:t>¯</a:t>
            </a:r>
            <a:r>
              <a:rPr sz="1500" spc="-284" baseline="13888" dirty="0">
                <a:latin typeface="Tahoma"/>
                <a:cs typeface="Tahoma"/>
              </a:rPr>
              <a:t> </a:t>
            </a:r>
            <a:r>
              <a:rPr sz="1000" spc="45" dirty="0">
                <a:latin typeface="Tahoma"/>
                <a:cs typeface="Tahoma"/>
              </a:rPr>
              <a:t>=</a:t>
            </a:r>
            <a:r>
              <a:rPr sz="1000" spc="-35" dirty="0">
                <a:latin typeface="Tahoma"/>
                <a:cs typeface="Tahoma"/>
              </a:rPr>
              <a:t> </a:t>
            </a:r>
            <a:r>
              <a:rPr sz="1000" spc="-25" dirty="0">
                <a:latin typeface="Tahoma"/>
                <a:cs typeface="Tahoma"/>
              </a:rPr>
              <a:t>(</a:t>
            </a:r>
            <a:r>
              <a:rPr sz="1000" i="1" spc="-25" dirty="0">
                <a:latin typeface="Arial"/>
                <a:cs typeface="Arial"/>
              </a:rPr>
              <a:t>b</a:t>
            </a:r>
            <a:r>
              <a:rPr sz="1050" spc="-37" baseline="-11904" dirty="0">
                <a:latin typeface="Microsoft Sans Serif"/>
                <a:cs typeface="Microsoft Sans Serif"/>
              </a:rPr>
              <a:t>1</a:t>
            </a:r>
            <a:r>
              <a:rPr sz="1000" i="1" spc="-2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20" dirty="0">
                <a:latin typeface="Arial"/>
                <a:cs typeface="Arial"/>
              </a:rPr>
              <a:t>b</a:t>
            </a:r>
            <a:r>
              <a:rPr sz="1050" i="1" spc="-30" baseline="-11904" dirty="0">
                <a:latin typeface="Arial"/>
                <a:cs typeface="Arial"/>
              </a:rPr>
              <a:t>m</a:t>
            </a:r>
            <a:r>
              <a:rPr sz="1050" i="1" spc="-202" baseline="-11904" dirty="0">
                <a:latin typeface="Arial"/>
                <a:cs typeface="Arial"/>
              </a:rPr>
              <a:t> </a:t>
            </a:r>
            <a:r>
              <a:rPr sz="1000" dirty="0">
                <a:latin typeface="Tahoma"/>
                <a:cs typeface="Tahoma"/>
              </a:rPr>
              <a:t>)</a:t>
            </a:r>
            <a:r>
              <a:rPr sz="1000" spc="20" dirty="0">
                <a:latin typeface="Tahoma"/>
                <a:cs typeface="Tahoma"/>
              </a:rPr>
              <a:t> </a:t>
            </a:r>
            <a:r>
              <a:rPr sz="1000" spc="-50" dirty="0">
                <a:latin typeface="Tahoma"/>
                <a:cs typeface="Tahoma"/>
              </a:rPr>
              <a:t>be</a:t>
            </a:r>
            <a:r>
              <a:rPr sz="1000" spc="15" dirty="0">
                <a:latin typeface="Tahoma"/>
                <a:cs typeface="Tahoma"/>
              </a:rPr>
              <a:t> </a:t>
            </a:r>
            <a:r>
              <a:rPr sz="1000" spc="-50" dirty="0">
                <a:latin typeface="Tahoma"/>
                <a:cs typeface="Tahoma"/>
              </a:rPr>
              <a:t>two</a:t>
            </a:r>
            <a:r>
              <a:rPr sz="1000" spc="15" dirty="0">
                <a:latin typeface="Tahoma"/>
                <a:cs typeface="Tahoma"/>
              </a:rPr>
              <a:t> </a:t>
            </a:r>
            <a:r>
              <a:rPr sz="1000" spc="-35" dirty="0">
                <a:latin typeface="Tahoma"/>
                <a:cs typeface="Tahoma"/>
              </a:rPr>
              <a:t>tuples.</a:t>
            </a:r>
            <a:r>
              <a:rPr sz="1000" spc="130" dirty="0">
                <a:latin typeface="Tahoma"/>
                <a:cs typeface="Tahoma"/>
              </a:rPr>
              <a:t> </a:t>
            </a:r>
            <a:r>
              <a:rPr sz="1000" spc="-20" dirty="0">
                <a:latin typeface="Tahoma"/>
                <a:cs typeface="Tahoma"/>
              </a:rPr>
              <a:t>Then</a:t>
            </a:r>
            <a:endParaRPr sz="1000">
              <a:latin typeface="Tahoma"/>
              <a:cs typeface="Tahoma"/>
            </a:endParaRPr>
          </a:p>
          <a:p>
            <a:pPr marL="50800">
              <a:lnSpc>
                <a:spcPts val="1195"/>
              </a:lnSpc>
            </a:pPr>
            <a:r>
              <a:rPr sz="1000" i="1" spc="-210" dirty="0">
                <a:latin typeface="Arial"/>
                <a:cs typeface="Arial"/>
              </a:rPr>
              <a:t>a</a:t>
            </a:r>
            <a:r>
              <a:rPr sz="1000" spc="-210" dirty="0">
                <a:latin typeface="Tahoma"/>
                <a:cs typeface="Tahoma"/>
              </a:rPr>
              <a:t>¯ˆ</a:t>
            </a:r>
            <a:r>
              <a:rPr sz="1000" i="1" spc="-210" dirty="0">
                <a:latin typeface="Arial"/>
                <a:cs typeface="Arial"/>
              </a:rPr>
              <a:t>b</a:t>
            </a:r>
            <a:r>
              <a:rPr sz="1500" spc="-315" baseline="13888" dirty="0">
                <a:latin typeface="Tahoma"/>
                <a:cs typeface="Tahoma"/>
              </a:rPr>
              <a:t>¯</a:t>
            </a:r>
            <a:r>
              <a:rPr sz="1500" spc="-240" baseline="13888" dirty="0">
                <a:latin typeface="Tahoma"/>
                <a:cs typeface="Tahoma"/>
              </a:rPr>
              <a:t> </a:t>
            </a:r>
            <a:r>
              <a:rPr sz="1000" spc="55" dirty="0">
                <a:latin typeface="Lucida Sans Unicode"/>
                <a:cs typeface="Lucida Sans Unicode"/>
              </a:rPr>
              <a:t>⇌</a:t>
            </a:r>
            <a:r>
              <a:rPr sz="1000" spc="-40" dirty="0">
                <a:latin typeface="Lucida Sans Unicode"/>
                <a:cs typeface="Lucida Sans Unicode"/>
              </a:rPr>
              <a:t> </a:t>
            </a:r>
            <a:r>
              <a:rPr sz="1000" spc="-35" dirty="0">
                <a:latin typeface="Tahoma"/>
                <a:cs typeface="Tahoma"/>
              </a:rPr>
              <a:t>(</a:t>
            </a:r>
            <a:r>
              <a:rPr sz="1000" i="1" spc="-35" dirty="0">
                <a:latin typeface="Arial"/>
                <a:cs typeface="Arial"/>
              </a:rPr>
              <a:t>a</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40" dirty="0">
                <a:latin typeface="Arial"/>
                <a:cs typeface="Arial"/>
              </a:rPr>
              <a:t>a</a:t>
            </a:r>
            <a:r>
              <a:rPr sz="1050" i="1" spc="-60" baseline="-11904" dirty="0">
                <a:latin typeface="Arial"/>
                <a:cs typeface="Arial"/>
              </a:rPr>
              <a:t>n</a:t>
            </a:r>
            <a:r>
              <a:rPr sz="1000" i="1" spc="-40" dirty="0">
                <a:latin typeface="Verdana"/>
                <a:cs typeface="Verdana"/>
              </a:rPr>
              <a:t>,</a:t>
            </a:r>
            <a:r>
              <a:rPr sz="1000" i="1" spc="-185" dirty="0">
                <a:latin typeface="Verdana"/>
                <a:cs typeface="Verdana"/>
              </a:rPr>
              <a:t> </a:t>
            </a:r>
            <a:r>
              <a:rPr sz="1000" i="1" spc="-35" dirty="0">
                <a:latin typeface="Arial"/>
                <a:cs typeface="Arial"/>
              </a:rPr>
              <a:t>b</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20" dirty="0">
                <a:latin typeface="Arial"/>
                <a:cs typeface="Arial"/>
              </a:rPr>
              <a:t>b</a:t>
            </a:r>
            <a:r>
              <a:rPr sz="1050" i="1" spc="-30" baseline="-11904" dirty="0">
                <a:latin typeface="Arial"/>
                <a:cs typeface="Arial"/>
              </a:rPr>
              <a:t>m</a:t>
            </a:r>
            <a:r>
              <a:rPr sz="1050" i="1" spc="-202" baseline="-11904" dirty="0">
                <a:latin typeface="Arial"/>
                <a:cs typeface="Arial"/>
              </a:rPr>
              <a:t> </a:t>
            </a:r>
            <a:r>
              <a:rPr sz="1000" dirty="0">
                <a:latin typeface="Tahoma"/>
                <a:cs typeface="Tahoma"/>
              </a:rPr>
              <a:t>)</a:t>
            </a:r>
            <a:r>
              <a:rPr sz="1000" spc="20" dirty="0">
                <a:latin typeface="Tahoma"/>
                <a:cs typeface="Tahoma"/>
              </a:rPr>
              <a:t> </a:t>
            </a:r>
            <a:r>
              <a:rPr sz="1000" spc="-35" dirty="0">
                <a:latin typeface="Tahoma"/>
                <a:cs typeface="Tahoma"/>
              </a:rPr>
              <a:t>-</a:t>
            </a:r>
            <a:r>
              <a:rPr sz="1000" spc="25" dirty="0">
                <a:latin typeface="Tahoma"/>
                <a:cs typeface="Tahoma"/>
              </a:rPr>
              <a:t> </a:t>
            </a:r>
            <a:r>
              <a:rPr sz="1000" spc="-30" dirty="0">
                <a:latin typeface="Tahoma"/>
                <a:cs typeface="Tahoma"/>
              </a:rPr>
              <a:t>is</a:t>
            </a:r>
            <a:r>
              <a:rPr sz="1000" spc="20" dirty="0">
                <a:latin typeface="Tahoma"/>
                <a:cs typeface="Tahoma"/>
              </a:rPr>
              <a:t> </a:t>
            </a:r>
            <a:r>
              <a:rPr sz="1000" spc="-50" dirty="0">
                <a:latin typeface="Tahoma"/>
                <a:cs typeface="Tahoma"/>
              </a:rPr>
              <a:t>a</a:t>
            </a:r>
            <a:r>
              <a:rPr sz="1000" spc="15" dirty="0">
                <a:latin typeface="Tahoma"/>
                <a:cs typeface="Tahoma"/>
              </a:rPr>
              <a:t> </a:t>
            </a:r>
            <a:r>
              <a:rPr sz="1000" b="1" spc="-35" dirty="0">
                <a:latin typeface="Arial"/>
                <a:cs typeface="Arial"/>
              </a:rPr>
              <a:t>concatenation</a:t>
            </a:r>
            <a:r>
              <a:rPr sz="1000" b="1" spc="50" dirty="0">
                <a:latin typeface="Arial"/>
                <a:cs typeface="Arial"/>
              </a:rPr>
              <a:t> </a:t>
            </a:r>
            <a:r>
              <a:rPr sz="1000" spc="-30" dirty="0">
                <a:latin typeface="Tahoma"/>
                <a:cs typeface="Tahoma"/>
              </a:rPr>
              <a:t>of</a:t>
            </a:r>
            <a:r>
              <a:rPr sz="1000" spc="15" dirty="0">
                <a:latin typeface="Tahoma"/>
                <a:cs typeface="Tahoma"/>
              </a:rPr>
              <a:t> </a:t>
            </a:r>
            <a:r>
              <a:rPr sz="1000" spc="-35" dirty="0">
                <a:latin typeface="Tahoma"/>
                <a:cs typeface="Tahoma"/>
              </a:rPr>
              <a:t>tuples</a:t>
            </a:r>
            <a:r>
              <a:rPr sz="1000" spc="20" dirty="0">
                <a:latin typeface="Tahoma"/>
                <a:cs typeface="Tahoma"/>
              </a:rPr>
              <a:t> </a:t>
            </a:r>
            <a:r>
              <a:rPr sz="1000" i="1" spc="-270" dirty="0">
                <a:latin typeface="Arial"/>
                <a:cs typeface="Arial"/>
              </a:rPr>
              <a:t>a</a:t>
            </a:r>
            <a:r>
              <a:rPr sz="1000" spc="-270" dirty="0">
                <a:latin typeface="Tahoma"/>
                <a:cs typeface="Tahoma"/>
              </a:rPr>
              <a:t>¯</a:t>
            </a:r>
            <a:r>
              <a:rPr sz="1000" spc="-190" dirty="0">
                <a:latin typeface="Tahoma"/>
                <a:cs typeface="Tahoma"/>
              </a:rPr>
              <a:t> </a:t>
            </a:r>
            <a:r>
              <a:rPr sz="1000" spc="-45" dirty="0">
                <a:latin typeface="Tahoma"/>
                <a:cs typeface="Tahoma"/>
              </a:rPr>
              <a:t>and</a:t>
            </a:r>
            <a:endParaRPr sz="1000">
              <a:latin typeface="Tahoma"/>
              <a:cs typeface="Tahoma"/>
            </a:endParaRPr>
          </a:p>
          <a:p>
            <a:pPr marL="50800">
              <a:lnSpc>
                <a:spcPts val="1200"/>
              </a:lnSpc>
            </a:pPr>
            <a:r>
              <a:rPr sz="1000" i="1" spc="-200" dirty="0">
                <a:latin typeface="Arial"/>
                <a:cs typeface="Arial"/>
              </a:rPr>
              <a:t>b</a:t>
            </a:r>
            <a:r>
              <a:rPr sz="1500" spc="-300" baseline="13888" dirty="0">
                <a:latin typeface="Tahoma"/>
                <a:cs typeface="Tahoma"/>
              </a:rPr>
              <a:t>¯</a:t>
            </a:r>
            <a:r>
              <a:rPr sz="1000" spc="-200" dirty="0">
                <a:latin typeface="Tahoma"/>
                <a:cs typeface="Tahoma"/>
              </a:rPr>
              <a:t>.</a:t>
            </a:r>
            <a:endParaRPr sz="1000">
              <a:latin typeface="Tahoma"/>
              <a:cs typeface="Tahoma"/>
            </a:endParaRPr>
          </a:p>
        </p:txBody>
      </p:sp>
      <p:sp>
        <p:nvSpPr>
          <p:cNvPr id="38" name="object 38"/>
          <p:cNvSpPr/>
          <p:nvPr/>
        </p:nvSpPr>
        <p:spPr>
          <a:xfrm>
            <a:off x="698562" y="2203614"/>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9" name="object 39"/>
          <p:cNvSpPr txBox="1"/>
          <p:nvPr/>
        </p:nvSpPr>
        <p:spPr>
          <a:xfrm>
            <a:off x="749363" y="2233553"/>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40" name="object 40"/>
          <p:cNvGrpSpPr/>
          <p:nvPr/>
        </p:nvGrpSpPr>
        <p:grpSpPr>
          <a:xfrm>
            <a:off x="698562" y="2260548"/>
            <a:ext cx="3831590" cy="411480"/>
            <a:chOff x="698562" y="2260548"/>
            <a:chExt cx="3831590" cy="411480"/>
          </a:xfrm>
        </p:grpSpPr>
        <p:pic>
          <p:nvPicPr>
            <p:cNvPr id="41" name="object 41"/>
            <p:cNvPicPr/>
            <p:nvPr/>
          </p:nvPicPr>
          <p:blipFill>
            <a:blip r:embed="rId8" cstate="print"/>
            <a:stretch>
              <a:fillRect/>
            </a:stretch>
          </p:blipFill>
          <p:spPr>
            <a:xfrm>
              <a:off x="698563" y="2366835"/>
              <a:ext cx="3780284" cy="50609"/>
            </a:xfrm>
            <a:prstGeom prst="rect">
              <a:avLst/>
            </a:prstGeom>
          </p:spPr>
        </p:pic>
        <p:sp>
          <p:nvSpPr>
            <p:cNvPr id="42" name="object 42"/>
            <p:cNvSpPr/>
            <p:nvPr/>
          </p:nvSpPr>
          <p:spPr>
            <a:xfrm>
              <a:off x="749363" y="2260548"/>
              <a:ext cx="3780790" cy="411480"/>
            </a:xfrm>
            <a:custGeom>
              <a:avLst/>
              <a:gdLst/>
              <a:ahLst/>
              <a:cxnLst/>
              <a:rect l="l" t="t" r="r" b="b"/>
              <a:pathLst>
                <a:path w="3780790" h="411480">
                  <a:moveTo>
                    <a:pt x="3780285" y="0"/>
                  </a:moveTo>
                  <a:lnTo>
                    <a:pt x="0" y="0"/>
                  </a:lnTo>
                  <a:lnTo>
                    <a:pt x="0" y="411406"/>
                  </a:lnTo>
                  <a:lnTo>
                    <a:pt x="3780285" y="411406"/>
                  </a:lnTo>
                  <a:lnTo>
                    <a:pt x="3780285" y="0"/>
                  </a:lnTo>
                  <a:close/>
                </a:path>
              </a:pathLst>
            </a:custGeom>
            <a:solidFill>
              <a:srgbClr val="000000"/>
            </a:solidFill>
          </p:spPr>
          <p:txBody>
            <a:bodyPr wrap="square" lIns="0" tIns="0" rIns="0" bIns="0" rtlCol="0"/>
            <a:lstStyle/>
            <a:p>
              <a:endParaRPr/>
            </a:p>
          </p:txBody>
        </p:sp>
        <p:sp>
          <p:nvSpPr>
            <p:cNvPr id="43" name="object 43"/>
            <p:cNvSpPr/>
            <p:nvPr/>
          </p:nvSpPr>
          <p:spPr>
            <a:xfrm>
              <a:off x="698562" y="2411117"/>
              <a:ext cx="3780790" cy="210185"/>
            </a:xfrm>
            <a:custGeom>
              <a:avLst/>
              <a:gdLst/>
              <a:ahLst/>
              <a:cxnLst/>
              <a:rect l="l" t="t" r="r" b="b"/>
              <a:pathLst>
                <a:path w="3780790" h="210185">
                  <a:moveTo>
                    <a:pt x="3780285" y="0"/>
                  </a:moveTo>
                  <a:lnTo>
                    <a:pt x="0" y="0"/>
                  </a:lnTo>
                  <a:lnTo>
                    <a:pt x="0" y="159236"/>
                  </a:lnTo>
                  <a:lnTo>
                    <a:pt x="4008" y="178960"/>
                  </a:lnTo>
                  <a:lnTo>
                    <a:pt x="14922" y="195113"/>
                  </a:lnTo>
                  <a:lnTo>
                    <a:pt x="31075" y="206027"/>
                  </a:lnTo>
                  <a:lnTo>
                    <a:pt x="50800" y="210036"/>
                  </a:lnTo>
                  <a:lnTo>
                    <a:pt x="3729484" y="210036"/>
                  </a:lnTo>
                  <a:lnTo>
                    <a:pt x="3749209" y="206027"/>
                  </a:lnTo>
                  <a:lnTo>
                    <a:pt x="3765362" y="195113"/>
                  </a:lnTo>
                  <a:lnTo>
                    <a:pt x="3776276" y="178960"/>
                  </a:lnTo>
                  <a:lnTo>
                    <a:pt x="3780285" y="159236"/>
                  </a:lnTo>
                  <a:lnTo>
                    <a:pt x="3780285" y="0"/>
                  </a:lnTo>
                  <a:close/>
                </a:path>
              </a:pathLst>
            </a:custGeom>
            <a:solidFill>
              <a:srgbClr val="E9E9F2"/>
            </a:solidFill>
          </p:spPr>
          <p:txBody>
            <a:bodyPr wrap="square" lIns="0" tIns="0" rIns="0" bIns="0" rtlCol="0"/>
            <a:lstStyle/>
            <a:p>
              <a:endParaRPr/>
            </a:p>
          </p:txBody>
        </p:sp>
      </p:grpSp>
      <p:sp>
        <p:nvSpPr>
          <p:cNvPr id="44" name="object 44"/>
          <p:cNvSpPr txBox="1"/>
          <p:nvPr/>
        </p:nvSpPr>
        <p:spPr>
          <a:xfrm>
            <a:off x="698563" y="2260548"/>
            <a:ext cx="3831590" cy="411480"/>
          </a:xfrm>
          <a:prstGeom prst="rect">
            <a:avLst/>
          </a:prstGeom>
        </p:spPr>
        <p:txBody>
          <a:bodyPr vert="horz" wrap="square" lIns="0" tIns="3810" rIns="0" bIns="0" rtlCol="0">
            <a:spAutoFit/>
          </a:bodyPr>
          <a:lstStyle/>
          <a:p>
            <a:pPr>
              <a:lnSpc>
                <a:spcPct val="100000"/>
              </a:lnSpc>
              <a:spcBef>
                <a:spcPts val="30"/>
              </a:spcBef>
            </a:pPr>
            <a:endParaRPr sz="1050">
              <a:latin typeface="Times New Roman"/>
              <a:cs typeface="Times New Roman"/>
            </a:endParaRPr>
          </a:p>
          <a:p>
            <a:pPr marL="50800">
              <a:lnSpc>
                <a:spcPct val="100000"/>
              </a:lnSpc>
            </a:pPr>
            <a:r>
              <a:rPr sz="1000" spc="-40" dirty="0">
                <a:latin typeface="Tahoma"/>
                <a:cs typeface="Tahoma"/>
              </a:rPr>
              <a:t>It</a:t>
            </a:r>
            <a:r>
              <a:rPr sz="1000" spc="20" dirty="0">
                <a:latin typeface="Tahoma"/>
                <a:cs typeface="Tahoma"/>
              </a:rPr>
              <a:t> </a:t>
            </a:r>
            <a:r>
              <a:rPr sz="1000" spc="-30" dirty="0">
                <a:latin typeface="Tahoma"/>
                <a:cs typeface="Tahoma"/>
              </a:rPr>
              <a:t>is</a:t>
            </a:r>
            <a:r>
              <a:rPr sz="1000" spc="20" dirty="0">
                <a:latin typeface="Tahoma"/>
                <a:cs typeface="Tahoma"/>
              </a:rPr>
              <a:t> </a:t>
            </a:r>
            <a:r>
              <a:rPr sz="1000" spc="-35" dirty="0">
                <a:latin typeface="Tahoma"/>
                <a:cs typeface="Tahoma"/>
              </a:rPr>
              <a:t>cle</a:t>
            </a:r>
            <a:r>
              <a:rPr sz="1000" spc="-75" dirty="0">
                <a:latin typeface="Tahoma"/>
                <a:cs typeface="Tahoma"/>
              </a:rPr>
              <a:t>a</a:t>
            </a:r>
            <a:r>
              <a:rPr sz="1000" spc="-25" dirty="0">
                <a:latin typeface="Tahoma"/>
                <a:cs typeface="Tahoma"/>
              </a:rPr>
              <a:t>r,</a:t>
            </a:r>
            <a:r>
              <a:rPr sz="1000" spc="20" dirty="0">
                <a:latin typeface="Tahoma"/>
                <a:cs typeface="Tahoma"/>
              </a:rPr>
              <a:t> </a:t>
            </a:r>
            <a:r>
              <a:rPr sz="1000" spc="-10" dirty="0">
                <a:latin typeface="Tahoma"/>
                <a:cs typeface="Tahoma"/>
              </a:rPr>
              <a:t>that</a:t>
            </a:r>
            <a:r>
              <a:rPr sz="1000" spc="20" dirty="0">
                <a:latin typeface="Tahoma"/>
                <a:cs typeface="Tahoma"/>
              </a:rPr>
              <a:t> </a:t>
            </a:r>
            <a:r>
              <a:rPr sz="1000" i="1" spc="10" dirty="0">
                <a:latin typeface="Arial"/>
                <a:cs typeface="Arial"/>
              </a:rPr>
              <a:t>l</a:t>
            </a:r>
            <a:r>
              <a:rPr sz="1000" i="1" spc="-185" dirty="0">
                <a:latin typeface="Arial"/>
                <a:cs typeface="Arial"/>
              </a:rPr>
              <a:t> </a:t>
            </a:r>
            <a:r>
              <a:rPr sz="1000" dirty="0">
                <a:latin typeface="Tahoma"/>
                <a:cs typeface="Tahoma"/>
              </a:rPr>
              <a:t>(</a:t>
            </a:r>
            <a:r>
              <a:rPr sz="1000" i="1" spc="-484" dirty="0">
                <a:latin typeface="Arial"/>
                <a:cs typeface="Arial"/>
              </a:rPr>
              <a:t>a</a:t>
            </a:r>
            <a:r>
              <a:rPr sz="1000" spc="-55" dirty="0">
                <a:latin typeface="Tahoma"/>
                <a:cs typeface="Tahoma"/>
              </a:rPr>
              <a:t>¯</a:t>
            </a:r>
            <a:r>
              <a:rPr sz="1000" spc="30" dirty="0">
                <a:latin typeface="Tahoma"/>
                <a:cs typeface="Tahoma"/>
              </a:rPr>
              <a:t>ˆ</a:t>
            </a:r>
            <a:r>
              <a:rPr sz="1000" i="1" spc="-490" dirty="0">
                <a:latin typeface="Arial"/>
                <a:cs typeface="Arial"/>
              </a:rPr>
              <a:t>b</a:t>
            </a:r>
            <a:r>
              <a:rPr sz="1500" spc="-120" baseline="13888" dirty="0">
                <a:latin typeface="Tahoma"/>
                <a:cs typeface="Tahoma"/>
              </a:rPr>
              <a:t>¯</a:t>
            </a:r>
            <a:r>
              <a:rPr sz="1000" dirty="0">
                <a:latin typeface="Tahoma"/>
                <a:cs typeface="Tahoma"/>
              </a:rPr>
              <a:t>)</a:t>
            </a:r>
            <a:r>
              <a:rPr sz="1000" spc="-35" dirty="0">
                <a:latin typeface="Tahoma"/>
                <a:cs typeface="Tahoma"/>
              </a:rPr>
              <a:t> </a:t>
            </a:r>
            <a:r>
              <a:rPr sz="1000" spc="45" dirty="0">
                <a:latin typeface="Tahoma"/>
                <a:cs typeface="Tahoma"/>
              </a:rPr>
              <a:t>=</a:t>
            </a:r>
            <a:r>
              <a:rPr sz="1000" spc="20" dirty="0">
                <a:latin typeface="Tahoma"/>
                <a:cs typeface="Tahoma"/>
              </a:rPr>
              <a:t> </a:t>
            </a:r>
            <a:r>
              <a:rPr sz="1000" i="1" spc="10" dirty="0">
                <a:latin typeface="Arial"/>
                <a:cs typeface="Arial"/>
              </a:rPr>
              <a:t>l</a:t>
            </a:r>
            <a:r>
              <a:rPr sz="1000" i="1" spc="-185" dirty="0">
                <a:latin typeface="Arial"/>
                <a:cs typeface="Arial"/>
              </a:rPr>
              <a:t> </a:t>
            </a:r>
            <a:r>
              <a:rPr sz="1000" dirty="0">
                <a:latin typeface="Tahoma"/>
                <a:cs typeface="Tahoma"/>
              </a:rPr>
              <a:t>(</a:t>
            </a:r>
            <a:r>
              <a:rPr sz="1000" i="1" spc="-484" dirty="0">
                <a:latin typeface="Arial"/>
                <a:cs typeface="Arial"/>
              </a:rPr>
              <a:t>a</a:t>
            </a:r>
            <a:r>
              <a:rPr sz="1000" spc="-135" dirty="0">
                <a:latin typeface="Tahoma"/>
                <a:cs typeface="Tahoma"/>
              </a:rPr>
              <a:t>¯</a:t>
            </a:r>
            <a:r>
              <a:rPr sz="1000" dirty="0">
                <a:latin typeface="Tahoma"/>
                <a:cs typeface="Tahoma"/>
              </a:rPr>
              <a:t>)</a:t>
            </a:r>
            <a:r>
              <a:rPr sz="1000" spc="-95" dirty="0">
                <a:latin typeface="Tahoma"/>
                <a:cs typeface="Tahoma"/>
              </a:rPr>
              <a:t> </a:t>
            </a:r>
            <a:r>
              <a:rPr sz="1000" spc="45" dirty="0">
                <a:latin typeface="Tahoma"/>
                <a:cs typeface="Tahoma"/>
              </a:rPr>
              <a:t>+</a:t>
            </a:r>
            <a:r>
              <a:rPr sz="1000" spc="-95" dirty="0">
                <a:latin typeface="Tahoma"/>
                <a:cs typeface="Tahoma"/>
              </a:rPr>
              <a:t> </a:t>
            </a:r>
            <a:r>
              <a:rPr sz="1000" i="1" spc="10" dirty="0">
                <a:latin typeface="Arial"/>
                <a:cs typeface="Arial"/>
              </a:rPr>
              <a:t>l</a:t>
            </a:r>
            <a:r>
              <a:rPr sz="1000" i="1" spc="-185" dirty="0">
                <a:latin typeface="Arial"/>
                <a:cs typeface="Arial"/>
              </a:rPr>
              <a:t> </a:t>
            </a:r>
            <a:r>
              <a:rPr sz="1000" dirty="0">
                <a:latin typeface="Tahoma"/>
                <a:cs typeface="Tahoma"/>
              </a:rPr>
              <a:t>(</a:t>
            </a:r>
            <a:r>
              <a:rPr sz="1000" i="1" spc="-490" dirty="0">
                <a:latin typeface="Arial"/>
                <a:cs typeface="Arial"/>
              </a:rPr>
              <a:t>b</a:t>
            </a:r>
            <a:r>
              <a:rPr sz="1500" spc="-120" baseline="13888" dirty="0">
                <a:latin typeface="Tahoma"/>
                <a:cs typeface="Tahoma"/>
              </a:rPr>
              <a:t>¯</a:t>
            </a:r>
            <a:r>
              <a:rPr sz="1000" dirty="0">
                <a:latin typeface="Tahoma"/>
                <a:cs typeface="Tahoma"/>
              </a:rPr>
              <a:t>)</a:t>
            </a:r>
            <a:endParaRPr sz="1000">
              <a:latin typeface="Tahoma"/>
              <a:cs typeface="Tahoma"/>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118995" cy="244475"/>
          </a:xfrm>
          <a:prstGeom prst="rect">
            <a:avLst/>
          </a:prstGeom>
        </p:spPr>
        <p:txBody>
          <a:bodyPr vert="horz" wrap="square" lIns="0" tIns="17145" rIns="0" bIns="0" rtlCol="0">
            <a:spAutoFit/>
          </a:bodyPr>
          <a:lstStyle/>
          <a:p>
            <a:pPr marL="12700">
              <a:lnSpc>
                <a:spcPct val="100000"/>
              </a:lnSpc>
              <a:spcBef>
                <a:spcPts val="135"/>
              </a:spcBef>
            </a:pPr>
            <a:r>
              <a:rPr spc="-35" dirty="0"/>
              <a:t>Cartesian</a:t>
            </a:r>
            <a:r>
              <a:rPr spc="120" dirty="0"/>
              <a:t> </a:t>
            </a:r>
            <a:r>
              <a:rPr spc="-30" dirty="0"/>
              <a:t>product</a:t>
            </a:r>
            <a:r>
              <a:rPr spc="120" dirty="0"/>
              <a:t> </a:t>
            </a:r>
            <a:r>
              <a:rPr spc="-30" dirty="0"/>
              <a:t>of</a:t>
            </a:r>
            <a:r>
              <a:rPr spc="125" dirty="0"/>
              <a:t> </a:t>
            </a:r>
            <a:r>
              <a:rPr spc="-75" dirty="0"/>
              <a:t>sets</a:t>
            </a:r>
          </a:p>
        </p:txBody>
      </p:sp>
      <p:sp>
        <p:nvSpPr>
          <p:cNvPr id="30" name="object 30"/>
          <p:cNvSpPr txBox="1"/>
          <p:nvPr/>
        </p:nvSpPr>
        <p:spPr>
          <a:xfrm>
            <a:off x="711263" y="1022723"/>
            <a:ext cx="3754754" cy="633095"/>
          </a:xfrm>
          <a:prstGeom prst="rect">
            <a:avLst/>
          </a:prstGeom>
        </p:spPr>
        <p:txBody>
          <a:bodyPr vert="horz" wrap="square" lIns="0" tIns="12065" rIns="0" bIns="0" rtlCol="0">
            <a:spAutoFit/>
          </a:bodyPr>
          <a:lstStyle/>
          <a:p>
            <a:pPr marL="38100" marR="30480">
              <a:lnSpc>
                <a:spcPct val="100000"/>
              </a:lnSpc>
              <a:spcBef>
                <a:spcPts val="95"/>
              </a:spcBef>
            </a:pPr>
            <a:r>
              <a:rPr sz="1000" spc="-35" dirty="0">
                <a:latin typeface="Tahoma"/>
                <a:cs typeface="Tahoma"/>
              </a:rPr>
              <a:t>Now</a:t>
            </a:r>
            <a:r>
              <a:rPr sz="1000" spc="20" dirty="0">
                <a:latin typeface="Tahoma"/>
                <a:cs typeface="Tahoma"/>
              </a:rPr>
              <a:t> </a:t>
            </a:r>
            <a:r>
              <a:rPr sz="1000" spc="-90" dirty="0">
                <a:latin typeface="Tahoma"/>
                <a:cs typeface="Tahoma"/>
              </a:rPr>
              <a:t>we</a:t>
            </a:r>
            <a:r>
              <a:rPr sz="1000" spc="20" dirty="0">
                <a:latin typeface="Tahoma"/>
                <a:cs typeface="Tahoma"/>
              </a:rPr>
              <a:t> </a:t>
            </a:r>
            <a:r>
              <a:rPr sz="1000" spc="-65" dirty="0">
                <a:latin typeface="Tahoma"/>
                <a:cs typeface="Tahoma"/>
              </a:rPr>
              <a:t>are</a:t>
            </a:r>
            <a:r>
              <a:rPr sz="1000" spc="20" dirty="0">
                <a:latin typeface="Tahoma"/>
                <a:cs typeface="Tahoma"/>
              </a:rPr>
              <a:t> </a:t>
            </a:r>
            <a:r>
              <a:rPr sz="1000" spc="-50" dirty="0">
                <a:latin typeface="Tahoma"/>
                <a:cs typeface="Tahoma"/>
              </a:rPr>
              <a:t>ready</a:t>
            </a:r>
            <a:r>
              <a:rPr sz="1000" spc="25" dirty="0">
                <a:latin typeface="Tahoma"/>
                <a:cs typeface="Tahoma"/>
              </a:rPr>
              <a:t> </a:t>
            </a:r>
            <a:r>
              <a:rPr sz="1000" spc="-10" dirty="0">
                <a:latin typeface="Tahoma"/>
                <a:cs typeface="Tahoma"/>
              </a:rPr>
              <a:t>to</a:t>
            </a:r>
            <a:r>
              <a:rPr sz="1000" spc="20" dirty="0">
                <a:latin typeface="Tahoma"/>
                <a:cs typeface="Tahoma"/>
              </a:rPr>
              <a:t> </a:t>
            </a:r>
            <a:r>
              <a:rPr sz="1000" spc="-45" dirty="0">
                <a:latin typeface="Tahoma"/>
                <a:cs typeface="Tahoma"/>
              </a:rPr>
              <a:t>define</a:t>
            </a:r>
            <a:r>
              <a:rPr sz="1000" spc="20" dirty="0">
                <a:latin typeface="Tahoma"/>
                <a:cs typeface="Tahoma"/>
              </a:rPr>
              <a:t> </a:t>
            </a:r>
            <a:r>
              <a:rPr sz="1000" spc="-50" dirty="0">
                <a:latin typeface="Tahoma"/>
                <a:cs typeface="Tahoma"/>
              </a:rPr>
              <a:t>a</a:t>
            </a:r>
            <a:r>
              <a:rPr sz="1000" spc="20" dirty="0">
                <a:latin typeface="Tahoma"/>
                <a:cs typeface="Tahoma"/>
              </a:rPr>
              <a:t> </a:t>
            </a:r>
            <a:r>
              <a:rPr sz="1000" spc="-50" dirty="0">
                <a:latin typeface="Tahoma"/>
                <a:cs typeface="Tahoma"/>
              </a:rPr>
              <a:t>very</a:t>
            </a:r>
            <a:r>
              <a:rPr sz="1000" spc="20" dirty="0">
                <a:latin typeface="Tahoma"/>
                <a:cs typeface="Tahoma"/>
              </a:rPr>
              <a:t> </a:t>
            </a:r>
            <a:r>
              <a:rPr sz="1000" spc="-25" dirty="0">
                <a:latin typeface="Tahoma"/>
                <a:cs typeface="Tahoma"/>
              </a:rPr>
              <a:t>important</a:t>
            </a:r>
            <a:r>
              <a:rPr sz="1000" spc="20" dirty="0">
                <a:latin typeface="Tahoma"/>
                <a:cs typeface="Tahoma"/>
              </a:rPr>
              <a:t> </a:t>
            </a:r>
            <a:r>
              <a:rPr sz="1000" spc="-25" dirty="0">
                <a:latin typeface="Tahoma"/>
                <a:cs typeface="Tahoma"/>
              </a:rPr>
              <a:t>notion</a:t>
            </a:r>
            <a:r>
              <a:rPr sz="1000" spc="25" dirty="0">
                <a:latin typeface="Tahoma"/>
                <a:cs typeface="Tahoma"/>
              </a:rPr>
              <a:t> </a:t>
            </a:r>
            <a:r>
              <a:rPr sz="1000" spc="-20" dirty="0">
                <a:latin typeface="Tahoma"/>
                <a:cs typeface="Tahoma"/>
              </a:rPr>
              <a:t>(actually</a:t>
            </a:r>
            <a:r>
              <a:rPr sz="1000" spc="25" dirty="0">
                <a:latin typeface="Tahoma"/>
                <a:cs typeface="Tahoma"/>
              </a:rPr>
              <a:t> </a:t>
            </a:r>
            <a:r>
              <a:rPr sz="1000" spc="-50" dirty="0">
                <a:latin typeface="Tahoma"/>
                <a:cs typeface="Tahoma"/>
              </a:rPr>
              <a:t>an </a:t>
            </a:r>
            <a:r>
              <a:rPr sz="1000" spc="-45" dirty="0">
                <a:latin typeface="Tahoma"/>
                <a:cs typeface="Tahoma"/>
              </a:rPr>
              <a:t> </a:t>
            </a:r>
            <a:r>
              <a:rPr sz="1000" spc="-30" dirty="0">
                <a:latin typeface="Tahoma"/>
                <a:cs typeface="Tahoma"/>
              </a:rPr>
              <a:t>operation)</a:t>
            </a:r>
            <a:r>
              <a:rPr sz="1000" spc="20" dirty="0">
                <a:latin typeface="Tahoma"/>
                <a:cs typeface="Tahoma"/>
              </a:rPr>
              <a:t> </a:t>
            </a:r>
            <a:r>
              <a:rPr sz="1000" spc="-45" dirty="0">
                <a:latin typeface="Tahoma"/>
                <a:cs typeface="Tahoma"/>
              </a:rPr>
              <a:t>on</a:t>
            </a:r>
            <a:r>
              <a:rPr sz="1000" spc="20" dirty="0">
                <a:latin typeface="Tahoma"/>
                <a:cs typeface="Tahoma"/>
              </a:rPr>
              <a:t> </a:t>
            </a:r>
            <a:r>
              <a:rPr sz="1000" spc="-55" dirty="0">
                <a:latin typeface="Tahoma"/>
                <a:cs typeface="Tahoma"/>
              </a:rPr>
              <a:t>sets:</a:t>
            </a:r>
            <a:r>
              <a:rPr sz="1000" spc="140" dirty="0">
                <a:latin typeface="Tahoma"/>
                <a:cs typeface="Tahoma"/>
              </a:rPr>
              <a:t> </a:t>
            </a:r>
            <a:r>
              <a:rPr sz="1000" spc="-35" dirty="0">
                <a:latin typeface="Tahoma"/>
                <a:cs typeface="Tahoma"/>
              </a:rPr>
              <a:t>Cartesian</a:t>
            </a:r>
            <a:r>
              <a:rPr sz="1000" spc="30" dirty="0">
                <a:latin typeface="Tahoma"/>
                <a:cs typeface="Tahoma"/>
              </a:rPr>
              <a:t> </a:t>
            </a:r>
            <a:r>
              <a:rPr sz="1000" spc="-30" dirty="0">
                <a:latin typeface="Tahoma"/>
                <a:cs typeface="Tahoma"/>
              </a:rPr>
              <a:t>product</a:t>
            </a:r>
            <a:r>
              <a:rPr sz="1000" spc="25" dirty="0">
                <a:latin typeface="Tahoma"/>
                <a:cs typeface="Tahoma"/>
              </a:rPr>
              <a:t> </a:t>
            </a:r>
            <a:r>
              <a:rPr sz="1000" spc="-30" dirty="0">
                <a:latin typeface="Tahoma"/>
                <a:cs typeface="Tahoma"/>
              </a:rPr>
              <a:t>of</a:t>
            </a:r>
            <a:r>
              <a:rPr sz="1000" spc="25" dirty="0">
                <a:latin typeface="Tahoma"/>
                <a:cs typeface="Tahoma"/>
              </a:rPr>
              <a:t> </a:t>
            </a:r>
            <a:r>
              <a:rPr sz="1000" spc="-45" dirty="0">
                <a:latin typeface="Tahoma"/>
                <a:cs typeface="Tahoma"/>
              </a:rPr>
              <a:t>sets.</a:t>
            </a:r>
            <a:r>
              <a:rPr sz="1000" spc="140" dirty="0">
                <a:latin typeface="Tahoma"/>
                <a:cs typeface="Tahoma"/>
              </a:rPr>
              <a:t> </a:t>
            </a:r>
            <a:r>
              <a:rPr sz="1000" spc="-35" dirty="0">
                <a:latin typeface="Tahoma"/>
                <a:cs typeface="Tahoma"/>
              </a:rPr>
              <a:t>Cartesian</a:t>
            </a:r>
            <a:r>
              <a:rPr sz="1000" spc="25" dirty="0">
                <a:latin typeface="Tahoma"/>
                <a:cs typeface="Tahoma"/>
              </a:rPr>
              <a:t> </a:t>
            </a:r>
            <a:r>
              <a:rPr sz="1000" spc="-30" dirty="0">
                <a:latin typeface="Tahoma"/>
                <a:cs typeface="Tahoma"/>
              </a:rPr>
              <a:t>product</a:t>
            </a:r>
            <a:r>
              <a:rPr sz="1000" spc="30" dirty="0">
                <a:latin typeface="Tahoma"/>
                <a:cs typeface="Tahoma"/>
              </a:rPr>
              <a:t> </a:t>
            </a:r>
            <a:r>
              <a:rPr sz="1000" spc="-30" dirty="0">
                <a:latin typeface="Tahoma"/>
                <a:cs typeface="Tahoma"/>
              </a:rPr>
              <a:t>of </a:t>
            </a:r>
            <a:r>
              <a:rPr sz="1000" spc="-25" dirty="0">
                <a:latin typeface="Tahoma"/>
                <a:cs typeface="Tahoma"/>
              </a:rPr>
              <a:t> </a:t>
            </a:r>
            <a:r>
              <a:rPr sz="1000" spc="-50" dirty="0">
                <a:latin typeface="Tahoma"/>
                <a:cs typeface="Tahoma"/>
              </a:rPr>
              <a:t>sets</a:t>
            </a:r>
            <a:r>
              <a:rPr sz="1000" spc="15" dirty="0">
                <a:latin typeface="Tahoma"/>
                <a:cs typeface="Tahoma"/>
              </a:rPr>
              <a:t> </a:t>
            </a:r>
            <a:r>
              <a:rPr sz="1000" i="1" spc="-25" dirty="0">
                <a:latin typeface="Arial"/>
                <a:cs typeface="Arial"/>
              </a:rPr>
              <a:t>A</a:t>
            </a:r>
            <a:r>
              <a:rPr sz="1050" spc="-37" baseline="-11904" dirty="0">
                <a:latin typeface="Microsoft Sans Serif"/>
                <a:cs typeface="Microsoft Sans Serif"/>
              </a:rPr>
              <a:t>1</a:t>
            </a:r>
            <a:r>
              <a:rPr sz="1000" i="1" spc="-25" dirty="0">
                <a:latin typeface="Verdana"/>
                <a:cs typeface="Verdana"/>
              </a:rPr>
              <a:t>,</a:t>
            </a:r>
            <a:r>
              <a:rPr sz="1000" i="1" spc="-185" dirty="0">
                <a:latin typeface="Verdana"/>
                <a:cs typeface="Verdana"/>
              </a:rPr>
              <a:t> </a:t>
            </a:r>
            <a:r>
              <a:rPr sz="1000" i="1" spc="-25" dirty="0">
                <a:latin typeface="Arial"/>
                <a:cs typeface="Arial"/>
              </a:rPr>
              <a:t>A</a:t>
            </a:r>
            <a:r>
              <a:rPr sz="1050" spc="-37" baseline="-11904" dirty="0">
                <a:latin typeface="Microsoft Sans Serif"/>
                <a:cs typeface="Microsoft Sans Serif"/>
              </a:rPr>
              <a:t>2</a:t>
            </a:r>
            <a:r>
              <a:rPr sz="1000" i="1" spc="-2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10" dirty="0">
                <a:latin typeface="Arial"/>
                <a:cs typeface="Arial"/>
              </a:rPr>
              <a:t>A</a:t>
            </a:r>
            <a:r>
              <a:rPr sz="1050" i="1" spc="-15" baseline="-11904" dirty="0">
                <a:latin typeface="Arial"/>
                <a:cs typeface="Arial"/>
              </a:rPr>
              <a:t>n</a:t>
            </a:r>
            <a:r>
              <a:rPr sz="1050" i="1" spc="22" baseline="-11904" dirty="0">
                <a:latin typeface="Arial"/>
                <a:cs typeface="Arial"/>
              </a:rPr>
              <a:t> </a:t>
            </a:r>
            <a:r>
              <a:rPr sz="1000" spc="-35" dirty="0">
                <a:latin typeface="Tahoma"/>
                <a:cs typeface="Tahoma"/>
              </a:rPr>
              <a:t>-</a:t>
            </a:r>
            <a:r>
              <a:rPr sz="1000" spc="15" dirty="0">
                <a:latin typeface="Tahoma"/>
                <a:cs typeface="Tahoma"/>
              </a:rPr>
              <a:t> </a:t>
            </a:r>
            <a:r>
              <a:rPr sz="1000" spc="-30" dirty="0">
                <a:latin typeface="Tahoma"/>
                <a:cs typeface="Tahoma"/>
              </a:rPr>
              <a:t>is</a:t>
            </a:r>
            <a:r>
              <a:rPr sz="1000" spc="20" dirty="0">
                <a:latin typeface="Tahoma"/>
                <a:cs typeface="Tahoma"/>
              </a:rPr>
              <a:t> </a:t>
            </a:r>
            <a:r>
              <a:rPr sz="1000" spc="-50" dirty="0">
                <a:latin typeface="Tahoma"/>
                <a:cs typeface="Tahoma"/>
              </a:rPr>
              <a:t>a</a:t>
            </a:r>
            <a:r>
              <a:rPr sz="1000" spc="15" dirty="0">
                <a:latin typeface="Tahoma"/>
                <a:cs typeface="Tahoma"/>
              </a:rPr>
              <a:t> </a:t>
            </a:r>
            <a:r>
              <a:rPr sz="1000" spc="-45" dirty="0">
                <a:latin typeface="Tahoma"/>
                <a:cs typeface="Tahoma"/>
              </a:rPr>
              <a:t>set</a:t>
            </a:r>
            <a:r>
              <a:rPr sz="1000" spc="15" dirty="0">
                <a:latin typeface="Tahoma"/>
                <a:cs typeface="Tahoma"/>
              </a:rPr>
              <a:t> </a:t>
            </a:r>
            <a:r>
              <a:rPr sz="1000" spc="-30" dirty="0">
                <a:latin typeface="Tahoma"/>
                <a:cs typeface="Tahoma"/>
              </a:rPr>
              <a:t>of</a:t>
            </a:r>
            <a:r>
              <a:rPr sz="1000" spc="20" dirty="0">
                <a:latin typeface="Tahoma"/>
                <a:cs typeface="Tahoma"/>
              </a:rPr>
              <a:t> </a:t>
            </a:r>
            <a:r>
              <a:rPr sz="1000" spc="-10" dirty="0">
                <a:latin typeface="Tahoma"/>
                <a:cs typeface="Tahoma"/>
              </a:rPr>
              <a:t>all</a:t>
            </a:r>
            <a:r>
              <a:rPr sz="1000" spc="15" dirty="0">
                <a:latin typeface="Tahoma"/>
                <a:cs typeface="Tahoma"/>
              </a:rPr>
              <a:t> </a:t>
            </a:r>
            <a:r>
              <a:rPr sz="1000" i="1" spc="-35" dirty="0">
                <a:latin typeface="Arial"/>
                <a:cs typeface="Arial"/>
              </a:rPr>
              <a:t>n</a:t>
            </a:r>
            <a:r>
              <a:rPr sz="1000" spc="-35" dirty="0">
                <a:latin typeface="Tahoma"/>
                <a:cs typeface="Tahoma"/>
              </a:rPr>
              <a:t>-tuples</a:t>
            </a:r>
            <a:r>
              <a:rPr sz="1000" spc="20" dirty="0">
                <a:latin typeface="Tahoma"/>
                <a:cs typeface="Tahoma"/>
              </a:rPr>
              <a:t> </a:t>
            </a:r>
            <a:r>
              <a:rPr sz="1000" spc="-30" dirty="0">
                <a:latin typeface="Tahoma"/>
                <a:cs typeface="Tahoma"/>
              </a:rPr>
              <a:t>of</a:t>
            </a:r>
            <a:r>
              <a:rPr sz="1000" spc="15" dirty="0">
                <a:latin typeface="Tahoma"/>
                <a:cs typeface="Tahoma"/>
              </a:rPr>
              <a:t> </a:t>
            </a:r>
            <a:r>
              <a:rPr sz="1000" spc="-45" dirty="0">
                <a:latin typeface="Tahoma"/>
                <a:cs typeface="Tahoma"/>
              </a:rPr>
              <a:t>elements,</a:t>
            </a:r>
            <a:r>
              <a:rPr sz="1000" spc="15" dirty="0">
                <a:latin typeface="Tahoma"/>
                <a:cs typeface="Tahoma"/>
              </a:rPr>
              <a:t> </a:t>
            </a:r>
            <a:r>
              <a:rPr sz="1000" spc="-35" dirty="0">
                <a:latin typeface="Tahoma"/>
                <a:cs typeface="Tahoma"/>
              </a:rPr>
              <a:t>which</a:t>
            </a:r>
            <a:r>
              <a:rPr sz="1000" spc="20" dirty="0">
                <a:latin typeface="Tahoma"/>
                <a:cs typeface="Tahoma"/>
              </a:rPr>
              <a:t> </a:t>
            </a:r>
            <a:r>
              <a:rPr sz="1000" spc="-40" dirty="0">
                <a:latin typeface="Tahoma"/>
                <a:cs typeface="Tahoma"/>
              </a:rPr>
              <a:t>belong </a:t>
            </a:r>
            <a:r>
              <a:rPr sz="1000" spc="-300" dirty="0">
                <a:latin typeface="Tahoma"/>
                <a:cs typeface="Tahoma"/>
              </a:rPr>
              <a:t> </a:t>
            </a:r>
            <a:r>
              <a:rPr sz="1000" spc="-10" dirty="0">
                <a:latin typeface="Tahoma"/>
                <a:cs typeface="Tahoma"/>
              </a:rPr>
              <a:t>to</a:t>
            </a:r>
            <a:r>
              <a:rPr sz="1000" spc="10" dirty="0">
                <a:latin typeface="Tahoma"/>
                <a:cs typeface="Tahoma"/>
              </a:rPr>
              <a:t> </a:t>
            </a:r>
            <a:r>
              <a:rPr sz="1000" spc="-35" dirty="0">
                <a:latin typeface="Tahoma"/>
                <a:cs typeface="Tahoma"/>
              </a:rPr>
              <a:t>the</a:t>
            </a:r>
            <a:r>
              <a:rPr sz="1000" spc="20" dirty="0">
                <a:latin typeface="Tahoma"/>
                <a:cs typeface="Tahoma"/>
              </a:rPr>
              <a:t> </a:t>
            </a:r>
            <a:r>
              <a:rPr sz="1000" spc="-40" dirty="0">
                <a:latin typeface="Tahoma"/>
                <a:cs typeface="Tahoma"/>
              </a:rPr>
              <a:t>appropriate</a:t>
            </a:r>
            <a:r>
              <a:rPr sz="1000" spc="20" dirty="0">
                <a:latin typeface="Tahoma"/>
                <a:cs typeface="Tahoma"/>
              </a:rPr>
              <a:t> </a:t>
            </a:r>
            <a:r>
              <a:rPr sz="1000" spc="-50" dirty="0">
                <a:latin typeface="Tahoma"/>
                <a:cs typeface="Tahoma"/>
              </a:rPr>
              <a:t>sets</a:t>
            </a:r>
            <a:r>
              <a:rPr sz="1000" spc="15" dirty="0">
                <a:latin typeface="Tahoma"/>
                <a:cs typeface="Tahoma"/>
              </a:rPr>
              <a:t> </a:t>
            </a:r>
            <a:r>
              <a:rPr sz="1000" i="1" spc="5" dirty="0">
                <a:latin typeface="Arial"/>
                <a:cs typeface="Arial"/>
              </a:rPr>
              <a:t>A</a:t>
            </a:r>
            <a:r>
              <a:rPr sz="1050" i="1" spc="7" baseline="-11904" dirty="0">
                <a:latin typeface="Arial"/>
                <a:cs typeface="Arial"/>
              </a:rPr>
              <a:t>i</a:t>
            </a:r>
            <a:r>
              <a:rPr sz="1050" i="1" spc="-120" baseline="-11904" dirty="0">
                <a:latin typeface="Arial"/>
                <a:cs typeface="Arial"/>
              </a:rPr>
              <a:t> </a:t>
            </a:r>
            <a:r>
              <a:rPr sz="1000" spc="-80" dirty="0">
                <a:latin typeface="Tahoma"/>
                <a:cs typeface="Tahoma"/>
              </a:rPr>
              <a:t>:</a:t>
            </a:r>
            <a:endParaRPr sz="1000">
              <a:latin typeface="Tahoma"/>
              <a:cs typeface="Tahoma"/>
            </a:endParaRPr>
          </a:p>
        </p:txBody>
      </p:sp>
      <p:sp>
        <p:nvSpPr>
          <p:cNvPr id="31" name="object 31"/>
          <p:cNvSpPr/>
          <p:nvPr/>
        </p:nvSpPr>
        <p:spPr>
          <a:xfrm>
            <a:off x="698562" y="1743316"/>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2" name="object 32"/>
          <p:cNvSpPr txBox="1"/>
          <p:nvPr/>
        </p:nvSpPr>
        <p:spPr>
          <a:xfrm>
            <a:off x="749363" y="1773242"/>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3" name="object 33"/>
          <p:cNvGrpSpPr/>
          <p:nvPr/>
        </p:nvGrpSpPr>
        <p:grpSpPr>
          <a:xfrm>
            <a:off x="698562" y="1800245"/>
            <a:ext cx="3831590" cy="815340"/>
            <a:chOff x="698562" y="1800245"/>
            <a:chExt cx="3831590" cy="815340"/>
          </a:xfrm>
        </p:grpSpPr>
        <p:pic>
          <p:nvPicPr>
            <p:cNvPr id="34" name="object 34"/>
            <p:cNvPicPr/>
            <p:nvPr/>
          </p:nvPicPr>
          <p:blipFill>
            <a:blip r:embed="rId7" cstate="print"/>
            <a:stretch>
              <a:fillRect/>
            </a:stretch>
          </p:blipFill>
          <p:spPr>
            <a:xfrm>
              <a:off x="698563" y="1900910"/>
              <a:ext cx="3780284" cy="50609"/>
            </a:xfrm>
            <a:prstGeom prst="rect">
              <a:avLst/>
            </a:prstGeom>
          </p:spPr>
        </p:pic>
        <p:sp>
          <p:nvSpPr>
            <p:cNvPr id="35" name="object 35"/>
            <p:cNvSpPr/>
            <p:nvPr/>
          </p:nvSpPr>
          <p:spPr>
            <a:xfrm>
              <a:off x="749363" y="1800245"/>
              <a:ext cx="3780790" cy="815340"/>
            </a:xfrm>
            <a:custGeom>
              <a:avLst/>
              <a:gdLst/>
              <a:ahLst/>
              <a:cxnLst/>
              <a:rect l="l" t="t" r="r" b="b"/>
              <a:pathLst>
                <a:path w="3780790" h="815339">
                  <a:moveTo>
                    <a:pt x="3780285" y="0"/>
                  </a:moveTo>
                  <a:lnTo>
                    <a:pt x="0" y="0"/>
                  </a:lnTo>
                  <a:lnTo>
                    <a:pt x="0" y="815168"/>
                  </a:lnTo>
                  <a:lnTo>
                    <a:pt x="3780285" y="815168"/>
                  </a:lnTo>
                  <a:lnTo>
                    <a:pt x="3780285" y="0"/>
                  </a:lnTo>
                  <a:close/>
                </a:path>
              </a:pathLst>
            </a:custGeom>
            <a:solidFill>
              <a:srgbClr val="000000"/>
            </a:solidFill>
          </p:spPr>
          <p:txBody>
            <a:bodyPr wrap="square" lIns="0" tIns="0" rIns="0" bIns="0" rtlCol="0"/>
            <a:lstStyle/>
            <a:p>
              <a:endParaRPr/>
            </a:p>
          </p:txBody>
        </p:sp>
        <p:sp>
          <p:nvSpPr>
            <p:cNvPr id="36" name="object 36"/>
            <p:cNvSpPr/>
            <p:nvPr/>
          </p:nvSpPr>
          <p:spPr>
            <a:xfrm>
              <a:off x="698562" y="1945190"/>
              <a:ext cx="3780790" cy="619760"/>
            </a:xfrm>
            <a:custGeom>
              <a:avLst/>
              <a:gdLst/>
              <a:ahLst/>
              <a:cxnLst/>
              <a:rect l="l" t="t" r="r" b="b"/>
              <a:pathLst>
                <a:path w="3780790" h="619760">
                  <a:moveTo>
                    <a:pt x="3780285" y="0"/>
                  </a:moveTo>
                  <a:lnTo>
                    <a:pt x="0" y="0"/>
                  </a:lnTo>
                  <a:lnTo>
                    <a:pt x="0" y="568621"/>
                  </a:lnTo>
                  <a:lnTo>
                    <a:pt x="4008" y="588346"/>
                  </a:lnTo>
                  <a:lnTo>
                    <a:pt x="14922" y="604499"/>
                  </a:lnTo>
                  <a:lnTo>
                    <a:pt x="31075" y="615413"/>
                  </a:lnTo>
                  <a:lnTo>
                    <a:pt x="50800" y="619422"/>
                  </a:lnTo>
                  <a:lnTo>
                    <a:pt x="3729484" y="619422"/>
                  </a:lnTo>
                  <a:lnTo>
                    <a:pt x="3749209" y="615413"/>
                  </a:lnTo>
                  <a:lnTo>
                    <a:pt x="3765362" y="604499"/>
                  </a:lnTo>
                  <a:lnTo>
                    <a:pt x="3776276" y="588346"/>
                  </a:lnTo>
                  <a:lnTo>
                    <a:pt x="3780285" y="568621"/>
                  </a:lnTo>
                  <a:lnTo>
                    <a:pt x="3780285" y="0"/>
                  </a:lnTo>
                  <a:close/>
                </a:path>
              </a:pathLst>
            </a:custGeom>
            <a:solidFill>
              <a:srgbClr val="E9E9F2"/>
            </a:solidFill>
          </p:spPr>
          <p:txBody>
            <a:bodyPr wrap="square" lIns="0" tIns="0" rIns="0" bIns="0" rtlCol="0"/>
            <a:lstStyle/>
            <a:p>
              <a:endParaRPr/>
            </a:p>
          </p:txBody>
        </p:sp>
      </p:grpSp>
      <p:sp>
        <p:nvSpPr>
          <p:cNvPr id="37" name="object 37"/>
          <p:cNvSpPr txBox="1"/>
          <p:nvPr/>
        </p:nvSpPr>
        <p:spPr>
          <a:xfrm>
            <a:off x="698563" y="1800245"/>
            <a:ext cx="3831590" cy="815340"/>
          </a:xfrm>
          <a:prstGeom prst="rect">
            <a:avLst/>
          </a:prstGeom>
        </p:spPr>
        <p:txBody>
          <a:bodyPr vert="horz" wrap="square" lIns="0" tIns="6985" rIns="0" bIns="0" rtlCol="0">
            <a:spAutoFit/>
          </a:bodyPr>
          <a:lstStyle/>
          <a:p>
            <a:pPr>
              <a:lnSpc>
                <a:spcPct val="100000"/>
              </a:lnSpc>
              <a:spcBef>
                <a:spcPts val="55"/>
              </a:spcBef>
            </a:pPr>
            <a:endParaRPr sz="850">
              <a:latin typeface="Times New Roman"/>
              <a:cs typeface="Times New Roman"/>
            </a:endParaRPr>
          </a:p>
          <a:p>
            <a:pPr marL="50800" marR="102870">
              <a:lnSpc>
                <a:spcPct val="100000"/>
              </a:lnSpc>
            </a:pPr>
            <a:r>
              <a:rPr sz="1000" spc="-10" dirty="0">
                <a:latin typeface="Tahoma"/>
                <a:cs typeface="Tahoma"/>
              </a:rPr>
              <a:t>Let </a:t>
            </a:r>
            <a:r>
              <a:rPr sz="1000" i="1" spc="-25" dirty="0">
                <a:latin typeface="Arial"/>
                <a:cs typeface="Arial"/>
              </a:rPr>
              <a:t>A</a:t>
            </a:r>
            <a:r>
              <a:rPr sz="1050" spc="-37" baseline="-11904" dirty="0">
                <a:latin typeface="Microsoft Sans Serif"/>
                <a:cs typeface="Microsoft Sans Serif"/>
              </a:rPr>
              <a:t>1</a:t>
            </a:r>
            <a:r>
              <a:rPr sz="1000" i="1" spc="-25" dirty="0">
                <a:latin typeface="Verdana"/>
                <a:cs typeface="Verdana"/>
              </a:rPr>
              <a:t>, </a:t>
            </a:r>
            <a:r>
              <a:rPr sz="1000" i="1" spc="-25" dirty="0">
                <a:latin typeface="Arial"/>
                <a:cs typeface="Arial"/>
              </a:rPr>
              <a:t>A</a:t>
            </a:r>
            <a:r>
              <a:rPr sz="1050" spc="-37" baseline="-11904" dirty="0">
                <a:latin typeface="Microsoft Sans Serif"/>
                <a:cs typeface="Microsoft Sans Serif"/>
              </a:rPr>
              <a:t>2</a:t>
            </a:r>
            <a:r>
              <a:rPr sz="1000" i="1" spc="-25" dirty="0">
                <a:latin typeface="Verdana"/>
                <a:cs typeface="Verdana"/>
              </a:rPr>
              <a:t>, </a:t>
            </a:r>
            <a:r>
              <a:rPr sz="1000" i="1" spc="-90" dirty="0">
                <a:latin typeface="Verdana"/>
                <a:cs typeface="Verdana"/>
              </a:rPr>
              <a:t>. . . , </a:t>
            </a:r>
            <a:r>
              <a:rPr sz="1000" i="1" spc="-10" dirty="0">
                <a:latin typeface="Arial"/>
                <a:cs typeface="Arial"/>
              </a:rPr>
              <a:t>A</a:t>
            </a:r>
            <a:r>
              <a:rPr sz="1050" i="1" spc="-15" baseline="-11904" dirty="0">
                <a:latin typeface="Arial"/>
                <a:cs typeface="Arial"/>
              </a:rPr>
              <a:t>n</a:t>
            </a:r>
            <a:r>
              <a:rPr sz="1050" i="1" spc="-7" baseline="-11904" dirty="0">
                <a:latin typeface="Arial"/>
                <a:cs typeface="Arial"/>
              </a:rPr>
              <a:t> </a:t>
            </a:r>
            <a:r>
              <a:rPr sz="1000" spc="-50" dirty="0">
                <a:latin typeface="Tahoma"/>
                <a:cs typeface="Tahoma"/>
              </a:rPr>
              <a:t>be a </a:t>
            </a:r>
            <a:r>
              <a:rPr sz="1000" spc="-20" dirty="0">
                <a:latin typeface="Tahoma"/>
                <a:cs typeface="Tahoma"/>
              </a:rPr>
              <a:t>finite </a:t>
            </a:r>
            <a:r>
              <a:rPr sz="1000" spc="-60" dirty="0">
                <a:latin typeface="Tahoma"/>
                <a:cs typeface="Tahoma"/>
              </a:rPr>
              <a:t>sequence </a:t>
            </a:r>
            <a:r>
              <a:rPr sz="1000" spc="-30" dirty="0">
                <a:latin typeface="Tahoma"/>
                <a:cs typeface="Tahoma"/>
              </a:rPr>
              <a:t>of </a:t>
            </a:r>
            <a:r>
              <a:rPr sz="1000" spc="-45" dirty="0">
                <a:latin typeface="Tahoma"/>
                <a:cs typeface="Tahoma"/>
              </a:rPr>
              <a:t>sets. </a:t>
            </a:r>
            <a:r>
              <a:rPr sz="1000" spc="-20" dirty="0">
                <a:latin typeface="Tahoma"/>
                <a:cs typeface="Tahoma"/>
              </a:rPr>
              <a:t>Then </a:t>
            </a:r>
            <a:r>
              <a:rPr sz="1000" spc="-25" dirty="0">
                <a:latin typeface="Tahoma"/>
                <a:cs typeface="Tahoma"/>
              </a:rPr>
              <a:t>their </a:t>
            </a:r>
            <a:r>
              <a:rPr sz="1000" b="1" spc="-40" dirty="0">
                <a:latin typeface="Arial"/>
                <a:cs typeface="Arial"/>
              </a:rPr>
              <a:t>Cartesian </a:t>
            </a:r>
            <a:r>
              <a:rPr sz="1000" b="1" spc="-265" dirty="0">
                <a:latin typeface="Arial"/>
                <a:cs typeface="Arial"/>
              </a:rPr>
              <a:t> </a:t>
            </a:r>
            <a:r>
              <a:rPr sz="1000" b="1" spc="-35" dirty="0">
                <a:latin typeface="Arial"/>
                <a:cs typeface="Arial"/>
              </a:rPr>
              <a:t>product</a:t>
            </a:r>
            <a:r>
              <a:rPr sz="1000" b="1" spc="50" dirty="0">
                <a:latin typeface="Arial"/>
                <a:cs typeface="Arial"/>
              </a:rPr>
              <a:t> </a:t>
            </a:r>
            <a:r>
              <a:rPr sz="1000" spc="-30" dirty="0">
                <a:latin typeface="Tahoma"/>
                <a:cs typeface="Tahoma"/>
              </a:rPr>
              <a:t>is</a:t>
            </a:r>
            <a:r>
              <a:rPr sz="1000" spc="20" dirty="0">
                <a:latin typeface="Tahoma"/>
                <a:cs typeface="Tahoma"/>
              </a:rPr>
              <a:t> </a:t>
            </a:r>
            <a:r>
              <a:rPr sz="1000" spc="-45" dirty="0">
                <a:latin typeface="Tahoma"/>
                <a:cs typeface="Tahoma"/>
              </a:rPr>
              <a:t>defined</a:t>
            </a:r>
            <a:r>
              <a:rPr sz="1000" spc="20" dirty="0">
                <a:latin typeface="Tahoma"/>
                <a:cs typeface="Tahoma"/>
              </a:rPr>
              <a:t> </a:t>
            </a:r>
            <a:r>
              <a:rPr sz="1000" spc="-65" dirty="0">
                <a:latin typeface="Tahoma"/>
                <a:cs typeface="Tahoma"/>
              </a:rPr>
              <a:t>as:</a:t>
            </a:r>
            <a:endParaRPr sz="1000">
              <a:latin typeface="Tahoma"/>
              <a:cs typeface="Tahoma"/>
            </a:endParaRPr>
          </a:p>
          <a:p>
            <a:pPr>
              <a:lnSpc>
                <a:spcPct val="100000"/>
              </a:lnSpc>
              <a:spcBef>
                <a:spcPts val="20"/>
              </a:spcBef>
            </a:pPr>
            <a:endParaRPr sz="800">
              <a:latin typeface="Tahoma"/>
              <a:cs typeface="Tahoma"/>
            </a:endParaRPr>
          </a:p>
          <a:p>
            <a:pPr marL="50800">
              <a:lnSpc>
                <a:spcPct val="100000"/>
              </a:lnSpc>
            </a:pPr>
            <a:r>
              <a:rPr sz="1000" i="1" spc="-15" dirty="0">
                <a:latin typeface="Arial"/>
                <a:cs typeface="Arial"/>
              </a:rPr>
              <a:t>A</a:t>
            </a:r>
            <a:r>
              <a:rPr sz="1050" spc="-22" baseline="-11904" dirty="0">
                <a:latin typeface="Microsoft Sans Serif"/>
                <a:cs typeface="Microsoft Sans Serif"/>
              </a:rPr>
              <a:t>1</a:t>
            </a:r>
            <a:r>
              <a:rPr sz="1050" spc="-44" baseline="-11904" dirty="0">
                <a:latin typeface="Microsoft Sans Serif"/>
                <a:cs typeface="Microsoft Sans Serif"/>
              </a:rPr>
              <a:t> </a:t>
            </a:r>
            <a:r>
              <a:rPr sz="1000" spc="-25" dirty="0">
                <a:latin typeface="Lucida Sans Unicode"/>
                <a:cs typeface="Lucida Sans Unicode"/>
              </a:rPr>
              <a:t>×</a:t>
            </a:r>
            <a:r>
              <a:rPr sz="1000" spc="-210" dirty="0">
                <a:latin typeface="Lucida Sans Unicode"/>
                <a:cs typeface="Lucida Sans Unicode"/>
              </a:rPr>
              <a:t> </a:t>
            </a:r>
            <a:r>
              <a:rPr sz="1000" i="1" spc="-15" dirty="0">
                <a:latin typeface="Arial"/>
                <a:cs typeface="Arial"/>
              </a:rPr>
              <a:t>A</a:t>
            </a:r>
            <a:r>
              <a:rPr sz="1050" spc="-22" baseline="-11904" dirty="0">
                <a:latin typeface="Microsoft Sans Serif"/>
                <a:cs typeface="Microsoft Sans Serif"/>
              </a:rPr>
              <a:t>2</a:t>
            </a:r>
            <a:r>
              <a:rPr sz="1050" spc="-44" baseline="-11904" dirty="0">
                <a:latin typeface="Microsoft Sans Serif"/>
                <a:cs typeface="Microsoft Sans Serif"/>
              </a:rPr>
              <a:t> </a:t>
            </a:r>
            <a:r>
              <a:rPr sz="1000" spc="-25" dirty="0">
                <a:latin typeface="Lucida Sans Unicode"/>
                <a:cs typeface="Lucida Sans Unicode"/>
              </a:rPr>
              <a:t>×</a:t>
            </a:r>
            <a:r>
              <a:rPr sz="1000" spc="-210" dirty="0">
                <a:latin typeface="Lucida Sans Unicode"/>
                <a:cs typeface="Lucida Sans Unicode"/>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245" dirty="0">
                <a:latin typeface="Verdana"/>
                <a:cs typeface="Verdana"/>
              </a:rPr>
              <a:t> </a:t>
            </a:r>
            <a:r>
              <a:rPr sz="1000" spc="-25" dirty="0">
                <a:latin typeface="Lucida Sans Unicode"/>
                <a:cs typeface="Lucida Sans Unicode"/>
              </a:rPr>
              <a:t>×</a:t>
            </a:r>
            <a:r>
              <a:rPr sz="1000" spc="-210" dirty="0">
                <a:latin typeface="Lucida Sans Unicode"/>
                <a:cs typeface="Lucida Sans Unicode"/>
              </a:rPr>
              <a:t> </a:t>
            </a:r>
            <a:r>
              <a:rPr sz="1000" i="1" spc="-10" dirty="0">
                <a:latin typeface="Arial"/>
                <a:cs typeface="Arial"/>
              </a:rPr>
              <a:t>A</a:t>
            </a:r>
            <a:r>
              <a:rPr sz="1050" i="1" spc="-15" baseline="-11904" dirty="0">
                <a:latin typeface="Arial"/>
                <a:cs typeface="Arial"/>
              </a:rPr>
              <a:t>n</a:t>
            </a:r>
            <a:r>
              <a:rPr sz="1050" i="1" spc="217" baseline="-11904"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spc="5" dirty="0">
                <a:latin typeface="Lucida Sans Unicode"/>
                <a:cs typeface="Lucida Sans Unicode"/>
              </a:rPr>
              <a:t>{</a:t>
            </a:r>
            <a:r>
              <a:rPr sz="1000" spc="5" dirty="0">
                <a:latin typeface="Tahoma"/>
                <a:cs typeface="Tahoma"/>
              </a:rPr>
              <a:t>(</a:t>
            </a:r>
            <a:r>
              <a:rPr sz="1000" i="1" spc="5" dirty="0">
                <a:latin typeface="Arial"/>
                <a:cs typeface="Arial"/>
              </a:rPr>
              <a:t>a</a:t>
            </a:r>
            <a:r>
              <a:rPr sz="1050" spc="7" baseline="-11904" dirty="0">
                <a:latin typeface="Microsoft Sans Serif"/>
                <a:cs typeface="Microsoft Sans Serif"/>
              </a:rPr>
              <a:t>1</a:t>
            </a:r>
            <a:r>
              <a:rPr sz="1000" i="1" spc="5" dirty="0">
                <a:latin typeface="Verdana"/>
                <a:cs typeface="Verdana"/>
              </a:rPr>
              <a:t>,</a:t>
            </a:r>
            <a:r>
              <a:rPr sz="1000" i="1" spc="-180" dirty="0">
                <a:latin typeface="Verdana"/>
                <a:cs typeface="Verdana"/>
              </a:rPr>
              <a:t> </a:t>
            </a:r>
            <a:r>
              <a:rPr sz="1000" i="1" spc="-45" dirty="0">
                <a:latin typeface="Arial"/>
                <a:cs typeface="Arial"/>
              </a:rPr>
              <a:t>a</a:t>
            </a:r>
            <a:r>
              <a:rPr sz="1050" spc="-67" baseline="-11904" dirty="0">
                <a:latin typeface="Microsoft Sans Serif"/>
                <a:cs typeface="Microsoft Sans Serif"/>
              </a:rPr>
              <a:t>2</a:t>
            </a:r>
            <a:r>
              <a:rPr sz="1000" i="1" spc="-4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spc="-50" dirty="0">
                <a:latin typeface="Tahoma"/>
                <a:cs typeface="Tahoma"/>
              </a:rPr>
              <a:t>)</a:t>
            </a:r>
            <a:r>
              <a:rPr sz="1000" spc="-50" dirty="0">
                <a:latin typeface="Lucida Sans Unicode"/>
                <a:cs typeface="Lucida Sans Unicode"/>
              </a:rPr>
              <a:t>|</a:t>
            </a:r>
            <a:r>
              <a:rPr sz="1000" i="1" spc="-50" dirty="0">
                <a:latin typeface="Arial"/>
                <a:cs typeface="Arial"/>
              </a:rPr>
              <a:t>a</a:t>
            </a:r>
            <a:r>
              <a:rPr sz="1050" spc="-75" baseline="-11904" dirty="0">
                <a:latin typeface="Microsoft Sans Serif"/>
                <a:cs typeface="Microsoft Sans Serif"/>
              </a:rPr>
              <a:t>1</a:t>
            </a:r>
            <a:r>
              <a:rPr sz="1050" spc="15" baseline="-11904" dirty="0">
                <a:latin typeface="Microsoft Sans Serif"/>
                <a:cs typeface="Microsoft Sans Serif"/>
              </a:rPr>
              <a:t> </a:t>
            </a:r>
            <a:r>
              <a:rPr sz="1000" spc="-135" dirty="0">
                <a:latin typeface="Lucida Sans Unicode"/>
                <a:cs typeface="Lucida Sans Unicode"/>
              </a:rPr>
              <a:t>∈</a:t>
            </a:r>
            <a:r>
              <a:rPr sz="1000" spc="-35" dirty="0">
                <a:latin typeface="Lucida Sans Unicode"/>
                <a:cs typeface="Lucida Sans Unicode"/>
              </a:rPr>
              <a:t> </a:t>
            </a:r>
            <a:r>
              <a:rPr sz="1000" i="1" spc="-25" dirty="0">
                <a:latin typeface="Arial"/>
                <a:cs typeface="Arial"/>
              </a:rPr>
              <a:t>A</a:t>
            </a:r>
            <a:r>
              <a:rPr sz="1050" spc="-37" baseline="-11904" dirty="0">
                <a:latin typeface="Microsoft Sans Serif"/>
                <a:cs typeface="Microsoft Sans Serif"/>
              </a:rPr>
              <a:t>1</a:t>
            </a:r>
            <a:r>
              <a:rPr sz="1000" i="1" spc="-25" dirty="0">
                <a:latin typeface="Verdana"/>
                <a:cs typeface="Verdana"/>
              </a:rPr>
              <a:t>,</a:t>
            </a:r>
            <a:r>
              <a:rPr sz="1000" i="1" spc="90" dirty="0">
                <a:latin typeface="Verdana"/>
                <a:cs typeface="Verdana"/>
              </a:rPr>
              <a:t> </a:t>
            </a:r>
            <a:r>
              <a:rPr sz="1000" i="1" spc="-50" dirty="0">
                <a:latin typeface="Arial"/>
                <a:cs typeface="Arial"/>
              </a:rPr>
              <a:t>a</a:t>
            </a:r>
            <a:r>
              <a:rPr sz="1050" spc="-75" baseline="-11904" dirty="0">
                <a:latin typeface="Microsoft Sans Serif"/>
                <a:cs typeface="Microsoft Sans Serif"/>
              </a:rPr>
              <a:t>2</a:t>
            </a:r>
            <a:r>
              <a:rPr sz="1050" spc="209" baseline="-11904" dirty="0">
                <a:latin typeface="Microsoft Sans Serif"/>
                <a:cs typeface="Microsoft Sans Serif"/>
              </a:rPr>
              <a:t> </a:t>
            </a:r>
            <a:r>
              <a:rPr sz="1000" spc="-135" dirty="0">
                <a:latin typeface="Lucida Sans Unicode"/>
                <a:cs typeface="Lucida Sans Unicode"/>
              </a:rPr>
              <a:t>∈</a:t>
            </a:r>
            <a:r>
              <a:rPr sz="1000" spc="-35" dirty="0">
                <a:latin typeface="Lucida Sans Unicode"/>
                <a:cs typeface="Lucida Sans Unicode"/>
              </a:rPr>
              <a:t> </a:t>
            </a:r>
            <a:r>
              <a:rPr sz="1000" i="1" spc="-25" dirty="0">
                <a:latin typeface="Arial"/>
                <a:cs typeface="Arial"/>
              </a:rPr>
              <a:t>A</a:t>
            </a:r>
            <a:r>
              <a:rPr sz="1050" spc="-37" baseline="-11904" dirty="0">
                <a:latin typeface="Microsoft Sans Serif"/>
                <a:cs typeface="Microsoft Sans Serif"/>
              </a:rPr>
              <a:t>2</a:t>
            </a:r>
            <a:r>
              <a:rPr sz="1000" i="1" spc="-2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17" baseline="-11904"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10" dirty="0">
                <a:latin typeface="Arial"/>
                <a:cs typeface="Arial"/>
              </a:rPr>
              <a:t>A</a:t>
            </a:r>
            <a:r>
              <a:rPr sz="1050" i="1" spc="-15" baseline="-11904" dirty="0">
                <a:latin typeface="Arial"/>
                <a:cs typeface="Arial"/>
              </a:rPr>
              <a:t>n</a:t>
            </a:r>
            <a:r>
              <a:rPr sz="1050" i="1" spc="-202" baseline="-11904" dirty="0">
                <a:latin typeface="Arial"/>
                <a:cs typeface="Arial"/>
              </a:rPr>
              <a:t> </a:t>
            </a:r>
            <a:r>
              <a:rPr sz="1000" spc="170" dirty="0">
                <a:latin typeface="Lucida Sans Unicode"/>
                <a:cs typeface="Lucida Sans Unicode"/>
              </a:rPr>
              <a:t>}</a:t>
            </a:r>
            <a:endParaRPr sz="1000">
              <a:latin typeface="Lucida Sans Unicode"/>
              <a:cs typeface="Lucida Sans Unicode"/>
            </a:endParaRPr>
          </a:p>
        </p:txBody>
      </p:sp>
      <p:sp>
        <p:nvSpPr>
          <p:cNvPr id="38" name="object 38"/>
          <p:cNvSpPr txBox="1"/>
          <p:nvPr/>
        </p:nvSpPr>
        <p:spPr>
          <a:xfrm>
            <a:off x="736663" y="2627876"/>
            <a:ext cx="2139950"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Lucida Sans Unicode"/>
                <a:cs typeface="Lucida Sans Unicode"/>
              </a:rPr>
              <a:t>×</a:t>
            </a:r>
            <a:r>
              <a:rPr sz="1000" spc="15" dirty="0">
                <a:latin typeface="Lucida Sans Unicode"/>
                <a:cs typeface="Lucida Sans Unicode"/>
              </a:rPr>
              <a:t> </a:t>
            </a:r>
            <a:r>
              <a:rPr sz="1000" spc="-35" dirty="0">
                <a:latin typeface="Tahoma"/>
                <a:cs typeface="Tahoma"/>
              </a:rPr>
              <a:t>usually</a:t>
            </a:r>
            <a:r>
              <a:rPr sz="1000" spc="20" dirty="0">
                <a:latin typeface="Tahoma"/>
                <a:cs typeface="Tahoma"/>
              </a:rPr>
              <a:t> </a:t>
            </a:r>
            <a:r>
              <a:rPr sz="1000" spc="-30" dirty="0">
                <a:latin typeface="Tahoma"/>
                <a:cs typeface="Tahoma"/>
              </a:rPr>
              <a:t>is</a:t>
            </a:r>
            <a:r>
              <a:rPr sz="1000" spc="20" dirty="0">
                <a:latin typeface="Tahoma"/>
                <a:cs typeface="Tahoma"/>
              </a:rPr>
              <a:t> </a:t>
            </a:r>
            <a:r>
              <a:rPr sz="1000" spc="-60" dirty="0">
                <a:latin typeface="Tahoma"/>
                <a:cs typeface="Tahoma"/>
              </a:rPr>
              <a:t>used</a:t>
            </a:r>
            <a:r>
              <a:rPr sz="1000" spc="20" dirty="0">
                <a:latin typeface="Tahoma"/>
                <a:cs typeface="Tahoma"/>
              </a:rPr>
              <a:t> </a:t>
            </a:r>
            <a:r>
              <a:rPr sz="1000" spc="-10" dirty="0">
                <a:latin typeface="Tahoma"/>
                <a:cs typeface="Tahoma"/>
              </a:rPr>
              <a:t>to</a:t>
            </a:r>
            <a:r>
              <a:rPr sz="1000" spc="15" dirty="0">
                <a:latin typeface="Tahoma"/>
                <a:cs typeface="Tahoma"/>
              </a:rPr>
              <a:t> </a:t>
            </a:r>
            <a:r>
              <a:rPr sz="1000" spc="-45" dirty="0">
                <a:latin typeface="Tahoma"/>
                <a:cs typeface="Tahoma"/>
              </a:rPr>
              <a:t>designate</a:t>
            </a:r>
            <a:r>
              <a:rPr sz="1000" spc="20" dirty="0">
                <a:latin typeface="Tahoma"/>
                <a:cs typeface="Tahoma"/>
              </a:rPr>
              <a:t> </a:t>
            </a:r>
            <a:r>
              <a:rPr sz="1000" spc="-35" dirty="0">
                <a:latin typeface="Tahoma"/>
                <a:cs typeface="Tahoma"/>
              </a:rPr>
              <a:t>products.</a:t>
            </a:r>
            <a:endParaRPr sz="1000">
              <a:latin typeface="Tahoma"/>
              <a:cs typeface="Tahoma"/>
            </a:endParaRP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898650" cy="244475"/>
          </a:xfrm>
          <a:prstGeom prst="rect">
            <a:avLst/>
          </a:prstGeom>
        </p:spPr>
        <p:txBody>
          <a:bodyPr vert="horz" wrap="square" lIns="0" tIns="17145" rIns="0" bIns="0" rtlCol="0">
            <a:spAutoFit/>
          </a:bodyPr>
          <a:lstStyle/>
          <a:p>
            <a:pPr marL="12700">
              <a:lnSpc>
                <a:spcPct val="100000"/>
              </a:lnSpc>
              <a:spcBef>
                <a:spcPts val="135"/>
              </a:spcBef>
            </a:pPr>
            <a:r>
              <a:rPr spc="-35" dirty="0"/>
              <a:t>Cartesian</a:t>
            </a:r>
            <a:r>
              <a:rPr spc="114" dirty="0"/>
              <a:t> </a:t>
            </a:r>
            <a:r>
              <a:rPr spc="-50" dirty="0"/>
              <a:t>power</a:t>
            </a:r>
            <a:r>
              <a:rPr spc="120" dirty="0"/>
              <a:t> </a:t>
            </a:r>
            <a:r>
              <a:rPr spc="-30" dirty="0"/>
              <a:t>of</a:t>
            </a:r>
            <a:r>
              <a:rPr spc="114" dirty="0"/>
              <a:t> </a:t>
            </a:r>
            <a:r>
              <a:rPr spc="-40" dirty="0"/>
              <a:t>set</a:t>
            </a:r>
          </a:p>
        </p:txBody>
      </p:sp>
      <p:sp>
        <p:nvSpPr>
          <p:cNvPr id="30" name="object 30"/>
          <p:cNvSpPr txBox="1"/>
          <p:nvPr/>
        </p:nvSpPr>
        <p:spPr>
          <a:xfrm>
            <a:off x="711263" y="1264518"/>
            <a:ext cx="3755390" cy="177800"/>
          </a:xfrm>
          <a:prstGeom prst="rect">
            <a:avLst/>
          </a:prstGeom>
        </p:spPr>
        <p:txBody>
          <a:bodyPr vert="horz" wrap="square" lIns="0" tIns="12065" rIns="0" bIns="0" rtlCol="0">
            <a:spAutoFit/>
          </a:bodyPr>
          <a:lstStyle/>
          <a:p>
            <a:pPr marL="38100">
              <a:lnSpc>
                <a:spcPct val="100000"/>
              </a:lnSpc>
              <a:spcBef>
                <a:spcPts val="95"/>
              </a:spcBef>
            </a:pPr>
            <a:r>
              <a:rPr sz="1000" spc="-60" dirty="0">
                <a:latin typeface="Tahoma"/>
                <a:cs typeface="Tahoma"/>
              </a:rPr>
              <a:t>If</a:t>
            </a:r>
            <a:r>
              <a:rPr sz="1000" spc="10" dirty="0">
                <a:latin typeface="Tahoma"/>
                <a:cs typeface="Tahoma"/>
              </a:rPr>
              <a:t> </a:t>
            </a:r>
            <a:r>
              <a:rPr sz="1000" spc="-10" dirty="0">
                <a:latin typeface="Tahoma"/>
                <a:cs typeface="Tahoma"/>
              </a:rPr>
              <a:t>all</a:t>
            </a:r>
            <a:r>
              <a:rPr sz="1000" spc="10" dirty="0">
                <a:latin typeface="Tahoma"/>
                <a:cs typeface="Tahoma"/>
              </a:rPr>
              <a:t> </a:t>
            </a:r>
            <a:r>
              <a:rPr sz="1000" spc="-50" dirty="0">
                <a:latin typeface="Tahoma"/>
                <a:cs typeface="Tahoma"/>
              </a:rPr>
              <a:t>sets</a:t>
            </a:r>
            <a:r>
              <a:rPr sz="1000" spc="10" dirty="0">
                <a:latin typeface="Tahoma"/>
                <a:cs typeface="Tahoma"/>
              </a:rPr>
              <a:t> </a:t>
            </a:r>
            <a:r>
              <a:rPr sz="1000" i="1" spc="5" dirty="0">
                <a:latin typeface="Arial"/>
                <a:cs typeface="Arial"/>
              </a:rPr>
              <a:t>A</a:t>
            </a:r>
            <a:r>
              <a:rPr sz="1050" i="1" spc="7" baseline="-11904" dirty="0">
                <a:latin typeface="Arial"/>
                <a:cs typeface="Arial"/>
              </a:rPr>
              <a:t>i</a:t>
            </a:r>
            <a:r>
              <a:rPr sz="1050" i="1" spc="89" baseline="-11904" dirty="0">
                <a:latin typeface="Arial"/>
                <a:cs typeface="Arial"/>
              </a:rPr>
              <a:t> </a:t>
            </a:r>
            <a:r>
              <a:rPr sz="1000" spc="-20" dirty="0">
                <a:latin typeface="Tahoma"/>
                <a:cs typeface="Tahoma"/>
              </a:rPr>
              <a:t>in</a:t>
            </a:r>
            <a:r>
              <a:rPr sz="1000" spc="10" dirty="0">
                <a:latin typeface="Tahoma"/>
                <a:cs typeface="Tahoma"/>
              </a:rPr>
              <a:t> </a:t>
            </a:r>
            <a:r>
              <a:rPr sz="1000" spc="-35" dirty="0">
                <a:latin typeface="Tahoma"/>
                <a:cs typeface="Tahoma"/>
              </a:rPr>
              <a:t>Cartesian</a:t>
            </a:r>
            <a:r>
              <a:rPr sz="1000" spc="10" dirty="0">
                <a:latin typeface="Tahoma"/>
                <a:cs typeface="Tahoma"/>
              </a:rPr>
              <a:t> </a:t>
            </a:r>
            <a:r>
              <a:rPr sz="1000" spc="-30" dirty="0">
                <a:latin typeface="Tahoma"/>
                <a:cs typeface="Tahoma"/>
              </a:rPr>
              <a:t>product</a:t>
            </a:r>
            <a:r>
              <a:rPr sz="1000" spc="10" dirty="0">
                <a:latin typeface="Tahoma"/>
                <a:cs typeface="Tahoma"/>
              </a:rPr>
              <a:t> </a:t>
            </a:r>
            <a:r>
              <a:rPr sz="1000" i="1" spc="-15" dirty="0">
                <a:latin typeface="Arial"/>
                <a:cs typeface="Arial"/>
              </a:rPr>
              <a:t>A</a:t>
            </a:r>
            <a:r>
              <a:rPr sz="1050" spc="-22" baseline="-11904" dirty="0">
                <a:latin typeface="Microsoft Sans Serif"/>
                <a:cs typeface="Microsoft Sans Serif"/>
              </a:rPr>
              <a:t>1</a:t>
            </a:r>
            <a:r>
              <a:rPr sz="1050" spc="97" baseline="-11904" dirty="0">
                <a:latin typeface="Microsoft Sans Serif"/>
                <a:cs typeface="Microsoft Sans Serif"/>
              </a:rPr>
              <a:t> </a:t>
            </a:r>
            <a:r>
              <a:rPr sz="1000" spc="-25" dirty="0">
                <a:latin typeface="Lucida Sans Unicode"/>
                <a:cs typeface="Lucida Sans Unicode"/>
              </a:rPr>
              <a:t>×</a:t>
            </a:r>
            <a:r>
              <a:rPr sz="1000" spc="-120" dirty="0">
                <a:latin typeface="Lucida Sans Unicode"/>
                <a:cs typeface="Lucida Sans Unicode"/>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50" dirty="0">
                <a:latin typeface="Verdana"/>
                <a:cs typeface="Verdana"/>
              </a:rPr>
              <a:t> </a:t>
            </a:r>
            <a:r>
              <a:rPr sz="1000" spc="-25" dirty="0">
                <a:latin typeface="Lucida Sans Unicode"/>
                <a:cs typeface="Lucida Sans Unicode"/>
              </a:rPr>
              <a:t>×</a:t>
            </a:r>
            <a:r>
              <a:rPr sz="1000" spc="-114" dirty="0">
                <a:latin typeface="Lucida Sans Unicode"/>
                <a:cs typeface="Lucida Sans Unicode"/>
              </a:rPr>
              <a:t> </a:t>
            </a:r>
            <a:r>
              <a:rPr sz="1000" i="1" spc="-10" dirty="0">
                <a:latin typeface="Arial"/>
                <a:cs typeface="Arial"/>
              </a:rPr>
              <a:t>A</a:t>
            </a:r>
            <a:r>
              <a:rPr sz="1050" i="1" spc="-15" baseline="-11904" dirty="0">
                <a:latin typeface="Arial"/>
                <a:cs typeface="Arial"/>
              </a:rPr>
              <a:t>n</a:t>
            </a:r>
            <a:r>
              <a:rPr sz="1050" i="1" spc="284" baseline="-11904" dirty="0">
                <a:latin typeface="Arial"/>
                <a:cs typeface="Arial"/>
              </a:rPr>
              <a:t> </a:t>
            </a:r>
            <a:r>
              <a:rPr sz="1000" spc="-65" dirty="0">
                <a:latin typeface="Tahoma"/>
                <a:cs typeface="Tahoma"/>
              </a:rPr>
              <a:t>are</a:t>
            </a:r>
            <a:r>
              <a:rPr sz="1000" spc="10" dirty="0">
                <a:latin typeface="Tahoma"/>
                <a:cs typeface="Tahoma"/>
              </a:rPr>
              <a:t> </a:t>
            </a:r>
            <a:r>
              <a:rPr sz="1000" spc="-45" dirty="0">
                <a:latin typeface="Tahoma"/>
                <a:cs typeface="Tahoma"/>
              </a:rPr>
              <a:t>equal</a:t>
            </a:r>
            <a:r>
              <a:rPr sz="1000" spc="10" dirty="0">
                <a:latin typeface="Tahoma"/>
                <a:cs typeface="Tahoma"/>
              </a:rPr>
              <a:t> </a:t>
            </a:r>
            <a:r>
              <a:rPr sz="1000" spc="-10" dirty="0">
                <a:latin typeface="Tahoma"/>
                <a:cs typeface="Tahoma"/>
              </a:rPr>
              <a:t>to</a:t>
            </a:r>
            <a:r>
              <a:rPr sz="1000" spc="10" dirty="0">
                <a:latin typeface="Tahoma"/>
                <a:cs typeface="Tahoma"/>
              </a:rPr>
              <a:t> </a:t>
            </a:r>
            <a:r>
              <a:rPr sz="1000" spc="-65" dirty="0">
                <a:latin typeface="Tahoma"/>
                <a:cs typeface="Tahoma"/>
              </a:rPr>
              <a:t>some</a:t>
            </a:r>
            <a:r>
              <a:rPr sz="1000" spc="10" dirty="0">
                <a:latin typeface="Tahoma"/>
                <a:cs typeface="Tahoma"/>
              </a:rPr>
              <a:t> </a:t>
            </a:r>
            <a:r>
              <a:rPr sz="1000" spc="-45" dirty="0">
                <a:latin typeface="Tahoma"/>
                <a:cs typeface="Tahoma"/>
              </a:rPr>
              <a:t>set</a:t>
            </a:r>
            <a:endParaRPr sz="1000">
              <a:latin typeface="Tahoma"/>
              <a:cs typeface="Tahoma"/>
            </a:endParaRPr>
          </a:p>
        </p:txBody>
      </p:sp>
      <p:sp>
        <p:nvSpPr>
          <p:cNvPr id="31" name="object 31"/>
          <p:cNvSpPr txBox="1"/>
          <p:nvPr/>
        </p:nvSpPr>
        <p:spPr>
          <a:xfrm>
            <a:off x="711263" y="1416347"/>
            <a:ext cx="3698240" cy="177800"/>
          </a:xfrm>
          <a:prstGeom prst="rect">
            <a:avLst/>
          </a:prstGeom>
        </p:spPr>
        <p:txBody>
          <a:bodyPr vert="horz" wrap="square" lIns="0" tIns="12065" rIns="0" bIns="0" rtlCol="0">
            <a:spAutoFit/>
          </a:bodyPr>
          <a:lstStyle/>
          <a:p>
            <a:pPr marL="38100">
              <a:lnSpc>
                <a:spcPct val="100000"/>
              </a:lnSpc>
              <a:spcBef>
                <a:spcPts val="95"/>
              </a:spcBef>
            </a:pPr>
            <a:r>
              <a:rPr sz="1000" i="1" spc="-20" dirty="0">
                <a:latin typeface="Arial"/>
                <a:cs typeface="Arial"/>
              </a:rPr>
              <a:t>A</a:t>
            </a:r>
            <a:r>
              <a:rPr sz="1000" spc="-20" dirty="0">
                <a:latin typeface="Tahoma"/>
                <a:cs typeface="Tahoma"/>
              </a:rPr>
              <a:t>,</a:t>
            </a:r>
            <a:r>
              <a:rPr sz="1000" spc="25" dirty="0">
                <a:latin typeface="Tahoma"/>
                <a:cs typeface="Tahoma"/>
              </a:rPr>
              <a:t> </a:t>
            </a:r>
            <a:r>
              <a:rPr sz="1000" spc="-40" dirty="0">
                <a:latin typeface="Tahoma"/>
                <a:cs typeface="Tahoma"/>
              </a:rPr>
              <a:t>then</a:t>
            </a:r>
            <a:r>
              <a:rPr sz="1000" spc="25" dirty="0">
                <a:latin typeface="Tahoma"/>
                <a:cs typeface="Tahoma"/>
              </a:rPr>
              <a:t> </a:t>
            </a:r>
            <a:r>
              <a:rPr sz="1000" spc="-35" dirty="0">
                <a:latin typeface="Tahoma"/>
                <a:cs typeface="Tahoma"/>
              </a:rPr>
              <a:t>Cartesian</a:t>
            </a:r>
            <a:r>
              <a:rPr sz="1000" spc="25" dirty="0">
                <a:latin typeface="Tahoma"/>
                <a:cs typeface="Tahoma"/>
              </a:rPr>
              <a:t> </a:t>
            </a:r>
            <a:r>
              <a:rPr sz="1000" spc="-30" dirty="0">
                <a:latin typeface="Tahoma"/>
                <a:cs typeface="Tahoma"/>
              </a:rPr>
              <a:t>product</a:t>
            </a:r>
            <a:r>
              <a:rPr sz="1000" spc="20" dirty="0">
                <a:latin typeface="Tahoma"/>
                <a:cs typeface="Tahoma"/>
              </a:rPr>
              <a:t> </a:t>
            </a:r>
            <a:r>
              <a:rPr sz="1000" i="1" spc="-15" dirty="0">
                <a:latin typeface="Arial"/>
                <a:cs typeface="Arial"/>
              </a:rPr>
              <a:t>A</a:t>
            </a:r>
            <a:r>
              <a:rPr sz="1050" spc="-22" baseline="-11904" dirty="0">
                <a:latin typeface="Microsoft Sans Serif"/>
                <a:cs typeface="Microsoft Sans Serif"/>
              </a:rPr>
              <a:t>1</a:t>
            </a:r>
            <a:r>
              <a:rPr sz="1050" spc="127" baseline="-11904" dirty="0">
                <a:latin typeface="Microsoft Sans Serif"/>
                <a:cs typeface="Microsoft Sans Serif"/>
              </a:rPr>
              <a:t> </a:t>
            </a:r>
            <a:r>
              <a:rPr sz="1000" spc="-25" dirty="0">
                <a:latin typeface="Lucida Sans Unicode"/>
                <a:cs typeface="Lucida Sans Unicode"/>
              </a:rPr>
              <a:t>×</a:t>
            </a:r>
            <a:r>
              <a:rPr sz="1000" spc="-90" dirty="0">
                <a:latin typeface="Lucida Sans Unicode"/>
                <a:cs typeface="Lucida Sans Unicode"/>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25" dirty="0">
                <a:latin typeface="Verdana"/>
                <a:cs typeface="Verdana"/>
              </a:rPr>
              <a:t> </a:t>
            </a:r>
            <a:r>
              <a:rPr sz="1000" spc="-25" dirty="0">
                <a:latin typeface="Lucida Sans Unicode"/>
                <a:cs typeface="Lucida Sans Unicode"/>
              </a:rPr>
              <a:t>×</a:t>
            </a:r>
            <a:r>
              <a:rPr sz="1000" spc="-90" dirty="0">
                <a:latin typeface="Lucida Sans Unicode"/>
                <a:cs typeface="Lucida Sans Unicode"/>
              </a:rPr>
              <a:t> </a:t>
            </a:r>
            <a:r>
              <a:rPr sz="1000" i="1" spc="-10" dirty="0">
                <a:latin typeface="Arial"/>
                <a:cs typeface="Arial"/>
              </a:rPr>
              <a:t>A</a:t>
            </a:r>
            <a:r>
              <a:rPr sz="1050" i="1" spc="-15" baseline="-11904" dirty="0">
                <a:latin typeface="Arial"/>
                <a:cs typeface="Arial"/>
              </a:rPr>
              <a:t>n</a:t>
            </a:r>
            <a:r>
              <a:rPr sz="1050" i="1" spc="37" baseline="-11904" dirty="0">
                <a:latin typeface="Arial"/>
                <a:cs typeface="Arial"/>
              </a:rPr>
              <a:t> </a:t>
            </a:r>
            <a:r>
              <a:rPr sz="1000" spc="-30" dirty="0">
                <a:latin typeface="Tahoma"/>
                <a:cs typeface="Tahoma"/>
              </a:rPr>
              <a:t>is</a:t>
            </a:r>
            <a:r>
              <a:rPr sz="1000" spc="25" dirty="0">
                <a:latin typeface="Tahoma"/>
                <a:cs typeface="Tahoma"/>
              </a:rPr>
              <a:t> </a:t>
            </a:r>
            <a:r>
              <a:rPr sz="1000" spc="-30" dirty="0">
                <a:latin typeface="Tahoma"/>
                <a:cs typeface="Tahoma"/>
              </a:rPr>
              <a:t>called</a:t>
            </a:r>
            <a:r>
              <a:rPr sz="1000" spc="25" dirty="0">
                <a:latin typeface="Tahoma"/>
                <a:cs typeface="Tahoma"/>
              </a:rPr>
              <a:t> </a:t>
            </a:r>
            <a:r>
              <a:rPr sz="1000" spc="-50" dirty="0">
                <a:latin typeface="Tahoma"/>
                <a:cs typeface="Tahoma"/>
              </a:rPr>
              <a:t>an</a:t>
            </a:r>
            <a:r>
              <a:rPr sz="1000" spc="25" dirty="0">
                <a:latin typeface="Tahoma"/>
                <a:cs typeface="Tahoma"/>
              </a:rPr>
              <a:t> </a:t>
            </a:r>
            <a:r>
              <a:rPr sz="1000" i="1" spc="-20" dirty="0">
                <a:latin typeface="Arial"/>
                <a:cs typeface="Arial"/>
              </a:rPr>
              <a:t>n</a:t>
            </a:r>
            <a:r>
              <a:rPr sz="1000" spc="-20" dirty="0">
                <a:latin typeface="Tahoma"/>
                <a:cs typeface="Tahoma"/>
              </a:rPr>
              <a:t>-th</a:t>
            </a:r>
            <a:r>
              <a:rPr sz="1000" spc="25" dirty="0">
                <a:latin typeface="Tahoma"/>
                <a:cs typeface="Tahoma"/>
              </a:rPr>
              <a:t> </a:t>
            </a:r>
            <a:r>
              <a:rPr sz="1000" b="1" spc="-40" dirty="0">
                <a:latin typeface="Arial"/>
                <a:cs typeface="Arial"/>
              </a:rPr>
              <a:t>Cartesian</a:t>
            </a:r>
            <a:endParaRPr sz="1000">
              <a:latin typeface="Arial"/>
              <a:cs typeface="Arial"/>
            </a:endParaRPr>
          </a:p>
        </p:txBody>
      </p:sp>
      <p:sp>
        <p:nvSpPr>
          <p:cNvPr id="32" name="object 32"/>
          <p:cNvSpPr txBox="1"/>
          <p:nvPr/>
        </p:nvSpPr>
        <p:spPr>
          <a:xfrm>
            <a:off x="711263" y="1568175"/>
            <a:ext cx="3641725" cy="329565"/>
          </a:xfrm>
          <a:prstGeom prst="rect">
            <a:avLst/>
          </a:prstGeom>
        </p:spPr>
        <p:txBody>
          <a:bodyPr vert="horz" wrap="square" lIns="0" tIns="12065" rIns="0" bIns="0" rtlCol="0">
            <a:spAutoFit/>
          </a:bodyPr>
          <a:lstStyle/>
          <a:p>
            <a:pPr marL="38100" marR="30480">
              <a:lnSpc>
                <a:spcPct val="100000"/>
              </a:lnSpc>
              <a:spcBef>
                <a:spcPts val="95"/>
              </a:spcBef>
            </a:pPr>
            <a:r>
              <a:rPr sz="1000" b="1" spc="-55" dirty="0">
                <a:latin typeface="Arial"/>
                <a:cs typeface="Arial"/>
              </a:rPr>
              <a:t>power</a:t>
            </a:r>
            <a:r>
              <a:rPr sz="1000" b="1" spc="65" dirty="0">
                <a:latin typeface="Arial"/>
                <a:cs typeface="Arial"/>
              </a:rPr>
              <a:t> </a:t>
            </a:r>
            <a:r>
              <a:rPr sz="1000" spc="-30" dirty="0">
                <a:latin typeface="Tahoma"/>
                <a:cs typeface="Tahoma"/>
              </a:rPr>
              <a:t>of</a:t>
            </a:r>
            <a:r>
              <a:rPr sz="1000" spc="20" dirty="0">
                <a:latin typeface="Tahoma"/>
                <a:cs typeface="Tahoma"/>
              </a:rPr>
              <a:t> </a:t>
            </a:r>
            <a:r>
              <a:rPr sz="1000" i="1" spc="-5" dirty="0">
                <a:latin typeface="Arial"/>
                <a:cs typeface="Arial"/>
              </a:rPr>
              <a:t>A</a:t>
            </a:r>
            <a:r>
              <a:rPr sz="1000" i="1" spc="60" dirty="0">
                <a:latin typeface="Arial"/>
                <a:cs typeface="Arial"/>
              </a:rPr>
              <a:t> </a:t>
            </a:r>
            <a:r>
              <a:rPr sz="1000" spc="-45" dirty="0">
                <a:latin typeface="Tahoma"/>
                <a:cs typeface="Tahoma"/>
              </a:rPr>
              <a:t>and</a:t>
            </a:r>
            <a:r>
              <a:rPr sz="1000" spc="15" dirty="0">
                <a:latin typeface="Tahoma"/>
                <a:cs typeface="Tahoma"/>
              </a:rPr>
              <a:t> </a:t>
            </a:r>
            <a:r>
              <a:rPr sz="1000" spc="-30" dirty="0">
                <a:latin typeface="Tahoma"/>
                <a:cs typeface="Tahoma"/>
              </a:rPr>
              <a:t>is</a:t>
            </a:r>
            <a:r>
              <a:rPr sz="1000" spc="25" dirty="0">
                <a:latin typeface="Tahoma"/>
                <a:cs typeface="Tahoma"/>
              </a:rPr>
              <a:t> </a:t>
            </a:r>
            <a:r>
              <a:rPr sz="1000" spc="-45" dirty="0">
                <a:latin typeface="Tahoma"/>
                <a:cs typeface="Tahoma"/>
              </a:rPr>
              <a:t>designated</a:t>
            </a:r>
            <a:r>
              <a:rPr sz="1000" spc="20" dirty="0">
                <a:latin typeface="Tahoma"/>
                <a:cs typeface="Tahoma"/>
              </a:rPr>
              <a:t> </a:t>
            </a:r>
            <a:r>
              <a:rPr sz="1000" spc="-60" dirty="0">
                <a:latin typeface="Tahoma"/>
                <a:cs typeface="Tahoma"/>
              </a:rPr>
              <a:t>as</a:t>
            </a:r>
            <a:r>
              <a:rPr sz="1000" spc="20" dirty="0">
                <a:latin typeface="Tahoma"/>
                <a:cs typeface="Tahoma"/>
              </a:rPr>
              <a:t> </a:t>
            </a:r>
            <a:r>
              <a:rPr sz="1000" i="1" spc="-10" dirty="0">
                <a:latin typeface="Arial"/>
                <a:cs typeface="Arial"/>
              </a:rPr>
              <a:t>A</a:t>
            </a:r>
            <a:r>
              <a:rPr sz="1050" i="1" spc="-15" baseline="27777" dirty="0">
                <a:latin typeface="Arial"/>
                <a:cs typeface="Arial"/>
              </a:rPr>
              <a:t>n</a:t>
            </a:r>
            <a:r>
              <a:rPr sz="1050" i="1" spc="37" baseline="27777" dirty="0">
                <a:latin typeface="Arial"/>
                <a:cs typeface="Arial"/>
              </a:rPr>
              <a:t> </a:t>
            </a:r>
            <a:r>
              <a:rPr sz="1000" dirty="0">
                <a:latin typeface="Tahoma"/>
                <a:cs typeface="Tahoma"/>
              </a:rPr>
              <a:t>(</a:t>
            </a:r>
            <a:r>
              <a:rPr sz="1000" i="1" dirty="0">
                <a:latin typeface="Arial"/>
                <a:cs typeface="Arial"/>
              </a:rPr>
              <a:t>A</a:t>
            </a:r>
            <a:r>
              <a:rPr sz="1000" i="1" spc="50" dirty="0">
                <a:latin typeface="Arial"/>
                <a:cs typeface="Arial"/>
              </a:rPr>
              <a:t> </a:t>
            </a:r>
            <a:r>
              <a:rPr sz="1000" spc="-20" dirty="0">
                <a:latin typeface="Tahoma"/>
                <a:cs typeface="Tahoma"/>
              </a:rPr>
              <a:t>with</a:t>
            </a:r>
            <a:r>
              <a:rPr sz="1000" spc="15" dirty="0">
                <a:latin typeface="Tahoma"/>
                <a:cs typeface="Tahoma"/>
              </a:rPr>
              <a:t> </a:t>
            </a:r>
            <a:r>
              <a:rPr sz="1000" spc="-35" dirty="0">
                <a:latin typeface="Tahoma"/>
                <a:cs typeface="Tahoma"/>
              </a:rPr>
              <a:t>the</a:t>
            </a:r>
            <a:r>
              <a:rPr sz="1000" spc="25" dirty="0">
                <a:latin typeface="Tahoma"/>
                <a:cs typeface="Tahoma"/>
              </a:rPr>
              <a:t> </a:t>
            </a:r>
            <a:r>
              <a:rPr sz="1000" spc="-45" dirty="0">
                <a:latin typeface="Tahoma"/>
                <a:cs typeface="Tahoma"/>
              </a:rPr>
              <a:t>upper</a:t>
            </a:r>
            <a:r>
              <a:rPr sz="1000" spc="20" dirty="0">
                <a:latin typeface="Tahoma"/>
                <a:cs typeface="Tahoma"/>
              </a:rPr>
              <a:t> </a:t>
            </a:r>
            <a:r>
              <a:rPr sz="1000" spc="-40" dirty="0">
                <a:latin typeface="Tahoma"/>
                <a:cs typeface="Tahoma"/>
              </a:rPr>
              <a:t>index</a:t>
            </a:r>
            <a:r>
              <a:rPr sz="1000" spc="25" dirty="0">
                <a:latin typeface="Tahoma"/>
                <a:cs typeface="Tahoma"/>
              </a:rPr>
              <a:t> </a:t>
            </a:r>
            <a:r>
              <a:rPr sz="1000" spc="-35" dirty="0">
                <a:latin typeface="Tahoma"/>
                <a:cs typeface="Tahoma"/>
              </a:rPr>
              <a:t>-</a:t>
            </a:r>
            <a:r>
              <a:rPr sz="1000" spc="20" dirty="0">
                <a:latin typeface="Tahoma"/>
                <a:cs typeface="Tahoma"/>
              </a:rPr>
              <a:t> </a:t>
            </a:r>
            <a:r>
              <a:rPr sz="1000" i="1" spc="-20" dirty="0">
                <a:latin typeface="Arial"/>
                <a:cs typeface="Arial"/>
              </a:rPr>
              <a:t>n</a:t>
            </a:r>
            <a:r>
              <a:rPr sz="1000" spc="-20" dirty="0">
                <a:latin typeface="Tahoma"/>
                <a:cs typeface="Tahoma"/>
              </a:rPr>
              <a:t>-th </a:t>
            </a:r>
            <a:r>
              <a:rPr sz="1000" spc="-300" dirty="0">
                <a:latin typeface="Tahoma"/>
                <a:cs typeface="Tahoma"/>
              </a:rPr>
              <a:t> </a:t>
            </a:r>
            <a:r>
              <a:rPr sz="1000" spc="-55" dirty="0">
                <a:latin typeface="Tahoma"/>
                <a:cs typeface="Tahoma"/>
              </a:rPr>
              <a:t>power):</a:t>
            </a:r>
            <a:endParaRPr sz="1000">
              <a:latin typeface="Tahoma"/>
              <a:cs typeface="Tahoma"/>
            </a:endParaRPr>
          </a:p>
        </p:txBody>
      </p:sp>
      <p:sp>
        <p:nvSpPr>
          <p:cNvPr id="33" name="object 33"/>
          <p:cNvSpPr/>
          <p:nvPr/>
        </p:nvSpPr>
        <p:spPr>
          <a:xfrm>
            <a:off x="2814396" y="2211400"/>
            <a:ext cx="318770" cy="15240"/>
          </a:xfrm>
          <a:custGeom>
            <a:avLst/>
            <a:gdLst/>
            <a:ahLst/>
            <a:cxnLst/>
            <a:rect l="l" t="t" r="r" b="b"/>
            <a:pathLst>
              <a:path w="318769" h="15239">
                <a:moveTo>
                  <a:pt x="318414" y="0"/>
                </a:moveTo>
                <a:lnTo>
                  <a:pt x="0" y="0"/>
                </a:lnTo>
                <a:lnTo>
                  <a:pt x="0" y="15176"/>
                </a:lnTo>
                <a:lnTo>
                  <a:pt x="318414" y="15176"/>
                </a:lnTo>
                <a:lnTo>
                  <a:pt x="318414" y="0"/>
                </a:lnTo>
                <a:close/>
              </a:path>
            </a:pathLst>
          </a:custGeom>
          <a:solidFill>
            <a:srgbClr val="000000"/>
          </a:solidFill>
        </p:spPr>
        <p:txBody>
          <a:bodyPr wrap="square" lIns="0" tIns="0" rIns="0" bIns="0" rtlCol="0"/>
          <a:lstStyle/>
          <a:p>
            <a:endParaRPr/>
          </a:p>
        </p:txBody>
      </p:sp>
      <p:sp>
        <p:nvSpPr>
          <p:cNvPr id="34" name="object 34"/>
          <p:cNvSpPr txBox="1"/>
          <p:nvPr/>
        </p:nvSpPr>
        <p:spPr>
          <a:xfrm>
            <a:off x="1936813" y="2023673"/>
            <a:ext cx="1304290" cy="241300"/>
          </a:xfrm>
          <a:prstGeom prst="rect">
            <a:avLst/>
          </a:prstGeom>
        </p:spPr>
        <p:txBody>
          <a:bodyPr vert="horz" wrap="square" lIns="0" tIns="12065" rIns="0" bIns="0" rtlCol="0">
            <a:spAutoFit/>
          </a:bodyPr>
          <a:lstStyle/>
          <a:p>
            <a:pPr marL="50800">
              <a:lnSpc>
                <a:spcPts val="850"/>
              </a:lnSpc>
              <a:spcBef>
                <a:spcPts val="95"/>
              </a:spcBef>
            </a:pPr>
            <a:r>
              <a:rPr sz="1000" i="1" spc="-5" dirty="0">
                <a:latin typeface="Arial"/>
                <a:cs typeface="Arial"/>
              </a:rPr>
              <a:t>A</a:t>
            </a:r>
            <a:r>
              <a:rPr sz="1050" i="1" spc="-15" baseline="31746" dirty="0">
                <a:latin typeface="Arial"/>
                <a:cs typeface="Arial"/>
              </a:rPr>
              <a:t>n </a:t>
            </a:r>
            <a:r>
              <a:rPr sz="1050" i="1" spc="-82" baseline="31746"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60" dirty="0">
                <a:latin typeface="Arial"/>
                <a:cs typeface="Arial"/>
              </a:rPr>
              <a:t> </a:t>
            </a:r>
            <a:r>
              <a:rPr sz="1000" u="heavy" spc="-25" dirty="0">
                <a:uFill>
                  <a:solidFill>
                    <a:srgbClr val="000000"/>
                  </a:solidFill>
                </a:uFill>
                <a:latin typeface="Lucida Sans Unicode"/>
                <a:cs typeface="Lucida Sans Unicode"/>
              </a:rPr>
              <a:t>×</a:t>
            </a:r>
            <a:r>
              <a:rPr sz="1000" u="heavy" spc="-95" dirty="0">
                <a:uFill>
                  <a:solidFill>
                    <a:srgbClr val="000000"/>
                  </a:solidFill>
                </a:uFill>
                <a:latin typeface="Lucida Sans Unicode"/>
                <a:cs typeface="Lucida Sans Unicode"/>
              </a:rPr>
              <a:t> </a:t>
            </a:r>
            <a:r>
              <a:rPr sz="1000" i="1" u="heavy" spc="-5" dirty="0">
                <a:uFill>
                  <a:solidFill>
                    <a:srgbClr val="000000"/>
                  </a:solidFill>
                </a:uFill>
                <a:latin typeface="Arial"/>
                <a:cs typeface="Arial"/>
              </a:rPr>
              <a:t>A</a:t>
            </a:r>
            <a:r>
              <a:rPr sz="1000" i="1" u="heavy" spc="-60" dirty="0">
                <a:uFill>
                  <a:solidFill>
                    <a:srgbClr val="000000"/>
                  </a:solidFill>
                </a:uFill>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30" dirty="0">
                <a:latin typeface="Verdana"/>
                <a:cs typeface="Verdana"/>
              </a:rPr>
              <a:t> </a:t>
            </a:r>
            <a:r>
              <a:rPr sz="1000" spc="-25" dirty="0">
                <a:latin typeface="Lucida Sans Unicode"/>
                <a:cs typeface="Lucida Sans Unicode"/>
              </a:rPr>
              <a:t>×</a:t>
            </a:r>
            <a:r>
              <a:rPr sz="1000" spc="-95" dirty="0">
                <a:latin typeface="Lucida Sans Unicode"/>
                <a:cs typeface="Lucida Sans Unicode"/>
              </a:rPr>
              <a:t> </a:t>
            </a:r>
            <a:r>
              <a:rPr sz="1000" i="1" spc="-5" dirty="0">
                <a:latin typeface="Arial"/>
                <a:cs typeface="Arial"/>
              </a:rPr>
              <a:t>A</a:t>
            </a:r>
            <a:endParaRPr sz="1000">
              <a:latin typeface="Arial"/>
              <a:cs typeface="Arial"/>
            </a:endParaRPr>
          </a:p>
          <a:p>
            <a:pPr marL="387985">
              <a:lnSpc>
                <a:spcPts val="850"/>
              </a:lnSpc>
              <a:tabLst>
                <a:tab pos="763270" algn="l"/>
                <a:tab pos="1195705" algn="l"/>
              </a:tabLst>
            </a:pPr>
            <a:r>
              <a:rPr sz="1000" spc="-10" dirty="0">
                <a:latin typeface="Sitka Banner"/>
                <a:cs typeface="Sitka Banner"/>
              </a:rPr>
              <a:t>`	</a:t>
            </a:r>
            <a:r>
              <a:rPr sz="1000" spc="-140" dirty="0">
                <a:latin typeface="Sitka Banner"/>
                <a:cs typeface="Sitka Banner"/>
              </a:rPr>
              <a:t>˛</a:t>
            </a:r>
            <a:r>
              <a:rPr sz="1050" i="1" spc="-209" baseline="-71428" dirty="0">
                <a:latin typeface="Arial"/>
                <a:cs typeface="Arial"/>
              </a:rPr>
              <a:t>n</a:t>
            </a:r>
            <a:r>
              <a:rPr sz="1000" spc="-140" dirty="0">
                <a:latin typeface="Sitka Banner"/>
                <a:cs typeface="Sitka Banner"/>
              </a:rPr>
              <a:t>¸	</a:t>
            </a:r>
            <a:r>
              <a:rPr sz="1000" dirty="0">
                <a:latin typeface="Sitka Banner"/>
                <a:cs typeface="Sitka Banner"/>
              </a:rPr>
              <a:t>x</a:t>
            </a:r>
            <a:endParaRPr sz="1000">
              <a:latin typeface="Sitka Banner"/>
              <a:cs typeface="Sitka Banner"/>
            </a:endParaRP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994660" cy="244475"/>
          </a:xfrm>
          <a:prstGeom prst="rect">
            <a:avLst/>
          </a:prstGeom>
        </p:spPr>
        <p:txBody>
          <a:bodyPr vert="horz" wrap="square" lIns="0" tIns="17145" rIns="0" bIns="0" rtlCol="0">
            <a:spAutoFit/>
          </a:bodyPr>
          <a:lstStyle/>
          <a:p>
            <a:pPr marL="12700">
              <a:lnSpc>
                <a:spcPct val="100000"/>
              </a:lnSpc>
              <a:spcBef>
                <a:spcPts val="135"/>
              </a:spcBef>
            </a:pPr>
            <a:r>
              <a:rPr spc="-35" dirty="0"/>
              <a:t>Cartesian</a:t>
            </a:r>
            <a:r>
              <a:rPr spc="120" dirty="0"/>
              <a:t> </a:t>
            </a:r>
            <a:r>
              <a:rPr spc="-30" dirty="0"/>
              <a:t>product</a:t>
            </a:r>
            <a:r>
              <a:rPr spc="125" dirty="0"/>
              <a:t> </a:t>
            </a:r>
            <a:r>
              <a:rPr spc="-100" dirty="0"/>
              <a:t>is</a:t>
            </a:r>
            <a:r>
              <a:rPr spc="120" dirty="0"/>
              <a:t> </a:t>
            </a:r>
            <a:r>
              <a:rPr spc="-5" dirty="0"/>
              <a:t>not</a:t>
            </a:r>
            <a:r>
              <a:rPr spc="125" dirty="0"/>
              <a:t> </a:t>
            </a:r>
            <a:r>
              <a:rPr spc="-50" dirty="0"/>
              <a:t>associative</a:t>
            </a:r>
          </a:p>
        </p:txBody>
      </p:sp>
      <p:sp>
        <p:nvSpPr>
          <p:cNvPr id="30" name="object 30"/>
          <p:cNvSpPr/>
          <p:nvPr/>
        </p:nvSpPr>
        <p:spPr>
          <a:xfrm>
            <a:off x="698562" y="774966"/>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804892"/>
            <a:ext cx="401320" cy="128270"/>
          </a:xfrm>
          <a:prstGeom prst="rect">
            <a:avLst/>
          </a:prstGeom>
        </p:spPr>
        <p:txBody>
          <a:bodyPr vert="horz" wrap="square" lIns="0" tIns="0" rIns="0" bIns="0" rtlCol="0">
            <a:spAutoFit/>
          </a:bodyPr>
          <a:lstStyle/>
          <a:p>
            <a:pPr>
              <a:lnSpc>
                <a:spcPts val="955"/>
              </a:lnSpc>
            </a:pPr>
            <a:r>
              <a:rPr sz="1000" spc="-45" dirty="0">
                <a:solidFill>
                  <a:srgbClr val="FFFFFF"/>
                </a:solidFill>
                <a:latin typeface="Tahoma"/>
                <a:cs typeface="Tahoma"/>
              </a:rPr>
              <a:t>Rem</a:t>
            </a:r>
            <a:r>
              <a:rPr sz="1000" spc="-65" dirty="0">
                <a:solidFill>
                  <a:srgbClr val="FFFFFF"/>
                </a:solidFill>
                <a:latin typeface="Tahoma"/>
                <a:cs typeface="Tahoma"/>
              </a:rPr>
              <a:t>a</a:t>
            </a:r>
            <a:r>
              <a:rPr sz="1000" spc="-20" dirty="0">
                <a:solidFill>
                  <a:srgbClr val="FFFFFF"/>
                </a:solidFill>
                <a:latin typeface="Tahoma"/>
                <a:cs typeface="Tahoma"/>
              </a:rPr>
              <a:t>rk</a:t>
            </a:r>
            <a:endParaRPr sz="1000">
              <a:latin typeface="Tahoma"/>
              <a:cs typeface="Tahoma"/>
            </a:endParaRPr>
          </a:p>
        </p:txBody>
      </p:sp>
      <p:grpSp>
        <p:nvGrpSpPr>
          <p:cNvPr id="32" name="object 32"/>
          <p:cNvGrpSpPr/>
          <p:nvPr/>
        </p:nvGrpSpPr>
        <p:grpSpPr>
          <a:xfrm>
            <a:off x="698562" y="831887"/>
            <a:ext cx="3831590" cy="663575"/>
            <a:chOff x="698562" y="831887"/>
            <a:chExt cx="3831590" cy="663575"/>
          </a:xfrm>
        </p:grpSpPr>
        <p:pic>
          <p:nvPicPr>
            <p:cNvPr id="33" name="object 33"/>
            <p:cNvPicPr/>
            <p:nvPr/>
          </p:nvPicPr>
          <p:blipFill>
            <a:blip r:embed="rId7" cstate="print"/>
            <a:stretch>
              <a:fillRect/>
            </a:stretch>
          </p:blipFill>
          <p:spPr>
            <a:xfrm>
              <a:off x="698563" y="932561"/>
              <a:ext cx="3780284" cy="50609"/>
            </a:xfrm>
            <a:prstGeom prst="rect">
              <a:avLst/>
            </a:prstGeom>
          </p:spPr>
        </p:pic>
        <p:sp>
          <p:nvSpPr>
            <p:cNvPr id="34" name="object 34"/>
            <p:cNvSpPr/>
            <p:nvPr/>
          </p:nvSpPr>
          <p:spPr>
            <a:xfrm>
              <a:off x="749363" y="831887"/>
              <a:ext cx="3780790" cy="663575"/>
            </a:xfrm>
            <a:custGeom>
              <a:avLst/>
              <a:gdLst/>
              <a:ahLst/>
              <a:cxnLst/>
              <a:rect l="l" t="t" r="r" b="b"/>
              <a:pathLst>
                <a:path w="3780790" h="663575">
                  <a:moveTo>
                    <a:pt x="3780285" y="0"/>
                  </a:moveTo>
                  <a:lnTo>
                    <a:pt x="0" y="0"/>
                  </a:lnTo>
                  <a:lnTo>
                    <a:pt x="0" y="663335"/>
                  </a:lnTo>
                  <a:lnTo>
                    <a:pt x="3780285" y="663335"/>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976832"/>
              <a:ext cx="3780790" cy="467995"/>
            </a:xfrm>
            <a:custGeom>
              <a:avLst/>
              <a:gdLst/>
              <a:ahLst/>
              <a:cxnLst/>
              <a:rect l="l" t="t" r="r" b="b"/>
              <a:pathLst>
                <a:path w="3780790" h="467994">
                  <a:moveTo>
                    <a:pt x="3780285" y="0"/>
                  </a:moveTo>
                  <a:lnTo>
                    <a:pt x="0" y="0"/>
                  </a:lnTo>
                  <a:lnTo>
                    <a:pt x="0" y="416789"/>
                  </a:lnTo>
                  <a:lnTo>
                    <a:pt x="4008" y="436513"/>
                  </a:lnTo>
                  <a:lnTo>
                    <a:pt x="14922" y="452666"/>
                  </a:lnTo>
                  <a:lnTo>
                    <a:pt x="31075" y="463581"/>
                  </a:lnTo>
                  <a:lnTo>
                    <a:pt x="50800" y="467589"/>
                  </a:lnTo>
                  <a:lnTo>
                    <a:pt x="3729484" y="467589"/>
                  </a:lnTo>
                  <a:lnTo>
                    <a:pt x="3749209" y="463581"/>
                  </a:lnTo>
                  <a:lnTo>
                    <a:pt x="3765362" y="452666"/>
                  </a:lnTo>
                  <a:lnTo>
                    <a:pt x="3776276" y="436513"/>
                  </a:lnTo>
                  <a:lnTo>
                    <a:pt x="3780285" y="416789"/>
                  </a:lnTo>
                  <a:lnTo>
                    <a:pt x="3780285" y="0"/>
                  </a:lnTo>
                  <a:close/>
                </a:path>
              </a:pathLst>
            </a:custGeom>
            <a:solidFill>
              <a:srgbClr val="E9E9F2"/>
            </a:solidFill>
          </p:spPr>
          <p:txBody>
            <a:bodyPr wrap="square" lIns="0" tIns="0" rIns="0" bIns="0" rtlCol="0"/>
            <a:lstStyle/>
            <a:p>
              <a:endParaRPr/>
            </a:p>
          </p:txBody>
        </p:sp>
      </p:grpSp>
      <p:sp>
        <p:nvSpPr>
          <p:cNvPr id="36" name="object 36"/>
          <p:cNvSpPr txBox="1"/>
          <p:nvPr/>
        </p:nvSpPr>
        <p:spPr>
          <a:xfrm>
            <a:off x="698563" y="831887"/>
            <a:ext cx="3831590" cy="663575"/>
          </a:xfrm>
          <a:prstGeom prst="rect">
            <a:avLst/>
          </a:prstGeom>
        </p:spPr>
        <p:txBody>
          <a:bodyPr vert="horz" wrap="square" lIns="0" tIns="6985" rIns="0" bIns="0" rtlCol="0">
            <a:spAutoFit/>
          </a:bodyPr>
          <a:lstStyle/>
          <a:p>
            <a:pPr>
              <a:lnSpc>
                <a:spcPct val="100000"/>
              </a:lnSpc>
              <a:spcBef>
                <a:spcPts val="55"/>
              </a:spcBef>
            </a:pPr>
            <a:endParaRPr sz="850">
              <a:latin typeface="Times New Roman"/>
              <a:cs typeface="Times New Roman"/>
            </a:endParaRPr>
          </a:p>
          <a:p>
            <a:pPr marR="80010" algn="ctr">
              <a:lnSpc>
                <a:spcPct val="100000"/>
              </a:lnSpc>
            </a:pPr>
            <a:r>
              <a:rPr sz="1000" spc="-25" dirty="0">
                <a:latin typeface="Tahoma"/>
                <a:cs typeface="Tahoma"/>
              </a:rPr>
              <a:t>Operation</a:t>
            </a:r>
            <a:r>
              <a:rPr sz="1000" spc="20" dirty="0">
                <a:latin typeface="Tahoma"/>
                <a:cs typeface="Tahoma"/>
              </a:rPr>
              <a:t> </a:t>
            </a:r>
            <a:r>
              <a:rPr sz="1000" spc="-30" dirty="0">
                <a:latin typeface="Tahoma"/>
                <a:cs typeface="Tahoma"/>
              </a:rPr>
              <a:t>of</a:t>
            </a:r>
            <a:r>
              <a:rPr sz="1000" spc="20" dirty="0">
                <a:latin typeface="Tahoma"/>
                <a:cs typeface="Tahoma"/>
              </a:rPr>
              <a:t> </a:t>
            </a:r>
            <a:r>
              <a:rPr sz="1000" spc="-35" dirty="0">
                <a:latin typeface="Tahoma"/>
                <a:cs typeface="Tahoma"/>
              </a:rPr>
              <a:t>Cartesian</a:t>
            </a:r>
            <a:r>
              <a:rPr sz="1000" spc="20" dirty="0">
                <a:latin typeface="Tahoma"/>
                <a:cs typeface="Tahoma"/>
              </a:rPr>
              <a:t> </a:t>
            </a:r>
            <a:r>
              <a:rPr sz="1000" spc="-30" dirty="0">
                <a:latin typeface="Tahoma"/>
                <a:cs typeface="Tahoma"/>
              </a:rPr>
              <a:t>product</a:t>
            </a:r>
            <a:r>
              <a:rPr sz="1000" spc="30" dirty="0">
                <a:latin typeface="Tahoma"/>
                <a:cs typeface="Tahoma"/>
              </a:rPr>
              <a:t> </a:t>
            </a:r>
            <a:r>
              <a:rPr sz="1000" spc="-30" dirty="0">
                <a:latin typeface="Tahoma"/>
                <a:cs typeface="Tahoma"/>
              </a:rPr>
              <a:t>is</a:t>
            </a:r>
            <a:r>
              <a:rPr sz="1000" spc="25" dirty="0">
                <a:latin typeface="Tahoma"/>
                <a:cs typeface="Tahoma"/>
              </a:rPr>
              <a:t> </a:t>
            </a:r>
            <a:r>
              <a:rPr sz="1000" spc="-25" dirty="0">
                <a:latin typeface="Tahoma"/>
                <a:cs typeface="Tahoma"/>
              </a:rPr>
              <a:t>not</a:t>
            </a:r>
            <a:r>
              <a:rPr sz="1000" spc="25" dirty="0">
                <a:latin typeface="Tahoma"/>
                <a:cs typeface="Tahoma"/>
              </a:rPr>
              <a:t> </a:t>
            </a:r>
            <a:r>
              <a:rPr sz="1000" spc="-35" dirty="0">
                <a:latin typeface="Tahoma"/>
                <a:cs typeface="Tahoma"/>
              </a:rPr>
              <a:t>associative,</a:t>
            </a:r>
            <a:r>
              <a:rPr sz="1000" spc="25" dirty="0">
                <a:latin typeface="Tahoma"/>
                <a:cs typeface="Tahoma"/>
              </a:rPr>
              <a:t> </a:t>
            </a:r>
            <a:r>
              <a:rPr sz="1000" spc="-35" dirty="0">
                <a:latin typeface="Tahoma"/>
                <a:cs typeface="Tahoma"/>
              </a:rPr>
              <a:t>i.e.</a:t>
            </a:r>
            <a:r>
              <a:rPr sz="1000" spc="135" dirty="0">
                <a:latin typeface="Tahoma"/>
                <a:cs typeface="Tahoma"/>
              </a:rPr>
              <a:t> </a:t>
            </a:r>
            <a:r>
              <a:rPr sz="1000" spc="15" dirty="0">
                <a:latin typeface="Tahoma"/>
                <a:cs typeface="Tahoma"/>
              </a:rPr>
              <a:t>it</a:t>
            </a:r>
            <a:r>
              <a:rPr sz="1000" spc="30" dirty="0">
                <a:latin typeface="Tahoma"/>
                <a:cs typeface="Tahoma"/>
              </a:rPr>
              <a:t> </a:t>
            </a:r>
            <a:r>
              <a:rPr sz="1000" spc="-55" dirty="0">
                <a:latin typeface="Tahoma"/>
                <a:cs typeface="Tahoma"/>
              </a:rPr>
              <a:t>may</a:t>
            </a:r>
            <a:r>
              <a:rPr sz="1000" spc="20" dirty="0">
                <a:latin typeface="Tahoma"/>
                <a:cs typeface="Tahoma"/>
              </a:rPr>
              <a:t> </a:t>
            </a:r>
            <a:r>
              <a:rPr sz="1000" spc="-50" dirty="0">
                <a:latin typeface="Tahoma"/>
                <a:cs typeface="Tahoma"/>
              </a:rPr>
              <a:t>be</a:t>
            </a:r>
            <a:r>
              <a:rPr sz="1000" spc="20" dirty="0">
                <a:latin typeface="Tahoma"/>
                <a:cs typeface="Tahoma"/>
              </a:rPr>
              <a:t> </a:t>
            </a:r>
            <a:r>
              <a:rPr sz="1000" spc="-10" dirty="0">
                <a:latin typeface="Tahoma"/>
                <a:cs typeface="Tahoma"/>
              </a:rPr>
              <a:t>that</a:t>
            </a:r>
            <a:endParaRPr sz="1000">
              <a:latin typeface="Tahoma"/>
              <a:cs typeface="Tahoma"/>
            </a:endParaRPr>
          </a:p>
          <a:p>
            <a:pPr>
              <a:lnSpc>
                <a:spcPct val="100000"/>
              </a:lnSpc>
              <a:spcBef>
                <a:spcPts val="25"/>
              </a:spcBef>
            </a:pPr>
            <a:endParaRPr sz="800">
              <a:latin typeface="Tahoma"/>
              <a:cs typeface="Tahoma"/>
            </a:endParaRPr>
          </a:p>
          <a:p>
            <a:pPr marR="57785" algn="ctr">
              <a:lnSpc>
                <a:spcPct val="100000"/>
              </a:lnSpc>
              <a:tabLst>
                <a:tab pos="851535" algn="l"/>
              </a:tabLst>
            </a:pPr>
            <a:r>
              <a:rPr sz="1000" i="1" spc="-5" dirty="0">
                <a:latin typeface="Arial"/>
                <a:cs typeface="Arial"/>
              </a:rPr>
              <a:t>A</a:t>
            </a:r>
            <a:r>
              <a:rPr sz="1000" i="1" spc="-60" dirty="0">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5" dirty="0">
                <a:latin typeface="Arial"/>
                <a:cs typeface="Arial"/>
              </a:rPr>
              <a:t>B</a:t>
            </a:r>
            <a:r>
              <a:rPr sz="1000" i="1" spc="25" dirty="0">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i="1" spc="-90" dirty="0">
                <a:latin typeface="Arial"/>
                <a:cs typeface="Arial"/>
              </a:rPr>
              <a:t>C</a:t>
            </a:r>
            <a:r>
              <a:rPr sz="1000" i="1" spc="-160" dirty="0">
                <a:latin typeface="Arial"/>
                <a:cs typeface="Arial"/>
              </a:rPr>
              <a:t> </a:t>
            </a:r>
            <a:r>
              <a:rPr sz="1000" dirty="0">
                <a:latin typeface="Tahoma"/>
                <a:cs typeface="Tahoma"/>
              </a:rPr>
              <a:t>)</a:t>
            </a:r>
            <a:r>
              <a:rPr sz="1000" spc="-35" dirty="0">
                <a:latin typeface="Tahoma"/>
                <a:cs typeface="Tahoma"/>
              </a:rPr>
              <a:t> </a:t>
            </a:r>
            <a:r>
              <a:rPr sz="1000" spc="-730" dirty="0">
                <a:latin typeface="Tahoma"/>
                <a:cs typeface="Tahoma"/>
              </a:rPr>
              <a:t>=</a:t>
            </a:r>
            <a:r>
              <a:rPr sz="1000" dirty="0">
                <a:latin typeface="Lucida Sans Unicode"/>
                <a:cs typeface="Lucida Sans Unicode"/>
              </a:rPr>
              <a:t≯	</a:t>
            </a:r>
            <a:r>
              <a:rPr sz="1000" dirty="0">
                <a:latin typeface="Tahoma"/>
                <a:cs typeface="Tahoma"/>
              </a:rPr>
              <a:t>(</a:t>
            </a:r>
            <a:r>
              <a:rPr sz="1000" i="1" spc="-5" dirty="0">
                <a:latin typeface="Arial"/>
                <a:cs typeface="Arial"/>
              </a:rPr>
              <a:t>A</a:t>
            </a:r>
            <a:r>
              <a:rPr sz="1000" i="1" spc="-60" dirty="0">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i="1" spc="75" dirty="0">
                <a:latin typeface="Arial"/>
                <a:cs typeface="Arial"/>
              </a:rPr>
              <a:t>B</a:t>
            </a:r>
            <a:r>
              <a:rPr sz="1000" dirty="0">
                <a:latin typeface="Tahoma"/>
                <a:cs typeface="Tahoma"/>
              </a:rPr>
              <a:t>)</a:t>
            </a:r>
            <a:r>
              <a:rPr sz="1000" spc="-95" dirty="0">
                <a:latin typeface="Tahoma"/>
                <a:cs typeface="Tahoma"/>
              </a:rPr>
              <a:t> </a:t>
            </a:r>
            <a:r>
              <a:rPr sz="1000" spc="-25" dirty="0">
                <a:latin typeface="Lucida Sans Unicode"/>
                <a:cs typeface="Lucida Sans Unicode"/>
              </a:rPr>
              <a:t>×</a:t>
            </a:r>
            <a:r>
              <a:rPr sz="1000" spc="-95" dirty="0">
                <a:latin typeface="Lucida Sans Unicode"/>
                <a:cs typeface="Lucida Sans Unicode"/>
              </a:rPr>
              <a:t> </a:t>
            </a:r>
            <a:r>
              <a:rPr sz="1000" i="1" spc="-90" dirty="0">
                <a:latin typeface="Arial"/>
                <a:cs typeface="Arial"/>
              </a:rPr>
              <a:t>C</a:t>
            </a:r>
            <a:endParaRPr sz="1000">
              <a:latin typeface="Arial"/>
              <a:cs typeface="Arial"/>
            </a:endParaRPr>
          </a:p>
        </p:txBody>
      </p:sp>
      <p:sp>
        <p:nvSpPr>
          <p:cNvPr id="37" name="object 37"/>
          <p:cNvSpPr/>
          <p:nvPr/>
        </p:nvSpPr>
        <p:spPr>
          <a:xfrm>
            <a:off x="698562" y="1596351"/>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1626278"/>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39" name="object 39"/>
          <p:cNvGrpSpPr/>
          <p:nvPr/>
        </p:nvGrpSpPr>
        <p:grpSpPr>
          <a:xfrm>
            <a:off x="698562" y="1653270"/>
            <a:ext cx="3831590" cy="1643380"/>
            <a:chOff x="698562" y="1653270"/>
            <a:chExt cx="3831590" cy="1643380"/>
          </a:xfrm>
        </p:grpSpPr>
        <p:pic>
          <p:nvPicPr>
            <p:cNvPr id="40" name="object 40"/>
            <p:cNvPicPr/>
            <p:nvPr/>
          </p:nvPicPr>
          <p:blipFill>
            <a:blip r:embed="rId8" cstate="print"/>
            <a:stretch>
              <a:fillRect/>
            </a:stretch>
          </p:blipFill>
          <p:spPr>
            <a:xfrm>
              <a:off x="698563" y="1753946"/>
              <a:ext cx="3780284" cy="50609"/>
            </a:xfrm>
            <a:prstGeom prst="rect">
              <a:avLst/>
            </a:prstGeom>
          </p:spPr>
        </p:pic>
        <p:sp>
          <p:nvSpPr>
            <p:cNvPr id="41" name="object 41"/>
            <p:cNvSpPr/>
            <p:nvPr/>
          </p:nvSpPr>
          <p:spPr>
            <a:xfrm>
              <a:off x="749363" y="1653270"/>
              <a:ext cx="3780790" cy="1643380"/>
            </a:xfrm>
            <a:custGeom>
              <a:avLst/>
              <a:gdLst/>
              <a:ahLst/>
              <a:cxnLst/>
              <a:rect l="l" t="t" r="r" b="b"/>
              <a:pathLst>
                <a:path w="3780790" h="1643379">
                  <a:moveTo>
                    <a:pt x="3780285" y="0"/>
                  </a:moveTo>
                  <a:lnTo>
                    <a:pt x="0" y="0"/>
                  </a:lnTo>
                  <a:lnTo>
                    <a:pt x="0" y="1643218"/>
                  </a:lnTo>
                  <a:lnTo>
                    <a:pt x="3780285" y="1643218"/>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1798216"/>
              <a:ext cx="3780790" cy="1447800"/>
            </a:xfrm>
            <a:custGeom>
              <a:avLst/>
              <a:gdLst/>
              <a:ahLst/>
              <a:cxnLst/>
              <a:rect l="l" t="t" r="r" b="b"/>
              <a:pathLst>
                <a:path w="3780790" h="1447800">
                  <a:moveTo>
                    <a:pt x="3780285" y="0"/>
                  </a:moveTo>
                  <a:lnTo>
                    <a:pt x="0" y="0"/>
                  </a:lnTo>
                  <a:lnTo>
                    <a:pt x="0" y="1396671"/>
                  </a:lnTo>
                  <a:lnTo>
                    <a:pt x="4008" y="1416396"/>
                  </a:lnTo>
                  <a:lnTo>
                    <a:pt x="14922" y="1432549"/>
                  </a:lnTo>
                  <a:lnTo>
                    <a:pt x="31075" y="1443463"/>
                  </a:lnTo>
                  <a:lnTo>
                    <a:pt x="50800" y="1447472"/>
                  </a:lnTo>
                  <a:lnTo>
                    <a:pt x="3729484" y="1447472"/>
                  </a:lnTo>
                  <a:lnTo>
                    <a:pt x="3749209" y="1443463"/>
                  </a:lnTo>
                  <a:lnTo>
                    <a:pt x="3765362" y="1432549"/>
                  </a:lnTo>
                  <a:lnTo>
                    <a:pt x="3776276" y="1416396"/>
                  </a:lnTo>
                  <a:lnTo>
                    <a:pt x="3780285" y="1396671"/>
                  </a:lnTo>
                  <a:lnTo>
                    <a:pt x="3780285" y="0"/>
                  </a:lnTo>
                  <a:close/>
                </a:path>
              </a:pathLst>
            </a:custGeom>
            <a:solidFill>
              <a:srgbClr val="E9E9F2"/>
            </a:solidFill>
          </p:spPr>
          <p:txBody>
            <a:bodyPr wrap="square" lIns="0" tIns="0" rIns="0" bIns="0" rtlCol="0"/>
            <a:lstStyle/>
            <a:p>
              <a:endParaRPr/>
            </a:p>
          </p:txBody>
        </p:sp>
      </p:grpSp>
      <p:sp>
        <p:nvSpPr>
          <p:cNvPr id="43" name="object 43"/>
          <p:cNvSpPr txBox="1"/>
          <p:nvPr/>
        </p:nvSpPr>
        <p:spPr>
          <a:xfrm>
            <a:off x="698563" y="1653270"/>
            <a:ext cx="3831590" cy="1643380"/>
          </a:xfrm>
          <a:prstGeom prst="rect">
            <a:avLst/>
          </a:prstGeom>
        </p:spPr>
        <p:txBody>
          <a:bodyPr vert="horz" wrap="square" lIns="0" tIns="6985" rIns="0" bIns="0" rtlCol="0">
            <a:spAutoFit/>
          </a:bodyPr>
          <a:lstStyle/>
          <a:p>
            <a:pPr>
              <a:lnSpc>
                <a:spcPct val="100000"/>
              </a:lnSpc>
              <a:spcBef>
                <a:spcPts val="55"/>
              </a:spcBef>
            </a:pPr>
            <a:endParaRPr sz="850">
              <a:latin typeface="Times New Roman"/>
              <a:cs typeface="Times New Roman"/>
            </a:endParaRPr>
          </a:p>
          <a:p>
            <a:pPr marL="50800" marR="93345">
              <a:lnSpc>
                <a:spcPct val="100000"/>
              </a:lnSpc>
            </a:pPr>
            <a:r>
              <a:rPr sz="1000" spc="-20" dirty="0">
                <a:latin typeface="Tahoma"/>
                <a:cs typeface="Tahoma"/>
              </a:rPr>
              <a:t>To</a:t>
            </a:r>
            <a:r>
              <a:rPr sz="1000" dirty="0">
                <a:latin typeface="Tahoma"/>
                <a:cs typeface="Tahoma"/>
              </a:rPr>
              <a:t> </a:t>
            </a:r>
            <a:r>
              <a:rPr sz="1000" spc="-25" dirty="0">
                <a:latin typeface="Tahoma"/>
                <a:cs typeface="Tahoma"/>
              </a:rPr>
              <a:t>not</a:t>
            </a:r>
            <a:r>
              <a:rPr sz="1000" spc="5" dirty="0">
                <a:latin typeface="Tahoma"/>
                <a:cs typeface="Tahoma"/>
              </a:rPr>
              <a:t> </a:t>
            </a:r>
            <a:r>
              <a:rPr sz="1000" spc="-20" dirty="0">
                <a:latin typeface="Tahoma"/>
                <a:cs typeface="Tahoma"/>
              </a:rPr>
              <a:t>this</a:t>
            </a:r>
            <a:r>
              <a:rPr sz="1000" spc="5" dirty="0">
                <a:latin typeface="Tahoma"/>
                <a:cs typeface="Tahoma"/>
              </a:rPr>
              <a:t> </a:t>
            </a:r>
            <a:r>
              <a:rPr sz="1000" spc="-10" dirty="0">
                <a:latin typeface="Tahoma"/>
                <a:cs typeface="Tahoma"/>
              </a:rPr>
              <a:t>let’s</a:t>
            </a:r>
            <a:r>
              <a:rPr sz="1000" spc="5" dirty="0">
                <a:latin typeface="Tahoma"/>
                <a:cs typeface="Tahoma"/>
              </a:rPr>
              <a:t> </a:t>
            </a:r>
            <a:r>
              <a:rPr sz="1000" spc="-40" dirty="0">
                <a:latin typeface="Tahoma"/>
                <a:cs typeface="Tahoma"/>
              </a:rPr>
              <a:t>analyze</a:t>
            </a:r>
            <a:r>
              <a:rPr sz="1000" dirty="0">
                <a:latin typeface="Tahoma"/>
                <a:cs typeface="Tahoma"/>
              </a:rPr>
              <a:t> </a:t>
            </a:r>
            <a:r>
              <a:rPr sz="1000" spc="-35" dirty="0">
                <a:latin typeface="Tahoma"/>
                <a:cs typeface="Tahoma"/>
              </a:rPr>
              <a:t>the</a:t>
            </a:r>
            <a:r>
              <a:rPr sz="1000" spc="5" dirty="0">
                <a:latin typeface="Tahoma"/>
                <a:cs typeface="Tahoma"/>
              </a:rPr>
              <a:t> </a:t>
            </a:r>
            <a:r>
              <a:rPr sz="1000" spc="-35" dirty="0">
                <a:latin typeface="Tahoma"/>
                <a:cs typeface="Tahoma"/>
              </a:rPr>
              <a:t>contents</a:t>
            </a:r>
            <a:r>
              <a:rPr sz="1000" spc="5" dirty="0">
                <a:latin typeface="Tahoma"/>
                <a:cs typeface="Tahoma"/>
              </a:rPr>
              <a:t> </a:t>
            </a:r>
            <a:r>
              <a:rPr sz="1000" spc="-30" dirty="0">
                <a:latin typeface="Tahoma"/>
                <a:cs typeface="Tahoma"/>
              </a:rPr>
              <a:t>of</a:t>
            </a:r>
            <a:r>
              <a:rPr sz="1000" spc="5" dirty="0">
                <a:latin typeface="Tahoma"/>
                <a:cs typeface="Tahoma"/>
              </a:rPr>
              <a:t> </a:t>
            </a:r>
            <a:r>
              <a:rPr sz="1000" spc="-55" dirty="0">
                <a:latin typeface="Tahoma"/>
                <a:cs typeface="Tahoma"/>
              </a:rPr>
              <a:t>these</a:t>
            </a:r>
            <a:r>
              <a:rPr sz="1000" spc="5" dirty="0">
                <a:latin typeface="Tahoma"/>
                <a:cs typeface="Tahoma"/>
              </a:rPr>
              <a:t> </a:t>
            </a:r>
            <a:r>
              <a:rPr sz="1000" spc="-50" dirty="0">
                <a:latin typeface="Tahoma"/>
                <a:cs typeface="Tahoma"/>
              </a:rPr>
              <a:t>two</a:t>
            </a:r>
            <a:r>
              <a:rPr sz="1000" dirty="0">
                <a:latin typeface="Tahoma"/>
                <a:cs typeface="Tahoma"/>
              </a:rPr>
              <a:t> </a:t>
            </a:r>
            <a:r>
              <a:rPr sz="1000" spc="-35" dirty="0">
                <a:latin typeface="Tahoma"/>
                <a:cs typeface="Tahoma"/>
              </a:rPr>
              <a:t>products.</a:t>
            </a:r>
            <a:r>
              <a:rPr sz="1000" spc="135" dirty="0">
                <a:latin typeface="Tahoma"/>
                <a:cs typeface="Tahoma"/>
              </a:rPr>
              <a:t> </a:t>
            </a:r>
            <a:r>
              <a:rPr sz="1000" spc="-15" dirty="0">
                <a:latin typeface="Tahoma"/>
                <a:cs typeface="Tahoma"/>
              </a:rPr>
              <a:t>The</a:t>
            </a:r>
            <a:r>
              <a:rPr sz="1000" dirty="0">
                <a:latin typeface="Tahoma"/>
                <a:cs typeface="Tahoma"/>
              </a:rPr>
              <a:t> </a:t>
            </a:r>
            <a:r>
              <a:rPr sz="1000" spc="-15" dirty="0">
                <a:latin typeface="Tahoma"/>
                <a:cs typeface="Tahoma"/>
              </a:rPr>
              <a:t>first </a:t>
            </a:r>
            <a:r>
              <a:rPr sz="1000" spc="-295" dirty="0">
                <a:latin typeface="Tahoma"/>
                <a:cs typeface="Tahoma"/>
              </a:rPr>
              <a:t> </a:t>
            </a:r>
            <a:r>
              <a:rPr sz="1000" spc="-60" dirty="0">
                <a:latin typeface="Tahoma"/>
                <a:cs typeface="Tahoma"/>
              </a:rPr>
              <a:t>one</a:t>
            </a:r>
            <a:r>
              <a:rPr sz="1000" spc="10" dirty="0">
                <a:latin typeface="Tahoma"/>
                <a:cs typeface="Tahoma"/>
              </a:rPr>
              <a:t> </a:t>
            </a:r>
            <a:r>
              <a:rPr sz="1000" spc="-35" dirty="0">
                <a:latin typeface="Tahoma"/>
                <a:cs typeface="Tahoma"/>
              </a:rPr>
              <a:t>consists</a:t>
            </a:r>
            <a:r>
              <a:rPr sz="1000" spc="20" dirty="0">
                <a:latin typeface="Tahoma"/>
                <a:cs typeface="Tahoma"/>
              </a:rPr>
              <a:t> </a:t>
            </a:r>
            <a:r>
              <a:rPr sz="1000" spc="-30" dirty="0">
                <a:latin typeface="Tahoma"/>
                <a:cs typeface="Tahoma"/>
              </a:rPr>
              <a:t>of</a:t>
            </a:r>
            <a:r>
              <a:rPr sz="1000" spc="15" dirty="0">
                <a:latin typeface="Tahoma"/>
                <a:cs typeface="Tahoma"/>
              </a:rPr>
              <a:t> </a:t>
            </a:r>
            <a:r>
              <a:rPr sz="1000" spc="-35" dirty="0">
                <a:latin typeface="Tahoma"/>
                <a:cs typeface="Tahoma"/>
              </a:rPr>
              <a:t>pairs</a:t>
            </a:r>
            <a:r>
              <a:rPr sz="1000" spc="20" dirty="0">
                <a:latin typeface="Tahoma"/>
                <a:cs typeface="Tahoma"/>
              </a:rPr>
              <a:t> </a:t>
            </a:r>
            <a:r>
              <a:rPr sz="1000" spc="-30" dirty="0">
                <a:latin typeface="Tahoma"/>
                <a:cs typeface="Tahoma"/>
              </a:rPr>
              <a:t>of</a:t>
            </a:r>
            <a:r>
              <a:rPr sz="1000" spc="15" dirty="0">
                <a:latin typeface="Tahoma"/>
                <a:cs typeface="Tahoma"/>
              </a:rPr>
              <a:t> </a:t>
            </a:r>
            <a:r>
              <a:rPr sz="1000" spc="-35" dirty="0">
                <a:latin typeface="Tahoma"/>
                <a:cs typeface="Tahoma"/>
              </a:rPr>
              <a:t>the</a:t>
            </a:r>
            <a:r>
              <a:rPr sz="1000" spc="15" dirty="0">
                <a:latin typeface="Tahoma"/>
                <a:cs typeface="Tahoma"/>
              </a:rPr>
              <a:t> </a:t>
            </a:r>
            <a:r>
              <a:rPr sz="1000" spc="-40" dirty="0">
                <a:latin typeface="Tahoma"/>
                <a:cs typeface="Tahoma"/>
              </a:rPr>
              <a:t>form</a:t>
            </a:r>
            <a:endParaRPr sz="1000">
              <a:latin typeface="Tahoma"/>
              <a:cs typeface="Tahoma"/>
            </a:endParaRPr>
          </a:p>
          <a:p>
            <a:pPr>
              <a:lnSpc>
                <a:spcPct val="100000"/>
              </a:lnSpc>
              <a:spcBef>
                <a:spcPts val="20"/>
              </a:spcBef>
            </a:pPr>
            <a:endParaRPr sz="800">
              <a:latin typeface="Tahoma"/>
              <a:cs typeface="Tahoma"/>
            </a:endParaRPr>
          </a:p>
          <a:p>
            <a:pPr marL="845185">
              <a:lnSpc>
                <a:spcPct val="100000"/>
              </a:lnSpc>
            </a:pP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dirty="0">
                <a:latin typeface="Tahoma"/>
                <a:cs typeface="Tahoma"/>
              </a:rPr>
              <a:t>(</a:t>
            </a:r>
            <a:r>
              <a:rPr sz="1000" i="1" spc="-15" dirty="0">
                <a:latin typeface="Arial"/>
                <a:cs typeface="Arial"/>
              </a:rPr>
              <a:t>b</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dirty="0">
                <a:latin typeface="Tahoma"/>
                <a:cs typeface="Tahoma"/>
              </a:rPr>
              <a:t>))</a:t>
            </a:r>
            <a:r>
              <a:rPr sz="1000" i="1" spc="-90" dirty="0">
                <a:latin typeface="Verdana"/>
                <a:cs typeface="Verdana"/>
              </a:rPr>
              <a:t>,</a:t>
            </a:r>
            <a:r>
              <a:rPr sz="1000" i="1" dirty="0">
                <a:latin typeface="Verdana"/>
                <a:cs typeface="Verdana"/>
              </a:rPr>
              <a:t> </a:t>
            </a:r>
            <a:r>
              <a:rPr sz="1000" i="1" spc="125" dirty="0">
                <a:latin typeface="Verdana"/>
                <a:cs typeface="Verdana"/>
              </a:rPr>
              <a:t> </a:t>
            </a:r>
            <a:r>
              <a:rPr sz="1000" spc="-60" dirty="0">
                <a:latin typeface="Tahoma"/>
                <a:cs typeface="Tahoma"/>
              </a:rPr>
              <a:t>where</a:t>
            </a:r>
            <a:r>
              <a:rPr sz="1000" dirty="0">
                <a:latin typeface="Tahoma"/>
                <a:cs typeface="Tahoma"/>
              </a:rPr>
              <a:t> </a:t>
            </a:r>
            <a:r>
              <a:rPr sz="1000" spc="4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90" dirty="0">
                <a:latin typeface="Verdana"/>
                <a:cs typeface="Verdana"/>
              </a:rPr>
              <a:t>,</a:t>
            </a:r>
            <a:r>
              <a:rPr sz="1000" i="1" spc="-185" dirty="0">
                <a:latin typeface="Verdana"/>
                <a:cs typeface="Verdana"/>
              </a:rPr>
              <a:t> </a:t>
            </a:r>
            <a:r>
              <a:rPr sz="1000" i="1" spc="-45" dirty="0">
                <a:latin typeface="Arial"/>
                <a:cs typeface="Arial"/>
              </a:rPr>
              <a:t>b</a:t>
            </a:r>
            <a:r>
              <a:rPr sz="1000" i="1" spc="3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75" dirty="0">
                <a:latin typeface="Arial"/>
                <a:cs typeface="Arial"/>
              </a:rPr>
              <a:t>B</a:t>
            </a:r>
            <a:r>
              <a:rPr sz="1000" i="1" spc="-90" dirty="0">
                <a:latin typeface="Verdana"/>
                <a:cs typeface="Verdana"/>
              </a:rPr>
              <a:t>,</a:t>
            </a:r>
            <a:r>
              <a:rPr sz="1000" i="1" spc="-185" dirty="0">
                <a:latin typeface="Verdana"/>
                <a:cs typeface="Verdana"/>
              </a:rPr>
              <a:t> </a:t>
            </a:r>
            <a:r>
              <a:rPr sz="1000" i="1" spc="-60" dirty="0">
                <a:latin typeface="Arial"/>
                <a:cs typeface="Arial"/>
              </a:rPr>
              <a:t>c</a:t>
            </a:r>
            <a:r>
              <a:rPr sz="1000" i="1" spc="8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endParaRPr sz="1000">
              <a:latin typeface="Arial"/>
              <a:cs typeface="Arial"/>
            </a:endParaRPr>
          </a:p>
          <a:p>
            <a:pPr marL="50800">
              <a:lnSpc>
                <a:spcPct val="100000"/>
              </a:lnSpc>
              <a:spcBef>
                <a:spcPts val="990"/>
              </a:spcBef>
            </a:pPr>
            <a:r>
              <a:rPr sz="1000" spc="-35" dirty="0">
                <a:latin typeface="Tahoma"/>
                <a:cs typeface="Tahoma"/>
              </a:rPr>
              <a:t>while</a:t>
            </a:r>
            <a:r>
              <a:rPr sz="1000" spc="5" dirty="0">
                <a:latin typeface="Tahoma"/>
                <a:cs typeface="Tahoma"/>
              </a:rPr>
              <a:t> </a:t>
            </a:r>
            <a:r>
              <a:rPr sz="1000" spc="-35" dirty="0">
                <a:latin typeface="Tahoma"/>
                <a:cs typeface="Tahoma"/>
              </a:rPr>
              <a:t>the</a:t>
            </a:r>
            <a:r>
              <a:rPr sz="1000" spc="15" dirty="0">
                <a:latin typeface="Tahoma"/>
                <a:cs typeface="Tahoma"/>
              </a:rPr>
              <a:t> </a:t>
            </a:r>
            <a:r>
              <a:rPr sz="1000" spc="-50" dirty="0">
                <a:latin typeface="Tahoma"/>
                <a:cs typeface="Tahoma"/>
              </a:rPr>
              <a:t>second</a:t>
            </a:r>
            <a:r>
              <a:rPr sz="1000" spc="10" dirty="0">
                <a:latin typeface="Tahoma"/>
                <a:cs typeface="Tahoma"/>
              </a:rPr>
              <a:t> </a:t>
            </a:r>
            <a:r>
              <a:rPr sz="1000" spc="-60" dirty="0">
                <a:latin typeface="Tahoma"/>
                <a:cs typeface="Tahoma"/>
              </a:rPr>
              <a:t>one</a:t>
            </a:r>
            <a:r>
              <a:rPr sz="1000" spc="10" dirty="0">
                <a:latin typeface="Tahoma"/>
                <a:cs typeface="Tahoma"/>
              </a:rPr>
              <a:t> </a:t>
            </a:r>
            <a:r>
              <a:rPr sz="1000" spc="-35" dirty="0">
                <a:latin typeface="Tahoma"/>
                <a:cs typeface="Tahoma"/>
              </a:rPr>
              <a:t>consists</a:t>
            </a:r>
            <a:r>
              <a:rPr sz="1000" spc="15" dirty="0">
                <a:latin typeface="Tahoma"/>
                <a:cs typeface="Tahoma"/>
              </a:rPr>
              <a:t> </a:t>
            </a:r>
            <a:r>
              <a:rPr sz="1000" spc="-30" dirty="0">
                <a:latin typeface="Tahoma"/>
                <a:cs typeface="Tahoma"/>
              </a:rPr>
              <a:t>of</a:t>
            </a:r>
            <a:r>
              <a:rPr sz="1000" spc="10" dirty="0">
                <a:latin typeface="Tahoma"/>
                <a:cs typeface="Tahoma"/>
              </a:rPr>
              <a:t> </a:t>
            </a:r>
            <a:r>
              <a:rPr sz="1000" spc="-35" dirty="0">
                <a:latin typeface="Tahoma"/>
                <a:cs typeface="Tahoma"/>
              </a:rPr>
              <a:t>pairs</a:t>
            </a:r>
            <a:r>
              <a:rPr sz="1000" spc="15" dirty="0">
                <a:latin typeface="Tahoma"/>
                <a:cs typeface="Tahoma"/>
              </a:rPr>
              <a:t> </a:t>
            </a:r>
            <a:r>
              <a:rPr sz="1000" spc="-30" dirty="0">
                <a:latin typeface="Tahoma"/>
                <a:cs typeface="Tahoma"/>
              </a:rPr>
              <a:t>of</a:t>
            </a:r>
            <a:r>
              <a:rPr sz="1000" spc="10" dirty="0">
                <a:latin typeface="Tahoma"/>
                <a:cs typeface="Tahoma"/>
              </a:rPr>
              <a:t> </a:t>
            </a:r>
            <a:r>
              <a:rPr sz="1000" spc="-35" dirty="0">
                <a:latin typeface="Tahoma"/>
                <a:cs typeface="Tahoma"/>
              </a:rPr>
              <a:t>the</a:t>
            </a:r>
            <a:r>
              <a:rPr sz="1000" spc="10" dirty="0">
                <a:latin typeface="Tahoma"/>
                <a:cs typeface="Tahoma"/>
              </a:rPr>
              <a:t> </a:t>
            </a:r>
            <a:r>
              <a:rPr sz="1000" spc="-40" dirty="0">
                <a:latin typeface="Tahoma"/>
                <a:cs typeface="Tahoma"/>
              </a:rPr>
              <a:t>form</a:t>
            </a:r>
            <a:endParaRPr sz="1000">
              <a:latin typeface="Tahoma"/>
              <a:cs typeface="Tahoma"/>
            </a:endParaRPr>
          </a:p>
          <a:p>
            <a:pPr>
              <a:lnSpc>
                <a:spcPct val="100000"/>
              </a:lnSpc>
              <a:spcBef>
                <a:spcPts val="25"/>
              </a:spcBef>
            </a:pPr>
            <a:endParaRPr sz="800">
              <a:latin typeface="Tahoma"/>
              <a:cs typeface="Tahoma"/>
            </a:endParaRPr>
          </a:p>
          <a:p>
            <a:pPr marL="845185">
              <a:lnSpc>
                <a:spcPct val="100000"/>
              </a:lnSpc>
              <a:spcBef>
                <a:spcPts val="5"/>
              </a:spcBef>
            </a:pP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dirty="0">
                <a:latin typeface="Tahoma"/>
                <a:cs typeface="Tahoma"/>
              </a:rPr>
              <a:t>)</a:t>
            </a:r>
            <a:r>
              <a:rPr sz="1000" i="1" spc="-90" dirty="0">
                <a:latin typeface="Verdana"/>
                <a:cs typeface="Verdana"/>
              </a:rPr>
              <a:t>,</a:t>
            </a:r>
            <a:r>
              <a:rPr sz="1000" i="1" spc="-185" dirty="0">
                <a:latin typeface="Verdana"/>
                <a:cs typeface="Verdana"/>
              </a:rPr>
              <a:t> </a:t>
            </a:r>
            <a:r>
              <a:rPr sz="1000" i="1" spc="20" dirty="0">
                <a:latin typeface="Arial"/>
                <a:cs typeface="Arial"/>
              </a:rPr>
              <a:t>c</a:t>
            </a:r>
            <a:r>
              <a:rPr sz="1000" dirty="0">
                <a:latin typeface="Tahoma"/>
                <a:cs typeface="Tahoma"/>
              </a:rPr>
              <a:t>)</a:t>
            </a:r>
            <a:r>
              <a:rPr sz="1000" i="1" spc="-90" dirty="0">
                <a:latin typeface="Verdana"/>
                <a:cs typeface="Verdana"/>
              </a:rPr>
              <a:t>,</a:t>
            </a:r>
            <a:r>
              <a:rPr sz="1000" i="1" dirty="0">
                <a:latin typeface="Verdana"/>
                <a:cs typeface="Verdana"/>
              </a:rPr>
              <a:t> </a:t>
            </a:r>
            <a:r>
              <a:rPr sz="1000" i="1" spc="125" dirty="0">
                <a:latin typeface="Verdana"/>
                <a:cs typeface="Verdana"/>
              </a:rPr>
              <a:t> </a:t>
            </a:r>
            <a:r>
              <a:rPr sz="1000" spc="-60" dirty="0">
                <a:latin typeface="Tahoma"/>
                <a:cs typeface="Tahoma"/>
              </a:rPr>
              <a:t>where</a:t>
            </a:r>
            <a:r>
              <a:rPr sz="1000" dirty="0">
                <a:latin typeface="Tahoma"/>
                <a:cs typeface="Tahoma"/>
              </a:rPr>
              <a:t> </a:t>
            </a:r>
            <a:r>
              <a:rPr sz="1000" spc="4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90" dirty="0">
                <a:latin typeface="Verdana"/>
                <a:cs typeface="Verdana"/>
              </a:rPr>
              <a:t>,</a:t>
            </a:r>
            <a:r>
              <a:rPr sz="1000" i="1" spc="-185" dirty="0">
                <a:latin typeface="Verdana"/>
                <a:cs typeface="Verdana"/>
              </a:rPr>
              <a:t> </a:t>
            </a:r>
            <a:r>
              <a:rPr sz="1000" i="1" spc="-45" dirty="0">
                <a:latin typeface="Arial"/>
                <a:cs typeface="Arial"/>
              </a:rPr>
              <a:t>b</a:t>
            </a:r>
            <a:r>
              <a:rPr sz="1000" i="1" spc="3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75" dirty="0">
                <a:latin typeface="Arial"/>
                <a:cs typeface="Arial"/>
              </a:rPr>
              <a:t>B</a:t>
            </a:r>
            <a:r>
              <a:rPr sz="1000" i="1" spc="-90" dirty="0">
                <a:latin typeface="Verdana"/>
                <a:cs typeface="Verdana"/>
              </a:rPr>
              <a:t>,</a:t>
            </a:r>
            <a:r>
              <a:rPr sz="1000" i="1" spc="-185" dirty="0">
                <a:latin typeface="Verdana"/>
                <a:cs typeface="Verdana"/>
              </a:rPr>
              <a:t> </a:t>
            </a:r>
            <a:r>
              <a:rPr sz="1000" i="1" spc="-60" dirty="0">
                <a:latin typeface="Arial"/>
                <a:cs typeface="Arial"/>
              </a:rPr>
              <a:t>c</a:t>
            </a:r>
            <a:r>
              <a:rPr sz="1000" i="1" spc="8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endParaRPr sz="1000">
              <a:latin typeface="Arial"/>
              <a:cs typeface="Arial"/>
            </a:endParaRPr>
          </a:p>
          <a:p>
            <a:pPr marL="50800">
              <a:lnSpc>
                <a:spcPct val="100000"/>
              </a:lnSpc>
              <a:spcBef>
                <a:spcPts val="990"/>
              </a:spcBef>
            </a:pPr>
            <a:r>
              <a:rPr sz="1000" spc="-40" dirty="0">
                <a:latin typeface="Tahoma"/>
                <a:cs typeface="Tahoma"/>
              </a:rPr>
              <a:t>It</a:t>
            </a:r>
            <a:r>
              <a:rPr sz="1000" spc="15" dirty="0">
                <a:latin typeface="Tahoma"/>
                <a:cs typeface="Tahoma"/>
              </a:rPr>
              <a:t> </a:t>
            </a:r>
            <a:r>
              <a:rPr sz="1000" spc="-30" dirty="0">
                <a:latin typeface="Tahoma"/>
                <a:cs typeface="Tahoma"/>
              </a:rPr>
              <a:t>is</a:t>
            </a:r>
            <a:r>
              <a:rPr sz="1000" spc="20" dirty="0">
                <a:latin typeface="Tahoma"/>
                <a:cs typeface="Tahoma"/>
              </a:rPr>
              <a:t> </a:t>
            </a:r>
            <a:r>
              <a:rPr sz="1000" spc="-40" dirty="0">
                <a:latin typeface="Tahoma"/>
                <a:cs typeface="Tahoma"/>
              </a:rPr>
              <a:t>clear,</a:t>
            </a:r>
            <a:r>
              <a:rPr sz="1000" spc="20" dirty="0">
                <a:latin typeface="Tahoma"/>
                <a:cs typeface="Tahoma"/>
              </a:rPr>
              <a:t> </a:t>
            </a:r>
            <a:r>
              <a:rPr sz="1000" spc="-10" dirty="0">
                <a:latin typeface="Tahoma"/>
                <a:cs typeface="Tahoma"/>
              </a:rPr>
              <a:t>that</a:t>
            </a:r>
            <a:r>
              <a:rPr sz="1000" spc="20" dirty="0">
                <a:latin typeface="Tahoma"/>
                <a:cs typeface="Tahoma"/>
              </a:rPr>
              <a:t> </a:t>
            </a:r>
            <a:r>
              <a:rPr sz="1000" spc="-55" dirty="0">
                <a:latin typeface="Tahoma"/>
                <a:cs typeface="Tahoma"/>
              </a:rPr>
              <a:t>these</a:t>
            </a:r>
            <a:r>
              <a:rPr sz="1000" spc="10" dirty="0">
                <a:latin typeface="Tahoma"/>
                <a:cs typeface="Tahoma"/>
              </a:rPr>
              <a:t> </a:t>
            </a:r>
            <a:r>
              <a:rPr sz="1000" spc="-35" dirty="0">
                <a:latin typeface="Tahoma"/>
                <a:cs typeface="Tahoma"/>
              </a:rPr>
              <a:t>pairs</a:t>
            </a:r>
            <a:r>
              <a:rPr sz="1000" spc="20" dirty="0">
                <a:latin typeface="Tahoma"/>
                <a:cs typeface="Tahoma"/>
              </a:rPr>
              <a:t> </a:t>
            </a:r>
            <a:r>
              <a:rPr sz="1000" spc="-30" dirty="0">
                <a:latin typeface="Tahoma"/>
                <a:cs typeface="Tahoma"/>
              </a:rPr>
              <a:t>cannot</a:t>
            </a:r>
            <a:r>
              <a:rPr sz="1000" spc="20" dirty="0">
                <a:latin typeface="Tahoma"/>
                <a:cs typeface="Tahoma"/>
              </a:rPr>
              <a:t> </a:t>
            </a:r>
            <a:r>
              <a:rPr sz="1000" spc="-50" dirty="0">
                <a:latin typeface="Tahoma"/>
                <a:cs typeface="Tahoma"/>
              </a:rPr>
              <a:t>be</a:t>
            </a:r>
            <a:r>
              <a:rPr sz="1000" spc="20" dirty="0">
                <a:latin typeface="Tahoma"/>
                <a:cs typeface="Tahoma"/>
              </a:rPr>
              <a:t> </a:t>
            </a:r>
            <a:r>
              <a:rPr sz="1000" spc="-40" dirty="0">
                <a:latin typeface="Tahoma"/>
                <a:cs typeface="Tahoma"/>
              </a:rPr>
              <a:t>equal.</a:t>
            </a:r>
            <a:endParaRPr sz="1000">
              <a:latin typeface="Tahoma"/>
              <a:cs typeface="Tahoma"/>
            </a:endParaRPr>
          </a:p>
        </p:txBody>
      </p:sp>
      <p:grpSp>
        <p:nvGrpSpPr>
          <p:cNvPr id="44" name="object 44"/>
          <p:cNvGrpSpPr/>
          <p:nvPr/>
        </p:nvGrpSpPr>
        <p:grpSpPr>
          <a:xfrm>
            <a:off x="4335779" y="3091243"/>
            <a:ext cx="86360" cy="85725"/>
            <a:chOff x="4335779" y="3091243"/>
            <a:chExt cx="86360" cy="85725"/>
          </a:xfrm>
        </p:grpSpPr>
        <p:sp>
          <p:nvSpPr>
            <p:cNvPr id="45" name="object 45"/>
            <p:cNvSpPr/>
            <p:nvPr/>
          </p:nvSpPr>
          <p:spPr>
            <a:xfrm>
              <a:off x="4338307" y="3091243"/>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6" name="object 46"/>
            <p:cNvSpPr/>
            <p:nvPr/>
          </p:nvSpPr>
          <p:spPr>
            <a:xfrm>
              <a:off x="4340834" y="3093783"/>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7" name="object 47"/>
            <p:cNvSpPr/>
            <p:nvPr/>
          </p:nvSpPr>
          <p:spPr>
            <a:xfrm>
              <a:off x="4340834" y="3174123"/>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8" name="object 48"/>
            <p:cNvSpPr/>
            <p:nvPr/>
          </p:nvSpPr>
          <p:spPr>
            <a:xfrm>
              <a:off x="4419282" y="3091243"/>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3037840" cy="244475"/>
          </a:xfrm>
          <a:prstGeom prst="rect">
            <a:avLst/>
          </a:prstGeom>
        </p:spPr>
        <p:txBody>
          <a:bodyPr vert="horz" wrap="square" lIns="0" tIns="17145" rIns="0" bIns="0" rtlCol="0">
            <a:spAutoFit/>
          </a:bodyPr>
          <a:lstStyle/>
          <a:p>
            <a:pPr marL="12700">
              <a:lnSpc>
                <a:spcPct val="100000"/>
              </a:lnSpc>
              <a:spcBef>
                <a:spcPts val="135"/>
              </a:spcBef>
            </a:pPr>
            <a:r>
              <a:rPr spc="-30" dirty="0"/>
              <a:t>Decomposition</a:t>
            </a:r>
            <a:r>
              <a:rPr spc="120" dirty="0"/>
              <a:t> </a:t>
            </a:r>
            <a:r>
              <a:rPr spc="-30" dirty="0"/>
              <a:t>of</a:t>
            </a:r>
            <a:r>
              <a:rPr spc="125" dirty="0"/>
              <a:t> </a:t>
            </a:r>
            <a:r>
              <a:rPr spc="-35" dirty="0"/>
              <a:t>Cartesian</a:t>
            </a:r>
            <a:r>
              <a:rPr spc="125" dirty="0"/>
              <a:t> </a:t>
            </a:r>
            <a:r>
              <a:rPr spc="-30" dirty="0"/>
              <a:t>product</a:t>
            </a:r>
          </a:p>
        </p:txBody>
      </p:sp>
      <p:sp>
        <p:nvSpPr>
          <p:cNvPr id="30" name="object 30"/>
          <p:cNvSpPr txBox="1"/>
          <p:nvPr/>
        </p:nvSpPr>
        <p:spPr>
          <a:xfrm>
            <a:off x="736663" y="757153"/>
            <a:ext cx="3285490" cy="329565"/>
          </a:xfrm>
          <a:prstGeom prst="rect">
            <a:avLst/>
          </a:prstGeom>
        </p:spPr>
        <p:txBody>
          <a:bodyPr vert="horz" wrap="square" lIns="0" tIns="12065" rIns="0" bIns="0" rtlCol="0">
            <a:spAutoFit/>
          </a:bodyPr>
          <a:lstStyle/>
          <a:p>
            <a:pPr marL="12700" marR="5080">
              <a:lnSpc>
                <a:spcPct val="100000"/>
              </a:lnSpc>
              <a:spcBef>
                <a:spcPts val="95"/>
              </a:spcBef>
            </a:pPr>
            <a:r>
              <a:rPr sz="1000" spc="-30" dirty="0">
                <a:latin typeface="Tahoma"/>
                <a:cs typeface="Tahoma"/>
              </a:rPr>
              <a:t>Despite</a:t>
            </a:r>
            <a:r>
              <a:rPr sz="1000" spc="25" dirty="0">
                <a:latin typeface="Tahoma"/>
                <a:cs typeface="Tahoma"/>
              </a:rPr>
              <a:t> </a:t>
            </a:r>
            <a:r>
              <a:rPr sz="1000" spc="-35" dirty="0">
                <a:latin typeface="Tahoma"/>
                <a:cs typeface="Tahoma"/>
              </a:rPr>
              <a:t>Cartesian</a:t>
            </a:r>
            <a:r>
              <a:rPr sz="1000" spc="30" dirty="0">
                <a:latin typeface="Tahoma"/>
                <a:cs typeface="Tahoma"/>
              </a:rPr>
              <a:t> </a:t>
            </a:r>
            <a:r>
              <a:rPr sz="1000" spc="-30" dirty="0">
                <a:latin typeface="Tahoma"/>
                <a:cs typeface="Tahoma"/>
              </a:rPr>
              <a:t>product</a:t>
            </a:r>
            <a:r>
              <a:rPr sz="1000" spc="35" dirty="0">
                <a:latin typeface="Tahoma"/>
                <a:cs typeface="Tahoma"/>
              </a:rPr>
              <a:t> </a:t>
            </a:r>
            <a:r>
              <a:rPr sz="1000" spc="-30" dirty="0">
                <a:latin typeface="Tahoma"/>
                <a:cs typeface="Tahoma"/>
              </a:rPr>
              <a:t>is</a:t>
            </a:r>
            <a:r>
              <a:rPr sz="1000" spc="30" dirty="0">
                <a:latin typeface="Tahoma"/>
                <a:cs typeface="Tahoma"/>
              </a:rPr>
              <a:t> </a:t>
            </a:r>
            <a:r>
              <a:rPr sz="1000" spc="-25" dirty="0">
                <a:latin typeface="Tahoma"/>
                <a:cs typeface="Tahoma"/>
              </a:rPr>
              <a:t>not</a:t>
            </a:r>
            <a:r>
              <a:rPr sz="1000" spc="30" dirty="0">
                <a:latin typeface="Tahoma"/>
                <a:cs typeface="Tahoma"/>
              </a:rPr>
              <a:t> </a:t>
            </a:r>
            <a:r>
              <a:rPr sz="1000" spc="-35" dirty="0">
                <a:latin typeface="Tahoma"/>
                <a:cs typeface="Tahoma"/>
              </a:rPr>
              <a:t>associative,</a:t>
            </a:r>
            <a:r>
              <a:rPr sz="1000" spc="30" dirty="0">
                <a:latin typeface="Tahoma"/>
                <a:cs typeface="Tahoma"/>
              </a:rPr>
              <a:t> </a:t>
            </a:r>
            <a:r>
              <a:rPr sz="1000" spc="15" dirty="0">
                <a:latin typeface="Tahoma"/>
                <a:cs typeface="Tahoma"/>
              </a:rPr>
              <a:t>it</a:t>
            </a:r>
            <a:r>
              <a:rPr sz="1000" spc="30" dirty="0">
                <a:latin typeface="Tahoma"/>
                <a:cs typeface="Tahoma"/>
              </a:rPr>
              <a:t> </a:t>
            </a:r>
            <a:r>
              <a:rPr sz="1000" spc="-30" dirty="0">
                <a:latin typeface="Tahoma"/>
                <a:cs typeface="Tahoma"/>
              </a:rPr>
              <a:t>admits</a:t>
            </a:r>
            <a:r>
              <a:rPr sz="1000" spc="30" dirty="0">
                <a:latin typeface="Tahoma"/>
                <a:cs typeface="Tahoma"/>
              </a:rPr>
              <a:t> </a:t>
            </a:r>
            <a:r>
              <a:rPr sz="1000" spc="-30" dirty="0">
                <a:latin typeface="Tahoma"/>
                <a:cs typeface="Tahoma"/>
              </a:rPr>
              <a:t>certain </a:t>
            </a:r>
            <a:r>
              <a:rPr sz="1000" spc="-295" dirty="0">
                <a:latin typeface="Tahoma"/>
                <a:cs typeface="Tahoma"/>
              </a:rPr>
              <a:t> </a:t>
            </a:r>
            <a:r>
              <a:rPr sz="1000" spc="-35" dirty="0">
                <a:latin typeface="Tahoma"/>
                <a:cs typeface="Tahoma"/>
              </a:rPr>
              <a:t>decomposition</a:t>
            </a:r>
            <a:r>
              <a:rPr sz="1000" spc="15" dirty="0">
                <a:latin typeface="Tahoma"/>
                <a:cs typeface="Tahoma"/>
              </a:rPr>
              <a:t> </a:t>
            </a:r>
            <a:r>
              <a:rPr sz="1000" spc="-10" dirty="0">
                <a:latin typeface="Tahoma"/>
                <a:cs typeface="Tahoma"/>
              </a:rPr>
              <a:t>to</a:t>
            </a:r>
            <a:r>
              <a:rPr sz="1000" spc="20" dirty="0">
                <a:latin typeface="Tahoma"/>
                <a:cs typeface="Tahoma"/>
              </a:rPr>
              <a:t> </a:t>
            </a:r>
            <a:r>
              <a:rPr sz="1000" spc="-35" dirty="0">
                <a:latin typeface="Tahoma"/>
                <a:cs typeface="Tahoma"/>
              </a:rPr>
              <a:t>the</a:t>
            </a:r>
            <a:r>
              <a:rPr sz="1000" spc="15" dirty="0">
                <a:latin typeface="Tahoma"/>
                <a:cs typeface="Tahoma"/>
              </a:rPr>
              <a:t> </a:t>
            </a:r>
            <a:r>
              <a:rPr sz="1000" spc="-35" dirty="0">
                <a:latin typeface="Tahoma"/>
                <a:cs typeface="Tahoma"/>
              </a:rPr>
              <a:t>binary</a:t>
            </a:r>
            <a:r>
              <a:rPr sz="1000" spc="20" dirty="0">
                <a:latin typeface="Tahoma"/>
                <a:cs typeface="Tahoma"/>
              </a:rPr>
              <a:t> </a:t>
            </a:r>
            <a:r>
              <a:rPr sz="1000" spc="-35" dirty="0">
                <a:latin typeface="Tahoma"/>
                <a:cs typeface="Tahoma"/>
              </a:rPr>
              <a:t>Cartesian</a:t>
            </a:r>
            <a:r>
              <a:rPr sz="1000" spc="15" dirty="0">
                <a:latin typeface="Tahoma"/>
                <a:cs typeface="Tahoma"/>
              </a:rPr>
              <a:t> </a:t>
            </a:r>
            <a:r>
              <a:rPr sz="1000" spc="-30" dirty="0">
                <a:latin typeface="Tahoma"/>
                <a:cs typeface="Tahoma"/>
              </a:rPr>
              <a:t>product.</a:t>
            </a:r>
            <a:endParaRPr sz="1000">
              <a:latin typeface="Tahoma"/>
              <a:cs typeface="Tahoma"/>
            </a:endParaRPr>
          </a:p>
        </p:txBody>
      </p:sp>
      <p:sp>
        <p:nvSpPr>
          <p:cNvPr id="31" name="object 31"/>
          <p:cNvSpPr/>
          <p:nvPr/>
        </p:nvSpPr>
        <p:spPr>
          <a:xfrm>
            <a:off x="698562" y="1174076"/>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2" name="object 32"/>
          <p:cNvSpPr txBox="1"/>
          <p:nvPr/>
        </p:nvSpPr>
        <p:spPr>
          <a:xfrm>
            <a:off x="749363" y="1204015"/>
            <a:ext cx="492125" cy="128270"/>
          </a:xfrm>
          <a:prstGeom prst="rect">
            <a:avLst/>
          </a:prstGeom>
        </p:spPr>
        <p:txBody>
          <a:bodyPr vert="horz" wrap="square" lIns="0" tIns="0" rIns="0" bIns="0" rtlCol="0">
            <a:spAutoFit/>
          </a:bodyPr>
          <a:lstStyle/>
          <a:p>
            <a:pPr>
              <a:lnSpc>
                <a:spcPts val="955"/>
              </a:lnSpc>
            </a:pPr>
            <a:r>
              <a:rPr sz="1000" spc="-40" dirty="0">
                <a:solidFill>
                  <a:srgbClr val="FFFFFF"/>
                </a:solidFill>
                <a:latin typeface="Tahoma"/>
                <a:cs typeface="Tahoma"/>
              </a:rPr>
              <a:t>Lemma</a:t>
            </a:r>
            <a:r>
              <a:rPr sz="1000" spc="20" dirty="0">
                <a:solidFill>
                  <a:srgbClr val="FFFFFF"/>
                </a:solidFill>
                <a:latin typeface="Tahoma"/>
                <a:cs typeface="Tahoma"/>
              </a:rPr>
              <a:t> </a:t>
            </a:r>
            <a:r>
              <a:rPr sz="1000" spc="-50" dirty="0">
                <a:solidFill>
                  <a:srgbClr val="FFFFFF"/>
                </a:solidFill>
                <a:latin typeface="Tahoma"/>
                <a:cs typeface="Tahoma"/>
              </a:rPr>
              <a:t>1</a:t>
            </a:r>
            <a:endParaRPr sz="1000">
              <a:latin typeface="Tahoma"/>
              <a:cs typeface="Tahoma"/>
            </a:endParaRPr>
          </a:p>
        </p:txBody>
      </p:sp>
      <p:grpSp>
        <p:nvGrpSpPr>
          <p:cNvPr id="33" name="object 33"/>
          <p:cNvGrpSpPr/>
          <p:nvPr/>
        </p:nvGrpSpPr>
        <p:grpSpPr>
          <a:xfrm>
            <a:off x="698562" y="1231009"/>
            <a:ext cx="3831590" cy="663575"/>
            <a:chOff x="698562" y="1231009"/>
            <a:chExt cx="3831590" cy="663575"/>
          </a:xfrm>
        </p:grpSpPr>
        <p:pic>
          <p:nvPicPr>
            <p:cNvPr id="34" name="object 34"/>
            <p:cNvPicPr/>
            <p:nvPr/>
          </p:nvPicPr>
          <p:blipFill>
            <a:blip r:embed="rId7" cstate="print"/>
            <a:stretch>
              <a:fillRect/>
            </a:stretch>
          </p:blipFill>
          <p:spPr>
            <a:xfrm>
              <a:off x="698563" y="1331671"/>
              <a:ext cx="3780284" cy="50609"/>
            </a:xfrm>
            <a:prstGeom prst="rect">
              <a:avLst/>
            </a:prstGeom>
          </p:spPr>
        </p:pic>
        <p:sp>
          <p:nvSpPr>
            <p:cNvPr id="35" name="object 35"/>
            <p:cNvSpPr/>
            <p:nvPr/>
          </p:nvSpPr>
          <p:spPr>
            <a:xfrm>
              <a:off x="749363" y="1231009"/>
              <a:ext cx="3780790" cy="663575"/>
            </a:xfrm>
            <a:custGeom>
              <a:avLst/>
              <a:gdLst/>
              <a:ahLst/>
              <a:cxnLst/>
              <a:rect l="l" t="t" r="r" b="b"/>
              <a:pathLst>
                <a:path w="3780790" h="663575">
                  <a:moveTo>
                    <a:pt x="3780285" y="0"/>
                  </a:moveTo>
                  <a:lnTo>
                    <a:pt x="0" y="0"/>
                  </a:lnTo>
                  <a:lnTo>
                    <a:pt x="0" y="663335"/>
                  </a:lnTo>
                  <a:lnTo>
                    <a:pt x="3780285" y="663335"/>
                  </a:lnTo>
                  <a:lnTo>
                    <a:pt x="3780285" y="0"/>
                  </a:lnTo>
                  <a:close/>
                </a:path>
              </a:pathLst>
            </a:custGeom>
            <a:solidFill>
              <a:srgbClr val="000000"/>
            </a:solidFill>
          </p:spPr>
          <p:txBody>
            <a:bodyPr wrap="square" lIns="0" tIns="0" rIns="0" bIns="0" rtlCol="0"/>
            <a:lstStyle/>
            <a:p>
              <a:endParaRPr/>
            </a:p>
          </p:txBody>
        </p:sp>
        <p:sp>
          <p:nvSpPr>
            <p:cNvPr id="36" name="object 36"/>
            <p:cNvSpPr/>
            <p:nvPr/>
          </p:nvSpPr>
          <p:spPr>
            <a:xfrm>
              <a:off x="698562" y="1375955"/>
              <a:ext cx="3780790" cy="467995"/>
            </a:xfrm>
            <a:custGeom>
              <a:avLst/>
              <a:gdLst/>
              <a:ahLst/>
              <a:cxnLst/>
              <a:rect l="l" t="t" r="r" b="b"/>
              <a:pathLst>
                <a:path w="3780790" h="467994">
                  <a:moveTo>
                    <a:pt x="3780285" y="0"/>
                  </a:moveTo>
                  <a:lnTo>
                    <a:pt x="0" y="0"/>
                  </a:lnTo>
                  <a:lnTo>
                    <a:pt x="0" y="416789"/>
                  </a:lnTo>
                  <a:lnTo>
                    <a:pt x="4008" y="436513"/>
                  </a:lnTo>
                  <a:lnTo>
                    <a:pt x="14922" y="452666"/>
                  </a:lnTo>
                  <a:lnTo>
                    <a:pt x="31075" y="463581"/>
                  </a:lnTo>
                  <a:lnTo>
                    <a:pt x="50800" y="467589"/>
                  </a:lnTo>
                  <a:lnTo>
                    <a:pt x="3729484" y="467589"/>
                  </a:lnTo>
                  <a:lnTo>
                    <a:pt x="3749209" y="463581"/>
                  </a:lnTo>
                  <a:lnTo>
                    <a:pt x="3765362" y="452666"/>
                  </a:lnTo>
                  <a:lnTo>
                    <a:pt x="3776276" y="436513"/>
                  </a:lnTo>
                  <a:lnTo>
                    <a:pt x="3780285" y="416789"/>
                  </a:lnTo>
                  <a:lnTo>
                    <a:pt x="3780285" y="0"/>
                  </a:lnTo>
                  <a:close/>
                </a:path>
              </a:pathLst>
            </a:custGeom>
            <a:solidFill>
              <a:srgbClr val="E9E9F2"/>
            </a:solidFill>
          </p:spPr>
          <p:txBody>
            <a:bodyPr wrap="square" lIns="0" tIns="0" rIns="0" bIns="0" rtlCol="0"/>
            <a:lstStyle/>
            <a:p>
              <a:endParaRPr/>
            </a:p>
          </p:txBody>
        </p:sp>
      </p:grpSp>
      <p:sp>
        <p:nvSpPr>
          <p:cNvPr id="37" name="object 37"/>
          <p:cNvSpPr txBox="1"/>
          <p:nvPr/>
        </p:nvSpPr>
        <p:spPr>
          <a:xfrm>
            <a:off x="698563" y="1231009"/>
            <a:ext cx="3831590" cy="663575"/>
          </a:xfrm>
          <a:prstGeom prst="rect">
            <a:avLst/>
          </a:prstGeom>
        </p:spPr>
        <p:txBody>
          <a:bodyPr vert="horz" wrap="square" lIns="0" tIns="6985" rIns="0" bIns="0" rtlCol="0">
            <a:spAutoFit/>
          </a:bodyPr>
          <a:lstStyle/>
          <a:p>
            <a:pPr>
              <a:lnSpc>
                <a:spcPct val="100000"/>
              </a:lnSpc>
              <a:spcBef>
                <a:spcPts val="55"/>
              </a:spcBef>
            </a:pPr>
            <a:endParaRPr sz="850">
              <a:latin typeface="Times New Roman"/>
              <a:cs typeface="Times New Roman"/>
            </a:endParaRPr>
          </a:p>
          <a:p>
            <a:pPr marL="50800">
              <a:lnSpc>
                <a:spcPct val="100000"/>
              </a:lnSpc>
            </a:pPr>
            <a:r>
              <a:rPr sz="1000" spc="15" dirty="0">
                <a:latin typeface="Tahoma"/>
                <a:cs typeface="Tahoma"/>
              </a:rPr>
              <a:t>F</a:t>
            </a:r>
            <a:r>
              <a:rPr sz="1000" spc="-75" dirty="0">
                <a:latin typeface="Tahoma"/>
                <a:cs typeface="Tahoma"/>
              </a:rPr>
              <a:t>o</a:t>
            </a:r>
            <a:r>
              <a:rPr sz="1000" spc="-25" dirty="0">
                <a:latin typeface="Tahoma"/>
                <a:cs typeface="Tahoma"/>
              </a:rPr>
              <a:t>r</a:t>
            </a:r>
            <a:r>
              <a:rPr sz="1000" spc="20" dirty="0">
                <a:latin typeface="Tahoma"/>
                <a:cs typeface="Tahoma"/>
              </a:rPr>
              <a:t> </a:t>
            </a:r>
            <a:r>
              <a:rPr sz="1000" spc="-45" dirty="0">
                <a:latin typeface="Tahoma"/>
                <a:cs typeface="Tahoma"/>
              </a:rPr>
              <a:t>any</a:t>
            </a:r>
            <a:r>
              <a:rPr sz="1000" spc="15" dirty="0">
                <a:latin typeface="Tahoma"/>
                <a:cs typeface="Tahoma"/>
              </a:rPr>
              <a:t> </a:t>
            </a:r>
            <a:r>
              <a:rPr sz="1000" spc="-50" dirty="0">
                <a:latin typeface="Tahoma"/>
                <a:cs typeface="Tahoma"/>
              </a:rPr>
              <a:t>sets</a:t>
            </a:r>
            <a:r>
              <a:rPr sz="1000" spc="15" dirty="0">
                <a:latin typeface="Tahoma"/>
                <a:cs typeface="Tahoma"/>
              </a:rPr>
              <a:t> </a:t>
            </a:r>
            <a:r>
              <a:rPr sz="1000" i="1" spc="-5" dirty="0">
                <a:latin typeface="Arial"/>
                <a:cs typeface="Arial"/>
              </a:rPr>
              <a:t>A</a:t>
            </a:r>
            <a:r>
              <a:rPr sz="1050" spc="44" baseline="-11904" dirty="0">
                <a:latin typeface="Microsoft Sans Serif"/>
                <a:cs typeface="Microsoft Sans Serif"/>
              </a:rPr>
              <a:t>1</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5" dirty="0">
                <a:latin typeface="Arial"/>
                <a:cs typeface="Arial"/>
              </a:rPr>
              <a:t>A</a:t>
            </a:r>
            <a:r>
              <a:rPr sz="1050" i="1" spc="-15" baseline="-11904" dirty="0">
                <a:latin typeface="Arial"/>
                <a:cs typeface="Arial"/>
              </a:rPr>
              <a:t>n</a:t>
            </a:r>
            <a:r>
              <a:rPr sz="1050" i="1" spc="-202" baseline="-11904" dirty="0">
                <a:latin typeface="Arial"/>
                <a:cs typeface="Arial"/>
              </a:rPr>
              <a:t> </a:t>
            </a:r>
            <a:r>
              <a:rPr sz="1000" spc="-80" dirty="0">
                <a:latin typeface="Tahoma"/>
                <a:cs typeface="Tahoma"/>
              </a:rPr>
              <a:t>:</a:t>
            </a:r>
            <a:endParaRPr sz="1000">
              <a:latin typeface="Tahoma"/>
              <a:cs typeface="Tahoma"/>
            </a:endParaRPr>
          </a:p>
          <a:p>
            <a:pPr>
              <a:lnSpc>
                <a:spcPct val="100000"/>
              </a:lnSpc>
              <a:spcBef>
                <a:spcPts val="25"/>
              </a:spcBef>
            </a:pPr>
            <a:endParaRPr sz="800">
              <a:latin typeface="Tahoma"/>
              <a:cs typeface="Tahoma"/>
            </a:endParaRPr>
          </a:p>
          <a:p>
            <a:pPr marL="810260">
              <a:lnSpc>
                <a:spcPct val="100000"/>
              </a:lnSpc>
            </a:pPr>
            <a:r>
              <a:rPr sz="1000" i="1" spc="-5" dirty="0">
                <a:latin typeface="Arial"/>
                <a:cs typeface="Arial"/>
              </a:rPr>
              <a:t>A</a:t>
            </a:r>
            <a:r>
              <a:rPr sz="1050" spc="-30" baseline="-11904" dirty="0">
                <a:latin typeface="Microsoft Sans Serif"/>
                <a:cs typeface="Microsoft Sans Serif"/>
              </a:rPr>
              <a:t>1</a:t>
            </a:r>
            <a:r>
              <a:rPr sz="1050" spc="127" baseline="-11904" dirty="0">
                <a:latin typeface="Microsoft Sans Serif"/>
                <a:cs typeface="Microsoft Sans Serif"/>
              </a:rPr>
              <a:t> </a:t>
            </a:r>
            <a:r>
              <a:rPr sz="1000" spc="-25" dirty="0">
                <a:latin typeface="Lucida Sans Unicode"/>
                <a:cs typeface="Lucida Sans Unicode"/>
              </a:rPr>
              <a:t>×</a:t>
            </a:r>
            <a:r>
              <a:rPr sz="1000" spc="-95"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30" dirty="0">
                <a:latin typeface="Verdana"/>
                <a:cs typeface="Verdana"/>
              </a:rPr>
              <a:t> </a:t>
            </a:r>
            <a:r>
              <a:rPr sz="1000" spc="-25" dirty="0">
                <a:latin typeface="Lucida Sans Unicode"/>
                <a:cs typeface="Lucida Sans Unicode"/>
              </a:rPr>
              <a:t>×</a:t>
            </a:r>
            <a:r>
              <a:rPr sz="1000" spc="-95" dirty="0">
                <a:latin typeface="Lucida Sans Unicode"/>
                <a:cs typeface="Lucida Sans Unicode"/>
              </a:rPr>
              <a:t> </a:t>
            </a:r>
            <a:r>
              <a:rPr sz="1000" i="1" spc="-5" dirty="0">
                <a:latin typeface="Arial"/>
                <a:cs typeface="Arial"/>
              </a:rPr>
              <a:t>A</a:t>
            </a:r>
            <a:r>
              <a:rPr sz="1050" i="1" spc="-15" baseline="-11904" dirty="0">
                <a:latin typeface="Arial"/>
                <a:cs typeface="Arial"/>
              </a:rPr>
              <a:t>n</a:t>
            </a:r>
            <a:r>
              <a:rPr sz="1050" i="1" baseline="-11904" dirty="0">
                <a:latin typeface="Arial"/>
                <a:cs typeface="Arial"/>
              </a:rPr>
              <a:t> </a:t>
            </a:r>
            <a:r>
              <a:rPr sz="1050" i="1" spc="-82" baseline="-11904" dirty="0">
                <a:latin typeface="Arial"/>
                <a:cs typeface="Arial"/>
              </a:rPr>
              <a:t> </a:t>
            </a:r>
            <a:r>
              <a:rPr sz="1000" spc="45" dirty="0">
                <a:latin typeface="Tahoma"/>
                <a:cs typeface="Tahoma"/>
              </a:rPr>
              <a:t>=</a:t>
            </a:r>
            <a:r>
              <a:rPr sz="1000" spc="-35" dirty="0">
                <a:latin typeface="Tahoma"/>
                <a:cs typeface="Tahoma"/>
              </a:rPr>
              <a:t> </a:t>
            </a:r>
            <a:r>
              <a:rPr sz="1000" dirty="0">
                <a:latin typeface="Tahoma"/>
                <a:cs typeface="Tahoma"/>
              </a:rPr>
              <a:t>(</a:t>
            </a:r>
            <a:r>
              <a:rPr sz="1000" i="1" spc="-5" dirty="0">
                <a:latin typeface="Arial"/>
                <a:cs typeface="Arial"/>
              </a:rPr>
              <a:t>A</a:t>
            </a:r>
            <a:r>
              <a:rPr sz="1050" spc="-30" baseline="-11904" dirty="0">
                <a:latin typeface="Microsoft Sans Serif"/>
                <a:cs typeface="Microsoft Sans Serif"/>
              </a:rPr>
              <a:t>1</a:t>
            </a:r>
            <a:r>
              <a:rPr sz="1050" spc="127" baseline="-11904" dirty="0">
                <a:latin typeface="Microsoft Sans Serif"/>
                <a:cs typeface="Microsoft Sans Serif"/>
              </a:rPr>
              <a:t> </a:t>
            </a:r>
            <a:r>
              <a:rPr sz="1000" spc="-25" dirty="0">
                <a:latin typeface="Lucida Sans Unicode"/>
                <a:cs typeface="Lucida Sans Unicode"/>
              </a:rPr>
              <a:t>×</a:t>
            </a:r>
            <a:r>
              <a:rPr sz="1000" spc="-95"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30" dirty="0">
                <a:latin typeface="Verdana"/>
                <a:cs typeface="Verdana"/>
              </a:rPr>
              <a:t> </a:t>
            </a:r>
            <a:r>
              <a:rPr sz="1000" spc="-25" dirty="0">
                <a:latin typeface="Lucida Sans Unicode"/>
                <a:cs typeface="Lucida Sans Unicode"/>
              </a:rPr>
              <a:t>×</a:t>
            </a:r>
            <a:r>
              <a:rPr sz="1000" spc="-95" dirty="0">
                <a:latin typeface="Lucida Sans Unicode"/>
                <a:cs typeface="Lucida Sans Unicode"/>
              </a:rPr>
              <a:t> </a:t>
            </a:r>
            <a:r>
              <a:rPr sz="1000" i="1" spc="-5" dirty="0">
                <a:latin typeface="Arial"/>
                <a:cs typeface="Arial"/>
              </a:rPr>
              <a:t>A</a:t>
            </a:r>
            <a:r>
              <a:rPr sz="1050" i="1" baseline="-11904" dirty="0">
                <a:latin typeface="Arial"/>
                <a:cs typeface="Arial"/>
              </a:rPr>
              <a:t>n</a:t>
            </a:r>
            <a:r>
              <a:rPr sz="1050" i="1" spc="315" baseline="-11904" dirty="0">
                <a:latin typeface="Arial"/>
                <a:cs typeface="Arial"/>
              </a:rPr>
              <a:t>−</a:t>
            </a:r>
            <a:r>
              <a:rPr sz="1050" spc="44" baseline="-11904" dirty="0">
                <a:latin typeface="Microsoft Sans Serif"/>
                <a:cs typeface="Microsoft Sans Serif"/>
              </a:rPr>
              <a:t>1</a:t>
            </a:r>
            <a:r>
              <a:rPr sz="1000" dirty="0">
                <a:latin typeface="Tahoma"/>
                <a:cs typeface="Tahoma"/>
              </a:rPr>
              <a:t>)</a:t>
            </a:r>
            <a:r>
              <a:rPr sz="1000" spc="-95" dirty="0">
                <a:latin typeface="Tahoma"/>
                <a:cs typeface="Tahoma"/>
              </a:rPr>
              <a:t> </a:t>
            </a:r>
            <a:r>
              <a:rPr sz="1000" spc="-25" dirty="0">
                <a:latin typeface="Lucida Sans Unicode"/>
                <a:cs typeface="Lucida Sans Unicode"/>
              </a:rPr>
              <a:t>×</a:t>
            </a:r>
            <a:r>
              <a:rPr sz="1000" spc="-95" dirty="0">
                <a:latin typeface="Lucida Sans Unicode"/>
                <a:cs typeface="Lucida Sans Unicode"/>
              </a:rPr>
              <a:t> </a:t>
            </a:r>
            <a:r>
              <a:rPr sz="1000" i="1" spc="-5" dirty="0">
                <a:latin typeface="Arial"/>
                <a:cs typeface="Arial"/>
              </a:rPr>
              <a:t>A</a:t>
            </a:r>
            <a:r>
              <a:rPr sz="1050" i="1" spc="-15" baseline="-11904" dirty="0">
                <a:latin typeface="Arial"/>
                <a:cs typeface="Arial"/>
              </a:rPr>
              <a:t>n</a:t>
            </a:r>
            <a:endParaRPr sz="1050" baseline="-11904">
              <a:latin typeface="Arial"/>
              <a:cs typeface="Arial"/>
            </a:endParaRPr>
          </a:p>
        </p:txBody>
      </p:sp>
      <p:sp>
        <p:nvSpPr>
          <p:cNvPr id="38" name="object 38"/>
          <p:cNvSpPr/>
          <p:nvPr/>
        </p:nvSpPr>
        <p:spPr>
          <a:xfrm>
            <a:off x="698562" y="1995461"/>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9" name="object 39"/>
          <p:cNvSpPr txBox="1"/>
          <p:nvPr/>
        </p:nvSpPr>
        <p:spPr>
          <a:xfrm>
            <a:off x="749363" y="2025400"/>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40" name="object 40"/>
          <p:cNvGrpSpPr/>
          <p:nvPr/>
        </p:nvGrpSpPr>
        <p:grpSpPr>
          <a:xfrm>
            <a:off x="698562" y="2052390"/>
            <a:ext cx="3831590" cy="1137920"/>
            <a:chOff x="698562" y="2052390"/>
            <a:chExt cx="3831590" cy="1137920"/>
          </a:xfrm>
        </p:grpSpPr>
        <p:pic>
          <p:nvPicPr>
            <p:cNvPr id="41" name="object 41"/>
            <p:cNvPicPr/>
            <p:nvPr/>
          </p:nvPicPr>
          <p:blipFill>
            <a:blip r:embed="rId7" cstate="print"/>
            <a:stretch>
              <a:fillRect/>
            </a:stretch>
          </p:blipFill>
          <p:spPr>
            <a:xfrm>
              <a:off x="698563" y="2153069"/>
              <a:ext cx="3780284" cy="50609"/>
            </a:xfrm>
            <a:prstGeom prst="rect">
              <a:avLst/>
            </a:prstGeom>
          </p:spPr>
        </p:pic>
        <p:sp>
          <p:nvSpPr>
            <p:cNvPr id="42" name="object 42"/>
            <p:cNvSpPr/>
            <p:nvPr/>
          </p:nvSpPr>
          <p:spPr>
            <a:xfrm>
              <a:off x="749363" y="2052390"/>
              <a:ext cx="3780790" cy="1137920"/>
            </a:xfrm>
            <a:custGeom>
              <a:avLst/>
              <a:gdLst/>
              <a:ahLst/>
              <a:cxnLst/>
              <a:rect l="l" t="t" r="r" b="b"/>
              <a:pathLst>
                <a:path w="3780790" h="1137920">
                  <a:moveTo>
                    <a:pt x="3780285" y="0"/>
                  </a:moveTo>
                  <a:lnTo>
                    <a:pt x="0" y="0"/>
                  </a:lnTo>
                  <a:lnTo>
                    <a:pt x="0" y="1137812"/>
                  </a:lnTo>
                  <a:lnTo>
                    <a:pt x="3780285" y="1137812"/>
                  </a:lnTo>
                  <a:lnTo>
                    <a:pt x="3780285" y="0"/>
                  </a:lnTo>
                  <a:close/>
                </a:path>
              </a:pathLst>
            </a:custGeom>
            <a:solidFill>
              <a:srgbClr val="000000"/>
            </a:solidFill>
          </p:spPr>
          <p:txBody>
            <a:bodyPr wrap="square" lIns="0" tIns="0" rIns="0" bIns="0" rtlCol="0"/>
            <a:lstStyle/>
            <a:p>
              <a:endParaRPr/>
            </a:p>
          </p:txBody>
        </p:sp>
        <p:sp>
          <p:nvSpPr>
            <p:cNvPr id="43" name="object 43"/>
            <p:cNvSpPr/>
            <p:nvPr/>
          </p:nvSpPr>
          <p:spPr>
            <a:xfrm>
              <a:off x="698562" y="2197335"/>
              <a:ext cx="3780790" cy="942340"/>
            </a:xfrm>
            <a:custGeom>
              <a:avLst/>
              <a:gdLst/>
              <a:ahLst/>
              <a:cxnLst/>
              <a:rect l="l" t="t" r="r" b="b"/>
              <a:pathLst>
                <a:path w="3780790" h="942339">
                  <a:moveTo>
                    <a:pt x="3780285" y="0"/>
                  </a:moveTo>
                  <a:lnTo>
                    <a:pt x="0" y="0"/>
                  </a:lnTo>
                  <a:lnTo>
                    <a:pt x="0" y="891266"/>
                  </a:lnTo>
                  <a:lnTo>
                    <a:pt x="4008" y="910990"/>
                  </a:lnTo>
                  <a:lnTo>
                    <a:pt x="14922" y="927143"/>
                  </a:lnTo>
                  <a:lnTo>
                    <a:pt x="31075" y="938058"/>
                  </a:lnTo>
                  <a:lnTo>
                    <a:pt x="50800" y="942066"/>
                  </a:lnTo>
                  <a:lnTo>
                    <a:pt x="3729484" y="942066"/>
                  </a:lnTo>
                  <a:lnTo>
                    <a:pt x="3749209" y="938058"/>
                  </a:lnTo>
                  <a:lnTo>
                    <a:pt x="3765362" y="927143"/>
                  </a:lnTo>
                  <a:lnTo>
                    <a:pt x="3776276" y="910990"/>
                  </a:lnTo>
                  <a:lnTo>
                    <a:pt x="3780285" y="891266"/>
                  </a:lnTo>
                  <a:lnTo>
                    <a:pt x="3780285" y="0"/>
                  </a:lnTo>
                  <a:close/>
                </a:path>
              </a:pathLst>
            </a:custGeom>
            <a:solidFill>
              <a:srgbClr val="E9E9F2"/>
            </a:solidFill>
          </p:spPr>
          <p:txBody>
            <a:bodyPr wrap="square" lIns="0" tIns="0" rIns="0" bIns="0" rtlCol="0"/>
            <a:lstStyle/>
            <a:p>
              <a:endParaRPr/>
            </a:p>
          </p:txBody>
        </p:sp>
      </p:grpSp>
      <p:sp>
        <p:nvSpPr>
          <p:cNvPr id="44" name="object 44"/>
          <p:cNvSpPr txBox="1"/>
          <p:nvPr/>
        </p:nvSpPr>
        <p:spPr>
          <a:xfrm>
            <a:off x="698563" y="2052390"/>
            <a:ext cx="3844290" cy="1137920"/>
          </a:xfrm>
          <a:prstGeom prst="rect">
            <a:avLst/>
          </a:prstGeom>
        </p:spPr>
        <p:txBody>
          <a:bodyPr vert="horz" wrap="square" lIns="0" tIns="6985" rIns="0" bIns="0" rtlCol="0">
            <a:spAutoFit/>
          </a:bodyPr>
          <a:lstStyle/>
          <a:p>
            <a:pPr marR="3175">
              <a:lnSpc>
                <a:spcPct val="100000"/>
              </a:lnSpc>
              <a:spcBef>
                <a:spcPts val="55"/>
              </a:spcBef>
            </a:pPr>
            <a:endParaRPr sz="850">
              <a:latin typeface="Times New Roman"/>
              <a:cs typeface="Times New Roman"/>
            </a:endParaRPr>
          </a:p>
          <a:p>
            <a:pPr marL="50800" marR="3175">
              <a:lnSpc>
                <a:spcPct val="100000"/>
              </a:lnSpc>
            </a:pPr>
            <a:r>
              <a:rPr sz="1000" spc="15" dirty="0">
                <a:latin typeface="Tahoma"/>
                <a:cs typeface="Tahoma"/>
              </a:rPr>
              <a:t>By </a:t>
            </a:r>
            <a:r>
              <a:rPr sz="1000" spc="-25" dirty="0">
                <a:latin typeface="Tahoma"/>
                <a:cs typeface="Tahoma"/>
              </a:rPr>
              <a:t>definition</a:t>
            </a:r>
            <a:r>
              <a:rPr sz="1000" spc="20" dirty="0">
                <a:latin typeface="Tahoma"/>
                <a:cs typeface="Tahoma"/>
              </a:rPr>
              <a:t> </a:t>
            </a:r>
            <a:r>
              <a:rPr sz="1000" spc="-30" dirty="0">
                <a:latin typeface="Tahoma"/>
                <a:cs typeface="Tahoma"/>
              </a:rPr>
              <a:t>of</a:t>
            </a:r>
            <a:r>
              <a:rPr sz="1000" spc="15" dirty="0">
                <a:latin typeface="Tahoma"/>
                <a:cs typeface="Tahoma"/>
              </a:rPr>
              <a:t> </a:t>
            </a:r>
            <a:r>
              <a:rPr sz="1000" spc="-35" dirty="0">
                <a:latin typeface="Tahoma"/>
                <a:cs typeface="Tahoma"/>
              </a:rPr>
              <a:t>Cartesian</a:t>
            </a:r>
            <a:r>
              <a:rPr sz="1000" spc="15" dirty="0">
                <a:latin typeface="Tahoma"/>
                <a:cs typeface="Tahoma"/>
              </a:rPr>
              <a:t> </a:t>
            </a:r>
            <a:r>
              <a:rPr sz="1000" spc="-35" dirty="0">
                <a:latin typeface="Tahoma"/>
                <a:cs typeface="Tahoma"/>
              </a:rPr>
              <a:t>product:</a:t>
            </a:r>
            <a:endParaRPr sz="1000">
              <a:latin typeface="Tahoma"/>
              <a:cs typeface="Tahoma"/>
            </a:endParaRPr>
          </a:p>
          <a:p>
            <a:pPr marR="3175">
              <a:lnSpc>
                <a:spcPct val="100000"/>
              </a:lnSpc>
              <a:spcBef>
                <a:spcPts val="25"/>
              </a:spcBef>
            </a:pPr>
            <a:endParaRPr sz="800">
              <a:latin typeface="Tahoma"/>
              <a:cs typeface="Tahoma"/>
            </a:endParaRPr>
          </a:p>
          <a:p>
            <a:pPr marL="50800">
              <a:lnSpc>
                <a:spcPct val="100000"/>
              </a:lnSpc>
            </a:pPr>
            <a:r>
              <a:rPr sz="1000" i="1" spc="-25" dirty="0">
                <a:latin typeface="Arial"/>
                <a:cs typeface="Arial"/>
              </a:rPr>
              <a:t>A</a:t>
            </a:r>
            <a:r>
              <a:rPr sz="1050" spc="-37" baseline="-11904" dirty="0">
                <a:latin typeface="Microsoft Sans Serif"/>
                <a:cs typeface="Microsoft Sans Serif"/>
              </a:rPr>
              <a:t>1</a:t>
            </a:r>
            <a:r>
              <a:rPr sz="1000" spc="-25" dirty="0">
                <a:latin typeface="Lucida Sans Unicode"/>
                <a:cs typeface="Lucida Sans Unicode"/>
              </a:rPr>
              <a:t>×</a:t>
            </a:r>
            <a:r>
              <a:rPr sz="1000" i="1" spc="-25"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30" dirty="0">
                <a:latin typeface="Verdana"/>
                <a:cs typeface="Verdana"/>
              </a:rPr>
              <a:t>.</a:t>
            </a:r>
            <a:r>
              <a:rPr sz="1000" spc="-30" dirty="0">
                <a:latin typeface="Lucida Sans Unicode"/>
                <a:cs typeface="Lucida Sans Unicode"/>
              </a:rPr>
              <a:t>×</a:t>
            </a:r>
            <a:r>
              <a:rPr sz="1000" i="1" spc="-30" dirty="0">
                <a:latin typeface="Arial"/>
                <a:cs typeface="Arial"/>
              </a:rPr>
              <a:t>A</a:t>
            </a:r>
            <a:r>
              <a:rPr sz="1050" i="1" spc="-44" baseline="-11904" dirty="0">
                <a:latin typeface="Arial"/>
                <a:cs typeface="Arial"/>
              </a:rPr>
              <a:t>n</a:t>
            </a:r>
            <a:r>
              <a:rPr sz="1050" i="1" spc="217" baseline="-11904" dirty="0">
                <a:latin typeface="Arial"/>
                <a:cs typeface="Arial"/>
              </a:rPr>
              <a:t> </a:t>
            </a:r>
            <a:r>
              <a:rPr sz="1000" spc="45" dirty="0">
                <a:latin typeface="Tahoma"/>
                <a:cs typeface="Tahoma"/>
              </a:rPr>
              <a:t>=</a:t>
            </a:r>
            <a:r>
              <a:rPr sz="1000" spc="-35" dirty="0">
                <a:latin typeface="Tahoma"/>
                <a:cs typeface="Tahoma"/>
              </a:rPr>
              <a:t> </a:t>
            </a:r>
            <a:r>
              <a:rPr sz="1000" spc="5" dirty="0">
                <a:latin typeface="Lucida Sans Unicode"/>
                <a:cs typeface="Lucida Sans Unicode"/>
              </a:rPr>
              <a:t>{</a:t>
            </a:r>
            <a:r>
              <a:rPr sz="1000" spc="5" dirty="0">
                <a:latin typeface="Tahoma"/>
                <a:cs typeface="Tahoma"/>
              </a:rPr>
              <a:t>(</a:t>
            </a:r>
            <a:r>
              <a:rPr sz="1000" i="1" spc="5" dirty="0">
                <a:latin typeface="Arial"/>
                <a:cs typeface="Arial"/>
              </a:rPr>
              <a:t>a</a:t>
            </a:r>
            <a:r>
              <a:rPr sz="1050" spc="7" baseline="-11904" dirty="0">
                <a:latin typeface="Microsoft Sans Serif"/>
                <a:cs typeface="Microsoft Sans Serif"/>
              </a:rPr>
              <a:t>1</a:t>
            </a:r>
            <a:r>
              <a:rPr sz="1000" i="1" spc="5"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spc="-40" dirty="0">
                <a:latin typeface="Tahoma"/>
                <a:cs typeface="Tahoma"/>
              </a:rPr>
              <a:t>)</a:t>
            </a:r>
            <a:r>
              <a:rPr sz="1000" spc="-40" dirty="0">
                <a:latin typeface="Lucida Sans Unicode"/>
                <a:cs typeface="Lucida Sans Unicode"/>
              </a:rPr>
              <a:t>|</a:t>
            </a:r>
            <a:r>
              <a:rPr sz="1000" i="1" spc="-40" dirty="0">
                <a:latin typeface="Arial"/>
                <a:cs typeface="Arial"/>
              </a:rPr>
              <a:t>a</a:t>
            </a:r>
            <a:r>
              <a:rPr sz="1050" i="1" spc="-60" baseline="-11904" dirty="0">
                <a:latin typeface="Arial"/>
                <a:cs typeface="Arial"/>
              </a:rPr>
              <a:t>i</a:t>
            </a:r>
            <a:r>
              <a:rPr sz="1050" i="1" spc="307" baseline="-11904" dirty="0">
                <a:latin typeface="Arial"/>
                <a:cs typeface="Arial"/>
              </a:rPr>
              <a:t> </a:t>
            </a:r>
            <a:r>
              <a:rPr sz="1000" spc="-135" dirty="0">
                <a:latin typeface="Lucida Sans Unicode"/>
                <a:cs typeface="Lucida Sans Unicode"/>
              </a:rPr>
              <a:t>∈</a:t>
            </a:r>
            <a:r>
              <a:rPr sz="1000" spc="-35" dirty="0">
                <a:latin typeface="Lucida Sans Unicode"/>
                <a:cs typeface="Lucida Sans Unicode"/>
              </a:rPr>
              <a:t> </a:t>
            </a:r>
            <a:r>
              <a:rPr sz="1000" i="1" spc="5" dirty="0">
                <a:latin typeface="Arial"/>
                <a:cs typeface="Arial"/>
              </a:rPr>
              <a:t>A</a:t>
            </a:r>
            <a:r>
              <a:rPr sz="1050" i="1" spc="7" baseline="-11904" dirty="0">
                <a:latin typeface="Arial"/>
                <a:cs typeface="Arial"/>
              </a:rPr>
              <a:t>i</a:t>
            </a:r>
            <a:r>
              <a:rPr sz="1050" i="1" spc="-120" baseline="-11904" dirty="0">
                <a:latin typeface="Arial"/>
                <a:cs typeface="Arial"/>
              </a:rPr>
              <a:t> </a:t>
            </a:r>
            <a:r>
              <a:rPr sz="1000" spc="170" dirty="0">
                <a:latin typeface="Lucida Sans Unicode"/>
                <a:cs typeface="Lucida Sans Unicode"/>
              </a:rPr>
              <a:t>}</a:t>
            </a:r>
            <a:r>
              <a:rPr sz="1000" spc="-35" dirty="0">
                <a:latin typeface="Lucida Sans Unicode"/>
                <a:cs typeface="Lucida Sans Unicode"/>
              </a:rPr>
              <a:t> </a:t>
            </a:r>
            <a:r>
              <a:rPr sz="1000" spc="45" dirty="0">
                <a:latin typeface="Tahoma"/>
                <a:cs typeface="Tahoma"/>
              </a:rPr>
              <a:t>=</a:t>
            </a:r>
            <a:r>
              <a:rPr sz="1000" spc="-35" dirty="0">
                <a:latin typeface="Tahoma"/>
                <a:cs typeface="Tahoma"/>
              </a:rPr>
              <a:t> </a:t>
            </a:r>
            <a:r>
              <a:rPr sz="1000" spc="5" dirty="0">
                <a:latin typeface="Lucida Sans Unicode"/>
                <a:cs typeface="Lucida Sans Unicode"/>
              </a:rPr>
              <a:t>{</a:t>
            </a:r>
            <a:r>
              <a:rPr sz="1000" spc="5" dirty="0">
                <a:latin typeface="Tahoma"/>
                <a:cs typeface="Tahoma"/>
              </a:rPr>
              <a:t>((</a:t>
            </a:r>
            <a:r>
              <a:rPr sz="1000" i="1" spc="5" dirty="0">
                <a:latin typeface="Arial"/>
                <a:cs typeface="Arial"/>
              </a:rPr>
              <a:t>a</a:t>
            </a:r>
            <a:r>
              <a:rPr sz="1050" spc="7" baseline="-11904" dirty="0">
                <a:latin typeface="Microsoft Sans Serif"/>
                <a:cs typeface="Microsoft Sans Serif"/>
              </a:rPr>
              <a:t>1</a:t>
            </a:r>
            <a:r>
              <a:rPr sz="1000" i="1" spc="5"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10" dirty="0">
                <a:latin typeface="Arial"/>
                <a:cs typeface="Arial"/>
              </a:rPr>
              <a:t>a</a:t>
            </a:r>
            <a:r>
              <a:rPr sz="1050" i="1" spc="15" baseline="-11904" dirty="0">
                <a:latin typeface="Arial"/>
                <a:cs typeface="Arial"/>
              </a:rPr>
              <a:t>n−</a:t>
            </a:r>
            <a:r>
              <a:rPr sz="1050" spc="15" baseline="-11904" dirty="0">
                <a:latin typeface="Microsoft Sans Serif"/>
                <a:cs typeface="Microsoft Sans Serif"/>
              </a:rPr>
              <a:t>1</a:t>
            </a:r>
            <a:r>
              <a:rPr sz="1000" spc="10" dirty="0">
                <a:latin typeface="Tahoma"/>
                <a:cs typeface="Tahoma"/>
              </a:rPr>
              <a:t>)</a:t>
            </a:r>
            <a:r>
              <a:rPr sz="1000" i="1" spc="10" dirty="0">
                <a:latin typeface="Verdana"/>
                <a:cs typeface="Verdana"/>
              </a:rPr>
              <a:t>,</a:t>
            </a:r>
            <a:r>
              <a:rPr sz="1000" i="1" spc="-185" dirty="0">
                <a:latin typeface="Verdana"/>
                <a:cs typeface="Verdana"/>
              </a:rPr>
              <a:t> </a:t>
            </a:r>
            <a:r>
              <a:rPr sz="1000" i="1" spc="-45" dirty="0">
                <a:latin typeface="Arial"/>
                <a:cs typeface="Arial"/>
              </a:rPr>
              <a:t>a</a:t>
            </a:r>
            <a:r>
              <a:rPr sz="1050" i="1" spc="-67" baseline="-11904" dirty="0">
                <a:latin typeface="Arial"/>
                <a:cs typeface="Arial"/>
              </a:rPr>
              <a:t>n</a:t>
            </a:r>
            <a:r>
              <a:rPr sz="1050" i="1" spc="-202" baseline="-11904" dirty="0">
                <a:latin typeface="Arial"/>
                <a:cs typeface="Arial"/>
              </a:rPr>
              <a:t> </a:t>
            </a:r>
            <a:r>
              <a:rPr sz="1000" spc="-40" dirty="0">
                <a:latin typeface="Tahoma"/>
                <a:cs typeface="Tahoma"/>
              </a:rPr>
              <a:t>)</a:t>
            </a:r>
            <a:r>
              <a:rPr sz="1000" spc="-40" dirty="0">
                <a:latin typeface="Lucida Sans Unicode"/>
                <a:cs typeface="Lucida Sans Unicode"/>
              </a:rPr>
              <a:t>|</a:t>
            </a:r>
            <a:r>
              <a:rPr sz="1000" i="1" spc="-40" dirty="0">
                <a:latin typeface="Arial"/>
                <a:cs typeface="Arial"/>
              </a:rPr>
              <a:t>a</a:t>
            </a:r>
            <a:r>
              <a:rPr sz="1050" i="1" spc="-60" baseline="-11904" dirty="0">
                <a:latin typeface="Arial"/>
                <a:cs typeface="Arial"/>
              </a:rPr>
              <a:t>i</a:t>
            </a:r>
            <a:r>
              <a:rPr sz="1050" i="1" spc="307" baseline="-11904" dirty="0">
                <a:latin typeface="Arial"/>
                <a:cs typeface="Arial"/>
              </a:rPr>
              <a:t> </a:t>
            </a:r>
            <a:r>
              <a:rPr sz="1000" spc="-135" dirty="0">
                <a:latin typeface="Lucida Sans Unicode"/>
                <a:cs typeface="Lucida Sans Unicode"/>
              </a:rPr>
              <a:t>∈</a:t>
            </a:r>
            <a:r>
              <a:rPr sz="1000" spc="-35" dirty="0">
                <a:latin typeface="Lucida Sans Unicode"/>
                <a:cs typeface="Lucida Sans Unicode"/>
              </a:rPr>
              <a:t> </a:t>
            </a:r>
            <a:r>
              <a:rPr sz="1000" i="1" spc="5" dirty="0">
                <a:latin typeface="Arial"/>
                <a:cs typeface="Arial"/>
              </a:rPr>
              <a:t>A</a:t>
            </a:r>
            <a:r>
              <a:rPr sz="1050" i="1" spc="7" baseline="-11904" dirty="0">
                <a:latin typeface="Arial"/>
                <a:cs typeface="Arial"/>
              </a:rPr>
              <a:t>i</a:t>
            </a:r>
            <a:r>
              <a:rPr sz="1050" i="1" spc="-120" baseline="-11904" dirty="0">
                <a:latin typeface="Arial"/>
                <a:cs typeface="Arial"/>
              </a:rPr>
              <a:t> </a:t>
            </a:r>
            <a:r>
              <a:rPr sz="1000" spc="170" dirty="0">
                <a:latin typeface="Lucida Sans Unicode"/>
                <a:cs typeface="Lucida Sans Unicode"/>
              </a:rPr>
              <a:t>}</a:t>
            </a:r>
            <a:r>
              <a:rPr sz="1000" spc="-35" dirty="0">
                <a:latin typeface="Lucida Sans Unicode"/>
                <a:cs typeface="Lucida Sans Unicode"/>
              </a:rPr>
              <a:t> </a:t>
            </a:r>
            <a:r>
              <a:rPr sz="1000" spc="45" dirty="0">
                <a:latin typeface="Tahoma"/>
                <a:cs typeface="Tahoma"/>
              </a:rPr>
              <a:t>=</a:t>
            </a:r>
            <a:endParaRPr sz="1000">
              <a:latin typeface="Tahoma"/>
              <a:cs typeface="Tahoma"/>
            </a:endParaRPr>
          </a:p>
          <a:p>
            <a:pPr marL="89535" marR="3175">
              <a:lnSpc>
                <a:spcPct val="100000"/>
              </a:lnSpc>
              <a:spcBef>
                <a:spcPts val="990"/>
              </a:spcBef>
            </a:pPr>
            <a:r>
              <a:rPr sz="1000" spc="45" dirty="0">
                <a:latin typeface="Tahoma"/>
                <a:cs typeface="Tahoma"/>
              </a:rPr>
              <a:t>=</a:t>
            </a:r>
            <a:r>
              <a:rPr sz="1000" spc="-35" dirty="0">
                <a:latin typeface="Tahoma"/>
                <a:cs typeface="Tahoma"/>
              </a:rPr>
              <a:t> </a:t>
            </a:r>
            <a:r>
              <a:rPr sz="1000" spc="-110" dirty="0">
                <a:latin typeface="Lucida Sans Unicode"/>
                <a:cs typeface="Lucida Sans Unicode"/>
              </a:rPr>
              <a:t>{</a:t>
            </a:r>
            <a:r>
              <a:rPr sz="1000" spc="-110" dirty="0">
                <a:latin typeface="Tahoma"/>
                <a:cs typeface="Tahoma"/>
              </a:rPr>
              <a:t>(</a:t>
            </a:r>
            <a:r>
              <a:rPr sz="1000" i="1" spc="-110" dirty="0">
                <a:latin typeface="Arial"/>
                <a:cs typeface="Arial"/>
              </a:rPr>
              <a:t>a</a:t>
            </a:r>
            <a:r>
              <a:rPr sz="1000" spc="-110" dirty="0">
                <a:latin typeface="Tahoma"/>
                <a:cs typeface="Tahoma"/>
              </a:rPr>
              <a:t>¯</a:t>
            </a:r>
            <a:r>
              <a:rPr sz="1000" i="1" spc="-110" dirty="0">
                <a:latin typeface="Verdana"/>
                <a:cs typeface="Verdana"/>
              </a:rPr>
              <a:t>,</a:t>
            </a:r>
            <a:r>
              <a:rPr sz="1000" i="1" spc="-185" dirty="0">
                <a:latin typeface="Verdana"/>
                <a:cs typeface="Verdana"/>
              </a:rPr>
              <a:t> </a:t>
            </a:r>
            <a:r>
              <a:rPr sz="1000" i="1" spc="-45" dirty="0">
                <a:latin typeface="Arial"/>
                <a:cs typeface="Arial"/>
              </a:rPr>
              <a:t>a</a:t>
            </a:r>
            <a:r>
              <a:rPr sz="1050" i="1" spc="-67" baseline="-11904" dirty="0">
                <a:latin typeface="Arial"/>
                <a:cs typeface="Arial"/>
              </a:rPr>
              <a:t>n</a:t>
            </a:r>
            <a:r>
              <a:rPr sz="1050" i="1" spc="-195" baseline="-11904" dirty="0">
                <a:latin typeface="Arial"/>
                <a:cs typeface="Arial"/>
              </a:rPr>
              <a:t> </a:t>
            </a:r>
            <a:r>
              <a:rPr sz="1000" spc="-45" dirty="0">
                <a:latin typeface="Tahoma"/>
                <a:cs typeface="Tahoma"/>
              </a:rPr>
              <a:t>)</a:t>
            </a:r>
            <a:r>
              <a:rPr sz="1000" spc="-45" dirty="0">
                <a:latin typeface="Lucida Sans Unicode"/>
                <a:cs typeface="Lucida Sans Unicode"/>
              </a:rPr>
              <a:t>|</a:t>
            </a:r>
            <a:r>
              <a:rPr sz="1000" i="1" spc="-45" dirty="0">
                <a:latin typeface="Arial"/>
                <a:cs typeface="Arial"/>
              </a:rPr>
              <a:t>a</a:t>
            </a:r>
            <a:r>
              <a:rPr sz="1050" i="1" spc="-67" baseline="-11904" dirty="0">
                <a:latin typeface="Arial"/>
                <a:cs typeface="Arial"/>
              </a:rPr>
              <a:t>n</a:t>
            </a:r>
            <a:r>
              <a:rPr sz="1050" i="1" spc="209" baseline="-11904" dirty="0">
                <a:latin typeface="Arial"/>
                <a:cs typeface="Arial"/>
              </a:rPr>
              <a:t> </a:t>
            </a:r>
            <a:r>
              <a:rPr sz="1000" spc="-135" dirty="0">
                <a:latin typeface="Lucida Sans Unicode"/>
                <a:cs typeface="Lucida Sans Unicode"/>
              </a:rPr>
              <a:t>∈</a:t>
            </a:r>
            <a:r>
              <a:rPr sz="1000" spc="-35" dirty="0">
                <a:latin typeface="Lucida Sans Unicode"/>
                <a:cs typeface="Lucida Sans Unicode"/>
              </a:rPr>
              <a:t> </a:t>
            </a:r>
            <a:r>
              <a:rPr sz="1000" i="1" spc="-15" dirty="0">
                <a:latin typeface="Arial"/>
                <a:cs typeface="Arial"/>
              </a:rPr>
              <a:t>A</a:t>
            </a:r>
            <a:r>
              <a:rPr sz="1050" i="1" spc="-22" baseline="-11904" dirty="0">
                <a:latin typeface="Arial"/>
                <a:cs typeface="Arial"/>
              </a:rPr>
              <a:t>n</a:t>
            </a:r>
            <a:r>
              <a:rPr sz="1000" i="1" spc="-15" dirty="0">
                <a:latin typeface="Verdana"/>
                <a:cs typeface="Verdana"/>
              </a:rPr>
              <a:t>,</a:t>
            </a:r>
            <a:r>
              <a:rPr sz="1000" i="1" spc="-185" dirty="0">
                <a:latin typeface="Verdana"/>
                <a:cs typeface="Verdana"/>
              </a:rPr>
              <a:t> </a:t>
            </a:r>
            <a:r>
              <a:rPr sz="1000" i="1" spc="-270" dirty="0">
                <a:latin typeface="Arial"/>
                <a:cs typeface="Arial"/>
              </a:rPr>
              <a:t>a</a:t>
            </a:r>
            <a:r>
              <a:rPr sz="1000" spc="-270" dirty="0">
                <a:latin typeface="Tahoma"/>
                <a:cs typeface="Tahoma"/>
              </a:rPr>
              <a:t>¯</a:t>
            </a:r>
            <a:r>
              <a:rPr sz="1000" spc="-204" dirty="0">
                <a:latin typeface="Tahoma"/>
                <a:cs typeface="Tahoma"/>
              </a:rPr>
              <a:t> </a:t>
            </a:r>
            <a:r>
              <a:rPr sz="1000" spc="-135" dirty="0">
                <a:latin typeface="Lucida Sans Unicode"/>
                <a:cs typeface="Lucida Sans Unicode"/>
              </a:rPr>
              <a:t>∈</a:t>
            </a:r>
            <a:r>
              <a:rPr sz="1000" spc="-35" dirty="0">
                <a:latin typeface="Lucida Sans Unicode"/>
                <a:cs typeface="Lucida Sans Unicode"/>
              </a:rPr>
              <a:t> </a:t>
            </a:r>
            <a:r>
              <a:rPr sz="1000" i="1" spc="-15" dirty="0">
                <a:latin typeface="Arial"/>
                <a:cs typeface="Arial"/>
              </a:rPr>
              <a:t>A</a:t>
            </a:r>
            <a:r>
              <a:rPr sz="1050" spc="-22" baseline="-11904" dirty="0">
                <a:latin typeface="Microsoft Sans Serif"/>
                <a:cs typeface="Microsoft Sans Serif"/>
              </a:rPr>
              <a:t>1</a:t>
            </a:r>
            <a:r>
              <a:rPr sz="1050" spc="127" baseline="-11904" dirty="0">
                <a:latin typeface="Microsoft Sans Serif"/>
                <a:cs typeface="Microsoft Sans Serif"/>
              </a:rPr>
              <a:t> </a:t>
            </a:r>
            <a:r>
              <a:rPr sz="1000" spc="-25" dirty="0">
                <a:latin typeface="Lucida Sans Unicode"/>
                <a:cs typeface="Lucida Sans Unicode"/>
              </a:rPr>
              <a:t>×</a:t>
            </a:r>
            <a:r>
              <a:rPr sz="1000" spc="-90"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25" dirty="0">
                <a:latin typeface="Verdana"/>
                <a:cs typeface="Verdana"/>
              </a:rPr>
              <a:t> </a:t>
            </a:r>
            <a:r>
              <a:rPr sz="1000" spc="-25" dirty="0">
                <a:latin typeface="Lucida Sans Unicode"/>
                <a:cs typeface="Lucida Sans Unicode"/>
              </a:rPr>
              <a:t>×</a:t>
            </a:r>
            <a:r>
              <a:rPr sz="1000" spc="-95" dirty="0">
                <a:latin typeface="Lucida Sans Unicode"/>
                <a:cs typeface="Lucida Sans Unicode"/>
              </a:rPr>
              <a:t> </a:t>
            </a:r>
            <a:r>
              <a:rPr sz="1000" i="1" spc="80" dirty="0">
                <a:latin typeface="Arial"/>
                <a:cs typeface="Arial"/>
              </a:rPr>
              <a:t>A</a:t>
            </a:r>
            <a:r>
              <a:rPr sz="1050" i="1" spc="120" baseline="-11904" dirty="0">
                <a:latin typeface="Arial"/>
                <a:cs typeface="Arial"/>
              </a:rPr>
              <a:t>n−</a:t>
            </a:r>
            <a:r>
              <a:rPr sz="1050" spc="120" baseline="-11904" dirty="0">
                <a:latin typeface="Microsoft Sans Serif"/>
                <a:cs typeface="Microsoft Sans Serif"/>
              </a:rPr>
              <a:t>1</a:t>
            </a:r>
            <a:r>
              <a:rPr sz="1000" spc="80" dirty="0">
                <a:latin typeface="Lucida Sans Unicode"/>
                <a:cs typeface="Lucida Sans Unicode"/>
              </a:rPr>
              <a:t>}</a:t>
            </a:r>
            <a:r>
              <a:rPr sz="1000" spc="-35" dirty="0">
                <a:latin typeface="Lucida Sans Unicode"/>
                <a:cs typeface="Lucida Sans Unicode"/>
              </a:rPr>
              <a:t> </a:t>
            </a:r>
            <a:r>
              <a:rPr sz="1000" spc="45" dirty="0">
                <a:latin typeface="Tahoma"/>
                <a:cs typeface="Tahoma"/>
              </a:rPr>
              <a:t>=</a:t>
            </a:r>
            <a:r>
              <a:rPr sz="1000" spc="-35" dirty="0">
                <a:latin typeface="Tahoma"/>
                <a:cs typeface="Tahoma"/>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50" spc="135" baseline="-11904" dirty="0">
                <a:latin typeface="Microsoft Sans Serif"/>
                <a:cs typeface="Microsoft Sans Serif"/>
              </a:rPr>
              <a:t> </a:t>
            </a:r>
            <a:r>
              <a:rPr sz="1000" spc="-25" dirty="0">
                <a:latin typeface="Lucida Sans Unicode"/>
                <a:cs typeface="Lucida Sans Unicode"/>
              </a:rPr>
              <a:t>×</a:t>
            </a:r>
            <a:r>
              <a:rPr sz="1000" spc="-95" dirty="0">
                <a:latin typeface="Lucida Sans Unicode"/>
                <a:cs typeface="Lucida Sans Unicode"/>
              </a:rPr>
              <a:t> </a:t>
            </a:r>
            <a:r>
              <a:rPr sz="1000" i="1" spc="-90" dirty="0">
                <a:latin typeface="Verdana"/>
                <a:cs typeface="Verdana"/>
              </a:rPr>
              <a:t>.</a:t>
            </a:r>
            <a:r>
              <a:rPr sz="1000" i="1" spc="-180"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30" dirty="0">
                <a:latin typeface="Verdana"/>
                <a:cs typeface="Verdana"/>
              </a:rPr>
              <a:t> </a:t>
            </a:r>
            <a:r>
              <a:rPr sz="1000" spc="-25" dirty="0">
                <a:latin typeface="Lucida Sans Unicode"/>
                <a:cs typeface="Lucida Sans Unicode"/>
              </a:rPr>
              <a:t>×</a:t>
            </a:r>
            <a:r>
              <a:rPr sz="1000" spc="-90" dirty="0">
                <a:latin typeface="Lucida Sans Unicode"/>
                <a:cs typeface="Lucida Sans Unicode"/>
              </a:rPr>
              <a:t> </a:t>
            </a:r>
            <a:r>
              <a:rPr sz="1000" i="1" spc="45" dirty="0">
                <a:latin typeface="Arial"/>
                <a:cs typeface="Arial"/>
              </a:rPr>
              <a:t>A</a:t>
            </a:r>
            <a:r>
              <a:rPr sz="1050" i="1" spc="67" baseline="-11904" dirty="0">
                <a:latin typeface="Arial"/>
                <a:cs typeface="Arial"/>
              </a:rPr>
              <a:t>n−</a:t>
            </a:r>
            <a:r>
              <a:rPr sz="1050" spc="67" baseline="-11904" dirty="0">
                <a:latin typeface="Microsoft Sans Serif"/>
                <a:cs typeface="Microsoft Sans Serif"/>
              </a:rPr>
              <a:t>1</a:t>
            </a:r>
            <a:r>
              <a:rPr sz="1000" spc="45" dirty="0">
                <a:latin typeface="Tahoma"/>
                <a:cs typeface="Tahoma"/>
              </a:rPr>
              <a:t>)</a:t>
            </a:r>
            <a:r>
              <a:rPr sz="1000" spc="-95" dirty="0">
                <a:latin typeface="Tahoma"/>
                <a:cs typeface="Tahoma"/>
              </a:rPr>
              <a:t> </a:t>
            </a:r>
            <a:r>
              <a:rPr sz="1000" spc="-25" dirty="0">
                <a:latin typeface="Lucida Sans Unicode"/>
                <a:cs typeface="Lucida Sans Unicode"/>
              </a:rPr>
              <a:t>×</a:t>
            </a:r>
            <a:r>
              <a:rPr sz="1000" spc="-90" dirty="0">
                <a:latin typeface="Lucida Sans Unicode"/>
                <a:cs typeface="Lucida Sans Unicode"/>
              </a:rPr>
              <a:t> </a:t>
            </a:r>
            <a:r>
              <a:rPr sz="1000" i="1" spc="-10" dirty="0">
                <a:latin typeface="Arial"/>
                <a:cs typeface="Arial"/>
              </a:rPr>
              <a:t>A</a:t>
            </a:r>
            <a:r>
              <a:rPr sz="1050" i="1" spc="-15" baseline="-11904" dirty="0">
                <a:latin typeface="Arial"/>
                <a:cs typeface="Arial"/>
              </a:rPr>
              <a:t>n</a:t>
            </a:r>
            <a:endParaRPr sz="1050" baseline="-11904">
              <a:latin typeface="Arial"/>
              <a:cs typeface="Arial"/>
            </a:endParaRPr>
          </a:p>
        </p:txBody>
      </p:sp>
      <p:grpSp>
        <p:nvGrpSpPr>
          <p:cNvPr id="45" name="object 45"/>
          <p:cNvGrpSpPr/>
          <p:nvPr/>
        </p:nvGrpSpPr>
        <p:grpSpPr>
          <a:xfrm>
            <a:off x="4335779" y="3009569"/>
            <a:ext cx="86360" cy="85725"/>
            <a:chOff x="4335779" y="3009569"/>
            <a:chExt cx="86360" cy="85725"/>
          </a:xfrm>
        </p:grpSpPr>
        <p:sp>
          <p:nvSpPr>
            <p:cNvPr id="46" name="object 46"/>
            <p:cNvSpPr/>
            <p:nvPr/>
          </p:nvSpPr>
          <p:spPr>
            <a:xfrm>
              <a:off x="4338307" y="3009569"/>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7" name="object 47"/>
            <p:cNvSpPr/>
            <p:nvPr/>
          </p:nvSpPr>
          <p:spPr>
            <a:xfrm>
              <a:off x="4340834" y="3012097"/>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8" name="object 48"/>
            <p:cNvSpPr/>
            <p:nvPr/>
          </p:nvSpPr>
          <p:spPr>
            <a:xfrm>
              <a:off x="4340834" y="3092450"/>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9" name="object 49"/>
            <p:cNvSpPr/>
            <p:nvPr/>
          </p:nvSpPr>
          <p:spPr>
            <a:xfrm>
              <a:off x="4419282" y="3009569"/>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3249930" cy="244475"/>
          </a:xfrm>
          <a:prstGeom prst="rect">
            <a:avLst/>
          </a:prstGeom>
        </p:spPr>
        <p:txBody>
          <a:bodyPr vert="horz" wrap="square" lIns="0" tIns="17145" rIns="0" bIns="0" rtlCol="0">
            <a:spAutoFit/>
          </a:bodyPr>
          <a:lstStyle/>
          <a:p>
            <a:pPr marL="12700">
              <a:lnSpc>
                <a:spcPct val="100000"/>
              </a:lnSpc>
              <a:spcBef>
                <a:spcPts val="135"/>
              </a:spcBef>
            </a:pPr>
            <a:r>
              <a:rPr spc="-30" dirty="0"/>
              <a:t>Cardinality</a:t>
            </a:r>
            <a:r>
              <a:rPr spc="130" dirty="0"/>
              <a:t> </a:t>
            </a:r>
            <a:r>
              <a:rPr spc="-30" dirty="0"/>
              <a:t>of</a:t>
            </a:r>
            <a:r>
              <a:rPr spc="135" dirty="0"/>
              <a:t> </a:t>
            </a:r>
            <a:r>
              <a:rPr spc="-45" dirty="0"/>
              <a:t>binary</a:t>
            </a:r>
            <a:r>
              <a:rPr spc="135" dirty="0"/>
              <a:t> </a:t>
            </a:r>
            <a:r>
              <a:rPr spc="-35" dirty="0"/>
              <a:t>Cartesian</a:t>
            </a:r>
            <a:r>
              <a:rPr spc="135" dirty="0"/>
              <a:t> </a:t>
            </a:r>
            <a:r>
              <a:rPr spc="-30" dirty="0"/>
              <a:t>product</a:t>
            </a:r>
          </a:p>
        </p:txBody>
      </p:sp>
      <p:sp>
        <p:nvSpPr>
          <p:cNvPr id="30" name="object 30"/>
          <p:cNvSpPr/>
          <p:nvPr/>
        </p:nvSpPr>
        <p:spPr>
          <a:xfrm>
            <a:off x="698562" y="1146670"/>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1176596"/>
            <a:ext cx="492125" cy="128270"/>
          </a:xfrm>
          <a:prstGeom prst="rect">
            <a:avLst/>
          </a:prstGeom>
        </p:spPr>
        <p:txBody>
          <a:bodyPr vert="horz" wrap="square" lIns="0" tIns="0" rIns="0" bIns="0" rtlCol="0">
            <a:spAutoFit/>
          </a:bodyPr>
          <a:lstStyle/>
          <a:p>
            <a:pPr>
              <a:lnSpc>
                <a:spcPts val="955"/>
              </a:lnSpc>
            </a:pPr>
            <a:r>
              <a:rPr sz="1000" spc="-40" dirty="0">
                <a:solidFill>
                  <a:srgbClr val="FFFFFF"/>
                </a:solidFill>
                <a:latin typeface="Tahoma"/>
                <a:cs typeface="Tahoma"/>
              </a:rPr>
              <a:t>Lemma</a:t>
            </a:r>
            <a:r>
              <a:rPr sz="1000" spc="20" dirty="0">
                <a:solidFill>
                  <a:srgbClr val="FFFFFF"/>
                </a:solidFill>
                <a:latin typeface="Tahoma"/>
                <a:cs typeface="Tahoma"/>
              </a:rPr>
              <a:t> </a:t>
            </a:r>
            <a:r>
              <a:rPr sz="1000" spc="-50" dirty="0">
                <a:solidFill>
                  <a:srgbClr val="FFFFFF"/>
                </a:solidFill>
                <a:latin typeface="Tahoma"/>
                <a:cs typeface="Tahoma"/>
              </a:rPr>
              <a:t>2</a:t>
            </a:r>
            <a:endParaRPr sz="1000">
              <a:latin typeface="Tahoma"/>
              <a:cs typeface="Tahoma"/>
            </a:endParaRPr>
          </a:p>
        </p:txBody>
      </p:sp>
      <p:grpSp>
        <p:nvGrpSpPr>
          <p:cNvPr id="32" name="object 32"/>
          <p:cNvGrpSpPr/>
          <p:nvPr/>
        </p:nvGrpSpPr>
        <p:grpSpPr>
          <a:xfrm>
            <a:off x="698562" y="1203593"/>
            <a:ext cx="3831590" cy="530225"/>
            <a:chOff x="698562" y="1203593"/>
            <a:chExt cx="3831590" cy="530225"/>
          </a:xfrm>
        </p:grpSpPr>
        <p:pic>
          <p:nvPicPr>
            <p:cNvPr id="33" name="object 33"/>
            <p:cNvPicPr/>
            <p:nvPr/>
          </p:nvPicPr>
          <p:blipFill>
            <a:blip r:embed="rId7" cstate="print"/>
            <a:stretch>
              <a:fillRect/>
            </a:stretch>
          </p:blipFill>
          <p:spPr>
            <a:xfrm>
              <a:off x="698563" y="1304264"/>
              <a:ext cx="3780284" cy="50609"/>
            </a:xfrm>
            <a:prstGeom prst="rect">
              <a:avLst/>
            </a:prstGeom>
          </p:spPr>
        </p:pic>
        <p:sp>
          <p:nvSpPr>
            <p:cNvPr id="34" name="object 34"/>
            <p:cNvSpPr/>
            <p:nvPr/>
          </p:nvSpPr>
          <p:spPr>
            <a:xfrm>
              <a:off x="749363" y="1203593"/>
              <a:ext cx="3780790" cy="530225"/>
            </a:xfrm>
            <a:custGeom>
              <a:avLst/>
              <a:gdLst/>
              <a:ahLst/>
              <a:cxnLst/>
              <a:rect l="l" t="t" r="r" b="b"/>
              <a:pathLst>
                <a:path w="3780790" h="530225">
                  <a:moveTo>
                    <a:pt x="3780285" y="0"/>
                  </a:moveTo>
                  <a:lnTo>
                    <a:pt x="0" y="0"/>
                  </a:lnTo>
                  <a:lnTo>
                    <a:pt x="0" y="529779"/>
                  </a:lnTo>
                  <a:lnTo>
                    <a:pt x="3780285" y="529779"/>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348539"/>
              <a:ext cx="3780790" cy="334645"/>
            </a:xfrm>
            <a:custGeom>
              <a:avLst/>
              <a:gdLst/>
              <a:ahLst/>
              <a:cxnLst/>
              <a:rect l="l" t="t" r="r" b="b"/>
              <a:pathLst>
                <a:path w="3780790" h="334644">
                  <a:moveTo>
                    <a:pt x="3780285" y="0"/>
                  </a:moveTo>
                  <a:lnTo>
                    <a:pt x="0" y="0"/>
                  </a:lnTo>
                  <a:lnTo>
                    <a:pt x="0" y="283232"/>
                  </a:lnTo>
                  <a:lnTo>
                    <a:pt x="4008" y="302957"/>
                  </a:lnTo>
                  <a:lnTo>
                    <a:pt x="14922" y="319110"/>
                  </a:lnTo>
                  <a:lnTo>
                    <a:pt x="31075" y="330024"/>
                  </a:lnTo>
                  <a:lnTo>
                    <a:pt x="50800" y="334033"/>
                  </a:lnTo>
                  <a:lnTo>
                    <a:pt x="3729484" y="334033"/>
                  </a:lnTo>
                  <a:lnTo>
                    <a:pt x="3749209" y="330024"/>
                  </a:lnTo>
                  <a:lnTo>
                    <a:pt x="3765362" y="319110"/>
                  </a:lnTo>
                  <a:lnTo>
                    <a:pt x="3776276" y="302957"/>
                  </a:lnTo>
                  <a:lnTo>
                    <a:pt x="3780285" y="283232"/>
                  </a:lnTo>
                  <a:lnTo>
                    <a:pt x="3780285" y="0"/>
                  </a:lnTo>
                  <a:close/>
                </a:path>
              </a:pathLst>
            </a:custGeom>
            <a:solidFill>
              <a:srgbClr val="E9E9F2"/>
            </a:solidFill>
          </p:spPr>
          <p:txBody>
            <a:bodyPr wrap="square" lIns="0" tIns="0" rIns="0" bIns="0" rtlCol="0"/>
            <a:lstStyle/>
            <a:p>
              <a:endParaRPr/>
            </a:p>
          </p:txBody>
        </p:sp>
      </p:grpSp>
      <p:sp>
        <p:nvSpPr>
          <p:cNvPr id="36" name="object 36"/>
          <p:cNvSpPr txBox="1"/>
          <p:nvPr/>
        </p:nvSpPr>
        <p:spPr>
          <a:xfrm>
            <a:off x="698563" y="1203593"/>
            <a:ext cx="3831590" cy="530225"/>
          </a:xfrm>
          <a:prstGeom prst="rect">
            <a:avLst/>
          </a:prstGeom>
        </p:spPr>
        <p:txBody>
          <a:bodyPr vert="horz" wrap="square" lIns="0" tIns="6985" rIns="0" bIns="0" rtlCol="0">
            <a:spAutoFit/>
          </a:bodyPr>
          <a:lstStyle/>
          <a:p>
            <a:pPr>
              <a:lnSpc>
                <a:spcPct val="100000"/>
              </a:lnSpc>
              <a:spcBef>
                <a:spcPts val="55"/>
              </a:spcBef>
            </a:pPr>
            <a:endParaRPr sz="850">
              <a:latin typeface="Times New Roman"/>
              <a:cs typeface="Times New Roman"/>
            </a:endParaRPr>
          </a:p>
          <a:p>
            <a:pPr marL="50800">
              <a:lnSpc>
                <a:spcPts val="1200"/>
              </a:lnSpc>
            </a:pPr>
            <a:r>
              <a:rPr sz="1000" spc="-10" dirty="0">
                <a:latin typeface="Tahoma"/>
                <a:cs typeface="Tahoma"/>
              </a:rPr>
              <a:t>Let</a:t>
            </a:r>
            <a:r>
              <a:rPr sz="1000" spc="15" dirty="0">
                <a:latin typeface="Tahoma"/>
                <a:cs typeface="Tahoma"/>
              </a:rPr>
              <a:t> </a:t>
            </a:r>
            <a:r>
              <a:rPr sz="1000" i="1" spc="-5" dirty="0">
                <a:latin typeface="Arial"/>
                <a:cs typeface="Arial"/>
              </a:rPr>
              <a:t>A</a:t>
            </a:r>
            <a:r>
              <a:rPr sz="1000" i="1" spc="-90" dirty="0">
                <a:latin typeface="Verdana"/>
                <a:cs typeface="Verdana"/>
              </a:rPr>
              <a:t>,</a:t>
            </a:r>
            <a:r>
              <a:rPr sz="1000" i="1" spc="-185" dirty="0">
                <a:latin typeface="Verdana"/>
                <a:cs typeface="Verdana"/>
              </a:rPr>
              <a:t> </a:t>
            </a:r>
            <a:r>
              <a:rPr sz="1000" i="1" spc="-5" dirty="0">
                <a:latin typeface="Arial"/>
                <a:cs typeface="Arial"/>
              </a:rPr>
              <a:t>B</a:t>
            </a:r>
            <a:r>
              <a:rPr sz="1000" i="1" spc="135" dirty="0">
                <a:latin typeface="Arial"/>
                <a:cs typeface="Arial"/>
              </a:rPr>
              <a:t> </a:t>
            </a:r>
            <a:r>
              <a:rPr sz="1000" spc="-15" dirty="0">
                <a:latin typeface="Tahoma"/>
                <a:cs typeface="Tahoma"/>
              </a:rPr>
              <a:t>b</a:t>
            </a:r>
            <a:r>
              <a:rPr sz="1000" spc="-85" dirty="0">
                <a:latin typeface="Tahoma"/>
                <a:cs typeface="Tahoma"/>
              </a:rPr>
              <a:t>e</a:t>
            </a:r>
            <a:r>
              <a:rPr sz="1000" spc="15" dirty="0">
                <a:latin typeface="Tahoma"/>
                <a:cs typeface="Tahoma"/>
              </a:rPr>
              <a:t> </a:t>
            </a:r>
            <a:r>
              <a:rPr sz="1000" spc="-45" dirty="0">
                <a:latin typeface="Tahoma"/>
                <a:cs typeface="Tahoma"/>
              </a:rPr>
              <a:t>sets,</a:t>
            </a:r>
            <a:r>
              <a:rPr sz="1000" spc="20" dirty="0">
                <a:latin typeface="Tahoma"/>
                <a:cs typeface="Tahoma"/>
              </a:rPr>
              <a:t> </a:t>
            </a:r>
            <a:r>
              <a:rPr sz="1000" i="1" spc="-5" dirty="0">
                <a:latin typeface="Arial"/>
                <a:cs typeface="Arial"/>
              </a:rPr>
              <a:t>A</a:t>
            </a:r>
            <a:r>
              <a:rPr sz="1000" i="1" spc="55" dirty="0">
                <a:latin typeface="Arial"/>
                <a:cs typeface="Arial"/>
              </a:rPr>
              <a:t> </a:t>
            </a:r>
            <a:r>
              <a:rPr sz="1000" spc="-30" dirty="0">
                <a:latin typeface="Tahoma"/>
                <a:cs typeface="Tahoma"/>
              </a:rPr>
              <a:t>contains</a:t>
            </a:r>
            <a:r>
              <a:rPr sz="1000" spc="15" dirty="0">
                <a:latin typeface="Tahoma"/>
                <a:cs typeface="Tahoma"/>
              </a:rPr>
              <a:t> </a:t>
            </a:r>
            <a:r>
              <a:rPr sz="1000" spc="-30" dirty="0">
                <a:latin typeface="Tahoma"/>
                <a:cs typeface="Tahoma"/>
              </a:rPr>
              <a:t>of</a:t>
            </a:r>
            <a:r>
              <a:rPr sz="1000" spc="20" dirty="0">
                <a:latin typeface="Tahoma"/>
                <a:cs typeface="Tahoma"/>
              </a:rPr>
              <a:t> </a:t>
            </a:r>
            <a:r>
              <a:rPr sz="1000" i="1" spc="-45" dirty="0">
                <a:latin typeface="Arial"/>
                <a:cs typeface="Arial"/>
              </a:rPr>
              <a:t>n</a:t>
            </a:r>
            <a:r>
              <a:rPr sz="1000" i="1" spc="70" dirty="0">
                <a:latin typeface="Arial"/>
                <a:cs typeface="Arial"/>
              </a:rPr>
              <a:t> </a:t>
            </a:r>
            <a:r>
              <a:rPr sz="1000" spc="-50" dirty="0">
                <a:latin typeface="Tahoma"/>
                <a:cs typeface="Tahoma"/>
              </a:rPr>
              <a:t>elements</a:t>
            </a:r>
            <a:r>
              <a:rPr sz="1000" spc="20" dirty="0">
                <a:latin typeface="Tahoma"/>
                <a:cs typeface="Tahoma"/>
              </a:rPr>
              <a:t> </a:t>
            </a:r>
            <a:r>
              <a:rPr sz="1000" spc="-45" dirty="0">
                <a:latin typeface="Tahoma"/>
                <a:cs typeface="Tahoma"/>
              </a:rPr>
              <a:t>a</a:t>
            </a:r>
            <a:r>
              <a:rPr sz="1000" spc="-55" dirty="0">
                <a:latin typeface="Tahoma"/>
                <a:cs typeface="Tahoma"/>
              </a:rPr>
              <a:t>n</a:t>
            </a:r>
            <a:r>
              <a:rPr sz="1000" spc="-40" dirty="0">
                <a:latin typeface="Tahoma"/>
                <a:cs typeface="Tahoma"/>
              </a:rPr>
              <a:t>d</a:t>
            </a:r>
            <a:r>
              <a:rPr sz="1000" spc="20" dirty="0">
                <a:latin typeface="Tahoma"/>
                <a:cs typeface="Tahoma"/>
              </a:rPr>
              <a:t> </a:t>
            </a:r>
            <a:r>
              <a:rPr sz="1000" i="1" spc="-5" dirty="0">
                <a:latin typeface="Arial"/>
                <a:cs typeface="Arial"/>
              </a:rPr>
              <a:t>B</a:t>
            </a:r>
            <a:r>
              <a:rPr sz="1000" i="1" spc="135" dirty="0">
                <a:latin typeface="Arial"/>
                <a:cs typeface="Arial"/>
              </a:rPr>
              <a:t> </a:t>
            </a:r>
            <a:r>
              <a:rPr sz="1000" spc="-35" dirty="0">
                <a:latin typeface="Tahoma"/>
                <a:cs typeface="Tahoma"/>
              </a:rPr>
              <a:t>consists</a:t>
            </a:r>
            <a:r>
              <a:rPr sz="1000" spc="15" dirty="0">
                <a:latin typeface="Tahoma"/>
                <a:cs typeface="Tahoma"/>
              </a:rPr>
              <a:t> </a:t>
            </a:r>
            <a:r>
              <a:rPr sz="1000" spc="-30" dirty="0">
                <a:latin typeface="Tahoma"/>
                <a:cs typeface="Tahoma"/>
              </a:rPr>
              <a:t>of</a:t>
            </a:r>
            <a:r>
              <a:rPr sz="1000" spc="20" dirty="0">
                <a:latin typeface="Tahoma"/>
                <a:cs typeface="Tahoma"/>
              </a:rPr>
              <a:t> </a:t>
            </a:r>
            <a:r>
              <a:rPr sz="1000" i="1" spc="-45" dirty="0">
                <a:latin typeface="Arial"/>
                <a:cs typeface="Arial"/>
              </a:rPr>
              <a:t>m</a:t>
            </a:r>
            <a:endParaRPr sz="1000">
              <a:latin typeface="Arial"/>
              <a:cs typeface="Arial"/>
            </a:endParaRPr>
          </a:p>
          <a:p>
            <a:pPr marL="50800">
              <a:lnSpc>
                <a:spcPts val="1200"/>
              </a:lnSpc>
            </a:pPr>
            <a:r>
              <a:rPr sz="1000" spc="-45" dirty="0">
                <a:latin typeface="Tahoma"/>
                <a:cs typeface="Tahoma"/>
              </a:rPr>
              <a:t>elements.</a:t>
            </a:r>
            <a:r>
              <a:rPr sz="1000" spc="125" dirty="0">
                <a:latin typeface="Tahoma"/>
                <a:cs typeface="Tahoma"/>
              </a:rPr>
              <a:t> </a:t>
            </a:r>
            <a:r>
              <a:rPr sz="1000" spc="-20" dirty="0">
                <a:latin typeface="Tahoma"/>
                <a:cs typeface="Tahoma"/>
              </a:rPr>
              <a:t>Then</a:t>
            </a:r>
            <a:r>
              <a:rPr sz="1000" spc="5" dirty="0">
                <a:latin typeface="Tahoma"/>
                <a:cs typeface="Tahoma"/>
              </a:rPr>
              <a:t> </a:t>
            </a:r>
            <a:r>
              <a:rPr sz="1000" spc="-35" dirty="0">
                <a:latin typeface="Tahoma"/>
                <a:cs typeface="Tahoma"/>
              </a:rPr>
              <a:t>the</a:t>
            </a:r>
            <a:r>
              <a:rPr sz="1000" spc="5" dirty="0">
                <a:latin typeface="Tahoma"/>
                <a:cs typeface="Tahoma"/>
              </a:rPr>
              <a:t> </a:t>
            </a:r>
            <a:r>
              <a:rPr sz="1000" spc="-35" dirty="0">
                <a:latin typeface="Tahoma"/>
                <a:cs typeface="Tahoma"/>
              </a:rPr>
              <a:t>Cartesian</a:t>
            </a:r>
            <a:r>
              <a:rPr sz="1000" spc="5" dirty="0">
                <a:latin typeface="Tahoma"/>
                <a:cs typeface="Tahoma"/>
              </a:rPr>
              <a:t> </a:t>
            </a:r>
            <a:r>
              <a:rPr sz="1000" spc="-30" dirty="0">
                <a:latin typeface="Tahoma"/>
                <a:cs typeface="Tahoma"/>
              </a:rPr>
              <a:t>product</a:t>
            </a:r>
            <a:r>
              <a:rPr sz="1000" spc="5" dirty="0">
                <a:latin typeface="Tahoma"/>
                <a:cs typeface="Tahoma"/>
              </a:rPr>
              <a:t> </a:t>
            </a:r>
            <a:r>
              <a:rPr sz="1000" i="1" spc="-5" dirty="0">
                <a:latin typeface="Arial"/>
                <a:cs typeface="Arial"/>
              </a:rPr>
              <a:t>A</a:t>
            </a:r>
            <a:r>
              <a:rPr sz="1000" i="1" spc="-85" dirty="0">
                <a:latin typeface="Arial"/>
                <a:cs typeface="Arial"/>
              </a:rPr>
              <a:t> </a:t>
            </a:r>
            <a:r>
              <a:rPr sz="1000" spc="-25" dirty="0">
                <a:latin typeface="Lucida Sans Unicode"/>
                <a:cs typeface="Lucida Sans Unicode"/>
              </a:rPr>
              <a:t>×</a:t>
            </a:r>
            <a:r>
              <a:rPr sz="1000" spc="-125" dirty="0">
                <a:latin typeface="Lucida Sans Unicode"/>
                <a:cs typeface="Lucida Sans Unicode"/>
              </a:rPr>
              <a:t> </a:t>
            </a:r>
            <a:r>
              <a:rPr sz="1000" i="1" spc="-5" dirty="0">
                <a:latin typeface="Arial"/>
                <a:cs typeface="Arial"/>
              </a:rPr>
              <a:t>B</a:t>
            </a:r>
            <a:r>
              <a:rPr sz="1000" i="1" spc="120" dirty="0">
                <a:latin typeface="Arial"/>
                <a:cs typeface="Arial"/>
              </a:rPr>
              <a:t> </a:t>
            </a:r>
            <a:r>
              <a:rPr sz="1000" spc="-30" dirty="0">
                <a:latin typeface="Tahoma"/>
                <a:cs typeface="Tahoma"/>
              </a:rPr>
              <a:t>contains</a:t>
            </a:r>
            <a:r>
              <a:rPr sz="1000" spc="5" dirty="0">
                <a:latin typeface="Tahoma"/>
                <a:cs typeface="Tahoma"/>
              </a:rPr>
              <a:t> </a:t>
            </a:r>
            <a:r>
              <a:rPr sz="1000" i="1" spc="-45" dirty="0">
                <a:latin typeface="Arial"/>
                <a:cs typeface="Arial"/>
              </a:rPr>
              <a:t>n</a:t>
            </a:r>
            <a:r>
              <a:rPr sz="1000" i="1" spc="-65" dirty="0">
                <a:latin typeface="Arial"/>
                <a:cs typeface="Arial"/>
              </a:rPr>
              <a:t> </a:t>
            </a:r>
            <a:r>
              <a:rPr sz="1000" spc="-360" dirty="0">
                <a:latin typeface="Lucida Sans Unicode"/>
                <a:cs typeface="Lucida Sans Unicode"/>
              </a:rPr>
              <a:t>·</a:t>
            </a:r>
            <a:r>
              <a:rPr sz="1000" spc="-125" dirty="0">
                <a:latin typeface="Lucida Sans Unicode"/>
                <a:cs typeface="Lucida Sans Unicode"/>
              </a:rPr>
              <a:t> </a:t>
            </a:r>
            <a:r>
              <a:rPr sz="1000" i="1" spc="-45" dirty="0">
                <a:latin typeface="Arial"/>
                <a:cs typeface="Arial"/>
              </a:rPr>
              <a:t>m</a:t>
            </a:r>
            <a:r>
              <a:rPr sz="1000" i="1" spc="55" dirty="0">
                <a:latin typeface="Arial"/>
                <a:cs typeface="Arial"/>
              </a:rPr>
              <a:t> </a:t>
            </a:r>
            <a:r>
              <a:rPr sz="1000" spc="-45" dirty="0">
                <a:latin typeface="Tahoma"/>
                <a:cs typeface="Tahoma"/>
              </a:rPr>
              <a:t>elements.</a:t>
            </a:r>
            <a:endParaRPr sz="1000">
              <a:latin typeface="Tahoma"/>
              <a:cs typeface="Tahoma"/>
            </a:endParaRPr>
          </a:p>
        </p:txBody>
      </p:sp>
      <p:sp>
        <p:nvSpPr>
          <p:cNvPr id="37" name="object 37"/>
          <p:cNvSpPr/>
          <p:nvPr/>
        </p:nvSpPr>
        <p:spPr>
          <a:xfrm>
            <a:off x="698562" y="1834501"/>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1864428"/>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39" name="object 39"/>
          <p:cNvGrpSpPr/>
          <p:nvPr/>
        </p:nvGrpSpPr>
        <p:grpSpPr>
          <a:xfrm>
            <a:off x="698562" y="1891430"/>
            <a:ext cx="3831590" cy="847725"/>
            <a:chOff x="698562" y="1891430"/>
            <a:chExt cx="3831590" cy="847725"/>
          </a:xfrm>
        </p:grpSpPr>
        <p:pic>
          <p:nvPicPr>
            <p:cNvPr id="40" name="object 40"/>
            <p:cNvPicPr/>
            <p:nvPr/>
          </p:nvPicPr>
          <p:blipFill>
            <a:blip r:embed="rId8" cstate="print"/>
            <a:stretch>
              <a:fillRect/>
            </a:stretch>
          </p:blipFill>
          <p:spPr>
            <a:xfrm>
              <a:off x="698563" y="1992096"/>
              <a:ext cx="3780284" cy="50609"/>
            </a:xfrm>
            <a:prstGeom prst="rect">
              <a:avLst/>
            </a:prstGeom>
          </p:spPr>
        </p:pic>
        <p:sp>
          <p:nvSpPr>
            <p:cNvPr id="41" name="object 41"/>
            <p:cNvSpPr/>
            <p:nvPr/>
          </p:nvSpPr>
          <p:spPr>
            <a:xfrm>
              <a:off x="749363" y="1891430"/>
              <a:ext cx="3780790" cy="847725"/>
            </a:xfrm>
            <a:custGeom>
              <a:avLst/>
              <a:gdLst/>
              <a:ahLst/>
              <a:cxnLst/>
              <a:rect l="l" t="t" r="r" b="b"/>
              <a:pathLst>
                <a:path w="3780790" h="847725">
                  <a:moveTo>
                    <a:pt x="3780285" y="0"/>
                  </a:moveTo>
                  <a:lnTo>
                    <a:pt x="0" y="0"/>
                  </a:lnTo>
                  <a:lnTo>
                    <a:pt x="0" y="847503"/>
                  </a:lnTo>
                  <a:lnTo>
                    <a:pt x="3780285" y="847503"/>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2036376"/>
              <a:ext cx="3780790" cy="652145"/>
            </a:xfrm>
            <a:custGeom>
              <a:avLst/>
              <a:gdLst/>
              <a:ahLst/>
              <a:cxnLst/>
              <a:rect l="l" t="t" r="r" b="b"/>
              <a:pathLst>
                <a:path w="3780790" h="652144">
                  <a:moveTo>
                    <a:pt x="3780285" y="0"/>
                  </a:moveTo>
                  <a:lnTo>
                    <a:pt x="0" y="0"/>
                  </a:lnTo>
                  <a:lnTo>
                    <a:pt x="0" y="600956"/>
                  </a:lnTo>
                  <a:lnTo>
                    <a:pt x="4008" y="620681"/>
                  </a:lnTo>
                  <a:lnTo>
                    <a:pt x="14922" y="636834"/>
                  </a:lnTo>
                  <a:lnTo>
                    <a:pt x="31075" y="647748"/>
                  </a:lnTo>
                  <a:lnTo>
                    <a:pt x="50800" y="651757"/>
                  </a:lnTo>
                  <a:lnTo>
                    <a:pt x="3729484" y="651757"/>
                  </a:lnTo>
                  <a:lnTo>
                    <a:pt x="3749209" y="647748"/>
                  </a:lnTo>
                  <a:lnTo>
                    <a:pt x="3765362" y="636834"/>
                  </a:lnTo>
                  <a:lnTo>
                    <a:pt x="3776276" y="620681"/>
                  </a:lnTo>
                  <a:lnTo>
                    <a:pt x="3780285" y="600956"/>
                  </a:lnTo>
                  <a:lnTo>
                    <a:pt x="3780285" y="0"/>
                  </a:lnTo>
                  <a:close/>
                </a:path>
              </a:pathLst>
            </a:custGeom>
            <a:solidFill>
              <a:srgbClr val="E9E9F2"/>
            </a:solidFill>
          </p:spPr>
          <p:txBody>
            <a:bodyPr wrap="square" lIns="0" tIns="0" rIns="0" bIns="0" rtlCol="0"/>
            <a:lstStyle/>
            <a:p>
              <a:endParaRPr/>
            </a:p>
          </p:txBody>
        </p:sp>
      </p:grpSp>
      <p:sp>
        <p:nvSpPr>
          <p:cNvPr id="43" name="object 43"/>
          <p:cNvSpPr txBox="1"/>
          <p:nvPr/>
        </p:nvSpPr>
        <p:spPr>
          <a:xfrm>
            <a:off x="749363" y="2017349"/>
            <a:ext cx="3655695" cy="633095"/>
          </a:xfrm>
          <a:prstGeom prst="rect">
            <a:avLst/>
          </a:prstGeom>
        </p:spPr>
        <p:txBody>
          <a:bodyPr vert="horz" wrap="square" lIns="0" tIns="12065" rIns="0" bIns="0" rtlCol="0">
            <a:spAutoFit/>
          </a:bodyPr>
          <a:lstStyle/>
          <a:p>
            <a:pPr marR="5080">
              <a:lnSpc>
                <a:spcPct val="100000"/>
              </a:lnSpc>
              <a:spcBef>
                <a:spcPts val="95"/>
              </a:spcBef>
            </a:pPr>
            <a:r>
              <a:rPr sz="1000" spc="-40" dirty="0">
                <a:latin typeface="Tahoma"/>
                <a:cs typeface="Tahoma"/>
              </a:rPr>
              <a:t>How </a:t>
            </a:r>
            <a:r>
              <a:rPr sz="1000" spc="-45" dirty="0">
                <a:latin typeface="Tahoma"/>
                <a:cs typeface="Tahoma"/>
              </a:rPr>
              <a:t>many there </a:t>
            </a:r>
            <a:r>
              <a:rPr sz="1000" spc="-65" dirty="0">
                <a:latin typeface="Tahoma"/>
                <a:cs typeface="Tahoma"/>
              </a:rPr>
              <a:t>are</a:t>
            </a:r>
            <a:r>
              <a:rPr sz="1000" spc="-60" dirty="0">
                <a:latin typeface="Tahoma"/>
                <a:cs typeface="Tahoma"/>
              </a:rPr>
              <a:t> </a:t>
            </a:r>
            <a:r>
              <a:rPr sz="1000" spc="-35" dirty="0">
                <a:latin typeface="Tahoma"/>
                <a:cs typeface="Tahoma"/>
              </a:rPr>
              <a:t>pairs </a:t>
            </a:r>
            <a:r>
              <a:rPr sz="1000" spc="-30" dirty="0">
                <a:latin typeface="Tahoma"/>
                <a:cs typeface="Tahoma"/>
              </a:rPr>
              <a:t>of </a:t>
            </a:r>
            <a:r>
              <a:rPr sz="1000" spc="-25" dirty="0">
                <a:latin typeface="Tahoma"/>
                <a:cs typeface="Tahoma"/>
              </a:rPr>
              <a:t>kind </a:t>
            </a:r>
            <a:r>
              <a:rPr sz="1000" spc="-55" dirty="0">
                <a:latin typeface="Tahoma"/>
                <a:cs typeface="Tahoma"/>
              </a:rPr>
              <a:t>(</a:t>
            </a:r>
            <a:r>
              <a:rPr sz="1000" i="1" spc="-55" dirty="0">
                <a:latin typeface="Arial"/>
                <a:cs typeface="Arial"/>
              </a:rPr>
              <a:t>a</a:t>
            </a:r>
            <a:r>
              <a:rPr sz="1000" i="1" spc="-55" dirty="0">
                <a:latin typeface="Verdana"/>
                <a:cs typeface="Verdana"/>
              </a:rPr>
              <a:t>, </a:t>
            </a:r>
            <a:r>
              <a:rPr sz="1000" i="1" spc="-15" dirty="0">
                <a:latin typeface="Arial"/>
                <a:cs typeface="Arial"/>
              </a:rPr>
              <a:t>b</a:t>
            </a:r>
            <a:r>
              <a:rPr sz="1000" spc="-15" dirty="0">
                <a:latin typeface="Tahoma"/>
                <a:cs typeface="Tahoma"/>
              </a:rPr>
              <a:t>), </a:t>
            </a:r>
            <a:r>
              <a:rPr sz="1000" spc="-60" dirty="0">
                <a:latin typeface="Tahoma"/>
                <a:cs typeface="Tahoma"/>
              </a:rPr>
              <a:t>where</a:t>
            </a:r>
            <a:r>
              <a:rPr sz="1000" spc="-55" dirty="0">
                <a:latin typeface="Tahoma"/>
                <a:cs typeface="Tahoma"/>
              </a:rPr>
              <a:t> </a:t>
            </a:r>
            <a:r>
              <a:rPr sz="1000" i="1" spc="-80" dirty="0">
                <a:latin typeface="Arial"/>
                <a:cs typeface="Arial"/>
              </a:rPr>
              <a:t>a</a:t>
            </a:r>
            <a:r>
              <a:rPr sz="1000" i="1" spc="-75" dirty="0">
                <a:latin typeface="Arial"/>
                <a:cs typeface="Arial"/>
              </a:rPr>
              <a:t> </a:t>
            </a:r>
            <a:r>
              <a:rPr sz="1000" spc="-135" dirty="0">
                <a:latin typeface="Lucida Sans Unicode"/>
                <a:cs typeface="Lucida Sans Unicode"/>
              </a:rPr>
              <a:t>∈</a:t>
            </a:r>
            <a:r>
              <a:rPr sz="1000" spc="-130" dirty="0">
                <a:latin typeface="Lucida Sans Unicode"/>
                <a:cs typeface="Lucida Sans Unicode"/>
              </a:rPr>
              <a:t> </a:t>
            </a:r>
            <a:r>
              <a:rPr sz="1000" i="1" spc="-5" dirty="0">
                <a:latin typeface="Arial"/>
                <a:cs typeface="Arial"/>
              </a:rPr>
              <a:t>A </a:t>
            </a:r>
            <a:r>
              <a:rPr sz="1000" spc="-45" dirty="0">
                <a:latin typeface="Tahoma"/>
                <a:cs typeface="Tahoma"/>
              </a:rPr>
              <a:t>and </a:t>
            </a:r>
            <a:r>
              <a:rPr sz="1000" i="1" spc="-45" dirty="0">
                <a:latin typeface="Arial"/>
                <a:cs typeface="Arial"/>
              </a:rPr>
              <a:t>b</a:t>
            </a:r>
            <a:r>
              <a:rPr sz="1000" i="1" spc="-40" dirty="0">
                <a:latin typeface="Arial"/>
                <a:cs typeface="Arial"/>
              </a:rPr>
              <a:t> </a:t>
            </a:r>
            <a:r>
              <a:rPr sz="1000" spc="-135" dirty="0">
                <a:latin typeface="Lucida Sans Unicode"/>
                <a:cs typeface="Lucida Sans Unicode"/>
              </a:rPr>
              <a:t>∈</a:t>
            </a:r>
            <a:r>
              <a:rPr sz="1000" spc="-130" dirty="0">
                <a:latin typeface="Lucida Sans Unicode"/>
                <a:cs typeface="Lucida Sans Unicode"/>
              </a:rPr>
              <a:t> </a:t>
            </a:r>
            <a:r>
              <a:rPr sz="1000" i="1" spc="35" dirty="0">
                <a:latin typeface="Arial"/>
                <a:cs typeface="Arial"/>
              </a:rPr>
              <a:t>B</a:t>
            </a:r>
            <a:r>
              <a:rPr sz="1000" spc="35" dirty="0">
                <a:latin typeface="Tahoma"/>
                <a:cs typeface="Tahoma"/>
              </a:rPr>
              <a:t>? </a:t>
            </a:r>
            <a:r>
              <a:rPr sz="1000" spc="40" dirty="0">
                <a:latin typeface="Tahoma"/>
                <a:cs typeface="Tahoma"/>
              </a:rPr>
              <a:t> </a:t>
            </a:r>
            <a:r>
              <a:rPr sz="1000" spc="-30" dirty="0">
                <a:latin typeface="Tahoma"/>
                <a:cs typeface="Tahoma"/>
              </a:rPr>
              <a:t>There</a:t>
            </a:r>
            <a:r>
              <a:rPr sz="1000" spc="15" dirty="0">
                <a:latin typeface="Tahoma"/>
                <a:cs typeface="Tahoma"/>
              </a:rPr>
              <a:t> </a:t>
            </a:r>
            <a:r>
              <a:rPr sz="1000" spc="-65" dirty="0">
                <a:latin typeface="Tahoma"/>
                <a:cs typeface="Tahoma"/>
              </a:rPr>
              <a:t>are</a:t>
            </a:r>
            <a:r>
              <a:rPr sz="1000" spc="20" dirty="0">
                <a:latin typeface="Tahoma"/>
                <a:cs typeface="Tahoma"/>
              </a:rPr>
              <a:t> </a:t>
            </a:r>
            <a:r>
              <a:rPr sz="1000" i="1" spc="-45" dirty="0">
                <a:latin typeface="Arial"/>
                <a:cs typeface="Arial"/>
              </a:rPr>
              <a:t>n</a:t>
            </a:r>
            <a:r>
              <a:rPr sz="1000" i="1" spc="70" dirty="0">
                <a:latin typeface="Arial"/>
                <a:cs typeface="Arial"/>
              </a:rPr>
              <a:t> </a:t>
            </a:r>
            <a:r>
              <a:rPr sz="1000" spc="-25" dirty="0">
                <a:latin typeface="Tahoma"/>
                <a:cs typeface="Tahoma"/>
              </a:rPr>
              <a:t>possibilities</a:t>
            </a:r>
            <a:r>
              <a:rPr sz="1000" spc="15" dirty="0">
                <a:latin typeface="Tahoma"/>
                <a:cs typeface="Tahoma"/>
              </a:rPr>
              <a:t> </a:t>
            </a:r>
            <a:r>
              <a:rPr sz="1000" spc="-10" dirty="0">
                <a:latin typeface="Tahoma"/>
                <a:cs typeface="Tahoma"/>
              </a:rPr>
              <a:t>to</a:t>
            </a:r>
            <a:r>
              <a:rPr sz="1000" spc="20" dirty="0">
                <a:latin typeface="Tahoma"/>
                <a:cs typeface="Tahoma"/>
              </a:rPr>
              <a:t> </a:t>
            </a:r>
            <a:r>
              <a:rPr sz="1000" spc="-50" dirty="0">
                <a:latin typeface="Tahoma"/>
                <a:cs typeface="Tahoma"/>
              </a:rPr>
              <a:t>choose</a:t>
            </a:r>
            <a:r>
              <a:rPr sz="1000" spc="30" dirty="0">
                <a:latin typeface="Tahoma"/>
                <a:cs typeface="Tahoma"/>
              </a:rPr>
              <a:t> </a:t>
            </a:r>
            <a:r>
              <a:rPr sz="1000" i="1" spc="-50" dirty="0">
                <a:latin typeface="Arial"/>
                <a:cs typeface="Arial"/>
              </a:rPr>
              <a:t>a</a:t>
            </a:r>
            <a:r>
              <a:rPr sz="1000" spc="-50" dirty="0">
                <a:latin typeface="Tahoma"/>
                <a:cs typeface="Tahoma"/>
              </a:rPr>
              <a:t>,</a:t>
            </a:r>
            <a:r>
              <a:rPr sz="1000" spc="20" dirty="0">
                <a:latin typeface="Tahoma"/>
                <a:cs typeface="Tahoma"/>
              </a:rPr>
              <a:t> </a:t>
            </a:r>
            <a:r>
              <a:rPr sz="1000" spc="-45" dirty="0">
                <a:latin typeface="Tahoma"/>
                <a:cs typeface="Tahoma"/>
              </a:rPr>
              <a:t>and</a:t>
            </a:r>
            <a:r>
              <a:rPr sz="1000" spc="20" dirty="0">
                <a:latin typeface="Tahoma"/>
                <a:cs typeface="Tahoma"/>
              </a:rPr>
              <a:t> </a:t>
            </a:r>
            <a:r>
              <a:rPr sz="1000" spc="-40" dirty="0">
                <a:latin typeface="Tahoma"/>
                <a:cs typeface="Tahoma"/>
              </a:rPr>
              <a:t>for</a:t>
            </a:r>
            <a:r>
              <a:rPr sz="1000" spc="20" dirty="0">
                <a:latin typeface="Tahoma"/>
                <a:cs typeface="Tahoma"/>
              </a:rPr>
              <a:t> </a:t>
            </a:r>
            <a:r>
              <a:rPr sz="1000" spc="-50" dirty="0">
                <a:latin typeface="Tahoma"/>
                <a:cs typeface="Tahoma"/>
              </a:rPr>
              <a:t>each</a:t>
            </a:r>
            <a:r>
              <a:rPr sz="1000" spc="15" dirty="0">
                <a:latin typeface="Tahoma"/>
                <a:cs typeface="Tahoma"/>
              </a:rPr>
              <a:t> </a:t>
            </a:r>
            <a:r>
              <a:rPr sz="1000" spc="-35" dirty="0">
                <a:latin typeface="Tahoma"/>
                <a:cs typeface="Tahoma"/>
              </a:rPr>
              <a:t>fixed</a:t>
            </a:r>
            <a:r>
              <a:rPr sz="1000" spc="20" dirty="0">
                <a:latin typeface="Tahoma"/>
                <a:cs typeface="Tahoma"/>
              </a:rPr>
              <a:t> </a:t>
            </a:r>
            <a:r>
              <a:rPr sz="1000" i="1" spc="-80" dirty="0">
                <a:latin typeface="Arial"/>
                <a:cs typeface="Arial"/>
              </a:rPr>
              <a:t>a</a:t>
            </a:r>
            <a:r>
              <a:rPr sz="1000" i="1" spc="65" dirty="0">
                <a:latin typeface="Arial"/>
                <a:cs typeface="Arial"/>
              </a:rPr>
              <a:t> </a:t>
            </a:r>
            <a:r>
              <a:rPr sz="1000" spc="-90" dirty="0">
                <a:latin typeface="Tahoma"/>
                <a:cs typeface="Tahoma"/>
              </a:rPr>
              <a:t>we</a:t>
            </a:r>
            <a:r>
              <a:rPr sz="1000" spc="20" dirty="0">
                <a:latin typeface="Tahoma"/>
                <a:cs typeface="Tahoma"/>
              </a:rPr>
              <a:t> </a:t>
            </a:r>
            <a:r>
              <a:rPr sz="1000" spc="-55" dirty="0">
                <a:latin typeface="Tahoma"/>
                <a:cs typeface="Tahoma"/>
              </a:rPr>
              <a:t>have</a:t>
            </a:r>
            <a:r>
              <a:rPr sz="1000" spc="15" dirty="0">
                <a:latin typeface="Tahoma"/>
                <a:cs typeface="Tahoma"/>
              </a:rPr>
              <a:t> </a:t>
            </a:r>
            <a:r>
              <a:rPr sz="1000" i="1" spc="-45" dirty="0">
                <a:latin typeface="Arial"/>
                <a:cs typeface="Arial"/>
              </a:rPr>
              <a:t>m </a:t>
            </a:r>
            <a:r>
              <a:rPr sz="1000" i="1" spc="-265" dirty="0">
                <a:latin typeface="Arial"/>
                <a:cs typeface="Arial"/>
              </a:rPr>
              <a:t> </a:t>
            </a:r>
            <a:r>
              <a:rPr sz="1000" spc="-25" dirty="0">
                <a:latin typeface="Tahoma"/>
                <a:cs typeface="Tahoma"/>
              </a:rPr>
              <a:t>possibilities </a:t>
            </a:r>
            <a:r>
              <a:rPr sz="1000" spc="-10" dirty="0">
                <a:latin typeface="Tahoma"/>
                <a:cs typeface="Tahoma"/>
              </a:rPr>
              <a:t>to </a:t>
            </a:r>
            <a:r>
              <a:rPr sz="1000" spc="-50" dirty="0">
                <a:latin typeface="Tahoma"/>
                <a:cs typeface="Tahoma"/>
              </a:rPr>
              <a:t>choose </a:t>
            </a:r>
            <a:r>
              <a:rPr sz="1000" i="1" spc="-20" dirty="0">
                <a:latin typeface="Arial"/>
                <a:cs typeface="Arial"/>
              </a:rPr>
              <a:t>b</a:t>
            </a:r>
            <a:r>
              <a:rPr sz="1000" spc="-20" dirty="0">
                <a:latin typeface="Tahoma"/>
                <a:cs typeface="Tahoma"/>
              </a:rPr>
              <a:t>.</a:t>
            </a:r>
            <a:r>
              <a:rPr sz="1000" spc="-15" dirty="0">
                <a:latin typeface="Tahoma"/>
                <a:cs typeface="Tahoma"/>
              </a:rPr>
              <a:t> </a:t>
            </a:r>
            <a:r>
              <a:rPr sz="1000" spc="-30" dirty="0">
                <a:latin typeface="Tahoma"/>
                <a:cs typeface="Tahoma"/>
              </a:rPr>
              <a:t>So, </a:t>
            </a:r>
            <a:r>
              <a:rPr sz="1000" spc="-45" dirty="0">
                <a:latin typeface="Tahoma"/>
                <a:cs typeface="Tahoma"/>
              </a:rPr>
              <a:t>there </a:t>
            </a:r>
            <a:r>
              <a:rPr sz="1000" spc="-65" dirty="0">
                <a:latin typeface="Tahoma"/>
                <a:cs typeface="Tahoma"/>
              </a:rPr>
              <a:t>are</a:t>
            </a:r>
            <a:r>
              <a:rPr sz="1000" spc="180" dirty="0">
                <a:latin typeface="Tahoma"/>
                <a:cs typeface="Tahoma"/>
              </a:rPr>
              <a:t> </a:t>
            </a:r>
            <a:r>
              <a:rPr sz="1000" i="1" spc="-45" dirty="0">
                <a:latin typeface="Arial"/>
                <a:cs typeface="Arial"/>
              </a:rPr>
              <a:t>n </a:t>
            </a:r>
            <a:r>
              <a:rPr sz="1000" spc="-360" dirty="0">
                <a:latin typeface="Lucida Sans Unicode"/>
                <a:cs typeface="Lucida Sans Unicode"/>
              </a:rPr>
              <a:t>·</a:t>
            </a:r>
            <a:r>
              <a:rPr sz="1000" spc="-95" dirty="0">
                <a:latin typeface="Lucida Sans Unicode"/>
                <a:cs typeface="Lucida Sans Unicode"/>
              </a:rPr>
              <a:t> </a:t>
            </a:r>
            <a:r>
              <a:rPr sz="1000" i="1" spc="-45" dirty="0">
                <a:latin typeface="Arial"/>
                <a:cs typeface="Arial"/>
              </a:rPr>
              <a:t>m</a:t>
            </a:r>
            <a:r>
              <a:rPr sz="1000" i="1" spc="190" dirty="0">
                <a:latin typeface="Arial"/>
                <a:cs typeface="Arial"/>
              </a:rPr>
              <a:t> </a:t>
            </a:r>
            <a:r>
              <a:rPr sz="1000" spc="-25" dirty="0">
                <a:latin typeface="Tahoma"/>
                <a:cs typeface="Tahoma"/>
              </a:rPr>
              <a:t>possibilities </a:t>
            </a:r>
            <a:r>
              <a:rPr sz="1000" spc="-10" dirty="0">
                <a:latin typeface="Tahoma"/>
                <a:cs typeface="Tahoma"/>
              </a:rPr>
              <a:t>to </a:t>
            </a:r>
            <a:r>
              <a:rPr sz="1000" spc="-45" dirty="0">
                <a:latin typeface="Tahoma"/>
                <a:cs typeface="Tahoma"/>
              </a:rPr>
              <a:t>form </a:t>
            </a:r>
            <a:r>
              <a:rPr sz="1000" spc="-50" dirty="0">
                <a:latin typeface="Tahoma"/>
                <a:cs typeface="Tahoma"/>
              </a:rPr>
              <a:t>a </a:t>
            </a:r>
            <a:r>
              <a:rPr sz="1000" spc="-45" dirty="0">
                <a:latin typeface="Tahoma"/>
                <a:cs typeface="Tahoma"/>
              </a:rPr>
              <a:t> </a:t>
            </a:r>
            <a:r>
              <a:rPr sz="1000" spc="-25" dirty="0">
                <a:latin typeface="Tahoma"/>
                <a:cs typeface="Tahoma"/>
              </a:rPr>
              <a:t>pair</a:t>
            </a:r>
            <a:r>
              <a:rPr sz="1000" spc="20" dirty="0">
                <a:latin typeface="Tahoma"/>
                <a:cs typeface="Tahoma"/>
              </a:rPr>
              <a:t> </a:t>
            </a: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dirty="0">
                <a:latin typeface="Tahoma"/>
                <a:cs typeface="Tahoma"/>
              </a:rPr>
              <a:t>)</a:t>
            </a:r>
            <a:r>
              <a:rPr sz="1000" spc="-35" dirty="0">
                <a:latin typeface="Tahoma"/>
                <a:cs typeface="Tahoma"/>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60" dirty="0">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i="1" spc="75" dirty="0">
                <a:latin typeface="Arial"/>
                <a:cs typeface="Arial"/>
              </a:rPr>
              <a:t>B</a:t>
            </a:r>
            <a:r>
              <a:rPr sz="1000" spc="-30" dirty="0">
                <a:latin typeface="Tahoma"/>
                <a:cs typeface="Tahoma"/>
              </a:rPr>
              <a:t>,</a:t>
            </a:r>
            <a:r>
              <a:rPr sz="1000" spc="20" dirty="0">
                <a:latin typeface="Tahoma"/>
                <a:cs typeface="Tahoma"/>
              </a:rPr>
              <a:t> </a:t>
            </a:r>
            <a:r>
              <a:rPr sz="1000" spc="-40" dirty="0">
                <a:latin typeface="Tahoma"/>
                <a:cs typeface="Tahoma"/>
              </a:rPr>
              <a:t>theref</a:t>
            </a:r>
            <a:r>
              <a:rPr sz="1000" spc="-80" dirty="0">
                <a:latin typeface="Tahoma"/>
                <a:cs typeface="Tahoma"/>
              </a:rPr>
              <a:t>o</a:t>
            </a:r>
            <a:r>
              <a:rPr sz="1000" spc="-55" dirty="0">
                <a:latin typeface="Tahoma"/>
                <a:cs typeface="Tahoma"/>
              </a:rPr>
              <a:t>re</a:t>
            </a:r>
            <a:r>
              <a:rPr sz="1000" spc="20" dirty="0">
                <a:latin typeface="Tahoma"/>
                <a:cs typeface="Tahoma"/>
              </a:rPr>
              <a:t> </a:t>
            </a:r>
            <a:r>
              <a:rPr sz="1000" i="1" spc="-5" dirty="0">
                <a:latin typeface="Arial"/>
                <a:cs typeface="Arial"/>
              </a:rPr>
              <a:t>A</a:t>
            </a:r>
            <a:r>
              <a:rPr sz="1000" i="1" spc="-60" dirty="0">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i="1" spc="-5" dirty="0">
                <a:latin typeface="Arial"/>
                <a:cs typeface="Arial"/>
              </a:rPr>
              <a:t>B</a:t>
            </a:r>
            <a:r>
              <a:rPr sz="1000" i="1" spc="135" dirty="0">
                <a:latin typeface="Arial"/>
                <a:cs typeface="Arial"/>
              </a:rPr>
              <a:t> </a:t>
            </a:r>
            <a:r>
              <a:rPr sz="1000" spc="-30" dirty="0">
                <a:latin typeface="Tahoma"/>
                <a:cs typeface="Tahoma"/>
              </a:rPr>
              <a:t>contains</a:t>
            </a:r>
            <a:r>
              <a:rPr sz="1000" spc="20" dirty="0">
                <a:latin typeface="Tahoma"/>
                <a:cs typeface="Tahoma"/>
              </a:rPr>
              <a:t> </a:t>
            </a:r>
            <a:r>
              <a:rPr sz="1000" i="1" spc="-45" dirty="0">
                <a:latin typeface="Arial"/>
                <a:cs typeface="Arial"/>
              </a:rPr>
              <a:t>n</a:t>
            </a:r>
            <a:r>
              <a:rPr sz="1000" i="1" spc="-40" dirty="0">
                <a:latin typeface="Arial"/>
                <a:cs typeface="Arial"/>
              </a:rPr>
              <a:t> </a:t>
            </a:r>
            <a:r>
              <a:rPr sz="1000" spc="-360" dirty="0">
                <a:latin typeface="Lucida Sans Unicode"/>
                <a:cs typeface="Lucida Sans Unicode"/>
              </a:rPr>
              <a:t>·</a:t>
            </a:r>
            <a:r>
              <a:rPr sz="1000" spc="-95" dirty="0">
                <a:latin typeface="Lucida Sans Unicode"/>
                <a:cs typeface="Lucida Sans Unicode"/>
              </a:rPr>
              <a:t> </a:t>
            </a:r>
            <a:r>
              <a:rPr sz="1000" i="1" spc="-45" dirty="0">
                <a:latin typeface="Arial"/>
                <a:cs typeface="Arial"/>
              </a:rPr>
              <a:t>m</a:t>
            </a:r>
            <a:r>
              <a:rPr sz="1000" i="1" spc="70" dirty="0">
                <a:latin typeface="Arial"/>
                <a:cs typeface="Arial"/>
              </a:rPr>
              <a:t> </a:t>
            </a:r>
            <a:r>
              <a:rPr sz="1000" spc="-35" dirty="0">
                <a:latin typeface="Tahoma"/>
                <a:cs typeface="Tahoma"/>
              </a:rPr>
              <a:t>pairs.</a:t>
            </a:r>
            <a:endParaRPr sz="1000">
              <a:latin typeface="Tahoma"/>
              <a:cs typeface="Tahoma"/>
            </a:endParaRPr>
          </a:p>
        </p:txBody>
      </p:sp>
      <p:grpSp>
        <p:nvGrpSpPr>
          <p:cNvPr id="44" name="object 44"/>
          <p:cNvGrpSpPr/>
          <p:nvPr/>
        </p:nvGrpSpPr>
        <p:grpSpPr>
          <a:xfrm>
            <a:off x="4335779" y="2526665"/>
            <a:ext cx="86360" cy="85725"/>
            <a:chOff x="4335779" y="2526665"/>
            <a:chExt cx="86360" cy="85725"/>
          </a:xfrm>
        </p:grpSpPr>
        <p:sp>
          <p:nvSpPr>
            <p:cNvPr id="45" name="object 45"/>
            <p:cNvSpPr/>
            <p:nvPr/>
          </p:nvSpPr>
          <p:spPr>
            <a:xfrm>
              <a:off x="4338307" y="2526665"/>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6" name="object 46"/>
            <p:cNvSpPr/>
            <p:nvPr/>
          </p:nvSpPr>
          <p:spPr>
            <a:xfrm>
              <a:off x="4340834" y="2529192"/>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7" name="object 47"/>
            <p:cNvSpPr/>
            <p:nvPr/>
          </p:nvSpPr>
          <p:spPr>
            <a:xfrm>
              <a:off x="4340834" y="2609545"/>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8" name="object 48"/>
            <p:cNvSpPr/>
            <p:nvPr/>
          </p:nvSpPr>
          <p:spPr>
            <a:xfrm>
              <a:off x="4419282" y="2526665"/>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FFFFFF"/>
                </a:solidFill>
                <a:latin typeface="Microsoft Sans Serif"/>
                <a:cs typeface="Microsoft Sans Serif"/>
                <a:hlinkClick r:id="rId5" action="ppaction://hlinksldjump"/>
              </a:rPr>
              <a:t>C</a:t>
            </a:r>
            <a:r>
              <a:rPr sz="500" spc="-40" dirty="0">
                <a:solidFill>
                  <a:srgbClr val="FFFFFF"/>
                </a:solidFill>
                <a:latin typeface="Microsoft Sans Serif"/>
                <a:cs typeface="Microsoft Sans Serif"/>
                <a:hlinkClick r:id="rId5" action="ppaction://hlinksldjump"/>
              </a:rPr>
              <a:t>a</a:t>
            </a:r>
            <a:r>
              <a:rPr sz="500" spc="-10" dirty="0">
                <a:solidFill>
                  <a:srgbClr val="FFFFFF"/>
                </a:solidFill>
                <a:latin typeface="Microsoft Sans Serif"/>
                <a:cs typeface="Microsoft Sans Serif"/>
                <a:hlinkClick r:id="rId5" action="ppaction://hlinksldjump"/>
              </a:rPr>
              <a:t>rtesian  </a:t>
            </a:r>
            <a:r>
              <a:rPr sz="500" dirty="0">
                <a:solidFill>
                  <a:srgbClr val="FFFFFF"/>
                </a:solidFill>
                <a:latin typeface="Microsoft Sans Serif"/>
                <a:cs typeface="Microsoft Sans Serif"/>
                <a:hlinkClick r:id="rId5" action="ppaction://hlinksldjump"/>
              </a:rPr>
              <a:t>Pr</a:t>
            </a:r>
            <a:r>
              <a:rPr sz="500" spc="10" dirty="0">
                <a:solidFill>
                  <a:srgbClr val="FFFFFF"/>
                </a:solidFill>
                <a:latin typeface="Microsoft Sans Serif"/>
                <a:cs typeface="Microsoft Sans Serif"/>
                <a:hlinkClick r:id="rId5" action="ppaction://hlinksldjump"/>
              </a:rPr>
              <a:t>o</a:t>
            </a:r>
            <a:r>
              <a:rPr sz="500" spc="-5" dirty="0">
                <a:solidFill>
                  <a:srgbClr val="FFFFFF"/>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8484D1"/>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698562" y="2747111"/>
            <a:ext cx="3867150" cy="668655"/>
            <a:chOff x="698562" y="2747111"/>
            <a:chExt cx="3867150" cy="668655"/>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16" name="object 16"/>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7" name="object 17"/>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8" name="object 18"/>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sp>
          <p:nvSpPr>
            <p:cNvPr id="19" name="object 19"/>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0" name="object 20"/>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3" name="object 23"/>
            <p:cNvSpPr/>
            <p:nvPr/>
          </p:nvSpPr>
          <p:spPr>
            <a:xfrm>
              <a:off x="698562" y="2747111"/>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grpSp>
      <p:grpSp>
        <p:nvGrpSpPr>
          <p:cNvPr id="24" name="object 24"/>
          <p:cNvGrpSpPr/>
          <p:nvPr/>
        </p:nvGrpSpPr>
        <p:grpSpPr>
          <a:xfrm>
            <a:off x="0" y="0"/>
            <a:ext cx="4608195" cy="569595"/>
            <a:chOff x="0" y="0"/>
            <a:chExt cx="4608195" cy="569595"/>
          </a:xfrm>
        </p:grpSpPr>
        <p:sp>
          <p:nvSpPr>
            <p:cNvPr id="25" name="object 25"/>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6" name="object 26"/>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7" name="object 27"/>
          <p:cNvSpPr txBox="1">
            <a:spLocks noGrp="1"/>
          </p:cNvSpPr>
          <p:nvPr>
            <p:ph type="title"/>
          </p:nvPr>
        </p:nvSpPr>
        <p:spPr>
          <a:xfrm>
            <a:off x="664667" y="144815"/>
            <a:ext cx="3172460" cy="244475"/>
          </a:xfrm>
          <a:prstGeom prst="rect">
            <a:avLst/>
          </a:prstGeom>
        </p:spPr>
        <p:txBody>
          <a:bodyPr vert="horz" wrap="square" lIns="0" tIns="17145" rIns="0" bIns="0" rtlCol="0">
            <a:spAutoFit/>
          </a:bodyPr>
          <a:lstStyle/>
          <a:p>
            <a:pPr marL="12700">
              <a:lnSpc>
                <a:spcPct val="100000"/>
              </a:lnSpc>
              <a:spcBef>
                <a:spcPts val="135"/>
              </a:spcBef>
            </a:pPr>
            <a:r>
              <a:rPr spc="-30" dirty="0"/>
              <a:t>Cardinality</a:t>
            </a:r>
            <a:r>
              <a:rPr spc="135" dirty="0"/>
              <a:t> </a:t>
            </a:r>
            <a:r>
              <a:rPr spc="-30" dirty="0"/>
              <a:t>of</a:t>
            </a:r>
            <a:r>
              <a:rPr spc="135" dirty="0"/>
              <a:t> </a:t>
            </a:r>
            <a:r>
              <a:rPr spc="-5" dirty="0"/>
              <a:t>finite</a:t>
            </a:r>
            <a:r>
              <a:rPr spc="135" dirty="0"/>
              <a:t> </a:t>
            </a:r>
            <a:r>
              <a:rPr spc="-35" dirty="0"/>
              <a:t>Cartesian</a:t>
            </a:r>
            <a:r>
              <a:rPr spc="135" dirty="0"/>
              <a:t> </a:t>
            </a:r>
            <a:r>
              <a:rPr spc="-30" dirty="0"/>
              <a:t>product</a:t>
            </a:r>
          </a:p>
        </p:txBody>
      </p:sp>
      <p:sp>
        <p:nvSpPr>
          <p:cNvPr id="28" name="object 28"/>
          <p:cNvSpPr/>
          <p:nvPr/>
        </p:nvSpPr>
        <p:spPr>
          <a:xfrm>
            <a:off x="698562" y="762723"/>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29" name="object 29"/>
          <p:cNvSpPr txBox="1"/>
          <p:nvPr/>
        </p:nvSpPr>
        <p:spPr>
          <a:xfrm>
            <a:off x="749363" y="792650"/>
            <a:ext cx="467995" cy="128270"/>
          </a:xfrm>
          <a:prstGeom prst="rect">
            <a:avLst/>
          </a:prstGeom>
        </p:spPr>
        <p:txBody>
          <a:bodyPr vert="horz" wrap="square" lIns="0" tIns="0" rIns="0" bIns="0" rtlCol="0">
            <a:spAutoFit/>
          </a:bodyPr>
          <a:lstStyle/>
          <a:p>
            <a:pPr>
              <a:lnSpc>
                <a:spcPts val="955"/>
              </a:lnSpc>
            </a:pPr>
            <a:r>
              <a:rPr sz="1000" spc="-20" dirty="0">
                <a:solidFill>
                  <a:srgbClr val="FFFFFF"/>
                </a:solidFill>
                <a:latin typeface="Tahoma"/>
                <a:cs typeface="Tahoma"/>
              </a:rPr>
              <a:t>The</a:t>
            </a:r>
            <a:r>
              <a:rPr sz="1000" spc="-50" dirty="0">
                <a:solidFill>
                  <a:srgbClr val="FFFFFF"/>
                </a:solidFill>
                <a:latin typeface="Tahoma"/>
                <a:cs typeface="Tahoma"/>
              </a:rPr>
              <a:t>o</a:t>
            </a:r>
            <a:r>
              <a:rPr sz="1000" spc="-55" dirty="0">
                <a:solidFill>
                  <a:srgbClr val="FFFFFF"/>
                </a:solidFill>
                <a:latin typeface="Tahoma"/>
                <a:cs typeface="Tahoma"/>
              </a:rPr>
              <a:t>rem</a:t>
            </a:r>
            <a:endParaRPr sz="1000">
              <a:latin typeface="Tahoma"/>
              <a:cs typeface="Tahoma"/>
            </a:endParaRPr>
          </a:p>
        </p:txBody>
      </p:sp>
      <p:grpSp>
        <p:nvGrpSpPr>
          <p:cNvPr id="30" name="object 30"/>
          <p:cNvGrpSpPr/>
          <p:nvPr/>
        </p:nvGrpSpPr>
        <p:grpSpPr>
          <a:xfrm>
            <a:off x="698562" y="819653"/>
            <a:ext cx="3831590" cy="676275"/>
            <a:chOff x="698562" y="819653"/>
            <a:chExt cx="3831590" cy="676275"/>
          </a:xfrm>
        </p:grpSpPr>
        <p:pic>
          <p:nvPicPr>
            <p:cNvPr id="31" name="object 31"/>
            <p:cNvPicPr/>
            <p:nvPr/>
          </p:nvPicPr>
          <p:blipFill>
            <a:blip r:embed="rId7" cstate="print"/>
            <a:stretch>
              <a:fillRect/>
            </a:stretch>
          </p:blipFill>
          <p:spPr>
            <a:xfrm>
              <a:off x="698563" y="920318"/>
              <a:ext cx="3780284" cy="50609"/>
            </a:xfrm>
            <a:prstGeom prst="rect">
              <a:avLst/>
            </a:prstGeom>
          </p:spPr>
        </p:pic>
        <p:sp>
          <p:nvSpPr>
            <p:cNvPr id="32" name="object 32"/>
            <p:cNvSpPr/>
            <p:nvPr/>
          </p:nvSpPr>
          <p:spPr>
            <a:xfrm>
              <a:off x="749363" y="819653"/>
              <a:ext cx="3780790" cy="676275"/>
            </a:xfrm>
            <a:custGeom>
              <a:avLst/>
              <a:gdLst/>
              <a:ahLst/>
              <a:cxnLst/>
              <a:rect l="l" t="t" r="r" b="b"/>
              <a:pathLst>
                <a:path w="3780790" h="676275">
                  <a:moveTo>
                    <a:pt x="3780285" y="0"/>
                  </a:moveTo>
                  <a:lnTo>
                    <a:pt x="0" y="0"/>
                  </a:lnTo>
                  <a:lnTo>
                    <a:pt x="0" y="675988"/>
                  </a:lnTo>
                  <a:lnTo>
                    <a:pt x="3780285" y="675988"/>
                  </a:lnTo>
                  <a:lnTo>
                    <a:pt x="3780285" y="0"/>
                  </a:lnTo>
                  <a:close/>
                </a:path>
              </a:pathLst>
            </a:custGeom>
            <a:solidFill>
              <a:srgbClr val="000000"/>
            </a:solidFill>
          </p:spPr>
          <p:txBody>
            <a:bodyPr wrap="square" lIns="0" tIns="0" rIns="0" bIns="0" rtlCol="0"/>
            <a:lstStyle/>
            <a:p>
              <a:endParaRPr/>
            </a:p>
          </p:txBody>
        </p:sp>
        <p:sp>
          <p:nvSpPr>
            <p:cNvPr id="33" name="object 33"/>
            <p:cNvSpPr/>
            <p:nvPr/>
          </p:nvSpPr>
          <p:spPr>
            <a:xfrm>
              <a:off x="698562" y="964599"/>
              <a:ext cx="3780790" cy="480695"/>
            </a:xfrm>
            <a:custGeom>
              <a:avLst/>
              <a:gdLst/>
              <a:ahLst/>
              <a:cxnLst/>
              <a:rect l="l" t="t" r="r" b="b"/>
              <a:pathLst>
                <a:path w="3780790" h="480694">
                  <a:moveTo>
                    <a:pt x="3780285" y="0"/>
                  </a:moveTo>
                  <a:lnTo>
                    <a:pt x="0" y="0"/>
                  </a:lnTo>
                  <a:lnTo>
                    <a:pt x="0" y="429441"/>
                  </a:lnTo>
                  <a:lnTo>
                    <a:pt x="4008" y="449166"/>
                  </a:lnTo>
                  <a:lnTo>
                    <a:pt x="14922" y="465319"/>
                  </a:lnTo>
                  <a:lnTo>
                    <a:pt x="31075" y="476233"/>
                  </a:lnTo>
                  <a:lnTo>
                    <a:pt x="50800" y="480242"/>
                  </a:lnTo>
                  <a:lnTo>
                    <a:pt x="3729484" y="480242"/>
                  </a:lnTo>
                  <a:lnTo>
                    <a:pt x="3749209" y="476233"/>
                  </a:lnTo>
                  <a:lnTo>
                    <a:pt x="3765362" y="465319"/>
                  </a:lnTo>
                  <a:lnTo>
                    <a:pt x="3776276" y="449166"/>
                  </a:lnTo>
                  <a:lnTo>
                    <a:pt x="3780285" y="429441"/>
                  </a:lnTo>
                  <a:lnTo>
                    <a:pt x="3780285" y="0"/>
                  </a:lnTo>
                  <a:close/>
                </a:path>
              </a:pathLst>
            </a:custGeom>
            <a:solidFill>
              <a:srgbClr val="E9E9F2"/>
            </a:solidFill>
          </p:spPr>
          <p:txBody>
            <a:bodyPr wrap="square" lIns="0" tIns="0" rIns="0" bIns="0" rtlCol="0"/>
            <a:lstStyle/>
            <a:p>
              <a:endParaRPr/>
            </a:p>
          </p:txBody>
        </p:sp>
      </p:grpSp>
      <p:sp>
        <p:nvSpPr>
          <p:cNvPr id="34" name="object 34"/>
          <p:cNvSpPr txBox="1"/>
          <p:nvPr/>
        </p:nvSpPr>
        <p:spPr>
          <a:xfrm>
            <a:off x="723963" y="938547"/>
            <a:ext cx="3630295" cy="177800"/>
          </a:xfrm>
          <a:prstGeom prst="rect">
            <a:avLst/>
          </a:prstGeom>
        </p:spPr>
        <p:txBody>
          <a:bodyPr vert="horz" wrap="square" lIns="0" tIns="12065" rIns="0" bIns="0" rtlCol="0">
            <a:spAutoFit/>
          </a:bodyPr>
          <a:lstStyle/>
          <a:p>
            <a:pPr marL="25400">
              <a:lnSpc>
                <a:spcPct val="100000"/>
              </a:lnSpc>
              <a:spcBef>
                <a:spcPts val="95"/>
              </a:spcBef>
            </a:pPr>
            <a:r>
              <a:rPr sz="1000" spc="-10" dirty="0">
                <a:latin typeface="Tahoma"/>
                <a:cs typeface="Tahoma"/>
              </a:rPr>
              <a:t>Let</a:t>
            </a:r>
            <a:r>
              <a:rPr sz="1000" spc="15" dirty="0">
                <a:latin typeface="Tahoma"/>
                <a:cs typeface="Tahoma"/>
              </a:rPr>
              <a:t> </a:t>
            </a:r>
            <a:r>
              <a:rPr sz="1000" i="1" spc="-25" dirty="0">
                <a:latin typeface="Arial"/>
                <a:cs typeface="Arial"/>
              </a:rPr>
              <a:t>A</a:t>
            </a:r>
            <a:r>
              <a:rPr sz="1050" spc="-37" baseline="-11904" dirty="0">
                <a:latin typeface="Microsoft Sans Serif"/>
                <a:cs typeface="Microsoft Sans Serif"/>
              </a:rPr>
              <a:t>1</a:t>
            </a:r>
            <a:r>
              <a:rPr sz="1000" i="1" spc="-25"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10" dirty="0">
                <a:latin typeface="Arial"/>
                <a:cs typeface="Arial"/>
              </a:rPr>
              <a:t>A</a:t>
            </a:r>
            <a:r>
              <a:rPr sz="1050" i="1" spc="-15" baseline="-11904" dirty="0">
                <a:latin typeface="Arial"/>
                <a:cs typeface="Arial"/>
              </a:rPr>
              <a:t>n</a:t>
            </a:r>
            <a:r>
              <a:rPr sz="1050" i="1" spc="37" baseline="-11904" dirty="0">
                <a:latin typeface="Arial"/>
                <a:cs typeface="Arial"/>
              </a:rPr>
              <a:t> </a:t>
            </a:r>
            <a:r>
              <a:rPr sz="1000" spc="-50" dirty="0">
                <a:latin typeface="Tahoma"/>
                <a:cs typeface="Tahoma"/>
              </a:rPr>
              <a:t>be</a:t>
            </a:r>
            <a:r>
              <a:rPr sz="1000" spc="20" dirty="0">
                <a:latin typeface="Tahoma"/>
                <a:cs typeface="Tahoma"/>
              </a:rPr>
              <a:t> </a:t>
            </a:r>
            <a:r>
              <a:rPr sz="1000" spc="-50" dirty="0">
                <a:latin typeface="Tahoma"/>
                <a:cs typeface="Tahoma"/>
              </a:rPr>
              <a:t>a</a:t>
            </a:r>
            <a:r>
              <a:rPr sz="1000" spc="20" dirty="0">
                <a:latin typeface="Tahoma"/>
                <a:cs typeface="Tahoma"/>
              </a:rPr>
              <a:t> </a:t>
            </a:r>
            <a:r>
              <a:rPr sz="1000" spc="-60" dirty="0">
                <a:latin typeface="Tahoma"/>
                <a:cs typeface="Tahoma"/>
              </a:rPr>
              <a:t>sequence</a:t>
            </a:r>
            <a:r>
              <a:rPr sz="1000" spc="20" dirty="0">
                <a:latin typeface="Tahoma"/>
                <a:cs typeface="Tahoma"/>
              </a:rPr>
              <a:t> </a:t>
            </a:r>
            <a:r>
              <a:rPr sz="1000" spc="-30" dirty="0">
                <a:latin typeface="Tahoma"/>
                <a:cs typeface="Tahoma"/>
              </a:rPr>
              <a:t>of</a:t>
            </a:r>
            <a:r>
              <a:rPr sz="1000" spc="20" dirty="0">
                <a:latin typeface="Tahoma"/>
                <a:cs typeface="Tahoma"/>
              </a:rPr>
              <a:t> </a:t>
            </a:r>
            <a:r>
              <a:rPr sz="1000" spc="-20" dirty="0">
                <a:latin typeface="Tahoma"/>
                <a:cs typeface="Tahoma"/>
              </a:rPr>
              <a:t>finite</a:t>
            </a:r>
            <a:r>
              <a:rPr sz="1000" spc="15" dirty="0">
                <a:latin typeface="Tahoma"/>
                <a:cs typeface="Tahoma"/>
              </a:rPr>
              <a:t> </a:t>
            </a:r>
            <a:r>
              <a:rPr sz="1000" spc="-45" dirty="0">
                <a:latin typeface="Tahoma"/>
                <a:cs typeface="Tahoma"/>
              </a:rPr>
              <a:t>sets,</a:t>
            </a:r>
            <a:r>
              <a:rPr sz="1000" spc="25" dirty="0">
                <a:latin typeface="Tahoma"/>
                <a:cs typeface="Tahoma"/>
              </a:rPr>
              <a:t> </a:t>
            </a:r>
            <a:r>
              <a:rPr sz="1000" i="1" spc="5" dirty="0">
                <a:latin typeface="Arial"/>
                <a:cs typeface="Arial"/>
              </a:rPr>
              <a:t>A</a:t>
            </a:r>
            <a:r>
              <a:rPr sz="1050" i="1" spc="7" baseline="-11904" dirty="0">
                <a:latin typeface="Arial"/>
                <a:cs typeface="Arial"/>
              </a:rPr>
              <a:t>i </a:t>
            </a:r>
            <a:r>
              <a:rPr sz="1050" i="1" spc="89" baseline="-11904" dirty="0">
                <a:latin typeface="Arial"/>
                <a:cs typeface="Arial"/>
              </a:rPr>
              <a:t> </a:t>
            </a:r>
            <a:r>
              <a:rPr sz="1000" spc="-30" dirty="0">
                <a:latin typeface="Tahoma"/>
                <a:cs typeface="Tahoma"/>
              </a:rPr>
              <a:t>contains</a:t>
            </a:r>
            <a:r>
              <a:rPr sz="1000" spc="20" dirty="0">
                <a:latin typeface="Tahoma"/>
                <a:cs typeface="Tahoma"/>
              </a:rPr>
              <a:t> </a:t>
            </a:r>
            <a:r>
              <a:rPr sz="1000" i="1" dirty="0">
                <a:latin typeface="Arial"/>
                <a:cs typeface="Arial"/>
              </a:rPr>
              <a:t>k</a:t>
            </a:r>
            <a:r>
              <a:rPr sz="1050" i="1" baseline="-11904" dirty="0">
                <a:latin typeface="Arial"/>
                <a:cs typeface="Arial"/>
              </a:rPr>
              <a:t>i</a:t>
            </a:r>
            <a:r>
              <a:rPr sz="1050" i="1" spc="390" baseline="-11904" dirty="0">
                <a:latin typeface="Arial"/>
                <a:cs typeface="Arial"/>
              </a:rPr>
              <a:t> </a:t>
            </a:r>
            <a:r>
              <a:rPr sz="1000" spc="-50" dirty="0">
                <a:latin typeface="Tahoma"/>
                <a:cs typeface="Tahoma"/>
              </a:rPr>
              <a:t>elements</a:t>
            </a:r>
            <a:endParaRPr sz="1000">
              <a:latin typeface="Tahoma"/>
              <a:cs typeface="Tahoma"/>
            </a:endParaRPr>
          </a:p>
        </p:txBody>
      </p:sp>
      <p:sp>
        <p:nvSpPr>
          <p:cNvPr id="35" name="object 35"/>
          <p:cNvSpPr txBox="1"/>
          <p:nvPr/>
        </p:nvSpPr>
        <p:spPr>
          <a:xfrm>
            <a:off x="723963" y="1090376"/>
            <a:ext cx="3483610" cy="177800"/>
          </a:xfrm>
          <a:prstGeom prst="rect">
            <a:avLst/>
          </a:prstGeom>
        </p:spPr>
        <p:txBody>
          <a:bodyPr vert="horz" wrap="square" lIns="0" tIns="12065" rIns="0" bIns="0" rtlCol="0">
            <a:spAutoFit/>
          </a:bodyPr>
          <a:lstStyle/>
          <a:p>
            <a:pPr marL="25400">
              <a:lnSpc>
                <a:spcPct val="100000"/>
              </a:lnSpc>
              <a:spcBef>
                <a:spcPts val="95"/>
              </a:spcBef>
            </a:pPr>
            <a:r>
              <a:rPr sz="1000" spc="-50" dirty="0">
                <a:latin typeface="Tahoma"/>
                <a:cs typeface="Tahoma"/>
              </a:rPr>
              <a:t>(here</a:t>
            </a:r>
            <a:r>
              <a:rPr sz="1000" spc="20" dirty="0">
                <a:latin typeface="Tahoma"/>
                <a:cs typeface="Tahoma"/>
              </a:rPr>
              <a:t> </a:t>
            </a:r>
            <a:r>
              <a:rPr sz="1000" spc="-50" dirty="0">
                <a:latin typeface="Tahoma"/>
                <a:cs typeface="Tahoma"/>
              </a:rPr>
              <a:t>1</a:t>
            </a:r>
            <a:r>
              <a:rPr sz="1000" spc="-35" dirty="0">
                <a:latin typeface="Tahoma"/>
                <a:cs typeface="Tahoma"/>
              </a:rPr>
              <a:t> </a:t>
            </a:r>
            <a:r>
              <a:rPr sz="1000" spc="-25" dirty="0">
                <a:latin typeface="Lucida Sans Unicode"/>
                <a:cs typeface="Lucida Sans Unicode"/>
              </a:rPr>
              <a:t>≤</a:t>
            </a:r>
            <a:r>
              <a:rPr sz="1000" spc="-40" dirty="0">
                <a:latin typeface="Lucida Sans Unicode"/>
                <a:cs typeface="Lucida Sans Unicode"/>
              </a:rPr>
              <a:t> </a:t>
            </a:r>
            <a:r>
              <a:rPr sz="1000" i="1" spc="10" dirty="0">
                <a:latin typeface="Arial"/>
                <a:cs typeface="Arial"/>
              </a:rPr>
              <a:t>i</a:t>
            </a:r>
            <a:r>
              <a:rPr sz="1000" i="1" spc="100" dirty="0">
                <a:latin typeface="Arial"/>
                <a:cs typeface="Arial"/>
              </a:rPr>
              <a:t> </a:t>
            </a:r>
            <a:r>
              <a:rPr sz="1000" spc="-25" dirty="0">
                <a:latin typeface="Lucida Sans Unicode"/>
                <a:cs typeface="Lucida Sans Unicode"/>
              </a:rPr>
              <a:t>≤</a:t>
            </a:r>
            <a:r>
              <a:rPr sz="1000" spc="-35" dirty="0">
                <a:latin typeface="Lucida Sans Unicode"/>
                <a:cs typeface="Lucida Sans Unicode"/>
              </a:rPr>
              <a:t> </a:t>
            </a:r>
            <a:r>
              <a:rPr sz="1000" i="1" spc="-20" dirty="0">
                <a:latin typeface="Arial"/>
                <a:cs typeface="Arial"/>
              </a:rPr>
              <a:t>n</a:t>
            </a:r>
            <a:r>
              <a:rPr sz="1000" spc="-20" dirty="0">
                <a:latin typeface="Tahoma"/>
                <a:cs typeface="Tahoma"/>
              </a:rPr>
              <a:t>).</a:t>
            </a:r>
            <a:r>
              <a:rPr sz="1000" spc="135" dirty="0">
                <a:latin typeface="Tahoma"/>
                <a:cs typeface="Tahoma"/>
              </a:rPr>
              <a:t> </a:t>
            </a:r>
            <a:r>
              <a:rPr sz="1000" spc="-20" dirty="0">
                <a:latin typeface="Tahoma"/>
                <a:cs typeface="Tahoma"/>
              </a:rPr>
              <a:t>Then</a:t>
            </a:r>
            <a:r>
              <a:rPr sz="1000" spc="20" dirty="0">
                <a:latin typeface="Tahoma"/>
                <a:cs typeface="Tahoma"/>
              </a:rPr>
              <a:t> </a:t>
            </a:r>
            <a:r>
              <a:rPr sz="1000" spc="-35" dirty="0">
                <a:latin typeface="Tahoma"/>
                <a:cs typeface="Tahoma"/>
              </a:rPr>
              <a:t>the</a:t>
            </a:r>
            <a:r>
              <a:rPr sz="1000" spc="20" dirty="0">
                <a:latin typeface="Tahoma"/>
                <a:cs typeface="Tahoma"/>
              </a:rPr>
              <a:t> </a:t>
            </a:r>
            <a:r>
              <a:rPr sz="1000" spc="-35" dirty="0">
                <a:latin typeface="Tahoma"/>
                <a:cs typeface="Tahoma"/>
              </a:rPr>
              <a:t>Cartesian</a:t>
            </a:r>
            <a:r>
              <a:rPr sz="1000" spc="25" dirty="0">
                <a:latin typeface="Tahoma"/>
                <a:cs typeface="Tahoma"/>
              </a:rPr>
              <a:t> </a:t>
            </a:r>
            <a:r>
              <a:rPr sz="1000" spc="-30" dirty="0">
                <a:latin typeface="Tahoma"/>
                <a:cs typeface="Tahoma"/>
              </a:rPr>
              <a:t>product</a:t>
            </a:r>
            <a:r>
              <a:rPr sz="1000" spc="15" dirty="0">
                <a:latin typeface="Tahoma"/>
                <a:cs typeface="Tahoma"/>
              </a:rPr>
              <a:t> </a:t>
            </a:r>
            <a:r>
              <a:rPr sz="1000" i="1" spc="-15" dirty="0">
                <a:latin typeface="Arial"/>
                <a:cs typeface="Arial"/>
              </a:rPr>
              <a:t>A</a:t>
            </a:r>
            <a:r>
              <a:rPr sz="1050" spc="-22" baseline="-11904" dirty="0">
                <a:latin typeface="Microsoft Sans Serif"/>
                <a:cs typeface="Microsoft Sans Serif"/>
              </a:rPr>
              <a:t>1</a:t>
            </a:r>
            <a:r>
              <a:rPr sz="1050" spc="135" baseline="-11904" dirty="0">
                <a:latin typeface="Microsoft Sans Serif"/>
                <a:cs typeface="Microsoft Sans Serif"/>
              </a:rPr>
              <a:t> </a:t>
            </a:r>
            <a:r>
              <a:rPr sz="1000" spc="-25" dirty="0">
                <a:latin typeface="Lucida Sans Unicode"/>
                <a:cs typeface="Lucida Sans Unicode"/>
              </a:rPr>
              <a:t>×</a:t>
            </a:r>
            <a:r>
              <a:rPr sz="1000" spc="-90"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25" dirty="0">
                <a:latin typeface="Verdana"/>
                <a:cs typeface="Verdana"/>
              </a:rPr>
              <a:t> </a:t>
            </a:r>
            <a:r>
              <a:rPr sz="1000" spc="-25" dirty="0">
                <a:latin typeface="Lucida Sans Unicode"/>
                <a:cs typeface="Lucida Sans Unicode"/>
              </a:rPr>
              <a:t>×</a:t>
            </a:r>
            <a:r>
              <a:rPr sz="1000" spc="-95" dirty="0">
                <a:latin typeface="Lucida Sans Unicode"/>
                <a:cs typeface="Lucida Sans Unicode"/>
              </a:rPr>
              <a:t> </a:t>
            </a:r>
            <a:r>
              <a:rPr sz="1000" i="1" spc="-10" dirty="0">
                <a:latin typeface="Arial"/>
                <a:cs typeface="Arial"/>
              </a:rPr>
              <a:t>A</a:t>
            </a:r>
            <a:r>
              <a:rPr sz="1050" i="1" spc="-15" baseline="-11904" dirty="0">
                <a:latin typeface="Arial"/>
                <a:cs typeface="Arial"/>
              </a:rPr>
              <a:t>n</a:t>
            </a:r>
            <a:r>
              <a:rPr sz="1050" i="1" spc="37" baseline="-11904" dirty="0">
                <a:latin typeface="Arial"/>
                <a:cs typeface="Arial"/>
              </a:rPr>
              <a:t> </a:t>
            </a:r>
            <a:r>
              <a:rPr sz="1000" spc="-10" dirty="0">
                <a:latin typeface="Tahoma"/>
                <a:cs typeface="Tahoma"/>
              </a:rPr>
              <a:t>will</a:t>
            </a:r>
            <a:endParaRPr sz="1000">
              <a:latin typeface="Tahoma"/>
              <a:cs typeface="Tahoma"/>
            </a:endParaRPr>
          </a:p>
        </p:txBody>
      </p:sp>
      <p:sp>
        <p:nvSpPr>
          <p:cNvPr id="36" name="object 36"/>
          <p:cNvSpPr txBox="1"/>
          <p:nvPr/>
        </p:nvSpPr>
        <p:spPr>
          <a:xfrm>
            <a:off x="723963" y="1242204"/>
            <a:ext cx="1593215" cy="177800"/>
          </a:xfrm>
          <a:prstGeom prst="rect">
            <a:avLst/>
          </a:prstGeom>
        </p:spPr>
        <p:txBody>
          <a:bodyPr vert="horz" wrap="square" lIns="0" tIns="12065" rIns="0" bIns="0" rtlCol="0">
            <a:spAutoFit/>
          </a:bodyPr>
          <a:lstStyle/>
          <a:p>
            <a:pPr marL="25400">
              <a:lnSpc>
                <a:spcPct val="100000"/>
              </a:lnSpc>
              <a:spcBef>
                <a:spcPts val="95"/>
              </a:spcBef>
            </a:pPr>
            <a:r>
              <a:rPr sz="1000" spc="-25" dirty="0">
                <a:latin typeface="Tahoma"/>
                <a:cs typeface="Tahoma"/>
              </a:rPr>
              <a:t>contain</a:t>
            </a:r>
            <a:r>
              <a:rPr sz="1000" spc="20" dirty="0">
                <a:latin typeface="Tahoma"/>
                <a:cs typeface="Tahoma"/>
              </a:rPr>
              <a:t> </a:t>
            </a:r>
            <a:r>
              <a:rPr sz="1000" i="1" spc="-15" dirty="0">
                <a:latin typeface="Arial"/>
                <a:cs typeface="Arial"/>
              </a:rPr>
              <a:t>k</a:t>
            </a:r>
            <a:r>
              <a:rPr sz="1050" spc="-30" baseline="-11904" dirty="0">
                <a:latin typeface="Microsoft Sans Serif"/>
                <a:cs typeface="Microsoft Sans Serif"/>
              </a:rPr>
              <a:t>1</a:t>
            </a:r>
            <a:r>
              <a:rPr sz="1050" spc="127" baseline="-11904" dirty="0">
                <a:latin typeface="Microsoft Sans Serif"/>
                <a:cs typeface="Microsoft Sans Serif"/>
              </a:rPr>
              <a:t> </a:t>
            </a:r>
            <a:r>
              <a:rPr sz="1000" spc="-360" dirty="0">
                <a:latin typeface="Lucida Sans Unicode"/>
                <a:cs typeface="Lucida Sans Unicode"/>
              </a:rPr>
              <a:t>·</a:t>
            </a:r>
            <a:r>
              <a:rPr sz="1000" spc="-95"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30" dirty="0">
                <a:latin typeface="Verdana"/>
                <a:cs typeface="Verdana"/>
              </a:rPr>
              <a:t> </a:t>
            </a:r>
            <a:r>
              <a:rPr sz="1000" spc="-360" dirty="0">
                <a:latin typeface="Lucida Sans Unicode"/>
                <a:cs typeface="Lucida Sans Unicode"/>
              </a:rPr>
              <a:t>·</a:t>
            </a:r>
            <a:r>
              <a:rPr sz="1000" spc="-95" dirty="0">
                <a:latin typeface="Lucida Sans Unicode"/>
                <a:cs typeface="Lucida Sans Unicode"/>
              </a:rPr>
              <a:t> </a:t>
            </a:r>
            <a:r>
              <a:rPr sz="1000" i="1" spc="-15" dirty="0">
                <a:latin typeface="Arial"/>
                <a:cs typeface="Arial"/>
              </a:rPr>
              <a:t>k</a:t>
            </a:r>
            <a:r>
              <a:rPr sz="1050" i="1" spc="-15" baseline="-11904" dirty="0">
                <a:latin typeface="Arial"/>
                <a:cs typeface="Arial"/>
              </a:rPr>
              <a:t>n</a:t>
            </a:r>
            <a:r>
              <a:rPr sz="1050" i="1" baseline="-11904" dirty="0">
                <a:latin typeface="Arial"/>
                <a:cs typeface="Arial"/>
              </a:rPr>
              <a:t> </a:t>
            </a:r>
            <a:r>
              <a:rPr sz="1050" i="1" spc="7" baseline="-11904" dirty="0">
                <a:latin typeface="Arial"/>
                <a:cs typeface="Arial"/>
              </a:rPr>
              <a:t> </a:t>
            </a:r>
            <a:r>
              <a:rPr sz="1000" spc="-45" dirty="0">
                <a:latin typeface="Tahoma"/>
                <a:cs typeface="Tahoma"/>
              </a:rPr>
              <a:t>elements.</a:t>
            </a:r>
            <a:endParaRPr sz="1000">
              <a:latin typeface="Tahoma"/>
              <a:cs typeface="Tahoma"/>
            </a:endParaRPr>
          </a:p>
        </p:txBody>
      </p:sp>
      <p:sp>
        <p:nvSpPr>
          <p:cNvPr id="37" name="object 37"/>
          <p:cNvSpPr/>
          <p:nvPr/>
        </p:nvSpPr>
        <p:spPr>
          <a:xfrm>
            <a:off x="698562" y="1596757"/>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1626697"/>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39" name="object 39"/>
          <p:cNvGrpSpPr/>
          <p:nvPr/>
        </p:nvGrpSpPr>
        <p:grpSpPr>
          <a:xfrm>
            <a:off x="698562" y="1653688"/>
            <a:ext cx="3831590" cy="992505"/>
            <a:chOff x="698562" y="1653688"/>
            <a:chExt cx="3831590" cy="992505"/>
          </a:xfrm>
        </p:grpSpPr>
        <p:pic>
          <p:nvPicPr>
            <p:cNvPr id="40" name="object 40"/>
            <p:cNvPicPr/>
            <p:nvPr/>
          </p:nvPicPr>
          <p:blipFill>
            <a:blip r:embed="rId7" cstate="print"/>
            <a:stretch>
              <a:fillRect/>
            </a:stretch>
          </p:blipFill>
          <p:spPr>
            <a:xfrm>
              <a:off x="698563" y="1754352"/>
              <a:ext cx="3780284" cy="50609"/>
            </a:xfrm>
            <a:prstGeom prst="rect">
              <a:avLst/>
            </a:prstGeom>
          </p:spPr>
        </p:pic>
        <p:sp>
          <p:nvSpPr>
            <p:cNvPr id="41" name="object 41"/>
            <p:cNvSpPr/>
            <p:nvPr/>
          </p:nvSpPr>
          <p:spPr>
            <a:xfrm>
              <a:off x="749363" y="1653688"/>
              <a:ext cx="3780790" cy="992505"/>
            </a:xfrm>
            <a:custGeom>
              <a:avLst/>
              <a:gdLst/>
              <a:ahLst/>
              <a:cxnLst/>
              <a:rect l="l" t="t" r="r" b="b"/>
              <a:pathLst>
                <a:path w="3780790" h="992505">
                  <a:moveTo>
                    <a:pt x="3780285" y="0"/>
                  </a:moveTo>
                  <a:lnTo>
                    <a:pt x="0" y="0"/>
                  </a:lnTo>
                  <a:lnTo>
                    <a:pt x="0" y="992306"/>
                  </a:lnTo>
                  <a:lnTo>
                    <a:pt x="3780285" y="992306"/>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1798634"/>
              <a:ext cx="3780790" cy="796925"/>
            </a:xfrm>
            <a:custGeom>
              <a:avLst/>
              <a:gdLst/>
              <a:ahLst/>
              <a:cxnLst/>
              <a:rect l="l" t="t" r="r" b="b"/>
              <a:pathLst>
                <a:path w="3780790" h="796925">
                  <a:moveTo>
                    <a:pt x="3780285" y="0"/>
                  </a:moveTo>
                  <a:lnTo>
                    <a:pt x="0" y="0"/>
                  </a:lnTo>
                  <a:lnTo>
                    <a:pt x="0" y="745759"/>
                  </a:lnTo>
                  <a:lnTo>
                    <a:pt x="4008" y="765484"/>
                  </a:lnTo>
                  <a:lnTo>
                    <a:pt x="14922" y="781637"/>
                  </a:lnTo>
                  <a:lnTo>
                    <a:pt x="31075" y="792551"/>
                  </a:lnTo>
                  <a:lnTo>
                    <a:pt x="50800" y="796560"/>
                  </a:lnTo>
                  <a:lnTo>
                    <a:pt x="3729484" y="796560"/>
                  </a:lnTo>
                  <a:lnTo>
                    <a:pt x="3749209" y="792551"/>
                  </a:lnTo>
                  <a:lnTo>
                    <a:pt x="3765362" y="781637"/>
                  </a:lnTo>
                  <a:lnTo>
                    <a:pt x="3776276" y="765484"/>
                  </a:lnTo>
                  <a:lnTo>
                    <a:pt x="3780285" y="745759"/>
                  </a:lnTo>
                  <a:lnTo>
                    <a:pt x="3780285" y="0"/>
                  </a:lnTo>
                  <a:close/>
                </a:path>
              </a:pathLst>
            </a:custGeom>
            <a:solidFill>
              <a:srgbClr val="E9E9F2"/>
            </a:solidFill>
          </p:spPr>
          <p:txBody>
            <a:bodyPr wrap="square" lIns="0" tIns="0" rIns="0" bIns="0" rtlCol="0"/>
            <a:lstStyle/>
            <a:p>
              <a:endParaRPr/>
            </a:p>
          </p:txBody>
        </p:sp>
      </p:grpSp>
      <p:sp>
        <p:nvSpPr>
          <p:cNvPr id="43" name="object 43"/>
          <p:cNvSpPr txBox="1"/>
          <p:nvPr/>
        </p:nvSpPr>
        <p:spPr>
          <a:xfrm>
            <a:off x="698563" y="1772582"/>
            <a:ext cx="3793490" cy="784860"/>
          </a:xfrm>
          <a:prstGeom prst="rect">
            <a:avLst/>
          </a:prstGeom>
        </p:spPr>
        <p:txBody>
          <a:bodyPr vert="horz" wrap="square" lIns="0" tIns="12065" rIns="0" bIns="0" rtlCol="0">
            <a:spAutoFit/>
          </a:bodyPr>
          <a:lstStyle/>
          <a:p>
            <a:pPr marL="50800" marR="90805">
              <a:lnSpc>
                <a:spcPct val="100000"/>
              </a:lnSpc>
              <a:spcBef>
                <a:spcPts val="95"/>
              </a:spcBef>
            </a:pPr>
            <a:r>
              <a:rPr sz="1000" spc="-35" dirty="0">
                <a:latin typeface="Tahoma"/>
                <a:cs typeface="Tahoma"/>
              </a:rPr>
              <a:t>Induction</a:t>
            </a:r>
            <a:r>
              <a:rPr sz="1000" spc="20" dirty="0">
                <a:latin typeface="Tahoma"/>
                <a:cs typeface="Tahoma"/>
              </a:rPr>
              <a:t> </a:t>
            </a:r>
            <a:r>
              <a:rPr sz="1000" spc="-45" dirty="0">
                <a:latin typeface="Tahoma"/>
                <a:cs typeface="Tahoma"/>
              </a:rPr>
              <a:t>on</a:t>
            </a:r>
            <a:r>
              <a:rPr sz="1000" spc="20" dirty="0">
                <a:latin typeface="Tahoma"/>
                <a:cs typeface="Tahoma"/>
              </a:rPr>
              <a:t> </a:t>
            </a:r>
            <a:r>
              <a:rPr sz="1000" i="1" spc="-30" dirty="0">
                <a:latin typeface="Arial"/>
                <a:cs typeface="Arial"/>
              </a:rPr>
              <a:t>n</a:t>
            </a:r>
            <a:r>
              <a:rPr sz="1000" spc="-30" dirty="0">
                <a:latin typeface="Tahoma"/>
                <a:cs typeface="Tahoma"/>
              </a:rPr>
              <a:t>.</a:t>
            </a:r>
            <a:r>
              <a:rPr sz="1000" spc="130" dirty="0">
                <a:latin typeface="Tahoma"/>
                <a:cs typeface="Tahoma"/>
              </a:rPr>
              <a:t> </a:t>
            </a:r>
            <a:r>
              <a:rPr sz="1000" spc="-20" dirty="0">
                <a:latin typeface="Tahoma"/>
                <a:cs typeface="Tahoma"/>
              </a:rPr>
              <a:t>Basis</a:t>
            </a:r>
            <a:r>
              <a:rPr sz="1000" spc="25" dirty="0">
                <a:latin typeface="Tahoma"/>
                <a:cs typeface="Tahoma"/>
              </a:rPr>
              <a:t> </a:t>
            </a:r>
            <a:r>
              <a:rPr sz="1000" spc="-30" dirty="0">
                <a:latin typeface="Tahoma"/>
                <a:cs typeface="Tahoma"/>
              </a:rPr>
              <a:t>of</a:t>
            </a:r>
            <a:r>
              <a:rPr sz="1000" spc="15" dirty="0">
                <a:latin typeface="Tahoma"/>
                <a:cs typeface="Tahoma"/>
              </a:rPr>
              <a:t> </a:t>
            </a:r>
            <a:r>
              <a:rPr sz="1000" spc="-30" dirty="0">
                <a:latin typeface="Tahoma"/>
                <a:cs typeface="Tahoma"/>
              </a:rPr>
              <a:t>induction:</a:t>
            </a:r>
            <a:r>
              <a:rPr sz="1000" spc="135" dirty="0">
                <a:latin typeface="Tahoma"/>
                <a:cs typeface="Tahoma"/>
              </a:rPr>
              <a:t> </a:t>
            </a:r>
            <a:r>
              <a:rPr sz="1000" spc="-40" dirty="0">
                <a:latin typeface="Tahoma"/>
                <a:cs typeface="Tahoma"/>
              </a:rPr>
              <a:t>for</a:t>
            </a:r>
            <a:r>
              <a:rPr sz="1000" spc="20" dirty="0">
                <a:latin typeface="Tahoma"/>
                <a:cs typeface="Tahoma"/>
              </a:rPr>
              <a:t> </a:t>
            </a:r>
            <a:r>
              <a:rPr sz="1000" i="1" spc="-45" dirty="0">
                <a:latin typeface="Arial"/>
                <a:cs typeface="Arial"/>
              </a:rPr>
              <a:t>n</a:t>
            </a:r>
            <a:r>
              <a:rPr sz="1000" i="1" spc="15" dirty="0">
                <a:latin typeface="Arial"/>
                <a:cs typeface="Arial"/>
              </a:rPr>
              <a:t> </a:t>
            </a:r>
            <a:r>
              <a:rPr sz="1000" spc="45" dirty="0">
                <a:latin typeface="Tahoma"/>
                <a:cs typeface="Tahoma"/>
              </a:rPr>
              <a:t>=</a:t>
            </a:r>
            <a:r>
              <a:rPr sz="1000" spc="-30" dirty="0">
                <a:latin typeface="Tahoma"/>
                <a:cs typeface="Tahoma"/>
              </a:rPr>
              <a:t> </a:t>
            </a:r>
            <a:r>
              <a:rPr sz="1000" spc="-50" dirty="0">
                <a:latin typeface="Tahoma"/>
                <a:cs typeface="Tahoma"/>
              </a:rPr>
              <a:t>1</a:t>
            </a:r>
            <a:r>
              <a:rPr sz="1000" spc="15" dirty="0">
                <a:latin typeface="Tahoma"/>
                <a:cs typeface="Tahoma"/>
              </a:rPr>
              <a:t> it</a:t>
            </a:r>
            <a:r>
              <a:rPr sz="1000" spc="25" dirty="0">
                <a:latin typeface="Tahoma"/>
                <a:cs typeface="Tahoma"/>
              </a:rPr>
              <a:t> </a:t>
            </a:r>
            <a:r>
              <a:rPr sz="1000" spc="-30" dirty="0">
                <a:latin typeface="Tahoma"/>
                <a:cs typeface="Tahoma"/>
              </a:rPr>
              <a:t>is</a:t>
            </a:r>
            <a:r>
              <a:rPr sz="1000" spc="20" dirty="0">
                <a:latin typeface="Tahoma"/>
                <a:cs typeface="Tahoma"/>
              </a:rPr>
              <a:t> </a:t>
            </a:r>
            <a:r>
              <a:rPr sz="1000" spc="-15" dirty="0">
                <a:latin typeface="Tahoma"/>
                <a:cs typeface="Tahoma"/>
              </a:rPr>
              <a:t>trivial,</a:t>
            </a:r>
            <a:r>
              <a:rPr sz="1000" spc="20" dirty="0">
                <a:latin typeface="Tahoma"/>
                <a:cs typeface="Tahoma"/>
              </a:rPr>
              <a:t> </a:t>
            </a:r>
            <a:r>
              <a:rPr sz="1000" spc="-40" dirty="0">
                <a:latin typeface="Tahoma"/>
                <a:cs typeface="Tahoma"/>
              </a:rPr>
              <a:t>for</a:t>
            </a:r>
            <a:r>
              <a:rPr sz="1000" spc="20" dirty="0">
                <a:latin typeface="Tahoma"/>
                <a:cs typeface="Tahoma"/>
              </a:rPr>
              <a:t> </a:t>
            </a:r>
            <a:r>
              <a:rPr sz="1000" i="1" spc="-45" dirty="0">
                <a:latin typeface="Arial"/>
                <a:cs typeface="Arial"/>
              </a:rPr>
              <a:t>n</a:t>
            </a:r>
            <a:r>
              <a:rPr sz="1000" i="1" spc="20" dirty="0">
                <a:latin typeface="Arial"/>
                <a:cs typeface="Arial"/>
              </a:rPr>
              <a:t> </a:t>
            </a:r>
            <a:r>
              <a:rPr sz="1000" spc="45" dirty="0">
                <a:latin typeface="Tahoma"/>
                <a:cs typeface="Tahoma"/>
              </a:rPr>
              <a:t>=</a:t>
            </a:r>
            <a:r>
              <a:rPr sz="1000" spc="-35" dirty="0">
                <a:latin typeface="Tahoma"/>
                <a:cs typeface="Tahoma"/>
              </a:rPr>
              <a:t> </a:t>
            </a:r>
            <a:r>
              <a:rPr sz="1000" spc="-50" dirty="0">
                <a:latin typeface="Tahoma"/>
                <a:cs typeface="Tahoma"/>
              </a:rPr>
              <a:t>2</a:t>
            </a:r>
            <a:r>
              <a:rPr sz="1000" spc="20" dirty="0">
                <a:latin typeface="Tahoma"/>
                <a:cs typeface="Tahoma"/>
              </a:rPr>
              <a:t> </a:t>
            </a:r>
            <a:r>
              <a:rPr sz="1000" spc="15" dirty="0">
                <a:latin typeface="Tahoma"/>
                <a:cs typeface="Tahoma"/>
              </a:rPr>
              <a:t>it </a:t>
            </a:r>
            <a:r>
              <a:rPr sz="1000" spc="-300" dirty="0">
                <a:latin typeface="Tahoma"/>
                <a:cs typeface="Tahoma"/>
              </a:rPr>
              <a:t> </a:t>
            </a:r>
            <a:r>
              <a:rPr sz="1000" spc="-30" dirty="0">
                <a:latin typeface="Tahoma"/>
                <a:cs typeface="Tahoma"/>
              </a:rPr>
              <a:t>is</a:t>
            </a:r>
            <a:r>
              <a:rPr sz="1000" spc="20" dirty="0">
                <a:latin typeface="Tahoma"/>
                <a:cs typeface="Tahoma"/>
              </a:rPr>
              <a:t> </a:t>
            </a:r>
            <a:r>
              <a:rPr sz="1000" spc="-45" dirty="0">
                <a:latin typeface="Tahoma"/>
                <a:cs typeface="Tahoma"/>
              </a:rPr>
              <a:t>lemma</a:t>
            </a:r>
            <a:r>
              <a:rPr sz="1000" spc="20" dirty="0">
                <a:latin typeface="Tahoma"/>
                <a:cs typeface="Tahoma"/>
              </a:rPr>
              <a:t> </a:t>
            </a:r>
            <a:r>
              <a:rPr sz="1000" spc="-40" dirty="0">
                <a:latin typeface="Tahoma"/>
                <a:cs typeface="Tahoma"/>
              </a:rPr>
              <a:t>2.</a:t>
            </a:r>
            <a:r>
              <a:rPr sz="1000" spc="130" dirty="0">
                <a:latin typeface="Tahoma"/>
                <a:cs typeface="Tahoma"/>
              </a:rPr>
              <a:t> </a:t>
            </a:r>
            <a:r>
              <a:rPr sz="1000" spc="-30" dirty="0">
                <a:latin typeface="Tahoma"/>
                <a:cs typeface="Tahoma"/>
              </a:rPr>
              <a:t>Step</a:t>
            </a:r>
            <a:r>
              <a:rPr sz="1000" spc="20" dirty="0">
                <a:latin typeface="Tahoma"/>
                <a:cs typeface="Tahoma"/>
              </a:rPr>
              <a:t> </a:t>
            </a:r>
            <a:r>
              <a:rPr sz="1000" spc="-30" dirty="0">
                <a:latin typeface="Tahoma"/>
                <a:cs typeface="Tahoma"/>
              </a:rPr>
              <a:t>of</a:t>
            </a:r>
            <a:r>
              <a:rPr sz="1000" spc="20" dirty="0">
                <a:latin typeface="Tahoma"/>
                <a:cs typeface="Tahoma"/>
              </a:rPr>
              <a:t> </a:t>
            </a:r>
            <a:r>
              <a:rPr sz="1000" spc="-25" dirty="0">
                <a:latin typeface="Tahoma"/>
                <a:cs typeface="Tahoma"/>
              </a:rPr>
              <a:t>induction.</a:t>
            </a:r>
            <a:r>
              <a:rPr sz="1000" spc="130" dirty="0">
                <a:latin typeface="Tahoma"/>
                <a:cs typeface="Tahoma"/>
              </a:rPr>
              <a:t> </a:t>
            </a:r>
            <a:r>
              <a:rPr sz="1000" spc="15" dirty="0">
                <a:latin typeface="Tahoma"/>
                <a:cs typeface="Tahoma"/>
              </a:rPr>
              <a:t>By</a:t>
            </a:r>
            <a:r>
              <a:rPr sz="1000" spc="25" dirty="0">
                <a:latin typeface="Tahoma"/>
                <a:cs typeface="Tahoma"/>
              </a:rPr>
              <a:t> </a:t>
            </a:r>
            <a:r>
              <a:rPr sz="1000" spc="-25" dirty="0">
                <a:latin typeface="Tahoma"/>
                <a:cs typeface="Tahoma"/>
              </a:rPr>
              <a:t>induction</a:t>
            </a:r>
            <a:r>
              <a:rPr sz="1000" spc="20" dirty="0">
                <a:latin typeface="Tahoma"/>
                <a:cs typeface="Tahoma"/>
              </a:rPr>
              <a:t> </a:t>
            </a:r>
            <a:r>
              <a:rPr sz="1000" spc="-40" dirty="0">
                <a:latin typeface="Tahoma"/>
                <a:cs typeface="Tahoma"/>
              </a:rPr>
              <a:t>hypothesis,</a:t>
            </a:r>
            <a:endParaRPr sz="1000">
              <a:latin typeface="Tahoma"/>
              <a:cs typeface="Tahoma"/>
            </a:endParaRPr>
          </a:p>
          <a:p>
            <a:pPr marL="50800">
              <a:lnSpc>
                <a:spcPts val="1190"/>
              </a:lnSpc>
            </a:pPr>
            <a:r>
              <a:rPr sz="1000" i="1" spc="-5" dirty="0">
                <a:latin typeface="Arial"/>
                <a:cs typeface="Arial"/>
              </a:rPr>
              <a:t>A</a:t>
            </a:r>
            <a:r>
              <a:rPr sz="1050" spc="-30" baseline="-11904" dirty="0">
                <a:latin typeface="Microsoft Sans Serif"/>
                <a:cs typeface="Microsoft Sans Serif"/>
              </a:rPr>
              <a:t>1</a:t>
            </a:r>
            <a:r>
              <a:rPr sz="1050" spc="127" baseline="-11904" dirty="0">
                <a:latin typeface="Microsoft Sans Serif"/>
                <a:cs typeface="Microsoft Sans Serif"/>
              </a:rPr>
              <a:t> </a:t>
            </a:r>
            <a:r>
              <a:rPr sz="1000" spc="-25" dirty="0">
                <a:latin typeface="Lucida Sans Unicode"/>
                <a:cs typeface="Lucida Sans Unicode"/>
              </a:rPr>
              <a:t>×</a:t>
            </a:r>
            <a:r>
              <a:rPr sz="1000" spc="-95"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30" dirty="0">
                <a:latin typeface="Verdana"/>
                <a:cs typeface="Verdana"/>
              </a:rPr>
              <a:t> </a:t>
            </a:r>
            <a:r>
              <a:rPr sz="1000" spc="-25" dirty="0">
                <a:latin typeface="Lucida Sans Unicode"/>
                <a:cs typeface="Lucida Sans Unicode"/>
              </a:rPr>
              <a:t>×</a:t>
            </a:r>
            <a:r>
              <a:rPr sz="1000" spc="-95" dirty="0">
                <a:latin typeface="Lucida Sans Unicode"/>
                <a:cs typeface="Lucida Sans Unicode"/>
              </a:rPr>
              <a:t> </a:t>
            </a:r>
            <a:r>
              <a:rPr sz="1000" i="1" spc="-5" dirty="0">
                <a:latin typeface="Arial"/>
                <a:cs typeface="Arial"/>
              </a:rPr>
              <a:t>A</a:t>
            </a:r>
            <a:r>
              <a:rPr sz="1050" i="1" baseline="-11904" dirty="0">
                <a:latin typeface="Arial"/>
                <a:cs typeface="Arial"/>
              </a:rPr>
              <a:t>n</a:t>
            </a:r>
            <a:r>
              <a:rPr sz="1050" i="1" spc="315" baseline="-11904" dirty="0">
                <a:latin typeface="Arial"/>
                <a:cs typeface="Arial"/>
              </a:rPr>
              <a:t>−</a:t>
            </a:r>
            <a:r>
              <a:rPr sz="1050" spc="-30" baseline="-11904" dirty="0">
                <a:latin typeface="Microsoft Sans Serif"/>
                <a:cs typeface="Microsoft Sans Serif"/>
              </a:rPr>
              <a:t>1</a:t>
            </a:r>
            <a:r>
              <a:rPr sz="1050" baseline="-11904" dirty="0">
                <a:latin typeface="Microsoft Sans Serif"/>
                <a:cs typeface="Microsoft Sans Serif"/>
              </a:rPr>
              <a:t> </a:t>
            </a:r>
            <a:r>
              <a:rPr sz="1050" spc="15" baseline="-11904" dirty="0">
                <a:latin typeface="Microsoft Sans Serif"/>
                <a:cs typeface="Microsoft Sans Serif"/>
              </a:rPr>
              <a:t> </a:t>
            </a:r>
            <a:r>
              <a:rPr sz="1000" spc="-55" dirty="0">
                <a:latin typeface="Tahoma"/>
                <a:cs typeface="Tahoma"/>
              </a:rPr>
              <a:t>has</a:t>
            </a:r>
            <a:r>
              <a:rPr sz="1000" spc="15" dirty="0">
                <a:latin typeface="Tahoma"/>
                <a:cs typeface="Tahoma"/>
              </a:rPr>
              <a:t> </a:t>
            </a:r>
            <a:r>
              <a:rPr sz="1000" i="1" spc="-15" dirty="0">
                <a:latin typeface="Arial"/>
                <a:cs typeface="Arial"/>
              </a:rPr>
              <a:t>k</a:t>
            </a:r>
            <a:r>
              <a:rPr sz="1050" spc="-30" baseline="-11904" dirty="0">
                <a:latin typeface="Microsoft Sans Serif"/>
                <a:cs typeface="Microsoft Sans Serif"/>
              </a:rPr>
              <a:t>1</a:t>
            </a:r>
            <a:r>
              <a:rPr sz="1050" spc="127" baseline="-11904" dirty="0">
                <a:latin typeface="Microsoft Sans Serif"/>
                <a:cs typeface="Microsoft Sans Serif"/>
              </a:rPr>
              <a:t> </a:t>
            </a:r>
            <a:r>
              <a:rPr sz="1000" spc="-360" dirty="0">
                <a:latin typeface="Lucida Sans Unicode"/>
                <a:cs typeface="Lucida Sans Unicode"/>
              </a:rPr>
              <a:t>·</a:t>
            </a:r>
            <a:r>
              <a:rPr sz="1000" spc="-95"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30" dirty="0">
                <a:latin typeface="Verdana"/>
                <a:cs typeface="Verdana"/>
              </a:rPr>
              <a:t> </a:t>
            </a:r>
            <a:r>
              <a:rPr sz="1000" spc="-360" dirty="0">
                <a:latin typeface="Lucida Sans Unicode"/>
                <a:cs typeface="Lucida Sans Unicode"/>
              </a:rPr>
              <a:t>·</a:t>
            </a:r>
            <a:r>
              <a:rPr sz="1000" spc="-95" dirty="0">
                <a:latin typeface="Lucida Sans Unicode"/>
                <a:cs typeface="Lucida Sans Unicode"/>
              </a:rPr>
              <a:t> </a:t>
            </a:r>
            <a:r>
              <a:rPr sz="1000" i="1" spc="-15" dirty="0">
                <a:latin typeface="Arial"/>
                <a:cs typeface="Arial"/>
              </a:rPr>
              <a:t>k</a:t>
            </a:r>
            <a:r>
              <a:rPr sz="1050" i="1" baseline="-11904" dirty="0">
                <a:latin typeface="Arial"/>
                <a:cs typeface="Arial"/>
              </a:rPr>
              <a:t>n</a:t>
            </a:r>
            <a:r>
              <a:rPr sz="1050" i="1" spc="315" baseline="-11904" dirty="0">
                <a:latin typeface="Arial"/>
                <a:cs typeface="Arial"/>
              </a:rPr>
              <a:t>−</a:t>
            </a:r>
            <a:r>
              <a:rPr sz="1050" spc="-30" baseline="-11904" dirty="0">
                <a:latin typeface="Microsoft Sans Serif"/>
                <a:cs typeface="Microsoft Sans Serif"/>
              </a:rPr>
              <a:t>1</a:t>
            </a:r>
            <a:r>
              <a:rPr sz="1050" baseline="-11904" dirty="0">
                <a:latin typeface="Microsoft Sans Serif"/>
                <a:cs typeface="Microsoft Sans Serif"/>
              </a:rPr>
              <a:t> </a:t>
            </a:r>
            <a:r>
              <a:rPr sz="1050" spc="15" baseline="-11904" dirty="0">
                <a:latin typeface="Microsoft Sans Serif"/>
                <a:cs typeface="Microsoft Sans Serif"/>
              </a:rPr>
              <a:t> </a:t>
            </a:r>
            <a:r>
              <a:rPr sz="1000" spc="-45" dirty="0">
                <a:latin typeface="Tahoma"/>
                <a:cs typeface="Tahoma"/>
              </a:rPr>
              <a:t>elements.</a:t>
            </a:r>
            <a:r>
              <a:rPr sz="1000" spc="130" dirty="0">
                <a:latin typeface="Tahoma"/>
                <a:cs typeface="Tahoma"/>
              </a:rPr>
              <a:t> </a:t>
            </a:r>
            <a:r>
              <a:rPr sz="1000" spc="15" dirty="0">
                <a:latin typeface="Tahoma"/>
                <a:cs typeface="Tahoma"/>
              </a:rPr>
              <a:t>By</a:t>
            </a:r>
            <a:r>
              <a:rPr sz="1000" spc="20" dirty="0">
                <a:latin typeface="Tahoma"/>
                <a:cs typeface="Tahoma"/>
              </a:rPr>
              <a:t> </a:t>
            </a:r>
            <a:r>
              <a:rPr sz="1000" spc="-45" dirty="0">
                <a:latin typeface="Tahoma"/>
                <a:cs typeface="Tahoma"/>
              </a:rPr>
              <a:t>lemma</a:t>
            </a:r>
            <a:r>
              <a:rPr sz="1000" spc="20" dirty="0">
                <a:latin typeface="Tahoma"/>
                <a:cs typeface="Tahoma"/>
              </a:rPr>
              <a:t> </a:t>
            </a:r>
            <a:r>
              <a:rPr sz="1000" spc="-40" dirty="0">
                <a:latin typeface="Tahoma"/>
                <a:cs typeface="Tahoma"/>
              </a:rPr>
              <a:t>1,</a:t>
            </a:r>
            <a:endParaRPr sz="1000">
              <a:latin typeface="Tahoma"/>
              <a:cs typeface="Tahoma"/>
            </a:endParaRPr>
          </a:p>
          <a:p>
            <a:pPr marL="50165" marR="55880">
              <a:lnSpc>
                <a:spcPts val="1200"/>
              </a:lnSpc>
              <a:spcBef>
                <a:spcPts val="40"/>
              </a:spcBef>
            </a:pPr>
            <a:r>
              <a:rPr sz="1000" i="1" spc="-5" dirty="0">
                <a:latin typeface="Arial"/>
                <a:cs typeface="Arial"/>
              </a:rPr>
              <a:t>X</a:t>
            </a:r>
            <a:r>
              <a:rPr sz="1000" i="1" spc="130" dirty="0">
                <a:latin typeface="Arial"/>
                <a:cs typeface="Arial"/>
              </a:rPr>
              <a:t> </a:t>
            </a:r>
            <a:r>
              <a:rPr sz="1000" spc="45" dirty="0">
                <a:latin typeface="Tahoma"/>
                <a:cs typeface="Tahoma"/>
              </a:rPr>
              <a:t>=</a:t>
            </a:r>
            <a:r>
              <a:rPr sz="1000" spc="-35" dirty="0">
                <a:latin typeface="Tahoma"/>
                <a:cs typeface="Tahoma"/>
              </a:rPr>
              <a:t> </a:t>
            </a:r>
            <a:r>
              <a:rPr sz="1000" i="1" spc="-15" dirty="0">
                <a:latin typeface="Arial"/>
                <a:cs typeface="Arial"/>
              </a:rPr>
              <a:t>A</a:t>
            </a:r>
            <a:r>
              <a:rPr sz="1050" spc="-22" baseline="-11904" dirty="0">
                <a:latin typeface="Microsoft Sans Serif"/>
                <a:cs typeface="Microsoft Sans Serif"/>
              </a:rPr>
              <a:t>1</a:t>
            </a:r>
            <a:r>
              <a:rPr sz="1050" spc="89" baseline="-11904" dirty="0">
                <a:latin typeface="Microsoft Sans Serif"/>
                <a:cs typeface="Microsoft Sans Serif"/>
              </a:rPr>
              <a:t> </a:t>
            </a:r>
            <a:r>
              <a:rPr sz="1000" spc="-25" dirty="0">
                <a:latin typeface="Lucida Sans Unicode"/>
                <a:cs typeface="Lucida Sans Unicode"/>
              </a:rPr>
              <a:t>×</a:t>
            </a:r>
            <a:r>
              <a:rPr sz="1000" spc="-114"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55" dirty="0">
                <a:latin typeface="Verdana"/>
                <a:cs typeface="Verdana"/>
              </a:rPr>
              <a:t> </a:t>
            </a:r>
            <a:r>
              <a:rPr sz="1000" spc="-25" dirty="0">
                <a:latin typeface="Lucida Sans Unicode"/>
                <a:cs typeface="Lucida Sans Unicode"/>
              </a:rPr>
              <a:t>×</a:t>
            </a:r>
            <a:r>
              <a:rPr sz="1000" spc="-120" dirty="0">
                <a:latin typeface="Lucida Sans Unicode"/>
                <a:cs typeface="Lucida Sans Unicode"/>
              </a:rPr>
              <a:t> </a:t>
            </a:r>
            <a:r>
              <a:rPr sz="1000" i="1" spc="-10" dirty="0">
                <a:latin typeface="Arial"/>
                <a:cs typeface="Arial"/>
              </a:rPr>
              <a:t>A</a:t>
            </a:r>
            <a:r>
              <a:rPr sz="1050" i="1" spc="-15" baseline="-11904" dirty="0">
                <a:latin typeface="Arial"/>
                <a:cs typeface="Arial"/>
              </a:rPr>
              <a:t>n</a:t>
            </a:r>
            <a:r>
              <a:rPr sz="1050" i="1" spc="209" baseline="-11904" dirty="0">
                <a:latin typeface="Arial"/>
                <a:cs typeface="Arial"/>
              </a:rPr>
              <a:t> </a:t>
            </a:r>
            <a:r>
              <a:rPr sz="1000" spc="45" dirty="0">
                <a:latin typeface="Tahoma"/>
                <a:cs typeface="Tahoma"/>
              </a:rPr>
              <a:t>=</a:t>
            </a:r>
            <a:r>
              <a:rPr sz="1000" spc="-30" dirty="0">
                <a:latin typeface="Tahoma"/>
                <a:cs typeface="Tahoma"/>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50" spc="89" baseline="-11904" dirty="0">
                <a:latin typeface="Microsoft Sans Serif"/>
                <a:cs typeface="Microsoft Sans Serif"/>
              </a:rPr>
              <a:t> </a:t>
            </a:r>
            <a:r>
              <a:rPr sz="1000" spc="-25" dirty="0">
                <a:latin typeface="Lucida Sans Unicode"/>
                <a:cs typeface="Lucida Sans Unicode"/>
              </a:rPr>
              <a:t>×</a:t>
            </a:r>
            <a:r>
              <a:rPr sz="1000" spc="-120"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50" dirty="0">
                <a:latin typeface="Verdana"/>
                <a:cs typeface="Verdana"/>
              </a:rPr>
              <a:t> </a:t>
            </a:r>
            <a:r>
              <a:rPr sz="1000" spc="-25" dirty="0">
                <a:latin typeface="Lucida Sans Unicode"/>
                <a:cs typeface="Lucida Sans Unicode"/>
              </a:rPr>
              <a:t>×</a:t>
            </a:r>
            <a:r>
              <a:rPr sz="1000" spc="-120" dirty="0">
                <a:latin typeface="Lucida Sans Unicode"/>
                <a:cs typeface="Lucida Sans Unicode"/>
              </a:rPr>
              <a:t> </a:t>
            </a:r>
            <a:r>
              <a:rPr sz="1000" i="1" spc="45" dirty="0">
                <a:latin typeface="Arial"/>
                <a:cs typeface="Arial"/>
              </a:rPr>
              <a:t>A</a:t>
            </a:r>
            <a:r>
              <a:rPr sz="1050" i="1" spc="67" baseline="-11904" dirty="0">
                <a:latin typeface="Arial"/>
                <a:cs typeface="Arial"/>
              </a:rPr>
              <a:t>n−</a:t>
            </a:r>
            <a:r>
              <a:rPr sz="1050" spc="67" baseline="-11904" dirty="0">
                <a:latin typeface="Microsoft Sans Serif"/>
                <a:cs typeface="Microsoft Sans Serif"/>
              </a:rPr>
              <a:t>1</a:t>
            </a:r>
            <a:r>
              <a:rPr sz="1000" spc="45" dirty="0">
                <a:latin typeface="Tahoma"/>
                <a:cs typeface="Tahoma"/>
              </a:rPr>
              <a:t>)</a:t>
            </a:r>
            <a:r>
              <a:rPr sz="1000" spc="-114" dirty="0">
                <a:latin typeface="Tahoma"/>
                <a:cs typeface="Tahoma"/>
              </a:rPr>
              <a:t> </a:t>
            </a:r>
            <a:r>
              <a:rPr sz="1000" spc="-25" dirty="0">
                <a:latin typeface="Lucida Sans Unicode"/>
                <a:cs typeface="Lucida Sans Unicode"/>
              </a:rPr>
              <a:t>×</a:t>
            </a:r>
            <a:r>
              <a:rPr sz="1000" spc="-120" dirty="0">
                <a:latin typeface="Lucida Sans Unicode"/>
                <a:cs typeface="Lucida Sans Unicode"/>
              </a:rPr>
              <a:t> </a:t>
            </a:r>
            <a:r>
              <a:rPr sz="1000" i="1" spc="-10" dirty="0">
                <a:latin typeface="Arial"/>
                <a:cs typeface="Arial"/>
              </a:rPr>
              <a:t>A</a:t>
            </a:r>
            <a:r>
              <a:rPr sz="1050" i="1" spc="-15" baseline="-11904" dirty="0">
                <a:latin typeface="Arial"/>
                <a:cs typeface="Arial"/>
              </a:rPr>
              <a:t>n</a:t>
            </a:r>
            <a:r>
              <a:rPr sz="1050" i="1" spc="-202" baseline="-11904" dirty="0">
                <a:latin typeface="Arial"/>
                <a:cs typeface="Arial"/>
              </a:rPr>
              <a:t> </a:t>
            </a:r>
            <a:r>
              <a:rPr sz="1000" spc="-30" dirty="0">
                <a:latin typeface="Tahoma"/>
                <a:cs typeface="Tahoma"/>
              </a:rPr>
              <a:t>,</a:t>
            </a:r>
            <a:r>
              <a:rPr sz="1000" spc="15" dirty="0">
                <a:latin typeface="Tahoma"/>
                <a:cs typeface="Tahoma"/>
              </a:rPr>
              <a:t> </a:t>
            </a:r>
            <a:r>
              <a:rPr sz="1000" spc="-45" dirty="0">
                <a:latin typeface="Tahoma"/>
                <a:cs typeface="Tahoma"/>
              </a:rPr>
              <a:t>and</a:t>
            </a:r>
            <a:r>
              <a:rPr sz="1000" spc="5" dirty="0">
                <a:latin typeface="Tahoma"/>
                <a:cs typeface="Tahoma"/>
              </a:rPr>
              <a:t> </a:t>
            </a:r>
            <a:r>
              <a:rPr sz="1000" spc="-55" dirty="0">
                <a:latin typeface="Tahoma"/>
                <a:cs typeface="Tahoma"/>
              </a:rPr>
              <a:t>by</a:t>
            </a:r>
            <a:r>
              <a:rPr sz="1000" spc="5" dirty="0">
                <a:latin typeface="Tahoma"/>
                <a:cs typeface="Tahoma"/>
              </a:rPr>
              <a:t> </a:t>
            </a:r>
            <a:r>
              <a:rPr sz="1000" spc="-45" dirty="0">
                <a:latin typeface="Tahoma"/>
                <a:cs typeface="Tahoma"/>
              </a:rPr>
              <a:t>lemma</a:t>
            </a:r>
            <a:r>
              <a:rPr sz="1000" spc="5" dirty="0">
                <a:latin typeface="Tahoma"/>
                <a:cs typeface="Tahoma"/>
              </a:rPr>
              <a:t> </a:t>
            </a:r>
            <a:r>
              <a:rPr sz="1000" spc="-50" dirty="0">
                <a:latin typeface="Tahoma"/>
                <a:cs typeface="Tahoma"/>
              </a:rPr>
              <a:t>2</a:t>
            </a:r>
            <a:r>
              <a:rPr sz="1000" spc="10" dirty="0">
                <a:latin typeface="Tahoma"/>
                <a:cs typeface="Tahoma"/>
              </a:rPr>
              <a:t> </a:t>
            </a:r>
            <a:r>
              <a:rPr sz="1000" i="1" spc="-5" dirty="0">
                <a:latin typeface="Arial"/>
                <a:cs typeface="Arial"/>
              </a:rPr>
              <a:t>X</a:t>
            </a:r>
            <a:r>
              <a:rPr sz="1000" i="1" spc="175" dirty="0">
                <a:latin typeface="Arial"/>
                <a:cs typeface="Arial"/>
              </a:rPr>
              <a:t> </a:t>
            </a:r>
            <a:r>
              <a:rPr sz="1000" spc="-55" dirty="0">
                <a:latin typeface="Tahoma"/>
                <a:cs typeface="Tahoma"/>
              </a:rPr>
              <a:t>has </a:t>
            </a:r>
            <a:r>
              <a:rPr sz="1000" spc="-300" dirty="0">
                <a:latin typeface="Tahoma"/>
                <a:cs typeface="Tahoma"/>
              </a:rPr>
              <a:t> </a:t>
            </a:r>
            <a:r>
              <a:rPr sz="1000" dirty="0">
                <a:latin typeface="Tahoma"/>
                <a:cs typeface="Tahoma"/>
              </a:rPr>
              <a:t>(</a:t>
            </a:r>
            <a:r>
              <a:rPr sz="1000" i="1" spc="-15" dirty="0">
                <a:latin typeface="Arial"/>
                <a:cs typeface="Arial"/>
              </a:rPr>
              <a:t>k</a:t>
            </a:r>
            <a:r>
              <a:rPr sz="1050" spc="-30" baseline="-11904" dirty="0">
                <a:latin typeface="Microsoft Sans Serif"/>
                <a:cs typeface="Microsoft Sans Serif"/>
              </a:rPr>
              <a:t>1</a:t>
            </a:r>
            <a:r>
              <a:rPr sz="1050" spc="127" baseline="-11904" dirty="0">
                <a:latin typeface="Microsoft Sans Serif"/>
                <a:cs typeface="Microsoft Sans Serif"/>
              </a:rPr>
              <a:t> </a:t>
            </a:r>
            <a:r>
              <a:rPr sz="1000" spc="-360" dirty="0">
                <a:latin typeface="Lucida Sans Unicode"/>
                <a:cs typeface="Lucida Sans Unicode"/>
              </a:rPr>
              <a:t>·</a:t>
            </a:r>
            <a:r>
              <a:rPr sz="1000" spc="-95" dirty="0">
                <a:latin typeface="Lucida Sans Unicode"/>
                <a:cs typeface="Lucida Sans Unicode"/>
              </a:rPr>
              <a:t> </a:t>
            </a:r>
            <a:r>
              <a:rPr sz="1000" i="1" spc="-90" dirty="0">
                <a:latin typeface="Verdana"/>
                <a:cs typeface="Verdana"/>
              </a:rPr>
              <a:t>.</a:t>
            </a:r>
            <a:r>
              <a:rPr sz="1000" i="1" spc="-185" dirty="0">
                <a:latin typeface="Verdana"/>
                <a:cs typeface="Verdana"/>
              </a:rPr>
              <a:t> </a:t>
            </a:r>
            <a:r>
              <a:rPr sz="1000" i="1" spc="-90" dirty="0">
                <a:latin typeface="Verdana"/>
                <a:cs typeface="Verdana"/>
              </a:rPr>
              <a:t>.</a:t>
            </a:r>
            <a:r>
              <a:rPr sz="1000" i="1" spc="-190" dirty="0">
                <a:latin typeface="Verdana"/>
                <a:cs typeface="Verdana"/>
              </a:rPr>
              <a:t> </a:t>
            </a:r>
            <a:r>
              <a:rPr sz="1000" i="1" spc="-90" dirty="0">
                <a:latin typeface="Verdana"/>
                <a:cs typeface="Verdana"/>
              </a:rPr>
              <a:t>.</a:t>
            </a:r>
            <a:r>
              <a:rPr sz="1000" i="1" spc="-185" dirty="0">
                <a:latin typeface="Verdana"/>
                <a:cs typeface="Verdana"/>
              </a:rPr>
              <a:t> </a:t>
            </a:r>
            <a:r>
              <a:rPr sz="1000" i="1" spc="-15" dirty="0">
                <a:latin typeface="Arial"/>
                <a:cs typeface="Arial"/>
              </a:rPr>
              <a:t>k</a:t>
            </a:r>
            <a:r>
              <a:rPr sz="1050" i="1" baseline="-11904" dirty="0">
                <a:latin typeface="Arial"/>
                <a:cs typeface="Arial"/>
              </a:rPr>
              <a:t>n</a:t>
            </a:r>
            <a:r>
              <a:rPr sz="1050" i="1" spc="315" baseline="-11904" dirty="0">
                <a:latin typeface="Arial"/>
                <a:cs typeface="Arial"/>
              </a:rPr>
              <a:t>−</a:t>
            </a:r>
            <a:r>
              <a:rPr sz="1050" spc="44" baseline="-11904" dirty="0">
                <a:latin typeface="Microsoft Sans Serif"/>
                <a:cs typeface="Microsoft Sans Serif"/>
              </a:rPr>
              <a:t>1</a:t>
            </a:r>
            <a:r>
              <a:rPr sz="1000" dirty="0">
                <a:latin typeface="Tahoma"/>
                <a:cs typeface="Tahoma"/>
              </a:rPr>
              <a:t>)</a:t>
            </a:r>
            <a:r>
              <a:rPr sz="1000" spc="-95" dirty="0">
                <a:latin typeface="Tahoma"/>
                <a:cs typeface="Tahoma"/>
              </a:rPr>
              <a:t> </a:t>
            </a:r>
            <a:r>
              <a:rPr sz="1000" spc="-360" dirty="0">
                <a:latin typeface="Lucida Sans Unicode"/>
                <a:cs typeface="Lucida Sans Unicode"/>
              </a:rPr>
              <a:t>·</a:t>
            </a:r>
            <a:r>
              <a:rPr sz="1000" spc="-95" dirty="0">
                <a:latin typeface="Lucida Sans Unicode"/>
                <a:cs typeface="Lucida Sans Unicode"/>
              </a:rPr>
              <a:t> </a:t>
            </a:r>
            <a:r>
              <a:rPr sz="1000" i="1" spc="-15" dirty="0">
                <a:latin typeface="Arial"/>
                <a:cs typeface="Arial"/>
              </a:rPr>
              <a:t>k</a:t>
            </a:r>
            <a:r>
              <a:rPr sz="1050" i="1" spc="-15" baseline="-11904" dirty="0">
                <a:latin typeface="Arial"/>
                <a:cs typeface="Arial"/>
              </a:rPr>
              <a:t>n</a:t>
            </a:r>
            <a:r>
              <a:rPr sz="1050" i="1" baseline="-11904" dirty="0">
                <a:latin typeface="Arial"/>
                <a:cs typeface="Arial"/>
              </a:rPr>
              <a:t> </a:t>
            </a:r>
            <a:r>
              <a:rPr sz="1050" i="1" spc="7" baseline="-11904" dirty="0">
                <a:latin typeface="Arial"/>
                <a:cs typeface="Arial"/>
              </a:rPr>
              <a:t> </a:t>
            </a:r>
            <a:r>
              <a:rPr sz="1000" spc="-45" dirty="0">
                <a:latin typeface="Tahoma"/>
                <a:cs typeface="Tahoma"/>
              </a:rPr>
              <a:t>elements.</a:t>
            </a:r>
            <a:endParaRPr sz="1000">
              <a:latin typeface="Tahoma"/>
              <a:cs typeface="Tahoma"/>
            </a:endParaRPr>
          </a:p>
        </p:txBody>
      </p:sp>
      <p:grpSp>
        <p:nvGrpSpPr>
          <p:cNvPr id="44" name="object 44"/>
          <p:cNvGrpSpPr/>
          <p:nvPr/>
        </p:nvGrpSpPr>
        <p:grpSpPr>
          <a:xfrm>
            <a:off x="4335779" y="2433726"/>
            <a:ext cx="86360" cy="85725"/>
            <a:chOff x="4335779" y="2433726"/>
            <a:chExt cx="86360" cy="85725"/>
          </a:xfrm>
        </p:grpSpPr>
        <p:sp>
          <p:nvSpPr>
            <p:cNvPr id="45" name="object 45"/>
            <p:cNvSpPr/>
            <p:nvPr/>
          </p:nvSpPr>
          <p:spPr>
            <a:xfrm>
              <a:off x="4338307" y="2433726"/>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6" name="object 46"/>
            <p:cNvSpPr/>
            <p:nvPr/>
          </p:nvSpPr>
          <p:spPr>
            <a:xfrm>
              <a:off x="4340834" y="2436253"/>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7" name="object 47"/>
            <p:cNvSpPr/>
            <p:nvPr/>
          </p:nvSpPr>
          <p:spPr>
            <a:xfrm>
              <a:off x="4340834" y="2516606"/>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8" name="object 48"/>
            <p:cNvSpPr/>
            <p:nvPr/>
          </p:nvSpPr>
          <p:spPr>
            <a:xfrm>
              <a:off x="4419282" y="2433726"/>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
        <p:nvSpPr>
          <p:cNvPr id="49" name="object 49"/>
          <p:cNvSpPr txBox="1"/>
          <p:nvPr/>
        </p:nvSpPr>
        <p:spPr>
          <a:xfrm>
            <a:off x="749363" y="2777050"/>
            <a:ext cx="466725" cy="128270"/>
          </a:xfrm>
          <a:prstGeom prst="rect">
            <a:avLst/>
          </a:prstGeom>
        </p:spPr>
        <p:txBody>
          <a:bodyPr vert="horz" wrap="square" lIns="0" tIns="0" rIns="0" bIns="0" rtlCol="0">
            <a:spAutoFit/>
          </a:bodyPr>
          <a:lstStyle/>
          <a:p>
            <a:pPr>
              <a:lnSpc>
                <a:spcPts val="955"/>
              </a:lnSpc>
            </a:pPr>
            <a:r>
              <a:rPr sz="1000" spc="-10" dirty="0">
                <a:solidFill>
                  <a:srgbClr val="FFFFFF"/>
                </a:solidFill>
                <a:latin typeface="Tahoma"/>
                <a:cs typeface="Tahoma"/>
              </a:rPr>
              <a:t>C</a:t>
            </a:r>
            <a:r>
              <a:rPr sz="1000" spc="-35" dirty="0">
                <a:solidFill>
                  <a:srgbClr val="FFFFFF"/>
                </a:solidFill>
                <a:latin typeface="Tahoma"/>
                <a:cs typeface="Tahoma"/>
              </a:rPr>
              <a:t>o</a:t>
            </a:r>
            <a:r>
              <a:rPr sz="1000" spc="-20" dirty="0">
                <a:solidFill>
                  <a:srgbClr val="FFFFFF"/>
                </a:solidFill>
                <a:latin typeface="Tahoma"/>
                <a:cs typeface="Tahoma"/>
              </a:rPr>
              <a:t>roll</a:t>
            </a:r>
            <a:r>
              <a:rPr sz="1000" spc="-60" dirty="0">
                <a:solidFill>
                  <a:srgbClr val="FFFFFF"/>
                </a:solidFill>
                <a:latin typeface="Tahoma"/>
                <a:cs typeface="Tahoma"/>
              </a:rPr>
              <a:t>a</a:t>
            </a:r>
            <a:r>
              <a:rPr sz="1000" spc="-30" dirty="0">
                <a:solidFill>
                  <a:srgbClr val="FFFFFF"/>
                </a:solidFill>
                <a:latin typeface="Tahoma"/>
                <a:cs typeface="Tahoma"/>
              </a:rPr>
              <a:t>ry</a:t>
            </a:r>
            <a:endParaRPr sz="1000">
              <a:latin typeface="Tahoma"/>
              <a:cs typeface="Tahoma"/>
            </a:endParaRPr>
          </a:p>
        </p:txBody>
      </p:sp>
      <p:grpSp>
        <p:nvGrpSpPr>
          <p:cNvPr id="50" name="object 50"/>
          <p:cNvGrpSpPr/>
          <p:nvPr/>
        </p:nvGrpSpPr>
        <p:grpSpPr>
          <a:xfrm>
            <a:off x="698562" y="2804053"/>
            <a:ext cx="3831590" cy="511175"/>
            <a:chOff x="698562" y="2804053"/>
            <a:chExt cx="3831590" cy="511175"/>
          </a:xfrm>
        </p:grpSpPr>
        <p:pic>
          <p:nvPicPr>
            <p:cNvPr id="51" name="object 51"/>
            <p:cNvPicPr/>
            <p:nvPr/>
          </p:nvPicPr>
          <p:blipFill>
            <a:blip r:embed="rId8" cstate="print"/>
            <a:stretch>
              <a:fillRect/>
            </a:stretch>
          </p:blipFill>
          <p:spPr>
            <a:xfrm>
              <a:off x="698563" y="2910331"/>
              <a:ext cx="3780284" cy="50609"/>
            </a:xfrm>
            <a:prstGeom prst="rect">
              <a:avLst/>
            </a:prstGeom>
          </p:spPr>
        </p:pic>
        <p:sp>
          <p:nvSpPr>
            <p:cNvPr id="52" name="object 52"/>
            <p:cNvSpPr/>
            <p:nvPr/>
          </p:nvSpPr>
          <p:spPr>
            <a:xfrm>
              <a:off x="749363" y="2804053"/>
              <a:ext cx="3780790" cy="511175"/>
            </a:xfrm>
            <a:custGeom>
              <a:avLst/>
              <a:gdLst/>
              <a:ahLst/>
              <a:cxnLst/>
              <a:rect l="l" t="t" r="r" b="b"/>
              <a:pathLst>
                <a:path w="3780790" h="511175">
                  <a:moveTo>
                    <a:pt x="3780285" y="0"/>
                  </a:moveTo>
                  <a:lnTo>
                    <a:pt x="0" y="0"/>
                  </a:lnTo>
                  <a:lnTo>
                    <a:pt x="0" y="510800"/>
                  </a:lnTo>
                  <a:lnTo>
                    <a:pt x="3780285" y="510800"/>
                  </a:lnTo>
                  <a:lnTo>
                    <a:pt x="3780285" y="0"/>
                  </a:lnTo>
                  <a:close/>
                </a:path>
              </a:pathLst>
            </a:custGeom>
            <a:solidFill>
              <a:srgbClr val="000000"/>
            </a:solidFill>
          </p:spPr>
          <p:txBody>
            <a:bodyPr wrap="square" lIns="0" tIns="0" rIns="0" bIns="0" rtlCol="0"/>
            <a:lstStyle/>
            <a:p>
              <a:endParaRPr/>
            </a:p>
          </p:txBody>
        </p:sp>
        <p:sp>
          <p:nvSpPr>
            <p:cNvPr id="53" name="object 53"/>
            <p:cNvSpPr/>
            <p:nvPr/>
          </p:nvSpPr>
          <p:spPr>
            <a:xfrm>
              <a:off x="698562" y="2954621"/>
              <a:ext cx="3780790" cy="309880"/>
            </a:xfrm>
            <a:custGeom>
              <a:avLst/>
              <a:gdLst/>
              <a:ahLst/>
              <a:cxnLst/>
              <a:rect l="l" t="t" r="r" b="b"/>
              <a:pathLst>
                <a:path w="3780790" h="309879">
                  <a:moveTo>
                    <a:pt x="3780285" y="0"/>
                  </a:moveTo>
                  <a:lnTo>
                    <a:pt x="0" y="0"/>
                  </a:lnTo>
                  <a:lnTo>
                    <a:pt x="0" y="258630"/>
                  </a:lnTo>
                  <a:lnTo>
                    <a:pt x="4008" y="278355"/>
                  </a:lnTo>
                  <a:lnTo>
                    <a:pt x="14922" y="294508"/>
                  </a:lnTo>
                  <a:lnTo>
                    <a:pt x="31075" y="305422"/>
                  </a:lnTo>
                  <a:lnTo>
                    <a:pt x="50800" y="309430"/>
                  </a:lnTo>
                  <a:lnTo>
                    <a:pt x="3729484" y="309430"/>
                  </a:lnTo>
                  <a:lnTo>
                    <a:pt x="3749209" y="305422"/>
                  </a:lnTo>
                  <a:lnTo>
                    <a:pt x="3765362" y="294508"/>
                  </a:lnTo>
                  <a:lnTo>
                    <a:pt x="3776276" y="278355"/>
                  </a:lnTo>
                  <a:lnTo>
                    <a:pt x="3780285" y="258630"/>
                  </a:lnTo>
                  <a:lnTo>
                    <a:pt x="3780285" y="0"/>
                  </a:lnTo>
                  <a:close/>
                </a:path>
              </a:pathLst>
            </a:custGeom>
            <a:solidFill>
              <a:srgbClr val="E9E9F2"/>
            </a:solidFill>
          </p:spPr>
          <p:txBody>
            <a:bodyPr wrap="square" lIns="0" tIns="0" rIns="0" bIns="0" rtlCol="0"/>
            <a:lstStyle/>
            <a:p>
              <a:endParaRPr/>
            </a:p>
          </p:txBody>
        </p:sp>
      </p:grpSp>
      <p:sp>
        <p:nvSpPr>
          <p:cNvPr id="54" name="object 54"/>
          <p:cNvSpPr txBox="1"/>
          <p:nvPr/>
        </p:nvSpPr>
        <p:spPr>
          <a:xfrm>
            <a:off x="698563" y="2804053"/>
            <a:ext cx="3831590" cy="511175"/>
          </a:xfrm>
          <a:prstGeom prst="rect">
            <a:avLst/>
          </a:prstGeom>
        </p:spPr>
        <p:txBody>
          <a:bodyPr vert="horz" wrap="square" lIns="0" tIns="5080" rIns="0" bIns="0" rtlCol="0">
            <a:spAutoFit/>
          </a:bodyPr>
          <a:lstStyle/>
          <a:p>
            <a:pPr>
              <a:lnSpc>
                <a:spcPct val="100000"/>
              </a:lnSpc>
              <a:spcBef>
                <a:spcPts val="40"/>
              </a:spcBef>
            </a:pPr>
            <a:endParaRPr sz="900">
              <a:latin typeface="Times New Roman"/>
              <a:cs typeface="Times New Roman"/>
            </a:endParaRPr>
          </a:p>
          <a:p>
            <a:pPr marL="50800">
              <a:lnSpc>
                <a:spcPts val="1200"/>
              </a:lnSpc>
            </a:pPr>
            <a:r>
              <a:rPr sz="1000" spc="-60" dirty="0">
                <a:latin typeface="Tahoma"/>
                <a:cs typeface="Tahoma"/>
              </a:rPr>
              <a:t>If</a:t>
            </a:r>
            <a:r>
              <a:rPr sz="1000" spc="20" dirty="0">
                <a:latin typeface="Tahoma"/>
                <a:cs typeface="Tahoma"/>
              </a:rPr>
              <a:t> </a:t>
            </a:r>
            <a:r>
              <a:rPr sz="1000" spc="-50" dirty="0">
                <a:latin typeface="Tahoma"/>
                <a:cs typeface="Tahoma"/>
              </a:rPr>
              <a:t>a</a:t>
            </a:r>
            <a:r>
              <a:rPr sz="1000" spc="20" dirty="0">
                <a:latin typeface="Tahoma"/>
                <a:cs typeface="Tahoma"/>
              </a:rPr>
              <a:t> </a:t>
            </a:r>
            <a:r>
              <a:rPr sz="1000" spc="-45" dirty="0">
                <a:latin typeface="Tahoma"/>
                <a:cs typeface="Tahoma"/>
              </a:rPr>
              <a:t>set</a:t>
            </a:r>
            <a:r>
              <a:rPr sz="1000" spc="15" dirty="0">
                <a:latin typeface="Tahoma"/>
                <a:cs typeface="Tahoma"/>
              </a:rPr>
              <a:t> </a:t>
            </a:r>
            <a:r>
              <a:rPr sz="1000" i="1" spc="-5" dirty="0">
                <a:latin typeface="Arial"/>
                <a:cs typeface="Arial"/>
              </a:rPr>
              <a:t>A</a:t>
            </a:r>
            <a:r>
              <a:rPr sz="1000" i="1" spc="55" dirty="0">
                <a:latin typeface="Arial"/>
                <a:cs typeface="Arial"/>
              </a:rPr>
              <a:t> </a:t>
            </a:r>
            <a:r>
              <a:rPr sz="1000" spc="-30" dirty="0">
                <a:latin typeface="Tahoma"/>
                <a:cs typeface="Tahoma"/>
              </a:rPr>
              <a:t>contains</a:t>
            </a:r>
            <a:r>
              <a:rPr sz="1000" spc="20" dirty="0">
                <a:latin typeface="Tahoma"/>
                <a:cs typeface="Tahoma"/>
              </a:rPr>
              <a:t> </a:t>
            </a:r>
            <a:r>
              <a:rPr sz="1000" i="1" spc="-15" dirty="0">
                <a:latin typeface="Arial"/>
                <a:cs typeface="Arial"/>
              </a:rPr>
              <a:t>k</a:t>
            </a:r>
            <a:r>
              <a:rPr sz="1000" i="1" spc="135" dirty="0">
                <a:latin typeface="Arial"/>
                <a:cs typeface="Arial"/>
              </a:rPr>
              <a:t> </a:t>
            </a:r>
            <a:r>
              <a:rPr sz="1000" spc="-45" dirty="0">
                <a:latin typeface="Tahoma"/>
                <a:cs typeface="Tahoma"/>
              </a:rPr>
              <a:t>elements,</a:t>
            </a:r>
            <a:r>
              <a:rPr sz="1000" spc="25" dirty="0">
                <a:latin typeface="Tahoma"/>
                <a:cs typeface="Tahoma"/>
              </a:rPr>
              <a:t> </a:t>
            </a:r>
            <a:r>
              <a:rPr sz="1000" i="1" spc="-45" dirty="0">
                <a:latin typeface="Arial"/>
                <a:cs typeface="Arial"/>
              </a:rPr>
              <a:t>n</a:t>
            </a:r>
            <a:r>
              <a:rPr sz="1000" i="1" spc="70" dirty="0">
                <a:latin typeface="Arial"/>
                <a:cs typeface="Arial"/>
              </a:rPr>
              <a:t> </a:t>
            </a:r>
            <a:r>
              <a:rPr sz="1000" spc="-30" dirty="0">
                <a:latin typeface="Tahoma"/>
                <a:cs typeface="Tahoma"/>
              </a:rPr>
              <a:t>is</a:t>
            </a:r>
            <a:r>
              <a:rPr sz="1000" spc="20" dirty="0">
                <a:latin typeface="Tahoma"/>
                <a:cs typeface="Tahoma"/>
              </a:rPr>
              <a:t> </a:t>
            </a:r>
            <a:r>
              <a:rPr sz="1000" spc="-50" dirty="0">
                <a:latin typeface="Tahoma"/>
                <a:cs typeface="Tahoma"/>
              </a:rPr>
              <a:t>a</a:t>
            </a:r>
            <a:r>
              <a:rPr sz="1000" spc="20" dirty="0">
                <a:latin typeface="Tahoma"/>
                <a:cs typeface="Tahoma"/>
              </a:rPr>
              <a:t> </a:t>
            </a:r>
            <a:r>
              <a:rPr sz="1000" spc="-25" dirty="0">
                <a:latin typeface="Tahoma"/>
                <a:cs typeface="Tahoma"/>
              </a:rPr>
              <a:t>natural</a:t>
            </a:r>
            <a:r>
              <a:rPr sz="1000" spc="20" dirty="0">
                <a:latin typeface="Tahoma"/>
                <a:cs typeface="Tahoma"/>
              </a:rPr>
              <a:t> </a:t>
            </a:r>
            <a:r>
              <a:rPr sz="1000" spc="-45" dirty="0">
                <a:latin typeface="Tahoma"/>
                <a:cs typeface="Tahoma"/>
              </a:rPr>
              <a:t>number,</a:t>
            </a:r>
            <a:r>
              <a:rPr sz="1000" spc="15" dirty="0">
                <a:latin typeface="Tahoma"/>
                <a:cs typeface="Tahoma"/>
              </a:rPr>
              <a:t> </a:t>
            </a:r>
            <a:r>
              <a:rPr sz="1000" spc="-40" dirty="0">
                <a:latin typeface="Tahoma"/>
                <a:cs typeface="Tahoma"/>
              </a:rPr>
              <a:t>then</a:t>
            </a:r>
            <a:r>
              <a:rPr sz="1000" spc="20" dirty="0">
                <a:latin typeface="Tahoma"/>
                <a:cs typeface="Tahoma"/>
              </a:rPr>
              <a:t> </a:t>
            </a:r>
            <a:r>
              <a:rPr sz="1000" i="1" spc="-10" dirty="0">
                <a:latin typeface="Arial"/>
                <a:cs typeface="Arial"/>
              </a:rPr>
              <a:t>A</a:t>
            </a:r>
            <a:r>
              <a:rPr sz="1050" i="1" spc="-15" baseline="27777" dirty="0">
                <a:latin typeface="Arial"/>
                <a:cs typeface="Arial"/>
              </a:rPr>
              <a:t>n</a:t>
            </a:r>
            <a:endParaRPr sz="1050" baseline="27777">
              <a:latin typeface="Arial"/>
              <a:cs typeface="Arial"/>
            </a:endParaRPr>
          </a:p>
          <a:p>
            <a:pPr marL="50800">
              <a:lnSpc>
                <a:spcPts val="1200"/>
              </a:lnSpc>
            </a:pPr>
            <a:r>
              <a:rPr sz="1000" spc="-30" dirty="0">
                <a:latin typeface="Tahoma"/>
                <a:cs typeface="Tahoma"/>
              </a:rPr>
              <a:t>contains</a:t>
            </a:r>
            <a:r>
              <a:rPr sz="1000" spc="-5" dirty="0">
                <a:latin typeface="Tahoma"/>
                <a:cs typeface="Tahoma"/>
              </a:rPr>
              <a:t> </a:t>
            </a:r>
            <a:r>
              <a:rPr sz="1000" i="1" spc="25" dirty="0">
                <a:latin typeface="Arial"/>
                <a:cs typeface="Arial"/>
              </a:rPr>
              <a:t>k</a:t>
            </a:r>
            <a:r>
              <a:rPr sz="1050" i="1" spc="37" baseline="27777" dirty="0">
                <a:latin typeface="Arial"/>
                <a:cs typeface="Arial"/>
              </a:rPr>
              <a:t>n</a:t>
            </a:r>
            <a:r>
              <a:rPr sz="1050" i="1" spc="254" baseline="27777" dirty="0">
                <a:latin typeface="Arial"/>
                <a:cs typeface="Arial"/>
              </a:rPr>
              <a:t> </a:t>
            </a:r>
            <a:r>
              <a:rPr sz="1000" spc="-45" dirty="0">
                <a:latin typeface="Tahoma"/>
                <a:cs typeface="Tahoma"/>
              </a:rPr>
              <a:t>elements.</a:t>
            </a:r>
            <a:endParaRPr sz="1000">
              <a:latin typeface="Tahoma"/>
              <a:cs typeface="Tahoma"/>
            </a:endParaRP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2306320" cy="244475"/>
          </a:xfrm>
          <a:prstGeom prst="rect">
            <a:avLst/>
          </a:prstGeom>
        </p:spPr>
        <p:txBody>
          <a:bodyPr vert="horz" wrap="square" lIns="0" tIns="17145" rIns="0" bIns="0" rtlCol="0">
            <a:spAutoFit/>
          </a:bodyPr>
          <a:lstStyle/>
          <a:p>
            <a:pPr marL="12700">
              <a:lnSpc>
                <a:spcPct val="100000"/>
              </a:lnSpc>
              <a:spcBef>
                <a:spcPts val="135"/>
              </a:spcBef>
            </a:pPr>
            <a:r>
              <a:rPr spc="-20" dirty="0"/>
              <a:t>Informal</a:t>
            </a:r>
            <a:r>
              <a:rPr spc="120" dirty="0"/>
              <a:t> </a:t>
            </a:r>
            <a:r>
              <a:rPr spc="-25" dirty="0"/>
              <a:t>notion</a:t>
            </a:r>
            <a:r>
              <a:rPr spc="125" dirty="0"/>
              <a:t> </a:t>
            </a:r>
            <a:r>
              <a:rPr spc="-30" dirty="0"/>
              <a:t>of</a:t>
            </a:r>
            <a:r>
              <a:rPr spc="125" dirty="0"/>
              <a:t> </a:t>
            </a:r>
            <a:r>
              <a:rPr spc="-40" dirty="0"/>
              <a:t>mapping</a:t>
            </a:r>
          </a:p>
        </p:txBody>
      </p:sp>
      <p:sp>
        <p:nvSpPr>
          <p:cNvPr id="29" name="object 29"/>
          <p:cNvSpPr txBox="1"/>
          <p:nvPr/>
        </p:nvSpPr>
        <p:spPr>
          <a:xfrm>
            <a:off x="736663" y="1300396"/>
            <a:ext cx="3655060" cy="1088390"/>
          </a:xfrm>
          <a:prstGeom prst="rect">
            <a:avLst/>
          </a:prstGeom>
        </p:spPr>
        <p:txBody>
          <a:bodyPr vert="horz" wrap="square" lIns="0" tIns="12065" rIns="0" bIns="0" rtlCol="0">
            <a:spAutoFit/>
          </a:bodyPr>
          <a:lstStyle/>
          <a:p>
            <a:pPr marL="12700" marR="5080">
              <a:lnSpc>
                <a:spcPct val="100000"/>
              </a:lnSpc>
              <a:spcBef>
                <a:spcPts val="95"/>
              </a:spcBef>
            </a:pPr>
            <a:r>
              <a:rPr sz="1000" spc="-35" dirty="0">
                <a:latin typeface="Tahoma"/>
                <a:cs typeface="Tahoma"/>
              </a:rPr>
              <a:t>One</a:t>
            </a:r>
            <a:r>
              <a:rPr sz="1000" spc="10" dirty="0">
                <a:latin typeface="Tahoma"/>
                <a:cs typeface="Tahoma"/>
              </a:rPr>
              <a:t> </a:t>
            </a:r>
            <a:r>
              <a:rPr sz="1000" spc="-30" dirty="0">
                <a:latin typeface="Tahoma"/>
                <a:cs typeface="Tahoma"/>
              </a:rPr>
              <a:t>of</a:t>
            </a:r>
            <a:r>
              <a:rPr sz="1000" spc="20" dirty="0">
                <a:latin typeface="Tahoma"/>
                <a:cs typeface="Tahoma"/>
              </a:rPr>
              <a:t> </a:t>
            </a:r>
            <a:r>
              <a:rPr sz="1000" spc="-35" dirty="0">
                <a:latin typeface="Tahoma"/>
                <a:cs typeface="Tahoma"/>
              </a:rPr>
              <a:t>the</a:t>
            </a:r>
            <a:r>
              <a:rPr sz="1000" spc="15" dirty="0">
                <a:latin typeface="Tahoma"/>
                <a:cs typeface="Tahoma"/>
              </a:rPr>
              <a:t> </a:t>
            </a:r>
            <a:r>
              <a:rPr sz="1000" spc="-35" dirty="0">
                <a:latin typeface="Tahoma"/>
                <a:cs typeface="Tahoma"/>
              </a:rPr>
              <a:t>most</a:t>
            </a:r>
            <a:r>
              <a:rPr sz="1000" spc="15" dirty="0">
                <a:latin typeface="Tahoma"/>
                <a:cs typeface="Tahoma"/>
              </a:rPr>
              <a:t> </a:t>
            </a:r>
            <a:r>
              <a:rPr sz="1000" spc="-45" dirty="0">
                <a:latin typeface="Tahoma"/>
                <a:cs typeface="Tahoma"/>
              </a:rPr>
              <a:t>common</a:t>
            </a:r>
            <a:r>
              <a:rPr sz="1000" spc="15" dirty="0">
                <a:latin typeface="Tahoma"/>
                <a:cs typeface="Tahoma"/>
              </a:rPr>
              <a:t> </a:t>
            </a:r>
            <a:r>
              <a:rPr sz="1000" spc="-30" dirty="0">
                <a:latin typeface="Tahoma"/>
                <a:cs typeface="Tahoma"/>
              </a:rPr>
              <a:t>notions</a:t>
            </a:r>
            <a:r>
              <a:rPr sz="1000" spc="20" dirty="0">
                <a:latin typeface="Tahoma"/>
                <a:cs typeface="Tahoma"/>
              </a:rPr>
              <a:t> </a:t>
            </a:r>
            <a:r>
              <a:rPr sz="1000" spc="-20" dirty="0">
                <a:latin typeface="Tahoma"/>
                <a:cs typeface="Tahoma"/>
              </a:rPr>
              <a:t>in</a:t>
            </a:r>
            <a:r>
              <a:rPr sz="1000" spc="20" dirty="0">
                <a:latin typeface="Tahoma"/>
                <a:cs typeface="Tahoma"/>
              </a:rPr>
              <a:t> </a:t>
            </a:r>
            <a:r>
              <a:rPr sz="1000" spc="-35" dirty="0">
                <a:latin typeface="Tahoma"/>
                <a:cs typeface="Tahoma"/>
              </a:rPr>
              <a:t>mathematics</a:t>
            </a:r>
            <a:r>
              <a:rPr sz="1000" spc="15" dirty="0">
                <a:latin typeface="Tahoma"/>
                <a:cs typeface="Tahoma"/>
              </a:rPr>
              <a:t> </a:t>
            </a:r>
            <a:r>
              <a:rPr sz="1000" spc="-30" dirty="0">
                <a:latin typeface="Tahoma"/>
                <a:cs typeface="Tahoma"/>
              </a:rPr>
              <a:t>is</a:t>
            </a:r>
            <a:r>
              <a:rPr sz="1000" spc="20" dirty="0">
                <a:latin typeface="Tahoma"/>
                <a:cs typeface="Tahoma"/>
              </a:rPr>
              <a:t> </a:t>
            </a:r>
            <a:r>
              <a:rPr sz="1000" spc="-50" dirty="0">
                <a:latin typeface="Tahoma"/>
                <a:cs typeface="Tahoma"/>
              </a:rPr>
              <a:t>a</a:t>
            </a:r>
            <a:r>
              <a:rPr sz="1000" spc="20" dirty="0">
                <a:latin typeface="Tahoma"/>
                <a:cs typeface="Tahoma"/>
              </a:rPr>
              <a:t> </a:t>
            </a:r>
            <a:r>
              <a:rPr sz="1000" spc="-25" dirty="0">
                <a:latin typeface="Tahoma"/>
                <a:cs typeface="Tahoma"/>
              </a:rPr>
              <a:t>notion</a:t>
            </a:r>
            <a:r>
              <a:rPr sz="1000" spc="15" dirty="0">
                <a:latin typeface="Tahoma"/>
                <a:cs typeface="Tahoma"/>
              </a:rPr>
              <a:t> </a:t>
            </a:r>
            <a:r>
              <a:rPr sz="1000" spc="-30" dirty="0">
                <a:latin typeface="Tahoma"/>
                <a:cs typeface="Tahoma"/>
              </a:rPr>
              <a:t>of </a:t>
            </a:r>
            <a:r>
              <a:rPr sz="1000" spc="-25" dirty="0">
                <a:latin typeface="Tahoma"/>
                <a:cs typeface="Tahoma"/>
              </a:rPr>
              <a:t> </a:t>
            </a:r>
            <a:r>
              <a:rPr sz="1000" spc="-40" dirty="0">
                <a:latin typeface="Tahoma"/>
                <a:cs typeface="Tahoma"/>
              </a:rPr>
              <a:t>mapping</a:t>
            </a:r>
            <a:r>
              <a:rPr sz="1000" spc="15" dirty="0">
                <a:latin typeface="Tahoma"/>
                <a:cs typeface="Tahoma"/>
              </a:rPr>
              <a:t> </a:t>
            </a:r>
            <a:r>
              <a:rPr sz="1000" spc="-20" dirty="0">
                <a:latin typeface="Tahoma"/>
                <a:cs typeface="Tahoma"/>
              </a:rPr>
              <a:t>(function),</a:t>
            </a:r>
            <a:r>
              <a:rPr sz="1000" spc="20" dirty="0">
                <a:latin typeface="Tahoma"/>
                <a:cs typeface="Tahoma"/>
              </a:rPr>
              <a:t> </a:t>
            </a:r>
            <a:r>
              <a:rPr sz="1000" spc="-35" dirty="0">
                <a:latin typeface="Tahoma"/>
                <a:cs typeface="Tahoma"/>
              </a:rPr>
              <a:t>which</a:t>
            </a:r>
            <a:r>
              <a:rPr sz="1000" spc="20" dirty="0">
                <a:latin typeface="Tahoma"/>
                <a:cs typeface="Tahoma"/>
              </a:rPr>
              <a:t> </a:t>
            </a:r>
            <a:r>
              <a:rPr sz="1000" spc="-50" dirty="0">
                <a:latin typeface="Tahoma"/>
                <a:cs typeface="Tahoma"/>
              </a:rPr>
              <a:t>maps</a:t>
            </a:r>
            <a:r>
              <a:rPr sz="1000" spc="15" dirty="0">
                <a:latin typeface="Tahoma"/>
                <a:cs typeface="Tahoma"/>
              </a:rPr>
              <a:t> </a:t>
            </a:r>
            <a:r>
              <a:rPr sz="1000" spc="-60" dirty="0">
                <a:latin typeface="Tahoma"/>
                <a:cs typeface="Tahoma"/>
              </a:rPr>
              <a:t>one</a:t>
            </a:r>
            <a:r>
              <a:rPr sz="1000" spc="20" dirty="0">
                <a:latin typeface="Tahoma"/>
                <a:cs typeface="Tahoma"/>
              </a:rPr>
              <a:t> </a:t>
            </a:r>
            <a:r>
              <a:rPr sz="1000" spc="-45" dirty="0">
                <a:latin typeface="Tahoma"/>
                <a:cs typeface="Tahoma"/>
              </a:rPr>
              <a:t>set</a:t>
            </a:r>
            <a:r>
              <a:rPr sz="1000" spc="20" dirty="0">
                <a:latin typeface="Tahoma"/>
                <a:cs typeface="Tahoma"/>
              </a:rPr>
              <a:t> </a:t>
            </a:r>
            <a:r>
              <a:rPr sz="1000" spc="-15" dirty="0">
                <a:latin typeface="Tahoma"/>
                <a:cs typeface="Tahoma"/>
              </a:rPr>
              <a:t>into</a:t>
            </a:r>
            <a:r>
              <a:rPr sz="1000" spc="20" dirty="0">
                <a:latin typeface="Tahoma"/>
                <a:cs typeface="Tahoma"/>
              </a:rPr>
              <a:t> </a:t>
            </a:r>
            <a:r>
              <a:rPr sz="1000" spc="-35" dirty="0">
                <a:latin typeface="Tahoma"/>
                <a:cs typeface="Tahoma"/>
              </a:rPr>
              <a:t>the</a:t>
            </a:r>
            <a:r>
              <a:rPr sz="1000" spc="20" dirty="0">
                <a:latin typeface="Tahoma"/>
                <a:cs typeface="Tahoma"/>
              </a:rPr>
              <a:t> </a:t>
            </a:r>
            <a:r>
              <a:rPr sz="1000" spc="-35" dirty="0">
                <a:latin typeface="Tahoma"/>
                <a:cs typeface="Tahoma"/>
              </a:rPr>
              <a:t>other.</a:t>
            </a:r>
            <a:r>
              <a:rPr sz="1000" spc="125" dirty="0">
                <a:latin typeface="Tahoma"/>
                <a:cs typeface="Tahoma"/>
              </a:rPr>
              <a:t> </a:t>
            </a:r>
            <a:r>
              <a:rPr sz="1000" spc="25" dirty="0">
                <a:latin typeface="Tahoma"/>
                <a:cs typeface="Tahoma"/>
              </a:rPr>
              <a:t>At</a:t>
            </a:r>
            <a:r>
              <a:rPr sz="1000" spc="20" dirty="0">
                <a:latin typeface="Tahoma"/>
                <a:cs typeface="Tahoma"/>
              </a:rPr>
              <a:t> </a:t>
            </a:r>
            <a:r>
              <a:rPr sz="1000" spc="-30" dirty="0">
                <a:latin typeface="Tahoma"/>
                <a:cs typeface="Tahoma"/>
              </a:rPr>
              <a:t>informal </a:t>
            </a:r>
            <a:r>
              <a:rPr sz="1000" spc="-25" dirty="0">
                <a:latin typeface="Tahoma"/>
                <a:cs typeface="Tahoma"/>
              </a:rPr>
              <a:t> </a:t>
            </a:r>
            <a:r>
              <a:rPr sz="1000" spc="-40" dirty="0">
                <a:latin typeface="Tahoma"/>
                <a:cs typeface="Tahoma"/>
              </a:rPr>
              <a:t>approach, </a:t>
            </a:r>
            <a:r>
              <a:rPr sz="1000" spc="-55" dirty="0">
                <a:latin typeface="Tahoma"/>
                <a:cs typeface="Tahoma"/>
              </a:rPr>
              <a:t>by </a:t>
            </a:r>
            <a:r>
              <a:rPr sz="1000" spc="-40" dirty="0">
                <a:latin typeface="Tahoma"/>
                <a:cs typeface="Tahoma"/>
              </a:rPr>
              <a:t>mapping </a:t>
            </a:r>
            <a:r>
              <a:rPr sz="1000" spc="-60" dirty="0">
                <a:latin typeface="Tahoma"/>
                <a:cs typeface="Tahoma"/>
              </a:rPr>
              <a:t>one</a:t>
            </a:r>
            <a:r>
              <a:rPr sz="1000" spc="-55" dirty="0">
                <a:latin typeface="Tahoma"/>
                <a:cs typeface="Tahoma"/>
              </a:rPr>
              <a:t> </a:t>
            </a:r>
            <a:r>
              <a:rPr sz="1000" spc="-35" dirty="0">
                <a:latin typeface="Tahoma"/>
                <a:cs typeface="Tahoma"/>
              </a:rPr>
              <a:t>usually </a:t>
            </a:r>
            <a:r>
              <a:rPr sz="1000" spc="-60" dirty="0">
                <a:latin typeface="Tahoma"/>
                <a:cs typeface="Tahoma"/>
              </a:rPr>
              <a:t>means</a:t>
            </a:r>
            <a:r>
              <a:rPr sz="1000" spc="-55" dirty="0">
                <a:latin typeface="Tahoma"/>
                <a:cs typeface="Tahoma"/>
              </a:rPr>
              <a:t> </a:t>
            </a:r>
            <a:r>
              <a:rPr sz="1000" spc="-65" dirty="0">
                <a:latin typeface="Tahoma"/>
                <a:cs typeface="Tahoma"/>
              </a:rPr>
              <a:t>some</a:t>
            </a:r>
            <a:r>
              <a:rPr sz="1000" spc="-60" dirty="0">
                <a:latin typeface="Tahoma"/>
                <a:cs typeface="Tahoma"/>
              </a:rPr>
              <a:t> </a:t>
            </a:r>
            <a:r>
              <a:rPr sz="1000" i="1" spc="-35" dirty="0">
                <a:latin typeface="Arial"/>
                <a:cs typeface="Arial"/>
              </a:rPr>
              <a:t>rule</a:t>
            </a:r>
            <a:r>
              <a:rPr sz="1000" spc="-35" dirty="0">
                <a:latin typeface="Tahoma"/>
                <a:cs typeface="Tahoma"/>
              </a:rPr>
              <a:t>, </a:t>
            </a:r>
            <a:r>
              <a:rPr sz="1000" i="1" spc="-45" dirty="0">
                <a:latin typeface="Arial"/>
                <a:cs typeface="Arial"/>
              </a:rPr>
              <a:t>law</a:t>
            </a:r>
            <a:r>
              <a:rPr sz="1000" spc="-45" dirty="0">
                <a:latin typeface="Tahoma"/>
                <a:cs typeface="Tahoma"/>
              </a:rPr>
              <a:t>, </a:t>
            </a:r>
            <a:r>
              <a:rPr sz="1000" spc="-35" dirty="0">
                <a:latin typeface="Tahoma"/>
                <a:cs typeface="Tahoma"/>
              </a:rPr>
              <a:t>which </a:t>
            </a:r>
            <a:r>
              <a:rPr sz="1000" spc="-30" dirty="0">
                <a:latin typeface="Tahoma"/>
                <a:cs typeface="Tahoma"/>
              </a:rPr>
              <a:t> </a:t>
            </a:r>
            <a:r>
              <a:rPr sz="1000" spc="-45" dirty="0">
                <a:latin typeface="Tahoma"/>
                <a:cs typeface="Tahoma"/>
              </a:rPr>
              <a:t>matches</a:t>
            </a:r>
            <a:r>
              <a:rPr sz="1000" spc="15" dirty="0">
                <a:latin typeface="Tahoma"/>
                <a:cs typeface="Tahoma"/>
              </a:rPr>
              <a:t> </a:t>
            </a:r>
            <a:r>
              <a:rPr sz="1000" spc="-35" dirty="0">
                <a:latin typeface="Tahoma"/>
                <a:cs typeface="Tahoma"/>
              </a:rPr>
              <a:t>the</a:t>
            </a:r>
            <a:r>
              <a:rPr sz="1000" spc="20" dirty="0">
                <a:latin typeface="Tahoma"/>
                <a:cs typeface="Tahoma"/>
              </a:rPr>
              <a:t> </a:t>
            </a:r>
            <a:r>
              <a:rPr sz="1000" spc="-45" dirty="0">
                <a:latin typeface="Tahoma"/>
                <a:cs typeface="Tahoma"/>
              </a:rPr>
              <a:t>argument</a:t>
            </a:r>
            <a:r>
              <a:rPr sz="1000" spc="25" dirty="0">
                <a:latin typeface="Tahoma"/>
                <a:cs typeface="Tahoma"/>
              </a:rPr>
              <a:t> </a:t>
            </a:r>
            <a:r>
              <a:rPr sz="1000" spc="-20" dirty="0">
                <a:latin typeface="Tahoma"/>
                <a:cs typeface="Tahoma"/>
              </a:rPr>
              <a:t>with</a:t>
            </a:r>
            <a:r>
              <a:rPr sz="1000" spc="20" dirty="0">
                <a:latin typeface="Tahoma"/>
                <a:cs typeface="Tahoma"/>
              </a:rPr>
              <a:t> </a:t>
            </a:r>
            <a:r>
              <a:rPr sz="1000" spc="-35" dirty="0">
                <a:latin typeface="Tahoma"/>
                <a:cs typeface="Tahoma"/>
              </a:rPr>
              <a:t>the</a:t>
            </a:r>
            <a:r>
              <a:rPr sz="1000" spc="20" dirty="0">
                <a:latin typeface="Tahoma"/>
                <a:cs typeface="Tahoma"/>
              </a:rPr>
              <a:t> </a:t>
            </a:r>
            <a:r>
              <a:rPr sz="1000" spc="-45" dirty="0">
                <a:latin typeface="Tahoma"/>
                <a:cs typeface="Tahoma"/>
              </a:rPr>
              <a:t>value</a:t>
            </a:r>
            <a:r>
              <a:rPr sz="1000" spc="15" dirty="0">
                <a:latin typeface="Tahoma"/>
                <a:cs typeface="Tahoma"/>
              </a:rPr>
              <a:t> </a:t>
            </a:r>
            <a:r>
              <a:rPr sz="1000" spc="-30" dirty="0">
                <a:latin typeface="Tahoma"/>
                <a:cs typeface="Tahoma"/>
              </a:rPr>
              <a:t>of</a:t>
            </a:r>
            <a:r>
              <a:rPr sz="1000" spc="20" dirty="0">
                <a:latin typeface="Tahoma"/>
                <a:cs typeface="Tahoma"/>
              </a:rPr>
              <a:t> </a:t>
            </a:r>
            <a:r>
              <a:rPr sz="1000" spc="-25" dirty="0">
                <a:latin typeface="Tahoma"/>
                <a:cs typeface="Tahoma"/>
              </a:rPr>
              <a:t>function.</a:t>
            </a:r>
            <a:r>
              <a:rPr sz="1000" spc="135" dirty="0">
                <a:latin typeface="Tahoma"/>
                <a:cs typeface="Tahoma"/>
              </a:rPr>
              <a:t> </a:t>
            </a:r>
            <a:r>
              <a:rPr sz="1000" spc="15" dirty="0">
                <a:latin typeface="Tahoma"/>
                <a:cs typeface="Tahoma"/>
              </a:rPr>
              <a:t>But</a:t>
            </a:r>
            <a:r>
              <a:rPr sz="1000" spc="20" dirty="0">
                <a:latin typeface="Tahoma"/>
                <a:cs typeface="Tahoma"/>
              </a:rPr>
              <a:t> </a:t>
            </a:r>
            <a:r>
              <a:rPr sz="1000" spc="-5" dirty="0">
                <a:latin typeface="Tahoma"/>
                <a:cs typeface="Tahoma"/>
              </a:rPr>
              <a:t>if</a:t>
            </a:r>
            <a:r>
              <a:rPr sz="1000" spc="25" dirty="0">
                <a:latin typeface="Tahoma"/>
                <a:cs typeface="Tahoma"/>
              </a:rPr>
              <a:t> </a:t>
            </a:r>
            <a:r>
              <a:rPr sz="1000" spc="-90" dirty="0">
                <a:latin typeface="Tahoma"/>
                <a:cs typeface="Tahoma"/>
              </a:rPr>
              <a:t>we</a:t>
            </a:r>
            <a:r>
              <a:rPr sz="1000" spc="15" dirty="0">
                <a:latin typeface="Tahoma"/>
                <a:cs typeface="Tahoma"/>
              </a:rPr>
              <a:t> </a:t>
            </a:r>
            <a:r>
              <a:rPr sz="1000" spc="-40" dirty="0">
                <a:latin typeface="Tahoma"/>
                <a:cs typeface="Tahoma"/>
              </a:rPr>
              <a:t>want</a:t>
            </a:r>
            <a:r>
              <a:rPr sz="1000" spc="25" dirty="0">
                <a:latin typeface="Tahoma"/>
                <a:cs typeface="Tahoma"/>
              </a:rPr>
              <a:t> </a:t>
            </a:r>
            <a:r>
              <a:rPr sz="1000" spc="-10" dirty="0">
                <a:latin typeface="Tahoma"/>
                <a:cs typeface="Tahoma"/>
              </a:rPr>
              <a:t>to </a:t>
            </a:r>
            <a:r>
              <a:rPr sz="1000" spc="-300" dirty="0">
                <a:latin typeface="Tahoma"/>
                <a:cs typeface="Tahoma"/>
              </a:rPr>
              <a:t> </a:t>
            </a:r>
            <a:r>
              <a:rPr sz="1000" spc="-65" dirty="0">
                <a:latin typeface="Tahoma"/>
                <a:cs typeface="Tahoma"/>
              </a:rPr>
              <a:t>express</a:t>
            </a:r>
            <a:r>
              <a:rPr sz="1000" spc="20" dirty="0">
                <a:latin typeface="Tahoma"/>
                <a:cs typeface="Tahoma"/>
              </a:rPr>
              <a:t> </a:t>
            </a:r>
            <a:r>
              <a:rPr sz="1000" spc="-10" dirty="0">
                <a:latin typeface="Tahoma"/>
                <a:cs typeface="Tahoma"/>
              </a:rPr>
              <a:t>all</a:t>
            </a:r>
            <a:r>
              <a:rPr sz="1000" spc="20" dirty="0">
                <a:latin typeface="Tahoma"/>
                <a:cs typeface="Tahoma"/>
              </a:rPr>
              <a:t> </a:t>
            </a:r>
            <a:r>
              <a:rPr sz="1000" spc="-35" dirty="0">
                <a:latin typeface="Tahoma"/>
                <a:cs typeface="Tahoma"/>
              </a:rPr>
              <a:t>basic</a:t>
            </a:r>
            <a:r>
              <a:rPr sz="1000" spc="20" dirty="0">
                <a:latin typeface="Tahoma"/>
                <a:cs typeface="Tahoma"/>
              </a:rPr>
              <a:t> </a:t>
            </a:r>
            <a:r>
              <a:rPr sz="1000" spc="-30" dirty="0">
                <a:latin typeface="Tahoma"/>
                <a:cs typeface="Tahoma"/>
              </a:rPr>
              <a:t>mathematical</a:t>
            </a:r>
            <a:r>
              <a:rPr sz="1000" spc="25" dirty="0">
                <a:latin typeface="Tahoma"/>
                <a:cs typeface="Tahoma"/>
              </a:rPr>
              <a:t> </a:t>
            </a:r>
            <a:r>
              <a:rPr sz="1000" spc="-30" dirty="0">
                <a:latin typeface="Tahoma"/>
                <a:cs typeface="Tahoma"/>
              </a:rPr>
              <a:t>notions</a:t>
            </a:r>
            <a:r>
              <a:rPr sz="1000" spc="20" dirty="0">
                <a:latin typeface="Tahoma"/>
                <a:cs typeface="Tahoma"/>
              </a:rPr>
              <a:t> </a:t>
            </a:r>
            <a:r>
              <a:rPr sz="1000" spc="-20" dirty="0">
                <a:latin typeface="Tahoma"/>
                <a:cs typeface="Tahoma"/>
              </a:rPr>
              <a:t>in</a:t>
            </a:r>
            <a:r>
              <a:rPr sz="1000" spc="25" dirty="0">
                <a:latin typeface="Tahoma"/>
                <a:cs typeface="Tahoma"/>
              </a:rPr>
              <a:t> </a:t>
            </a:r>
            <a:r>
              <a:rPr sz="1000" spc="-35" dirty="0">
                <a:latin typeface="Tahoma"/>
                <a:cs typeface="Tahoma"/>
              </a:rPr>
              <a:t>the</a:t>
            </a:r>
            <a:r>
              <a:rPr sz="1000" spc="25" dirty="0">
                <a:latin typeface="Tahoma"/>
                <a:cs typeface="Tahoma"/>
              </a:rPr>
              <a:t> </a:t>
            </a:r>
            <a:r>
              <a:rPr sz="1000" spc="-40" dirty="0">
                <a:latin typeface="Tahoma"/>
                <a:cs typeface="Tahoma"/>
              </a:rPr>
              <a:t>terms</a:t>
            </a:r>
            <a:r>
              <a:rPr sz="1000" spc="15" dirty="0">
                <a:latin typeface="Tahoma"/>
                <a:cs typeface="Tahoma"/>
              </a:rPr>
              <a:t> </a:t>
            </a:r>
            <a:r>
              <a:rPr sz="1000" spc="-30" dirty="0">
                <a:latin typeface="Tahoma"/>
                <a:cs typeface="Tahoma"/>
              </a:rPr>
              <a:t>of</a:t>
            </a:r>
            <a:r>
              <a:rPr sz="1000" spc="20" dirty="0">
                <a:latin typeface="Tahoma"/>
                <a:cs typeface="Tahoma"/>
              </a:rPr>
              <a:t> </a:t>
            </a:r>
            <a:r>
              <a:rPr sz="1000" spc="-45" dirty="0">
                <a:latin typeface="Tahoma"/>
                <a:cs typeface="Tahoma"/>
              </a:rPr>
              <a:t>sets,</a:t>
            </a:r>
            <a:r>
              <a:rPr sz="1000" spc="20" dirty="0">
                <a:latin typeface="Tahoma"/>
                <a:cs typeface="Tahoma"/>
              </a:rPr>
              <a:t> </a:t>
            </a:r>
            <a:r>
              <a:rPr sz="1000" spc="-40" dirty="0">
                <a:latin typeface="Tahoma"/>
                <a:cs typeface="Tahoma"/>
              </a:rPr>
              <a:t>then</a:t>
            </a:r>
            <a:r>
              <a:rPr sz="1000" spc="20" dirty="0">
                <a:latin typeface="Tahoma"/>
                <a:cs typeface="Tahoma"/>
              </a:rPr>
              <a:t> </a:t>
            </a:r>
            <a:r>
              <a:rPr sz="1000" spc="-90" dirty="0">
                <a:latin typeface="Tahoma"/>
                <a:cs typeface="Tahoma"/>
              </a:rPr>
              <a:t>we </a:t>
            </a:r>
            <a:r>
              <a:rPr sz="1000" spc="-85" dirty="0">
                <a:latin typeface="Tahoma"/>
                <a:cs typeface="Tahoma"/>
              </a:rPr>
              <a:t> </a:t>
            </a:r>
            <a:r>
              <a:rPr sz="1000" spc="-5" dirty="0">
                <a:latin typeface="Tahoma"/>
                <a:cs typeface="Tahoma"/>
              </a:rPr>
              <a:t>can’t</a:t>
            </a:r>
            <a:r>
              <a:rPr sz="1000" spc="20" dirty="0">
                <a:latin typeface="Tahoma"/>
                <a:cs typeface="Tahoma"/>
              </a:rPr>
              <a:t> </a:t>
            </a:r>
            <a:r>
              <a:rPr sz="1000" spc="-35" dirty="0">
                <a:latin typeface="Tahoma"/>
                <a:cs typeface="Tahoma"/>
              </a:rPr>
              <a:t>rely</a:t>
            </a:r>
            <a:r>
              <a:rPr sz="1000" spc="25" dirty="0">
                <a:latin typeface="Tahoma"/>
                <a:cs typeface="Tahoma"/>
              </a:rPr>
              <a:t> </a:t>
            </a:r>
            <a:r>
              <a:rPr sz="1000" spc="-45" dirty="0">
                <a:latin typeface="Tahoma"/>
                <a:cs typeface="Tahoma"/>
              </a:rPr>
              <a:t>on</a:t>
            </a:r>
            <a:r>
              <a:rPr sz="1000" spc="20" dirty="0">
                <a:latin typeface="Tahoma"/>
                <a:cs typeface="Tahoma"/>
              </a:rPr>
              <a:t> </a:t>
            </a:r>
            <a:r>
              <a:rPr sz="1000" spc="-45" dirty="0">
                <a:latin typeface="Tahoma"/>
                <a:cs typeface="Tahoma"/>
              </a:rPr>
              <a:t>such</a:t>
            </a:r>
            <a:r>
              <a:rPr sz="1000" spc="25" dirty="0">
                <a:latin typeface="Tahoma"/>
                <a:cs typeface="Tahoma"/>
              </a:rPr>
              <a:t> </a:t>
            </a:r>
            <a:r>
              <a:rPr sz="1000" spc="-25" dirty="0">
                <a:latin typeface="Tahoma"/>
                <a:cs typeface="Tahoma"/>
              </a:rPr>
              <a:t>definition,</a:t>
            </a:r>
            <a:r>
              <a:rPr sz="1000" spc="25" dirty="0">
                <a:latin typeface="Tahoma"/>
                <a:cs typeface="Tahoma"/>
              </a:rPr>
              <a:t> </a:t>
            </a:r>
            <a:r>
              <a:rPr sz="1000" spc="-55" dirty="0">
                <a:latin typeface="Tahoma"/>
                <a:cs typeface="Tahoma"/>
              </a:rPr>
              <a:t>because</a:t>
            </a:r>
            <a:r>
              <a:rPr sz="1000" spc="25" dirty="0">
                <a:latin typeface="Tahoma"/>
                <a:cs typeface="Tahoma"/>
              </a:rPr>
              <a:t> </a:t>
            </a:r>
            <a:r>
              <a:rPr sz="1000" spc="5" dirty="0">
                <a:latin typeface="Tahoma"/>
                <a:cs typeface="Tahoma"/>
              </a:rPr>
              <a:t>it’s</a:t>
            </a:r>
            <a:r>
              <a:rPr sz="1000" spc="30" dirty="0">
                <a:latin typeface="Tahoma"/>
                <a:cs typeface="Tahoma"/>
              </a:rPr>
              <a:t> </a:t>
            </a:r>
            <a:r>
              <a:rPr sz="1000" spc="-40" dirty="0">
                <a:latin typeface="Tahoma"/>
                <a:cs typeface="Tahoma"/>
              </a:rPr>
              <a:t>unclear,</a:t>
            </a:r>
            <a:r>
              <a:rPr sz="1000" spc="25" dirty="0">
                <a:latin typeface="Tahoma"/>
                <a:cs typeface="Tahoma"/>
              </a:rPr>
              <a:t> </a:t>
            </a:r>
            <a:r>
              <a:rPr sz="1000" spc="-35" dirty="0">
                <a:latin typeface="Tahoma"/>
                <a:cs typeface="Tahoma"/>
              </a:rPr>
              <a:t>what</a:t>
            </a:r>
            <a:r>
              <a:rPr sz="1000" spc="20" dirty="0">
                <a:latin typeface="Tahoma"/>
                <a:cs typeface="Tahoma"/>
              </a:rPr>
              <a:t> </a:t>
            </a:r>
            <a:r>
              <a:rPr sz="1000" spc="-55" dirty="0">
                <a:latin typeface="Tahoma"/>
                <a:cs typeface="Tahoma"/>
              </a:rPr>
              <a:t>these</a:t>
            </a:r>
            <a:r>
              <a:rPr sz="1000" spc="25" dirty="0">
                <a:latin typeface="Tahoma"/>
                <a:cs typeface="Tahoma"/>
              </a:rPr>
              <a:t> </a:t>
            </a:r>
            <a:r>
              <a:rPr sz="1000" dirty="0">
                <a:latin typeface="Tahoma"/>
                <a:cs typeface="Tahoma"/>
              </a:rPr>
              <a:t>“rule”, </a:t>
            </a:r>
            <a:r>
              <a:rPr sz="1000" spc="-300" dirty="0">
                <a:latin typeface="Tahoma"/>
                <a:cs typeface="Tahoma"/>
              </a:rPr>
              <a:t> </a:t>
            </a:r>
            <a:r>
              <a:rPr sz="1000" spc="5" dirty="0">
                <a:latin typeface="Tahoma"/>
                <a:cs typeface="Tahoma"/>
              </a:rPr>
              <a:t>“law”,</a:t>
            </a:r>
            <a:r>
              <a:rPr sz="1000" spc="15" dirty="0">
                <a:latin typeface="Tahoma"/>
                <a:cs typeface="Tahoma"/>
              </a:rPr>
              <a:t> </a:t>
            </a:r>
            <a:r>
              <a:rPr sz="1000" spc="-5" dirty="0">
                <a:latin typeface="Tahoma"/>
                <a:cs typeface="Tahoma"/>
              </a:rPr>
              <a:t>“way”</a:t>
            </a:r>
            <a:r>
              <a:rPr sz="1000" spc="15" dirty="0">
                <a:latin typeface="Tahoma"/>
                <a:cs typeface="Tahoma"/>
              </a:rPr>
              <a:t> </a:t>
            </a:r>
            <a:r>
              <a:rPr sz="1000" spc="-45" dirty="0">
                <a:latin typeface="Tahoma"/>
                <a:cs typeface="Tahoma"/>
              </a:rPr>
              <a:t>and</a:t>
            </a:r>
            <a:r>
              <a:rPr sz="1000" spc="20" dirty="0">
                <a:latin typeface="Tahoma"/>
                <a:cs typeface="Tahoma"/>
              </a:rPr>
              <a:t> </a:t>
            </a:r>
            <a:r>
              <a:rPr sz="1000" spc="-55" dirty="0">
                <a:latin typeface="Tahoma"/>
                <a:cs typeface="Tahoma"/>
              </a:rPr>
              <a:t>so</a:t>
            </a:r>
            <a:r>
              <a:rPr sz="1000" spc="15" dirty="0">
                <a:latin typeface="Tahoma"/>
                <a:cs typeface="Tahoma"/>
              </a:rPr>
              <a:t> </a:t>
            </a:r>
            <a:r>
              <a:rPr sz="1000" spc="-45" dirty="0">
                <a:latin typeface="Tahoma"/>
                <a:cs typeface="Tahoma"/>
              </a:rPr>
              <a:t>on</a:t>
            </a:r>
            <a:r>
              <a:rPr sz="1000" spc="15" dirty="0">
                <a:latin typeface="Tahoma"/>
                <a:cs typeface="Tahoma"/>
              </a:rPr>
              <a:t> </a:t>
            </a:r>
            <a:r>
              <a:rPr sz="1000" spc="-60" dirty="0">
                <a:latin typeface="Tahoma"/>
                <a:cs typeface="Tahoma"/>
              </a:rPr>
              <a:t>mean</a:t>
            </a:r>
            <a:r>
              <a:rPr sz="1000" spc="20" dirty="0">
                <a:latin typeface="Tahoma"/>
                <a:cs typeface="Tahoma"/>
              </a:rPr>
              <a:t> </a:t>
            </a:r>
            <a:r>
              <a:rPr sz="1000" spc="-50" dirty="0">
                <a:latin typeface="Tahoma"/>
                <a:cs typeface="Tahoma"/>
              </a:rPr>
              <a:t>precisely.</a:t>
            </a:r>
            <a:endParaRPr sz="1000">
              <a:latin typeface="Tahoma"/>
              <a:cs typeface="Tahoma"/>
            </a:endParaRP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585085" cy="244475"/>
          </a:xfrm>
          <a:prstGeom prst="rect">
            <a:avLst/>
          </a:prstGeom>
        </p:spPr>
        <p:txBody>
          <a:bodyPr vert="horz" wrap="square" lIns="0" tIns="17145" rIns="0" bIns="0" rtlCol="0">
            <a:spAutoFit/>
          </a:bodyPr>
          <a:lstStyle/>
          <a:p>
            <a:pPr marL="12700">
              <a:lnSpc>
                <a:spcPct val="100000"/>
              </a:lnSpc>
              <a:spcBef>
                <a:spcPts val="135"/>
              </a:spcBef>
            </a:pPr>
            <a:r>
              <a:rPr spc="-65" dirty="0"/>
              <a:t>Rigorous</a:t>
            </a:r>
            <a:r>
              <a:rPr spc="125" dirty="0"/>
              <a:t> </a:t>
            </a:r>
            <a:r>
              <a:rPr spc="-25" dirty="0"/>
              <a:t>definition</a:t>
            </a:r>
            <a:r>
              <a:rPr spc="125" dirty="0"/>
              <a:t> </a:t>
            </a:r>
            <a:r>
              <a:rPr spc="-30" dirty="0"/>
              <a:t>of</a:t>
            </a:r>
            <a:r>
              <a:rPr spc="125" dirty="0"/>
              <a:t> </a:t>
            </a:r>
            <a:r>
              <a:rPr spc="-40" dirty="0"/>
              <a:t>mapping</a:t>
            </a:r>
          </a:p>
        </p:txBody>
      </p:sp>
      <p:sp>
        <p:nvSpPr>
          <p:cNvPr id="30" name="object 30"/>
          <p:cNvSpPr/>
          <p:nvPr/>
        </p:nvSpPr>
        <p:spPr>
          <a:xfrm>
            <a:off x="698562" y="878014"/>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907953"/>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2" name="object 32"/>
          <p:cNvGrpSpPr/>
          <p:nvPr/>
        </p:nvGrpSpPr>
        <p:grpSpPr>
          <a:xfrm>
            <a:off x="698562" y="934924"/>
            <a:ext cx="3831590" cy="2207260"/>
            <a:chOff x="698562" y="934924"/>
            <a:chExt cx="3831590" cy="2207260"/>
          </a:xfrm>
        </p:grpSpPr>
        <p:pic>
          <p:nvPicPr>
            <p:cNvPr id="33" name="object 33"/>
            <p:cNvPicPr/>
            <p:nvPr/>
          </p:nvPicPr>
          <p:blipFill>
            <a:blip r:embed="rId7" cstate="print"/>
            <a:stretch>
              <a:fillRect/>
            </a:stretch>
          </p:blipFill>
          <p:spPr>
            <a:xfrm>
              <a:off x="698563" y="1035621"/>
              <a:ext cx="3780284" cy="50609"/>
            </a:xfrm>
            <a:prstGeom prst="rect">
              <a:avLst/>
            </a:prstGeom>
          </p:spPr>
        </p:pic>
        <p:sp>
          <p:nvSpPr>
            <p:cNvPr id="34" name="object 34"/>
            <p:cNvSpPr/>
            <p:nvPr/>
          </p:nvSpPr>
          <p:spPr>
            <a:xfrm>
              <a:off x="749363" y="934924"/>
              <a:ext cx="3780790" cy="2207260"/>
            </a:xfrm>
            <a:custGeom>
              <a:avLst/>
              <a:gdLst/>
              <a:ahLst/>
              <a:cxnLst/>
              <a:rect l="l" t="t" r="r" b="b"/>
              <a:pathLst>
                <a:path w="3780790" h="2207260">
                  <a:moveTo>
                    <a:pt x="3780285" y="0"/>
                  </a:moveTo>
                  <a:lnTo>
                    <a:pt x="0" y="0"/>
                  </a:lnTo>
                  <a:lnTo>
                    <a:pt x="0" y="2206967"/>
                  </a:lnTo>
                  <a:lnTo>
                    <a:pt x="3780285" y="2206967"/>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079870"/>
              <a:ext cx="3780790" cy="2011680"/>
            </a:xfrm>
            <a:custGeom>
              <a:avLst/>
              <a:gdLst/>
              <a:ahLst/>
              <a:cxnLst/>
              <a:rect l="l" t="t" r="r" b="b"/>
              <a:pathLst>
                <a:path w="3780790" h="2011680">
                  <a:moveTo>
                    <a:pt x="3780285" y="0"/>
                  </a:moveTo>
                  <a:lnTo>
                    <a:pt x="0" y="0"/>
                  </a:lnTo>
                  <a:lnTo>
                    <a:pt x="0" y="1960420"/>
                  </a:lnTo>
                  <a:lnTo>
                    <a:pt x="4008" y="1980145"/>
                  </a:lnTo>
                  <a:lnTo>
                    <a:pt x="14922" y="1996298"/>
                  </a:lnTo>
                  <a:lnTo>
                    <a:pt x="31075" y="2007212"/>
                  </a:lnTo>
                  <a:lnTo>
                    <a:pt x="50800" y="2011221"/>
                  </a:lnTo>
                  <a:lnTo>
                    <a:pt x="3729484" y="2011221"/>
                  </a:lnTo>
                  <a:lnTo>
                    <a:pt x="3749209" y="2007212"/>
                  </a:lnTo>
                  <a:lnTo>
                    <a:pt x="3765362" y="1996298"/>
                  </a:lnTo>
                  <a:lnTo>
                    <a:pt x="3776276" y="1980145"/>
                  </a:lnTo>
                  <a:lnTo>
                    <a:pt x="3780285" y="1960420"/>
                  </a:lnTo>
                  <a:lnTo>
                    <a:pt x="3780285" y="0"/>
                  </a:lnTo>
                  <a:close/>
                </a:path>
              </a:pathLst>
            </a:custGeom>
            <a:solidFill>
              <a:srgbClr val="E9E9F2"/>
            </a:solidFill>
          </p:spPr>
          <p:txBody>
            <a:bodyPr wrap="square" lIns="0" tIns="0" rIns="0" bIns="0" rtlCol="0"/>
            <a:lstStyle/>
            <a:p>
              <a:endParaRPr/>
            </a:p>
          </p:txBody>
        </p:sp>
      </p:grpSp>
      <p:sp>
        <p:nvSpPr>
          <p:cNvPr id="36" name="object 36"/>
          <p:cNvSpPr txBox="1"/>
          <p:nvPr/>
        </p:nvSpPr>
        <p:spPr>
          <a:xfrm>
            <a:off x="723963" y="1053851"/>
            <a:ext cx="3582035" cy="607695"/>
          </a:xfrm>
          <a:prstGeom prst="rect">
            <a:avLst/>
          </a:prstGeom>
        </p:spPr>
        <p:txBody>
          <a:bodyPr vert="horz" wrap="square" lIns="0" tIns="12065" rIns="0" bIns="0" rtlCol="0">
            <a:spAutoFit/>
          </a:bodyPr>
          <a:lstStyle/>
          <a:p>
            <a:pPr marL="25400" marR="30480">
              <a:lnSpc>
                <a:spcPct val="100000"/>
              </a:lnSpc>
              <a:spcBef>
                <a:spcPts val="95"/>
              </a:spcBef>
            </a:pPr>
            <a:r>
              <a:rPr sz="1000" spc="-10" dirty="0">
                <a:latin typeface="Tahoma"/>
                <a:cs typeface="Tahoma"/>
              </a:rPr>
              <a:t>Let</a:t>
            </a:r>
            <a:r>
              <a:rPr sz="1000" spc="10" dirty="0">
                <a:latin typeface="Tahoma"/>
                <a:cs typeface="Tahoma"/>
              </a:rPr>
              <a:t> </a:t>
            </a:r>
            <a:r>
              <a:rPr sz="1000" i="1" spc="-5" dirty="0">
                <a:latin typeface="Arial"/>
                <a:cs typeface="Arial"/>
              </a:rPr>
              <a:t>A</a:t>
            </a:r>
            <a:r>
              <a:rPr sz="1000" i="1" spc="55" dirty="0">
                <a:latin typeface="Arial"/>
                <a:cs typeface="Arial"/>
              </a:rPr>
              <a:t> </a:t>
            </a:r>
            <a:r>
              <a:rPr sz="1000" spc="-45" dirty="0">
                <a:latin typeface="Tahoma"/>
                <a:cs typeface="Tahoma"/>
              </a:rPr>
              <a:t>and</a:t>
            </a:r>
            <a:r>
              <a:rPr sz="1000" spc="20" dirty="0">
                <a:latin typeface="Tahoma"/>
                <a:cs typeface="Tahoma"/>
              </a:rPr>
              <a:t> </a:t>
            </a:r>
            <a:r>
              <a:rPr sz="1000" i="1" spc="-5" dirty="0">
                <a:latin typeface="Arial"/>
                <a:cs typeface="Arial"/>
              </a:rPr>
              <a:t>B</a:t>
            </a:r>
            <a:r>
              <a:rPr sz="1000" i="1" spc="135" dirty="0">
                <a:latin typeface="Arial"/>
                <a:cs typeface="Arial"/>
              </a:rPr>
              <a:t> </a:t>
            </a:r>
            <a:r>
              <a:rPr sz="1000" spc="-50" dirty="0">
                <a:latin typeface="Tahoma"/>
                <a:cs typeface="Tahoma"/>
              </a:rPr>
              <a:t>be</a:t>
            </a:r>
            <a:r>
              <a:rPr sz="1000" spc="15" dirty="0">
                <a:latin typeface="Tahoma"/>
                <a:cs typeface="Tahoma"/>
              </a:rPr>
              <a:t> </a:t>
            </a:r>
            <a:r>
              <a:rPr sz="1000" spc="-50" dirty="0">
                <a:latin typeface="Tahoma"/>
                <a:cs typeface="Tahoma"/>
              </a:rPr>
              <a:t>two</a:t>
            </a:r>
            <a:r>
              <a:rPr sz="1000" spc="15" dirty="0">
                <a:latin typeface="Tahoma"/>
                <a:cs typeface="Tahoma"/>
              </a:rPr>
              <a:t> </a:t>
            </a:r>
            <a:r>
              <a:rPr sz="1000" spc="-45" dirty="0">
                <a:latin typeface="Tahoma"/>
                <a:cs typeface="Tahoma"/>
              </a:rPr>
              <a:t>sets.</a:t>
            </a:r>
            <a:r>
              <a:rPr sz="1000" spc="130" dirty="0">
                <a:latin typeface="Tahoma"/>
                <a:cs typeface="Tahoma"/>
              </a:rPr>
              <a:t> </a:t>
            </a:r>
            <a:r>
              <a:rPr sz="1000" spc="-20" dirty="0">
                <a:latin typeface="Tahoma"/>
                <a:cs typeface="Tahoma"/>
              </a:rPr>
              <a:t>Then</a:t>
            </a:r>
            <a:r>
              <a:rPr sz="1000" spc="20" dirty="0">
                <a:latin typeface="Tahoma"/>
                <a:cs typeface="Tahoma"/>
              </a:rPr>
              <a:t> </a:t>
            </a:r>
            <a:r>
              <a:rPr sz="1000" spc="-50" dirty="0">
                <a:latin typeface="Tahoma"/>
                <a:cs typeface="Tahoma"/>
              </a:rPr>
              <a:t>a</a:t>
            </a:r>
            <a:r>
              <a:rPr sz="1000" spc="15" dirty="0">
                <a:latin typeface="Tahoma"/>
                <a:cs typeface="Tahoma"/>
              </a:rPr>
              <a:t> </a:t>
            </a:r>
            <a:r>
              <a:rPr sz="1000" b="1" spc="-45" dirty="0">
                <a:latin typeface="Arial"/>
                <a:cs typeface="Arial"/>
              </a:rPr>
              <a:t>mapping</a:t>
            </a:r>
            <a:r>
              <a:rPr sz="1000" b="1" spc="65" dirty="0">
                <a:latin typeface="Arial"/>
                <a:cs typeface="Arial"/>
              </a:rPr>
              <a:t> </a:t>
            </a:r>
            <a:r>
              <a:rPr sz="1000" i="1" spc="25" dirty="0">
                <a:latin typeface="Arial"/>
                <a:cs typeface="Arial"/>
              </a:rPr>
              <a:t>f</a:t>
            </a:r>
            <a:r>
              <a:rPr sz="1000" i="1" spc="270" dirty="0">
                <a:latin typeface="Arial"/>
                <a:cs typeface="Arial"/>
              </a:rPr>
              <a:t> </a:t>
            </a:r>
            <a:r>
              <a:rPr sz="1000" spc="-35" dirty="0">
                <a:latin typeface="Tahoma"/>
                <a:cs typeface="Tahoma"/>
              </a:rPr>
              <a:t>from</a:t>
            </a:r>
            <a:r>
              <a:rPr sz="1000" spc="15" dirty="0">
                <a:latin typeface="Tahoma"/>
                <a:cs typeface="Tahoma"/>
              </a:rPr>
              <a:t> </a:t>
            </a:r>
            <a:r>
              <a:rPr sz="1000" i="1" spc="-5" dirty="0">
                <a:latin typeface="Arial"/>
                <a:cs typeface="Arial"/>
              </a:rPr>
              <a:t>A</a:t>
            </a:r>
            <a:r>
              <a:rPr sz="1000" i="1" spc="45" dirty="0">
                <a:latin typeface="Arial"/>
                <a:cs typeface="Arial"/>
              </a:rPr>
              <a:t> </a:t>
            </a:r>
            <a:r>
              <a:rPr sz="1000" spc="-10" dirty="0">
                <a:latin typeface="Tahoma"/>
                <a:cs typeface="Tahoma"/>
              </a:rPr>
              <a:t>to</a:t>
            </a:r>
            <a:r>
              <a:rPr sz="1000" spc="15" dirty="0">
                <a:latin typeface="Tahoma"/>
                <a:cs typeface="Tahoma"/>
              </a:rPr>
              <a:t> </a:t>
            </a:r>
            <a:r>
              <a:rPr sz="1000" i="1" spc="-5" dirty="0">
                <a:latin typeface="Arial"/>
                <a:cs typeface="Arial"/>
              </a:rPr>
              <a:t>B</a:t>
            </a:r>
            <a:r>
              <a:rPr sz="1000" i="1" spc="135" dirty="0">
                <a:latin typeface="Arial"/>
                <a:cs typeface="Arial"/>
              </a:rPr>
              <a:t> </a:t>
            </a:r>
            <a:r>
              <a:rPr sz="1000" spc="-30" dirty="0">
                <a:latin typeface="Tahoma"/>
                <a:cs typeface="Tahoma"/>
              </a:rPr>
              <a:t>is</a:t>
            </a:r>
            <a:r>
              <a:rPr sz="1000" spc="20" dirty="0">
                <a:latin typeface="Tahoma"/>
                <a:cs typeface="Tahoma"/>
              </a:rPr>
              <a:t> </a:t>
            </a:r>
            <a:r>
              <a:rPr sz="1000" spc="-45" dirty="0">
                <a:latin typeface="Tahoma"/>
                <a:cs typeface="Tahoma"/>
              </a:rPr>
              <a:t>such </a:t>
            </a:r>
            <a:r>
              <a:rPr sz="1000" spc="-295" dirty="0">
                <a:latin typeface="Tahoma"/>
                <a:cs typeface="Tahoma"/>
              </a:rPr>
              <a:t> </a:t>
            </a:r>
            <a:r>
              <a:rPr sz="1000" spc="-50" dirty="0">
                <a:latin typeface="Tahoma"/>
                <a:cs typeface="Tahoma"/>
              </a:rPr>
              <a:t>subset</a:t>
            </a:r>
            <a:r>
              <a:rPr sz="1000" spc="15" dirty="0">
                <a:latin typeface="Tahoma"/>
                <a:cs typeface="Tahoma"/>
              </a:rPr>
              <a:t> </a:t>
            </a:r>
            <a:r>
              <a:rPr sz="1000" spc="-30" dirty="0">
                <a:latin typeface="Tahoma"/>
                <a:cs typeface="Tahoma"/>
              </a:rPr>
              <a:t>of</a:t>
            </a:r>
            <a:r>
              <a:rPr sz="1000" spc="20" dirty="0">
                <a:latin typeface="Tahoma"/>
                <a:cs typeface="Tahoma"/>
              </a:rPr>
              <a:t> </a:t>
            </a:r>
            <a:r>
              <a:rPr sz="1000" i="1" spc="25" dirty="0">
                <a:latin typeface="Arial"/>
                <a:cs typeface="Arial"/>
              </a:rPr>
              <a:t>f</a:t>
            </a:r>
            <a:r>
              <a:rPr sz="1000" i="1" spc="210" dirty="0">
                <a:latin typeface="Arial"/>
                <a:cs typeface="Arial"/>
              </a:rPr>
              <a:t> </a:t>
            </a:r>
            <a:r>
              <a:rPr sz="1000" spc="-25" dirty="0">
                <a:latin typeface="Lucida Sans Unicode"/>
                <a:cs typeface="Lucida Sans Unicode"/>
              </a:rPr>
              <a:t>⊆</a:t>
            </a:r>
            <a:r>
              <a:rPr sz="1000" spc="-35" dirty="0">
                <a:latin typeface="Lucida Sans Unicode"/>
                <a:cs typeface="Lucida Sans Unicode"/>
              </a:rPr>
              <a:t> </a:t>
            </a:r>
            <a:r>
              <a:rPr sz="1000" i="1" spc="-5" dirty="0">
                <a:latin typeface="Arial"/>
                <a:cs typeface="Arial"/>
              </a:rPr>
              <a:t>A</a:t>
            </a:r>
            <a:r>
              <a:rPr sz="1000" i="1" spc="-60" dirty="0">
                <a:latin typeface="Arial"/>
                <a:cs typeface="Arial"/>
              </a:rPr>
              <a:t> </a:t>
            </a:r>
            <a:r>
              <a:rPr sz="1000" spc="-25" dirty="0">
                <a:latin typeface="Lucida Sans Unicode"/>
                <a:cs typeface="Lucida Sans Unicode"/>
              </a:rPr>
              <a:t>×</a:t>
            </a:r>
            <a:r>
              <a:rPr sz="1000" spc="-95" dirty="0">
                <a:latin typeface="Lucida Sans Unicode"/>
                <a:cs typeface="Lucida Sans Unicode"/>
              </a:rPr>
              <a:t> </a:t>
            </a:r>
            <a:r>
              <a:rPr sz="1000" i="1" spc="20" dirty="0">
                <a:latin typeface="Arial"/>
                <a:cs typeface="Arial"/>
              </a:rPr>
              <a:t>B</a:t>
            </a:r>
            <a:r>
              <a:rPr sz="1000" spc="20" dirty="0">
                <a:latin typeface="Tahoma"/>
                <a:cs typeface="Tahoma"/>
              </a:rPr>
              <a:t>, </a:t>
            </a:r>
            <a:r>
              <a:rPr sz="1000" spc="-10" dirty="0">
                <a:latin typeface="Tahoma"/>
                <a:cs typeface="Tahoma"/>
              </a:rPr>
              <a:t>that</a:t>
            </a:r>
            <a:r>
              <a:rPr sz="1000" spc="20" dirty="0">
                <a:latin typeface="Tahoma"/>
                <a:cs typeface="Tahoma"/>
              </a:rPr>
              <a:t> </a:t>
            </a:r>
            <a:r>
              <a:rPr sz="1000" spc="-40" dirty="0">
                <a:latin typeface="Tahoma"/>
                <a:cs typeface="Tahoma"/>
              </a:rPr>
              <a:t>for</a:t>
            </a:r>
            <a:r>
              <a:rPr sz="1000" spc="20" dirty="0">
                <a:latin typeface="Tahoma"/>
                <a:cs typeface="Tahoma"/>
              </a:rPr>
              <a:t> </a:t>
            </a:r>
            <a:r>
              <a:rPr sz="1000" spc="-45" dirty="0">
                <a:latin typeface="Tahoma"/>
                <a:cs typeface="Tahoma"/>
              </a:rPr>
              <a:t>any</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55" dirty="0">
                <a:latin typeface="Arial"/>
                <a:cs typeface="Arial"/>
              </a:rPr>
              <a:t> </a:t>
            </a:r>
            <a:r>
              <a:rPr sz="1000" spc="-45" dirty="0">
                <a:latin typeface="Tahoma"/>
                <a:cs typeface="Tahoma"/>
              </a:rPr>
              <a:t>and</a:t>
            </a:r>
            <a:r>
              <a:rPr sz="1000" spc="20" dirty="0">
                <a:latin typeface="Tahoma"/>
                <a:cs typeface="Tahoma"/>
              </a:rPr>
              <a:t> </a:t>
            </a:r>
            <a:r>
              <a:rPr sz="1000" spc="-45" dirty="0">
                <a:latin typeface="Tahoma"/>
                <a:cs typeface="Tahoma"/>
              </a:rPr>
              <a:t>any</a:t>
            </a:r>
            <a:r>
              <a:rPr sz="1000" spc="20" dirty="0">
                <a:latin typeface="Tahoma"/>
                <a:cs typeface="Tahoma"/>
              </a:rPr>
              <a:t> </a:t>
            </a:r>
            <a:r>
              <a:rPr sz="1000" i="1" spc="-35" dirty="0">
                <a:latin typeface="Arial"/>
                <a:cs typeface="Arial"/>
              </a:rPr>
              <a:t>b</a:t>
            </a:r>
            <a:r>
              <a:rPr sz="1050" spc="-52" baseline="-11904" dirty="0">
                <a:latin typeface="Microsoft Sans Serif"/>
                <a:cs typeface="Microsoft Sans Serif"/>
              </a:rPr>
              <a:t>1</a:t>
            </a:r>
            <a:r>
              <a:rPr sz="1000" i="1" spc="-35" dirty="0">
                <a:latin typeface="Verdana"/>
                <a:cs typeface="Verdana"/>
              </a:rPr>
              <a:t>,</a:t>
            </a:r>
            <a:r>
              <a:rPr sz="1000" i="1" spc="-185" dirty="0">
                <a:latin typeface="Verdana"/>
                <a:cs typeface="Verdana"/>
              </a:rPr>
              <a:t> </a:t>
            </a:r>
            <a:r>
              <a:rPr sz="1000" i="1" spc="-35" dirty="0">
                <a:latin typeface="Arial"/>
                <a:cs typeface="Arial"/>
              </a:rPr>
              <a:t>b</a:t>
            </a:r>
            <a:r>
              <a:rPr sz="1050" spc="-52" baseline="-11904" dirty="0">
                <a:latin typeface="Microsoft Sans Serif"/>
                <a:cs typeface="Microsoft Sans Serif"/>
              </a:rPr>
              <a:t>2</a:t>
            </a:r>
            <a:r>
              <a:rPr sz="1050" spc="-15" baseline="-11904" dirty="0">
                <a:latin typeface="Microsoft Sans Serif"/>
                <a:cs typeface="Microsoft Sans Serif"/>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spc="-5" dirty="0">
                <a:latin typeface="Tahoma"/>
                <a:cs typeface="Tahoma"/>
              </a:rPr>
              <a:t>:</a:t>
            </a:r>
            <a:endParaRPr sz="1000">
              <a:latin typeface="Tahoma"/>
              <a:cs typeface="Tahoma"/>
            </a:endParaRPr>
          </a:p>
          <a:p>
            <a:pPr marL="413384">
              <a:lnSpc>
                <a:spcPct val="100000"/>
              </a:lnSpc>
              <a:spcBef>
                <a:spcPts val="985"/>
              </a:spcBef>
            </a:pPr>
            <a:r>
              <a:rPr sz="1000" spc="-35" dirty="0">
                <a:latin typeface="Tahoma"/>
                <a:cs typeface="Tahoma"/>
              </a:rPr>
              <a:t>from</a:t>
            </a:r>
            <a:r>
              <a:rPr sz="1000" spc="15" dirty="0">
                <a:latin typeface="Tahoma"/>
                <a:cs typeface="Tahoma"/>
              </a:rPr>
              <a:t> </a:t>
            </a: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45" dirty="0">
                <a:latin typeface="Arial"/>
                <a:cs typeface="Arial"/>
              </a:rPr>
              <a:t>b</a:t>
            </a:r>
            <a:r>
              <a:rPr sz="1050" spc="44" baseline="-11904" dirty="0">
                <a:latin typeface="Microsoft Sans Serif"/>
                <a:cs typeface="Microsoft Sans Serif"/>
              </a:rPr>
              <a:t>1</a:t>
            </a:r>
            <a:r>
              <a:rPr sz="1000" dirty="0">
                <a:latin typeface="Tahoma"/>
                <a:cs typeface="Tahoma"/>
              </a:rPr>
              <a:t>)</a:t>
            </a:r>
            <a:r>
              <a:rPr sz="1000" spc="-35" dirty="0">
                <a:latin typeface="Tahoma"/>
                <a:cs typeface="Tahoma"/>
              </a:rPr>
              <a:t> </a:t>
            </a:r>
            <a:r>
              <a:rPr sz="1000" spc="-135" dirty="0">
                <a:latin typeface="Lucida Sans Unicode"/>
                <a:cs typeface="Lucida Sans Unicode"/>
              </a:rPr>
              <a:t>∈</a:t>
            </a:r>
            <a:r>
              <a:rPr sz="1000" spc="-40" dirty="0">
                <a:latin typeface="Lucida Sans Unicode"/>
                <a:cs typeface="Lucida Sans Unicode"/>
              </a:rPr>
              <a:t> </a:t>
            </a:r>
            <a:r>
              <a:rPr sz="1000" i="1" spc="25" dirty="0">
                <a:latin typeface="Arial"/>
                <a:cs typeface="Arial"/>
              </a:rPr>
              <a:t>f</a:t>
            </a:r>
            <a:r>
              <a:rPr sz="1000" i="1" dirty="0">
                <a:latin typeface="Arial"/>
                <a:cs typeface="Arial"/>
              </a:rPr>
              <a:t> </a:t>
            </a:r>
            <a:r>
              <a:rPr sz="1000" i="1" spc="-10" dirty="0">
                <a:latin typeface="Arial"/>
                <a:cs typeface="Arial"/>
              </a:rPr>
              <a:t> </a:t>
            </a:r>
            <a:r>
              <a:rPr sz="1000" spc="-45" dirty="0">
                <a:latin typeface="Tahoma"/>
                <a:cs typeface="Tahoma"/>
              </a:rPr>
              <a:t>and</a:t>
            </a:r>
            <a:r>
              <a:rPr sz="1000" spc="15" dirty="0">
                <a:latin typeface="Tahoma"/>
                <a:cs typeface="Tahoma"/>
              </a:rPr>
              <a:t> </a:t>
            </a: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45" dirty="0">
                <a:latin typeface="Arial"/>
                <a:cs typeface="Arial"/>
              </a:rPr>
              <a:t>b</a:t>
            </a:r>
            <a:r>
              <a:rPr sz="1050" spc="44" baseline="-11904" dirty="0">
                <a:latin typeface="Microsoft Sans Serif"/>
                <a:cs typeface="Microsoft Sans Serif"/>
              </a:rPr>
              <a:t>2</a:t>
            </a:r>
            <a:r>
              <a:rPr sz="1000" dirty="0">
                <a:latin typeface="Tahoma"/>
                <a:cs typeface="Tahoma"/>
              </a:rPr>
              <a:t>)</a:t>
            </a:r>
            <a:r>
              <a:rPr sz="1000" spc="-35" dirty="0">
                <a:latin typeface="Tahoma"/>
                <a:cs typeface="Tahoma"/>
              </a:rPr>
              <a:t> </a:t>
            </a:r>
            <a:r>
              <a:rPr sz="1000" spc="-135" dirty="0">
                <a:latin typeface="Lucida Sans Unicode"/>
                <a:cs typeface="Lucida Sans Unicode"/>
              </a:rPr>
              <a:t>∈</a:t>
            </a:r>
            <a:r>
              <a:rPr sz="1000" spc="-40" dirty="0">
                <a:latin typeface="Lucida Sans Unicode"/>
                <a:cs typeface="Lucida Sans Unicode"/>
              </a:rPr>
              <a:t> </a:t>
            </a:r>
            <a:r>
              <a:rPr sz="1000" i="1" spc="25" dirty="0">
                <a:latin typeface="Arial"/>
                <a:cs typeface="Arial"/>
              </a:rPr>
              <a:t>f</a:t>
            </a:r>
            <a:r>
              <a:rPr sz="1000" i="1" dirty="0">
                <a:latin typeface="Arial"/>
                <a:cs typeface="Arial"/>
              </a:rPr>
              <a:t> </a:t>
            </a:r>
            <a:r>
              <a:rPr sz="1000" i="1" spc="-10" dirty="0">
                <a:latin typeface="Arial"/>
                <a:cs typeface="Arial"/>
              </a:rPr>
              <a:t> </a:t>
            </a:r>
            <a:r>
              <a:rPr sz="1000" spc="15" dirty="0">
                <a:latin typeface="Tahoma"/>
                <a:cs typeface="Tahoma"/>
              </a:rPr>
              <a:t>it</a:t>
            </a:r>
            <a:r>
              <a:rPr sz="1000" spc="20" dirty="0">
                <a:latin typeface="Tahoma"/>
                <a:cs typeface="Tahoma"/>
              </a:rPr>
              <a:t> </a:t>
            </a:r>
            <a:r>
              <a:rPr sz="1000" spc="-20" dirty="0">
                <a:latin typeface="Tahoma"/>
                <a:cs typeface="Tahoma"/>
              </a:rPr>
              <a:t>foll</a:t>
            </a:r>
            <a:r>
              <a:rPr sz="1000" spc="-60" dirty="0">
                <a:latin typeface="Tahoma"/>
                <a:cs typeface="Tahoma"/>
              </a:rPr>
              <a:t>o</a:t>
            </a:r>
            <a:r>
              <a:rPr sz="1000" spc="-65" dirty="0">
                <a:latin typeface="Tahoma"/>
                <a:cs typeface="Tahoma"/>
              </a:rPr>
              <a:t>ws</a:t>
            </a:r>
            <a:r>
              <a:rPr sz="1000" spc="15" dirty="0">
                <a:latin typeface="Tahoma"/>
                <a:cs typeface="Tahoma"/>
              </a:rPr>
              <a:t> </a:t>
            </a:r>
            <a:r>
              <a:rPr sz="1000" spc="-10" dirty="0">
                <a:latin typeface="Tahoma"/>
                <a:cs typeface="Tahoma"/>
              </a:rPr>
              <a:t>that</a:t>
            </a:r>
            <a:r>
              <a:rPr sz="1000" spc="15" dirty="0">
                <a:latin typeface="Tahoma"/>
                <a:cs typeface="Tahoma"/>
              </a:rPr>
              <a:t> </a:t>
            </a:r>
            <a:r>
              <a:rPr sz="1000" i="1" spc="-45" dirty="0">
                <a:latin typeface="Arial"/>
                <a:cs typeface="Arial"/>
              </a:rPr>
              <a:t>b</a:t>
            </a:r>
            <a:r>
              <a:rPr sz="1050" spc="-30" baseline="-11904" dirty="0">
                <a:latin typeface="Microsoft Sans Serif"/>
                <a:cs typeface="Microsoft Sans Serif"/>
              </a:rPr>
              <a:t>1</a:t>
            </a:r>
            <a:r>
              <a:rPr sz="1050" baseline="-11904" dirty="0">
                <a:latin typeface="Microsoft Sans Serif"/>
                <a:cs typeface="Microsoft Sans Serif"/>
              </a:rPr>
              <a:t> </a:t>
            </a:r>
            <a:r>
              <a:rPr sz="1050" spc="-75" baseline="-11904" dirty="0">
                <a:latin typeface="Microsoft Sans Serif"/>
                <a:cs typeface="Microsoft Sans Serif"/>
              </a:rPr>
              <a:t> </a:t>
            </a:r>
            <a:r>
              <a:rPr sz="1000" spc="45" dirty="0">
                <a:latin typeface="Tahoma"/>
                <a:cs typeface="Tahoma"/>
              </a:rPr>
              <a:t>=</a:t>
            </a:r>
            <a:r>
              <a:rPr sz="1000" spc="-35" dirty="0">
                <a:latin typeface="Tahoma"/>
                <a:cs typeface="Tahoma"/>
              </a:rPr>
              <a:t> </a:t>
            </a:r>
            <a:r>
              <a:rPr sz="1000" i="1" spc="-45" dirty="0">
                <a:latin typeface="Arial"/>
                <a:cs typeface="Arial"/>
              </a:rPr>
              <a:t>b</a:t>
            </a:r>
            <a:r>
              <a:rPr sz="1050" spc="-30" baseline="-11904" dirty="0">
                <a:latin typeface="Microsoft Sans Serif"/>
                <a:cs typeface="Microsoft Sans Serif"/>
              </a:rPr>
              <a:t>2</a:t>
            </a:r>
            <a:endParaRPr sz="1050" baseline="-11904">
              <a:latin typeface="Microsoft Sans Serif"/>
              <a:cs typeface="Microsoft Sans Serif"/>
            </a:endParaRPr>
          </a:p>
        </p:txBody>
      </p:sp>
      <p:sp>
        <p:nvSpPr>
          <p:cNvPr id="37" name="object 37"/>
          <p:cNvSpPr txBox="1"/>
          <p:nvPr/>
        </p:nvSpPr>
        <p:spPr>
          <a:xfrm>
            <a:off x="711263" y="1762384"/>
            <a:ext cx="3691254" cy="1290955"/>
          </a:xfrm>
          <a:prstGeom prst="rect">
            <a:avLst/>
          </a:prstGeom>
        </p:spPr>
        <p:txBody>
          <a:bodyPr vert="horz" wrap="square" lIns="0" tIns="12065" rIns="0" bIns="0" rtlCol="0">
            <a:spAutoFit/>
          </a:bodyPr>
          <a:lstStyle/>
          <a:p>
            <a:pPr marL="38100">
              <a:lnSpc>
                <a:spcPts val="1200"/>
              </a:lnSpc>
              <a:spcBef>
                <a:spcPts val="95"/>
              </a:spcBef>
            </a:pPr>
            <a:r>
              <a:rPr sz="1000" spc="-35" dirty="0">
                <a:latin typeface="Tahoma"/>
                <a:cs typeface="Tahoma"/>
              </a:rPr>
              <a:t>i.e.</a:t>
            </a:r>
            <a:r>
              <a:rPr sz="1000" spc="130" dirty="0">
                <a:latin typeface="Tahoma"/>
                <a:cs typeface="Tahoma"/>
              </a:rPr>
              <a:t> </a:t>
            </a:r>
            <a:r>
              <a:rPr sz="1000" spc="-40" dirty="0">
                <a:latin typeface="Tahoma"/>
                <a:cs typeface="Tahoma"/>
              </a:rPr>
              <a:t>for</a:t>
            </a:r>
            <a:r>
              <a:rPr sz="1000" spc="20" dirty="0">
                <a:latin typeface="Tahoma"/>
                <a:cs typeface="Tahoma"/>
              </a:rPr>
              <a:t> </a:t>
            </a:r>
            <a:r>
              <a:rPr sz="1000" spc="-45" dirty="0">
                <a:latin typeface="Tahoma"/>
                <a:cs typeface="Tahoma"/>
              </a:rPr>
              <a:t>any</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50" dirty="0">
                <a:latin typeface="Arial"/>
                <a:cs typeface="Arial"/>
              </a:rPr>
              <a:t> </a:t>
            </a:r>
            <a:r>
              <a:rPr sz="1000" spc="-45" dirty="0">
                <a:latin typeface="Tahoma"/>
                <a:cs typeface="Tahoma"/>
              </a:rPr>
              <a:t>there</a:t>
            </a:r>
            <a:r>
              <a:rPr sz="1000" spc="15" dirty="0">
                <a:latin typeface="Tahoma"/>
                <a:cs typeface="Tahoma"/>
              </a:rPr>
              <a:t> </a:t>
            </a:r>
            <a:r>
              <a:rPr sz="1000" spc="-30" dirty="0">
                <a:latin typeface="Tahoma"/>
                <a:cs typeface="Tahoma"/>
              </a:rPr>
              <a:t>is</a:t>
            </a:r>
            <a:r>
              <a:rPr sz="1000" spc="20" dirty="0">
                <a:latin typeface="Tahoma"/>
                <a:cs typeface="Tahoma"/>
              </a:rPr>
              <a:t> </a:t>
            </a:r>
            <a:r>
              <a:rPr sz="1000" spc="-45" dirty="0">
                <a:latin typeface="Tahoma"/>
                <a:cs typeface="Tahoma"/>
              </a:rPr>
              <a:t>no</a:t>
            </a:r>
            <a:r>
              <a:rPr sz="1000" spc="20" dirty="0">
                <a:latin typeface="Tahoma"/>
                <a:cs typeface="Tahoma"/>
              </a:rPr>
              <a:t> </a:t>
            </a:r>
            <a:r>
              <a:rPr sz="1000" spc="-60" dirty="0">
                <a:latin typeface="Tahoma"/>
                <a:cs typeface="Tahoma"/>
              </a:rPr>
              <a:t>more</a:t>
            </a:r>
            <a:r>
              <a:rPr sz="1000" spc="20" dirty="0">
                <a:latin typeface="Tahoma"/>
                <a:cs typeface="Tahoma"/>
              </a:rPr>
              <a:t> </a:t>
            </a:r>
            <a:r>
              <a:rPr sz="1000" spc="-40" dirty="0">
                <a:latin typeface="Tahoma"/>
                <a:cs typeface="Tahoma"/>
              </a:rPr>
              <a:t>then</a:t>
            </a:r>
            <a:r>
              <a:rPr sz="1000" spc="20" dirty="0">
                <a:latin typeface="Tahoma"/>
                <a:cs typeface="Tahoma"/>
              </a:rPr>
              <a:t> </a:t>
            </a:r>
            <a:r>
              <a:rPr sz="1000" spc="-60" dirty="0">
                <a:latin typeface="Tahoma"/>
                <a:cs typeface="Tahoma"/>
              </a:rPr>
              <a:t>one</a:t>
            </a:r>
            <a:r>
              <a:rPr sz="1000" spc="20" dirty="0">
                <a:latin typeface="Tahoma"/>
                <a:cs typeface="Tahoma"/>
              </a:rPr>
              <a:t> </a:t>
            </a:r>
            <a:r>
              <a:rPr sz="1000" i="1" spc="-45" dirty="0">
                <a:latin typeface="Arial"/>
                <a:cs typeface="Arial"/>
              </a:rPr>
              <a:t>b</a:t>
            </a:r>
            <a:r>
              <a:rPr sz="1000" i="1" spc="3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45" dirty="0">
                <a:latin typeface="Tahoma"/>
                <a:cs typeface="Tahoma"/>
              </a:rPr>
              <a:t>such</a:t>
            </a:r>
            <a:r>
              <a:rPr sz="1000" spc="15" dirty="0">
                <a:latin typeface="Tahoma"/>
                <a:cs typeface="Tahoma"/>
              </a:rPr>
              <a:t> </a:t>
            </a:r>
            <a:r>
              <a:rPr sz="1000" spc="-10" dirty="0">
                <a:latin typeface="Tahoma"/>
                <a:cs typeface="Tahoma"/>
              </a:rPr>
              <a:t>that</a:t>
            </a:r>
            <a:endParaRPr sz="1000">
              <a:latin typeface="Tahoma"/>
              <a:cs typeface="Tahoma"/>
            </a:endParaRPr>
          </a:p>
          <a:p>
            <a:pPr marL="38100" marR="17780">
              <a:lnSpc>
                <a:spcPts val="1200"/>
              </a:lnSpc>
              <a:spcBef>
                <a:spcPts val="40"/>
              </a:spcBef>
            </a:pPr>
            <a:r>
              <a:rPr sz="1000" spc="-55" dirty="0">
                <a:latin typeface="Tahoma"/>
                <a:cs typeface="Tahoma"/>
              </a:rPr>
              <a:t>(</a:t>
            </a:r>
            <a:r>
              <a:rPr sz="1000" i="1" spc="-55" dirty="0">
                <a:latin typeface="Arial"/>
                <a:cs typeface="Arial"/>
              </a:rPr>
              <a:t>a</a:t>
            </a:r>
            <a:r>
              <a:rPr sz="1000" i="1" spc="-55" dirty="0">
                <a:latin typeface="Verdana"/>
                <a:cs typeface="Verdana"/>
              </a:rPr>
              <a:t>, </a:t>
            </a:r>
            <a:r>
              <a:rPr sz="1000" i="1" spc="-5" dirty="0">
                <a:latin typeface="Arial"/>
                <a:cs typeface="Arial"/>
              </a:rPr>
              <a:t>b</a:t>
            </a:r>
            <a:r>
              <a:rPr sz="1000" spc="-5" dirty="0">
                <a:latin typeface="Tahoma"/>
                <a:cs typeface="Tahoma"/>
              </a:rPr>
              <a:t>) </a:t>
            </a:r>
            <a:r>
              <a:rPr sz="1000" spc="-135" dirty="0">
                <a:latin typeface="Lucida Sans Unicode"/>
                <a:cs typeface="Lucida Sans Unicode"/>
              </a:rPr>
              <a:t>∈</a:t>
            </a:r>
            <a:r>
              <a:rPr sz="1000" spc="-130" dirty="0">
                <a:latin typeface="Lucida Sans Unicode"/>
                <a:cs typeface="Lucida Sans Unicode"/>
              </a:rPr>
              <a:t> </a:t>
            </a:r>
            <a:r>
              <a:rPr sz="1000" i="1" spc="25" dirty="0">
                <a:latin typeface="Arial"/>
                <a:cs typeface="Arial"/>
              </a:rPr>
              <a:t>f </a:t>
            </a:r>
            <a:r>
              <a:rPr sz="1000" spc="-30" dirty="0">
                <a:latin typeface="Tahoma"/>
                <a:cs typeface="Tahoma"/>
              </a:rPr>
              <a:t>.</a:t>
            </a:r>
            <a:r>
              <a:rPr sz="1000" spc="-25" dirty="0">
                <a:latin typeface="Tahoma"/>
                <a:cs typeface="Tahoma"/>
              </a:rPr>
              <a:t> </a:t>
            </a:r>
            <a:r>
              <a:rPr sz="1000" spc="-15" dirty="0">
                <a:latin typeface="Tahoma"/>
                <a:cs typeface="Tahoma"/>
              </a:rPr>
              <a:t>The </a:t>
            </a:r>
            <a:r>
              <a:rPr sz="1000" spc="-20" dirty="0">
                <a:latin typeface="Tahoma"/>
                <a:cs typeface="Tahoma"/>
              </a:rPr>
              <a:t>fact, </a:t>
            </a:r>
            <a:r>
              <a:rPr sz="1000" spc="-10" dirty="0">
                <a:latin typeface="Tahoma"/>
                <a:cs typeface="Tahoma"/>
              </a:rPr>
              <a:t>that </a:t>
            </a:r>
            <a:r>
              <a:rPr sz="1000" i="1" spc="25" dirty="0">
                <a:latin typeface="Arial"/>
                <a:cs typeface="Arial"/>
              </a:rPr>
              <a:t>f</a:t>
            </a:r>
            <a:r>
              <a:rPr sz="1000" i="1" spc="30" dirty="0">
                <a:latin typeface="Arial"/>
                <a:cs typeface="Arial"/>
              </a:rPr>
              <a:t> </a:t>
            </a:r>
            <a:r>
              <a:rPr sz="1000" spc="-30" dirty="0">
                <a:latin typeface="Tahoma"/>
                <a:cs typeface="Tahoma"/>
              </a:rPr>
              <a:t>is </a:t>
            </a:r>
            <a:r>
              <a:rPr sz="1000" spc="-50" dirty="0">
                <a:latin typeface="Tahoma"/>
                <a:cs typeface="Tahoma"/>
              </a:rPr>
              <a:t>a </a:t>
            </a:r>
            <a:r>
              <a:rPr sz="1000" spc="-40" dirty="0">
                <a:latin typeface="Tahoma"/>
                <a:cs typeface="Tahoma"/>
              </a:rPr>
              <a:t>mapping </a:t>
            </a:r>
            <a:r>
              <a:rPr sz="1000" spc="-35" dirty="0">
                <a:latin typeface="Tahoma"/>
                <a:cs typeface="Tahoma"/>
              </a:rPr>
              <a:t>from </a:t>
            </a:r>
            <a:r>
              <a:rPr sz="1000" i="1" spc="-5" dirty="0">
                <a:latin typeface="Arial"/>
                <a:cs typeface="Arial"/>
              </a:rPr>
              <a:t>A </a:t>
            </a:r>
            <a:r>
              <a:rPr sz="1000" spc="-10" dirty="0">
                <a:latin typeface="Tahoma"/>
                <a:cs typeface="Tahoma"/>
              </a:rPr>
              <a:t>to </a:t>
            </a:r>
            <a:r>
              <a:rPr sz="1000" i="1" spc="20" dirty="0">
                <a:latin typeface="Arial"/>
                <a:cs typeface="Arial"/>
              </a:rPr>
              <a:t>B</a:t>
            </a:r>
            <a:r>
              <a:rPr sz="1000" spc="20" dirty="0">
                <a:latin typeface="Tahoma"/>
                <a:cs typeface="Tahoma"/>
              </a:rPr>
              <a:t>, </a:t>
            </a:r>
            <a:r>
              <a:rPr sz="1000" spc="-30" dirty="0">
                <a:latin typeface="Tahoma"/>
                <a:cs typeface="Tahoma"/>
              </a:rPr>
              <a:t>is </a:t>
            </a:r>
            <a:r>
              <a:rPr sz="1000" spc="-45" dirty="0">
                <a:latin typeface="Tahoma"/>
                <a:cs typeface="Tahoma"/>
              </a:rPr>
              <a:t>designated </a:t>
            </a:r>
            <a:r>
              <a:rPr sz="1000" spc="-300" dirty="0">
                <a:latin typeface="Tahoma"/>
                <a:cs typeface="Tahoma"/>
              </a:rPr>
              <a:t> </a:t>
            </a:r>
            <a:r>
              <a:rPr sz="1000" spc="-65" dirty="0">
                <a:latin typeface="Tahoma"/>
                <a:cs typeface="Tahoma"/>
              </a:rPr>
              <a:t>as:</a:t>
            </a:r>
            <a:endParaRPr sz="1000">
              <a:latin typeface="Tahoma"/>
              <a:cs typeface="Tahoma"/>
            </a:endParaRPr>
          </a:p>
          <a:p>
            <a:pPr>
              <a:lnSpc>
                <a:spcPct val="100000"/>
              </a:lnSpc>
              <a:spcBef>
                <a:spcPts val="55"/>
              </a:spcBef>
            </a:pPr>
            <a:endParaRPr sz="900">
              <a:latin typeface="Tahoma"/>
              <a:cs typeface="Tahoma"/>
            </a:endParaRPr>
          </a:p>
          <a:p>
            <a:pPr marL="52705" algn="ctr">
              <a:lnSpc>
                <a:spcPct val="100000"/>
              </a:lnSpc>
              <a:spcBef>
                <a:spcPts val="5"/>
              </a:spcBef>
            </a:pPr>
            <a:r>
              <a:rPr sz="1000" i="1" spc="25" dirty="0">
                <a:latin typeface="Arial"/>
                <a:cs typeface="Arial"/>
              </a:rPr>
              <a:t>f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75" dirty="0">
                <a:latin typeface="Tahoma"/>
                <a:cs typeface="Tahoma"/>
              </a:rPr>
              <a:t>o</a:t>
            </a:r>
            <a:r>
              <a:rPr sz="1000" spc="-25" dirty="0">
                <a:latin typeface="Tahoma"/>
                <a:cs typeface="Tahoma"/>
              </a:rPr>
              <a:t>r</a:t>
            </a:r>
            <a:r>
              <a:rPr sz="1000" spc="20" dirty="0">
                <a:latin typeface="Tahoma"/>
                <a:cs typeface="Tahoma"/>
              </a:rPr>
              <a:t> </a:t>
            </a:r>
            <a:r>
              <a:rPr sz="1000" i="1" spc="-5" dirty="0">
                <a:latin typeface="Arial"/>
                <a:cs typeface="Arial"/>
              </a:rPr>
              <a:t>A </a:t>
            </a:r>
            <a:r>
              <a:rPr sz="1000" spc="-635" dirty="0">
                <a:latin typeface="Lucida Sans Unicode"/>
                <a:cs typeface="Lucida Sans Unicode"/>
              </a:rPr>
              <a:t>→</a:t>
            </a:r>
            <a:r>
              <a:rPr sz="1050" i="1" spc="44" baseline="43650" dirty="0">
                <a:latin typeface="Arial"/>
                <a:cs typeface="Arial"/>
              </a:rPr>
              <a:t>f</a:t>
            </a:r>
            <a:r>
              <a:rPr sz="1050" i="1" baseline="43650" dirty="0">
                <a:latin typeface="Arial"/>
                <a:cs typeface="Arial"/>
              </a:rPr>
              <a:t>   </a:t>
            </a:r>
            <a:r>
              <a:rPr sz="1050" i="1" spc="-60" baseline="43650" dirty="0">
                <a:latin typeface="Arial"/>
                <a:cs typeface="Arial"/>
              </a:rPr>
              <a:t> </a:t>
            </a:r>
            <a:r>
              <a:rPr sz="1000" i="1" spc="-5" dirty="0">
                <a:latin typeface="Arial"/>
                <a:cs typeface="Arial"/>
              </a:rPr>
              <a:t>B</a:t>
            </a:r>
            <a:endParaRPr sz="1000">
              <a:latin typeface="Arial"/>
              <a:cs typeface="Arial"/>
            </a:endParaRPr>
          </a:p>
          <a:p>
            <a:pPr marL="38100">
              <a:lnSpc>
                <a:spcPct val="100000"/>
              </a:lnSpc>
              <a:spcBef>
                <a:spcPts val="590"/>
              </a:spcBef>
            </a:pPr>
            <a:r>
              <a:rPr sz="1000" spc="-15" dirty="0">
                <a:latin typeface="Tahoma"/>
                <a:cs typeface="Tahoma"/>
              </a:rPr>
              <a:t>The</a:t>
            </a:r>
            <a:r>
              <a:rPr sz="1000" spc="15" dirty="0">
                <a:latin typeface="Tahoma"/>
                <a:cs typeface="Tahoma"/>
              </a:rPr>
              <a:t> </a:t>
            </a:r>
            <a:r>
              <a:rPr sz="1000" spc="-45" dirty="0">
                <a:latin typeface="Tahoma"/>
                <a:cs typeface="Tahoma"/>
              </a:rPr>
              <a:t>set</a:t>
            </a:r>
            <a:r>
              <a:rPr sz="1000" spc="20" dirty="0">
                <a:latin typeface="Tahoma"/>
                <a:cs typeface="Tahoma"/>
              </a:rPr>
              <a:t> </a:t>
            </a:r>
            <a:r>
              <a:rPr sz="1000" spc="-30" dirty="0">
                <a:latin typeface="Tahoma"/>
                <a:cs typeface="Tahoma"/>
              </a:rPr>
              <a:t>of</a:t>
            </a:r>
            <a:r>
              <a:rPr sz="1000" spc="15" dirty="0">
                <a:latin typeface="Tahoma"/>
                <a:cs typeface="Tahoma"/>
              </a:rPr>
              <a:t> </a:t>
            </a:r>
            <a:r>
              <a:rPr sz="1000" spc="-10" dirty="0">
                <a:latin typeface="Tahoma"/>
                <a:cs typeface="Tahoma"/>
              </a:rPr>
              <a:t>all</a:t>
            </a:r>
            <a:r>
              <a:rPr sz="1000" spc="15" dirty="0">
                <a:latin typeface="Tahoma"/>
                <a:cs typeface="Tahoma"/>
              </a:rPr>
              <a:t> </a:t>
            </a:r>
            <a:r>
              <a:rPr sz="1000" spc="-45" dirty="0">
                <a:latin typeface="Tahoma"/>
                <a:cs typeface="Tahoma"/>
              </a:rPr>
              <a:t>mappings</a:t>
            </a:r>
            <a:r>
              <a:rPr sz="1000" spc="25" dirty="0">
                <a:latin typeface="Tahoma"/>
                <a:cs typeface="Tahoma"/>
              </a:rPr>
              <a:t> </a:t>
            </a:r>
            <a:r>
              <a:rPr sz="1000" spc="-35" dirty="0">
                <a:latin typeface="Tahoma"/>
                <a:cs typeface="Tahoma"/>
              </a:rPr>
              <a:t>from</a:t>
            </a:r>
            <a:r>
              <a:rPr sz="1000" spc="20" dirty="0">
                <a:latin typeface="Tahoma"/>
                <a:cs typeface="Tahoma"/>
              </a:rPr>
              <a:t> </a:t>
            </a:r>
            <a:r>
              <a:rPr sz="1000" i="1" spc="-5" dirty="0">
                <a:latin typeface="Arial"/>
                <a:cs typeface="Arial"/>
              </a:rPr>
              <a:t>A</a:t>
            </a:r>
            <a:r>
              <a:rPr sz="1000" i="1" spc="55" dirty="0">
                <a:latin typeface="Arial"/>
                <a:cs typeface="Arial"/>
              </a:rPr>
              <a:t> </a:t>
            </a:r>
            <a:r>
              <a:rPr sz="1000" spc="-10" dirty="0">
                <a:latin typeface="Tahoma"/>
                <a:cs typeface="Tahoma"/>
              </a:rPr>
              <a:t>to</a:t>
            </a:r>
            <a:r>
              <a:rPr sz="1000" spc="15" dirty="0">
                <a:latin typeface="Tahoma"/>
                <a:cs typeface="Tahoma"/>
              </a:rPr>
              <a:t> </a:t>
            </a:r>
            <a:r>
              <a:rPr sz="1000" i="1" spc="-5" dirty="0">
                <a:latin typeface="Arial"/>
                <a:cs typeface="Arial"/>
              </a:rPr>
              <a:t>B</a:t>
            </a:r>
            <a:r>
              <a:rPr sz="1000" i="1" spc="135" dirty="0">
                <a:latin typeface="Arial"/>
                <a:cs typeface="Arial"/>
              </a:rPr>
              <a:t> </a:t>
            </a:r>
            <a:r>
              <a:rPr sz="1000" spc="-30" dirty="0">
                <a:latin typeface="Tahoma"/>
                <a:cs typeface="Tahoma"/>
              </a:rPr>
              <a:t>is</a:t>
            </a:r>
            <a:r>
              <a:rPr sz="1000" spc="25" dirty="0">
                <a:latin typeface="Tahoma"/>
                <a:cs typeface="Tahoma"/>
              </a:rPr>
              <a:t> </a:t>
            </a:r>
            <a:r>
              <a:rPr sz="1000" spc="-45" dirty="0">
                <a:latin typeface="Tahoma"/>
                <a:cs typeface="Tahoma"/>
              </a:rPr>
              <a:t>designated</a:t>
            </a:r>
            <a:r>
              <a:rPr sz="1000" spc="20" dirty="0">
                <a:latin typeface="Tahoma"/>
                <a:cs typeface="Tahoma"/>
              </a:rPr>
              <a:t> </a:t>
            </a:r>
            <a:r>
              <a:rPr sz="1000" spc="-60" dirty="0">
                <a:latin typeface="Tahoma"/>
                <a:cs typeface="Tahoma"/>
              </a:rPr>
              <a:t>as</a:t>
            </a:r>
            <a:endParaRPr sz="1000">
              <a:latin typeface="Tahoma"/>
              <a:cs typeface="Tahoma"/>
            </a:endParaRPr>
          </a:p>
          <a:p>
            <a:pPr>
              <a:lnSpc>
                <a:spcPct val="100000"/>
              </a:lnSpc>
              <a:spcBef>
                <a:spcPts val="25"/>
              </a:spcBef>
            </a:pPr>
            <a:endParaRPr sz="800">
              <a:latin typeface="Tahoma"/>
              <a:cs typeface="Tahoma"/>
            </a:endParaRPr>
          </a:p>
          <a:p>
            <a:pPr marL="63500" algn="ctr">
              <a:lnSpc>
                <a:spcPct val="100000"/>
              </a:lnSpc>
            </a:pPr>
            <a:r>
              <a:rPr sz="1000" i="1" spc="75" dirty="0">
                <a:latin typeface="Arial"/>
                <a:cs typeface="Arial"/>
              </a:rPr>
              <a:t>B</a:t>
            </a:r>
            <a:r>
              <a:rPr sz="1050" i="1" spc="37" baseline="31746" dirty="0">
                <a:latin typeface="Arial"/>
                <a:cs typeface="Arial"/>
              </a:rPr>
              <a:t>A</a:t>
            </a:r>
            <a:r>
              <a:rPr sz="1050" i="1" baseline="31746" dirty="0">
                <a:latin typeface="Arial"/>
                <a:cs typeface="Arial"/>
              </a:rPr>
              <a:t> </a:t>
            </a:r>
            <a:r>
              <a:rPr sz="1050" i="1" spc="-97" baseline="31746"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25" dirty="0">
                <a:latin typeface="Arial"/>
                <a:cs typeface="Arial"/>
              </a:rPr>
              <a:t>f</a:t>
            </a:r>
            <a:r>
              <a:rPr sz="1000" i="1" spc="-65" dirty="0">
                <a:latin typeface="Arial"/>
                <a:cs typeface="Arial"/>
              </a:rPr>
              <a:t> </a:t>
            </a:r>
            <a:r>
              <a:rPr sz="1000" spc="-100" dirty="0">
                <a:latin typeface="Lucida Sans Unicode"/>
                <a:cs typeface="Lucida Sans Unicode"/>
              </a:rPr>
              <a:t>|</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75" dirty="0">
                <a:latin typeface="Arial"/>
                <a:cs typeface="Arial"/>
              </a:rPr>
              <a:t>B</a:t>
            </a:r>
            <a:r>
              <a:rPr sz="1000" spc="170" dirty="0">
                <a:latin typeface="Lucida Sans Unicode"/>
                <a:cs typeface="Lucida Sans Unicode"/>
              </a:rPr>
              <a:t>}</a:t>
            </a:r>
            <a:endParaRPr sz="1000">
              <a:latin typeface="Lucida Sans Unicode"/>
              <a:cs typeface="Lucida Sans Unicode"/>
            </a:endParaRP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585085" cy="244475"/>
          </a:xfrm>
          <a:prstGeom prst="rect">
            <a:avLst/>
          </a:prstGeom>
        </p:spPr>
        <p:txBody>
          <a:bodyPr vert="horz" wrap="square" lIns="0" tIns="17145" rIns="0" bIns="0" rtlCol="0">
            <a:spAutoFit/>
          </a:bodyPr>
          <a:lstStyle/>
          <a:p>
            <a:pPr marL="12700">
              <a:lnSpc>
                <a:spcPct val="100000"/>
              </a:lnSpc>
              <a:spcBef>
                <a:spcPts val="135"/>
              </a:spcBef>
            </a:pPr>
            <a:r>
              <a:rPr spc="-65" dirty="0"/>
              <a:t>Rigorous</a:t>
            </a:r>
            <a:r>
              <a:rPr spc="125" dirty="0"/>
              <a:t> </a:t>
            </a:r>
            <a:r>
              <a:rPr spc="-25" dirty="0"/>
              <a:t>definition</a:t>
            </a:r>
            <a:r>
              <a:rPr spc="125" dirty="0"/>
              <a:t> </a:t>
            </a:r>
            <a:r>
              <a:rPr spc="-30" dirty="0"/>
              <a:t>of</a:t>
            </a:r>
            <a:r>
              <a:rPr spc="125" dirty="0"/>
              <a:t> </a:t>
            </a:r>
            <a:r>
              <a:rPr spc="-40" dirty="0"/>
              <a:t>mapping</a:t>
            </a:r>
          </a:p>
        </p:txBody>
      </p:sp>
      <p:sp>
        <p:nvSpPr>
          <p:cNvPr id="30" name="object 30"/>
          <p:cNvSpPr txBox="1"/>
          <p:nvPr/>
        </p:nvSpPr>
        <p:spPr>
          <a:xfrm>
            <a:off x="736663" y="1014570"/>
            <a:ext cx="3703954" cy="633095"/>
          </a:xfrm>
          <a:prstGeom prst="rect">
            <a:avLst/>
          </a:prstGeom>
        </p:spPr>
        <p:txBody>
          <a:bodyPr vert="horz" wrap="square" lIns="0" tIns="12065" rIns="0" bIns="0" rtlCol="0">
            <a:spAutoFit/>
          </a:bodyPr>
          <a:lstStyle/>
          <a:p>
            <a:pPr marL="12700" marR="5080">
              <a:lnSpc>
                <a:spcPct val="100000"/>
              </a:lnSpc>
              <a:spcBef>
                <a:spcPts val="95"/>
              </a:spcBef>
            </a:pPr>
            <a:r>
              <a:rPr sz="1000" spc="-30" dirty="0">
                <a:latin typeface="Tahoma"/>
                <a:cs typeface="Tahoma"/>
              </a:rPr>
              <a:t>Such </a:t>
            </a:r>
            <a:r>
              <a:rPr sz="1000" spc="-25" dirty="0">
                <a:latin typeface="Tahoma"/>
                <a:cs typeface="Tahoma"/>
              </a:rPr>
              <a:t>definition doesn’t </a:t>
            </a:r>
            <a:r>
              <a:rPr sz="1000" spc="-65" dirty="0">
                <a:latin typeface="Tahoma"/>
                <a:cs typeface="Tahoma"/>
              </a:rPr>
              <a:t>use</a:t>
            </a:r>
            <a:r>
              <a:rPr sz="1000" spc="-60" dirty="0">
                <a:latin typeface="Tahoma"/>
                <a:cs typeface="Tahoma"/>
              </a:rPr>
              <a:t> </a:t>
            </a:r>
            <a:r>
              <a:rPr sz="1000" spc="-45" dirty="0">
                <a:latin typeface="Tahoma"/>
                <a:cs typeface="Tahoma"/>
              </a:rPr>
              <a:t>such </a:t>
            </a:r>
            <a:r>
              <a:rPr sz="1000" spc="-40" dirty="0">
                <a:latin typeface="Tahoma"/>
                <a:cs typeface="Tahoma"/>
              </a:rPr>
              <a:t>unclear </a:t>
            </a:r>
            <a:r>
              <a:rPr sz="1000" spc="-30" dirty="0">
                <a:latin typeface="Tahoma"/>
                <a:cs typeface="Tahoma"/>
              </a:rPr>
              <a:t>notions </a:t>
            </a:r>
            <a:r>
              <a:rPr sz="1000" spc="-60" dirty="0">
                <a:latin typeface="Tahoma"/>
                <a:cs typeface="Tahoma"/>
              </a:rPr>
              <a:t>as</a:t>
            </a:r>
            <a:r>
              <a:rPr sz="1000" spc="-55" dirty="0">
                <a:latin typeface="Tahoma"/>
                <a:cs typeface="Tahoma"/>
              </a:rPr>
              <a:t> </a:t>
            </a:r>
            <a:r>
              <a:rPr sz="1000" spc="5" dirty="0">
                <a:latin typeface="Tahoma"/>
                <a:cs typeface="Tahoma"/>
              </a:rPr>
              <a:t>“law”, </a:t>
            </a:r>
            <a:r>
              <a:rPr sz="1000" dirty="0">
                <a:latin typeface="Tahoma"/>
                <a:cs typeface="Tahoma"/>
              </a:rPr>
              <a:t>“rule”, </a:t>
            </a:r>
            <a:r>
              <a:rPr sz="1000" spc="5" dirty="0">
                <a:latin typeface="Tahoma"/>
                <a:cs typeface="Tahoma"/>
              </a:rPr>
              <a:t> </a:t>
            </a:r>
            <a:r>
              <a:rPr sz="1000" spc="-10" dirty="0">
                <a:latin typeface="Tahoma"/>
                <a:cs typeface="Tahoma"/>
              </a:rPr>
              <a:t>“way”,</a:t>
            </a:r>
            <a:r>
              <a:rPr sz="1000" spc="10" dirty="0">
                <a:latin typeface="Tahoma"/>
                <a:cs typeface="Tahoma"/>
              </a:rPr>
              <a:t> </a:t>
            </a:r>
            <a:r>
              <a:rPr sz="1000" spc="-20" dirty="0">
                <a:latin typeface="Tahoma"/>
                <a:cs typeface="Tahoma"/>
              </a:rPr>
              <a:t>but</a:t>
            </a:r>
            <a:r>
              <a:rPr sz="1000" spc="15" dirty="0">
                <a:latin typeface="Tahoma"/>
                <a:cs typeface="Tahoma"/>
              </a:rPr>
              <a:t> </a:t>
            </a:r>
            <a:r>
              <a:rPr sz="1000" spc="-55" dirty="0">
                <a:latin typeface="Tahoma"/>
                <a:cs typeface="Tahoma"/>
              </a:rPr>
              <a:t>reduces</a:t>
            </a:r>
            <a:r>
              <a:rPr sz="1000" spc="10" dirty="0">
                <a:latin typeface="Tahoma"/>
                <a:cs typeface="Tahoma"/>
              </a:rPr>
              <a:t> </a:t>
            </a:r>
            <a:r>
              <a:rPr sz="1000" spc="-35" dirty="0">
                <a:latin typeface="Tahoma"/>
                <a:cs typeface="Tahoma"/>
              </a:rPr>
              <a:t>the</a:t>
            </a:r>
            <a:r>
              <a:rPr sz="1000" spc="15" dirty="0">
                <a:latin typeface="Tahoma"/>
                <a:cs typeface="Tahoma"/>
              </a:rPr>
              <a:t> </a:t>
            </a:r>
            <a:r>
              <a:rPr sz="1000" spc="-25" dirty="0">
                <a:latin typeface="Tahoma"/>
                <a:cs typeface="Tahoma"/>
              </a:rPr>
              <a:t>notion</a:t>
            </a:r>
            <a:r>
              <a:rPr sz="1000" spc="10" dirty="0">
                <a:latin typeface="Tahoma"/>
                <a:cs typeface="Tahoma"/>
              </a:rPr>
              <a:t> </a:t>
            </a:r>
            <a:r>
              <a:rPr sz="1000" spc="-30" dirty="0">
                <a:latin typeface="Tahoma"/>
                <a:cs typeface="Tahoma"/>
              </a:rPr>
              <a:t>of</a:t>
            </a:r>
            <a:r>
              <a:rPr sz="1000" spc="10" dirty="0">
                <a:latin typeface="Tahoma"/>
                <a:cs typeface="Tahoma"/>
              </a:rPr>
              <a:t> </a:t>
            </a:r>
            <a:r>
              <a:rPr sz="1000" spc="-40" dirty="0">
                <a:latin typeface="Tahoma"/>
                <a:cs typeface="Tahoma"/>
              </a:rPr>
              <a:t>mapping</a:t>
            </a:r>
            <a:r>
              <a:rPr sz="1000" spc="15" dirty="0">
                <a:latin typeface="Tahoma"/>
                <a:cs typeface="Tahoma"/>
              </a:rPr>
              <a:t> </a:t>
            </a:r>
            <a:r>
              <a:rPr sz="1000" spc="-10" dirty="0">
                <a:latin typeface="Tahoma"/>
                <a:cs typeface="Tahoma"/>
              </a:rPr>
              <a:t>to</a:t>
            </a:r>
            <a:r>
              <a:rPr sz="1000" spc="10" dirty="0">
                <a:latin typeface="Tahoma"/>
                <a:cs typeface="Tahoma"/>
              </a:rPr>
              <a:t> </a:t>
            </a:r>
            <a:r>
              <a:rPr sz="1000" i="1" spc="-55" dirty="0">
                <a:latin typeface="Arial"/>
                <a:cs typeface="Arial"/>
              </a:rPr>
              <a:t>set</a:t>
            </a:r>
            <a:r>
              <a:rPr sz="1000" i="1" spc="50" dirty="0">
                <a:latin typeface="Arial"/>
                <a:cs typeface="Arial"/>
              </a:rPr>
              <a:t> </a:t>
            </a:r>
            <a:r>
              <a:rPr sz="1000" i="1" spc="-20" dirty="0">
                <a:latin typeface="Arial"/>
                <a:cs typeface="Arial"/>
              </a:rPr>
              <a:t>of</a:t>
            </a:r>
            <a:r>
              <a:rPr sz="1000" i="1" spc="45" dirty="0">
                <a:latin typeface="Arial"/>
                <a:cs typeface="Arial"/>
              </a:rPr>
              <a:t> </a:t>
            </a:r>
            <a:r>
              <a:rPr sz="1000" i="1" spc="-45" dirty="0">
                <a:latin typeface="Arial"/>
                <a:cs typeface="Arial"/>
              </a:rPr>
              <a:t>pairs</a:t>
            </a:r>
            <a:r>
              <a:rPr sz="1000" i="1" spc="50" dirty="0">
                <a:latin typeface="Arial"/>
                <a:cs typeface="Arial"/>
              </a:rPr>
              <a:t> </a:t>
            </a:r>
            <a:r>
              <a:rPr sz="1000" i="1" spc="-20" dirty="0">
                <a:latin typeface="Arial"/>
                <a:cs typeface="Arial"/>
              </a:rPr>
              <a:t>of</a:t>
            </a:r>
            <a:r>
              <a:rPr sz="1000" i="1" spc="45" dirty="0">
                <a:latin typeface="Arial"/>
                <a:cs typeface="Arial"/>
              </a:rPr>
              <a:t> </a:t>
            </a:r>
            <a:r>
              <a:rPr sz="1000" i="1" spc="-55" dirty="0">
                <a:latin typeface="Arial"/>
                <a:cs typeface="Arial"/>
              </a:rPr>
              <a:t>elements</a:t>
            </a:r>
            <a:r>
              <a:rPr sz="1000" spc="-55" dirty="0">
                <a:latin typeface="Tahoma"/>
                <a:cs typeface="Tahoma"/>
              </a:rPr>
              <a:t>, </a:t>
            </a:r>
            <a:r>
              <a:rPr sz="1000" spc="-300" dirty="0">
                <a:latin typeface="Tahoma"/>
                <a:cs typeface="Tahoma"/>
              </a:rPr>
              <a:t> </a:t>
            </a:r>
            <a:r>
              <a:rPr sz="1000" spc="-35" dirty="0">
                <a:latin typeface="Tahoma"/>
                <a:cs typeface="Tahoma"/>
              </a:rPr>
              <a:t>which</a:t>
            </a:r>
            <a:r>
              <a:rPr sz="1000" spc="20" dirty="0">
                <a:latin typeface="Tahoma"/>
                <a:cs typeface="Tahoma"/>
              </a:rPr>
              <a:t> </a:t>
            </a:r>
            <a:r>
              <a:rPr sz="1000" spc="-30" dirty="0">
                <a:latin typeface="Tahoma"/>
                <a:cs typeface="Tahoma"/>
              </a:rPr>
              <a:t>satisfy</a:t>
            </a:r>
            <a:r>
              <a:rPr sz="1000" spc="25" dirty="0">
                <a:latin typeface="Tahoma"/>
                <a:cs typeface="Tahoma"/>
              </a:rPr>
              <a:t> </a:t>
            </a:r>
            <a:r>
              <a:rPr sz="1000" spc="-30" dirty="0">
                <a:latin typeface="Tahoma"/>
                <a:cs typeface="Tahoma"/>
              </a:rPr>
              <a:t>certain</a:t>
            </a:r>
            <a:r>
              <a:rPr sz="1000" spc="20" dirty="0">
                <a:latin typeface="Tahoma"/>
                <a:cs typeface="Tahoma"/>
              </a:rPr>
              <a:t> </a:t>
            </a:r>
            <a:r>
              <a:rPr sz="1000" spc="-45" dirty="0">
                <a:latin typeface="Tahoma"/>
                <a:cs typeface="Tahoma"/>
              </a:rPr>
              <a:t>requirements,</a:t>
            </a:r>
            <a:r>
              <a:rPr sz="1000" spc="25" dirty="0">
                <a:latin typeface="Tahoma"/>
                <a:cs typeface="Tahoma"/>
              </a:rPr>
              <a:t> </a:t>
            </a:r>
            <a:r>
              <a:rPr sz="1000" spc="-35" dirty="0">
                <a:latin typeface="Tahoma"/>
                <a:cs typeface="Tahoma"/>
              </a:rPr>
              <a:t>which</a:t>
            </a:r>
            <a:r>
              <a:rPr sz="1000" spc="25" dirty="0">
                <a:latin typeface="Tahoma"/>
                <a:cs typeface="Tahoma"/>
              </a:rPr>
              <a:t> </a:t>
            </a:r>
            <a:r>
              <a:rPr sz="1000" spc="-55" dirty="0">
                <a:latin typeface="Tahoma"/>
                <a:cs typeface="Tahoma"/>
              </a:rPr>
              <a:t>have</a:t>
            </a:r>
            <a:r>
              <a:rPr sz="1000" spc="30" dirty="0">
                <a:latin typeface="Tahoma"/>
                <a:cs typeface="Tahoma"/>
              </a:rPr>
              <a:t> </a:t>
            </a:r>
            <a:r>
              <a:rPr sz="1000" spc="-50" dirty="0">
                <a:latin typeface="Tahoma"/>
                <a:cs typeface="Tahoma"/>
              </a:rPr>
              <a:t>a</a:t>
            </a:r>
            <a:r>
              <a:rPr sz="1000" spc="20" dirty="0">
                <a:latin typeface="Tahoma"/>
                <a:cs typeface="Tahoma"/>
              </a:rPr>
              <a:t> </a:t>
            </a:r>
            <a:r>
              <a:rPr sz="1000" spc="-40" dirty="0">
                <a:latin typeface="Tahoma"/>
                <a:cs typeface="Tahoma"/>
              </a:rPr>
              <a:t>clear</a:t>
            </a:r>
            <a:r>
              <a:rPr sz="1000" spc="25" dirty="0">
                <a:latin typeface="Tahoma"/>
                <a:cs typeface="Tahoma"/>
              </a:rPr>
              <a:t> </a:t>
            </a:r>
            <a:r>
              <a:rPr sz="1000" spc="-50" dirty="0">
                <a:latin typeface="Tahoma"/>
                <a:cs typeface="Tahoma"/>
              </a:rPr>
              <a:t>meaning:</a:t>
            </a:r>
            <a:r>
              <a:rPr sz="1000" spc="140" dirty="0">
                <a:latin typeface="Tahoma"/>
                <a:cs typeface="Tahoma"/>
              </a:rPr>
              <a:t> </a:t>
            </a:r>
            <a:r>
              <a:rPr sz="1000" spc="-40" dirty="0">
                <a:latin typeface="Tahoma"/>
                <a:cs typeface="Tahoma"/>
              </a:rPr>
              <a:t>for </a:t>
            </a:r>
            <a:r>
              <a:rPr sz="1000" spc="-35" dirty="0">
                <a:latin typeface="Tahoma"/>
                <a:cs typeface="Tahoma"/>
              </a:rPr>
              <a:t> </a:t>
            </a:r>
            <a:r>
              <a:rPr sz="1000" spc="-50" dirty="0">
                <a:latin typeface="Tahoma"/>
                <a:cs typeface="Tahoma"/>
              </a:rPr>
              <a:t>each</a:t>
            </a:r>
            <a:r>
              <a:rPr sz="1000" spc="15" dirty="0">
                <a:latin typeface="Tahoma"/>
                <a:cs typeface="Tahoma"/>
              </a:rPr>
              <a:t> </a:t>
            </a:r>
            <a:r>
              <a:rPr sz="1000" spc="-45" dirty="0">
                <a:latin typeface="Tahoma"/>
                <a:cs typeface="Tahoma"/>
              </a:rPr>
              <a:t>argument</a:t>
            </a:r>
            <a:r>
              <a:rPr sz="1000" spc="15" dirty="0">
                <a:latin typeface="Tahoma"/>
                <a:cs typeface="Tahoma"/>
              </a:rPr>
              <a:t> </a:t>
            </a:r>
            <a:r>
              <a:rPr sz="1000" spc="-45" dirty="0">
                <a:latin typeface="Tahoma"/>
                <a:cs typeface="Tahoma"/>
              </a:rPr>
              <a:t>there</a:t>
            </a:r>
            <a:r>
              <a:rPr sz="1000" spc="15" dirty="0">
                <a:latin typeface="Tahoma"/>
                <a:cs typeface="Tahoma"/>
              </a:rPr>
              <a:t> </a:t>
            </a:r>
            <a:r>
              <a:rPr sz="1000" spc="-35" dirty="0">
                <a:latin typeface="Tahoma"/>
                <a:cs typeface="Tahoma"/>
              </a:rPr>
              <a:t>must</a:t>
            </a:r>
            <a:r>
              <a:rPr sz="1000" spc="20" dirty="0">
                <a:latin typeface="Tahoma"/>
                <a:cs typeface="Tahoma"/>
              </a:rPr>
              <a:t> </a:t>
            </a:r>
            <a:r>
              <a:rPr sz="1000" spc="-45" dirty="0">
                <a:latin typeface="Tahoma"/>
                <a:cs typeface="Tahoma"/>
              </a:rPr>
              <a:t>correspond</a:t>
            </a:r>
            <a:r>
              <a:rPr sz="1000" spc="15" dirty="0">
                <a:latin typeface="Tahoma"/>
                <a:cs typeface="Tahoma"/>
              </a:rPr>
              <a:t> </a:t>
            </a:r>
            <a:r>
              <a:rPr sz="1000" spc="-45" dirty="0">
                <a:latin typeface="Tahoma"/>
                <a:cs typeface="Tahoma"/>
              </a:rPr>
              <a:t>no</a:t>
            </a:r>
            <a:r>
              <a:rPr sz="1000" spc="20" dirty="0">
                <a:latin typeface="Tahoma"/>
                <a:cs typeface="Tahoma"/>
              </a:rPr>
              <a:t> </a:t>
            </a:r>
            <a:r>
              <a:rPr sz="1000" spc="-60" dirty="0">
                <a:latin typeface="Tahoma"/>
                <a:cs typeface="Tahoma"/>
              </a:rPr>
              <a:t>more</a:t>
            </a:r>
            <a:r>
              <a:rPr sz="1000" spc="20" dirty="0">
                <a:latin typeface="Tahoma"/>
                <a:cs typeface="Tahoma"/>
              </a:rPr>
              <a:t> </a:t>
            </a:r>
            <a:r>
              <a:rPr sz="1000" spc="-40" dirty="0">
                <a:latin typeface="Tahoma"/>
                <a:cs typeface="Tahoma"/>
              </a:rPr>
              <a:t>then</a:t>
            </a:r>
            <a:r>
              <a:rPr sz="1000" spc="15" dirty="0">
                <a:latin typeface="Tahoma"/>
                <a:cs typeface="Tahoma"/>
              </a:rPr>
              <a:t> </a:t>
            </a:r>
            <a:r>
              <a:rPr sz="1000" spc="-60" dirty="0">
                <a:latin typeface="Tahoma"/>
                <a:cs typeface="Tahoma"/>
              </a:rPr>
              <a:t>one</a:t>
            </a:r>
            <a:r>
              <a:rPr sz="1000" spc="25" dirty="0">
                <a:latin typeface="Tahoma"/>
                <a:cs typeface="Tahoma"/>
              </a:rPr>
              <a:t> </a:t>
            </a:r>
            <a:r>
              <a:rPr sz="1000" spc="-40" dirty="0">
                <a:latin typeface="Tahoma"/>
                <a:cs typeface="Tahoma"/>
              </a:rPr>
              <a:t>value.</a:t>
            </a:r>
            <a:endParaRPr sz="1000">
              <a:latin typeface="Tahoma"/>
              <a:cs typeface="Tahoma"/>
            </a:endParaRPr>
          </a:p>
        </p:txBody>
      </p:sp>
      <p:sp>
        <p:nvSpPr>
          <p:cNvPr id="31" name="object 31"/>
          <p:cNvSpPr txBox="1"/>
          <p:nvPr/>
        </p:nvSpPr>
        <p:spPr>
          <a:xfrm>
            <a:off x="711263" y="1621896"/>
            <a:ext cx="3755390" cy="1195705"/>
          </a:xfrm>
          <a:prstGeom prst="rect">
            <a:avLst/>
          </a:prstGeom>
        </p:spPr>
        <p:txBody>
          <a:bodyPr vert="horz" wrap="square" lIns="0" tIns="12065" rIns="0" bIns="0" rtlCol="0">
            <a:spAutoFit/>
          </a:bodyPr>
          <a:lstStyle/>
          <a:p>
            <a:pPr marL="38100" marR="30480">
              <a:lnSpc>
                <a:spcPct val="100000"/>
              </a:lnSpc>
              <a:spcBef>
                <a:spcPts val="95"/>
              </a:spcBef>
            </a:pPr>
            <a:r>
              <a:rPr sz="1000" spc="-35" dirty="0">
                <a:latin typeface="Tahoma"/>
                <a:cs typeface="Tahoma"/>
              </a:rPr>
              <a:t>Wherein </a:t>
            </a:r>
            <a:r>
              <a:rPr sz="1000" spc="-40" dirty="0">
                <a:latin typeface="Tahoma"/>
                <a:cs typeface="Tahoma"/>
              </a:rPr>
              <a:t>for </a:t>
            </a:r>
            <a:r>
              <a:rPr sz="1000" spc="-55" dirty="0">
                <a:latin typeface="Tahoma"/>
                <a:cs typeface="Tahoma"/>
              </a:rPr>
              <a:t>(</a:t>
            </a:r>
            <a:r>
              <a:rPr sz="1000" i="1" spc="-55" dirty="0">
                <a:latin typeface="Arial"/>
                <a:cs typeface="Arial"/>
              </a:rPr>
              <a:t>a</a:t>
            </a:r>
            <a:r>
              <a:rPr sz="1000" i="1" spc="-55" dirty="0">
                <a:latin typeface="Verdana"/>
                <a:cs typeface="Verdana"/>
              </a:rPr>
              <a:t>, </a:t>
            </a:r>
            <a:r>
              <a:rPr sz="1000" i="1" spc="-5" dirty="0">
                <a:latin typeface="Arial"/>
                <a:cs typeface="Arial"/>
              </a:rPr>
              <a:t>b</a:t>
            </a:r>
            <a:r>
              <a:rPr sz="1000" spc="-5" dirty="0">
                <a:latin typeface="Tahoma"/>
                <a:cs typeface="Tahoma"/>
              </a:rPr>
              <a:t>) </a:t>
            </a:r>
            <a:r>
              <a:rPr sz="1000" spc="-135" dirty="0">
                <a:latin typeface="Lucida Sans Unicode"/>
                <a:cs typeface="Lucida Sans Unicode"/>
              </a:rPr>
              <a:t>∈</a:t>
            </a:r>
            <a:r>
              <a:rPr sz="1000" spc="-130" dirty="0">
                <a:latin typeface="Lucida Sans Unicode"/>
                <a:cs typeface="Lucida Sans Unicode"/>
              </a:rPr>
              <a:t> </a:t>
            </a:r>
            <a:r>
              <a:rPr sz="1000" i="1" spc="25" dirty="0">
                <a:latin typeface="Arial"/>
                <a:cs typeface="Arial"/>
              </a:rPr>
              <a:t>f</a:t>
            </a:r>
            <a:r>
              <a:rPr sz="1000" i="1" spc="30" dirty="0">
                <a:latin typeface="Arial"/>
                <a:cs typeface="Arial"/>
              </a:rPr>
              <a:t> </a:t>
            </a:r>
            <a:r>
              <a:rPr sz="1000" spc="-90" dirty="0">
                <a:latin typeface="Tahoma"/>
                <a:cs typeface="Tahoma"/>
              </a:rPr>
              <a:t>we </a:t>
            </a:r>
            <a:r>
              <a:rPr sz="1000" spc="-10" dirty="0">
                <a:latin typeface="Tahoma"/>
                <a:cs typeface="Tahoma"/>
              </a:rPr>
              <a:t>will </a:t>
            </a:r>
            <a:r>
              <a:rPr sz="1000" spc="-30" dirty="0">
                <a:latin typeface="Tahoma"/>
                <a:cs typeface="Tahoma"/>
              </a:rPr>
              <a:t>write </a:t>
            </a:r>
            <a:r>
              <a:rPr sz="1000" i="1" spc="25" dirty="0">
                <a:latin typeface="Arial"/>
                <a:cs typeface="Arial"/>
              </a:rPr>
              <a:t>f </a:t>
            </a:r>
            <a:r>
              <a:rPr sz="1000" spc="-25" dirty="0">
                <a:latin typeface="Tahoma"/>
                <a:cs typeface="Tahoma"/>
              </a:rPr>
              <a:t>(</a:t>
            </a:r>
            <a:r>
              <a:rPr sz="1000" i="1" spc="-25" dirty="0">
                <a:latin typeface="Arial"/>
                <a:cs typeface="Arial"/>
              </a:rPr>
              <a:t>a</a:t>
            </a:r>
            <a:r>
              <a:rPr sz="1000" spc="-25" dirty="0">
                <a:latin typeface="Tahoma"/>
                <a:cs typeface="Tahoma"/>
              </a:rPr>
              <a:t>) </a:t>
            </a:r>
            <a:r>
              <a:rPr sz="1000" spc="45" dirty="0">
                <a:latin typeface="Tahoma"/>
                <a:cs typeface="Tahoma"/>
              </a:rPr>
              <a:t>= </a:t>
            </a:r>
            <a:r>
              <a:rPr sz="1000" i="1" spc="-20" dirty="0">
                <a:latin typeface="Arial"/>
                <a:cs typeface="Arial"/>
              </a:rPr>
              <a:t>b</a:t>
            </a:r>
            <a:r>
              <a:rPr sz="1000" spc="-20" dirty="0">
                <a:latin typeface="Tahoma"/>
                <a:cs typeface="Tahoma"/>
              </a:rPr>
              <a:t>, </a:t>
            </a:r>
            <a:r>
              <a:rPr sz="1000" spc="-45" dirty="0">
                <a:latin typeface="Tahoma"/>
                <a:cs typeface="Tahoma"/>
              </a:rPr>
              <a:t>element </a:t>
            </a:r>
            <a:r>
              <a:rPr sz="1000" i="1" spc="-80" dirty="0">
                <a:latin typeface="Arial"/>
                <a:cs typeface="Arial"/>
              </a:rPr>
              <a:t>a</a:t>
            </a:r>
            <a:r>
              <a:rPr sz="1000" i="1" spc="-75" dirty="0">
                <a:latin typeface="Arial"/>
                <a:cs typeface="Arial"/>
              </a:rPr>
              <a:t> </a:t>
            </a:r>
            <a:r>
              <a:rPr sz="1000" spc="-30" dirty="0">
                <a:latin typeface="Tahoma"/>
                <a:cs typeface="Tahoma"/>
              </a:rPr>
              <a:t>is called </a:t>
            </a:r>
            <a:r>
              <a:rPr sz="1000" spc="-50" dirty="0">
                <a:latin typeface="Tahoma"/>
                <a:cs typeface="Tahoma"/>
              </a:rPr>
              <a:t>an </a:t>
            </a:r>
            <a:r>
              <a:rPr sz="1000" spc="-45" dirty="0">
                <a:latin typeface="Tahoma"/>
                <a:cs typeface="Tahoma"/>
              </a:rPr>
              <a:t> </a:t>
            </a:r>
            <a:r>
              <a:rPr sz="1000" b="1" spc="-35" dirty="0">
                <a:latin typeface="Arial"/>
                <a:cs typeface="Arial"/>
              </a:rPr>
              <a:t>argument</a:t>
            </a:r>
            <a:r>
              <a:rPr sz="1000" spc="-35" dirty="0">
                <a:latin typeface="Tahoma"/>
                <a:cs typeface="Tahoma"/>
              </a:rPr>
              <a:t>, </a:t>
            </a:r>
            <a:r>
              <a:rPr sz="1000" spc="-45" dirty="0">
                <a:latin typeface="Tahoma"/>
                <a:cs typeface="Tahoma"/>
              </a:rPr>
              <a:t>and </a:t>
            </a:r>
            <a:r>
              <a:rPr sz="1000" i="1" spc="-45" dirty="0">
                <a:latin typeface="Arial"/>
                <a:cs typeface="Arial"/>
              </a:rPr>
              <a:t>b</a:t>
            </a:r>
            <a:r>
              <a:rPr sz="1000" i="1" spc="-40" dirty="0">
                <a:latin typeface="Arial"/>
                <a:cs typeface="Arial"/>
              </a:rPr>
              <a:t> </a:t>
            </a:r>
            <a:r>
              <a:rPr sz="1000" spc="-35" dirty="0">
                <a:latin typeface="Tahoma"/>
                <a:cs typeface="Tahoma"/>
              </a:rPr>
              <a:t>- </a:t>
            </a:r>
            <a:r>
              <a:rPr sz="1000" spc="-50" dirty="0">
                <a:latin typeface="Tahoma"/>
                <a:cs typeface="Tahoma"/>
              </a:rPr>
              <a:t>a </a:t>
            </a:r>
            <a:r>
              <a:rPr sz="1000" b="1" spc="-45" dirty="0">
                <a:latin typeface="Arial"/>
                <a:cs typeface="Arial"/>
              </a:rPr>
              <a:t>value</a:t>
            </a:r>
            <a:r>
              <a:rPr sz="1000" b="1" spc="-40" dirty="0">
                <a:latin typeface="Arial"/>
                <a:cs typeface="Arial"/>
              </a:rPr>
              <a:t> </a:t>
            </a:r>
            <a:r>
              <a:rPr sz="1000" spc="-30" dirty="0">
                <a:latin typeface="Tahoma"/>
                <a:cs typeface="Tahoma"/>
              </a:rPr>
              <a:t>of </a:t>
            </a:r>
            <a:r>
              <a:rPr sz="1000" spc="-40" dirty="0">
                <a:latin typeface="Tahoma"/>
                <a:cs typeface="Tahoma"/>
              </a:rPr>
              <a:t>mapping </a:t>
            </a:r>
            <a:r>
              <a:rPr sz="1000" i="1" spc="25" dirty="0">
                <a:latin typeface="Arial"/>
                <a:cs typeface="Arial"/>
              </a:rPr>
              <a:t>f</a:t>
            </a:r>
            <a:r>
              <a:rPr sz="1000" i="1" spc="30" dirty="0">
                <a:latin typeface="Arial"/>
                <a:cs typeface="Arial"/>
              </a:rPr>
              <a:t> </a:t>
            </a:r>
            <a:r>
              <a:rPr sz="1000" spc="-45" dirty="0">
                <a:latin typeface="Tahoma"/>
                <a:cs typeface="Tahoma"/>
              </a:rPr>
              <a:t>on argument </a:t>
            </a:r>
            <a:r>
              <a:rPr sz="1000" i="1" spc="-80" dirty="0">
                <a:latin typeface="Arial"/>
                <a:cs typeface="Arial"/>
              </a:rPr>
              <a:t>a</a:t>
            </a:r>
            <a:r>
              <a:rPr sz="1000" i="1" spc="-75" dirty="0">
                <a:latin typeface="Arial"/>
                <a:cs typeface="Arial"/>
              </a:rPr>
              <a:t> </a:t>
            </a:r>
            <a:r>
              <a:rPr sz="1000" spc="-50" dirty="0">
                <a:latin typeface="Tahoma"/>
                <a:cs typeface="Tahoma"/>
              </a:rPr>
              <a:t>or </a:t>
            </a:r>
            <a:r>
              <a:rPr sz="1000" b="1" spc="-40" dirty="0">
                <a:latin typeface="Arial"/>
                <a:cs typeface="Arial"/>
              </a:rPr>
              <a:t>image</a:t>
            </a:r>
            <a:r>
              <a:rPr sz="1000" b="1" spc="-35" dirty="0">
                <a:latin typeface="Arial"/>
                <a:cs typeface="Arial"/>
              </a:rPr>
              <a:t> </a:t>
            </a:r>
            <a:r>
              <a:rPr sz="1000" spc="-30" dirty="0">
                <a:latin typeface="Tahoma"/>
                <a:cs typeface="Tahoma"/>
              </a:rPr>
              <a:t>of </a:t>
            </a:r>
            <a:r>
              <a:rPr sz="1000" spc="-300" dirty="0">
                <a:latin typeface="Tahoma"/>
                <a:cs typeface="Tahoma"/>
              </a:rPr>
              <a:t> </a:t>
            </a:r>
            <a:r>
              <a:rPr sz="1000" spc="-45" dirty="0">
                <a:latin typeface="Tahoma"/>
                <a:cs typeface="Tahoma"/>
              </a:rPr>
              <a:t>element </a:t>
            </a:r>
            <a:r>
              <a:rPr sz="1000" i="1" spc="-80" dirty="0">
                <a:latin typeface="Arial"/>
                <a:cs typeface="Arial"/>
              </a:rPr>
              <a:t>a</a:t>
            </a:r>
            <a:r>
              <a:rPr sz="1000" i="1" spc="-75" dirty="0">
                <a:latin typeface="Arial"/>
                <a:cs typeface="Arial"/>
              </a:rPr>
              <a:t> </a:t>
            </a:r>
            <a:r>
              <a:rPr sz="1000" spc="-15" dirty="0">
                <a:latin typeface="Tahoma"/>
                <a:cs typeface="Tahoma"/>
              </a:rPr>
              <a:t>at </a:t>
            </a:r>
            <a:r>
              <a:rPr sz="1000" spc="-40" dirty="0">
                <a:latin typeface="Tahoma"/>
                <a:cs typeface="Tahoma"/>
              </a:rPr>
              <a:t>mapping </a:t>
            </a:r>
            <a:r>
              <a:rPr sz="1000" i="1" spc="25" dirty="0">
                <a:latin typeface="Arial"/>
                <a:cs typeface="Arial"/>
              </a:rPr>
              <a:t>f </a:t>
            </a:r>
            <a:r>
              <a:rPr sz="1000" spc="-30" dirty="0">
                <a:latin typeface="Tahoma"/>
                <a:cs typeface="Tahoma"/>
              </a:rPr>
              <a:t>.</a:t>
            </a:r>
            <a:r>
              <a:rPr sz="1000" spc="-25" dirty="0">
                <a:latin typeface="Tahoma"/>
                <a:cs typeface="Tahoma"/>
              </a:rPr>
              <a:t> </a:t>
            </a:r>
            <a:r>
              <a:rPr sz="1000" spc="-15" dirty="0">
                <a:latin typeface="Tahoma"/>
                <a:cs typeface="Tahoma"/>
              </a:rPr>
              <a:t>The </a:t>
            </a:r>
            <a:r>
              <a:rPr sz="1000" spc="-20" dirty="0">
                <a:latin typeface="Tahoma"/>
                <a:cs typeface="Tahoma"/>
              </a:rPr>
              <a:t>fact, </a:t>
            </a:r>
            <a:r>
              <a:rPr sz="1000" spc="-10" dirty="0">
                <a:latin typeface="Tahoma"/>
                <a:cs typeface="Tahoma"/>
              </a:rPr>
              <a:t>that </a:t>
            </a:r>
            <a:r>
              <a:rPr sz="1000" i="1" spc="25" dirty="0">
                <a:latin typeface="Arial"/>
                <a:cs typeface="Arial"/>
              </a:rPr>
              <a:t>f </a:t>
            </a:r>
            <a:r>
              <a:rPr sz="1000" spc="-25" dirty="0">
                <a:latin typeface="Tahoma"/>
                <a:cs typeface="Tahoma"/>
              </a:rPr>
              <a:t>(</a:t>
            </a:r>
            <a:r>
              <a:rPr sz="1000" i="1" spc="-25" dirty="0">
                <a:latin typeface="Arial"/>
                <a:cs typeface="Arial"/>
              </a:rPr>
              <a:t>a</a:t>
            </a:r>
            <a:r>
              <a:rPr sz="1000" spc="-25" dirty="0">
                <a:latin typeface="Tahoma"/>
                <a:cs typeface="Tahoma"/>
              </a:rPr>
              <a:t>) </a:t>
            </a:r>
            <a:r>
              <a:rPr sz="1000" spc="45" dirty="0">
                <a:latin typeface="Tahoma"/>
                <a:cs typeface="Tahoma"/>
              </a:rPr>
              <a:t>= </a:t>
            </a:r>
            <a:r>
              <a:rPr sz="1000" i="1" spc="-45" dirty="0">
                <a:latin typeface="Arial"/>
                <a:cs typeface="Arial"/>
              </a:rPr>
              <a:t>b</a:t>
            </a:r>
            <a:r>
              <a:rPr sz="1000" i="1" spc="185" dirty="0">
                <a:latin typeface="Arial"/>
                <a:cs typeface="Arial"/>
              </a:rPr>
              <a:t> </a:t>
            </a:r>
            <a:r>
              <a:rPr sz="1000" spc="-55" dirty="0">
                <a:latin typeface="Tahoma"/>
                <a:cs typeface="Tahoma"/>
              </a:rPr>
              <a:t>may </a:t>
            </a:r>
            <a:r>
              <a:rPr sz="1000" spc="-50" dirty="0">
                <a:latin typeface="Tahoma"/>
                <a:cs typeface="Tahoma"/>
              </a:rPr>
              <a:t>be </a:t>
            </a:r>
            <a:r>
              <a:rPr sz="1000" spc="-25" dirty="0">
                <a:latin typeface="Tahoma"/>
                <a:cs typeface="Tahoma"/>
              </a:rPr>
              <a:t>written </a:t>
            </a:r>
            <a:r>
              <a:rPr sz="1000" spc="-20" dirty="0">
                <a:latin typeface="Tahoma"/>
                <a:cs typeface="Tahoma"/>
              </a:rPr>
              <a:t>in </a:t>
            </a:r>
            <a:r>
              <a:rPr sz="1000" spc="-15" dirty="0">
                <a:latin typeface="Tahoma"/>
                <a:cs typeface="Tahoma"/>
              </a:rPr>
              <a:t> </a:t>
            </a:r>
            <a:r>
              <a:rPr sz="1000" spc="-35" dirty="0">
                <a:latin typeface="Tahoma"/>
                <a:cs typeface="Tahoma"/>
              </a:rPr>
              <a:t>the</a:t>
            </a:r>
            <a:r>
              <a:rPr sz="1000" spc="10" dirty="0">
                <a:latin typeface="Tahoma"/>
                <a:cs typeface="Tahoma"/>
              </a:rPr>
              <a:t> </a:t>
            </a:r>
            <a:r>
              <a:rPr sz="1000" spc="-30" dirty="0">
                <a:latin typeface="Tahoma"/>
                <a:cs typeface="Tahoma"/>
              </a:rPr>
              <a:t>following</a:t>
            </a:r>
            <a:r>
              <a:rPr sz="1000" spc="15" dirty="0">
                <a:latin typeface="Tahoma"/>
                <a:cs typeface="Tahoma"/>
              </a:rPr>
              <a:t> </a:t>
            </a:r>
            <a:r>
              <a:rPr sz="1000" spc="-75" dirty="0">
                <a:latin typeface="Tahoma"/>
                <a:cs typeface="Tahoma"/>
              </a:rPr>
              <a:t>way:</a:t>
            </a:r>
            <a:endParaRPr sz="1000">
              <a:latin typeface="Tahoma"/>
              <a:cs typeface="Tahoma"/>
            </a:endParaRPr>
          </a:p>
          <a:p>
            <a:pPr algn="ctr">
              <a:lnSpc>
                <a:spcPct val="100000"/>
              </a:lnSpc>
              <a:spcBef>
                <a:spcPts val="229"/>
              </a:spcBef>
            </a:pPr>
            <a:r>
              <a:rPr sz="1000" i="1" spc="25" dirty="0">
                <a:latin typeface="Arial"/>
                <a:cs typeface="Arial"/>
              </a:rPr>
              <a:t>f </a:t>
            </a:r>
            <a:r>
              <a:rPr sz="1000" i="1" spc="-65" dirty="0">
                <a:latin typeface="Arial"/>
                <a:cs typeface="Arial"/>
              </a:rPr>
              <a:t> </a:t>
            </a:r>
            <a:r>
              <a:rPr sz="1000" spc="-80" dirty="0">
                <a:latin typeface="Tahoma"/>
                <a:cs typeface="Tahoma"/>
              </a:rPr>
              <a:t>:</a:t>
            </a:r>
            <a:r>
              <a:rPr sz="1000" spc="-35" dirty="0">
                <a:latin typeface="Tahoma"/>
                <a:cs typeface="Tahoma"/>
              </a:rPr>
              <a:t> </a:t>
            </a:r>
            <a:r>
              <a:rPr sz="1000" i="1" spc="-80" dirty="0">
                <a:latin typeface="Arial"/>
                <a:cs typeface="Arial"/>
              </a:rPr>
              <a:t>a</a:t>
            </a:r>
            <a:r>
              <a:rPr sz="1000" i="1" spc="5" dirty="0">
                <a:latin typeface="Arial"/>
                <a:cs typeface="Arial"/>
              </a:rPr>
              <a:t> </a:t>
            </a:r>
            <a:r>
              <a:rPr sz="1000" spc="-140" dirty="0">
                <a:latin typeface="Lucida Sans Unicode"/>
                <a:cs typeface="Lucida Sans Unicode"/>
              </a:rPr>
              <a:t>›→</a:t>
            </a:r>
            <a:r>
              <a:rPr sz="1000" spc="-40" dirty="0">
                <a:latin typeface="Lucida Sans Unicode"/>
                <a:cs typeface="Lucida Sans Unicode"/>
              </a:rPr>
              <a:t> </a:t>
            </a:r>
            <a:r>
              <a:rPr sz="1000" i="1" spc="-45" dirty="0">
                <a:latin typeface="Arial"/>
                <a:cs typeface="Arial"/>
              </a:rPr>
              <a:t>b</a:t>
            </a:r>
            <a:r>
              <a:rPr sz="1000" i="1" spc="85" dirty="0">
                <a:latin typeface="Arial"/>
                <a:cs typeface="Arial"/>
              </a:rPr>
              <a:t> </a:t>
            </a:r>
            <a:r>
              <a:rPr sz="1000" spc="-75" dirty="0">
                <a:latin typeface="Tahoma"/>
                <a:cs typeface="Tahoma"/>
              </a:rPr>
              <a:t>o</a:t>
            </a:r>
            <a:r>
              <a:rPr sz="1000" spc="-25" dirty="0">
                <a:latin typeface="Tahoma"/>
                <a:cs typeface="Tahoma"/>
              </a:rPr>
              <a:t>r</a:t>
            </a:r>
            <a:r>
              <a:rPr sz="1000" spc="20" dirty="0">
                <a:latin typeface="Tahoma"/>
                <a:cs typeface="Tahoma"/>
              </a:rPr>
              <a:t> </a:t>
            </a:r>
            <a:r>
              <a:rPr sz="1000" i="1" spc="-80" dirty="0">
                <a:latin typeface="Arial"/>
                <a:cs typeface="Arial"/>
              </a:rPr>
              <a:t>a</a:t>
            </a:r>
            <a:r>
              <a:rPr sz="1000" i="1" spc="5" dirty="0">
                <a:latin typeface="Arial"/>
                <a:cs typeface="Arial"/>
              </a:rPr>
              <a:t> </a:t>
            </a:r>
            <a:r>
              <a:rPr sz="1000" spc="-635" dirty="0">
                <a:latin typeface="Lucida Sans Unicode"/>
                <a:cs typeface="Lucida Sans Unicode"/>
              </a:rPr>
              <a:t>→</a:t>
            </a:r>
            <a:r>
              <a:rPr sz="1050" i="1" spc="44" baseline="43650" dirty="0">
                <a:latin typeface="Arial"/>
                <a:cs typeface="Arial"/>
              </a:rPr>
              <a:t>f</a:t>
            </a:r>
            <a:r>
              <a:rPr sz="1050" i="1" baseline="43650" dirty="0">
                <a:latin typeface="Arial"/>
                <a:cs typeface="Arial"/>
              </a:rPr>
              <a:t>   </a:t>
            </a:r>
            <a:r>
              <a:rPr sz="1050" i="1" spc="-60" baseline="43650" dirty="0">
                <a:latin typeface="Arial"/>
                <a:cs typeface="Arial"/>
              </a:rPr>
              <a:t> </a:t>
            </a:r>
            <a:r>
              <a:rPr sz="1000" i="1" spc="-45" dirty="0">
                <a:latin typeface="Arial"/>
                <a:cs typeface="Arial"/>
              </a:rPr>
              <a:t>b</a:t>
            </a:r>
            <a:endParaRPr sz="1000">
              <a:latin typeface="Arial"/>
              <a:cs typeface="Arial"/>
            </a:endParaRPr>
          </a:p>
          <a:p>
            <a:pPr marL="37465">
              <a:lnSpc>
                <a:spcPts val="1200"/>
              </a:lnSpc>
              <a:spcBef>
                <a:spcPts val="590"/>
              </a:spcBef>
            </a:pPr>
            <a:r>
              <a:rPr sz="1000" spc="-60" dirty="0">
                <a:latin typeface="Tahoma"/>
                <a:cs typeface="Tahoma"/>
              </a:rPr>
              <a:t>If</a:t>
            </a:r>
            <a:r>
              <a:rPr sz="1000" spc="15" dirty="0">
                <a:latin typeface="Tahoma"/>
                <a:cs typeface="Tahoma"/>
              </a:rPr>
              <a:t> </a:t>
            </a:r>
            <a:r>
              <a:rPr sz="1000" i="1" spc="25" dirty="0">
                <a:latin typeface="Arial"/>
                <a:cs typeface="Arial"/>
              </a:rPr>
              <a:t>f</a:t>
            </a:r>
            <a:r>
              <a:rPr sz="1000" i="1" spc="-65" dirty="0">
                <a:latin typeface="Arial"/>
                <a:cs typeface="Arial"/>
              </a:rPr>
              <a:t> </a:t>
            </a:r>
            <a:r>
              <a:rPr sz="1000" spc="-25" dirty="0">
                <a:latin typeface="Tahoma"/>
                <a:cs typeface="Tahoma"/>
              </a:rPr>
              <a:t>(</a:t>
            </a:r>
            <a:r>
              <a:rPr sz="1000" i="1" spc="-25" dirty="0">
                <a:latin typeface="Arial"/>
                <a:cs typeface="Arial"/>
              </a:rPr>
              <a:t>a</a:t>
            </a:r>
            <a:r>
              <a:rPr sz="1000" spc="-25"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45" dirty="0">
                <a:latin typeface="Arial"/>
                <a:cs typeface="Arial"/>
              </a:rPr>
              <a:t>b</a:t>
            </a:r>
            <a:r>
              <a:rPr sz="1000" i="1" spc="85" dirty="0">
                <a:latin typeface="Arial"/>
                <a:cs typeface="Arial"/>
              </a:rPr>
              <a:t> </a:t>
            </a:r>
            <a:r>
              <a:rPr sz="1000" spc="-30" dirty="0">
                <a:latin typeface="Tahoma"/>
                <a:cs typeface="Tahoma"/>
              </a:rPr>
              <a:t>is</a:t>
            </a:r>
            <a:r>
              <a:rPr sz="1000" spc="20" dirty="0">
                <a:latin typeface="Tahoma"/>
                <a:cs typeface="Tahoma"/>
              </a:rPr>
              <a:t> </a:t>
            </a:r>
            <a:r>
              <a:rPr sz="1000" spc="-30" dirty="0">
                <a:latin typeface="Tahoma"/>
                <a:cs typeface="Tahoma"/>
              </a:rPr>
              <a:t>true,</a:t>
            </a:r>
            <a:r>
              <a:rPr sz="1000" spc="15" dirty="0">
                <a:latin typeface="Tahoma"/>
                <a:cs typeface="Tahoma"/>
              </a:rPr>
              <a:t> </a:t>
            </a:r>
            <a:r>
              <a:rPr sz="1000" spc="-40" dirty="0">
                <a:latin typeface="Tahoma"/>
                <a:cs typeface="Tahoma"/>
              </a:rPr>
              <a:t>then</a:t>
            </a:r>
            <a:r>
              <a:rPr sz="1000" spc="15" dirty="0">
                <a:latin typeface="Tahoma"/>
                <a:cs typeface="Tahoma"/>
              </a:rPr>
              <a:t> </a:t>
            </a:r>
            <a:r>
              <a:rPr sz="1000" spc="-45" dirty="0">
                <a:latin typeface="Tahoma"/>
                <a:cs typeface="Tahoma"/>
              </a:rPr>
              <a:t>element</a:t>
            </a:r>
            <a:r>
              <a:rPr sz="1000" spc="20" dirty="0">
                <a:latin typeface="Tahoma"/>
                <a:cs typeface="Tahoma"/>
              </a:rPr>
              <a:t> </a:t>
            </a:r>
            <a:r>
              <a:rPr sz="1000" i="1" spc="-80" dirty="0">
                <a:latin typeface="Arial"/>
                <a:cs typeface="Arial"/>
              </a:rPr>
              <a:t>a</a:t>
            </a:r>
            <a:r>
              <a:rPr sz="1000" i="1" spc="60" dirty="0">
                <a:latin typeface="Arial"/>
                <a:cs typeface="Arial"/>
              </a:rPr>
              <a:t> </a:t>
            </a:r>
            <a:r>
              <a:rPr sz="1000" spc="-30" dirty="0">
                <a:latin typeface="Tahoma"/>
                <a:cs typeface="Tahoma"/>
              </a:rPr>
              <a:t>is</a:t>
            </a:r>
            <a:r>
              <a:rPr sz="1000" spc="20" dirty="0">
                <a:latin typeface="Tahoma"/>
                <a:cs typeface="Tahoma"/>
              </a:rPr>
              <a:t> </a:t>
            </a:r>
            <a:r>
              <a:rPr sz="1000" spc="-30" dirty="0">
                <a:latin typeface="Tahoma"/>
                <a:cs typeface="Tahoma"/>
              </a:rPr>
              <a:t>called</a:t>
            </a:r>
            <a:r>
              <a:rPr sz="1000" spc="20" dirty="0">
                <a:latin typeface="Tahoma"/>
                <a:cs typeface="Tahoma"/>
              </a:rPr>
              <a:t> </a:t>
            </a:r>
            <a:r>
              <a:rPr sz="1000" spc="-50" dirty="0">
                <a:latin typeface="Tahoma"/>
                <a:cs typeface="Tahoma"/>
              </a:rPr>
              <a:t>a</a:t>
            </a:r>
            <a:r>
              <a:rPr sz="1000" spc="15" dirty="0">
                <a:latin typeface="Tahoma"/>
                <a:cs typeface="Tahoma"/>
              </a:rPr>
              <a:t> </a:t>
            </a:r>
            <a:r>
              <a:rPr sz="1000" b="1" spc="-45" dirty="0">
                <a:latin typeface="Arial"/>
                <a:cs typeface="Arial"/>
              </a:rPr>
              <a:t>preimage</a:t>
            </a:r>
            <a:r>
              <a:rPr sz="1000" b="1" spc="50" dirty="0">
                <a:latin typeface="Arial"/>
                <a:cs typeface="Arial"/>
              </a:rPr>
              <a:t> </a:t>
            </a:r>
            <a:r>
              <a:rPr sz="1000" spc="-30" dirty="0">
                <a:latin typeface="Tahoma"/>
                <a:cs typeface="Tahoma"/>
              </a:rPr>
              <a:t>of</a:t>
            </a:r>
            <a:r>
              <a:rPr sz="1000" spc="15" dirty="0">
                <a:latin typeface="Tahoma"/>
                <a:cs typeface="Tahoma"/>
              </a:rPr>
              <a:t> </a:t>
            </a:r>
            <a:r>
              <a:rPr sz="1000" spc="-45" dirty="0">
                <a:latin typeface="Tahoma"/>
                <a:cs typeface="Tahoma"/>
              </a:rPr>
              <a:t>element</a:t>
            </a:r>
            <a:r>
              <a:rPr sz="1000" spc="20" dirty="0">
                <a:latin typeface="Tahoma"/>
                <a:cs typeface="Tahoma"/>
              </a:rPr>
              <a:t> </a:t>
            </a:r>
            <a:r>
              <a:rPr sz="1000" i="1" spc="-45" dirty="0">
                <a:latin typeface="Arial"/>
                <a:cs typeface="Arial"/>
              </a:rPr>
              <a:t>b</a:t>
            </a:r>
            <a:endParaRPr sz="1000">
              <a:latin typeface="Arial"/>
              <a:cs typeface="Arial"/>
            </a:endParaRPr>
          </a:p>
          <a:p>
            <a:pPr marL="37465">
              <a:lnSpc>
                <a:spcPts val="1200"/>
              </a:lnSpc>
            </a:pPr>
            <a:r>
              <a:rPr sz="1000" spc="-15" dirty="0">
                <a:latin typeface="Tahoma"/>
                <a:cs typeface="Tahoma"/>
              </a:rPr>
              <a:t>at</a:t>
            </a:r>
            <a:r>
              <a:rPr sz="1000" spc="15" dirty="0">
                <a:latin typeface="Tahoma"/>
                <a:cs typeface="Tahoma"/>
              </a:rPr>
              <a:t> </a:t>
            </a:r>
            <a:r>
              <a:rPr sz="1000" spc="-40" dirty="0">
                <a:latin typeface="Tahoma"/>
                <a:cs typeface="Tahoma"/>
              </a:rPr>
              <a:t>mapping</a:t>
            </a:r>
            <a:r>
              <a:rPr sz="1000" spc="20" dirty="0">
                <a:latin typeface="Tahoma"/>
                <a:cs typeface="Tahoma"/>
              </a:rPr>
              <a:t> </a:t>
            </a:r>
            <a:r>
              <a:rPr sz="1000" i="1" spc="25" dirty="0">
                <a:latin typeface="Arial"/>
                <a:cs typeface="Arial"/>
              </a:rPr>
              <a:t>f</a:t>
            </a:r>
            <a:r>
              <a:rPr sz="1000" i="1" spc="-65" dirty="0">
                <a:latin typeface="Arial"/>
                <a:cs typeface="Arial"/>
              </a:rPr>
              <a:t> </a:t>
            </a:r>
            <a:r>
              <a:rPr sz="1000" spc="-30" dirty="0">
                <a:latin typeface="Tahoma"/>
                <a:cs typeface="Tahoma"/>
              </a:rPr>
              <a:t>.</a:t>
            </a:r>
            <a:endParaRPr sz="1000">
              <a:latin typeface="Tahoma"/>
              <a:cs typeface="Tahoma"/>
            </a:endParaRP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565910" cy="244475"/>
          </a:xfrm>
          <a:prstGeom prst="rect">
            <a:avLst/>
          </a:prstGeom>
        </p:spPr>
        <p:txBody>
          <a:bodyPr vert="horz" wrap="square" lIns="0" tIns="17145" rIns="0" bIns="0" rtlCol="0">
            <a:spAutoFit/>
          </a:bodyPr>
          <a:lstStyle/>
          <a:p>
            <a:pPr marL="12700">
              <a:lnSpc>
                <a:spcPct val="100000"/>
              </a:lnSpc>
              <a:spcBef>
                <a:spcPts val="135"/>
              </a:spcBef>
            </a:pPr>
            <a:r>
              <a:rPr spc="-10" dirty="0"/>
              <a:t>Domain</a:t>
            </a:r>
            <a:r>
              <a:rPr spc="100" dirty="0"/>
              <a:t> </a:t>
            </a:r>
            <a:r>
              <a:rPr spc="-45" dirty="0"/>
              <a:t>and</a:t>
            </a:r>
            <a:r>
              <a:rPr spc="100" dirty="0"/>
              <a:t> </a:t>
            </a:r>
            <a:r>
              <a:rPr spc="-40" dirty="0"/>
              <a:t>range</a:t>
            </a:r>
          </a:p>
        </p:txBody>
      </p:sp>
      <p:sp>
        <p:nvSpPr>
          <p:cNvPr id="30" name="object 30"/>
          <p:cNvSpPr/>
          <p:nvPr/>
        </p:nvSpPr>
        <p:spPr>
          <a:xfrm>
            <a:off x="698562" y="1171968"/>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1201907"/>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2" name="object 32"/>
          <p:cNvGrpSpPr/>
          <p:nvPr/>
        </p:nvGrpSpPr>
        <p:grpSpPr>
          <a:xfrm>
            <a:off x="698562" y="1228898"/>
            <a:ext cx="3831590" cy="765175"/>
            <a:chOff x="698562" y="1228898"/>
            <a:chExt cx="3831590" cy="765175"/>
          </a:xfrm>
        </p:grpSpPr>
        <p:pic>
          <p:nvPicPr>
            <p:cNvPr id="33" name="object 33"/>
            <p:cNvPicPr/>
            <p:nvPr/>
          </p:nvPicPr>
          <p:blipFill>
            <a:blip r:embed="rId7" cstate="print"/>
            <a:stretch>
              <a:fillRect/>
            </a:stretch>
          </p:blipFill>
          <p:spPr>
            <a:xfrm>
              <a:off x="698563" y="1329563"/>
              <a:ext cx="3780284" cy="50609"/>
            </a:xfrm>
            <a:prstGeom prst="rect">
              <a:avLst/>
            </a:prstGeom>
          </p:spPr>
        </p:pic>
        <p:sp>
          <p:nvSpPr>
            <p:cNvPr id="34" name="object 34"/>
            <p:cNvSpPr/>
            <p:nvPr/>
          </p:nvSpPr>
          <p:spPr>
            <a:xfrm>
              <a:off x="749363" y="1228898"/>
              <a:ext cx="3780790" cy="765175"/>
            </a:xfrm>
            <a:custGeom>
              <a:avLst/>
              <a:gdLst/>
              <a:ahLst/>
              <a:cxnLst/>
              <a:rect l="l" t="t" r="r" b="b"/>
              <a:pathLst>
                <a:path w="3780790" h="765175">
                  <a:moveTo>
                    <a:pt x="3780285" y="0"/>
                  </a:moveTo>
                  <a:lnTo>
                    <a:pt x="0" y="0"/>
                  </a:lnTo>
                  <a:lnTo>
                    <a:pt x="0" y="764557"/>
                  </a:lnTo>
                  <a:lnTo>
                    <a:pt x="3780285" y="764557"/>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373844"/>
              <a:ext cx="3780790" cy="568960"/>
            </a:xfrm>
            <a:custGeom>
              <a:avLst/>
              <a:gdLst/>
              <a:ahLst/>
              <a:cxnLst/>
              <a:rect l="l" t="t" r="r" b="b"/>
              <a:pathLst>
                <a:path w="3780790" h="568960">
                  <a:moveTo>
                    <a:pt x="3780285" y="0"/>
                  </a:moveTo>
                  <a:lnTo>
                    <a:pt x="0" y="0"/>
                  </a:lnTo>
                  <a:lnTo>
                    <a:pt x="0" y="518011"/>
                  </a:lnTo>
                  <a:lnTo>
                    <a:pt x="4008" y="537735"/>
                  </a:lnTo>
                  <a:lnTo>
                    <a:pt x="14922" y="553888"/>
                  </a:lnTo>
                  <a:lnTo>
                    <a:pt x="31075" y="564802"/>
                  </a:lnTo>
                  <a:lnTo>
                    <a:pt x="50800" y="568811"/>
                  </a:lnTo>
                  <a:lnTo>
                    <a:pt x="3729484" y="568811"/>
                  </a:lnTo>
                  <a:lnTo>
                    <a:pt x="3749209" y="564802"/>
                  </a:lnTo>
                  <a:lnTo>
                    <a:pt x="3765362" y="553888"/>
                  </a:lnTo>
                  <a:lnTo>
                    <a:pt x="3776276" y="537735"/>
                  </a:lnTo>
                  <a:lnTo>
                    <a:pt x="3780285" y="518011"/>
                  </a:lnTo>
                  <a:lnTo>
                    <a:pt x="3780285" y="0"/>
                  </a:lnTo>
                  <a:close/>
                </a:path>
              </a:pathLst>
            </a:custGeom>
            <a:solidFill>
              <a:srgbClr val="E9E9F2"/>
            </a:solidFill>
          </p:spPr>
          <p:txBody>
            <a:bodyPr wrap="square" lIns="0" tIns="0" rIns="0" bIns="0" rtlCol="0"/>
            <a:lstStyle/>
            <a:p>
              <a:endParaRPr/>
            </a:p>
          </p:txBody>
        </p:sp>
        <p:pic>
          <p:nvPicPr>
            <p:cNvPr id="36" name="object 36"/>
            <p:cNvPicPr/>
            <p:nvPr/>
          </p:nvPicPr>
          <p:blipFill>
            <a:blip r:embed="rId8" cstate="print"/>
            <a:stretch>
              <a:fillRect/>
            </a:stretch>
          </p:blipFill>
          <p:spPr>
            <a:xfrm>
              <a:off x="879551" y="1614678"/>
              <a:ext cx="59601" cy="59601"/>
            </a:xfrm>
            <a:prstGeom prst="rect">
              <a:avLst/>
            </a:prstGeom>
          </p:spPr>
        </p:pic>
        <p:pic>
          <p:nvPicPr>
            <p:cNvPr id="37" name="object 37"/>
            <p:cNvPicPr/>
            <p:nvPr/>
          </p:nvPicPr>
          <p:blipFill>
            <a:blip r:embed="rId8" cstate="print"/>
            <a:stretch>
              <a:fillRect/>
            </a:stretch>
          </p:blipFill>
          <p:spPr>
            <a:xfrm>
              <a:off x="879551" y="1804466"/>
              <a:ext cx="59601" cy="59601"/>
            </a:xfrm>
            <a:prstGeom prst="rect">
              <a:avLst/>
            </a:prstGeom>
          </p:spPr>
        </p:pic>
      </p:grpSp>
      <p:sp>
        <p:nvSpPr>
          <p:cNvPr id="38" name="object 38"/>
          <p:cNvSpPr txBox="1">
            <a:spLocks noGrp="1"/>
          </p:cNvSpPr>
          <p:nvPr>
            <p:ph type="body" idx="1"/>
          </p:nvPr>
        </p:nvSpPr>
        <p:spPr>
          <a:prstGeom prst="rect">
            <a:avLst/>
          </a:prstGeom>
        </p:spPr>
        <p:txBody>
          <a:bodyPr vert="horz" wrap="square" lIns="0" tIns="268864" rIns="0" bIns="0" rtlCol="0">
            <a:spAutoFit/>
          </a:bodyPr>
          <a:lstStyle/>
          <a:p>
            <a:pPr marL="50800">
              <a:lnSpc>
                <a:spcPct val="100000"/>
              </a:lnSpc>
              <a:spcBef>
                <a:spcPts val="1030"/>
              </a:spcBef>
            </a:pPr>
            <a:r>
              <a:rPr spc="15" dirty="0"/>
              <a:t>F</a:t>
            </a:r>
            <a:r>
              <a:rPr spc="-75" dirty="0"/>
              <a:t>o</a:t>
            </a:r>
            <a:r>
              <a:rPr spc="-25" dirty="0"/>
              <a:t>r</a:t>
            </a:r>
            <a:r>
              <a:rPr spc="20" dirty="0"/>
              <a:t> </a:t>
            </a:r>
            <a:r>
              <a:rPr spc="-45" dirty="0"/>
              <a:t>any</a:t>
            </a:r>
            <a:r>
              <a:rPr spc="15" dirty="0"/>
              <a:t> </a:t>
            </a:r>
            <a:r>
              <a:rPr spc="-40" dirty="0"/>
              <a:t>mapping</a:t>
            </a:r>
            <a:r>
              <a:rPr spc="20" dirty="0"/>
              <a:t> </a:t>
            </a:r>
            <a:r>
              <a:rPr i="1" spc="25" dirty="0">
                <a:latin typeface="Arial"/>
                <a:cs typeface="Arial"/>
              </a:rPr>
              <a:t>f</a:t>
            </a:r>
            <a:r>
              <a:rPr i="1" dirty="0">
                <a:latin typeface="Arial"/>
                <a:cs typeface="Arial"/>
              </a:rPr>
              <a:t> </a:t>
            </a:r>
            <a:r>
              <a:rPr i="1" spc="-65" dirty="0">
                <a:latin typeface="Arial"/>
                <a:cs typeface="Arial"/>
              </a:rPr>
              <a:t> </a:t>
            </a:r>
            <a:r>
              <a:rPr spc="-80" dirty="0"/>
              <a:t>:</a:t>
            </a:r>
            <a:r>
              <a:rPr spc="-35" dirty="0"/>
              <a:t> </a:t>
            </a:r>
            <a:r>
              <a:rPr i="1" spc="-5" dirty="0">
                <a:latin typeface="Arial"/>
                <a:cs typeface="Arial"/>
              </a:rPr>
              <a:t>A </a:t>
            </a:r>
            <a:r>
              <a:rPr spc="55" dirty="0">
                <a:latin typeface="Lucida Sans Unicode"/>
                <a:cs typeface="Lucida Sans Unicode"/>
              </a:rPr>
              <a:t>→</a:t>
            </a:r>
            <a:r>
              <a:rPr spc="-40" dirty="0">
                <a:latin typeface="Lucida Sans Unicode"/>
                <a:cs typeface="Lucida Sans Unicode"/>
              </a:rPr>
              <a:t> </a:t>
            </a:r>
            <a:r>
              <a:rPr i="1" spc="-5" dirty="0">
                <a:latin typeface="Arial"/>
                <a:cs typeface="Arial"/>
              </a:rPr>
              <a:t>B</a:t>
            </a:r>
            <a:r>
              <a:rPr i="1" spc="135" dirty="0">
                <a:latin typeface="Arial"/>
                <a:cs typeface="Arial"/>
              </a:rPr>
              <a:t> </a:t>
            </a:r>
            <a:r>
              <a:rPr spc="-95" dirty="0"/>
              <a:t>w</a:t>
            </a:r>
            <a:r>
              <a:rPr spc="-85" dirty="0"/>
              <a:t>e</a:t>
            </a:r>
            <a:r>
              <a:rPr spc="20" dirty="0"/>
              <a:t> </a:t>
            </a:r>
            <a:r>
              <a:rPr spc="-40" dirty="0"/>
              <a:t>can</a:t>
            </a:r>
            <a:r>
              <a:rPr spc="15" dirty="0"/>
              <a:t> </a:t>
            </a:r>
            <a:r>
              <a:rPr spc="-45" dirty="0"/>
              <a:t>define</a:t>
            </a:r>
            <a:r>
              <a:rPr spc="20" dirty="0"/>
              <a:t> </a:t>
            </a:r>
            <a:r>
              <a:rPr spc="-5" dirty="0"/>
              <a:t>t</a:t>
            </a:r>
            <a:r>
              <a:rPr spc="-95" dirty="0"/>
              <a:t>w</a:t>
            </a:r>
            <a:r>
              <a:rPr spc="-45" dirty="0"/>
              <a:t>o</a:t>
            </a:r>
            <a:r>
              <a:rPr spc="15" dirty="0"/>
              <a:t> </a:t>
            </a:r>
            <a:r>
              <a:rPr spc="-55" dirty="0"/>
              <a:t>sets:</a:t>
            </a:r>
          </a:p>
          <a:p>
            <a:pPr marL="303530">
              <a:lnSpc>
                <a:spcPct val="100000"/>
              </a:lnSpc>
              <a:spcBef>
                <a:spcPts val="295"/>
              </a:spcBef>
            </a:pPr>
            <a:r>
              <a:rPr b="1" spc="-45" dirty="0">
                <a:latin typeface="Arial"/>
                <a:cs typeface="Arial"/>
              </a:rPr>
              <a:t>domain</a:t>
            </a:r>
            <a:r>
              <a:rPr b="1" spc="55" dirty="0">
                <a:latin typeface="Arial"/>
                <a:cs typeface="Arial"/>
              </a:rPr>
              <a:t> </a:t>
            </a:r>
            <a:r>
              <a:rPr i="1" spc="-45" dirty="0">
                <a:latin typeface="Arial"/>
                <a:cs typeface="Arial"/>
              </a:rPr>
              <a:t>do</a:t>
            </a:r>
            <a:r>
              <a:rPr i="1" spc="-50" dirty="0">
                <a:latin typeface="Arial"/>
                <a:cs typeface="Arial"/>
              </a:rPr>
              <a:t>m</a:t>
            </a:r>
            <a:r>
              <a:rPr dirty="0"/>
              <a:t>(</a:t>
            </a:r>
            <a:r>
              <a:rPr i="1" spc="25" dirty="0">
                <a:latin typeface="Arial"/>
                <a:cs typeface="Arial"/>
              </a:rPr>
              <a:t>f</a:t>
            </a:r>
            <a:r>
              <a:rPr i="1" spc="-65" dirty="0">
                <a:latin typeface="Arial"/>
                <a:cs typeface="Arial"/>
              </a:rPr>
              <a:t> </a:t>
            </a:r>
            <a:r>
              <a:rPr dirty="0"/>
              <a:t>)</a:t>
            </a:r>
            <a:r>
              <a:rPr spc="-35" dirty="0"/>
              <a:t> </a:t>
            </a:r>
            <a:r>
              <a:rPr spc="45" dirty="0"/>
              <a:t>=</a:t>
            </a:r>
            <a:r>
              <a:rPr spc="-40" dirty="0"/>
              <a:t> </a:t>
            </a:r>
            <a:r>
              <a:rPr spc="170" dirty="0">
                <a:latin typeface="Lucida Sans Unicode"/>
                <a:cs typeface="Lucida Sans Unicode"/>
              </a:rPr>
              <a:t>{</a:t>
            </a:r>
            <a:r>
              <a:rPr i="1" spc="-70" dirty="0">
                <a:latin typeface="Arial"/>
                <a:cs typeface="Arial"/>
              </a:rPr>
              <a:t>a</a:t>
            </a:r>
            <a:r>
              <a:rPr spc="-100" dirty="0">
                <a:latin typeface="Lucida Sans Unicode"/>
                <a:cs typeface="Lucida Sans Unicode"/>
              </a:rPr>
              <a:t>|</a:t>
            </a:r>
            <a:r>
              <a:rPr dirty="0"/>
              <a:t>(</a:t>
            </a:r>
            <a:r>
              <a:rPr i="1" spc="-70" dirty="0">
                <a:latin typeface="Arial"/>
                <a:cs typeface="Arial"/>
              </a:rPr>
              <a:t>a</a:t>
            </a:r>
            <a:r>
              <a:rPr i="1" spc="-90" dirty="0">
                <a:latin typeface="Verdana"/>
                <a:cs typeface="Verdana"/>
              </a:rPr>
              <a:t>,</a:t>
            </a:r>
            <a:r>
              <a:rPr i="1" spc="-185" dirty="0">
                <a:latin typeface="Verdana"/>
                <a:cs typeface="Verdana"/>
              </a:rPr>
              <a:t> </a:t>
            </a:r>
            <a:r>
              <a:rPr i="1" spc="-15" dirty="0">
                <a:latin typeface="Arial"/>
                <a:cs typeface="Arial"/>
              </a:rPr>
              <a:t>b</a:t>
            </a:r>
            <a:r>
              <a:rPr dirty="0"/>
              <a:t>)</a:t>
            </a:r>
            <a:r>
              <a:rPr spc="-35" dirty="0"/>
              <a:t> </a:t>
            </a:r>
            <a:r>
              <a:rPr spc="-135" dirty="0">
                <a:latin typeface="Lucida Sans Unicode"/>
                <a:cs typeface="Lucida Sans Unicode"/>
              </a:rPr>
              <a:t>∈</a:t>
            </a:r>
            <a:r>
              <a:rPr spc="-40" dirty="0">
                <a:latin typeface="Lucida Sans Unicode"/>
                <a:cs typeface="Lucida Sans Unicode"/>
              </a:rPr>
              <a:t> </a:t>
            </a:r>
            <a:r>
              <a:rPr i="1" spc="25" dirty="0">
                <a:latin typeface="Arial"/>
                <a:cs typeface="Arial"/>
              </a:rPr>
              <a:t>f</a:t>
            </a:r>
            <a:r>
              <a:rPr i="1" spc="-65" dirty="0">
                <a:latin typeface="Arial"/>
                <a:cs typeface="Arial"/>
              </a:rPr>
              <a:t> </a:t>
            </a:r>
            <a:r>
              <a:rPr spc="170" dirty="0">
                <a:latin typeface="Lucida Sans Unicode"/>
                <a:cs typeface="Lucida Sans Unicode"/>
              </a:rPr>
              <a:t>}</a:t>
            </a:r>
          </a:p>
          <a:p>
            <a:pPr marL="303530">
              <a:lnSpc>
                <a:spcPct val="100000"/>
              </a:lnSpc>
              <a:spcBef>
                <a:spcPts val="295"/>
              </a:spcBef>
            </a:pPr>
            <a:r>
              <a:rPr b="1" spc="-45" dirty="0">
                <a:latin typeface="Arial"/>
                <a:cs typeface="Arial"/>
              </a:rPr>
              <a:t>range</a:t>
            </a:r>
            <a:r>
              <a:rPr b="1" spc="50" dirty="0">
                <a:latin typeface="Arial"/>
                <a:cs typeface="Arial"/>
              </a:rPr>
              <a:t> </a:t>
            </a:r>
            <a:r>
              <a:rPr i="1" spc="-35" dirty="0">
                <a:latin typeface="Arial"/>
                <a:cs typeface="Arial"/>
              </a:rPr>
              <a:t>rng</a:t>
            </a:r>
            <a:r>
              <a:rPr i="1" spc="-170" dirty="0">
                <a:latin typeface="Arial"/>
                <a:cs typeface="Arial"/>
              </a:rPr>
              <a:t> </a:t>
            </a:r>
            <a:r>
              <a:rPr dirty="0"/>
              <a:t>(</a:t>
            </a:r>
            <a:r>
              <a:rPr i="1" spc="25" dirty="0">
                <a:latin typeface="Arial"/>
                <a:cs typeface="Arial"/>
              </a:rPr>
              <a:t>f</a:t>
            </a:r>
            <a:r>
              <a:rPr i="1" spc="-65" dirty="0">
                <a:latin typeface="Arial"/>
                <a:cs typeface="Arial"/>
              </a:rPr>
              <a:t> </a:t>
            </a:r>
            <a:r>
              <a:rPr dirty="0"/>
              <a:t>)</a:t>
            </a:r>
            <a:r>
              <a:rPr spc="-35" dirty="0"/>
              <a:t> </a:t>
            </a:r>
            <a:r>
              <a:rPr spc="45" dirty="0"/>
              <a:t>=</a:t>
            </a:r>
            <a:r>
              <a:rPr spc="-40" dirty="0"/>
              <a:t> </a:t>
            </a:r>
            <a:r>
              <a:rPr spc="170" dirty="0">
                <a:latin typeface="Lucida Sans Unicode"/>
                <a:cs typeface="Lucida Sans Unicode"/>
              </a:rPr>
              <a:t>{</a:t>
            </a:r>
            <a:r>
              <a:rPr i="1" spc="-15" dirty="0">
                <a:latin typeface="Arial"/>
                <a:cs typeface="Arial"/>
              </a:rPr>
              <a:t>b</a:t>
            </a:r>
            <a:r>
              <a:rPr spc="-100" dirty="0">
                <a:latin typeface="Lucida Sans Unicode"/>
                <a:cs typeface="Lucida Sans Unicode"/>
              </a:rPr>
              <a:t>|</a:t>
            </a:r>
            <a:r>
              <a:rPr dirty="0"/>
              <a:t>(</a:t>
            </a:r>
            <a:r>
              <a:rPr i="1" spc="-70" dirty="0">
                <a:latin typeface="Arial"/>
                <a:cs typeface="Arial"/>
              </a:rPr>
              <a:t>a</a:t>
            </a:r>
            <a:r>
              <a:rPr i="1" spc="-90" dirty="0">
                <a:latin typeface="Verdana"/>
                <a:cs typeface="Verdana"/>
              </a:rPr>
              <a:t>,</a:t>
            </a:r>
            <a:r>
              <a:rPr i="1" spc="-185" dirty="0">
                <a:latin typeface="Verdana"/>
                <a:cs typeface="Verdana"/>
              </a:rPr>
              <a:t> </a:t>
            </a:r>
            <a:r>
              <a:rPr i="1" spc="-15" dirty="0">
                <a:latin typeface="Arial"/>
                <a:cs typeface="Arial"/>
              </a:rPr>
              <a:t>b</a:t>
            </a:r>
            <a:r>
              <a:rPr dirty="0"/>
              <a:t>)</a:t>
            </a:r>
            <a:r>
              <a:rPr spc="-35" dirty="0"/>
              <a:t> </a:t>
            </a:r>
            <a:r>
              <a:rPr spc="-135" dirty="0">
                <a:latin typeface="Lucida Sans Unicode"/>
                <a:cs typeface="Lucida Sans Unicode"/>
              </a:rPr>
              <a:t>∈</a:t>
            </a:r>
            <a:r>
              <a:rPr spc="-40" dirty="0">
                <a:latin typeface="Lucida Sans Unicode"/>
                <a:cs typeface="Lucida Sans Unicode"/>
              </a:rPr>
              <a:t> </a:t>
            </a:r>
            <a:r>
              <a:rPr i="1" spc="25" dirty="0">
                <a:latin typeface="Arial"/>
                <a:cs typeface="Arial"/>
              </a:rPr>
              <a:t>f</a:t>
            </a:r>
            <a:r>
              <a:rPr i="1" spc="-65" dirty="0">
                <a:latin typeface="Arial"/>
                <a:cs typeface="Arial"/>
              </a:rPr>
              <a:t> </a:t>
            </a:r>
            <a:r>
              <a:rPr spc="170" dirty="0">
                <a:latin typeface="Lucida Sans Unicode"/>
                <a:cs typeface="Lucida Sans Unicode"/>
              </a:rPr>
              <a:t>}</a:t>
            </a:r>
          </a:p>
        </p:txBody>
      </p:sp>
      <p:sp>
        <p:nvSpPr>
          <p:cNvPr id="39" name="object 39"/>
          <p:cNvSpPr/>
          <p:nvPr/>
        </p:nvSpPr>
        <p:spPr>
          <a:xfrm>
            <a:off x="698562" y="2094585"/>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0" name="object 40"/>
          <p:cNvSpPr txBox="1"/>
          <p:nvPr/>
        </p:nvSpPr>
        <p:spPr>
          <a:xfrm>
            <a:off x="749363" y="2124511"/>
            <a:ext cx="447040" cy="128270"/>
          </a:xfrm>
          <a:prstGeom prst="rect">
            <a:avLst/>
          </a:prstGeom>
        </p:spPr>
        <p:txBody>
          <a:bodyPr vert="horz" wrap="square" lIns="0" tIns="0" rIns="0" bIns="0" rtlCol="0">
            <a:spAutoFit/>
          </a:bodyPr>
          <a:lstStyle/>
          <a:p>
            <a:pPr>
              <a:lnSpc>
                <a:spcPts val="955"/>
              </a:lnSpc>
            </a:pPr>
            <a:r>
              <a:rPr sz="1000" spc="-35" dirty="0">
                <a:solidFill>
                  <a:srgbClr val="FFFFFF"/>
                </a:solidFill>
                <a:latin typeface="Tahoma"/>
                <a:cs typeface="Tahoma"/>
              </a:rPr>
              <a:t>Example</a:t>
            </a:r>
            <a:endParaRPr sz="1000">
              <a:latin typeface="Tahoma"/>
              <a:cs typeface="Tahoma"/>
            </a:endParaRPr>
          </a:p>
        </p:txBody>
      </p:sp>
      <p:grpSp>
        <p:nvGrpSpPr>
          <p:cNvPr id="41" name="object 41"/>
          <p:cNvGrpSpPr/>
          <p:nvPr/>
        </p:nvGrpSpPr>
        <p:grpSpPr>
          <a:xfrm>
            <a:off x="698562" y="2151512"/>
            <a:ext cx="3831590" cy="549910"/>
            <a:chOff x="698562" y="2151512"/>
            <a:chExt cx="3831590" cy="549910"/>
          </a:xfrm>
        </p:grpSpPr>
        <p:pic>
          <p:nvPicPr>
            <p:cNvPr id="42" name="object 42"/>
            <p:cNvPicPr/>
            <p:nvPr/>
          </p:nvPicPr>
          <p:blipFill>
            <a:blip r:embed="rId9" cstate="print"/>
            <a:stretch>
              <a:fillRect/>
            </a:stretch>
          </p:blipFill>
          <p:spPr>
            <a:xfrm>
              <a:off x="698563" y="2257806"/>
              <a:ext cx="3780284" cy="50609"/>
            </a:xfrm>
            <a:prstGeom prst="rect">
              <a:avLst/>
            </a:prstGeom>
          </p:spPr>
        </p:pic>
        <p:sp>
          <p:nvSpPr>
            <p:cNvPr id="43" name="object 43"/>
            <p:cNvSpPr/>
            <p:nvPr/>
          </p:nvSpPr>
          <p:spPr>
            <a:xfrm>
              <a:off x="749363" y="2151512"/>
              <a:ext cx="3780790" cy="549910"/>
            </a:xfrm>
            <a:custGeom>
              <a:avLst/>
              <a:gdLst/>
              <a:ahLst/>
              <a:cxnLst/>
              <a:rect l="l" t="t" r="r" b="b"/>
              <a:pathLst>
                <a:path w="3780790" h="549910">
                  <a:moveTo>
                    <a:pt x="3780285" y="0"/>
                  </a:moveTo>
                  <a:lnTo>
                    <a:pt x="0" y="0"/>
                  </a:lnTo>
                  <a:lnTo>
                    <a:pt x="0" y="549461"/>
                  </a:lnTo>
                  <a:lnTo>
                    <a:pt x="3780285" y="549461"/>
                  </a:lnTo>
                  <a:lnTo>
                    <a:pt x="3780285" y="0"/>
                  </a:lnTo>
                  <a:close/>
                </a:path>
              </a:pathLst>
            </a:custGeom>
            <a:solidFill>
              <a:srgbClr val="000000"/>
            </a:solidFill>
          </p:spPr>
          <p:txBody>
            <a:bodyPr wrap="square" lIns="0" tIns="0" rIns="0" bIns="0" rtlCol="0"/>
            <a:lstStyle/>
            <a:p>
              <a:endParaRPr/>
            </a:p>
          </p:txBody>
        </p:sp>
        <p:sp>
          <p:nvSpPr>
            <p:cNvPr id="44" name="object 44"/>
            <p:cNvSpPr/>
            <p:nvPr/>
          </p:nvSpPr>
          <p:spPr>
            <a:xfrm>
              <a:off x="698562" y="2302080"/>
              <a:ext cx="3780790" cy="348615"/>
            </a:xfrm>
            <a:custGeom>
              <a:avLst/>
              <a:gdLst/>
              <a:ahLst/>
              <a:cxnLst/>
              <a:rect l="l" t="t" r="r" b="b"/>
              <a:pathLst>
                <a:path w="3780790" h="348614">
                  <a:moveTo>
                    <a:pt x="3780285" y="0"/>
                  </a:moveTo>
                  <a:lnTo>
                    <a:pt x="0" y="0"/>
                  </a:lnTo>
                  <a:lnTo>
                    <a:pt x="0" y="297291"/>
                  </a:lnTo>
                  <a:lnTo>
                    <a:pt x="4008" y="317016"/>
                  </a:lnTo>
                  <a:lnTo>
                    <a:pt x="14922" y="333169"/>
                  </a:lnTo>
                  <a:lnTo>
                    <a:pt x="31075" y="344083"/>
                  </a:lnTo>
                  <a:lnTo>
                    <a:pt x="50800" y="348091"/>
                  </a:lnTo>
                  <a:lnTo>
                    <a:pt x="3729484" y="348091"/>
                  </a:lnTo>
                  <a:lnTo>
                    <a:pt x="3749209" y="344083"/>
                  </a:lnTo>
                  <a:lnTo>
                    <a:pt x="3765362" y="333169"/>
                  </a:lnTo>
                  <a:lnTo>
                    <a:pt x="3776276" y="317016"/>
                  </a:lnTo>
                  <a:lnTo>
                    <a:pt x="3780285" y="297291"/>
                  </a:lnTo>
                  <a:lnTo>
                    <a:pt x="3780285" y="0"/>
                  </a:lnTo>
                  <a:close/>
                </a:path>
              </a:pathLst>
            </a:custGeom>
            <a:solidFill>
              <a:srgbClr val="E9E9F2"/>
            </a:solidFill>
          </p:spPr>
          <p:txBody>
            <a:bodyPr wrap="square" lIns="0" tIns="0" rIns="0" bIns="0" rtlCol="0"/>
            <a:lstStyle/>
            <a:p>
              <a:endParaRPr/>
            </a:p>
          </p:txBody>
        </p:sp>
      </p:grpSp>
      <p:sp>
        <p:nvSpPr>
          <p:cNvPr id="45" name="object 45"/>
          <p:cNvSpPr txBox="1"/>
          <p:nvPr/>
        </p:nvSpPr>
        <p:spPr>
          <a:xfrm>
            <a:off x="749363" y="2283058"/>
            <a:ext cx="3672204" cy="329565"/>
          </a:xfrm>
          <a:prstGeom prst="rect">
            <a:avLst/>
          </a:prstGeom>
        </p:spPr>
        <p:txBody>
          <a:bodyPr vert="horz" wrap="square" lIns="0" tIns="12065" rIns="0" bIns="0" rtlCol="0">
            <a:spAutoFit/>
          </a:bodyPr>
          <a:lstStyle/>
          <a:p>
            <a:pPr marR="5080">
              <a:lnSpc>
                <a:spcPct val="100000"/>
              </a:lnSpc>
              <a:spcBef>
                <a:spcPts val="95"/>
              </a:spcBef>
            </a:pPr>
            <a:r>
              <a:rPr sz="1000" spc="-10" dirty="0">
                <a:latin typeface="Tahoma"/>
                <a:cs typeface="Tahoma"/>
              </a:rPr>
              <a:t>Let</a:t>
            </a:r>
            <a:r>
              <a:rPr sz="1000" spc="15" dirty="0">
                <a:latin typeface="Tahoma"/>
                <a:cs typeface="Tahoma"/>
              </a:rPr>
              <a:t> </a:t>
            </a:r>
            <a:r>
              <a:rPr sz="1000" i="1" spc="-5" dirty="0">
                <a:latin typeface="Arial"/>
                <a:cs typeface="Arial"/>
              </a:rPr>
              <a:t>A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spc="170" dirty="0">
                <a:latin typeface="Lucida Sans Unicode"/>
                <a:cs typeface="Lucida Sans Unicode"/>
              </a:rPr>
              <a:t>}</a:t>
            </a:r>
            <a:r>
              <a:rPr sz="1000" spc="15" dirty="0">
                <a:latin typeface="Lucida Sans Unicode"/>
                <a:cs typeface="Lucida Sans Unicode"/>
              </a:rPr>
              <a:t> </a:t>
            </a:r>
            <a:r>
              <a:rPr sz="1000" spc="-45" dirty="0">
                <a:latin typeface="Tahoma"/>
                <a:cs typeface="Tahoma"/>
              </a:rPr>
              <a:t>and</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spc="-30" dirty="0">
                <a:latin typeface="Tahoma"/>
                <a:cs typeface="Tahoma"/>
              </a:rPr>
              <a:t>,</a:t>
            </a:r>
            <a:r>
              <a:rPr sz="1000" spc="20" dirty="0">
                <a:latin typeface="Tahoma"/>
                <a:cs typeface="Tahoma"/>
              </a:rPr>
              <a:t> </a:t>
            </a:r>
            <a:r>
              <a:rPr sz="1000" spc="-60" dirty="0">
                <a:latin typeface="Tahoma"/>
                <a:cs typeface="Tahoma"/>
              </a:rPr>
              <a:t>where</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dirty="0">
                <a:latin typeface="Tahoma"/>
                <a:cs typeface="Tahoma"/>
              </a:rPr>
              <a:t>)</a:t>
            </a:r>
            <a:r>
              <a:rPr sz="1000" spc="170" dirty="0">
                <a:latin typeface="Lucida Sans Unicode"/>
                <a:cs typeface="Lucida Sans Unicode"/>
              </a:rPr>
              <a:t>}</a:t>
            </a:r>
            <a:r>
              <a:rPr sz="1000" spc="-30" dirty="0">
                <a:latin typeface="Tahoma"/>
                <a:cs typeface="Tahoma"/>
              </a:rPr>
              <a:t>.</a:t>
            </a:r>
            <a:r>
              <a:rPr sz="1000" spc="130" dirty="0">
                <a:latin typeface="Tahoma"/>
                <a:cs typeface="Tahoma"/>
              </a:rPr>
              <a:t> </a:t>
            </a:r>
            <a:r>
              <a:rPr sz="1000" spc="-20" dirty="0">
                <a:latin typeface="Tahoma"/>
                <a:cs typeface="Tahoma"/>
              </a:rPr>
              <a:t>Then</a:t>
            </a:r>
            <a:r>
              <a:rPr sz="1000" spc="20" dirty="0">
                <a:latin typeface="Tahoma"/>
                <a:cs typeface="Tahoma"/>
              </a:rPr>
              <a:t> </a:t>
            </a:r>
            <a:r>
              <a:rPr sz="1000" i="1" spc="-35" dirty="0">
                <a:latin typeface="Arial"/>
                <a:cs typeface="Arial"/>
              </a:rPr>
              <a:t>rng</a:t>
            </a:r>
            <a:r>
              <a:rPr sz="1000" i="1" spc="-170" dirty="0">
                <a:latin typeface="Arial"/>
                <a:cs typeface="Arial"/>
              </a:rPr>
              <a:t> </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spc="-35" dirty="0">
                <a:latin typeface="Tahoma"/>
                <a:cs typeface="Tahoma"/>
              </a:rPr>
              <a:t> </a:t>
            </a:r>
            <a:r>
              <a:rPr sz="1000" spc="45" dirty="0">
                <a:latin typeface="Tahoma"/>
                <a:cs typeface="Tahoma"/>
              </a:rPr>
              <a:t>=</a:t>
            </a:r>
            <a:r>
              <a:rPr sz="1000" spc="20" dirty="0">
                <a:latin typeface="Tahoma"/>
                <a:cs typeface="Tahoma"/>
              </a:rPr>
              <a:t> </a:t>
            </a:r>
            <a:r>
              <a:rPr sz="1000" spc="-5" dirty="0">
                <a:latin typeface="Tahoma"/>
                <a:cs typeface="Tahoma"/>
              </a:rPr>
              <a:t>?  </a:t>
            </a:r>
            <a:r>
              <a:rPr sz="1000" spc="-45" dirty="0">
                <a:latin typeface="Tahoma"/>
                <a:cs typeface="Tahoma"/>
              </a:rPr>
              <a:t>and</a:t>
            </a:r>
            <a:r>
              <a:rPr sz="1000" spc="15" dirty="0">
                <a:latin typeface="Tahoma"/>
                <a:cs typeface="Tahoma"/>
              </a:rPr>
              <a:t> </a:t>
            </a:r>
            <a:r>
              <a:rPr sz="1000" i="1" spc="-20" dirty="0">
                <a:latin typeface="Arial"/>
                <a:cs typeface="Arial"/>
              </a:rPr>
              <a:t>dom</a:t>
            </a:r>
            <a:r>
              <a:rPr sz="1000" spc="-20" dirty="0">
                <a:latin typeface="Tahoma"/>
                <a:cs typeface="Tahoma"/>
              </a:rPr>
              <a:t>(</a:t>
            </a:r>
            <a:r>
              <a:rPr sz="1000" i="1" spc="-20" dirty="0">
                <a:latin typeface="Arial"/>
                <a:cs typeface="Arial"/>
              </a:rPr>
              <a:t>f</a:t>
            </a:r>
            <a:r>
              <a:rPr sz="1000" i="1" spc="-65" dirty="0">
                <a:latin typeface="Arial"/>
                <a:cs typeface="Arial"/>
              </a:rPr>
              <a:t> </a:t>
            </a:r>
            <a:r>
              <a:rPr sz="1000" dirty="0">
                <a:latin typeface="Tahoma"/>
                <a:cs typeface="Tahoma"/>
              </a:rPr>
              <a:t>)</a:t>
            </a:r>
            <a:r>
              <a:rPr sz="1000" spc="-35" dirty="0">
                <a:latin typeface="Tahoma"/>
                <a:cs typeface="Tahoma"/>
              </a:rPr>
              <a:t> </a:t>
            </a:r>
            <a:r>
              <a:rPr sz="1000" spc="45" dirty="0">
                <a:latin typeface="Tahoma"/>
                <a:cs typeface="Tahoma"/>
              </a:rPr>
              <a:t>=</a:t>
            </a:r>
            <a:r>
              <a:rPr sz="1000" spc="20" dirty="0">
                <a:latin typeface="Tahoma"/>
                <a:cs typeface="Tahoma"/>
              </a:rPr>
              <a:t> </a:t>
            </a:r>
            <a:r>
              <a:rPr sz="1000" spc="-5" dirty="0">
                <a:latin typeface="Tahoma"/>
                <a:cs typeface="Tahoma"/>
              </a:rPr>
              <a:t>?</a:t>
            </a:r>
            <a:endParaRPr sz="1000">
              <a:latin typeface="Tahoma"/>
              <a:cs typeface="Tahoma"/>
            </a:endParaRP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565910" cy="244475"/>
          </a:xfrm>
          <a:prstGeom prst="rect">
            <a:avLst/>
          </a:prstGeom>
        </p:spPr>
        <p:txBody>
          <a:bodyPr vert="horz" wrap="square" lIns="0" tIns="17145" rIns="0" bIns="0" rtlCol="0">
            <a:spAutoFit/>
          </a:bodyPr>
          <a:lstStyle/>
          <a:p>
            <a:pPr marL="12700">
              <a:lnSpc>
                <a:spcPct val="100000"/>
              </a:lnSpc>
              <a:spcBef>
                <a:spcPts val="135"/>
              </a:spcBef>
            </a:pPr>
            <a:r>
              <a:rPr spc="-10" dirty="0"/>
              <a:t>Domain</a:t>
            </a:r>
            <a:r>
              <a:rPr spc="100" dirty="0"/>
              <a:t> </a:t>
            </a:r>
            <a:r>
              <a:rPr spc="-45" dirty="0"/>
              <a:t>and</a:t>
            </a:r>
            <a:r>
              <a:rPr spc="100" dirty="0"/>
              <a:t> </a:t>
            </a:r>
            <a:r>
              <a:rPr spc="-40" dirty="0"/>
              <a:t>range</a:t>
            </a:r>
          </a:p>
        </p:txBody>
      </p:sp>
      <p:sp>
        <p:nvSpPr>
          <p:cNvPr id="30" name="object 30"/>
          <p:cNvSpPr/>
          <p:nvPr/>
        </p:nvSpPr>
        <p:spPr>
          <a:xfrm>
            <a:off x="698562" y="1171968"/>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1201907"/>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2" name="object 32"/>
          <p:cNvGrpSpPr/>
          <p:nvPr/>
        </p:nvGrpSpPr>
        <p:grpSpPr>
          <a:xfrm>
            <a:off x="698562" y="1228898"/>
            <a:ext cx="3831590" cy="765175"/>
            <a:chOff x="698562" y="1228898"/>
            <a:chExt cx="3831590" cy="765175"/>
          </a:xfrm>
        </p:grpSpPr>
        <p:pic>
          <p:nvPicPr>
            <p:cNvPr id="33" name="object 33"/>
            <p:cNvPicPr/>
            <p:nvPr/>
          </p:nvPicPr>
          <p:blipFill>
            <a:blip r:embed="rId7" cstate="print"/>
            <a:stretch>
              <a:fillRect/>
            </a:stretch>
          </p:blipFill>
          <p:spPr>
            <a:xfrm>
              <a:off x="698563" y="1329563"/>
              <a:ext cx="3780284" cy="50609"/>
            </a:xfrm>
            <a:prstGeom prst="rect">
              <a:avLst/>
            </a:prstGeom>
          </p:spPr>
        </p:pic>
        <p:sp>
          <p:nvSpPr>
            <p:cNvPr id="34" name="object 34"/>
            <p:cNvSpPr/>
            <p:nvPr/>
          </p:nvSpPr>
          <p:spPr>
            <a:xfrm>
              <a:off x="749363" y="1228898"/>
              <a:ext cx="3780790" cy="765175"/>
            </a:xfrm>
            <a:custGeom>
              <a:avLst/>
              <a:gdLst/>
              <a:ahLst/>
              <a:cxnLst/>
              <a:rect l="l" t="t" r="r" b="b"/>
              <a:pathLst>
                <a:path w="3780790" h="765175">
                  <a:moveTo>
                    <a:pt x="3780285" y="0"/>
                  </a:moveTo>
                  <a:lnTo>
                    <a:pt x="0" y="0"/>
                  </a:lnTo>
                  <a:lnTo>
                    <a:pt x="0" y="764557"/>
                  </a:lnTo>
                  <a:lnTo>
                    <a:pt x="3780285" y="764557"/>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373844"/>
              <a:ext cx="3780790" cy="568960"/>
            </a:xfrm>
            <a:custGeom>
              <a:avLst/>
              <a:gdLst/>
              <a:ahLst/>
              <a:cxnLst/>
              <a:rect l="l" t="t" r="r" b="b"/>
              <a:pathLst>
                <a:path w="3780790" h="568960">
                  <a:moveTo>
                    <a:pt x="3780285" y="0"/>
                  </a:moveTo>
                  <a:lnTo>
                    <a:pt x="0" y="0"/>
                  </a:lnTo>
                  <a:lnTo>
                    <a:pt x="0" y="518011"/>
                  </a:lnTo>
                  <a:lnTo>
                    <a:pt x="4008" y="537735"/>
                  </a:lnTo>
                  <a:lnTo>
                    <a:pt x="14922" y="553888"/>
                  </a:lnTo>
                  <a:lnTo>
                    <a:pt x="31075" y="564802"/>
                  </a:lnTo>
                  <a:lnTo>
                    <a:pt x="50800" y="568811"/>
                  </a:lnTo>
                  <a:lnTo>
                    <a:pt x="3729484" y="568811"/>
                  </a:lnTo>
                  <a:lnTo>
                    <a:pt x="3749209" y="564802"/>
                  </a:lnTo>
                  <a:lnTo>
                    <a:pt x="3765362" y="553888"/>
                  </a:lnTo>
                  <a:lnTo>
                    <a:pt x="3776276" y="537735"/>
                  </a:lnTo>
                  <a:lnTo>
                    <a:pt x="3780285" y="518011"/>
                  </a:lnTo>
                  <a:lnTo>
                    <a:pt x="3780285" y="0"/>
                  </a:lnTo>
                  <a:close/>
                </a:path>
              </a:pathLst>
            </a:custGeom>
            <a:solidFill>
              <a:srgbClr val="E9E9F2"/>
            </a:solidFill>
          </p:spPr>
          <p:txBody>
            <a:bodyPr wrap="square" lIns="0" tIns="0" rIns="0" bIns="0" rtlCol="0"/>
            <a:lstStyle/>
            <a:p>
              <a:endParaRPr/>
            </a:p>
          </p:txBody>
        </p:sp>
        <p:pic>
          <p:nvPicPr>
            <p:cNvPr id="36" name="object 36"/>
            <p:cNvPicPr/>
            <p:nvPr/>
          </p:nvPicPr>
          <p:blipFill>
            <a:blip r:embed="rId8" cstate="print"/>
            <a:stretch>
              <a:fillRect/>
            </a:stretch>
          </p:blipFill>
          <p:spPr>
            <a:xfrm>
              <a:off x="879551" y="1614678"/>
              <a:ext cx="59601" cy="59601"/>
            </a:xfrm>
            <a:prstGeom prst="rect">
              <a:avLst/>
            </a:prstGeom>
          </p:spPr>
        </p:pic>
        <p:pic>
          <p:nvPicPr>
            <p:cNvPr id="37" name="object 37"/>
            <p:cNvPicPr/>
            <p:nvPr/>
          </p:nvPicPr>
          <p:blipFill>
            <a:blip r:embed="rId8" cstate="print"/>
            <a:stretch>
              <a:fillRect/>
            </a:stretch>
          </p:blipFill>
          <p:spPr>
            <a:xfrm>
              <a:off x="879551" y="1804466"/>
              <a:ext cx="59601" cy="59601"/>
            </a:xfrm>
            <a:prstGeom prst="rect">
              <a:avLst/>
            </a:prstGeom>
          </p:spPr>
        </p:pic>
      </p:grpSp>
      <p:sp>
        <p:nvSpPr>
          <p:cNvPr id="38" name="object 38"/>
          <p:cNvSpPr txBox="1">
            <a:spLocks noGrp="1"/>
          </p:cNvSpPr>
          <p:nvPr>
            <p:ph type="body" idx="1"/>
          </p:nvPr>
        </p:nvSpPr>
        <p:spPr>
          <a:prstGeom prst="rect">
            <a:avLst/>
          </a:prstGeom>
        </p:spPr>
        <p:txBody>
          <a:bodyPr vert="horz" wrap="square" lIns="0" tIns="268864" rIns="0" bIns="0" rtlCol="0">
            <a:spAutoFit/>
          </a:bodyPr>
          <a:lstStyle/>
          <a:p>
            <a:pPr marL="50800">
              <a:lnSpc>
                <a:spcPct val="100000"/>
              </a:lnSpc>
              <a:spcBef>
                <a:spcPts val="1030"/>
              </a:spcBef>
            </a:pPr>
            <a:r>
              <a:rPr spc="15" dirty="0"/>
              <a:t>F</a:t>
            </a:r>
            <a:r>
              <a:rPr spc="-75" dirty="0"/>
              <a:t>o</a:t>
            </a:r>
            <a:r>
              <a:rPr spc="-25" dirty="0"/>
              <a:t>r</a:t>
            </a:r>
            <a:r>
              <a:rPr spc="20" dirty="0"/>
              <a:t> </a:t>
            </a:r>
            <a:r>
              <a:rPr spc="-45" dirty="0"/>
              <a:t>any</a:t>
            </a:r>
            <a:r>
              <a:rPr spc="15" dirty="0"/>
              <a:t> </a:t>
            </a:r>
            <a:r>
              <a:rPr spc="-40" dirty="0"/>
              <a:t>mapping</a:t>
            </a:r>
            <a:r>
              <a:rPr spc="20" dirty="0"/>
              <a:t> </a:t>
            </a:r>
            <a:r>
              <a:rPr i="1" spc="25" dirty="0">
                <a:latin typeface="Arial"/>
                <a:cs typeface="Arial"/>
              </a:rPr>
              <a:t>f</a:t>
            </a:r>
            <a:r>
              <a:rPr i="1" dirty="0">
                <a:latin typeface="Arial"/>
                <a:cs typeface="Arial"/>
              </a:rPr>
              <a:t> </a:t>
            </a:r>
            <a:r>
              <a:rPr i="1" spc="-65" dirty="0">
                <a:latin typeface="Arial"/>
                <a:cs typeface="Arial"/>
              </a:rPr>
              <a:t> </a:t>
            </a:r>
            <a:r>
              <a:rPr spc="-80" dirty="0"/>
              <a:t>:</a:t>
            </a:r>
            <a:r>
              <a:rPr spc="-35" dirty="0"/>
              <a:t> </a:t>
            </a:r>
            <a:r>
              <a:rPr i="1" spc="-5" dirty="0">
                <a:latin typeface="Arial"/>
                <a:cs typeface="Arial"/>
              </a:rPr>
              <a:t>A </a:t>
            </a:r>
            <a:r>
              <a:rPr spc="55" dirty="0">
                <a:latin typeface="Lucida Sans Unicode"/>
                <a:cs typeface="Lucida Sans Unicode"/>
              </a:rPr>
              <a:t>→</a:t>
            </a:r>
            <a:r>
              <a:rPr spc="-40" dirty="0">
                <a:latin typeface="Lucida Sans Unicode"/>
                <a:cs typeface="Lucida Sans Unicode"/>
              </a:rPr>
              <a:t> </a:t>
            </a:r>
            <a:r>
              <a:rPr i="1" spc="-5" dirty="0">
                <a:latin typeface="Arial"/>
                <a:cs typeface="Arial"/>
              </a:rPr>
              <a:t>B</a:t>
            </a:r>
            <a:r>
              <a:rPr i="1" spc="135" dirty="0">
                <a:latin typeface="Arial"/>
                <a:cs typeface="Arial"/>
              </a:rPr>
              <a:t> </a:t>
            </a:r>
            <a:r>
              <a:rPr spc="-95" dirty="0"/>
              <a:t>w</a:t>
            </a:r>
            <a:r>
              <a:rPr spc="-85" dirty="0"/>
              <a:t>e</a:t>
            </a:r>
            <a:r>
              <a:rPr spc="20" dirty="0"/>
              <a:t> </a:t>
            </a:r>
            <a:r>
              <a:rPr spc="-40" dirty="0"/>
              <a:t>can</a:t>
            </a:r>
            <a:r>
              <a:rPr spc="15" dirty="0"/>
              <a:t> </a:t>
            </a:r>
            <a:r>
              <a:rPr spc="-45" dirty="0"/>
              <a:t>define</a:t>
            </a:r>
            <a:r>
              <a:rPr spc="20" dirty="0"/>
              <a:t> </a:t>
            </a:r>
            <a:r>
              <a:rPr spc="-5" dirty="0"/>
              <a:t>t</a:t>
            </a:r>
            <a:r>
              <a:rPr spc="-95" dirty="0"/>
              <a:t>w</a:t>
            </a:r>
            <a:r>
              <a:rPr spc="-45" dirty="0"/>
              <a:t>o</a:t>
            </a:r>
            <a:r>
              <a:rPr spc="15" dirty="0"/>
              <a:t> </a:t>
            </a:r>
            <a:r>
              <a:rPr spc="-55" dirty="0"/>
              <a:t>sets:</a:t>
            </a:r>
          </a:p>
          <a:p>
            <a:pPr marL="303530">
              <a:lnSpc>
                <a:spcPct val="100000"/>
              </a:lnSpc>
              <a:spcBef>
                <a:spcPts val="295"/>
              </a:spcBef>
            </a:pPr>
            <a:r>
              <a:rPr b="1" spc="-45" dirty="0">
                <a:latin typeface="Arial"/>
                <a:cs typeface="Arial"/>
              </a:rPr>
              <a:t>domain</a:t>
            </a:r>
            <a:r>
              <a:rPr b="1" spc="55" dirty="0">
                <a:latin typeface="Arial"/>
                <a:cs typeface="Arial"/>
              </a:rPr>
              <a:t> </a:t>
            </a:r>
            <a:r>
              <a:rPr i="1" spc="-45" dirty="0">
                <a:latin typeface="Arial"/>
                <a:cs typeface="Arial"/>
              </a:rPr>
              <a:t>do</a:t>
            </a:r>
            <a:r>
              <a:rPr i="1" spc="-50" dirty="0">
                <a:latin typeface="Arial"/>
                <a:cs typeface="Arial"/>
              </a:rPr>
              <a:t>m</a:t>
            </a:r>
            <a:r>
              <a:rPr dirty="0"/>
              <a:t>(</a:t>
            </a:r>
            <a:r>
              <a:rPr i="1" spc="25" dirty="0">
                <a:latin typeface="Arial"/>
                <a:cs typeface="Arial"/>
              </a:rPr>
              <a:t>f</a:t>
            </a:r>
            <a:r>
              <a:rPr i="1" spc="-65" dirty="0">
                <a:latin typeface="Arial"/>
                <a:cs typeface="Arial"/>
              </a:rPr>
              <a:t> </a:t>
            </a:r>
            <a:r>
              <a:rPr dirty="0"/>
              <a:t>)</a:t>
            </a:r>
            <a:r>
              <a:rPr spc="-35" dirty="0"/>
              <a:t> </a:t>
            </a:r>
            <a:r>
              <a:rPr spc="45" dirty="0"/>
              <a:t>=</a:t>
            </a:r>
            <a:r>
              <a:rPr spc="-40" dirty="0"/>
              <a:t> </a:t>
            </a:r>
            <a:r>
              <a:rPr spc="170" dirty="0">
                <a:latin typeface="Lucida Sans Unicode"/>
                <a:cs typeface="Lucida Sans Unicode"/>
              </a:rPr>
              <a:t>{</a:t>
            </a:r>
            <a:r>
              <a:rPr i="1" spc="-70" dirty="0">
                <a:latin typeface="Arial"/>
                <a:cs typeface="Arial"/>
              </a:rPr>
              <a:t>a</a:t>
            </a:r>
            <a:r>
              <a:rPr spc="-100" dirty="0">
                <a:latin typeface="Lucida Sans Unicode"/>
                <a:cs typeface="Lucida Sans Unicode"/>
              </a:rPr>
              <a:t>|</a:t>
            </a:r>
            <a:r>
              <a:rPr dirty="0"/>
              <a:t>(</a:t>
            </a:r>
            <a:r>
              <a:rPr i="1" spc="-70" dirty="0">
                <a:latin typeface="Arial"/>
                <a:cs typeface="Arial"/>
              </a:rPr>
              <a:t>a</a:t>
            </a:r>
            <a:r>
              <a:rPr i="1" spc="-90" dirty="0">
                <a:latin typeface="Verdana"/>
                <a:cs typeface="Verdana"/>
              </a:rPr>
              <a:t>,</a:t>
            </a:r>
            <a:r>
              <a:rPr i="1" spc="-185" dirty="0">
                <a:latin typeface="Verdana"/>
                <a:cs typeface="Verdana"/>
              </a:rPr>
              <a:t> </a:t>
            </a:r>
            <a:r>
              <a:rPr i="1" spc="-15" dirty="0">
                <a:latin typeface="Arial"/>
                <a:cs typeface="Arial"/>
              </a:rPr>
              <a:t>b</a:t>
            </a:r>
            <a:r>
              <a:rPr dirty="0"/>
              <a:t>)</a:t>
            </a:r>
            <a:r>
              <a:rPr spc="-35" dirty="0"/>
              <a:t> </a:t>
            </a:r>
            <a:r>
              <a:rPr spc="-135" dirty="0">
                <a:latin typeface="Lucida Sans Unicode"/>
                <a:cs typeface="Lucida Sans Unicode"/>
              </a:rPr>
              <a:t>∈</a:t>
            </a:r>
            <a:r>
              <a:rPr spc="-40" dirty="0">
                <a:latin typeface="Lucida Sans Unicode"/>
                <a:cs typeface="Lucida Sans Unicode"/>
              </a:rPr>
              <a:t> </a:t>
            </a:r>
            <a:r>
              <a:rPr i="1" spc="25" dirty="0">
                <a:latin typeface="Arial"/>
                <a:cs typeface="Arial"/>
              </a:rPr>
              <a:t>f</a:t>
            </a:r>
            <a:r>
              <a:rPr i="1" spc="-65" dirty="0">
                <a:latin typeface="Arial"/>
                <a:cs typeface="Arial"/>
              </a:rPr>
              <a:t> </a:t>
            </a:r>
            <a:r>
              <a:rPr spc="170" dirty="0">
                <a:latin typeface="Lucida Sans Unicode"/>
                <a:cs typeface="Lucida Sans Unicode"/>
              </a:rPr>
              <a:t>}</a:t>
            </a:r>
          </a:p>
          <a:p>
            <a:pPr marL="303530">
              <a:lnSpc>
                <a:spcPct val="100000"/>
              </a:lnSpc>
              <a:spcBef>
                <a:spcPts val="295"/>
              </a:spcBef>
            </a:pPr>
            <a:r>
              <a:rPr b="1" spc="-45" dirty="0">
                <a:latin typeface="Arial"/>
                <a:cs typeface="Arial"/>
              </a:rPr>
              <a:t>range</a:t>
            </a:r>
            <a:r>
              <a:rPr b="1" spc="50" dirty="0">
                <a:latin typeface="Arial"/>
                <a:cs typeface="Arial"/>
              </a:rPr>
              <a:t> </a:t>
            </a:r>
            <a:r>
              <a:rPr i="1" spc="-35" dirty="0">
                <a:latin typeface="Arial"/>
                <a:cs typeface="Arial"/>
              </a:rPr>
              <a:t>rng</a:t>
            </a:r>
            <a:r>
              <a:rPr i="1" spc="-170" dirty="0">
                <a:latin typeface="Arial"/>
                <a:cs typeface="Arial"/>
              </a:rPr>
              <a:t> </a:t>
            </a:r>
            <a:r>
              <a:rPr dirty="0"/>
              <a:t>(</a:t>
            </a:r>
            <a:r>
              <a:rPr i="1" spc="25" dirty="0">
                <a:latin typeface="Arial"/>
                <a:cs typeface="Arial"/>
              </a:rPr>
              <a:t>f</a:t>
            </a:r>
            <a:r>
              <a:rPr i="1" spc="-65" dirty="0">
                <a:latin typeface="Arial"/>
                <a:cs typeface="Arial"/>
              </a:rPr>
              <a:t> </a:t>
            </a:r>
            <a:r>
              <a:rPr dirty="0"/>
              <a:t>)</a:t>
            </a:r>
            <a:r>
              <a:rPr spc="-35" dirty="0"/>
              <a:t> </a:t>
            </a:r>
            <a:r>
              <a:rPr spc="45" dirty="0"/>
              <a:t>=</a:t>
            </a:r>
            <a:r>
              <a:rPr spc="-40" dirty="0"/>
              <a:t> </a:t>
            </a:r>
            <a:r>
              <a:rPr spc="170" dirty="0">
                <a:latin typeface="Lucida Sans Unicode"/>
                <a:cs typeface="Lucida Sans Unicode"/>
              </a:rPr>
              <a:t>{</a:t>
            </a:r>
            <a:r>
              <a:rPr i="1" spc="-15" dirty="0">
                <a:latin typeface="Arial"/>
                <a:cs typeface="Arial"/>
              </a:rPr>
              <a:t>b</a:t>
            </a:r>
            <a:r>
              <a:rPr spc="-100" dirty="0">
                <a:latin typeface="Lucida Sans Unicode"/>
                <a:cs typeface="Lucida Sans Unicode"/>
              </a:rPr>
              <a:t>|</a:t>
            </a:r>
            <a:r>
              <a:rPr dirty="0"/>
              <a:t>(</a:t>
            </a:r>
            <a:r>
              <a:rPr i="1" spc="-70" dirty="0">
                <a:latin typeface="Arial"/>
                <a:cs typeface="Arial"/>
              </a:rPr>
              <a:t>a</a:t>
            </a:r>
            <a:r>
              <a:rPr i="1" spc="-90" dirty="0">
                <a:latin typeface="Verdana"/>
                <a:cs typeface="Verdana"/>
              </a:rPr>
              <a:t>,</a:t>
            </a:r>
            <a:r>
              <a:rPr i="1" spc="-185" dirty="0">
                <a:latin typeface="Verdana"/>
                <a:cs typeface="Verdana"/>
              </a:rPr>
              <a:t> </a:t>
            </a:r>
            <a:r>
              <a:rPr i="1" spc="-15" dirty="0">
                <a:latin typeface="Arial"/>
                <a:cs typeface="Arial"/>
              </a:rPr>
              <a:t>b</a:t>
            </a:r>
            <a:r>
              <a:rPr dirty="0"/>
              <a:t>)</a:t>
            </a:r>
            <a:r>
              <a:rPr spc="-35" dirty="0"/>
              <a:t> </a:t>
            </a:r>
            <a:r>
              <a:rPr spc="-135" dirty="0">
                <a:latin typeface="Lucida Sans Unicode"/>
                <a:cs typeface="Lucida Sans Unicode"/>
              </a:rPr>
              <a:t>∈</a:t>
            </a:r>
            <a:r>
              <a:rPr spc="-40" dirty="0">
                <a:latin typeface="Lucida Sans Unicode"/>
                <a:cs typeface="Lucida Sans Unicode"/>
              </a:rPr>
              <a:t> </a:t>
            </a:r>
            <a:r>
              <a:rPr i="1" spc="25" dirty="0">
                <a:latin typeface="Arial"/>
                <a:cs typeface="Arial"/>
              </a:rPr>
              <a:t>f</a:t>
            </a:r>
            <a:r>
              <a:rPr i="1" spc="-65" dirty="0">
                <a:latin typeface="Arial"/>
                <a:cs typeface="Arial"/>
              </a:rPr>
              <a:t> </a:t>
            </a:r>
            <a:r>
              <a:rPr spc="170" dirty="0">
                <a:latin typeface="Lucida Sans Unicode"/>
                <a:cs typeface="Lucida Sans Unicode"/>
              </a:rPr>
              <a:t>}</a:t>
            </a:r>
          </a:p>
        </p:txBody>
      </p:sp>
      <p:sp>
        <p:nvSpPr>
          <p:cNvPr id="39" name="object 39"/>
          <p:cNvSpPr/>
          <p:nvPr/>
        </p:nvSpPr>
        <p:spPr>
          <a:xfrm>
            <a:off x="698562" y="2094585"/>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0" name="object 40"/>
          <p:cNvSpPr txBox="1"/>
          <p:nvPr/>
        </p:nvSpPr>
        <p:spPr>
          <a:xfrm>
            <a:off x="749363" y="2124511"/>
            <a:ext cx="447040" cy="128270"/>
          </a:xfrm>
          <a:prstGeom prst="rect">
            <a:avLst/>
          </a:prstGeom>
        </p:spPr>
        <p:txBody>
          <a:bodyPr vert="horz" wrap="square" lIns="0" tIns="0" rIns="0" bIns="0" rtlCol="0">
            <a:spAutoFit/>
          </a:bodyPr>
          <a:lstStyle/>
          <a:p>
            <a:pPr>
              <a:lnSpc>
                <a:spcPts val="955"/>
              </a:lnSpc>
            </a:pPr>
            <a:r>
              <a:rPr sz="1000" spc="-35" dirty="0">
                <a:solidFill>
                  <a:srgbClr val="FFFFFF"/>
                </a:solidFill>
                <a:latin typeface="Tahoma"/>
                <a:cs typeface="Tahoma"/>
              </a:rPr>
              <a:t>Example</a:t>
            </a:r>
            <a:endParaRPr sz="1000">
              <a:latin typeface="Tahoma"/>
              <a:cs typeface="Tahoma"/>
            </a:endParaRPr>
          </a:p>
        </p:txBody>
      </p:sp>
      <p:grpSp>
        <p:nvGrpSpPr>
          <p:cNvPr id="41" name="object 41"/>
          <p:cNvGrpSpPr/>
          <p:nvPr/>
        </p:nvGrpSpPr>
        <p:grpSpPr>
          <a:xfrm>
            <a:off x="698562" y="2151512"/>
            <a:ext cx="3831590" cy="549910"/>
            <a:chOff x="698562" y="2151512"/>
            <a:chExt cx="3831590" cy="549910"/>
          </a:xfrm>
        </p:grpSpPr>
        <p:pic>
          <p:nvPicPr>
            <p:cNvPr id="42" name="object 42"/>
            <p:cNvPicPr/>
            <p:nvPr/>
          </p:nvPicPr>
          <p:blipFill>
            <a:blip r:embed="rId9" cstate="print"/>
            <a:stretch>
              <a:fillRect/>
            </a:stretch>
          </p:blipFill>
          <p:spPr>
            <a:xfrm>
              <a:off x="698563" y="2257806"/>
              <a:ext cx="3780284" cy="50609"/>
            </a:xfrm>
            <a:prstGeom prst="rect">
              <a:avLst/>
            </a:prstGeom>
          </p:spPr>
        </p:pic>
        <p:sp>
          <p:nvSpPr>
            <p:cNvPr id="43" name="object 43"/>
            <p:cNvSpPr/>
            <p:nvPr/>
          </p:nvSpPr>
          <p:spPr>
            <a:xfrm>
              <a:off x="749363" y="2151512"/>
              <a:ext cx="3780790" cy="549910"/>
            </a:xfrm>
            <a:custGeom>
              <a:avLst/>
              <a:gdLst/>
              <a:ahLst/>
              <a:cxnLst/>
              <a:rect l="l" t="t" r="r" b="b"/>
              <a:pathLst>
                <a:path w="3780790" h="549910">
                  <a:moveTo>
                    <a:pt x="3780285" y="0"/>
                  </a:moveTo>
                  <a:lnTo>
                    <a:pt x="0" y="0"/>
                  </a:lnTo>
                  <a:lnTo>
                    <a:pt x="0" y="549461"/>
                  </a:lnTo>
                  <a:lnTo>
                    <a:pt x="3780285" y="549461"/>
                  </a:lnTo>
                  <a:lnTo>
                    <a:pt x="3780285" y="0"/>
                  </a:lnTo>
                  <a:close/>
                </a:path>
              </a:pathLst>
            </a:custGeom>
            <a:solidFill>
              <a:srgbClr val="000000"/>
            </a:solidFill>
          </p:spPr>
          <p:txBody>
            <a:bodyPr wrap="square" lIns="0" tIns="0" rIns="0" bIns="0" rtlCol="0"/>
            <a:lstStyle/>
            <a:p>
              <a:endParaRPr/>
            </a:p>
          </p:txBody>
        </p:sp>
        <p:sp>
          <p:nvSpPr>
            <p:cNvPr id="44" name="object 44"/>
            <p:cNvSpPr/>
            <p:nvPr/>
          </p:nvSpPr>
          <p:spPr>
            <a:xfrm>
              <a:off x="698562" y="2302080"/>
              <a:ext cx="3780790" cy="348615"/>
            </a:xfrm>
            <a:custGeom>
              <a:avLst/>
              <a:gdLst/>
              <a:ahLst/>
              <a:cxnLst/>
              <a:rect l="l" t="t" r="r" b="b"/>
              <a:pathLst>
                <a:path w="3780790" h="348614">
                  <a:moveTo>
                    <a:pt x="3780285" y="0"/>
                  </a:moveTo>
                  <a:lnTo>
                    <a:pt x="0" y="0"/>
                  </a:lnTo>
                  <a:lnTo>
                    <a:pt x="0" y="297291"/>
                  </a:lnTo>
                  <a:lnTo>
                    <a:pt x="4008" y="317016"/>
                  </a:lnTo>
                  <a:lnTo>
                    <a:pt x="14922" y="333169"/>
                  </a:lnTo>
                  <a:lnTo>
                    <a:pt x="31075" y="344083"/>
                  </a:lnTo>
                  <a:lnTo>
                    <a:pt x="50800" y="348091"/>
                  </a:lnTo>
                  <a:lnTo>
                    <a:pt x="3729484" y="348091"/>
                  </a:lnTo>
                  <a:lnTo>
                    <a:pt x="3749209" y="344083"/>
                  </a:lnTo>
                  <a:lnTo>
                    <a:pt x="3765362" y="333169"/>
                  </a:lnTo>
                  <a:lnTo>
                    <a:pt x="3776276" y="317016"/>
                  </a:lnTo>
                  <a:lnTo>
                    <a:pt x="3780285" y="297291"/>
                  </a:lnTo>
                  <a:lnTo>
                    <a:pt x="3780285" y="0"/>
                  </a:lnTo>
                  <a:close/>
                </a:path>
              </a:pathLst>
            </a:custGeom>
            <a:solidFill>
              <a:srgbClr val="E9E9F2"/>
            </a:solidFill>
          </p:spPr>
          <p:txBody>
            <a:bodyPr wrap="square" lIns="0" tIns="0" rIns="0" bIns="0" rtlCol="0"/>
            <a:lstStyle/>
            <a:p>
              <a:endParaRPr/>
            </a:p>
          </p:txBody>
        </p:sp>
      </p:grpSp>
      <p:sp>
        <p:nvSpPr>
          <p:cNvPr id="45" name="object 45"/>
          <p:cNvSpPr txBox="1"/>
          <p:nvPr/>
        </p:nvSpPr>
        <p:spPr>
          <a:xfrm>
            <a:off x="749363" y="2283058"/>
            <a:ext cx="3672204" cy="329565"/>
          </a:xfrm>
          <a:prstGeom prst="rect">
            <a:avLst/>
          </a:prstGeom>
        </p:spPr>
        <p:txBody>
          <a:bodyPr vert="horz" wrap="square" lIns="0" tIns="12065" rIns="0" bIns="0" rtlCol="0">
            <a:spAutoFit/>
          </a:bodyPr>
          <a:lstStyle/>
          <a:p>
            <a:pPr marR="5080">
              <a:lnSpc>
                <a:spcPct val="100000"/>
              </a:lnSpc>
              <a:spcBef>
                <a:spcPts val="95"/>
              </a:spcBef>
            </a:pPr>
            <a:r>
              <a:rPr sz="1000" spc="-10" dirty="0">
                <a:latin typeface="Tahoma"/>
                <a:cs typeface="Tahoma"/>
              </a:rPr>
              <a:t>Let</a:t>
            </a:r>
            <a:r>
              <a:rPr sz="1000" spc="15" dirty="0">
                <a:latin typeface="Tahoma"/>
                <a:cs typeface="Tahoma"/>
              </a:rPr>
              <a:t> </a:t>
            </a:r>
            <a:r>
              <a:rPr sz="1000" i="1" spc="-5" dirty="0">
                <a:latin typeface="Arial"/>
                <a:cs typeface="Arial"/>
              </a:rPr>
              <a:t>A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spc="170" dirty="0">
                <a:latin typeface="Lucida Sans Unicode"/>
                <a:cs typeface="Lucida Sans Unicode"/>
              </a:rPr>
              <a:t>}</a:t>
            </a:r>
            <a:r>
              <a:rPr sz="1000" spc="15" dirty="0">
                <a:latin typeface="Lucida Sans Unicode"/>
                <a:cs typeface="Lucida Sans Unicode"/>
              </a:rPr>
              <a:t> </a:t>
            </a:r>
            <a:r>
              <a:rPr sz="1000" spc="-45" dirty="0">
                <a:latin typeface="Tahoma"/>
                <a:cs typeface="Tahoma"/>
              </a:rPr>
              <a:t>and</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spc="-30" dirty="0">
                <a:latin typeface="Tahoma"/>
                <a:cs typeface="Tahoma"/>
              </a:rPr>
              <a:t>,</a:t>
            </a:r>
            <a:r>
              <a:rPr sz="1000" spc="20" dirty="0">
                <a:latin typeface="Tahoma"/>
                <a:cs typeface="Tahoma"/>
              </a:rPr>
              <a:t> </a:t>
            </a:r>
            <a:r>
              <a:rPr sz="1000" spc="-60" dirty="0">
                <a:latin typeface="Tahoma"/>
                <a:cs typeface="Tahoma"/>
              </a:rPr>
              <a:t>where</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dirty="0">
                <a:latin typeface="Tahoma"/>
                <a:cs typeface="Tahoma"/>
              </a:rPr>
              <a:t>)</a:t>
            </a:r>
            <a:r>
              <a:rPr sz="1000" spc="170" dirty="0">
                <a:latin typeface="Lucida Sans Unicode"/>
                <a:cs typeface="Lucida Sans Unicode"/>
              </a:rPr>
              <a:t>}</a:t>
            </a:r>
            <a:r>
              <a:rPr sz="1000" spc="-30" dirty="0">
                <a:latin typeface="Tahoma"/>
                <a:cs typeface="Tahoma"/>
              </a:rPr>
              <a:t>.</a:t>
            </a:r>
            <a:r>
              <a:rPr sz="1000" spc="130" dirty="0">
                <a:latin typeface="Tahoma"/>
                <a:cs typeface="Tahoma"/>
              </a:rPr>
              <a:t> </a:t>
            </a:r>
            <a:r>
              <a:rPr sz="1000" spc="-20" dirty="0">
                <a:latin typeface="Tahoma"/>
                <a:cs typeface="Tahoma"/>
              </a:rPr>
              <a:t>Then</a:t>
            </a:r>
            <a:r>
              <a:rPr sz="1000" spc="20" dirty="0">
                <a:latin typeface="Tahoma"/>
                <a:cs typeface="Tahoma"/>
              </a:rPr>
              <a:t> </a:t>
            </a:r>
            <a:r>
              <a:rPr sz="1000" i="1" spc="-35" dirty="0">
                <a:latin typeface="Arial"/>
                <a:cs typeface="Arial"/>
              </a:rPr>
              <a:t>rng</a:t>
            </a:r>
            <a:r>
              <a:rPr sz="1000" i="1" spc="-170" dirty="0">
                <a:latin typeface="Arial"/>
                <a:cs typeface="Arial"/>
              </a:rPr>
              <a:t> </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spc="-35" dirty="0">
                <a:latin typeface="Tahoma"/>
                <a:cs typeface="Tahoma"/>
              </a:rPr>
              <a:t> </a:t>
            </a:r>
            <a:r>
              <a:rPr sz="1000" spc="45" dirty="0">
                <a:latin typeface="Tahoma"/>
                <a:cs typeface="Tahoma"/>
              </a:rPr>
              <a:t>=</a:t>
            </a:r>
            <a:r>
              <a:rPr sz="1000" spc="20" dirty="0">
                <a:latin typeface="Tahoma"/>
                <a:cs typeface="Tahoma"/>
              </a:rPr>
              <a:t> </a:t>
            </a:r>
            <a:r>
              <a:rPr sz="1000" spc="-5" dirty="0">
                <a:latin typeface="Tahoma"/>
                <a:cs typeface="Tahoma"/>
              </a:rPr>
              <a:t>?  </a:t>
            </a:r>
            <a:r>
              <a:rPr sz="1000" spc="-45" dirty="0">
                <a:latin typeface="Tahoma"/>
                <a:cs typeface="Tahoma"/>
              </a:rPr>
              <a:t>and</a:t>
            </a:r>
            <a:r>
              <a:rPr sz="1000" spc="15" dirty="0">
                <a:latin typeface="Tahoma"/>
                <a:cs typeface="Tahoma"/>
              </a:rPr>
              <a:t> </a:t>
            </a:r>
            <a:r>
              <a:rPr sz="1000" i="1" spc="-20" dirty="0">
                <a:latin typeface="Arial"/>
                <a:cs typeface="Arial"/>
              </a:rPr>
              <a:t>dom</a:t>
            </a:r>
            <a:r>
              <a:rPr sz="1000" spc="-20" dirty="0">
                <a:latin typeface="Tahoma"/>
                <a:cs typeface="Tahoma"/>
              </a:rPr>
              <a:t>(</a:t>
            </a:r>
            <a:r>
              <a:rPr sz="1000" i="1" spc="-20" dirty="0">
                <a:latin typeface="Arial"/>
                <a:cs typeface="Arial"/>
              </a:rPr>
              <a:t>f</a:t>
            </a:r>
            <a:r>
              <a:rPr sz="1000" i="1" spc="-65" dirty="0">
                <a:latin typeface="Arial"/>
                <a:cs typeface="Arial"/>
              </a:rPr>
              <a:t> </a:t>
            </a:r>
            <a:r>
              <a:rPr sz="1000" dirty="0">
                <a:latin typeface="Tahoma"/>
                <a:cs typeface="Tahoma"/>
              </a:rPr>
              <a:t>)</a:t>
            </a:r>
            <a:r>
              <a:rPr sz="1000" spc="-35" dirty="0">
                <a:latin typeface="Tahoma"/>
                <a:cs typeface="Tahoma"/>
              </a:rPr>
              <a:t> </a:t>
            </a:r>
            <a:r>
              <a:rPr sz="1000" spc="45" dirty="0">
                <a:latin typeface="Tahoma"/>
                <a:cs typeface="Tahoma"/>
              </a:rPr>
              <a:t>=</a:t>
            </a:r>
            <a:r>
              <a:rPr sz="1000" spc="20" dirty="0">
                <a:latin typeface="Tahoma"/>
                <a:cs typeface="Tahoma"/>
              </a:rPr>
              <a:t> </a:t>
            </a:r>
            <a:r>
              <a:rPr sz="1000" spc="-5" dirty="0">
                <a:latin typeface="Tahoma"/>
                <a:cs typeface="Tahoma"/>
              </a:rPr>
              <a:t>?</a:t>
            </a:r>
            <a:endParaRPr sz="1000">
              <a:latin typeface="Tahoma"/>
              <a:cs typeface="Tahoma"/>
            </a:endParaRP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565910" cy="244475"/>
          </a:xfrm>
          <a:prstGeom prst="rect">
            <a:avLst/>
          </a:prstGeom>
        </p:spPr>
        <p:txBody>
          <a:bodyPr vert="horz" wrap="square" lIns="0" tIns="17145" rIns="0" bIns="0" rtlCol="0">
            <a:spAutoFit/>
          </a:bodyPr>
          <a:lstStyle/>
          <a:p>
            <a:pPr marL="12700">
              <a:lnSpc>
                <a:spcPct val="100000"/>
              </a:lnSpc>
              <a:spcBef>
                <a:spcPts val="135"/>
              </a:spcBef>
            </a:pPr>
            <a:r>
              <a:rPr spc="-10" dirty="0"/>
              <a:t>Domain</a:t>
            </a:r>
            <a:r>
              <a:rPr spc="100" dirty="0"/>
              <a:t> </a:t>
            </a:r>
            <a:r>
              <a:rPr spc="-45" dirty="0"/>
              <a:t>and</a:t>
            </a:r>
            <a:r>
              <a:rPr spc="100" dirty="0"/>
              <a:t> </a:t>
            </a:r>
            <a:r>
              <a:rPr spc="-40" dirty="0"/>
              <a:t>range</a:t>
            </a:r>
          </a:p>
        </p:txBody>
      </p:sp>
      <p:sp>
        <p:nvSpPr>
          <p:cNvPr id="30" name="object 30"/>
          <p:cNvSpPr/>
          <p:nvPr/>
        </p:nvSpPr>
        <p:spPr>
          <a:xfrm>
            <a:off x="698562" y="1171968"/>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1201907"/>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2" name="object 32"/>
          <p:cNvGrpSpPr/>
          <p:nvPr/>
        </p:nvGrpSpPr>
        <p:grpSpPr>
          <a:xfrm>
            <a:off x="698562" y="1228898"/>
            <a:ext cx="3831590" cy="765175"/>
            <a:chOff x="698562" y="1228898"/>
            <a:chExt cx="3831590" cy="765175"/>
          </a:xfrm>
        </p:grpSpPr>
        <p:pic>
          <p:nvPicPr>
            <p:cNvPr id="33" name="object 33"/>
            <p:cNvPicPr/>
            <p:nvPr/>
          </p:nvPicPr>
          <p:blipFill>
            <a:blip r:embed="rId7" cstate="print"/>
            <a:stretch>
              <a:fillRect/>
            </a:stretch>
          </p:blipFill>
          <p:spPr>
            <a:xfrm>
              <a:off x="698563" y="1329563"/>
              <a:ext cx="3780284" cy="50609"/>
            </a:xfrm>
            <a:prstGeom prst="rect">
              <a:avLst/>
            </a:prstGeom>
          </p:spPr>
        </p:pic>
        <p:sp>
          <p:nvSpPr>
            <p:cNvPr id="34" name="object 34"/>
            <p:cNvSpPr/>
            <p:nvPr/>
          </p:nvSpPr>
          <p:spPr>
            <a:xfrm>
              <a:off x="749363" y="1228898"/>
              <a:ext cx="3780790" cy="765175"/>
            </a:xfrm>
            <a:custGeom>
              <a:avLst/>
              <a:gdLst/>
              <a:ahLst/>
              <a:cxnLst/>
              <a:rect l="l" t="t" r="r" b="b"/>
              <a:pathLst>
                <a:path w="3780790" h="765175">
                  <a:moveTo>
                    <a:pt x="3780285" y="0"/>
                  </a:moveTo>
                  <a:lnTo>
                    <a:pt x="0" y="0"/>
                  </a:lnTo>
                  <a:lnTo>
                    <a:pt x="0" y="764557"/>
                  </a:lnTo>
                  <a:lnTo>
                    <a:pt x="3780285" y="764557"/>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373844"/>
              <a:ext cx="3780790" cy="568960"/>
            </a:xfrm>
            <a:custGeom>
              <a:avLst/>
              <a:gdLst/>
              <a:ahLst/>
              <a:cxnLst/>
              <a:rect l="l" t="t" r="r" b="b"/>
              <a:pathLst>
                <a:path w="3780790" h="568960">
                  <a:moveTo>
                    <a:pt x="3780285" y="0"/>
                  </a:moveTo>
                  <a:lnTo>
                    <a:pt x="0" y="0"/>
                  </a:lnTo>
                  <a:lnTo>
                    <a:pt x="0" y="518011"/>
                  </a:lnTo>
                  <a:lnTo>
                    <a:pt x="4008" y="537735"/>
                  </a:lnTo>
                  <a:lnTo>
                    <a:pt x="14922" y="553888"/>
                  </a:lnTo>
                  <a:lnTo>
                    <a:pt x="31075" y="564802"/>
                  </a:lnTo>
                  <a:lnTo>
                    <a:pt x="50800" y="568811"/>
                  </a:lnTo>
                  <a:lnTo>
                    <a:pt x="3729484" y="568811"/>
                  </a:lnTo>
                  <a:lnTo>
                    <a:pt x="3749209" y="564802"/>
                  </a:lnTo>
                  <a:lnTo>
                    <a:pt x="3765362" y="553888"/>
                  </a:lnTo>
                  <a:lnTo>
                    <a:pt x="3776276" y="537735"/>
                  </a:lnTo>
                  <a:lnTo>
                    <a:pt x="3780285" y="518011"/>
                  </a:lnTo>
                  <a:lnTo>
                    <a:pt x="3780285" y="0"/>
                  </a:lnTo>
                  <a:close/>
                </a:path>
              </a:pathLst>
            </a:custGeom>
            <a:solidFill>
              <a:srgbClr val="E9E9F2"/>
            </a:solidFill>
          </p:spPr>
          <p:txBody>
            <a:bodyPr wrap="square" lIns="0" tIns="0" rIns="0" bIns="0" rtlCol="0"/>
            <a:lstStyle/>
            <a:p>
              <a:endParaRPr/>
            </a:p>
          </p:txBody>
        </p:sp>
        <p:pic>
          <p:nvPicPr>
            <p:cNvPr id="36" name="object 36"/>
            <p:cNvPicPr/>
            <p:nvPr/>
          </p:nvPicPr>
          <p:blipFill>
            <a:blip r:embed="rId8" cstate="print"/>
            <a:stretch>
              <a:fillRect/>
            </a:stretch>
          </p:blipFill>
          <p:spPr>
            <a:xfrm>
              <a:off x="879551" y="1614678"/>
              <a:ext cx="59601" cy="59601"/>
            </a:xfrm>
            <a:prstGeom prst="rect">
              <a:avLst/>
            </a:prstGeom>
          </p:spPr>
        </p:pic>
        <p:pic>
          <p:nvPicPr>
            <p:cNvPr id="37" name="object 37"/>
            <p:cNvPicPr/>
            <p:nvPr/>
          </p:nvPicPr>
          <p:blipFill>
            <a:blip r:embed="rId8" cstate="print"/>
            <a:stretch>
              <a:fillRect/>
            </a:stretch>
          </p:blipFill>
          <p:spPr>
            <a:xfrm>
              <a:off x="879551" y="1804466"/>
              <a:ext cx="59601" cy="59601"/>
            </a:xfrm>
            <a:prstGeom prst="rect">
              <a:avLst/>
            </a:prstGeom>
          </p:spPr>
        </p:pic>
      </p:grpSp>
      <p:sp>
        <p:nvSpPr>
          <p:cNvPr id="38" name="object 38"/>
          <p:cNvSpPr txBox="1">
            <a:spLocks noGrp="1"/>
          </p:cNvSpPr>
          <p:nvPr>
            <p:ph type="body" idx="1"/>
          </p:nvPr>
        </p:nvSpPr>
        <p:spPr>
          <a:prstGeom prst="rect">
            <a:avLst/>
          </a:prstGeom>
        </p:spPr>
        <p:txBody>
          <a:bodyPr vert="horz" wrap="square" lIns="0" tIns="268864" rIns="0" bIns="0" rtlCol="0">
            <a:spAutoFit/>
          </a:bodyPr>
          <a:lstStyle/>
          <a:p>
            <a:pPr marL="50800">
              <a:lnSpc>
                <a:spcPct val="100000"/>
              </a:lnSpc>
              <a:spcBef>
                <a:spcPts val="1030"/>
              </a:spcBef>
            </a:pPr>
            <a:r>
              <a:rPr spc="15" dirty="0"/>
              <a:t>F</a:t>
            </a:r>
            <a:r>
              <a:rPr spc="-75" dirty="0"/>
              <a:t>o</a:t>
            </a:r>
            <a:r>
              <a:rPr spc="-25" dirty="0"/>
              <a:t>r</a:t>
            </a:r>
            <a:r>
              <a:rPr spc="20" dirty="0"/>
              <a:t> </a:t>
            </a:r>
            <a:r>
              <a:rPr spc="-45" dirty="0"/>
              <a:t>any</a:t>
            </a:r>
            <a:r>
              <a:rPr spc="15" dirty="0"/>
              <a:t> </a:t>
            </a:r>
            <a:r>
              <a:rPr spc="-40" dirty="0"/>
              <a:t>mapping</a:t>
            </a:r>
            <a:r>
              <a:rPr spc="20" dirty="0"/>
              <a:t> </a:t>
            </a:r>
            <a:r>
              <a:rPr i="1" spc="25" dirty="0">
                <a:latin typeface="Arial"/>
                <a:cs typeface="Arial"/>
              </a:rPr>
              <a:t>f</a:t>
            </a:r>
            <a:r>
              <a:rPr i="1" dirty="0">
                <a:latin typeface="Arial"/>
                <a:cs typeface="Arial"/>
              </a:rPr>
              <a:t> </a:t>
            </a:r>
            <a:r>
              <a:rPr i="1" spc="-65" dirty="0">
                <a:latin typeface="Arial"/>
                <a:cs typeface="Arial"/>
              </a:rPr>
              <a:t> </a:t>
            </a:r>
            <a:r>
              <a:rPr spc="-80" dirty="0"/>
              <a:t>:</a:t>
            </a:r>
            <a:r>
              <a:rPr spc="-35" dirty="0"/>
              <a:t> </a:t>
            </a:r>
            <a:r>
              <a:rPr i="1" spc="-5" dirty="0">
                <a:latin typeface="Arial"/>
                <a:cs typeface="Arial"/>
              </a:rPr>
              <a:t>A </a:t>
            </a:r>
            <a:r>
              <a:rPr spc="55" dirty="0">
                <a:latin typeface="Lucida Sans Unicode"/>
                <a:cs typeface="Lucida Sans Unicode"/>
              </a:rPr>
              <a:t>→</a:t>
            </a:r>
            <a:r>
              <a:rPr spc="-40" dirty="0">
                <a:latin typeface="Lucida Sans Unicode"/>
                <a:cs typeface="Lucida Sans Unicode"/>
              </a:rPr>
              <a:t> </a:t>
            </a:r>
            <a:r>
              <a:rPr i="1" spc="-5" dirty="0">
                <a:latin typeface="Arial"/>
                <a:cs typeface="Arial"/>
              </a:rPr>
              <a:t>B</a:t>
            </a:r>
            <a:r>
              <a:rPr i="1" spc="135" dirty="0">
                <a:latin typeface="Arial"/>
                <a:cs typeface="Arial"/>
              </a:rPr>
              <a:t> </a:t>
            </a:r>
            <a:r>
              <a:rPr spc="-95" dirty="0"/>
              <a:t>w</a:t>
            </a:r>
            <a:r>
              <a:rPr spc="-85" dirty="0"/>
              <a:t>e</a:t>
            </a:r>
            <a:r>
              <a:rPr spc="20" dirty="0"/>
              <a:t> </a:t>
            </a:r>
            <a:r>
              <a:rPr spc="-40" dirty="0"/>
              <a:t>can</a:t>
            </a:r>
            <a:r>
              <a:rPr spc="15" dirty="0"/>
              <a:t> </a:t>
            </a:r>
            <a:r>
              <a:rPr spc="-45" dirty="0"/>
              <a:t>define</a:t>
            </a:r>
            <a:r>
              <a:rPr spc="20" dirty="0"/>
              <a:t> </a:t>
            </a:r>
            <a:r>
              <a:rPr spc="-5" dirty="0"/>
              <a:t>t</a:t>
            </a:r>
            <a:r>
              <a:rPr spc="-95" dirty="0"/>
              <a:t>w</a:t>
            </a:r>
            <a:r>
              <a:rPr spc="-45" dirty="0"/>
              <a:t>o</a:t>
            </a:r>
            <a:r>
              <a:rPr spc="15" dirty="0"/>
              <a:t> </a:t>
            </a:r>
            <a:r>
              <a:rPr spc="-55" dirty="0"/>
              <a:t>sets:</a:t>
            </a:r>
          </a:p>
          <a:p>
            <a:pPr marL="303530">
              <a:lnSpc>
                <a:spcPct val="100000"/>
              </a:lnSpc>
              <a:spcBef>
                <a:spcPts val="295"/>
              </a:spcBef>
            </a:pPr>
            <a:r>
              <a:rPr b="1" spc="-45" dirty="0">
                <a:latin typeface="Arial"/>
                <a:cs typeface="Arial"/>
              </a:rPr>
              <a:t>domain</a:t>
            </a:r>
            <a:r>
              <a:rPr b="1" spc="55" dirty="0">
                <a:latin typeface="Arial"/>
                <a:cs typeface="Arial"/>
              </a:rPr>
              <a:t> </a:t>
            </a:r>
            <a:r>
              <a:rPr i="1" spc="-45" dirty="0">
                <a:latin typeface="Arial"/>
                <a:cs typeface="Arial"/>
              </a:rPr>
              <a:t>do</a:t>
            </a:r>
            <a:r>
              <a:rPr i="1" spc="-50" dirty="0">
                <a:latin typeface="Arial"/>
                <a:cs typeface="Arial"/>
              </a:rPr>
              <a:t>m</a:t>
            </a:r>
            <a:r>
              <a:rPr dirty="0"/>
              <a:t>(</a:t>
            </a:r>
            <a:r>
              <a:rPr i="1" spc="25" dirty="0">
                <a:latin typeface="Arial"/>
                <a:cs typeface="Arial"/>
              </a:rPr>
              <a:t>f</a:t>
            </a:r>
            <a:r>
              <a:rPr i="1" spc="-65" dirty="0">
                <a:latin typeface="Arial"/>
                <a:cs typeface="Arial"/>
              </a:rPr>
              <a:t> </a:t>
            </a:r>
            <a:r>
              <a:rPr dirty="0"/>
              <a:t>)</a:t>
            </a:r>
            <a:r>
              <a:rPr spc="-35" dirty="0"/>
              <a:t> </a:t>
            </a:r>
            <a:r>
              <a:rPr spc="45" dirty="0"/>
              <a:t>=</a:t>
            </a:r>
            <a:r>
              <a:rPr spc="-40" dirty="0"/>
              <a:t> </a:t>
            </a:r>
            <a:r>
              <a:rPr spc="170" dirty="0">
                <a:latin typeface="Lucida Sans Unicode"/>
                <a:cs typeface="Lucida Sans Unicode"/>
              </a:rPr>
              <a:t>{</a:t>
            </a:r>
            <a:r>
              <a:rPr i="1" spc="-70" dirty="0">
                <a:latin typeface="Arial"/>
                <a:cs typeface="Arial"/>
              </a:rPr>
              <a:t>a</a:t>
            </a:r>
            <a:r>
              <a:rPr spc="-100" dirty="0">
                <a:latin typeface="Lucida Sans Unicode"/>
                <a:cs typeface="Lucida Sans Unicode"/>
              </a:rPr>
              <a:t>|</a:t>
            </a:r>
            <a:r>
              <a:rPr dirty="0"/>
              <a:t>(</a:t>
            </a:r>
            <a:r>
              <a:rPr i="1" spc="-70" dirty="0">
                <a:latin typeface="Arial"/>
                <a:cs typeface="Arial"/>
              </a:rPr>
              <a:t>a</a:t>
            </a:r>
            <a:r>
              <a:rPr i="1" spc="-90" dirty="0">
                <a:latin typeface="Verdana"/>
                <a:cs typeface="Verdana"/>
              </a:rPr>
              <a:t>,</a:t>
            </a:r>
            <a:r>
              <a:rPr i="1" spc="-185" dirty="0">
                <a:latin typeface="Verdana"/>
                <a:cs typeface="Verdana"/>
              </a:rPr>
              <a:t> </a:t>
            </a:r>
            <a:r>
              <a:rPr i="1" spc="-15" dirty="0">
                <a:latin typeface="Arial"/>
                <a:cs typeface="Arial"/>
              </a:rPr>
              <a:t>b</a:t>
            </a:r>
            <a:r>
              <a:rPr dirty="0"/>
              <a:t>)</a:t>
            </a:r>
            <a:r>
              <a:rPr spc="-35" dirty="0"/>
              <a:t> </a:t>
            </a:r>
            <a:r>
              <a:rPr spc="-135" dirty="0">
                <a:latin typeface="Lucida Sans Unicode"/>
                <a:cs typeface="Lucida Sans Unicode"/>
              </a:rPr>
              <a:t>∈</a:t>
            </a:r>
            <a:r>
              <a:rPr spc="-40" dirty="0">
                <a:latin typeface="Lucida Sans Unicode"/>
                <a:cs typeface="Lucida Sans Unicode"/>
              </a:rPr>
              <a:t> </a:t>
            </a:r>
            <a:r>
              <a:rPr i="1" spc="25" dirty="0">
                <a:latin typeface="Arial"/>
                <a:cs typeface="Arial"/>
              </a:rPr>
              <a:t>f</a:t>
            </a:r>
            <a:r>
              <a:rPr i="1" spc="-65" dirty="0">
                <a:latin typeface="Arial"/>
                <a:cs typeface="Arial"/>
              </a:rPr>
              <a:t> </a:t>
            </a:r>
            <a:r>
              <a:rPr spc="170" dirty="0">
                <a:latin typeface="Lucida Sans Unicode"/>
                <a:cs typeface="Lucida Sans Unicode"/>
              </a:rPr>
              <a:t>}</a:t>
            </a:r>
          </a:p>
          <a:p>
            <a:pPr marL="303530">
              <a:lnSpc>
                <a:spcPct val="100000"/>
              </a:lnSpc>
              <a:spcBef>
                <a:spcPts val="295"/>
              </a:spcBef>
            </a:pPr>
            <a:r>
              <a:rPr b="1" spc="-45" dirty="0">
                <a:latin typeface="Arial"/>
                <a:cs typeface="Arial"/>
              </a:rPr>
              <a:t>range</a:t>
            </a:r>
            <a:r>
              <a:rPr b="1" spc="50" dirty="0">
                <a:latin typeface="Arial"/>
                <a:cs typeface="Arial"/>
              </a:rPr>
              <a:t> </a:t>
            </a:r>
            <a:r>
              <a:rPr i="1" spc="-35" dirty="0">
                <a:latin typeface="Arial"/>
                <a:cs typeface="Arial"/>
              </a:rPr>
              <a:t>rng</a:t>
            </a:r>
            <a:r>
              <a:rPr i="1" spc="-170" dirty="0">
                <a:latin typeface="Arial"/>
                <a:cs typeface="Arial"/>
              </a:rPr>
              <a:t> </a:t>
            </a:r>
            <a:r>
              <a:rPr dirty="0"/>
              <a:t>(</a:t>
            </a:r>
            <a:r>
              <a:rPr i="1" spc="25" dirty="0">
                <a:latin typeface="Arial"/>
                <a:cs typeface="Arial"/>
              </a:rPr>
              <a:t>f</a:t>
            </a:r>
            <a:r>
              <a:rPr i="1" spc="-65" dirty="0">
                <a:latin typeface="Arial"/>
                <a:cs typeface="Arial"/>
              </a:rPr>
              <a:t> </a:t>
            </a:r>
            <a:r>
              <a:rPr dirty="0"/>
              <a:t>)</a:t>
            </a:r>
            <a:r>
              <a:rPr spc="-35" dirty="0"/>
              <a:t> </a:t>
            </a:r>
            <a:r>
              <a:rPr spc="45" dirty="0"/>
              <a:t>=</a:t>
            </a:r>
            <a:r>
              <a:rPr spc="-40" dirty="0"/>
              <a:t> </a:t>
            </a:r>
            <a:r>
              <a:rPr spc="170" dirty="0">
                <a:latin typeface="Lucida Sans Unicode"/>
                <a:cs typeface="Lucida Sans Unicode"/>
              </a:rPr>
              <a:t>{</a:t>
            </a:r>
            <a:r>
              <a:rPr i="1" spc="-15" dirty="0">
                <a:latin typeface="Arial"/>
                <a:cs typeface="Arial"/>
              </a:rPr>
              <a:t>b</a:t>
            </a:r>
            <a:r>
              <a:rPr spc="-100" dirty="0">
                <a:latin typeface="Lucida Sans Unicode"/>
                <a:cs typeface="Lucida Sans Unicode"/>
              </a:rPr>
              <a:t>|</a:t>
            </a:r>
            <a:r>
              <a:rPr dirty="0"/>
              <a:t>(</a:t>
            </a:r>
            <a:r>
              <a:rPr i="1" spc="-70" dirty="0">
                <a:latin typeface="Arial"/>
                <a:cs typeface="Arial"/>
              </a:rPr>
              <a:t>a</a:t>
            </a:r>
            <a:r>
              <a:rPr i="1" spc="-90" dirty="0">
                <a:latin typeface="Verdana"/>
                <a:cs typeface="Verdana"/>
              </a:rPr>
              <a:t>,</a:t>
            </a:r>
            <a:r>
              <a:rPr i="1" spc="-185" dirty="0">
                <a:latin typeface="Verdana"/>
                <a:cs typeface="Verdana"/>
              </a:rPr>
              <a:t> </a:t>
            </a:r>
            <a:r>
              <a:rPr i="1" spc="-15" dirty="0">
                <a:latin typeface="Arial"/>
                <a:cs typeface="Arial"/>
              </a:rPr>
              <a:t>b</a:t>
            </a:r>
            <a:r>
              <a:rPr dirty="0"/>
              <a:t>)</a:t>
            </a:r>
            <a:r>
              <a:rPr spc="-35" dirty="0"/>
              <a:t> </a:t>
            </a:r>
            <a:r>
              <a:rPr spc="-135" dirty="0">
                <a:latin typeface="Lucida Sans Unicode"/>
                <a:cs typeface="Lucida Sans Unicode"/>
              </a:rPr>
              <a:t>∈</a:t>
            </a:r>
            <a:r>
              <a:rPr spc="-40" dirty="0">
                <a:latin typeface="Lucida Sans Unicode"/>
                <a:cs typeface="Lucida Sans Unicode"/>
              </a:rPr>
              <a:t> </a:t>
            </a:r>
            <a:r>
              <a:rPr i="1" spc="25" dirty="0">
                <a:latin typeface="Arial"/>
                <a:cs typeface="Arial"/>
              </a:rPr>
              <a:t>f</a:t>
            </a:r>
            <a:r>
              <a:rPr i="1" spc="-65" dirty="0">
                <a:latin typeface="Arial"/>
                <a:cs typeface="Arial"/>
              </a:rPr>
              <a:t> </a:t>
            </a:r>
            <a:r>
              <a:rPr spc="170" dirty="0">
                <a:latin typeface="Lucida Sans Unicode"/>
                <a:cs typeface="Lucida Sans Unicode"/>
              </a:rPr>
              <a:t>}</a:t>
            </a:r>
          </a:p>
        </p:txBody>
      </p:sp>
      <p:sp>
        <p:nvSpPr>
          <p:cNvPr id="39" name="object 39"/>
          <p:cNvSpPr/>
          <p:nvPr/>
        </p:nvSpPr>
        <p:spPr>
          <a:xfrm>
            <a:off x="698562" y="2094585"/>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0" name="object 40"/>
          <p:cNvSpPr txBox="1"/>
          <p:nvPr/>
        </p:nvSpPr>
        <p:spPr>
          <a:xfrm>
            <a:off x="749363" y="2124511"/>
            <a:ext cx="447040" cy="128270"/>
          </a:xfrm>
          <a:prstGeom prst="rect">
            <a:avLst/>
          </a:prstGeom>
        </p:spPr>
        <p:txBody>
          <a:bodyPr vert="horz" wrap="square" lIns="0" tIns="0" rIns="0" bIns="0" rtlCol="0">
            <a:spAutoFit/>
          </a:bodyPr>
          <a:lstStyle/>
          <a:p>
            <a:pPr>
              <a:lnSpc>
                <a:spcPts val="955"/>
              </a:lnSpc>
            </a:pPr>
            <a:r>
              <a:rPr sz="1000" spc="-35" dirty="0">
                <a:solidFill>
                  <a:srgbClr val="FFFFFF"/>
                </a:solidFill>
                <a:latin typeface="Tahoma"/>
                <a:cs typeface="Tahoma"/>
              </a:rPr>
              <a:t>Example</a:t>
            </a:r>
            <a:endParaRPr sz="1000">
              <a:latin typeface="Tahoma"/>
              <a:cs typeface="Tahoma"/>
            </a:endParaRPr>
          </a:p>
        </p:txBody>
      </p:sp>
      <p:grpSp>
        <p:nvGrpSpPr>
          <p:cNvPr id="41" name="object 41"/>
          <p:cNvGrpSpPr/>
          <p:nvPr/>
        </p:nvGrpSpPr>
        <p:grpSpPr>
          <a:xfrm>
            <a:off x="698562" y="2151512"/>
            <a:ext cx="3831590" cy="549910"/>
            <a:chOff x="698562" y="2151512"/>
            <a:chExt cx="3831590" cy="549910"/>
          </a:xfrm>
        </p:grpSpPr>
        <p:pic>
          <p:nvPicPr>
            <p:cNvPr id="42" name="object 42"/>
            <p:cNvPicPr/>
            <p:nvPr/>
          </p:nvPicPr>
          <p:blipFill>
            <a:blip r:embed="rId9" cstate="print"/>
            <a:stretch>
              <a:fillRect/>
            </a:stretch>
          </p:blipFill>
          <p:spPr>
            <a:xfrm>
              <a:off x="698563" y="2257806"/>
              <a:ext cx="3780284" cy="50609"/>
            </a:xfrm>
            <a:prstGeom prst="rect">
              <a:avLst/>
            </a:prstGeom>
          </p:spPr>
        </p:pic>
        <p:sp>
          <p:nvSpPr>
            <p:cNvPr id="43" name="object 43"/>
            <p:cNvSpPr/>
            <p:nvPr/>
          </p:nvSpPr>
          <p:spPr>
            <a:xfrm>
              <a:off x="749363" y="2151512"/>
              <a:ext cx="3780790" cy="549910"/>
            </a:xfrm>
            <a:custGeom>
              <a:avLst/>
              <a:gdLst/>
              <a:ahLst/>
              <a:cxnLst/>
              <a:rect l="l" t="t" r="r" b="b"/>
              <a:pathLst>
                <a:path w="3780790" h="549910">
                  <a:moveTo>
                    <a:pt x="3780285" y="0"/>
                  </a:moveTo>
                  <a:lnTo>
                    <a:pt x="0" y="0"/>
                  </a:lnTo>
                  <a:lnTo>
                    <a:pt x="0" y="549461"/>
                  </a:lnTo>
                  <a:lnTo>
                    <a:pt x="3780285" y="549461"/>
                  </a:lnTo>
                  <a:lnTo>
                    <a:pt x="3780285" y="0"/>
                  </a:lnTo>
                  <a:close/>
                </a:path>
              </a:pathLst>
            </a:custGeom>
            <a:solidFill>
              <a:srgbClr val="000000"/>
            </a:solidFill>
          </p:spPr>
          <p:txBody>
            <a:bodyPr wrap="square" lIns="0" tIns="0" rIns="0" bIns="0" rtlCol="0"/>
            <a:lstStyle/>
            <a:p>
              <a:endParaRPr/>
            </a:p>
          </p:txBody>
        </p:sp>
        <p:sp>
          <p:nvSpPr>
            <p:cNvPr id="44" name="object 44"/>
            <p:cNvSpPr/>
            <p:nvPr/>
          </p:nvSpPr>
          <p:spPr>
            <a:xfrm>
              <a:off x="698562" y="2302080"/>
              <a:ext cx="3780790" cy="348615"/>
            </a:xfrm>
            <a:custGeom>
              <a:avLst/>
              <a:gdLst/>
              <a:ahLst/>
              <a:cxnLst/>
              <a:rect l="l" t="t" r="r" b="b"/>
              <a:pathLst>
                <a:path w="3780790" h="348614">
                  <a:moveTo>
                    <a:pt x="3780285" y="0"/>
                  </a:moveTo>
                  <a:lnTo>
                    <a:pt x="0" y="0"/>
                  </a:lnTo>
                  <a:lnTo>
                    <a:pt x="0" y="297291"/>
                  </a:lnTo>
                  <a:lnTo>
                    <a:pt x="4008" y="317016"/>
                  </a:lnTo>
                  <a:lnTo>
                    <a:pt x="14922" y="333169"/>
                  </a:lnTo>
                  <a:lnTo>
                    <a:pt x="31075" y="344083"/>
                  </a:lnTo>
                  <a:lnTo>
                    <a:pt x="50800" y="348091"/>
                  </a:lnTo>
                  <a:lnTo>
                    <a:pt x="3729484" y="348091"/>
                  </a:lnTo>
                  <a:lnTo>
                    <a:pt x="3749209" y="344083"/>
                  </a:lnTo>
                  <a:lnTo>
                    <a:pt x="3765362" y="333169"/>
                  </a:lnTo>
                  <a:lnTo>
                    <a:pt x="3776276" y="317016"/>
                  </a:lnTo>
                  <a:lnTo>
                    <a:pt x="3780285" y="297291"/>
                  </a:lnTo>
                  <a:lnTo>
                    <a:pt x="3780285" y="0"/>
                  </a:lnTo>
                  <a:close/>
                </a:path>
              </a:pathLst>
            </a:custGeom>
            <a:solidFill>
              <a:srgbClr val="E9E9F2"/>
            </a:solidFill>
          </p:spPr>
          <p:txBody>
            <a:bodyPr wrap="square" lIns="0" tIns="0" rIns="0" bIns="0" rtlCol="0"/>
            <a:lstStyle/>
            <a:p>
              <a:endParaRPr/>
            </a:p>
          </p:txBody>
        </p:sp>
      </p:grpSp>
      <p:sp>
        <p:nvSpPr>
          <p:cNvPr id="45" name="object 45"/>
          <p:cNvSpPr txBox="1"/>
          <p:nvPr/>
        </p:nvSpPr>
        <p:spPr>
          <a:xfrm>
            <a:off x="749363" y="2283058"/>
            <a:ext cx="3569970" cy="329565"/>
          </a:xfrm>
          <a:prstGeom prst="rect">
            <a:avLst/>
          </a:prstGeom>
        </p:spPr>
        <p:txBody>
          <a:bodyPr vert="horz" wrap="square" lIns="0" tIns="12065" rIns="0" bIns="0" rtlCol="0">
            <a:spAutoFit/>
          </a:bodyPr>
          <a:lstStyle/>
          <a:p>
            <a:pPr>
              <a:lnSpc>
                <a:spcPts val="1200"/>
              </a:lnSpc>
              <a:spcBef>
                <a:spcPts val="95"/>
              </a:spcBef>
            </a:pPr>
            <a:r>
              <a:rPr sz="1000" spc="-10" dirty="0">
                <a:latin typeface="Tahoma"/>
                <a:cs typeface="Tahoma"/>
              </a:rPr>
              <a:t>Let</a:t>
            </a:r>
            <a:r>
              <a:rPr sz="1000" spc="15" dirty="0">
                <a:latin typeface="Tahoma"/>
                <a:cs typeface="Tahoma"/>
              </a:rPr>
              <a:t> </a:t>
            </a:r>
            <a:r>
              <a:rPr sz="1000" i="1" spc="-5" dirty="0">
                <a:latin typeface="Arial"/>
                <a:cs typeface="Arial"/>
              </a:rPr>
              <a:t>A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spc="170" dirty="0">
                <a:latin typeface="Lucida Sans Unicode"/>
                <a:cs typeface="Lucida Sans Unicode"/>
              </a:rPr>
              <a:t>}</a:t>
            </a:r>
            <a:r>
              <a:rPr sz="1000" spc="15" dirty="0">
                <a:latin typeface="Lucida Sans Unicode"/>
                <a:cs typeface="Lucida Sans Unicode"/>
              </a:rPr>
              <a:t> </a:t>
            </a:r>
            <a:r>
              <a:rPr sz="1000" spc="-45" dirty="0">
                <a:latin typeface="Tahoma"/>
                <a:cs typeface="Tahoma"/>
              </a:rPr>
              <a:t>and</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spc="-30" dirty="0">
                <a:latin typeface="Tahoma"/>
                <a:cs typeface="Tahoma"/>
              </a:rPr>
              <a:t>,</a:t>
            </a:r>
            <a:r>
              <a:rPr sz="1000" spc="20" dirty="0">
                <a:latin typeface="Tahoma"/>
                <a:cs typeface="Tahoma"/>
              </a:rPr>
              <a:t> </a:t>
            </a:r>
            <a:r>
              <a:rPr sz="1000" spc="-60" dirty="0">
                <a:latin typeface="Tahoma"/>
                <a:cs typeface="Tahoma"/>
              </a:rPr>
              <a:t>where</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45" dirty="0">
                <a:latin typeface="Tahoma"/>
                <a:cs typeface="Tahoma"/>
              </a:rPr>
              <a:t>=</a:t>
            </a:r>
            <a:r>
              <a:rPr sz="1000" spc="-35" dirty="0">
                <a:latin typeface="Tahoma"/>
                <a:cs typeface="Tahoma"/>
              </a:rPr>
              <a:t> </a:t>
            </a:r>
            <a:r>
              <a:rPr sz="1000" spc="170" dirty="0">
                <a:latin typeface="Lucida Sans Unicode"/>
                <a:cs typeface="Lucida Sans Unicode"/>
              </a:rPr>
              <a:t>{</a:t>
            </a:r>
            <a:r>
              <a:rPr sz="1000" dirty="0">
                <a:latin typeface="Tahoma"/>
                <a:cs typeface="Tahoma"/>
              </a:rPr>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15" dirty="0">
                <a:latin typeface="Arial"/>
                <a:cs typeface="Arial"/>
              </a:rPr>
              <a:t>b</a:t>
            </a:r>
            <a:r>
              <a:rPr sz="1000" dirty="0">
                <a:latin typeface="Tahoma"/>
                <a:cs typeface="Tahoma"/>
              </a:rPr>
              <a:t>)</a:t>
            </a:r>
            <a:r>
              <a:rPr sz="1000" spc="170" dirty="0">
                <a:latin typeface="Lucida Sans Unicode"/>
                <a:cs typeface="Lucida Sans Unicode"/>
              </a:rPr>
              <a:t>}</a:t>
            </a:r>
            <a:r>
              <a:rPr sz="1000" spc="-30" dirty="0">
                <a:latin typeface="Tahoma"/>
                <a:cs typeface="Tahoma"/>
              </a:rPr>
              <a:t>.</a:t>
            </a:r>
            <a:r>
              <a:rPr sz="1000" spc="130" dirty="0">
                <a:latin typeface="Tahoma"/>
                <a:cs typeface="Tahoma"/>
              </a:rPr>
              <a:t> </a:t>
            </a:r>
            <a:r>
              <a:rPr sz="1000" spc="-20" dirty="0">
                <a:latin typeface="Tahoma"/>
                <a:cs typeface="Tahoma"/>
              </a:rPr>
              <a:t>Then</a:t>
            </a:r>
            <a:r>
              <a:rPr sz="1000" spc="20" dirty="0">
                <a:latin typeface="Tahoma"/>
                <a:cs typeface="Tahoma"/>
              </a:rPr>
              <a:t> </a:t>
            </a:r>
            <a:r>
              <a:rPr sz="1000" i="1" spc="-35" dirty="0">
                <a:latin typeface="Arial"/>
                <a:cs typeface="Arial"/>
              </a:rPr>
              <a:t>rng</a:t>
            </a:r>
            <a:r>
              <a:rPr sz="1000" i="1" spc="-170" dirty="0">
                <a:latin typeface="Arial"/>
                <a:cs typeface="Arial"/>
              </a:rPr>
              <a:t> </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spc="-35" dirty="0">
                <a:latin typeface="Tahoma"/>
                <a:cs typeface="Tahoma"/>
              </a:rPr>
              <a:t> </a:t>
            </a:r>
            <a:r>
              <a:rPr sz="1000" spc="45" dirty="0">
                <a:latin typeface="Tahoma"/>
                <a:cs typeface="Tahoma"/>
              </a:rPr>
              <a:t>=</a:t>
            </a:r>
            <a:endParaRPr sz="1000">
              <a:latin typeface="Tahoma"/>
              <a:cs typeface="Tahoma"/>
            </a:endParaRPr>
          </a:p>
          <a:p>
            <a:pPr>
              <a:lnSpc>
                <a:spcPts val="1200"/>
              </a:lnSpc>
              <a:tabLst>
                <a:tab pos="363855" algn="l"/>
                <a:tab pos="1653539" algn="l"/>
              </a:tabLst>
            </a:pPr>
            <a:r>
              <a:rPr sz="1000" spc="110" dirty="0">
                <a:latin typeface="Lucida Sans Unicode"/>
                <a:cs typeface="Lucida Sans Unicode"/>
              </a:rPr>
              <a:t>{</a:t>
            </a:r>
            <a:r>
              <a:rPr sz="1000" i="1" spc="110" dirty="0">
                <a:latin typeface="Arial"/>
                <a:cs typeface="Arial"/>
              </a:rPr>
              <a:t>b</a:t>
            </a:r>
            <a:r>
              <a:rPr sz="1000" spc="110" dirty="0">
                <a:latin typeface="Lucida Sans Unicode"/>
                <a:cs typeface="Lucida Sans Unicode"/>
              </a:rPr>
              <a:t>}</a:t>
            </a:r>
            <a:r>
              <a:rPr sz="1000" spc="-40" dirty="0">
                <a:latin typeface="Lucida Sans Unicode"/>
                <a:cs typeface="Lucida Sans Unicode"/>
              </a:rPr>
              <a:t> </a:t>
            </a:r>
            <a:r>
              <a:rPr sz="1000" spc="-365" dirty="0">
                <a:latin typeface="Tahoma"/>
                <a:cs typeface="Tahoma"/>
              </a:rPr>
              <a:t>=</a:t>
            </a:r>
            <a:r>
              <a:rPr sz="1000" spc="-365" dirty="0">
                <a:latin typeface="Lucida Sans Unicode"/>
                <a:cs typeface="Lucida Sans Unicode"/>
              </a:rPr>
              <a:t≯	</a:t>
            </a:r>
            <a:r>
              <a:rPr sz="1000" i="1" spc="-5" dirty="0">
                <a:latin typeface="Arial"/>
                <a:cs typeface="Arial"/>
              </a:rPr>
              <a:t>A</a:t>
            </a:r>
            <a:r>
              <a:rPr sz="1000" i="1" spc="60" dirty="0">
                <a:latin typeface="Arial"/>
                <a:cs typeface="Arial"/>
              </a:rPr>
              <a:t> </a:t>
            </a:r>
            <a:r>
              <a:rPr sz="1000" spc="-45" dirty="0">
                <a:latin typeface="Tahoma"/>
                <a:cs typeface="Tahoma"/>
              </a:rPr>
              <a:t>and</a:t>
            </a:r>
            <a:r>
              <a:rPr sz="1000" spc="20" dirty="0">
                <a:latin typeface="Tahoma"/>
                <a:cs typeface="Tahoma"/>
              </a:rPr>
              <a:t> </a:t>
            </a:r>
            <a:r>
              <a:rPr sz="1000" i="1" spc="-20" dirty="0">
                <a:latin typeface="Arial"/>
                <a:cs typeface="Arial"/>
              </a:rPr>
              <a:t>dom</a:t>
            </a:r>
            <a:r>
              <a:rPr sz="1000" spc="-20" dirty="0">
                <a:latin typeface="Tahoma"/>
                <a:cs typeface="Tahoma"/>
              </a:rPr>
              <a:t>(</a:t>
            </a:r>
            <a:r>
              <a:rPr sz="1000" i="1" spc="-20" dirty="0">
                <a:latin typeface="Arial"/>
                <a:cs typeface="Arial"/>
              </a:rPr>
              <a:t>f</a:t>
            </a:r>
            <a:r>
              <a:rPr sz="1000" i="1" spc="-60" dirty="0">
                <a:latin typeface="Arial"/>
                <a:cs typeface="Arial"/>
              </a:rPr>
              <a:t> </a:t>
            </a:r>
            <a:r>
              <a:rPr sz="1000" dirty="0">
                <a:latin typeface="Tahoma"/>
                <a:cs typeface="Tahoma"/>
              </a:rPr>
              <a:t>)</a:t>
            </a:r>
            <a:r>
              <a:rPr sz="1000" spc="-35" dirty="0">
                <a:latin typeface="Tahoma"/>
                <a:cs typeface="Tahoma"/>
              </a:rPr>
              <a:t> </a:t>
            </a:r>
            <a:r>
              <a:rPr sz="1000" spc="45" dirty="0">
                <a:latin typeface="Tahoma"/>
                <a:cs typeface="Tahoma"/>
              </a:rPr>
              <a:t>=</a:t>
            </a:r>
            <a:r>
              <a:rPr sz="1000" spc="25" dirty="0">
                <a:latin typeface="Tahoma"/>
                <a:cs typeface="Tahoma"/>
              </a:rPr>
              <a:t> </a:t>
            </a:r>
            <a:r>
              <a:rPr sz="1000" spc="90" dirty="0">
                <a:latin typeface="Lucida Sans Unicode"/>
                <a:cs typeface="Lucida Sans Unicode"/>
              </a:rPr>
              <a:t>{</a:t>
            </a:r>
            <a:r>
              <a:rPr sz="1000" i="1" spc="90" dirty="0">
                <a:latin typeface="Arial"/>
                <a:cs typeface="Arial"/>
              </a:rPr>
              <a:t>a</a:t>
            </a:r>
            <a:r>
              <a:rPr sz="1000" spc="90" dirty="0">
                <a:latin typeface="Lucida Sans Unicode"/>
                <a:cs typeface="Lucida Sans Unicode"/>
              </a:rPr>
              <a:t>}</a:t>
            </a:r>
            <a:r>
              <a:rPr sz="1000" spc="-40" dirty="0">
                <a:latin typeface="Lucida Sans Unicode"/>
                <a:cs typeface="Lucida Sans Unicode"/>
              </a:rPr>
              <a:t> </a:t>
            </a:r>
            <a:r>
              <a:rPr sz="1000" spc="-365" dirty="0">
                <a:latin typeface="Tahoma"/>
                <a:cs typeface="Tahoma"/>
              </a:rPr>
              <a:t>=</a:t>
            </a:r>
            <a:r>
              <a:rPr sz="1000" spc="-365" dirty="0">
                <a:latin typeface="Lucida Sans Unicode"/>
                <a:cs typeface="Lucida Sans Unicode"/>
              </a:rPr>
              <a:t≯	</a:t>
            </a:r>
            <a:r>
              <a:rPr sz="1000" i="1" spc="-5" dirty="0">
                <a:latin typeface="Arial"/>
                <a:cs typeface="Arial"/>
              </a:rPr>
              <a:t>A</a:t>
            </a:r>
            <a:endParaRPr sz="1000">
              <a:latin typeface="Arial"/>
              <a:cs typeface="Arial"/>
            </a:endParaRPr>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747395" cy="244475"/>
          </a:xfrm>
          <a:prstGeom prst="rect">
            <a:avLst/>
          </a:prstGeom>
        </p:spPr>
        <p:txBody>
          <a:bodyPr vert="horz" wrap="square" lIns="0" tIns="17145" rIns="0" bIns="0" rtlCol="0">
            <a:spAutoFit/>
          </a:bodyPr>
          <a:lstStyle/>
          <a:p>
            <a:pPr marL="12700">
              <a:lnSpc>
                <a:spcPct val="100000"/>
              </a:lnSpc>
              <a:spcBef>
                <a:spcPts val="135"/>
              </a:spcBef>
            </a:pPr>
            <a:r>
              <a:rPr spc="-25" dirty="0"/>
              <a:t>F</a:t>
            </a:r>
            <a:r>
              <a:rPr spc="-30" dirty="0"/>
              <a:t>unction</a:t>
            </a:r>
          </a:p>
        </p:txBody>
      </p:sp>
      <p:sp>
        <p:nvSpPr>
          <p:cNvPr id="29" name="object 29"/>
          <p:cNvSpPr/>
          <p:nvPr/>
        </p:nvSpPr>
        <p:spPr>
          <a:xfrm>
            <a:off x="698562" y="1174648"/>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0" name="object 30"/>
          <p:cNvSpPr txBox="1"/>
          <p:nvPr/>
        </p:nvSpPr>
        <p:spPr>
          <a:xfrm>
            <a:off x="749363" y="1204587"/>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1" name="object 31"/>
          <p:cNvGrpSpPr/>
          <p:nvPr/>
        </p:nvGrpSpPr>
        <p:grpSpPr>
          <a:xfrm>
            <a:off x="698562" y="1231584"/>
            <a:ext cx="3831590" cy="530225"/>
            <a:chOff x="698562" y="1231584"/>
            <a:chExt cx="3831590" cy="530225"/>
          </a:xfrm>
        </p:grpSpPr>
        <p:pic>
          <p:nvPicPr>
            <p:cNvPr id="32" name="object 32"/>
            <p:cNvPicPr/>
            <p:nvPr/>
          </p:nvPicPr>
          <p:blipFill>
            <a:blip r:embed="rId7" cstate="print"/>
            <a:stretch>
              <a:fillRect/>
            </a:stretch>
          </p:blipFill>
          <p:spPr>
            <a:xfrm>
              <a:off x="698563" y="1332242"/>
              <a:ext cx="3780284" cy="50609"/>
            </a:xfrm>
            <a:prstGeom prst="rect">
              <a:avLst/>
            </a:prstGeom>
          </p:spPr>
        </p:pic>
        <p:sp>
          <p:nvSpPr>
            <p:cNvPr id="33" name="object 33"/>
            <p:cNvSpPr/>
            <p:nvPr/>
          </p:nvSpPr>
          <p:spPr>
            <a:xfrm>
              <a:off x="749363" y="1231584"/>
              <a:ext cx="3780790" cy="530225"/>
            </a:xfrm>
            <a:custGeom>
              <a:avLst/>
              <a:gdLst/>
              <a:ahLst/>
              <a:cxnLst/>
              <a:rect l="l" t="t" r="r" b="b"/>
              <a:pathLst>
                <a:path w="3780790" h="530225">
                  <a:moveTo>
                    <a:pt x="3780285" y="0"/>
                  </a:moveTo>
                  <a:lnTo>
                    <a:pt x="0" y="0"/>
                  </a:lnTo>
                  <a:lnTo>
                    <a:pt x="0" y="529779"/>
                  </a:lnTo>
                  <a:lnTo>
                    <a:pt x="3780285" y="529779"/>
                  </a:lnTo>
                  <a:lnTo>
                    <a:pt x="3780285" y="0"/>
                  </a:lnTo>
                  <a:close/>
                </a:path>
              </a:pathLst>
            </a:custGeom>
            <a:solidFill>
              <a:srgbClr val="000000"/>
            </a:solidFill>
          </p:spPr>
          <p:txBody>
            <a:bodyPr wrap="square" lIns="0" tIns="0" rIns="0" bIns="0" rtlCol="0"/>
            <a:lstStyle/>
            <a:p>
              <a:endParaRPr/>
            </a:p>
          </p:txBody>
        </p:sp>
        <p:sp>
          <p:nvSpPr>
            <p:cNvPr id="34" name="object 34"/>
            <p:cNvSpPr/>
            <p:nvPr/>
          </p:nvSpPr>
          <p:spPr>
            <a:xfrm>
              <a:off x="698562" y="1376530"/>
              <a:ext cx="3780790" cy="334645"/>
            </a:xfrm>
            <a:custGeom>
              <a:avLst/>
              <a:gdLst/>
              <a:ahLst/>
              <a:cxnLst/>
              <a:rect l="l" t="t" r="r" b="b"/>
              <a:pathLst>
                <a:path w="3780790" h="334644">
                  <a:moveTo>
                    <a:pt x="3780285" y="0"/>
                  </a:moveTo>
                  <a:lnTo>
                    <a:pt x="0" y="0"/>
                  </a:lnTo>
                  <a:lnTo>
                    <a:pt x="0" y="283232"/>
                  </a:lnTo>
                  <a:lnTo>
                    <a:pt x="4008" y="302957"/>
                  </a:lnTo>
                  <a:lnTo>
                    <a:pt x="14922" y="319110"/>
                  </a:lnTo>
                  <a:lnTo>
                    <a:pt x="31075" y="330024"/>
                  </a:lnTo>
                  <a:lnTo>
                    <a:pt x="50800" y="334033"/>
                  </a:lnTo>
                  <a:lnTo>
                    <a:pt x="3729484" y="334033"/>
                  </a:lnTo>
                  <a:lnTo>
                    <a:pt x="3749209" y="330024"/>
                  </a:lnTo>
                  <a:lnTo>
                    <a:pt x="3765362" y="319110"/>
                  </a:lnTo>
                  <a:lnTo>
                    <a:pt x="3776276" y="302957"/>
                  </a:lnTo>
                  <a:lnTo>
                    <a:pt x="3780285" y="283232"/>
                  </a:lnTo>
                  <a:lnTo>
                    <a:pt x="3780285" y="0"/>
                  </a:lnTo>
                  <a:close/>
                </a:path>
              </a:pathLst>
            </a:custGeom>
            <a:solidFill>
              <a:srgbClr val="E9E9F2"/>
            </a:solidFill>
          </p:spPr>
          <p:txBody>
            <a:bodyPr wrap="square" lIns="0" tIns="0" rIns="0" bIns="0" rtlCol="0"/>
            <a:lstStyle/>
            <a:p>
              <a:endParaRPr/>
            </a:p>
          </p:txBody>
        </p:sp>
      </p:grpSp>
      <p:sp>
        <p:nvSpPr>
          <p:cNvPr id="35" name="object 35"/>
          <p:cNvSpPr txBox="1"/>
          <p:nvPr/>
        </p:nvSpPr>
        <p:spPr>
          <a:xfrm>
            <a:off x="723963" y="1350472"/>
            <a:ext cx="3721735" cy="177800"/>
          </a:xfrm>
          <a:prstGeom prst="rect">
            <a:avLst/>
          </a:prstGeom>
        </p:spPr>
        <p:txBody>
          <a:bodyPr vert="horz" wrap="square" lIns="0" tIns="12065" rIns="0" bIns="0" rtlCol="0">
            <a:spAutoFit/>
          </a:bodyPr>
          <a:lstStyle/>
          <a:p>
            <a:pPr marL="25400">
              <a:lnSpc>
                <a:spcPct val="100000"/>
              </a:lnSpc>
              <a:spcBef>
                <a:spcPts val="95"/>
              </a:spcBef>
            </a:pPr>
            <a:r>
              <a:rPr sz="1000" spc="-10" dirty="0">
                <a:latin typeface="Tahoma"/>
                <a:cs typeface="Tahoma"/>
              </a:rPr>
              <a:t>Let</a:t>
            </a:r>
            <a:r>
              <a:rPr sz="1000" spc="15" dirty="0">
                <a:latin typeface="Tahoma"/>
                <a:cs typeface="Tahoma"/>
              </a:rPr>
              <a:t> </a:t>
            </a:r>
            <a:r>
              <a:rPr sz="1000" i="1" spc="-5" dirty="0">
                <a:latin typeface="Arial"/>
                <a:cs typeface="Arial"/>
              </a:rPr>
              <a:t>A</a:t>
            </a:r>
            <a:r>
              <a:rPr sz="1000" i="1" spc="55" dirty="0">
                <a:latin typeface="Arial"/>
                <a:cs typeface="Arial"/>
              </a:rPr>
              <a:t> </a:t>
            </a:r>
            <a:r>
              <a:rPr sz="1000" spc="-50" dirty="0">
                <a:latin typeface="Tahoma"/>
                <a:cs typeface="Tahoma"/>
              </a:rPr>
              <a:t>be</a:t>
            </a:r>
            <a:r>
              <a:rPr sz="1000" spc="15" dirty="0">
                <a:latin typeface="Tahoma"/>
                <a:cs typeface="Tahoma"/>
              </a:rPr>
              <a:t> </a:t>
            </a:r>
            <a:r>
              <a:rPr sz="1000" spc="-50" dirty="0">
                <a:latin typeface="Tahoma"/>
                <a:cs typeface="Tahoma"/>
              </a:rPr>
              <a:t>a</a:t>
            </a:r>
            <a:r>
              <a:rPr sz="1000" spc="20" dirty="0">
                <a:latin typeface="Tahoma"/>
                <a:cs typeface="Tahoma"/>
              </a:rPr>
              <a:t> </a:t>
            </a:r>
            <a:r>
              <a:rPr sz="1000" spc="-45" dirty="0">
                <a:latin typeface="Tahoma"/>
                <a:cs typeface="Tahoma"/>
              </a:rPr>
              <a:t>set</a:t>
            </a:r>
            <a:r>
              <a:rPr sz="1000" spc="20" dirty="0">
                <a:latin typeface="Tahoma"/>
                <a:cs typeface="Tahoma"/>
              </a:rPr>
              <a:t> </a:t>
            </a:r>
            <a:r>
              <a:rPr sz="1000" spc="-45" dirty="0">
                <a:latin typeface="Tahoma"/>
                <a:cs typeface="Tahoma"/>
              </a:rPr>
              <a:t>and</a:t>
            </a:r>
            <a:r>
              <a:rPr sz="1000" spc="15" dirty="0">
                <a:latin typeface="Tahoma"/>
                <a:cs typeface="Tahoma"/>
              </a:rPr>
              <a:t> </a:t>
            </a:r>
            <a:r>
              <a:rPr sz="1000" i="1" spc="-45" dirty="0">
                <a:latin typeface="Arial"/>
                <a:cs typeface="Arial"/>
              </a:rPr>
              <a:t>n</a:t>
            </a:r>
            <a:r>
              <a:rPr sz="1000" i="1" spc="70" dirty="0">
                <a:latin typeface="Arial"/>
                <a:cs typeface="Arial"/>
              </a:rPr>
              <a:t> </a:t>
            </a:r>
            <a:r>
              <a:rPr sz="1000" spc="-50" dirty="0">
                <a:latin typeface="Tahoma"/>
                <a:cs typeface="Tahoma"/>
              </a:rPr>
              <a:t>a</a:t>
            </a:r>
            <a:r>
              <a:rPr sz="1000" spc="20" dirty="0">
                <a:latin typeface="Tahoma"/>
                <a:cs typeface="Tahoma"/>
              </a:rPr>
              <a:t> </a:t>
            </a:r>
            <a:r>
              <a:rPr sz="1000" spc="-25" dirty="0">
                <a:latin typeface="Tahoma"/>
                <a:cs typeface="Tahoma"/>
              </a:rPr>
              <a:t>natural</a:t>
            </a:r>
            <a:r>
              <a:rPr sz="1000" spc="20" dirty="0">
                <a:latin typeface="Tahoma"/>
                <a:cs typeface="Tahoma"/>
              </a:rPr>
              <a:t> </a:t>
            </a:r>
            <a:r>
              <a:rPr sz="1000" spc="-45" dirty="0">
                <a:latin typeface="Tahoma"/>
                <a:cs typeface="Tahoma"/>
              </a:rPr>
              <a:t>number.</a:t>
            </a:r>
            <a:r>
              <a:rPr sz="1000" spc="130" dirty="0">
                <a:latin typeface="Tahoma"/>
                <a:cs typeface="Tahoma"/>
              </a:rPr>
              <a:t> </a:t>
            </a:r>
            <a:r>
              <a:rPr sz="1000" spc="-20" dirty="0">
                <a:latin typeface="Tahoma"/>
                <a:cs typeface="Tahoma"/>
              </a:rPr>
              <a:t>Then</a:t>
            </a:r>
            <a:r>
              <a:rPr sz="1000" spc="20" dirty="0">
                <a:latin typeface="Tahoma"/>
                <a:cs typeface="Tahoma"/>
              </a:rPr>
              <a:t> </a:t>
            </a:r>
            <a:r>
              <a:rPr sz="1000" spc="-50" dirty="0">
                <a:latin typeface="Tahoma"/>
                <a:cs typeface="Tahoma"/>
              </a:rPr>
              <a:t>a</a:t>
            </a:r>
            <a:r>
              <a:rPr sz="1000" spc="15" dirty="0">
                <a:latin typeface="Tahoma"/>
                <a:cs typeface="Tahoma"/>
              </a:rPr>
              <a:t> </a:t>
            </a:r>
            <a:r>
              <a:rPr sz="1000" spc="-40" dirty="0">
                <a:latin typeface="Tahoma"/>
                <a:cs typeface="Tahoma"/>
              </a:rPr>
              <a:t>mapping</a:t>
            </a:r>
            <a:r>
              <a:rPr sz="1000" spc="20" dirty="0">
                <a:latin typeface="Tahoma"/>
                <a:cs typeface="Tahoma"/>
              </a:rPr>
              <a:t> </a:t>
            </a:r>
            <a:r>
              <a:rPr sz="1000" i="1" spc="25" dirty="0">
                <a:latin typeface="Arial"/>
                <a:cs typeface="Arial"/>
              </a:rPr>
              <a:t>f</a:t>
            </a:r>
            <a:r>
              <a:rPr sz="1000" i="1" spc="215" dirty="0">
                <a:latin typeface="Arial"/>
                <a:cs typeface="Arial"/>
              </a:rPr>
              <a:t> </a:t>
            </a:r>
            <a:r>
              <a:rPr sz="1000" spc="-80" dirty="0">
                <a:latin typeface="Tahoma"/>
                <a:cs typeface="Tahoma"/>
              </a:rPr>
              <a:t>:</a:t>
            </a:r>
            <a:r>
              <a:rPr sz="1000" spc="-35" dirty="0">
                <a:latin typeface="Tahoma"/>
                <a:cs typeface="Tahoma"/>
              </a:rPr>
              <a:t> </a:t>
            </a:r>
            <a:r>
              <a:rPr sz="1000" i="1" spc="-10" dirty="0">
                <a:latin typeface="Arial"/>
                <a:cs typeface="Arial"/>
              </a:rPr>
              <a:t>A</a:t>
            </a:r>
            <a:r>
              <a:rPr sz="1050" i="1" spc="-15" baseline="27777" dirty="0">
                <a:latin typeface="Arial"/>
                <a:cs typeface="Arial"/>
              </a:rPr>
              <a:t>n</a:t>
            </a:r>
            <a:r>
              <a:rPr sz="1050" i="1" spc="209" baseline="27777" dirty="0">
                <a:latin typeface="Arial"/>
                <a:cs typeface="Arial"/>
              </a:rPr>
              <a:t> </a:t>
            </a:r>
            <a:r>
              <a:rPr sz="1000" spc="55" dirty="0">
                <a:latin typeface="Lucida Sans Unicode"/>
                <a:cs typeface="Lucida Sans Unicode"/>
              </a:rPr>
              <a:t>→</a:t>
            </a:r>
            <a:r>
              <a:rPr sz="1000" spc="-35" dirty="0">
                <a:latin typeface="Lucida Sans Unicode"/>
                <a:cs typeface="Lucida Sans Unicode"/>
              </a:rPr>
              <a:t> </a:t>
            </a:r>
            <a:r>
              <a:rPr sz="1000" i="1" spc="-5" dirty="0">
                <a:latin typeface="Arial"/>
                <a:cs typeface="Arial"/>
              </a:rPr>
              <a:t>A</a:t>
            </a:r>
            <a:endParaRPr sz="1000">
              <a:latin typeface="Arial"/>
              <a:cs typeface="Arial"/>
            </a:endParaRPr>
          </a:p>
        </p:txBody>
      </p:sp>
      <p:sp>
        <p:nvSpPr>
          <p:cNvPr id="36" name="object 36"/>
          <p:cNvSpPr txBox="1"/>
          <p:nvPr/>
        </p:nvSpPr>
        <p:spPr>
          <a:xfrm>
            <a:off x="749363" y="1502313"/>
            <a:ext cx="2535555" cy="177800"/>
          </a:xfrm>
          <a:prstGeom prst="rect">
            <a:avLst/>
          </a:prstGeom>
        </p:spPr>
        <p:txBody>
          <a:bodyPr vert="horz" wrap="square" lIns="0" tIns="12065" rIns="0" bIns="0" rtlCol="0">
            <a:spAutoFit/>
          </a:bodyPr>
          <a:lstStyle/>
          <a:p>
            <a:pPr>
              <a:lnSpc>
                <a:spcPct val="100000"/>
              </a:lnSpc>
              <a:spcBef>
                <a:spcPts val="95"/>
              </a:spcBef>
            </a:pPr>
            <a:r>
              <a:rPr sz="1000" spc="-30" dirty="0">
                <a:latin typeface="Tahoma"/>
                <a:cs typeface="Tahoma"/>
              </a:rPr>
              <a:t>is</a:t>
            </a:r>
            <a:r>
              <a:rPr sz="1000" spc="20" dirty="0">
                <a:latin typeface="Tahoma"/>
                <a:cs typeface="Tahoma"/>
              </a:rPr>
              <a:t> </a:t>
            </a:r>
            <a:r>
              <a:rPr sz="1000" spc="-30" dirty="0">
                <a:latin typeface="Tahoma"/>
                <a:cs typeface="Tahoma"/>
              </a:rPr>
              <a:t>called</a:t>
            </a:r>
            <a:r>
              <a:rPr sz="1000" spc="20" dirty="0">
                <a:latin typeface="Tahoma"/>
                <a:cs typeface="Tahoma"/>
              </a:rPr>
              <a:t> </a:t>
            </a:r>
            <a:r>
              <a:rPr sz="1000" i="1" spc="-45" dirty="0">
                <a:latin typeface="Arial"/>
                <a:cs typeface="Arial"/>
              </a:rPr>
              <a:t>n</a:t>
            </a:r>
            <a:r>
              <a:rPr sz="1000" spc="-45" dirty="0">
                <a:latin typeface="Tahoma"/>
                <a:cs typeface="Tahoma"/>
              </a:rPr>
              <a:t>-</a:t>
            </a:r>
            <a:r>
              <a:rPr sz="1000" b="1" spc="-45" dirty="0">
                <a:latin typeface="Arial"/>
                <a:cs typeface="Arial"/>
              </a:rPr>
              <a:t>ary</a:t>
            </a:r>
            <a:r>
              <a:rPr sz="1000" b="1" spc="90" dirty="0">
                <a:latin typeface="Arial"/>
                <a:cs typeface="Arial"/>
              </a:rPr>
              <a:t> </a:t>
            </a:r>
            <a:r>
              <a:rPr sz="1000" b="1" spc="-35" dirty="0">
                <a:latin typeface="Arial"/>
                <a:cs typeface="Arial"/>
              </a:rPr>
              <a:t>function</a:t>
            </a:r>
            <a:r>
              <a:rPr sz="1000" b="1" spc="55" dirty="0">
                <a:latin typeface="Arial"/>
                <a:cs typeface="Arial"/>
              </a:rPr>
              <a:t> </a:t>
            </a:r>
            <a:r>
              <a:rPr sz="1000" spc="-50" dirty="0">
                <a:latin typeface="Tahoma"/>
                <a:cs typeface="Tahoma"/>
              </a:rPr>
              <a:t>or</a:t>
            </a:r>
            <a:r>
              <a:rPr sz="1000" spc="35" dirty="0">
                <a:latin typeface="Tahoma"/>
                <a:cs typeface="Tahoma"/>
              </a:rPr>
              <a:t> </a:t>
            </a:r>
            <a:r>
              <a:rPr sz="1000" b="1" spc="-30" dirty="0">
                <a:latin typeface="Arial"/>
                <a:cs typeface="Arial"/>
              </a:rPr>
              <a:t>operation</a:t>
            </a:r>
            <a:r>
              <a:rPr sz="1000" b="1" spc="50" dirty="0">
                <a:latin typeface="Arial"/>
                <a:cs typeface="Arial"/>
              </a:rPr>
              <a:t> </a:t>
            </a:r>
            <a:r>
              <a:rPr sz="1000" spc="-45" dirty="0">
                <a:latin typeface="Tahoma"/>
                <a:cs typeface="Tahoma"/>
              </a:rPr>
              <a:t>on</a:t>
            </a:r>
            <a:r>
              <a:rPr sz="1000" spc="15" dirty="0">
                <a:latin typeface="Tahoma"/>
                <a:cs typeface="Tahoma"/>
              </a:rPr>
              <a:t> </a:t>
            </a:r>
            <a:r>
              <a:rPr sz="1000" spc="-45" dirty="0">
                <a:latin typeface="Tahoma"/>
                <a:cs typeface="Tahoma"/>
              </a:rPr>
              <a:t>set</a:t>
            </a:r>
            <a:r>
              <a:rPr sz="1000" spc="25" dirty="0">
                <a:latin typeface="Tahoma"/>
                <a:cs typeface="Tahoma"/>
              </a:rPr>
              <a:t> </a:t>
            </a:r>
            <a:r>
              <a:rPr sz="1000" i="1" spc="-20" dirty="0">
                <a:latin typeface="Arial"/>
                <a:cs typeface="Arial"/>
              </a:rPr>
              <a:t>A</a:t>
            </a:r>
            <a:r>
              <a:rPr sz="1000" spc="-20" dirty="0">
                <a:latin typeface="Tahoma"/>
                <a:cs typeface="Tahoma"/>
              </a:rPr>
              <a:t>.</a:t>
            </a:r>
            <a:endParaRPr sz="1000">
              <a:latin typeface="Tahoma"/>
              <a:cs typeface="Tahoma"/>
            </a:endParaRPr>
          </a:p>
        </p:txBody>
      </p:sp>
      <p:sp>
        <p:nvSpPr>
          <p:cNvPr id="37" name="object 37"/>
          <p:cNvSpPr txBox="1"/>
          <p:nvPr/>
        </p:nvSpPr>
        <p:spPr>
          <a:xfrm>
            <a:off x="685863" y="1773826"/>
            <a:ext cx="3723640" cy="936625"/>
          </a:xfrm>
          <a:prstGeom prst="rect">
            <a:avLst/>
          </a:prstGeom>
        </p:spPr>
        <p:txBody>
          <a:bodyPr vert="horz" wrap="square" lIns="0" tIns="12065" rIns="0" bIns="0" rtlCol="0">
            <a:spAutoFit/>
          </a:bodyPr>
          <a:lstStyle/>
          <a:p>
            <a:pPr marL="62865" marR="30480">
              <a:lnSpc>
                <a:spcPct val="100000"/>
              </a:lnSpc>
              <a:spcBef>
                <a:spcPts val="95"/>
              </a:spcBef>
            </a:pPr>
            <a:r>
              <a:rPr sz="1000" spc="-5" dirty="0">
                <a:latin typeface="Tahoma"/>
                <a:cs typeface="Tahoma"/>
              </a:rPr>
              <a:t>As</a:t>
            </a:r>
            <a:r>
              <a:rPr sz="1000" spc="25" dirty="0">
                <a:latin typeface="Tahoma"/>
                <a:cs typeface="Tahoma"/>
              </a:rPr>
              <a:t> </a:t>
            </a:r>
            <a:r>
              <a:rPr sz="1000" spc="-50" dirty="0">
                <a:latin typeface="Tahoma"/>
                <a:cs typeface="Tahoma"/>
              </a:rPr>
              <a:t>an</a:t>
            </a:r>
            <a:r>
              <a:rPr sz="1000" spc="25" dirty="0">
                <a:latin typeface="Tahoma"/>
                <a:cs typeface="Tahoma"/>
              </a:rPr>
              <a:t> </a:t>
            </a:r>
            <a:r>
              <a:rPr sz="1000" spc="-50" dirty="0">
                <a:latin typeface="Tahoma"/>
                <a:cs typeface="Tahoma"/>
              </a:rPr>
              <a:t>example</a:t>
            </a:r>
            <a:r>
              <a:rPr sz="1000" spc="25" dirty="0">
                <a:latin typeface="Tahoma"/>
                <a:cs typeface="Tahoma"/>
              </a:rPr>
              <a:t> </a:t>
            </a:r>
            <a:r>
              <a:rPr sz="1000" spc="-30" dirty="0">
                <a:latin typeface="Tahoma"/>
                <a:cs typeface="Tahoma"/>
              </a:rPr>
              <a:t>of</a:t>
            </a:r>
            <a:r>
              <a:rPr sz="1000" spc="20" dirty="0">
                <a:latin typeface="Tahoma"/>
                <a:cs typeface="Tahoma"/>
              </a:rPr>
              <a:t> </a:t>
            </a:r>
            <a:r>
              <a:rPr sz="1000" spc="-25" dirty="0">
                <a:latin typeface="Tahoma"/>
                <a:cs typeface="Tahoma"/>
              </a:rPr>
              <a:t>function</a:t>
            </a:r>
            <a:r>
              <a:rPr sz="1000" spc="30" dirty="0">
                <a:latin typeface="Tahoma"/>
                <a:cs typeface="Tahoma"/>
              </a:rPr>
              <a:t> </a:t>
            </a:r>
            <a:r>
              <a:rPr sz="1000" spc="-90" dirty="0">
                <a:latin typeface="Tahoma"/>
                <a:cs typeface="Tahoma"/>
              </a:rPr>
              <a:t>we</a:t>
            </a:r>
            <a:r>
              <a:rPr sz="1000" spc="20" dirty="0">
                <a:latin typeface="Tahoma"/>
                <a:cs typeface="Tahoma"/>
              </a:rPr>
              <a:t> </a:t>
            </a:r>
            <a:r>
              <a:rPr sz="1000" spc="-40" dirty="0">
                <a:latin typeface="Tahoma"/>
                <a:cs typeface="Tahoma"/>
              </a:rPr>
              <a:t>can</a:t>
            </a:r>
            <a:r>
              <a:rPr sz="1000" spc="25" dirty="0">
                <a:latin typeface="Tahoma"/>
                <a:cs typeface="Tahoma"/>
              </a:rPr>
              <a:t> </a:t>
            </a:r>
            <a:r>
              <a:rPr sz="1000" spc="-40" dirty="0">
                <a:latin typeface="Tahoma"/>
                <a:cs typeface="Tahoma"/>
              </a:rPr>
              <a:t>take</a:t>
            </a:r>
            <a:r>
              <a:rPr sz="1000" spc="20" dirty="0">
                <a:latin typeface="Tahoma"/>
                <a:cs typeface="Tahoma"/>
              </a:rPr>
              <a:t> </a:t>
            </a:r>
            <a:r>
              <a:rPr sz="1000" spc="-30" dirty="0">
                <a:latin typeface="Tahoma"/>
                <a:cs typeface="Tahoma"/>
              </a:rPr>
              <a:t>classical</a:t>
            </a:r>
            <a:r>
              <a:rPr sz="1000" spc="25" dirty="0">
                <a:latin typeface="Tahoma"/>
                <a:cs typeface="Tahoma"/>
              </a:rPr>
              <a:t> </a:t>
            </a:r>
            <a:r>
              <a:rPr sz="1000" spc="-25" dirty="0">
                <a:latin typeface="Tahoma"/>
                <a:cs typeface="Tahoma"/>
              </a:rPr>
              <a:t>arithmetic</a:t>
            </a:r>
            <a:r>
              <a:rPr sz="1000" spc="25" dirty="0">
                <a:latin typeface="Tahoma"/>
                <a:cs typeface="Tahoma"/>
              </a:rPr>
              <a:t> </a:t>
            </a:r>
            <a:r>
              <a:rPr sz="1000" spc="-30" dirty="0">
                <a:latin typeface="Tahoma"/>
                <a:cs typeface="Tahoma"/>
              </a:rPr>
              <a:t>functions </a:t>
            </a:r>
            <a:r>
              <a:rPr sz="1000" spc="-295" dirty="0">
                <a:latin typeface="Tahoma"/>
                <a:cs typeface="Tahoma"/>
              </a:rPr>
              <a:t> </a:t>
            </a:r>
            <a:r>
              <a:rPr sz="1000" spc="-45" dirty="0">
                <a:latin typeface="Tahoma"/>
                <a:cs typeface="Tahoma"/>
              </a:rPr>
              <a:t>on</a:t>
            </a:r>
            <a:r>
              <a:rPr sz="1000" spc="10" dirty="0">
                <a:latin typeface="Tahoma"/>
                <a:cs typeface="Tahoma"/>
              </a:rPr>
              <a:t> </a:t>
            </a:r>
            <a:r>
              <a:rPr sz="1000" spc="-35" dirty="0">
                <a:latin typeface="Tahoma"/>
                <a:cs typeface="Tahoma"/>
              </a:rPr>
              <a:t>the</a:t>
            </a:r>
            <a:r>
              <a:rPr sz="1000" spc="20" dirty="0">
                <a:latin typeface="Tahoma"/>
                <a:cs typeface="Tahoma"/>
              </a:rPr>
              <a:t> </a:t>
            </a:r>
            <a:r>
              <a:rPr sz="1000" spc="-45" dirty="0">
                <a:latin typeface="Tahoma"/>
                <a:cs typeface="Tahoma"/>
              </a:rPr>
              <a:t>set</a:t>
            </a:r>
            <a:r>
              <a:rPr sz="1000" spc="15" dirty="0">
                <a:latin typeface="Tahoma"/>
                <a:cs typeface="Tahoma"/>
              </a:rPr>
              <a:t> </a:t>
            </a:r>
            <a:r>
              <a:rPr sz="1000" spc="-30" dirty="0">
                <a:latin typeface="Tahoma"/>
                <a:cs typeface="Tahoma"/>
              </a:rPr>
              <a:t>of</a:t>
            </a:r>
            <a:r>
              <a:rPr sz="1000" spc="15" dirty="0">
                <a:latin typeface="Tahoma"/>
                <a:cs typeface="Tahoma"/>
              </a:rPr>
              <a:t> </a:t>
            </a:r>
            <a:r>
              <a:rPr sz="1000" spc="-25" dirty="0">
                <a:latin typeface="Tahoma"/>
                <a:cs typeface="Tahoma"/>
              </a:rPr>
              <a:t>natural</a:t>
            </a:r>
            <a:r>
              <a:rPr sz="1000" spc="20" dirty="0">
                <a:latin typeface="Tahoma"/>
                <a:cs typeface="Tahoma"/>
              </a:rPr>
              <a:t> </a:t>
            </a:r>
            <a:r>
              <a:rPr sz="1000" spc="114" dirty="0">
                <a:latin typeface="Tahoma"/>
                <a:cs typeface="Tahoma"/>
              </a:rPr>
              <a:t>/</a:t>
            </a:r>
            <a:r>
              <a:rPr sz="1000" spc="15" dirty="0">
                <a:latin typeface="Tahoma"/>
                <a:cs typeface="Tahoma"/>
              </a:rPr>
              <a:t> </a:t>
            </a:r>
            <a:r>
              <a:rPr sz="1000" spc="-20" dirty="0">
                <a:latin typeface="Tahoma"/>
                <a:cs typeface="Tahoma"/>
              </a:rPr>
              <a:t>rational</a:t>
            </a:r>
            <a:r>
              <a:rPr sz="1000" spc="15" dirty="0">
                <a:latin typeface="Tahoma"/>
                <a:cs typeface="Tahoma"/>
              </a:rPr>
              <a:t> </a:t>
            </a:r>
            <a:r>
              <a:rPr sz="1000" spc="114" dirty="0">
                <a:latin typeface="Tahoma"/>
                <a:cs typeface="Tahoma"/>
              </a:rPr>
              <a:t>/</a:t>
            </a:r>
            <a:r>
              <a:rPr sz="1000" spc="15" dirty="0">
                <a:latin typeface="Tahoma"/>
                <a:cs typeface="Tahoma"/>
              </a:rPr>
              <a:t> </a:t>
            </a:r>
            <a:r>
              <a:rPr sz="1000" spc="-40" dirty="0">
                <a:latin typeface="Tahoma"/>
                <a:cs typeface="Tahoma"/>
              </a:rPr>
              <a:t>real</a:t>
            </a:r>
            <a:r>
              <a:rPr sz="1000" spc="20" dirty="0">
                <a:latin typeface="Tahoma"/>
                <a:cs typeface="Tahoma"/>
              </a:rPr>
              <a:t> </a:t>
            </a:r>
            <a:r>
              <a:rPr sz="1000" spc="-45" dirty="0">
                <a:latin typeface="Tahoma"/>
                <a:cs typeface="Tahoma"/>
              </a:rPr>
              <a:t>numbers.</a:t>
            </a:r>
            <a:r>
              <a:rPr sz="1000" spc="130" dirty="0">
                <a:latin typeface="Tahoma"/>
                <a:cs typeface="Tahoma"/>
              </a:rPr>
              <a:t> </a:t>
            </a:r>
            <a:r>
              <a:rPr sz="1000" spc="15" dirty="0">
                <a:latin typeface="Tahoma"/>
                <a:cs typeface="Tahoma"/>
              </a:rPr>
              <a:t>But</a:t>
            </a:r>
            <a:r>
              <a:rPr sz="1000" spc="20" dirty="0">
                <a:latin typeface="Tahoma"/>
                <a:cs typeface="Tahoma"/>
              </a:rPr>
              <a:t> </a:t>
            </a:r>
            <a:r>
              <a:rPr sz="1000" spc="-90" dirty="0">
                <a:latin typeface="Tahoma"/>
                <a:cs typeface="Tahoma"/>
              </a:rPr>
              <a:t>we</a:t>
            </a:r>
            <a:r>
              <a:rPr sz="1000" spc="20" dirty="0">
                <a:latin typeface="Tahoma"/>
                <a:cs typeface="Tahoma"/>
              </a:rPr>
              <a:t> </a:t>
            </a:r>
            <a:r>
              <a:rPr sz="1000" spc="-40" dirty="0">
                <a:latin typeface="Tahoma"/>
                <a:cs typeface="Tahoma"/>
              </a:rPr>
              <a:t>should</a:t>
            </a:r>
            <a:r>
              <a:rPr sz="1000" spc="15" dirty="0">
                <a:latin typeface="Tahoma"/>
                <a:cs typeface="Tahoma"/>
              </a:rPr>
              <a:t> </a:t>
            </a:r>
            <a:r>
              <a:rPr sz="1000" spc="-50" dirty="0">
                <a:latin typeface="Tahoma"/>
                <a:cs typeface="Tahoma"/>
              </a:rPr>
              <a:t>be </a:t>
            </a:r>
            <a:r>
              <a:rPr sz="1000" spc="-45" dirty="0">
                <a:latin typeface="Tahoma"/>
                <a:cs typeface="Tahoma"/>
              </a:rPr>
              <a:t> </a:t>
            </a:r>
            <a:r>
              <a:rPr sz="1000" spc="-65" dirty="0">
                <a:latin typeface="Tahoma"/>
                <a:cs typeface="Tahoma"/>
              </a:rPr>
              <a:t>aware,</a:t>
            </a:r>
            <a:r>
              <a:rPr sz="1000" spc="20" dirty="0">
                <a:latin typeface="Tahoma"/>
                <a:cs typeface="Tahoma"/>
              </a:rPr>
              <a:t> </a:t>
            </a:r>
            <a:r>
              <a:rPr sz="1000" spc="-10" dirty="0">
                <a:latin typeface="Tahoma"/>
                <a:cs typeface="Tahoma"/>
              </a:rPr>
              <a:t>that</a:t>
            </a:r>
            <a:r>
              <a:rPr sz="1000" spc="20" dirty="0">
                <a:latin typeface="Tahoma"/>
                <a:cs typeface="Tahoma"/>
              </a:rPr>
              <a:t> </a:t>
            </a:r>
            <a:r>
              <a:rPr sz="1000" spc="-20" dirty="0">
                <a:latin typeface="Tahoma"/>
                <a:cs typeface="Tahoma"/>
              </a:rPr>
              <a:t>in</a:t>
            </a:r>
            <a:r>
              <a:rPr sz="1000" spc="20" dirty="0">
                <a:latin typeface="Tahoma"/>
                <a:cs typeface="Tahoma"/>
              </a:rPr>
              <a:t> </a:t>
            </a:r>
            <a:r>
              <a:rPr sz="1000" spc="-45" dirty="0">
                <a:latin typeface="Tahoma"/>
                <a:cs typeface="Tahoma"/>
              </a:rPr>
              <a:t>set</a:t>
            </a:r>
            <a:r>
              <a:rPr sz="1000" spc="20" dirty="0">
                <a:latin typeface="Tahoma"/>
                <a:cs typeface="Tahoma"/>
              </a:rPr>
              <a:t> </a:t>
            </a:r>
            <a:r>
              <a:rPr sz="1000" spc="-30" dirty="0">
                <a:latin typeface="Tahoma"/>
                <a:cs typeface="Tahoma"/>
              </a:rPr>
              <a:t>theoretical</a:t>
            </a:r>
            <a:r>
              <a:rPr sz="1000" spc="20" dirty="0">
                <a:latin typeface="Tahoma"/>
                <a:cs typeface="Tahoma"/>
              </a:rPr>
              <a:t> </a:t>
            </a:r>
            <a:r>
              <a:rPr sz="1000" spc="-40" dirty="0">
                <a:latin typeface="Tahoma"/>
                <a:cs typeface="Tahoma"/>
              </a:rPr>
              <a:t>representation</a:t>
            </a:r>
            <a:r>
              <a:rPr sz="1000" spc="25" dirty="0">
                <a:latin typeface="Tahoma"/>
                <a:cs typeface="Tahoma"/>
              </a:rPr>
              <a:t> </a:t>
            </a:r>
            <a:r>
              <a:rPr sz="1000" spc="-25" dirty="0">
                <a:latin typeface="Tahoma"/>
                <a:cs typeface="Tahoma"/>
              </a:rPr>
              <a:t>function</a:t>
            </a:r>
            <a:r>
              <a:rPr sz="1000" spc="15" dirty="0">
                <a:latin typeface="Tahoma"/>
                <a:cs typeface="Tahoma"/>
              </a:rPr>
              <a:t> </a:t>
            </a:r>
            <a:r>
              <a:rPr sz="1000" spc="-30" dirty="0">
                <a:latin typeface="Tahoma"/>
                <a:cs typeface="Tahoma"/>
              </a:rPr>
              <a:t>is</a:t>
            </a:r>
            <a:r>
              <a:rPr sz="1000" spc="25" dirty="0">
                <a:latin typeface="Tahoma"/>
                <a:cs typeface="Tahoma"/>
              </a:rPr>
              <a:t> </a:t>
            </a:r>
            <a:r>
              <a:rPr sz="1000" spc="-50" dirty="0">
                <a:latin typeface="Tahoma"/>
                <a:cs typeface="Tahoma"/>
              </a:rPr>
              <a:t>a</a:t>
            </a:r>
            <a:r>
              <a:rPr sz="1000" spc="15" dirty="0">
                <a:latin typeface="Tahoma"/>
                <a:cs typeface="Tahoma"/>
              </a:rPr>
              <a:t> </a:t>
            </a:r>
            <a:r>
              <a:rPr sz="1000" i="1" spc="-55" dirty="0">
                <a:latin typeface="Arial"/>
                <a:cs typeface="Arial"/>
              </a:rPr>
              <a:t>set</a:t>
            </a:r>
            <a:r>
              <a:rPr sz="1000" i="1" spc="55" dirty="0">
                <a:latin typeface="Arial"/>
                <a:cs typeface="Arial"/>
              </a:rPr>
              <a:t> </a:t>
            </a:r>
            <a:r>
              <a:rPr sz="1000" i="1" spc="-20" dirty="0">
                <a:latin typeface="Arial"/>
                <a:cs typeface="Arial"/>
              </a:rPr>
              <a:t>of</a:t>
            </a:r>
            <a:r>
              <a:rPr sz="1000" i="1" spc="55" dirty="0">
                <a:latin typeface="Arial"/>
                <a:cs typeface="Arial"/>
              </a:rPr>
              <a:t> </a:t>
            </a:r>
            <a:r>
              <a:rPr sz="1000" i="1" spc="-45" dirty="0">
                <a:latin typeface="Arial"/>
                <a:cs typeface="Arial"/>
              </a:rPr>
              <a:t>pairs </a:t>
            </a:r>
            <a:r>
              <a:rPr sz="1000" i="1" spc="-265" dirty="0">
                <a:latin typeface="Arial"/>
                <a:cs typeface="Arial"/>
              </a:rPr>
              <a:t> </a:t>
            </a:r>
            <a:r>
              <a:rPr sz="1000" spc="-30" dirty="0">
                <a:latin typeface="Tahoma"/>
                <a:cs typeface="Tahoma"/>
              </a:rPr>
              <a:t>of</a:t>
            </a:r>
            <a:r>
              <a:rPr sz="1000" spc="10" dirty="0">
                <a:latin typeface="Tahoma"/>
                <a:cs typeface="Tahoma"/>
              </a:rPr>
              <a:t> </a:t>
            </a:r>
            <a:r>
              <a:rPr sz="1000" spc="-45" dirty="0">
                <a:latin typeface="Tahoma"/>
                <a:cs typeface="Tahoma"/>
              </a:rPr>
              <a:t>numbers,</a:t>
            </a:r>
            <a:r>
              <a:rPr sz="1000" spc="15" dirty="0">
                <a:latin typeface="Tahoma"/>
                <a:cs typeface="Tahoma"/>
              </a:rPr>
              <a:t> </a:t>
            </a:r>
            <a:r>
              <a:rPr sz="1000" spc="-20" dirty="0">
                <a:latin typeface="Tahoma"/>
                <a:cs typeface="Tahoma"/>
              </a:rPr>
              <a:t>but</a:t>
            </a:r>
            <a:r>
              <a:rPr sz="1000" spc="20" dirty="0">
                <a:latin typeface="Tahoma"/>
                <a:cs typeface="Tahoma"/>
              </a:rPr>
              <a:t> </a:t>
            </a:r>
            <a:r>
              <a:rPr sz="1000" spc="-25" dirty="0">
                <a:latin typeface="Tahoma"/>
                <a:cs typeface="Tahoma"/>
              </a:rPr>
              <a:t>not</a:t>
            </a:r>
            <a:r>
              <a:rPr sz="1000" spc="20" dirty="0">
                <a:latin typeface="Tahoma"/>
                <a:cs typeface="Tahoma"/>
              </a:rPr>
              <a:t> </a:t>
            </a:r>
            <a:r>
              <a:rPr sz="1000" spc="-50" dirty="0">
                <a:latin typeface="Tahoma"/>
                <a:cs typeface="Tahoma"/>
              </a:rPr>
              <a:t>a</a:t>
            </a:r>
            <a:r>
              <a:rPr sz="1000" spc="15" dirty="0">
                <a:latin typeface="Tahoma"/>
                <a:cs typeface="Tahoma"/>
              </a:rPr>
              <a:t> </a:t>
            </a:r>
            <a:r>
              <a:rPr sz="1000" spc="-30" dirty="0">
                <a:latin typeface="Tahoma"/>
                <a:cs typeface="Tahoma"/>
              </a:rPr>
              <a:t>symbolic</a:t>
            </a:r>
            <a:r>
              <a:rPr sz="1000" spc="15" dirty="0">
                <a:latin typeface="Tahoma"/>
                <a:cs typeface="Tahoma"/>
              </a:rPr>
              <a:t> </a:t>
            </a:r>
            <a:r>
              <a:rPr sz="1000" spc="-40" dirty="0">
                <a:latin typeface="Tahoma"/>
                <a:cs typeface="Tahoma"/>
              </a:rPr>
              <a:t>representation</a:t>
            </a:r>
            <a:r>
              <a:rPr sz="1000" spc="20" dirty="0">
                <a:latin typeface="Tahoma"/>
                <a:cs typeface="Tahoma"/>
              </a:rPr>
              <a:t> </a:t>
            </a:r>
            <a:r>
              <a:rPr sz="1000" spc="-30" dirty="0">
                <a:latin typeface="Tahoma"/>
                <a:cs typeface="Tahoma"/>
              </a:rPr>
              <a:t>like</a:t>
            </a:r>
            <a:endParaRPr sz="1000">
              <a:latin typeface="Tahoma"/>
              <a:cs typeface="Tahoma"/>
            </a:endParaRPr>
          </a:p>
          <a:p>
            <a:pPr marL="62865" marR="441325">
              <a:lnSpc>
                <a:spcPts val="1200"/>
              </a:lnSpc>
              <a:spcBef>
                <a:spcPts val="20"/>
              </a:spcBef>
            </a:pPr>
            <a:r>
              <a:rPr sz="1000" i="1" spc="25" dirty="0">
                <a:latin typeface="Arial"/>
                <a:cs typeface="Arial"/>
              </a:rPr>
              <a:t>f</a:t>
            </a:r>
            <a:r>
              <a:rPr sz="1000" i="1" spc="-65" dirty="0">
                <a:latin typeface="Arial"/>
                <a:cs typeface="Arial"/>
              </a:rPr>
              <a:t> </a:t>
            </a:r>
            <a:r>
              <a:rPr sz="1000" spc="-15" dirty="0">
                <a:latin typeface="Tahoma"/>
                <a:cs typeface="Tahoma"/>
              </a:rPr>
              <a:t>(</a:t>
            </a:r>
            <a:r>
              <a:rPr sz="1000" i="1" spc="-15" dirty="0">
                <a:latin typeface="Arial"/>
                <a:cs typeface="Arial"/>
              </a:rPr>
              <a:t>x</a:t>
            </a:r>
            <a:r>
              <a:rPr sz="1000" i="1" spc="-15" dirty="0">
                <a:latin typeface="Verdana"/>
                <a:cs typeface="Verdana"/>
              </a:rPr>
              <a:t>,</a:t>
            </a:r>
            <a:r>
              <a:rPr sz="1000" i="1" spc="-185" dirty="0">
                <a:latin typeface="Verdana"/>
                <a:cs typeface="Verdana"/>
              </a:rPr>
              <a:t> </a:t>
            </a:r>
            <a:r>
              <a:rPr sz="1000" i="1" spc="-45" dirty="0">
                <a:latin typeface="Arial"/>
                <a:cs typeface="Arial"/>
              </a:rPr>
              <a:t>y</a:t>
            </a:r>
            <a:r>
              <a:rPr sz="1000" i="1" spc="-170" dirty="0">
                <a:latin typeface="Arial"/>
                <a:cs typeface="Arial"/>
              </a:rPr>
              <a:t> </a:t>
            </a:r>
            <a:r>
              <a:rPr sz="1000" dirty="0">
                <a:latin typeface="Tahoma"/>
                <a:cs typeface="Tahoma"/>
              </a:rPr>
              <a:t>)</a:t>
            </a:r>
            <a:r>
              <a:rPr sz="1000" spc="-30" dirty="0">
                <a:latin typeface="Tahoma"/>
                <a:cs typeface="Tahoma"/>
              </a:rPr>
              <a:t> </a:t>
            </a:r>
            <a:r>
              <a:rPr sz="1000" spc="45" dirty="0">
                <a:latin typeface="Tahoma"/>
                <a:cs typeface="Tahoma"/>
              </a:rPr>
              <a:t>=</a:t>
            </a:r>
            <a:r>
              <a:rPr sz="1000" spc="-40" dirty="0">
                <a:latin typeface="Tahoma"/>
                <a:cs typeface="Tahoma"/>
              </a:rPr>
              <a:t> </a:t>
            </a:r>
            <a:r>
              <a:rPr sz="1000" i="1" spc="-45" dirty="0">
                <a:latin typeface="Arial"/>
                <a:cs typeface="Arial"/>
              </a:rPr>
              <a:t>x</a:t>
            </a:r>
            <a:r>
              <a:rPr sz="1000" i="1" spc="-190" dirty="0">
                <a:latin typeface="Arial"/>
                <a:cs typeface="Arial"/>
              </a:rPr>
              <a:t> </a:t>
            </a:r>
            <a:r>
              <a:rPr sz="1050" spc="-30" baseline="27777" dirty="0">
                <a:latin typeface="Microsoft Sans Serif"/>
                <a:cs typeface="Microsoft Sans Serif"/>
              </a:rPr>
              <a:t>2</a:t>
            </a:r>
            <a:r>
              <a:rPr sz="1050" spc="135" baseline="27777" dirty="0">
                <a:latin typeface="Microsoft Sans Serif"/>
                <a:cs typeface="Microsoft Sans Serif"/>
              </a:rPr>
              <a:t> </a:t>
            </a:r>
            <a:r>
              <a:rPr sz="1000" spc="-25" dirty="0">
                <a:latin typeface="Lucida Sans Unicode"/>
                <a:cs typeface="Lucida Sans Unicode"/>
              </a:rPr>
              <a:t>−</a:t>
            </a:r>
            <a:r>
              <a:rPr sz="1000" spc="-95" dirty="0">
                <a:latin typeface="Lucida Sans Unicode"/>
                <a:cs typeface="Lucida Sans Unicode"/>
              </a:rPr>
              <a:t> </a:t>
            </a:r>
            <a:r>
              <a:rPr sz="1000" i="1" spc="-45" dirty="0">
                <a:latin typeface="Arial"/>
                <a:cs typeface="Arial"/>
              </a:rPr>
              <a:t>y</a:t>
            </a:r>
            <a:r>
              <a:rPr sz="1000" i="1" spc="-170" dirty="0">
                <a:latin typeface="Arial"/>
                <a:cs typeface="Arial"/>
              </a:rPr>
              <a:t> </a:t>
            </a:r>
            <a:r>
              <a:rPr sz="1050" spc="-30" baseline="27777" dirty="0">
                <a:latin typeface="Microsoft Sans Serif"/>
                <a:cs typeface="Microsoft Sans Serif"/>
              </a:rPr>
              <a:t>3</a:t>
            </a:r>
            <a:r>
              <a:rPr sz="1050" spc="135" baseline="27777" dirty="0">
                <a:latin typeface="Microsoft Sans Serif"/>
                <a:cs typeface="Microsoft Sans Serif"/>
              </a:rPr>
              <a:t> </a:t>
            </a:r>
            <a:r>
              <a:rPr sz="1000" spc="45" dirty="0">
                <a:latin typeface="Tahoma"/>
                <a:cs typeface="Tahoma"/>
              </a:rPr>
              <a:t>+</a:t>
            </a:r>
            <a:r>
              <a:rPr sz="1000" spc="-95" dirty="0">
                <a:latin typeface="Tahoma"/>
                <a:cs typeface="Tahoma"/>
              </a:rPr>
              <a:t> </a:t>
            </a:r>
            <a:r>
              <a:rPr sz="1000" spc="-45" dirty="0">
                <a:latin typeface="Tahoma"/>
                <a:cs typeface="Tahoma"/>
              </a:rPr>
              <a:t>4</a:t>
            </a:r>
            <a:r>
              <a:rPr sz="1000" i="1" spc="-45" dirty="0">
                <a:latin typeface="Arial"/>
                <a:cs typeface="Arial"/>
              </a:rPr>
              <a:t>x</a:t>
            </a:r>
            <a:r>
              <a:rPr sz="1000" i="1" spc="-190" dirty="0">
                <a:latin typeface="Arial"/>
                <a:cs typeface="Arial"/>
              </a:rPr>
              <a:t> </a:t>
            </a:r>
            <a:r>
              <a:rPr sz="1000" spc="-30" dirty="0">
                <a:latin typeface="Tahoma"/>
                <a:cs typeface="Tahoma"/>
              </a:rPr>
              <a:t>,</a:t>
            </a:r>
            <a:r>
              <a:rPr sz="1000" spc="20" dirty="0">
                <a:latin typeface="Tahoma"/>
                <a:cs typeface="Tahoma"/>
              </a:rPr>
              <a:t> </a:t>
            </a:r>
            <a:r>
              <a:rPr sz="1000" spc="-35" dirty="0">
                <a:latin typeface="Tahoma"/>
                <a:cs typeface="Tahoma"/>
              </a:rPr>
              <a:t>which</a:t>
            </a:r>
            <a:r>
              <a:rPr sz="1000" spc="25" dirty="0">
                <a:latin typeface="Tahoma"/>
                <a:cs typeface="Tahoma"/>
              </a:rPr>
              <a:t> </a:t>
            </a:r>
            <a:r>
              <a:rPr sz="1000" spc="-50" dirty="0">
                <a:latin typeface="Tahoma"/>
                <a:cs typeface="Tahoma"/>
              </a:rPr>
              <a:t>defines</a:t>
            </a:r>
            <a:r>
              <a:rPr sz="1000" spc="20" dirty="0">
                <a:latin typeface="Tahoma"/>
                <a:cs typeface="Tahoma"/>
              </a:rPr>
              <a:t> </a:t>
            </a:r>
            <a:r>
              <a:rPr sz="1000" spc="-50" dirty="0">
                <a:latin typeface="Tahoma"/>
                <a:cs typeface="Tahoma"/>
              </a:rPr>
              <a:t>a</a:t>
            </a:r>
            <a:r>
              <a:rPr sz="1000" spc="20" dirty="0">
                <a:latin typeface="Tahoma"/>
                <a:cs typeface="Tahoma"/>
              </a:rPr>
              <a:t> </a:t>
            </a:r>
            <a:r>
              <a:rPr sz="1000" spc="-25" dirty="0">
                <a:latin typeface="Tahoma"/>
                <a:cs typeface="Tahoma"/>
              </a:rPr>
              <a:t>function</a:t>
            </a:r>
            <a:r>
              <a:rPr sz="1000" spc="20" dirty="0">
                <a:latin typeface="Tahoma"/>
                <a:cs typeface="Tahoma"/>
              </a:rPr>
              <a:t> </a:t>
            </a:r>
            <a:r>
              <a:rPr sz="1000" spc="-20" dirty="0">
                <a:latin typeface="Tahoma"/>
                <a:cs typeface="Tahoma"/>
              </a:rPr>
              <a:t>in</a:t>
            </a:r>
            <a:r>
              <a:rPr sz="1000" spc="25" dirty="0">
                <a:latin typeface="Tahoma"/>
                <a:cs typeface="Tahoma"/>
              </a:rPr>
              <a:t> </a:t>
            </a:r>
            <a:r>
              <a:rPr sz="1000" spc="-45" dirty="0">
                <a:latin typeface="Tahoma"/>
                <a:cs typeface="Tahoma"/>
              </a:rPr>
              <a:t>common </a:t>
            </a:r>
            <a:r>
              <a:rPr sz="1000" spc="-300" dirty="0">
                <a:latin typeface="Tahoma"/>
                <a:cs typeface="Tahoma"/>
              </a:rPr>
              <a:t> </a:t>
            </a:r>
            <a:r>
              <a:rPr sz="1000" spc="-40" dirty="0">
                <a:latin typeface="Tahoma"/>
                <a:cs typeface="Tahoma"/>
              </a:rPr>
              <a:t>understanding.</a:t>
            </a:r>
            <a:endParaRPr sz="1000">
              <a:latin typeface="Tahoma"/>
              <a:cs typeface="Tahoma"/>
            </a:endParaRP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662940" cy="244475"/>
          </a:xfrm>
          <a:prstGeom prst="rect">
            <a:avLst/>
          </a:prstGeom>
        </p:spPr>
        <p:txBody>
          <a:bodyPr vert="horz" wrap="square" lIns="0" tIns="17145" rIns="0" bIns="0" rtlCol="0">
            <a:spAutoFit/>
          </a:bodyPr>
          <a:lstStyle/>
          <a:p>
            <a:pPr marL="12700">
              <a:lnSpc>
                <a:spcPct val="100000"/>
              </a:lnSpc>
              <a:spcBef>
                <a:spcPts val="135"/>
              </a:spcBef>
            </a:pPr>
            <a:r>
              <a:rPr dirty="0"/>
              <a:t>Identity</a:t>
            </a:r>
          </a:p>
        </p:txBody>
      </p:sp>
      <p:sp>
        <p:nvSpPr>
          <p:cNvPr id="30" name="object 30"/>
          <p:cNvSpPr/>
          <p:nvPr/>
        </p:nvSpPr>
        <p:spPr>
          <a:xfrm>
            <a:off x="698562" y="1148778"/>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1178717"/>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2" name="object 32"/>
          <p:cNvGrpSpPr/>
          <p:nvPr/>
        </p:nvGrpSpPr>
        <p:grpSpPr>
          <a:xfrm>
            <a:off x="698562" y="1205707"/>
            <a:ext cx="3831590" cy="815340"/>
            <a:chOff x="698562" y="1205707"/>
            <a:chExt cx="3831590" cy="815340"/>
          </a:xfrm>
        </p:grpSpPr>
        <p:pic>
          <p:nvPicPr>
            <p:cNvPr id="33" name="object 33"/>
            <p:cNvPicPr/>
            <p:nvPr/>
          </p:nvPicPr>
          <p:blipFill>
            <a:blip r:embed="rId7" cstate="print"/>
            <a:stretch>
              <a:fillRect/>
            </a:stretch>
          </p:blipFill>
          <p:spPr>
            <a:xfrm>
              <a:off x="698563" y="1306385"/>
              <a:ext cx="3780284" cy="50609"/>
            </a:xfrm>
            <a:prstGeom prst="rect">
              <a:avLst/>
            </a:prstGeom>
          </p:spPr>
        </p:pic>
        <p:sp>
          <p:nvSpPr>
            <p:cNvPr id="34" name="object 34"/>
            <p:cNvSpPr/>
            <p:nvPr/>
          </p:nvSpPr>
          <p:spPr>
            <a:xfrm>
              <a:off x="749363" y="1205707"/>
              <a:ext cx="3780790" cy="815340"/>
            </a:xfrm>
            <a:custGeom>
              <a:avLst/>
              <a:gdLst/>
              <a:ahLst/>
              <a:cxnLst/>
              <a:rect l="l" t="t" r="r" b="b"/>
              <a:pathLst>
                <a:path w="3780790" h="815339">
                  <a:moveTo>
                    <a:pt x="3780285" y="0"/>
                  </a:moveTo>
                  <a:lnTo>
                    <a:pt x="0" y="0"/>
                  </a:lnTo>
                  <a:lnTo>
                    <a:pt x="0" y="815168"/>
                  </a:lnTo>
                  <a:lnTo>
                    <a:pt x="3780285" y="815168"/>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350652"/>
              <a:ext cx="3780790" cy="619760"/>
            </a:xfrm>
            <a:custGeom>
              <a:avLst/>
              <a:gdLst/>
              <a:ahLst/>
              <a:cxnLst/>
              <a:rect l="l" t="t" r="r" b="b"/>
              <a:pathLst>
                <a:path w="3780790" h="619760">
                  <a:moveTo>
                    <a:pt x="3780285" y="0"/>
                  </a:moveTo>
                  <a:lnTo>
                    <a:pt x="0" y="0"/>
                  </a:lnTo>
                  <a:lnTo>
                    <a:pt x="0" y="568621"/>
                  </a:lnTo>
                  <a:lnTo>
                    <a:pt x="4008" y="588346"/>
                  </a:lnTo>
                  <a:lnTo>
                    <a:pt x="14922" y="604499"/>
                  </a:lnTo>
                  <a:lnTo>
                    <a:pt x="31075" y="615413"/>
                  </a:lnTo>
                  <a:lnTo>
                    <a:pt x="50800" y="619422"/>
                  </a:lnTo>
                  <a:lnTo>
                    <a:pt x="3729484" y="619422"/>
                  </a:lnTo>
                  <a:lnTo>
                    <a:pt x="3749209" y="615413"/>
                  </a:lnTo>
                  <a:lnTo>
                    <a:pt x="3765362" y="604499"/>
                  </a:lnTo>
                  <a:lnTo>
                    <a:pt x="3776276" y="588346"/>
                  </a:lnTo>
                  <a:lnTo>
                    <a:pt x="3780285" y="568621"/>
                  </a:lnTo>
                  <a:lnTo>
                    <a:pt x="3780285" y="0"/>
                  </a:lnTo>
                  <a:close/>
                </a:path>
              </a:pathLst>
            </a:custGeom>
            <a:solidFill>
              <a:srgbClr val="E9E9F2"/>
            </a:solidFill>
          </p:spPr>
          <p:txBody>
            <a:bodyPr wrap="square" lIns="0" tIns="0" rIns="0" bIns="0" rtlCol="0"/>
            <a:lstStyle/>
            <a:p>
              <a:endParaRPr/>
            </a:p>
          </p:txBody>
        </p:sp>
      </p:grpSp>
      <p:sp>
        <p:nvSpPr>
          <p:cNvPr id="36" name="object 36"/>
          <p:cNvSpPr txBox="1">
            <a:spLocks noGrp="1"/>
          </p:cNvSpPr>
          <p:nvPr>
            <p:ph type="body" idx="1"/>
          </p:nvPr>
        </p:nvSpPr>
        <p:spPr>
          <a:prstGeom prst="rect">
            <a:avLst/>
          </a:prstGeom>
        </p:spPr>
        <p:txBody>
          <a:bodyPr vert="horz" wrap="square" lIns="0" tIns="121848" rIns="0" bIns="0" rtlCol="0">
            <a:spAutoFit/>
          </a:bodyPr>
          <a:lstStyle/>
          <a:p>
            <a:pPr>
              <a:lnSpc>
                <a:spcPct val="100000"/>
              </a:lnSpc>
              <a:spcBef>
                <a:spcPts val="55"/>
              </a:spcBef>
            </a:pPr>
            <a:endParaRPr sz="850">
              <a:latin typeface="Times New Roman"/>
              <a:cs typeface="Times New Roman"/>
            </a:endParaRPr>
          </a:p>
          <a:p>
            <a:pPr marL="50800">
              <a:lnSpc>
                <a:spcPts val="1200"/>
              </a:lnSpc>
            </a:pPr>
            <a:r>
              <a:rPr spc="-30" dirty="0"/>
              <a:t>For</a:t>
            </a:r>
            <a:r>
              <a:rPr spc="20" dirty="0"/>
              <a:t> </a:t>
            </a:r>
            <a:r>
              <a:rPr spc="-45" dirty="0"/>
              <a:t>any</a:t>
            </a:r>
            <a:r>
              <a:rPr spc="15" dirty="0"/>
              <a:t> </a:t>
            </a:r>
            <a:r>
              <a:rPr spc="-45" dirty="0"/>
              <a:t>set</a:t>
            </a:r>
            <a:r>
              <a:rPr spc="15" dirty="0"/>
              <a:t> </a:t>
            </a:r>
            <a:r>
              <a:rPr i="1" spc="-5" dirty="0">
                <a:latin typeface="Arial"/>
                <a:cs typeface="Arial"/>
              </a:rPr>
              <a:t>A</a:t>
            </a:r>
            <a:r>
              <a:rPr i="1" spc="55" dirty="0">
                <a:latin typeface="Arial"/>
                <a:cs typeface="Arial"/>
              </a:rPr>
              <a:t> </a:t>
            </a:r>
            <a:r>
              <a:rPr spc="-90" dirty="0"/>
              <a:t>we</a:t>
            </a:r>
            <a:r>
              <a:rPr spc="20" dirty="0"/>
              <a:t> </a:t>
            </a:r>
            <a:r>
              <a:rPr spc="-40" dirty="0"/>
              <a:t>can</a:t>
            </a:r>
            <a:r>
              <a:rPr spc="15" dirty="0"/>
              <a:t> </a:t>
            </a:r>
            <a:r>
              <a:rPr spc="-45" dirty="0"/>
              <a:t>define</a:t>
            </a:r>
            <a:r>
              <a:rPr spc="20" dirty="0"/>
              <a:t> </a:t>
            </a:r>
            <a:r>
              <a:rPr spc="-50" dirty="0"/>
              <a:t>an</a:t>
            </a:r>
            <a:r>
              <a:rPr spc="15" dirty="0"/>
              <a:t> </a:t>
            </a:r>
            <a:r>
              <a:rPr b="1" spc="-30" dirty="0">
                <a:latin typeface="Arial"/>
                <a:cs typeface="Arial"/>
              </a:rPr>
              <a:t>identical</a:t>
            </a:r>
            <a:r>
              <a:rPr b="1" spc="90" dirty="0">
                <a:latin typeface="Arial"/>
                <a:cs typeface="Arial"/>
              </a:rPr>
              <a:t> </a:t>
            </a:r>
            <a:r>
              <a:rPr b="1" spc="-45" dirty="0">
                <a:latin typeface="Arial"/>
                <a:cs typeface="Arial"/>
              </a:rPr>
              <a:t>mapping</a:t>
            </a:r>
            <a:r>
              <a:rPr spc="-45" dirty="0"/>
              <a:t>,</a:t>
            </a:r>
            <a:r>
              <a:rPr spc="20" dirty="0"/>
              <a:t> </a:t>
            </a:r>
            <a:r>
              <a:rPr spc="-50" dirty="0"/>
              <a:t>or</a:t>
            </a:r>
            <a:r>
              <a:rPr spc="15" dirty="0"/>
              <a:t> </a:t>
            </a:r>
            <a:r>
              <a:rPr i="1" spc="-10" dirty="0">
                <a:latin typeface="Arial"/>
                <a:cs typeface="Arial"/>
              </a:rPr>
              <a:t>identity</a:t>
            </a:r>
            <a:r>
              <a:rPr i="1" spc="155" dirty="0">
                <a:latin typeface="Arial"/>
                <a:cs typeface="Arial"/>
              </a:rPr>
              <a:t> </a:t>
            </a:r>
            <a:r>
              <a:rPr spc="-45" dirty="0"/>
              <a:t>on</a:t>
            </a:r>
            <a:r>
              <a:rPr spc="25" dirty="0"/>
              <a:t> </a:t>
            </a:r>
            <a:r>
              <a:rPr i="1" spc="-5" dirty="0">
                <a:latin typeface="Arial"/>
                <a:cs typeface="Arial"/>
              </a:rPr>
              <a:t>A</a:t>
            </a:r>
          </a:p>
          <a:p>
            <a:pPr marL="50800">
              <a:lnSpc>
                <a:spcPts val="1200"/>
              </a:lnSpc>
            </a:pPr>
            <a:r>
              <a:rPr spc="-35" dirty="0"/>
              <a:t>-</a:t>
            </a:r>
            <a:r>
              <a:rPr spc="15" dirty="0"/>
              <a:t> </a:t>
            </a:r>
            <a:r>
              <a:rPr spc="-50" dirty="0"/>
              <a:t>a</a:t>
            </a:r>
            <a:r>
              <a:rPr spc="20" dirty="0"/>
              <a:t> </a:t>
            </a:r>
            <a:r>
              <a:rPr spc="-25" dirty="0"/>
              <a:t>function</a:t>
            </a:r>
            <a:r>
              <a:rPr spc="20" dirty="0"/>
              <a:t> </a:t>
            </a:r>
            <a:r>
              <a:rPr i="1" spc="-5" dirty="0">
                <a:latin typeface="Arial"/>
                <a:cs typeface="Arial"/>
              </a:rPr>
              <a:t>id</a:t>
            </a:r>
            <a:r>
              <a:rPr sz="1050" i="1" spc="-7" baseline="-11904" dirty="0">
                <a:latin typeface="Arial"/>
                <a:cs typeface="Arial"/>
              </a:rPr>
              <a:t>A</a:t>
            </a:r>
            <a:r>
              <a:rPr sz="1050" i="1" spc="195" baseline="-11904" dirty="0">
                <a:latin typeface="Arial"/>
                <a:cs typeface="Arial"/>
              </a:rPr>
              <a:t> </a:t>
            </a:r>
            <a:r>
              <a:rPr sz="1000" spc="-80" dirty="0"/>
              <a:t>:</a:t>
            </a:r>
            <a:r>
              <a:rPr sz="1000" spc="-35" dirty="0"/>
              <a:t> </a:t>
            </a:r>
            <a:r>
              <a:rPr sz="1000" i="1" spc="-5" dirty="0">
                <a:latin typeface="Arial"/>
                <a:cs typeface="Arial"/>
              </a:rPr>
              <a:t>A </a:t>
            </a:r>
            <a:r>
              <a:rPr sz="1000" spc="55" dirty="0">
                <a:latin typeface="Lucida Sans Unicode"/>
                <a:cs typeface="Lucida Sans Unicode"/>
              </a:rPr>
              <a:t>→</a:t>
            </a:r>
            <a:r>
              <a:rPr sz="1000" spc="-35" dirty="0">
                <a:latin typeface="Lucida Sans Unicode"/>
                <a:cs typeface="Lucida Sans Unicode"/>
              </a:rPr>
              <a:t> </a:t>
            </a:r>
            <a:r>
              <a:rPr sz="1000" i="1" spc="-20" dirty="0">
                <a:latin typeface="Arial"/>
                <a:cs typeface="Arial"/>
              </a:rPr>
              <a:t>A</a:t>
            </a:r>
            <a:r>
              <a:rPr sz="1000" spc="-20" dirty="0"/>
              <a:t>.</a:t>
            </a:r>
            <a:r>
              <a:rPr sz="1000" spc="130" dirty="0"/>
              <a:t> </a:t>
            </a:r>
            <a:r>
              <a:rPr sz="1000" spc="-5" dirty="0"/>
              <a:t>This</a:t>
            </a:r>
            <a:r>
              <a:rPr sz="1000" spc="25" dirty="0"/>
              <a:t> </a:t>
            </a:r>
            <a:r>
              <a:rPr sz="1000" spc="-25" dirty="0"/>
              <a:t>function</a:t>
            </a:r>
            <a:r>
              <a:rPr sz="1000" spc="15" dirty="0"/>
              <a:t> </a:t>
            </a:r>
            <a:r>
              <a:rPr sz="1000" spc="-30" dirty="0"/>
              <a:t>is</a:t>
            </a:r>
            <a:r>
              <a:rPr sz="1000" spc="20" dirty="0"/>
              <a:t> </a:t>
            </a:r>
            <a:r>
              <a:rPr sz="1000" spc="-45" dirty="0"/>
              <a:t>defined</a:t>
            </a:r>
            <a:r>
              <a:rPr sz="1000" spc="25" dirty="0"/>
              <a:t> </a:t>
            </a:r>
            <a:r>
              <a:rPr sz="1000" spc="-65" dirty="0"/>
              <a:t>as:</a:t>
            </a:r>
            <a:endParaRPr sz="1000">
              <a:latin typeface="Arial"/>
              <a:cs typeface="Arial"/>
            </a:endParaRPr>
          </a:p>
          <a:p>
            <a:pPr marR="43180" algn="ctr">
              <a:lnSpc>
                <a:spcPct val="100000"/>
              </a:lnSpc>
              <a:spcBef>
                <a:spcPts val="990"/>
              </a:spcBef>
            </a:pPr>
            <a:r>
              <a:rPr i="1" spc="-15" dirty="0">
                <a:latin typeface="Arial"/>
                <a:cs typeface="Arial"/>
              </a:rPr>
              <a:t>id</a:t>
            </a:r>
            <a:r>
              <a:rPr sz="1050" i="1" spc="37" baseline="-11904" dirty="0">
                <a:latin typeface="Arial"/>
                <a:cs typeface="Arial"/>
              </a:rPr>
              <a:t>A </a:t>
            </a:r>
            <a:r>
              <a:rPr sz="1050" i="1" spc="-97" baseline="-11904"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spc="170" dirty="0">
                <a:latin typeface="Lucida Sans Unicode"/>
                <a:cs typeface="Lucida Sans Unicode"/>
              </a:rPr>
              <a:t>{</a:t>
            </a:r>
            <a:r>
              <a:rPr sz="1000" dirty="0"/>
              <a:t>(</a:t>
            </a:r>
            <a:r>
              <a:rPr sz="1000" i="1" spc="-70" dirty="0">
                <a:latin typeface="Arial"/>
                <a:cs typeface="Arial"/>
              </a:rPr>
              <a:t>a</a:t>
            </a:r>
            <a:r>
              <a:rPr sz="1000" i="1" spc="-90" dirty="0">
                <a:latin typeface="Verdana"/>
                <a:cs typeface="Verdana"/>
              </a:rPr>
              <a:t>,</a:t>
            </a:r>
            <a:r>
              <a:rPr sz="1000" i="1" spc="-185" dirty="0">
                <a:latin typeface="Verdana"/>
                <a:cs typeface="Verdana"/>
              </a:rPr>
              <a:t> </a:t>
            </a:r>
            <a:r>
              <a:rPr sz="1000" i="1" spc="-70" dirty="0">
                <a:latin typeface="Arial"/>
                <a:cs typeface="Arial"/>
              </a:rPr>
              <a:t>a</a:t>
            </a:r>
            <a:r>
              <a:rPr sz="1000" dirty="0"/>
              <a:t>)</a:t>
            </a:r>
            <a:r>
              <a:rPr sz="1000" spc="-100" dirty="0">
                <a:latin typeface="Lucida Sans Unicode"/>
                <a:cs typeface="Lucida Sans Unicode"/>
              </a:rPr>
              <a:t>|</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spc="170" dirty="0">
                <a:latin typeface="Lucida Sans Unicode"/>
                <a:cs typeface="Lucida Sans Unicode"/>
              </a:rPr>
              <a:t>}</a:t>
            </a:r>
            <a:endParaRPr sz="1000">
              <a:latin typeface="Lucida Sans Unicode"/>
              <a:cs typeface="Lucida Sans Unicode"/>
            </a:endParaRPr>
          </a:p>
        </p:txBody>
      </p:sp>
      <p:sp>
        <p:nvSpPr>
          <p:cNvPr id="37" name="object 37"/>
          <p:cNvSpPr txBox="1"/>
          <p:nvPr/>
        </p:nvSpPr>
        <p:spPr>
          <a:xfrm>
            <a:off x="711263" y="2033338"/>
            <a:ext cx="3441065" cy="633095"/>
          </a:xfrm>
          <a:prstGeom prst="rect">
            <a:avLst/>
          </a:prstGeom>
        </p:spPr>
        <p:txBody>
          <a:bodyPr vert="horz" wrap="square" lIns="0" tIns="12065" rIns="0" bIns="0" rtlCol="0">
            <a:spAutoFit/>
          </a:bodyPr>
          <a:lstStyle/>
          <a:p>
            <a:pPr marL="38100" marR="30480">
              <a:lnSpc>
                <a:spcPct val="100000"/>
              </a:lnSpc>
              <a:spcBef>
                <a:spcPts val="95"/>
              </a:spcBef>
            </a:pPr>
            <a:r>
              <a:rPr sz="1000" spc="-35" dirty="0">
                <a:latin typeface="Tahoma"/>
                <a:cs typeface="Tahoma"/>
              </a:rPr>
              <a:t>Identity</a:t>
            </a:r>
            <a:r>
              <a:rPr sz="1000" spc="15" dirty="0">
                <a:latin typeface="Tahoma"/>
                <a:cs typeface="Tahoma"/>
              </a:rPr>
              <a:t> </a:t>
            </a:r>
            <a:r>
              <a:rPr sz="1000" i="1" spc="-5" dirty="0">
                <a:latin typeface="Arial"/>
                <a:cs typeface="Arial"/>
              </a:rPr>
              <a:t>id</a:t>
            </a:r>
            <a:r>
              <a:rPr sz="1050" i="1" spc="-7" baseline="-11904" dirty="0">
                <a:latin typeface="Arial"/>
                <a:cs typeface="Arial"/>
              </a:rPr>
              <a:t>A</a:t>
            </a:r>
            <a:r>
              <a:rPr sz="1050" i="1" spc="7" baseline="-11904" dirty="0">
                <a:latin typeface="Arial"/>
                <a:cs typeface="Arial"/>
              </a:rPr>
              <a:t> </a:t>
            </a:r>
            <a:r>
              <a:rPr sz="1000" spc="-30" dirty="0">
                <a:latin typeface="Tahoma"/>
                <a:cs typeface="Tahoma"/>
              </a:rPr>
              <a:t>is</a:t>
            </a:r>
            <a:r>
              <a:rPr sz="1000" spc="25" dirty="0">
                <a:latin typeface="Tahoma"/>
                <a:cs typeface="Tahoma"/>
              </a:rPr>
              <a:t> </a:t>
            </a:r>
            <a:r>
              <a:rPr sz="1000" spc="-40" dirty="0">
                <a:latin typeface="Tahoma"/>
                <a:cs typeface="Tahoma"/>
              </a:rPr>
              <a:t>also</a:t>
            </a:r>
            <a:r>
              <a:rPr sz="1000" spc="25" dirty="0">
                <a:latin typeface="Tahoma"/>
                <a:cs typeface="Tahoma"/>
              </a:rPr>
              <a:t> </a:t>
            </a:r>
            <a:r>
              <a:rPr sz="1000" spc="-50" dirty="0">
                <a:latin typeface="Tahoma"/>
                <a:cs typeface="Tahoma"/>
              </a:rPr>
              <a:t>sometimes</a:t>
            </a:r>
            <a:r>
              <a:rPr sz="1000" spc="15" dirty="0">
                <a:latin typeface="Tahoma"/>
                <a:cs typeface="Tahoma"/>
              </a:rPr>
              <a:t> </a:t>
            </a:r>
            <a:r>
              <a:rPr sz="1000" spc="-30" dirty="0">
                <a:latin typeface="Tahoma"/>
                <a:cs typeface="Tahoma"/>
              </a:rPr>
              <a:t>called</a:t>
            </a:r>
            <a:r>
              <a:rPr sz="1000" spc="25" dirty="0">
                <a:latin typeface="Tahoma"/>
                <a:cs typeface="Tahoma"/>
              </a:rPr>
              <a:t> </a:t>
            </a:r>
            <a:r>
              <a:rPr sz="1000" spc="-50" dirty="0">
                <a:latin typeface="Tahoma"/>
                <a:cs typeface="Tahoma"/>
              </a:rPr>
              <a:t>a</a:t>
            </a:r>
            <a:r>
              <a:rPr sz="1000" spc="25" dirty="0">
                <a:latin typeface="Tahoma"/>
                <a:cs typeface="Tahoma"/>
              </a:rPr>
              <a:t> </a:t>
            </a:r>
            <a:r>
              <a:rPr sz="1000" b="1" spc="-45" dirty="0">
                <a:latin typeface="Arial"/>
                <a:cs typeface="Arial"/>
              </a:rPr>
              <a:t>diagonal</a:t>
            </a:r>
            <a:r>
              <a:rPr sz="1000" b="1" spc="50" dirty="0">
                <a:latin typeface="Arial"/>
                <a:cs typeface="Arial"/>
              </a:rPr>
              <a:t> </a:t>
            </a:r>
            <a:r>
              <a:rPr sz="1000" spc="-30" dirty="0">
                <a:latin typeface="Tahoma"/>
                <a:cs typeface="Tahoma"/>
              </a:rPr>
              <a:t>of</a:t>
            </a:r>
            <a:r>
              <a:rPr sz="1000" spc="20" dirty="0">
                <a:latin typeface="Tahoma"/>
                <a:cs typeface="Tahoma"/>
              </a:rPr>
              <a:t> </a:t>
            </a:r>
            <a:r>
              <a:rPr sz="1000" spc="-45" dirty="0">
                <a:latin typeface="Tahoma"/>
                <a:cs typeface="Tahoma"/>
              </a:rPr>
              <a:t>set</a:t>
            </a:r>
            <a:r>
              <a:rPr sz="1000" spc="25" dirty="0">
                <a:latin typeface="Tahoma"/>
                <a:cs typeface="Tahoma"/>
              </a:rPr>
              <a:t> </a:t>
            </a:r>
            <a:r>
              <a:rPr sz="1000" i="1" spc="-20" dirty="0">
                <a:latin typeface="Arial"/>
                <a:cs typeface="Arial"/>
              </a:rPr>
              <a:t>A</a:t>
            </a:r>
            <a:r>
              <a:rPr sz="1000" spc="-20" dirty="0">
                <a:latin typeface="Tahoma"/>
                <a:cs typeface="Tahoma"/>
              </a:rPr>
              <a:t>.</a:t>
            </a:r>
            <a:r>
              <a:rPr sz="1000" spc="135" dirty="0">
                <a:latin typeface="Tahoma"/>
                <a:cs typeface="Tahoma"/>
              </a:rPr>
              <a:t> </a:t>
            </a:r>
            <a:r>
              <a:rPr sz="1000" spc="-5" dirty="0">
                <a:latin typeface="Tahoma"/>
                <a:cs typeface="Tahoma"/>
              </a:rPr>
              <a:t>This </a:t>
            </a:r>
            <a:r>
              <a:rPr sz="1000" dirty="0">
                <a:latin typeface="Tahoma"/>
                <a:cs typeface="Tahoma"/>
              </a:rPr>
              <a:t> </a:t>
            </a:r>
            <a:r>
              <a:rPr sz="1000" spc="-25" dirty="0">
                <a:latin typeface="Tahoma"/>
                <a:cs typeface="Tahoma"/>
              </a:rPr>
              <a:t>function</a:t>
            </a:r>
            <a:r>
              <a:rPr sz="1000" spc="25" dirty="0">
                <a:latin typeface="Tahoma"/>
                <a:cs typeface="Tahoma"/>
              </a:rPr>
              <a:t> </a:t>
            </a:r>
            <a:r>
              <a:rPr sz="1000" spc="-30" dirty="0">
                <a:latin typeface="Tahoma"/>
                <a:cs typeface="Tahoma"/>
              </a:rPr>
              <a:t>is</a:t>
            </a:r>
            <a:r>
              <a:rPr sz="1000" spc="30" dirty="0">
                <a:latin typeface="Tahoma"/>
                <a:cs typeface="Tahoma"/>
              </a:rPr>
              <a:t> </a:t>
            </a:r>
            <a:r>
              <a:rPr sz="1000" spc="-30" dirty="0">
                <a:latin typeface="Tahoma"/>
                <a:cs typeface="Tahoma"/>
              </a:rPr>
              <a:t>called</a:t>
            </a:r>
            <a:r>
              <a:rPr sz="1000" spc="25" dirty="0">
                <a:latin typeface="Tahoma"/>
                <a:cs typeface="Tahoma"/>
              </a:rPr>
              <a:t> </a:t>
            </a:r>
            <a:r>
              <a:rPr sz="1000" spc="-35" dirty="0">
                <a:latin typeface="Tahoma"/>
                <a:cs typeface="Tahoma"/>
              </a:rPr>
              <a:t>identity,</a:t>
            </a:r>
            <a:r>
              <a:rPr sz="1000" spc="30" dirty="0">
                <a:latin typeface="Tahoma"/>
                <a:cs typeface="Tahoma"/>
              </a:rPr>
              <a:t> </a:t>
            </a:r>
            <a:r>
              <a:rPr sz="1000" spc="-55" dirty="0">
                <a:latin typeface="Tahoma"/>
                <a:cs typeface="Tahoma"/>
              </a:rPr>
              <a:t>because</a:t>
            </a:r>
            <a:r>
              <a:rPr sz="1000" spc="25" dirty="0">
                <a:latin typeface="Tahoma"/>
                <a:cs typeface="Tahoma"/>
              </a:rPr>
              <a:t> </a:t>
            </a:r>
            <a:r>
              <a:rPr sz="1000" spc="5" dirty="0">
                <a:latin typeface="Tahoma"/>
                <a:cs typeface="Tahoma"/>
              </a:rPr>
              <a:t>it’s</a:t>
            </a:r>
            <a:r>
              <a:rPr sz="1000" spc="30" dirty="0">
                <a:latin typeface="Tahoma"/>
                <a:cs typeface="Tahoma"/>
              </a:rPr>
              <a:t> </a:t>
            </a:r>
            <a:r>
              <a:rPr sz="1000" spc="-45" dirty="0">
                <a:latin typeface="Tahoma"/>
                <a:cs typeface="Tahoma"/>
              </a:rPr>
              <a:t>value</a:t>
            </a:r>
            <a:r>
              <a:rPr sz="1000" spc="25" dirty="0">
                <a:latin typeface="Tahoma"/>
                <a:cs typeface="Tahoma"/>
              </a:rPr>
              <a:t> </a:t>
            </a:r>
            <a:r>
              <a:rPr sz="1000" spc="-30" dirty="0">
                <a:latin typeface="Tahoma"/>
                <a:cs typeface="Tahoma"/>
              </a:rPr>
              <a:t>is</a:t>
            </a:r>
            <a:r>
              <a:rPr sz="1000" spc="30" dirty="0">
                <a:latin typeface="Tahoma"/>
                <a:cs typeface="Tahoma"/>
              </a:rPr>
              <a:t> </a:t>
            </a:r>
            <a:r>
              <a:rPr sz="1000" spc="-25" dirty="0">
                <a:latin typeface="Tahoma"/>
                <a:cs typeface="Tahoma"/>
              </a:rPr>
              <a:t>identical</a:t>
            </a:r>
            <a:r>
              <a:rPr sz="1000" spc="30" dirty="0">
                <a:latin typeface="Tahoma"/>
                <a:cs typeface="Tahoma"/>
              </a:rPr>
              <a:t> </a:t>
            </a:r>
            <a:r>
              <a:rPr sz="1000" spc="-20" dirty="0">
                <a:latin typeface="Tahoma"/>
                <a:cs typeface="Tahoma"/>
              </a:rPr>
              <a:t>with</a:t>
            </a:r>
            <a:r>
              <a:rPr sz="1000" spc="25" dirty="0">
                <a:latin typeface="Tahoma"/>
                <a:cs typeface="Tahoma"/>
              </a:rPr>
              <a:t> </a:t>
            </a:r>
            <a:r>
              <a:rPr sz="1000" spc="-50" dirty="0">
                <a:latin typeface="Tahoma"/>
                <a:cs typeface="Tahoma"/>
              </a:rPr>
              <a:t>an </a:t>
            </a:r>
            <a:r>
              <a:rPr sz="1000" spc="-300" dirty="0">
                <a:latin typeface="Tahoma"/>
                <a:cs typeface="Tahoma"/>
              </a:rPr>
              <a:t> </a:t>
            </a:r>
            <a:r>
              <a:rPr sz="1000" spc="-50" dirty="0">
                <a:latin typeface="Tahoma"/>
                <a:cs typeface="Tahoma"/>
              </a:rPr>
              <a:t>argument:</a:t>
            </a:r>
            <a:endParaRPr sz="1000">
              <a:latin typeface="Tahoma"/>
              <a:cs typeface="Tahoma"/>
            </a:endParaRPr>
          </a:p>
          <a:p>
            <a:pPr marL="313055" algn="ctr">
              <a:lnSpc>
                <a:spcPts val="1185"/>
              </a:lnSpc>
            </a:pPr>
            <a:r>
              <a:rPr sz="1000" i="1" spc="-5" dirty="0">
                <a:latin typeface="Arial"/>
                <a:cs typeface="Arial"/>
              </a:rPr>
              <a:t>id</a:t>
            </a:r>
            <a:r>
              <a:rPr sz="1050" i="1" spc="-7" baseline="-11904" dirty="0">
                <a:latin typeface="Arial"/>
                <a:cs typeface="Arial"/>
              </a:rPr>
              <a:t>A</a:t>
            </a:r>
            <a:r>
              <a:rPr sz="1000" spc="-5" dirty="0">
                <a:latin typeface="Tahoma"/>
                <a:cs typeface="Tahoma"/>
              </a:rPr>
              <a:t>(</a:t>
            </a:r>
            <a:r>
              <a:rPr sz="1000" i="1" spc="-5" dirty="0">
                <a:latin typeface="Arial"/>
                <a:cs typeface="Arial"/>
              </a:rPr>
              <a:t>a</a:t>
            </a:r>
            <a:r>
              <a:rPr sz="1000" spc="-5" dirty="0">
                <a:latin typeface="Tahoma"/>
                <a:cs typeface="Tahoma"/>
              </a:rPr>
              <a:t>)</a:t>
            </a:r>
            <a:r>
              <a:rPr sz="1000" spc="-60" dirty="0">
                <a:latin typeface="Tahoma"/>
                <a:cs typeface="Tahoma"/>
              </a:rPr>
              <a:t> </a:t>
            </a:r>
            <a:r>
              <a:rPr sz="1000" spc="45" dirty="0">
                <a:latin typeface="Tahoma"/>
                <a:cs typeface="Tahoma"/>
              </a:rPr>
              <a:t>=</a:t>
            </a:r>
            <a:r>
              <a:rPr sz="1000" spc="-65" dirty="0">
                <a:latin typeface="Tahoma"/>
                <a:cs typeface="Tahoma"/>
              </a:rPr>
              <a:t> </a:t>
            </a:r>
            <a:r>
              <a:rPr sz="1000" i="1" spc="-80" dirty="0">
                <a:latin typeface="Arial"/>
                <a:cs typeface="Arial"/>
              </a:rPr>
              <a:t>a</a:t>
            </a:r>
            <a:endParaRPr sz="1000">
              <a:latin typeface="Arial"/>
              <a:cs typeface="Arial"/>
            </a:endParaRP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1698625" cy="244475"/>
          </a:xfrm>
          <a:prstGeom prst="rect">
            <a:avLst/>
          </a:prstGeom>
        </p:spPr>
        <p:txBody>
          <a:bodyPr vert="horz" wrap="square" lIns="0" tIns="17145" rIns="0" bIns="0" rtlCol="0">
            <a:spAutoFit/>
          </a:bodyPr>
          <a:lstStyle/>
          <a:p>
            <a:pPr marL="12700">
              <a:lnSpc>
                <a:spcPct val="100000"/>
              </a:lnSpc>
              <a:spcBef>
                <a:spcPts val="135"/>
              </a:spcBef>
            </a:pPr>
            <a:r>
              <a:rPr spc="-95" dirty="0"/>
              <a:t>Classes</a:t>
            </a:r>
            <a:r>
              <a:rPr spc="114" dirty="0"/>
              <a:t> </a:t>
            </a:r>
            <a:r>
              <a:rPr spc="-30" dirty="0"/>
              <a:t>of</a:t>
            </a:r>
            <a:r>
              <a:rPr spc="114" dirty="0"/>
              <a:t> </a:t>
            </a:r>
            <a:r>
              <a:rPr spc="-60" dirty="0"/>
              <a:t>mappings</a:t>
            </a:r>
          </a:p>
        </p:txBody>
      </p:sp>
      <p:sp>
        <p:nvSpPr>
          <p:cNvPr id="30" name="object 30"/>
          <p:cNvSpPr/>
          <p:nvPr/>
        </p:nvSpPr>
        <p:spPr>
          <a:xfrm>
            <a:off x="698562" y="966456"/>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996396"/>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2" name="object 32"/>
          <p:cNvGrpSpPr/>
          <p:nvPr/>
        </p:nvGrpSpPr>
        <p:grpSpPr>
          <a:xfrm>
            <a:off x="698562" y="1023372"/>
            <a:ext cx="3831590" cy="1986280"/>
            <a:chOff x="698562" y="1023372"/>
            <a:chExt cx="3831590" cy="1986280"/>
          </a:xfrm>
        </p:grpSpPr>
        <p:pic>
          <p:nvPicPr>
            <p:cNvPr id="33" name="object 33"/>
            <p:cNvPicPr/>
            <p:nvPr/>
          </p:nvPicPr>
          <p:blipFill>
            <a:blip r:embed="rId7" cstate="print"/>
            <a:stretch>
              <a:fillRect/>
            </a:stretch>
          </p:blipFill>
          <p:spPr>
            <a:xfrm>
              <a:off x="698563" y="1124064"/>
              <a:ext cx="3780284" cy="50609"/>
            </a:xfrm>
            <a:prstGeom prst="rect">
              <a:avLst/>
            </a:prstGeom>
          </p:spPr>
        </p:pic>
        <p:sp>
          <p:nvSpPr>
            <p:cNvPr id="34" name="object 34"/>
            <p:cNvSpPr/>
            <p:nvPr/>
          </p:nvSpPr>
          <p:spPr>
            <a:xfrm>
              <a:off x="749363" y="1023372"/>
              <a:ext cx="3780790" cy="1986280"/>
            </a:xfrm>
            <a:custGeom>
              <a:avLst/>
              <a:gdLst/>
              <a:ahLst/>
              <a:cxnLst/>
              <a:rect l="l" t="t" r="r" b="b"/>
              <a:pathLst>
                <a:path w="3780790" h="1986280">
                  <a:moveTo>
                    <a:pt x="3780285" y="0"/>
                  </a:moveTo>
                  <a:lnTo>
                    <a:pt x="0" y="0"/>
                  </a:lnTo>
                  <a:lnTo>
                    <a:pt x="0" y="1985855"/>
                  </a:lnTo>
                  <a:lnTo>
                    <a:pt x="3780285" y="1985855"/>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168317"/>
              <a:ext cx="3780790" cy="1790700"/>
            </a:xfrm>
            <a:custGeom>
              <a:avLst/>
              <a:gdLst/>
              <a:ahLst/>
              <a:cxnLst/>
              <a:rect l="l" t="t" r="r" b="b"/>
              <a:pathLst>
                <a:path w="3780790" h="1790700">
                  <a:moveTo>
                    <a:pt x="3780285" y="0"/>
                  </a:moveTo>
                  <a:lnTo>
                    <a:pt x="0" y="0"/>
                  </a:lnTo>
                  <a:lnTo>
                    <a:pt x="0" y="1739309"/>
                  </a:lnTo>
                  <a:lnTo>
                    <a:pt x="4008" y="1759034"/>
                  </a:lnTo>
                  <a:lnTo>
                    <a:pt x="14922" y="1775187"/>
                  </a:lnTo>
                  <a:lnTo>
                    <a:pt x="31075" y="1786101"/>
                  </a:lnTo>
                  <a:lnTo>
                    <a:pt x="50800" y="1790109"/>
                  </a:lnTo>
                  <a:lnTo>
                    <a:pt x="3729484" y="1790109"/>
                  </a:lnTo>
                  <a:lnTo>
                    <a:pt x="3749209" y="1786101"/>
                  </a:lnTo>
                  <a:lnTo>
                    <a:pt x="3765362" y="1775187"/>
                  </a:lnTo>
                  <a:lnTo>
                    <a:pt x="3776276" y="1759034"/>
                  </a:lnTo>
                  <a:lnTo>
                    <a:pt x="3780285" y="1739309"/>
                  </a:lnTo>
                  <a:lnTo>
                    <a:pt x="3780285" y="0"/>
                  </a:lnTo>
                  <a:close/>
                </a:path>
              </a:pathLst>
            </a:custGeom>
            <a:solidFill>
              <a:srgbClr val="E9E9F2"/>
            </a:solidFill>
          </p:spPr>
          <p:txBody>
            <a:bodyPr wrap="square" lIns="0" tIns="0" rIns="0" bIns="0" rtlCol="0"/>
            <a:lstStyle/>
            <a:p>
              <a:endParaRPr/>
            </a:p>
          </p:txBody>
        </p:sp>
        <p:pic>
          <p:nvPicPr>
            <p:cNvPr id="36" name="object 36"/>
            <p:cNvPicPr/>
            <p:nvPr/>
          </p:nvPicPr>
          <p:blipFill>
            <a:blip r:embed="rId8" cstate="print"/>
            <a:stretch>
              <a:fillRect/>
            </a:stretch>
          </p:blipFill>
          <p:spPr>
            <a:xfrm>
              <a:off x="879551" y="1409166"/>
              <a:ext cx="59601" cy="59601"/>
            </a:xfrm>
            <a:prstGeom prst="rect">
              <a:avLst/>
            </a:prstGeom>
          </p:spPr>
        </p:pic>
      </p:grpSp>
      <p:sp>
        <p:nvSpPr>
          <p:cNvPr id="37" name="object 37"/>
          <p:cNvSpPr txBox="1"/>
          <p:nvPr/>
        </p:nvSpPr>
        <p:spPr>
          <a:xfrm>
            <a:off x="736663" y="1104335"/>
            <a:ext cx="3502660" cy="405130"/>
          </a:xfrm>
          <a:prstGeom prst="rect">
            <a:avLst/>
          </a:prstGeom>
        </p:spPr>
        <p:txBody>
          <a:bodyPr vert="horz" wrap="square" lIns="0" tIns="50165" rIns="0" bIns="0" rtlCol="0">
            <a:spAutoFit/>
          </a:bodyPr>
          <a:lstStyle/>
          <a:p>
            <a:pPr marL="12700">
              <a:lnSpc>
                <a:spcPct val="100000"/>
              </a:lnSpc>
              <a:spcBef>
                <a:spcPts val="395"/>
              </a:spcBef>
            </a:pPr>
            <a:r>
              <a:rPr sz="1000" spc="-10" dirty="0">
                <a:latin typeface="Tahoma"/>
                <a:cs typeface="Tahoma"/>
              </a:rPr>
              <a:t>Let</a:t>
            </a:r>
            <a:r>
              <a:rPr sz="1000" spc="15" dirty="0">
                <a:latin typeface="Tahoma"/>
                <a:cs typeface="Tahoma"/>
              </a:rPr>
              <a:t> </a:t>
            </a:r>
            <a:r>
              <a:rPr sz="1000" i="1" spc="25" dirty="0">
                <a:latin typeface="Arial"/>
                <a:cs typeface="Arial"/>
              </a:rPr>
              <a:t>f</a:t>
            </a:r>
            <a:r>
              <a:rPr sz="1000" i="1" spc="215" dirty="0">
                <a:latin typeface="Arial"/>
                <a:cs typeface="Arial"/>
              </a:rPr>
              <a:t> </a:t>
            </a:r>
            <a:r>
              <a:rPr sz="1000" spc="-80" dirty="0">
                <a:latin typeface="Tahoma"/>
                <a:cs typeface="Tahoma"/>
              </a:rPr>
              <a:t>:</a:t>
            </a:r>
            <a:r>
              <a:rPr sz="1000" spc="-40"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40" dirty="0">
                <a:latin typeface="Arial"/>
                <a:cs typeface="Arial"/>
              </a:rPr>
              <a:t> </a:t>
            </a:r>
            <a:r>
              <a:rPr sz="1000" spc="-50" dirty="0">
                <a:latin typeface="Tahoma"/>
                <a:cs typeface="Tahoma"/>
              </a:rPr>
              <a:t>be</a:t>
            </a:r>
            <a:r>
              <a:rPr sz="1000" spc="15" dirty="0">
                <a:latin typeface="Tahoma"/>
                <a:cs typeface="Tahoma"/>
              </a:rPr>
              <a:t> </a:t>
            </a:r>
            <a:r>
              <a:rPr sz="1000" spc="-65" dirty="0">
                <a:latin typeface="Tahoma"/>
                <a:cs typeface="Tahoma"/>
              </a:rPr>
              <a:t>some</a:t>
            </a:r>
            <a:r>
              <a:rPr sz="1000" spc="20" dirty="0">
                <a:latin typeface="Tahoma"/>
                <a:cs typeface="Tahoma"/>
              </a:rPr>
              <a:t> </a:t>
            </a:r>
            <a:r>
              <a:rPr sz="1000" spc="-40" dirty="0">
                <a:latin typeface="Tahoma"/>
                <a:cs typeface="Tahoma"/>
              </a:rPr>
              <a:t>mapping.</a:t>
            </a:r>
            <a:r>
              <a:rPr sz="1000" spc="130" dirty="0">
                <a:latin typeface="Tahoma"/>
                <a:cs typeface="Tahoma"/>
              </a:rPr>
              <a:t> </a:t>
            </a:r>
            <a:r>
              <a:rPr sz="1000" spc="-15" dirty="0">
                <a:latin typeface="Tahoma"/>
                <a:cs typeface="Tahoma"/>
              </a:rPr>
              <a:t>The</a:t>
            </a:r>
            <a:r>
              <a:rPr sz="1000" spc="20" dirty="0">
                <a:latin typeface="Tahoma"/>
                <a:cs typeface="Tahoma"/>
              </a:rPr>
              <a:t> </a:t>
            </a:r>
            <a:r>
              <a:rPr sz="1000" spc="-20" dirty="0">
                <a:latin typeface="Tahoma"/>
                <a:cs typeface="Tahoma"/>
              </a:rPr>
              <a:t>this</a:t>
            </a:r>
            <a:r>
              <a:rPr sz="1000" spc="20" dirty="0">
                <a:latin typeface="Tahoma"/>
                <a:cs typeface="Tahoma"/>
              </a:rPr>
              <a:t> </a:t>
            </a:r>
            <a:r>
              <a:rPr sz="1000" spc="-40" dirty="0">
                <a:latin typeface="Tahoma"/>
                <a:cs typeface="Tahoma"/>
              </a:rPr>
              <a:t>mapping</a:t>
            </a:r>
            <a:r>
              <a:rPr sz="1000" spc="15" dirty="0">
                <a:latin typeface="Tahoma"/>
                <a:cs typeface="Tahoma"/>
              </a:rPr>
              <a:t> </a:t>
            </a:r>
            <a:r>
              <a:rPr sz="1000" spc="-30" dirty="0">
                <a:latin typeface="Tahoma"/>
                <a:cs typeface="Tahoma"/>
              </a:rPr>
              <a:t>is</a:t>
            </a:r>
            <a:r>
              <a:rPr sz="1000" spc="20" dirty="0">
                <a:latin typeface="Tahoma"/>
                <a:cs typeface="Tahoma"/>
              </a:rPr>
              <a:t> </a:t>
            </a:r>
            <a:r>
              <a:rPr sz="1000" spc="-30" dirty="0">
                <a:latin typeface="Tahoma"/>
                <a:cs typeface="Tahoma"/>
              </a:rPr>
              <a:t>called</a:t>
            </a:r>
            <a:endParaRPr sz="1000">
              <a:latin typeface="Tahoma"/>
              <a:cs typeface="Tahoma"/>
            </a:endParaRPr>
          </a:p>
          <a:p>
            <a:pPr marL="265430">
              <a:lnSpc>
                <a:spcPct val="100000"/>
              </a:lnSpc>
              <a:spcBef>
                <a:spcPts val="295"/>
              </a:spcBef>
            </a:pPr>
            <a:r>
              <a:rPr sz="1000" b="1" spc="-30" dirty="0">
                <a:latin typeface="Arial"/>
                <a:cs typeface="Arial"/>
              </a:rPr>
              <a:t>injective</a:t>
            </a:r>
            <a:r>
              <a:rPr sz="1000" b="1" spc="55" dirty="0">
                <a:latin typeface="Arial"/>
                <a:cs typeface="Arial"/>
              </a:rPr>
              <a:t> </a:t>
            </a:r>
            <a:r>
              <a:rPr sz="1000" spc="-15" dirty="0">
                <a:latin typeface="Tahoma"/>
                <a:cs typeface="Tahoma"/>
              </a:rPr>
              <a:t>(</a:t>
            </a:r>
            <a:r>
              <a:rPr sz="1000" b="1" spc="-15" dirty="0">
                <a:latin typeface="Arial"/>
                <a:cs typeface="Arial"/>
              </a:rPr>
              <a:t>“one-to-one”</a:t>
            </a:r>
            <a:r>
              <a:rPr sz="1000" b="1" spc="90" dirty="0">
                <a:latin typeface="Arial"/>
                <a:cs typeface="Arial"/>
              </a:rPr>
              <a:t> </a:t>
            </a:r>
            <a:r>
              <a:rPr sz="1000" b="1" spc="-35" dirty="0">
                <a:latin typeface="Arial"/>
                <a:cs typeface="Arial"/>
              </a:rPr>
              <a:t>mapping</a:t>
            </a:r>
            <a:r>
              <a:rPr sz="1000" spc="-35" dirty="0">
                <a:latin typeface="Tahoma"/>
                <a:cs typeface="Tahoma"/>
              </a:rPr>
              <a:t>),</a:t>
            </a:r>
            <a:r>
              <a:rPr sz="1000" spc="25" dirty="0">
                <a:latin typeface="Tahoma"/>
                <a:cs typeface="Tahoma"/>
              </a:rPr>
              <a:t> </a:t>
            </a:r>
            <a:r>
              <a:rPr sz="1000" spc="-20" dirty="0">
                <a:latin typeface="Tahoma"/>
                <a:cs typeface="Tahoma"/>
              </a:rPr>
              <a:t>iff</a:t>
            </a:r>
            <a:r>
              <a:rPr sz="1000" spc="25" dirty="0">
                <a:latin typeface="Tahoma"/>
                <a:cs typeface="Tahoma"/>
              </a:rPr>
              <a:t> </a:t>
            </a:r>
            <a:r>
              <a:rPr sz="1000" spc="-40" dirty="0">
                <a:latin typeface="Tahoma"/>
                <a:cs typeface="Tahoma"/>
              </a:rPr>
              <a:t>for</a:t>
            </a:r>
            <a:r>
              <a:rPr sz="1000" spc="25" dirty="0">
                <a:latin typeface="Tahoma"/>
                <a:cs typeface="Tahoma"/>
              </a:rPr>
              <a:t> </a:t>
            </a:r>
            <a:r>
              <a:rPr sz="1000" spc="-45" dirty="0">
                <a:latin typeface="Tahoma"/>
                <a:cs typeface="Tahoma"/>
              </a:rPr>
              <a:t>any</a:t>
            </a:r>
            <a:r>
              <a:rPr sz="1000" spc="20" dirty="0">
                <a:latin typeface="Tahoma"/>
                <a:cs typeface="Tahoma"/>
              </a:rPr>
              <a:t> </a:t>
            </a:r>
            <a:r>
              <a:rPr sz="1000" spc="-50" dirty="0">
                <a:latin typeface="Tahoma"/>
                <a:cs typeface="Tahoma"/>
              </a:rPr>
              <a:t>two</a:t>
            </a:r>
            <a:r>
              <a:rPr sz="1000" spc="20" dirty="0">
                <a:latin typeface="Tahoma"/>
                <a:cs typeface="Tahoma"/>
              </a:rPr>
              <a:t> </a:t>
            </a:r>
            <a:r>
              <a:rPr sz="1000" spc="-35" dirty="0">
                <a:latin typeface="Tahoma"/>
                <a:cs typeface="Tahoma"/>
              </a:rPr>
              <a:t>different</a:t>
            </a:r>
            <a:endParaRPr sz="1000">
              <a:latin typeface="Tahoma"/>
              <a:cs typeface="Tahoma"/>
            </a:endParaRPr>
          </a:p>
        </p:txBody>
      </p:sp>
      <p:sp>
        <p:nvSpPr>
          <p:cNvPr id="38" name="object 38"/>
          <p:cNvSpPr txBox="1"/>
          <p:nvPr/>
        </p:nvSpPr>
        <p:spPr>
          <a:xfrm>
            <a:off x="964311" y="1483911"/>
            <a:ext cx="3502025" cy="177800"/>
          </a:xfrm>
          <a:prstGeom prst="rect">
            <a:avLst/>
          </a:prstGeom>
        </p:spPr>
        <p:txBody>
          <a:bodyPr vert="horz" wrap="square" lIns="0" tIns="12065" rIns="0" bIns="0" rtlCol="0">
            <a:spAutoFit/>
          </a:bodyPr>
          <a:lstStyle/>
          <a:p>
            <a:pPr marL="38100">
              <a:lnSpc>
                <a:spcPct val="100000"/>
              </a:lnSpc>
              <a:spcBef>
                <a:spcPts val="95"/>
              </a:spcBef>
            </a:pPr>
            <a:r>
              <a:rPr sz="1000" spc="-50" dirty="0">
                <a:latin typeface="Tahoma"/>
                <a:cs typeface="Tahoma"/>
              </a:rPr>
              <a:t>arguments</a:t>
            </a:r>
            <a:r>
              <a:rPr sz="1000" spc="10" dirty="0">
                <a:latin typeface="Tahoma"/>
                <a:cs typeface="Tahoma"/>
              </a:rPr>
              <a:t> </a:t>
            </a:r>
            <a:r>
              <a:rPr sz="1000" i="1" spc="-45" dirty="0">
                <a:latin typeface="Arial"/>
                <a:cs typeface="Arial"/>
              </a:rPr>
              <a:t>a</a:t>
            </a:r>
            <a:r>
              <a:rPr sz="1050" spc="-67" baseline="-11904" dirty="0">
                <a:latin typeface="Microsoft Sans Serif"/>
                <a:cs typeface="Microsoft Sans Serif"/>
              </a:rPr>
              <a:t>1</a:t>
            </a:r>
            <a:r>
              <a:rPr sz="1000" i="1" spc="-45" dirty="0">
                <a:latin typeface="Verdana"/>
                <a:cs typeface="Verdana"/>
              </a:rPr>
              <a:t>,</a:t>
            </a:r>
            <a:r>
              <a:rPr sz="1000" i="1" spc="-185" dirty="0">
                <a:latin typeface="Verdana"/>
                <a:cs typeface="Verdana"/>
              </a:rPr>
              <a:t> </a:t>
            </a:r>
            <a:r>
              <a:rPr sz="1000" i="1" spc="-50" dirty="0">
                <a:latin typeface="Arial"/>
                <a:cs typeface="Arial"/>
              </a:rPr>
              <a:t>a</a:t>
            </a:r>
            <a:r>
              <a:rPr sz="1050" spc="-75" baseline="-11904" dirty="0">
                <a:latin typeface="Microsoft Sans Serif"/>
                <a:cs typeface="Microsoft Sans Serif"/>
              </a:rPr>
              <a:t>2</a:t>
            </a:r>
            <a:r>
              <a:rPr sz="1050" spc="15" baseline="-11904" dirty="0">
                <a:latin typeface="Microsoft Sans Serif"/>
                <a:cs typeface="Microsoft Sans Serif"/>
              </a:rPr>
              <a:t> </a:t>
            </a:r>
            <a:r>
              <a:rPr sz="1000" spc="-135" dirty="0">
                <a:latin typeface="Lucida Sans Unicode"/>
                <a:cs typeface="Lucida Sans Unicode"/>
              </a:rPr>
              <a:t>∈</a:t>
            </a:r>
            <a:r>
              <a:rPr sz="1000" spc="-35" dirty="0">
                <a:latin typeface="Lucida Sans Unicode"/>
                <a:cs typeface="Lucida Sans Unicode"/>
              </a:rPr>
              <a:t> </a:t>
            </a:r>
            <a:r>
              <a:rPr sz="1000" i="1" spc="-20" dirty="0">
                <a:latin typeface="Arial"/>
                <a:cs typeface="Arial"/>
              </a:rPr>
              <a:t>A</a:t>
            </a:r>
            <a:r>
              <a:rPr sz="1000" spc="-20" dirty="0">
                <a:latin typeface="Tahoma"/>
                <a:cs typeface="Tahoma"/>
              </a:rPr>
              <a:t>,</a:t>
            </a:r>
            <a:r>
              <a:rPr sz="1000" spc="15" dirty="0">
                <a:latin typeface="Tahoma"/>
                <a:cs typeface="Tahoma"/>
              </a:rPr>
              <a:t> </a:t>
            </a:r>
            <a:r>
              <a:rPr sz="1000" spc="-25" dirty="0">
                <a:latin typeface="Tahoma"/>
                <a:cs typeface="Tahoma"/>
              </a:rPr>
              <a:t>their</a:t>
            </a:r>
            <a:r>
              <a:rPr sz="1000" spc="15" dirty="0">
                <a:latin typeface="Tahoma"/>
                <a:cs typeface="Tahoma"/>
              </a:rPr>
              <a:t> </a:t>
            </a:r>
            <a:r>
              <a:rPr sz="1000" spc="-50" dirty="0">
                <a:latin typeface="Tahoma"/>
                <a:cs typeface="Tahoma"/>
              </a:rPr>
              <a:t>images</a:t>
            </a:r>
            <a:r>
              <a:rPr sz="1000" spc="15" dirty="0">
                <a:latin typeface="Tahoma"/>
                <a:cs typeface="Tahoma"/>
              </a:rPr>
              <a:t> </a:t>
            </a:r>
            <a:r>
              <a:rPr sz="1000" i="1" spc="25" dirty="0">
                <a:latin typeface="Arial"/>
                <a:cs typeface="Arial"/>
              </a:rPr>
              <a:t>f</a:t>
            </a:r>
            <a:r>
              <a:rPr sz="1000" i="1" spc="-60"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00" spc="-10" dirty="0">
                <a:latin typeface="Tahoma"/>
                <a:cs typeface="Tahoma"/>
              </a:rPr>
              <a:t>)</a:t>
            </a:r>
            <a:r>
              <a:rPr sz="1000" spc="15" dirty="0">
                <a:latin typeface="Tahoma"/>
                <a:cs typeface="Tahoma"/>
              </a:rPr>
              <a:t> </a:t>
            </a:r>
            <a:r>
              <a:rPr sz="1000" spc="-65" dirty="0">
                <a:latin typeface="Tahoma"/>
                <a:cs typeface="Tahoma"/>
              </a:rPr>
              <a:t>are</a:t>
            </a:r>
            <a:r>
              <a:rPr sz="1000" spc="20" dirty="0">
                <a:latin typeface="Tahoma"/>
                <a:cs typeface="Tahoma"/>
              </a:rPr>
              <a:t> </a:t>
            </a:r>
            <a:r>
              <a:rPr sz="1000" i="1" spc="25" dirty="0">
                <a:latin typeface="Arial"/>
                <a:cs typeface="Arial"/>
              </a:rPr>
              <a:t>f</a:t>
            </a:r>
            <a:r>
              <a:rPr sz="1000" i="1" spc="-65"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2</a:t>
            </a:r>
            <a:r>
              <a:rPr sz="1000" spc="-10" dirty="0">
                <a:latin typeface="Tahoma"/>
                <a:cs typeface="Tahoma"/>
              </a:rPr>
              <a:t>)</a:t>
            </a:r>
            <a:r>
              <a:rPr sz="1000" spc="20" dirty="0">
                <a:latin typeface="Tahoma"/>
                <a:cs typeface="Tahoma"/>
              </a:rPr>
              <a:t> </a:t>
            </a:r>
            <a:r>
              <a:rPr sz="1000" spc="-40" dirty="0">
                <a:latin typeface="Tahoma"/>
                <a:cs typeface="Tahoma"/>
              </a:rPr>
              <a:t>also</a:t>
            </a:r>
            <a:r>
              <a:rPr sz="1000" spc="10" dirty="0">
                <a:latin typeface="Tahoma"/>
                <a:cs typeface="Tahoma"/>
              </a:rPr>
              <a:t> </a:t>
            </a:r>
            <a:r>
              <a:rPr sz="1000" spc="-35" dirty="0">
                <a:latin typeface="Tahoma"/>
                <a:cs typeface="Tahoma"/>
              </a:rPr>
              <a:t>different.</a:t>
            </a:r>
            <a:endParaRPr sz="1000">
              <a:latin typeface="Tahoma"/>
              <a:cs typeface="Tahoma"/>
            </a:endParaRPr>
          </a:p>
        </p:txBody>
      </p:sp>
      <p:grpSp>
        <p:nvGrpSpPr>
          <p:cNvPr id="39" name="object 39"/>
          <p:cNvGrpSpPr/>
          <p:nvPr/>
        </p:nvGrpSpPr>
        <p:grpSpPr>
          <a:xfrm>
            <a:off x="879551" y="1937575"/>
            <a:ext cx="59690" cy="742950"/>
            <a:chOff x="879551" y="1937575"/>
            <a:chExt cx="59690" cy="742950"/>
          </a:xfrm>
        </p:grpSpPr>
        <p:pic>
          <p:nvPicPr>
            <p:cNvPr id="40" name="object 40"/>
            <p:cNvPicPr/>
            <p:nvPr/>
          </p:nvPicPr>
          <p:blipFill>
            <a:blip r:embed="rId8" cstate="print"/>
            <a:stretch>
              <a:fillRect/>
            </a:stretch>
          </p:blipFill>
          <p:spPr>
            <a:xfrm>
              <a:off x="879551" y="1937575"/>
              <a:ext cx="59601" cy="59601"/>
            </a:xfrm>
            <a:prstGeom prst="rect">
              <a:avLst/>
            </a:prstGeom>
          </p:spPr>
        </p:pic>
        <p:pic>
          <p:nvPicPr>
            <p:cNvPr id="41" name="object 41"/>
            <p:cNvPicPr/>
            <p:nvPr/>
          </p:nvPicPr>
          <p:blipFill>
            <a:blip r:embed="rId9" cstate="print"/>
            <a:stretch>
              <a:fillRect/>
            </a:stretch>
          </p:blipFill>
          <p:spPr>
            <a:xfrm>
              <a:off x="879551" y="2279192"/>
              <a:ext cx="59601" cy="59601"/>
            </a:xfrm>
            <a:prstGeom prst="rect">
              <a:avLst/>
            </a:prstGeom>
          </p:spPr>
        </p:pic>
        <p:pic>
          <p:nvPicPr>
            <p:cNvPr id="42" name="object 42"/>
            <p:cNvPicPr/>
            <p:nvPr/>
          </p:nvPicPr>
          <p:blipFill>
            <a:blip r:embed="rId9" cstate="print"/>
            <a:stretch>
              <a:fillRect/>
            </a:stretch>
          </p:blipFill>
          <p:spPr>
            <a:xfrm>
              <a:off x="879551" y="2620810"/>
              <a:ext cx="59601" cy="59601"/>
            </a:xfrm>
            <a:prstGeom prst="rect">
              <a:avLst/>
            </a:prstGeom>
          </p:spPr>
        </p:pic>
      </p:grpSp>
      <p:sp>
        <p:nvSpPr>
          <p:cNvPr id="43" name="object 43"/>
          <p:cNvSpPr txBox="1"/>
          <p:nvPr/>
        </p:nvSpPr>
        <p:spPr>
          <a:xfrm>
            <a:off x="989711" y="1636931"/>
            <a:ext cx="3366135" cy="894715"/>
          </a:xfrm>
          <a:prstGeom prst="rect">
            <a:avLst/>
          </a:prstGeom>
        </p:spPr>
        <p:txBody>
          <a:bodyPr vert="horz" wrap="square" lIns="0" tIns="12065" rIns="0" bIns="0" rtlCol="0">
            <a:spAutoFit/>
          </a:bodyPr>
          <a:lstStyle/>
          <a:p>
            <a:pPr marR="870585" algn="ctr">
              <a:lnSpc>
                <a:spcPts val="550"/>
              </a:lnSpc>
              <a:spcBef>
                <a:spcPts val="95"/>
              </a:spcBef>
            </a:pPr>
            <a:r>
              <a:rPr sz="700" spc="-10" dirty="0">
                <a:latin typeface="Microsoft Sans Serif"/>
                <a:cs typeface="Microsoft Sans Serif"/>
              </a:rPr>
              <a:t>1:1</a:t>
            </a:r>
            <a:endParaRPr sz="700">
              <a:latin typeface="Microsoft Sans Serif"/>
              <a:cs typeface="Microsoft Sans Serif"/>
            </a:endParaRPr>
          </a:p>
          <a:p>
            <a:pPr marL="12700">
              <a:lnSpc>
                <a:spcPts val="910"/>
              </a:lnSpc>
            </a:pPr>
            <a:r>
              <a:rPr sz="1000" spc="-85" dirty="0">
                <a:latin typeface="Tahoma"/>
                <a:cs typeface="Tahoma"/>
              </a:rPr>
              <a:t>Is</a:t>
            </a:r>
            <a:r>
              <a:rPr sz="1000" spc="20" dirty="0">
                <a:latin typeface="Tahoma"/>
                <a:cs typeface="Tahoma"/>
              </a:rPr>
              <a:t> </a:t>
            </a:r>
            <a:r>
              <a:rPr sz="1000" spc="-45" dirty="0">
                <a:latin typeface="Tahoma"/>
                <a:cs typeface="Tahoma"/>
              </a:rPr>
              <a:t>designated</a:t>
            </a:r>
            <a:r>
              <a:rPr sz="1000" spc="20" dirty="0">
                <a:latin typeface="Tahoma"/>
                <a:cs typeface="Tahoma"/>
              </a:rPr>
              <a:t> </a:t>
            </a:r>
            <a:r>
              <a:rPr sz="1000" spc="-60" dirty="0">
                <a:latin typeface="Tahoma"/>
                <a:cs typeface="Tahoma"/>
              </a:rPr>
              <a:t>as</a:t>
            </a:r>
            <a:r>
              <a:rPr sz="1000" spc="15"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endParaRPr sz="1000">
              <a:latin typeface="Arial"/>
              <a:cs typeface="Arial"/>
            </a:endParaRPr>
          </a:p>
          <a:p>
            <a:pPr marL="12700" marR="5080">
              <a:lnSpc>
                <a:spcPct val="100000"/>
              </a:lnSpc>
              <a:spcBef>
                <a:spcPts val="295"/>
              </a:spcBef>
            </a:pPr>
            <a:r>
              <a:rPr sz="1000" b="1" spc="-40" dirty="0">
                <a:latin typeface="Arial"/>
                <a:cs typeface="Arial"/>
              </a:rPr>
              <a:t>surjective</a:t>
            </a:r>
            <a:r>
              <a:rPr sz="1000" b="1" spc="50" dirty="0">
                <a:latin typeface="Arial"/>
                <a:cs typeface="Arial"/>
              </a:rPr>
              <a:t> </a:t>
            </a:r>
            <a:r>
              <a:rPr sz="1000" spc="-40" dirty="0">
                <a:latin typeface="Tahoma"/>
                <a:cs typeface="Tahoma"/>
              </a:rPr>
              <a:t>(</a:t>
            </a:r>
            <a:r>
              <a:rPr sz="1000" b="1" spc="-40" dirty="0">
                <a:latin typeface="Arial"/>
                <a:cs typeface="Arial"/>
              </a:rPr>
              <a:t>mapping</a:t>
            </a:r>
            <a:r>
              <a:rPr sz="1000" b="1" spc="85" dirty="0">
                <a:latin typeface="Arial"/>
                <a:cs typeface="Arial"/>
              </a:rPr>
              <a:t> </a:t>
            </a:r>
            <a:r>
              <a:rPr sz="1000" b="1" spc="-5" dirty="0">
                <a:latin typeface="Arial"/>
                <a:cs typeface="Arial"/>
              </a:rPr>
              <a:t>“onto”</a:t>
            </a:r>
            <a:r>
              <a:rPr sz="1000" spc="-5" dirty="0">
                <a:latin typeface="Tahoma"/>
                <a:cs typeface="Tahoma"/>
              </a:rPr>
              <a:t>),</a:t>
            </a:r>
            <a:r>
              <a:rPr sz="1000" spc="25" dirty="0">
                <a:latin typeface="Tahoma"/>
                <a:cs typeface="Tahoma"/>
              </a:rPr>
              <a:t> </a:t>
            </a:r>
            <a:r>
              <a:rPr sz="1000" spc="-20" dirty="0">
                <a:latin typeface="Tahoma"/>
                <a:cs typeface="Tahoma"/>
              </a:rPr>
              <a:t>iff</a:t>
            </a:r>
            <a:r>
              <a:rPr sz="1000" spc="20" dirty="0">
                <a:latin typeface="Tahoma"/>
                <a:cs typeface="Tahoma"/>
              </a:rPr>
              <a:t> </a:t>
            </a:r>
            <a:r>
              <a:rPr sz="1000" spc="-40" dirty="0">
                <a:latin typeface="Tahoma"/>
                <a:cs typeface="Tahoma"/>
              </a:rPr>
              <a:t>for</a:t>
            </a:r>
            <a:r>
              <a:rPr sz="1000" spc="20" dirty="0">
                <a:latin typeface="Tahoma"/>
                <a:cs typeface="Tahoma"/>
              </a:rPr>
              <a:t> </a:t>
            </a:r>
            <a:r>
              <a:rPr sz="1000" spc="-45" dirty="0">
                <a:latin typeface="Tahoma"/>
                <a:cs typeface="Tahoma"/>
              </a:rPr>
              <a:t>any</a:t>
            </a:r>
            <a:r>
              <a:rPr sz="1000" spc="20" dirty="0">
                <a:latin typeface="Tahoma"/>
                <a:cs typeface="Tahoma"/>
              </a:rPr>
              <a:t> </a:t>
            </a:r>
            <a:r>
              <a:rPr sz="1000" spc="-45" dirty="0">
                <a:latin typeface="Tahoma"/>
                <a:cs typeface="Tahoma"/>
              </a:rPr>
              <a:t>element</a:t>
            </a:r>
            <a:r>
              <a:rPr sz="1000" spc="15" dirty="0">
                <a:latin typeface="Tahoma"/>
                <a:cs typeface="Tahoma"/>
              </a:rPr>
              <a:t> </a:t>
            </a:r>
            <a:r>
              <a:rPr sz="1000" i="1" spc="-45" dirty="0">
                <a:latin typeface="Arial"/>
                <a:cs typeface="Arial"/>
              </a:rPr>
              <a:t>b</a:t>
            </a:r>
            <a:r>
              <a:rPr sz="1000" i="1" spc="3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45" dirty="0">
                <a:latin typeface="Tahoma"/>
                <a:cs typeface="Tahoma"/>
              </a:rPr>
              <a:t>there </a:t>
            </a:r>
            <a:r>
              <a:rPr sz="1000" spc="-295" dirty="0">
                <a:latin typeface="Tahoma"/>
                <a:cs typeface="Tahoma"/>
              </a:rPr>
              <a:t> </a:t>
            </a:r>
            <a:r>
              <a:rPr sz="1000" spc="-30" dirty="0">
                <a:latin typeface="Tahoma"/>
                <a:cs typeface="Tahoma"/>
              </a:rPr>
              <a:t>is</a:t>
            </a:r>
            <a:r>
              <a:rPr sz="1000" spc="20" dirty="0">
                <a:latin typeface="Tahoma"/>
                <a:cs typeface="Tahoma"/>
              </a:rPr>
              <a:t> </a:t>
            </a:r>
            <a:r>
              <a:rPr sz="1000" spc="-45" dirty="0">
                <a:latin typeface="Tahoma"/>
                <a:cs typeface="Tahoma"/>
              </a:rPr>
              <a:t>such</a:t>
            </a:r>
            <a:r>
              <a:rPr sz="1000" spc="20"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20" dirty="0">
                <a:latin typeface="Arial"/>
                <a:cs typeface="Arial"/>
              </a:rPr>
              <a:t>A</a:t>
            </a:r>
            <a:r>
              <a:rPr sz="1000" spc="-20" dirty="0">
                <a:latin typeface="Tahoma"/>
                <a:cs typeface="Tahoma"/>
              </a:rPr>
              <a:t>,</a:t>
            </a:r>
            <a:r>
              <a:rPr sz="1000" spc="20" dirty="0">
                <a:latin typeface="Tahoma"/>
                <a:cs typeface="Tahoma"/>
              </a:rPr>
              <a:t> </a:t>
            </a:r>
            <a:r>
              <a:rPr sz="1000" spc="-10" dirty="0">
                <a:latin typeface="Tahoma"/>
                <a:cs typeface="Tahoma"/>
              </a:rPr>
              <a:t>that</a:t>
            </a:r>
            <a:r>
              <a:rPr sz="1000" spc="20" dirty="0">
                <a:latin typeface="Tahoma"/>
                <a:cs typeface="Tahoma"/>
              </a:rPr>
              <a:t> </a:t>
            </a:r>
            <a:r>
              <a:rPr sz="1000" i="1" spc="25" dirty="0">
                <a:latin typeface="Arial"/>
                <a:cs typeface="Arial"/>
              </a:rPr>
              <a:t>f</a:t>
            </a:r>
            <a:r>
              <a:rPr sz="1000" i="1" spc="-65" dirty="0">
                <a:latin typeface="Arial"/>
                <a:cs typeface="Arial"/>
              </a:rPr>
              <a:t> </a:t>
            </a:r>
            <a:r>
              <a:rPr sz="1000" spc="-25" dirty="0">
                <a:latin typeface="Tahoma"/>
                <a:cs typeface="Tahoma"/>
              </a:rPr>
              <a:t>(</a:t>
            </a:r>
            <a:r>
              <a:rPr sz="1000" i="1" spc="-25" dirty="0">
                <a:latin typeface="Arial"/>
                <a:cs typeface="Arial"/>
              </a:rPr>
              <a:t>a</a:t>
            </a:r>
            <a:r>
              <a:rPr sz="1000" spc="-25"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20" dirty="0">
                <a:latin typeface="Arial"/>
                <a:cs typeface="Arial"/>
              </a:rPr>
              <a:t>b</a:t>
            </a:r>
            <a:r>
              <a:rPr sz="1000" spc="-20" dirty="0">
                <a:latin typeface="Tahoma"/>
                <a:cs typeface="Tahoma"/>
              </a:rPr>
              <a:t>.</a:t>
            </a:r>
            <a:r>
              <a:rPr sz="1000" spc="130" dirty="0">
                <a:latin typeface="Tahoma"/>
                <a:cs typeface="Tahoma"/>
              </a:rPr>
              <a:t> </a:t>
            </a:r>
            <a:r>
              <a:rPr sz="1000" spc="-85" dirty="0">
                <a:latin typeface="Tahoma"/>
                <a:cs typeface="Tahoma"/>
              </a:rPr>
              <a:t>Is</a:t>
            </a:r>
            <a:r>
              <a:rPr sz="1000" spc="20" dirty="0">
                <a:latin typeface="Tahoma"/>
                <a:cs typeface="Tahoma"/>
              </a:rPr>
              <a:t> </a:t>
            </a:r>
            <a:r>
              <a:rPr sz="1000" spc="-45" dirty="0">
                <a:latin typeface="Tahoma"/>
                <a:cs typeface="Tahoma"/>
              </a:rPr>
              <a:t>designated</a:t>
            </a:r>
            <a:r>
              <a:rPr sz="1000" spc="20" dirty="0">
                <a:latin typeface="Tahoma"/>
                <a:cs typeface="Tahoma"/>
              </a:rPr>
              <a:t> </a:t>
            </a:r>
            <a:r>
              <a:rPr sz="1000" spc="-60" dirty="0">
                <a:latin typeface="Tahoma"/>
                <a:cs typeface="Tahoma"/>
              </a:rPr>
              <a:t>as</a:t>
            </a:r>
            <a:r>
              <a:rPr sz="1000" spc="15" dirty="0">
                <a:latin typeface="Tahoma"/>
                <a:cs typeface="Tahoma"/>
              </a:rPr>
              <a:t> </a:t>
            </a:r>
            <a:r>
              <a:rPr sz="1000" i="1" spc="25" dirty="0">
                <a:latin typeface="Arial"/>
                <a:cs typeface="Arial"/>
              </a:rPr>
              <a:t>f</a:t>
            </a:r>
            <a:r>
              <a:rPr sz="1000" i="1" spc="210" dirty="0">
                <a:latin typeface="Arial"/>
                <a:cs typeface="Arial"/>
              </a:rPr>
              <a:t> </a:t>
            </a:r>
            <a:r>
              <a:rPr sz="1000" spc="-80" dirty="0">
                <a:latin typeface="Tahoma"/>
                <a:cs typeface="Tahoma"/>
              </a:rPr>
              <a:t>:</a:t>
            </a:r>
            <a:r>
              <a:rPr sz="1000" spc="-40" dirty="0">
                <a:latin typeface="Tahoma"/>
                <a:cs typeface="Tahoma"/>
              </a:rPr>
              <a:t> </a:t>
            </a:r>
            <a:r>
              <a:rPr sz="1000" i="1" spc="15" dirty="0">
                <a:latin typeface="Arial"/>
                <a:cs typeface="Arial"/>
              </a:rPr>
              <a:t>A</a:t>
            </a:r>
            <a:r>
              <a:rPr sz="1000" spc="15" dirty="0">
                <a:latin typeface="Lucida Sans Unicode"/>
                <a:cs typeface="Lucida Sans Unicode"/>
              </a:rPr>
              <a:t>↠</a:t>
            </a:r>
            <a:r>
              <a:rPr sz="1000" i="1" spc="15" dirty="0">
                <a:latin typeface="Arial"/>
                <a:cs typeface="Arial"/>
              </a:rPr>
              <a:t>B</a:t>
            </a:r>
            <a:endParaRPr sz="1000">
              <a:latin typeface="Arial"/>
              <a:cs typeface="Arial"/>
            </a:endParaRPr>
          </a:p>
          <a:p>
            <a:pPr marL="12700">
              <a:lnSpc>
                <a:spcPts val="1200"/>
              </a:lnSpc>
              <a:spcBef>
                <a:spcPts val="290"/>
              </a:spcBef>
            </a:pPr>
            <a:r>
              <a:rPr sz="1000" b="1" spc="-45" dirty="0">
                <a:latin typeface="Arial"/>
                <a:cs typeface="Arial"/>
              </a:rPr>
              <a:t>everywhere</a:t>
            </a:r>
            <a:r>
              <a:rPr sz="1000" b="1" spc="85" dirty="0">
                <a:latin typeface="Arial"/>
                <a:cs typeface="Arial"/>
              </a:rPr>
              <a:t> </a:t>
            </a:r>
            <a:r>
              <a:rPr sz="1000" b="1" spc="-40" dirty="0">
                <a:latin typeface="Arial"/>
                <a:cs typeface="Arial"/>
              </a:rPr>
              <a:t>defined</a:t>
            </a:r>
            <a:r>
              <a:rPr sz="1000" spc="-40" dirty="0">
                <a:latin typeface="Tahoma"/>
                <a:cs typeface="Tahoma"/>
              </a:rPr>
              <a:t>,</a:t>
            </a:r>
            <a:r>
              <a:rPr sz="1000" spc="20" dirty="0">
                <a:latin typeface="Tahoma"/>
                <a:cs typeface="Tahoma"/>
              </a:rPr>
              <a:t> </a:t>
            </a:r>
            <a:r>
              <a:rPr sz="1000" spc="-20" dirty="0">
                <a:latin typeface="Tahoma"/>
                <a:cs typeface="Tahoma"/>
              </a:rPr>
              <a:t>iff</a:t>
            </a:r>
            <a:r>
              <a:rPr sz="1000" spc="20" dirty="0">
                <a:latin typeface="Tahoma"/>
                <a:cs typeface="Tahoma"/>
              </a:rPr>
              <a:t> </a:t>
            </a:r>
            <a:r>
              <a:rPr sz="1000" spc="-40" dirty="0">
                <a:latin typeface="Tahoma"/>
                <a:cs typeface="Tahoma"/>
              </a:rPr>
              <a:t>for</a:t>
            </a:r>
            <a:r>
              <a:rPr sz="1000" spc="20" dirty="0">
                <a:latin typeface="Tahoma"/>
                <a:cs typeface="Tahoma"/>
              </a:rPr>
              <a:t> </a:t>
            </a:r>
            <a:r>
              <a:rPr sz="1000" spc="-45" dirty="0">
                <a:latin typeface="Tahoma"/>
                <a:cs typeface="Tahoma"/>
              </a:rPr>
              <a:t>any</a:t>
            </a:r>
            <a:r>
              <a:rPr sz="1000" spc="15" dirty="0">
                <a:latin typeface="Tahoma"/>
                <a:cs typeface="Tahoma"/>
              </a:rPr>
              <a:t> </a:t>
            </a:r>
            <a:r>
              <a:rPr sz="1000" spc="-45" dirty="0">
                <a:latin typeface="Tahoma"/>
                <a:cs typeface="Tahoma"/>
              </a:rPr>
              <a:t>element</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60" dirty="0">
                <a:latin typeface="Arial"/>
                <a:cs typeface="Arial"/>
              </a:rPr>
              <a:t> </a:t>
            </a:r>
            <a:r>
              <a:rPr sz="1000" spc="-45" dirty="0">
                <a:latin typeface="Tahoma"/>
                <a:cs typeface="Tahoma"/>
              </a:rPr>
              <a:t>there</a:t>
            </a:r>
            <a:r>
              <a:rPr sz="1000" spc="15" dirty="0">
                <a:latin typeface="Tahoma"/>
                <a:cs typeface="Tahoma"/>
              </a:rPr>
              <a:t> </a:t>
            </a:r>
            <a:r>
              <a:rPr sz="1000" spc="-30" dirty="0">
                <a:latin typeface="Tahoma"/>
                <a:cs typeface="Tahoma"/>
              </a:rPr>
              <a:t>is</a:t>
            </a:r>
            <a:r>
              <a:rPr sz="1000" spc="20" dirty="0">
                <a:latin typeface="Tahoma"/>
                <a:cs typeface="Tahoma"/>
              </a:rPr>
              <a:t> </a:t>
            </a:r>
            <a:r>
              <a:rPr sz="1000" spc="-45" dirty="0">
                <a:latin typeface="Tahoma"/>
                <a:cs typeface="Tahoma"/>
              </a:rPr>
              <a:t>such</a:t>
            </a:r>
            <a:endParaRPr sz="1000">
              <a:latin typeface="Tahoma"/>
              <a:cs typeface="Tahoma"/>
            </a:endParaRPr>
          </a:p>
          <a:p>
            <a:pPr marL="12700">
              <a:lnSpc>
                <a:spcPts val="1200"/>
              </a:lnSpc>
            </a:pPr>
            <a:r>
              <a:rPr sz="1000" i="1" spc="-45" dirty="0">
                <a:latin typeface="Arial"/>
                <a:cs typeface="Arial"/>
              </a:rPr>
              <a:t>b</a:t>
            </a:r>
            <a:r>
              <a:rPr sz="1000" i="1" spc="3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75" dirty="0">
                <a:latin typeface="Arial"/>
                <a:cs typeface="Arial"/>
              </a:rPr>
              <a:t>B</a:t>
            </a:r>
            <a:r>
              <a:rPr sz="1000" spc="-30" dirty="0">
                <a:latin typeface="Tahoma"/>
                <a:cs typeface="Tahoma"/>
              </a:rPr>
              <a:t>,</a:t>
            </a:r>
            <a:r>
              <a:rPr sz="1000" spc="20" dirty="0">
                <a:latin typeface="Tahoma"/>
                <a:cs typeface="Tahoma"/>
              </a:rPr>
              <a:t> </a:t>
            </a:r>
            <a:r>
              <a:rPr sz="1000" spc="-10" dirty="0">
                <a:latin typeface="Tahoma"/>
                <a:cs typeface="Tahoma"/>
              </a:rPr>
              <a:t>that</a:t>
            </a:r>
            <a:r>
              <a:rPr sz="1000" spc="20" dirty="0">
                <a:latin typeface="Tahoma"/>
                <a:cs typeface="Tahoma"/>
              </a:rPr>
              <a:t> </a:t>
            </a:r>
            <a:r>
              <a:rPr sz="1000" i="1" spc="25" dirty="0">
                <a:latin typeface="Arial"/>
                <a:cs typeface="Arial"/>
              </a:rPr>
              <a:t>f</a:t>
            </a:r>
            <a:r>
              <a:rPr sz="1000" i="1" spc="-65" dirty="0">
                <a:latin typeface="Arial"/>
                <a:cs typeface="Arial"/>
              </a:rPr>
              <a:t> </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15" dirty="0">
                <a:latin typeface="Arial"/>
                <a:cs typeface="Arial"/>
              </a:rPr>
              <a:t>b</a:t>
            </a:r>
            <a:r>
              <a:rPr sz="1000" spc="-30" dirty="0">
                <a:latin typeface="Tahoma"/>
                <a:cs typeface="Tahoma"/>
              </a:rPr>
              <a:t>.</a:t>
            </a:r>
            <a:r>
              <a:rPr sz="1000" spc="130" dirty="0">
                <a:latin typeface="Tahoma"/>
                <a:cs typeface="Tahoma"/>
              </a:rPr>
              <a:t> </a:t>
            </a:r>
            <a:r>
              <a:rPr sz="1000" spc="-85" dirty="0">
                <a:latin typeface="Tahoma"/>
                <a:cs typeface="Tahoma"/>
              </a:rPr>
              <a:t>Is</a:t>
            </a:r>
            <a:r>
              <a:rPr sz="1000" spc="20" dirty="0">
                <a:latin typeface="Tahoma"/>
                <a:cs typeface="Tahoma"/>
              </a:rPr>
              <a:t> </a:t>
            </a:r>
            <a:r>
              <a:rPr sz="1000" spc="-45" dirty="0">
                <a:latin typeface="Tahoma"/>
                <a:cs typeface="Tahoma"/>
              </a:rPr>
              <a:t>designated</a:t>
            </a:r>
            <a:r>
              <a:rPr sz="1000" spc="20" dirty="0">
                <a:latin typeface="Tahoma"/>
                <a:cs typeface="Tahoma"/>
              </a:rPr>
              <a:t> </a:t>
            </a:r>
            <a:r>
              <a:rPr sz="1000" spc="-60" dirty="0">
                <a:latin typeface="Tahoma"/>
                <a:cs typeface="Tahoma"/>
              </a:rPr>
              <a:t>as</a:t>
            </a:r>
            <a:r>
              <a:rPr sz="1000" spc="15"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a:t>
            </a:r>
            <a:r>
              <a:rPr sz="1000" spc="165" dirty="0">
                <a:latin typeface="Lucida Sans Unicode"/>
                <a:cs typeface="Lucida Sans Unicode"/>
              </a:rPr>
              <a:t>↣</a:t>
            </a:r>
            <a:r>
              <a:rPr sz="1000" i="1" spc="-5" dirty="0">
                <a:latin typeface="Arial"/>
                <a:cs typeface="Arial"/>
              </a:rPr>
              <a:t>B</a:t>
            </a:r>
            <a:endParaRPr sz="1000">
              <a:latin typeface="Arial"/>
              <a:cs typeface="Arial"/>
            </a:endParaRPr>
          </a:p>
        </p:txBody>
      </p:sp>
      <p:sp>
        <p:nvSpPr>
          <p:cNvPr id="44" name="object 44"/>
          <p:cNvSpPr txBox="1"/>
          <p:nvPr/>
        </p:nvSpPr>
        <p:spPr>
          <a:xfrm>
            <a:off x="4020121" y="2696733"/>
            <a:ext cx="146050"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Microsoft Sans Serif"/>
                <a:cs typeface="Microsoft Sans Serif"/>
              </a:rPr>
              <a:t>1:1</a:t>
            </a:r>
            <a:endParaRPr sz="700">
              <a:latin typeface="Microsoft Sans Serif"/>
              <a:cs typeface="Microsoft Sans Serif"/>
            </a:endParaRPr>
          </a:p>
        </p:txBody>
      </p:sp>
      <p:sp>
        <p:nvSpPr>
          <p:cNvPr id="45" name="object 45"/>
          <p:cNvSpPr txBox="1"/>
          <p:nvPr/>
        </p:nvSpPr>
        <p:spPr>
          <a:xfrm>
            <a:off x="989711" y="2489079"/>
            <a:ext cx="3298825" cy="438784"/>
          </a:xfrm>
          <a:prstGeom prst="rect">
            <a:avLst/>
          </a:prstGeom>
        </p:spPr>
        <p:txBody>
          <a:bodyPr vert="horz" wrap="square" lIns="0" tIns="12700" rIns="0" bIns="0" rtlCol="0">
            <a:spAutoFit/>
          </a:bodyPr>
          <a:lstStyle/>
          <a:p>
            <a:pPr marL="12700" marR="5080">
              <a:lnSpc>
                <a:spcPct val="135500"/>
              </a:lnSpc>
              <a:spcBef>
                <a:spcPts val="100"/>
              </a:spcBef>
            </a:pPr>
            <a:r>
              <a:rPr sz="1000" b="1" spc="-30" dirty="0">
                <a:latin typeface="Arial"/>
                <a:cs typeface="Arial"/>
              </a:rPr>
              <a:t>bijective</a:t>
            </a:r>
            <a:r>
              <a:rPr sz="1000" b="1" spc="-25" dirty="0">
                <a:latin typeface="Arial"/>
                <a:cs typeface="Arial"/>
              </a:rPr>
              <a:t> </a:t>
            </a:r>
            <a:r>
              <a:rPr sz="1000" spc="-15" dirty="0">
                <a:latin typeface="Tahoma"/>
                <a:cs typeface="Tahoma"/>
              </a:rPr>
              <a:t>(</a:t>
            </a:r>
            <a:r>
              <a:rPr sz="1000" b="1" spc="-15" dirty="0">
                <a:latin typeface="Arial"/>
                <a:cs typeface="Arial"/>
              </a:rPr>
              <a:t>“one-to-one”</a:t>
            </a:r>
            <a:r>
              <a:rPr sz="1000" b="1" spc="-10" dirty="0">
                <a:latin typeface="Arial"/>
                <a:cs typeface="Arial"/>
              </a:rPr>
              <a:t> </a:t>
            </a:r>
            <a:r>
              <a:rPr sz="1000" b="1" spc="-55" dirty="0">
                <a:latin typeface="Arial"/>
                <a:cs typeface="Arial"/>
              </a:rPr>
              <a:t>correspondence</a:t>
            </a:r>
            <a:r>
              <a:rPr sz="1000" spc="-55" dirty="0">
                <a:latin typeface="Tahoma"/>
                <a:cs typeface="Tahoma"/>
              </a:rPr>
              <a:t>), </a:t>
            </a:r>
            <a:r>
              <a:rPr sz="1000" spc="-20" dirty="0">
                <a:latin typeface="Tahoma"/>
                <a:cs typeface="Tahoma"/>
              </a:rPr>
              <a:t>iff </a:t>
            </a:r>
            <a:r>
              <a:rPr sz="1000" spc="15" dirty="0">
                <a:latin typeface="Tahoma"/>
                <a:cs typeface="Tahoma"/>
              </a:rPr>
              <a:t>it </a:t>
            </a:r>
            <a:r>
              <a:rPr sz="1000" spc="-30" dirty="0">
                <a:latin typeface="Tahoma"/>
                <a:cs typeface="Tahoma"/>
              </a:rPr>
              <a:t>is injective, </a:t>
            </a:r>
            <a:r>
              <a:rPr sz="1000" spc="-300" dirty="0">
                <a:latin typeface="Tahoma"/>
                <a:cs typeface="Tahoma"/>
              </a:rPr>
              <a:t> </a:t>
            </a:r>
            <a:r>
              <a:rPr sz="1000" spc="-35" dirty="0">
                <a:latin typeface="Tahoma"/>
                <a:cs typeface="Tahoma"/>
              </a:rPr>
              <a:t>surjective</a:t>
            </a:r>
            <a:r>
              <a:rPr sz="1000" spc="15" dirty="0">
                <a:latin typeface="Tahoma"/>
                <a:cs typeface="Tahoma"/>
              </a:rPr>
              <a:t> </a:t>
            </a:r>
            <a:r>
              <a:rPr sz="1000" spc="-45" dirty="0">
                <a:latin typeface="Tahoma"/>
                <a:cs typeface="Tahoma"/>
              </a:rPr>
              <a:t>and</a:t>
            </a:r>
            <a:r>
              <a:rPr sz="1000" spc="25" dirty="0">
                <a:latin typeface="Tahoma"/>
                <a:cs typeface="Tahoma"/>
              </a:rPr>
              <a:t> </a:t>
            </a:r>
            <a:r>
              <a:rPr sz="1000" spc="-60" dirty="0">
                <a:latin typeface="Tahoma"/>
                <a:cs typeface="Tahoma"/>
              </a:rPr>
              <a:t>everywhere</a:t>
            </a:r>
            <a:r>
              <a:rPr sz="1000" spc="20" dirty="0">
                <a:latin typeface="Tahoma"/>
                <a:cs typeface="Tahoma"/>
              </a:rPr>
              <a:t> </a:t>
            </a:r>
            <a:r>
              <a:rPr sz="1000" spc="-45" dirty="0">
                <a:latin typeface="Tahoma"/>
                <a:cs typeface="Tahoma"/>
              </a:rPr>
              <a:t>defined.</a:t>
            </a:r>
            <a:r>
              <a:rPr sz="1000" spc="135" dirty="0">
                <a:latin typeface="Tahoma"/>
                <a:cs typeface="Tahoma"/>
              </a:rPr>
              <a:t> </a:t>
            </a:r>
            <a:r>
              <a:rPr sz="1000" spc="-85" dirty="0">
                <a:latin typeface="Tahoma"/>
                <a:cs typeface="Tahoma"/>
              </a:rPr>
              <a:t>Is</a:t>
            </a:r>
            <a:r>
              <a:rPr sz="1000" spc="25" dirty="0">
                <a:latin typeface="Tahoma"/>
                <a:cs typeface="Tahoma"/>
              </a:rPr>
              <a:t> </a:t>
            </a:r>
            <a:r>
              <a:rPr sz="1000" spc="-45" dirty="0">
                <a:latin typeface="Tahoma"/>
                <a:cs typeface="Tahoma"/>
              </a:rPr>
              <a:t>designated</a:t>
            </a:r>
            <a:r>
              <a:rPr sz="1000" spc="25" dirty="0">
                <a:latin typeface="Tahoma"/>
                <a:cs typeface="Tahoma"/>
              </a:rPr>
              <a:t> </a:t>
            </a:r>
            <a:r>
              <a:rPr sz="1000" spc="-60" dirty="0">
                <a:latin typeface="Tahoma"/>
                <a:cs typeface="Tahoma"/>
              </a:rPr>
              <a:t>as</a:t>
            </a:r>
            <a:r>
              <a:rPr sz="1000" spc="20" dirty="0">
                <a:latin typeface="Tahoma"/>
                <a:cs typeface="Tahoma"/>
              </a:rPr>
              <a:t> </a:t>
            </a:r>
            <a:r>
              <a:rPr sz="1000" i="1" spc="25" dirty="0">
                <a:latin typeface="Arial"/>
                <a:cs typeface="Arial"/>
              </a:rPr>
              <a:t>f</a:t>
            </a:r>
            <a:r>
              <a:rPr sz="1000" i="1" spc="21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a:t>
            </a:r>
            <a:r>
              <a:rPr sz="1000" i="1" spc="-110" dirty="0">
                <a:latin typeface="Arial"/>
                <a:cs typeface="Arial"/>
              </a:rPr>
              <a:t> </a:t>
            </a:r>
            <a:r>
              <a:rPr sz="1000" spc="-390" dirty="0">
                <a:latin typeface="Lucida Sans Unicode"/>
                <a:cs typeface="Lucida Sans Unicode"/>
              </a:rPr>
              <a:t>↣↠</a:t>
            </a:r>
            <a:r>
              <a:rPr sz="1000" spc="-35" dirty="0">
                <a:latin typeface="Lucida Sans Unicode"/>
                <a:cs typeface="Lucida Sans Unicode"/>
              </a:rPr>
              <a:t> </a:t>
            </a:r>
            <a:r>
              <a:rPr sz="1000" i="1" spc="-5" dirty="0">
                <a:latin typeface="Arial"/>
                <a:cs typeface="Arial"/>
              </a:rPr>
              <a:t>B</a:t>
            </a:r>
            <a:endParaRPr sz="1000">
              <a:latin typeface="Arial"/>
              <a:cs typeface="Arial"/>
            </a:endParaRPr>
          </a:p>
        </p:txBody>
      </p:sp>
    </p:spTree>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2578735" cy="244475"/>
          </a:xfrm>
          <a:prstGeom prst="rect">
            <a:avLst/>
          </a:prstGeom>
        </p:spPr>
        <p:txBody>
          <a:bodyPr vert="horz" wrap="square" lIns="0" tIns="17145" rIns="0" bIns="0" rtlCol="0">
            <a:spAutoFit/>
          </a:bodyPr>
          <a:lstStyle/>
          <a:p>
            <a:pPr marL="12700">
              <a:lnSpc>
                <a:spcPct val="100000"/>
              </a:lnSpc>
              <a:spcBef>
                <a:spcPts val="135"/>
              </a:spcBef>
            </a:pPr>
            <a:r>
              <a:rPr spc="-20" dirty="0"/>
              <a:t>Characterization</a:t>
            </a:r>
            <a:r>
              <a:rPr spc="125" dirty="0"/>
              <a:t> </a:t>
            </a:r>
            <a:r>
              <a:rPr spc="-30" dirty="0"/>
              <a:t>of</a:t>
            </a:r>
            <a:r>
              <a:rPr spc="125" dirty="0"/>
              <a:t> </a:t>
            </a:r>
            <a:r>
              <a:rPr spc="-30" dirty="0"/>
              <a:t>surjectivity</a:t>
            </a:r>
          </a:p>
        </p:txBody>
      </p:sp>
      <p:sp>
        <p:nvSpPr>
          <p:cNvPr id="29" name="object 29"/>
          <p:cNvSpPr/>
          <p:nvPr/>
        </p:nvSpPr>
        <p:spPr>
          <a:xfrm>
            <a:off x="698562" y="1238325"/>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0" name="object 30"/>
          <p:cNvSpPr txBox="1"/>
          <p:nvPr/>
        </p:nvSpPr>
        <p:spPr>
          <a:xfrm>
            <a:off x="749363" y="1268252"/>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31" name="object 31"/>
          <p:cNvGrpSpPr/>
          <p:nvPr/>
        </p:nvGrpSpPr>
        <p:grpSpPr>
          <a:xfrm>
            <a:off x="698562" y="1295259"/>
            <a:ext cx="3831590" cy="770255"/>
            <a:chOff x="698562" y="1295259"/>
            <a:chExt cx="3831590" cy="770255"/>
          </a:xfrm>
        </p:grpSpPr>
        <p:pic>
          <p:nvPicPr>
            <p:cNvPr id="32" name="object 32"/>
            <p:cNvPicPr/>
            <p:nvPr/>
          </p:nvPicPr>
          <p:blipFill>
            <a:blip r:embed="rId7" cstate="print"/>
            <a:stretch>
              <a:fillRect/>
            </a:stretch>
          </p:blipFill>
          <p:spPr>
            <a:xfrm>
              <a:off x="698563" y="1401546"/>
              <a:ext cx="3780284" cy="50609"/>
            </a:xfrm>
            <a:prstGeom prst="rect">
              <a:avLst/>
            </a:prstGeom>
          </p:spPr>
        </p:pic>
        <p:sp>
          <p:nvSpPr>
            <p:cNvPr id="33" name="object 33"/>
            <p:cNvSpPr/>
            <p:nvPr/>
          </p:nvSpPr>
          <p:spPr>
            <a:xfrm>
              <a:off x="749363" y="1295259"/>
              <a:ext cx="3780790" cy="770255"/>
            </a:xfrm>
            <a:custGeom>
              <a:avLst/>
              <a:gdLst/>
              <a:ahLst/>
              <a:cxnLst/>
              <a:rect l="l" t="t" r="r" b="b"/>
              <a:pathLst>
                <a:path w="3780790" h="770255">
                  <a:moveTo>
                    <a:pt x="3780285" y="0"/>
                  </a:moveTo>
                  <a:lnTo>
                    <a:pt x="0" y="0"/>
                  </a:lnTo>
                  <a:lnTo>
                    <a:pt x="0" y="770181"/>
                  </a:lnTo>
                  <a:lnTo>
                    <a:pt x="3780285" y="770181"/>
                  </a:lnTo>
                  <a:lnTo>
                    <a:pt x="3780285" y="0"/>
                  </a:lnTo>
                  <a:close/>
                </a:path>
              </a:pathLst>
            </a:custGeom>
            <a:solidFill>
              <a:srgbClr val="000000"/>
            </a:solidFill>
          </p:spPr>
          <p:txBody>
            <a:bodyPr wrap="square" lIns="0" tIns="0" rIns="0" bIns="0" rtlCol="0"/>
            <a:lstStyle/>
            <a:p>
              <a:endParaRPr/>
            </a:p>
          </p:txBody>
        </p:sp>
        <p:sp>
          <p:nvSpPr>
            <p:cNvPr id="34" name="object 34"/>
            <p:cNvSpPr/>
            <p:nvPr/>
          </p:nvSpPr>
          <p:spPr>
            <a:xfrm>
              <a:off x="698562" y="1445828"/>
              <a:ext cx="3780790" cy="568960"/>
            </a:xfrm>
            <a:custGeom>
              <a:avLst/>
              <a:gdLst/>
              <a:ahLst/>
              <a:cxnLst/>
              <a:rect l="l" t="t" r="r" b="b"/>
              <a:pathLst>
                <a:path w="3780790" h="568960">
                  <a:moveTo>
                    <a:pt x="3780285" y="0"/>
                  </a:moveTo>
                  <a:lnTo>
                    <a:pt x="0" y="0"/>
                  </a:lnTo>
                  <a:lnTo>
                    <a:pt x="0" y="518011"/>
                  </a:lnTo>
                  <a:lnTo>
                    <a:pt x="4008" y="537735"/>
                  </a:lnTo>
                  <a:lnTo>
                    <a:pt x="14922" y="553888"/>
                  </a:lnTo>
                  <a:lnTo>
                    <a:pt x="31075" y="564802"/>
                  </a:lnTo>
                  <a:lnTo>
                    <a:pt x="50800" y="568811"/>
                  </a:lnTo>
                  <a:lnTo>
                    <a:pt x="3729484" y="568811"/>
                  </a:lnTo>
                  <a:lnTo>
                    <a:pt x="3749209" y="564802"/>
                  </a:lnTo>
                  <a:lnTo>
                    <a:pt x="3765362" y="553888"/>
                  </a:lnTo>
                  <a:lnTo>
                    <a:pt x="3776276" y="537735"/>
                  </a:lnTo>
                  <a:lnTo>
                    <a:pt x="3780285" y="518011"/>
                  </a:lnTo>
                  <a:lnTo>
                    <a:pt x="3780285" y="0"/>
                  </a:lnTo>
                  <a:close/>
                </a:path>
              </a:pathLst>
            </a:custGeom>
            <a:solidFill>
              <a:srgbClr val="E9E9F2"/>
            </a:solidFill>
          </p:spPr>
          <p:txBody>
            <a:bodyPr wrap="square" lIns="0" tIns="0" rIns="0" bIns="0" rtlCol="0"/>
            <a:lstStyle/>
            <a:p>
              <a:endParaRPr/>
            </a:p>
          </p:txBody>
        </p:sp>
        <p:pic>
          <p:nvPicPr>
            <p:cNvPr id="35" name="object 35"/>
            <p:cNvPicPr/>
            <p:nvPr/>
          </p:nvPicPr>
          <p:blipFill>
            <a:blip r:embed="rId8" cstate="print"/>
            <a:stretch>
              <a:fillRect/>
            </a:stretch>
          </p:blipFill>
          <p:spPr>
            <a:xfrm>
              <a:off x="830757" y="1660096"/>
              <a:ext cx="104301" cy="104301"/>
            </a:xfrm>
            <a:prstGeom prst="rect">
              <a:avLst/>
            </a:prstGeom>
          </p:spPr>
        </p:pic>
      </p:grpSp>
      <p:sp>
        <p:nvSpPr>
          <p:cNvPr id="36" name="object 36"/>
          <p:cNvSpPr txBox="1"/>
          <p:nvPr/>
        </p:nvSpPr>
        <p:spPr>
          <a:xfrm>
            <a:off x="830757" y="1660096"/>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1</a:t>
            </a:r>
            <a:endParaRPr sz="500">
              <a:latin typeface="Microsoft Sans Serif"/>
              <a:cs typeface="Microsoft Sans Serif"/>
            </a:endParaRPr>
          </a:p>
        </p:txBody>
      </p:sp>
      <p:pic>
        <p:nvPicPr>
          <p:cNvPr id="37" name="object 37"/>
          <p:cNvPicPr/>
          <p:nvPr/>
        </p:nvPicPr>
        <p:blipFill>
          <a:blip r:embed="rId8" cstate="print"/>
          <a:stretch>
            <a:fillRect/>
          </a:stretch>
        </p:blipFill>
        <p:spPr>
          <a:xfrm>
            <a:off x="830757" y="1849885"/>
            <a:ext cx="104301" cy="104301"/>
          </a:xfrm>
          <a:prstGeom prst="rect">
            <a:avLst/>
          </a:prstGeom>
        </p:spPr>
      </p:pic>
      <p:sp>
        <p:nvSpPr>
          <p:cNvPr id="38" name="object 38"/>
          <p:cNvSpPr txBox="1"/>
          <p:nvPr/>
        </p:nvSpPr>
        <p:spPr>
          <a:xfrm>
            <a:off x="830757" y="1849885"/>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2</a:t>
            </a:r>
            <a:endParaRPr sz="500">
              <a:latin typeface="Microsoft Sans Serif"/>
              <a:cs typeface="Microsoft Sans Serif"/>
            </a:endParaRPr>
          </a:p>
        </p:txBody>
      </p:sp>
      <p:sp>
        <p:nvSpPr>
          <p:cNvPr id="39" name="object 39"/>
          <p:cNvSpPr txBox="1">
            <a:spLocks noGrp="1"/>
          </p:cNvSpPr>
          <p:nvPr>
            <p:ph type="body" idx="1"/>
          </p:nvPr>
        </p:nvSpPr>
        <p:spPr>
          <a:prstGeom prst="rect">
            <a:avLst/>
          </a:prstGeom>
        </p:spPr>
        <p:txBody>
          <a:bodyPr vert="horz" wrap="square" lIns="0" tIns="340940" rIns="0" bIns="0" rtlCol="0">
            <a:spAutoFit/>
          </a:bodyPr>
          <a:lstStyle/>
          <a:p>
            <a:pPr marL="50800">
              <a:lnSpc>
                <a:spcPct val="100000"/>
              </a:lnSpc>
              <a:spcBef>
                <a:spcPts val="1075"/>
              </a:spcBef>
            </a:pPr>
            <a:r>
              <a:rPr spc="15" dirty="0"/>
              <a:t>F</a:t>
            </a:r>
            <a:r>
              <a:rPr spc="-75" dirty="0"/>
              <a:t>o</a:t>
            </a:r>
            <a:r>
              <a:rPr spc="-25" dirty="0"/>
              <a:t>r</a:t>
            </a:r>
            <a:r>
              <a:rPr spc="20" dirty="0"/>
              <a:t> </a:t>
            </a:r>
            <a:r>
              <a:rPr spc="-45" dirty="0"/>
              <a:t>any</a:t>
            </a:r>
            <a:r>
              <a:rPr spc="15" dirty="0"/>
              <a:t> </a:t>
            </a:r>
            <a:r>
              <a:rPr spc="-40" dirty="0"/>
              <a:t>mapping</a:t>
            </a:r>
            <a:r>
              <a:rPr spc="20" dirty="0"/>
              <a:t> </a:t>
            </a:r>
            <a:r>
              <a:rPr i="1" spc="25" dirty="0">
                <a:latin typeface="Arial"/>
                <a:cs typeface="Arial"/>
              </a:rPr>
              <a:t>f</a:t>
            </a:r>
            <a:r>
              <a:rPr i="1" dirty="0">
                <a:latin typeface="Arial"/>
                <a:cs typeface="Arial"/>
              </a:rPr>
              <a:t> </a:t>
            </a:r>
            <a:r>
              <a:rPr i="1" spc="-65" dirty="0">
                <a:latin typeface="Arial"/>
                <a:cs typeface="Arial"/>
              </a:rPr>
              <a:t> </a:t>
            </a:r>
            <a:r>
              <a:rPr spc="-80" dirty="0"/>
              <a:t>:</a:t>
            </a:r>
            <a:r>
              <a:rPr spc="-35" dirty="0"/>
              <a:t> </a:t>
            </a:r>
            <a:r>
              <a:rPr i="1" spc="-5" dirty="0">
                <a:latin typeface="Arial"/>
                <a:cs typeface="Arial"/>
              </a:rPr>
              <a:t>A </a:t>
            </a:r>
            <a:r>
              <a:rPr spc="55" dirty="0">
                <a:latin typeface="Lucida Sans Unicode"/>
                <a:cs typeface="Lucida Sans Unicode"/>
              </a:rPr>
              <a:t>→</a:t>
            </a:r>
            <a:r>
              <a:rPr spc="-40" dirty="0">
                <a:latin typeface="Lucida Sans Unicode"/>
                <a:cs typeface="Lucida Sans Unicode"/>
              </a:rPr>
              <a:t> </a:t>
            </a:r>
            <a:r>
              <a:rPr i="1" spc="75" dirty="0">
                <a:latin typeface="Arial"/>
                <a:cs typeface="Arial"/>
              </a:rPr>
              <a:t>B</a:t>
            </a:r>
            <a:r>
              <a:rPr spc="-80" dirty="0"/>
              <a:t>:</a:t>
            </a:r>
          </a:p>
          <a:p>
            <a:pPr marL="303530">
              <a:lnSpc>
                <a:spcPct val="100000"/>
              </a:lnSpc>
              <a:spcBef>
                <a:spcPts val="295"/>
              </a:spcBef>
            </a:pPr>
            <a:r>
              <a:rPr i="1" spc="25" dirty="0">
                <a:latin typeface="Arial"/>
                <a:cs typeface="Arial"/>
              </a:rPr>
              <a:t>f </a:t>
            </a:r>
            <a:r>
              <a:rPr i="1" spc="-65" dirty="0">
                <a:latin typeface="Arial"/>
                <a:cs typeface="Arial"/>
              </a:rPr>
              <a:t> </a:t>
            </a:r>
            <a:r>
              <a:rPr spc="-80" dirty="0"/>
              <a:t>:</a:t>
            </a:r>
            <a:r>
              <a:rPr spc="-35" dirty="0"/>
              <a:t> </a:t>
            </a:r>
            <a:r>
              <a:rPr i="1" spc="-5" dirty="0">
                <a:latin typeface="Arial"/>
                <a:cs typeface="Arial"/>
              </a:rPr>
              <a:t>A </a:t>
            </a:r>
            <a:r>
              <a:rPr spc="55" dirty="0">
                <a:latin typeface="Lucida Sans Unicode"/>
                <a:cs typeface="Lucida Sans Unicode"/>
              </a:rPr>
              <a:t>↠</a:t>
            </a:r>
            <a:r>
              <a:rPr spc="-40" dirty="0">
                <a:latin typeface="Lucida Sans Unicode"/>
                <a:cs typeface="Lucida Sans Unicode"/>
              </a:rPr>
              <a:t> </a:t>
            </a:r>
            <a:r>
              <a:rPr i="1" spc="-5" dirty="0">
                <a:latin typeface="Arial"/>
                <a:cs typeface="Arial"/>
              </a:rPr>
              <a:t>B</a:t>
            </a:r>
            <a:r>
              <a:rPr i="1" spc="135" dirty="0">
                <a:latin typeface="Arial"/>
                <a:cs typeface="Arial"/>
              </a:rPr>
              <a:t> </a:t>
            </a:r>
            <a:r>
              <a:rPr spc="-25" dirty="0"/>
              <a:t>(i.e.</a:t>
            </a:r>
            <a:r>
              <a:rPr spc="130" dirty="0"/>
              <a:t> </a:t>
            </a:r>
            <a:r>
              <a:rPr i="1" spc="25" dirty="0">
                <a:latin typeface="Arial"/>
                <a:cs typeface="Arial"/>
              </a:rPr>
              <a:t>f</a:t>
            </a:r>
            <a:r>
              <a:rPr i="1" dirty="0">
                <a:latin typeface="Arial"/>
                <a:cs typeface="Arial"/>
              </a:rPr>
              <a:t> </a:t>
            </a:r>
            <a:r>
              <a:rPr i="1" spc="-10" dirty="0">
                <a:latin typeface="Arial"/>
                <a:cs typeface="Arial"/>
              </a:rPr>
              <a:t> </a:t>
            </a:r>
            <a:r>
              <a:rPr spc="-30" dirty="0"/>
              <a:t>is</a:t>
            </a:r>
            <a:r>
              <a:rPr spc="20" dirty="0"/>
              <a:t> </a:t>
            </a:r>
            <a:r>
              <a:rPr spc="-35" dirty="0"/>
              <a:t>surjective)</a:t>
            </a:r>
            <a:r>
              <a:rPr spc="20" dirty="0"/>
              <a:t> </a:t>
            </a:r>
            <a:r>
              <a:rPr spc="-210" dirty="0">
                <a:latin typeface="Lucida Sans Unicode"/>
                <a:cs typeface="Lucida Sans Unicode"/>
              </a:rPr>
              <a:t>⇔</a:t>
            </a:r>
            <a:r>
              <a:rPr spc="-40" dirty="0">
                <a:latin typeface="Lucida Sans Unicode"/>
                <a:cs typeface="Lucida Sans Unicode"/>
              </a:rPr>
              <a:t> </a:t>
            </a:r>
            <a:r>
              <a:rPr i="1" spc="-35" dirty="0">
                <a:latin typeface="Arial"/>
                <a:cs typeface="Arial"/>
              </a:rPr>
              <a:t>rng</a:t>
            </a:r>
            <a:r>
              <a:rPr i="1" spc="-170" dirty="0">
                <a:latin typeface="Arial"/>
                <a:cs typeface="Arial"/>
              </a:rPr>
              <a:t> </a:t>
            </a:r>
            <a:r>
              <a:rPr dirty="0"/>
              <a:t>(</a:t>
            </a:r>
            <a:r>
              <a:rPr i="1" spc="25" dirty="0">
                <a:latin typeface="Arial"/>
                <a:cs typeface="Arial"/>
              </a:rPr>
              <a:t>f</a:t>
            </a:r>
            <a:r>
              <a:rPr i="1" spc="-65" dirty="0">
                <a:latin typeface="Arial"/>
                <a:cs typeface="Arial"/>
              </a:rPr>
              <a:t> </a:t>
            </a:r>
            <a:r>
              <a:rPr dirty="0"/>
              <a:t>)</a:t>
            </a:r>
            <a:r>
              <a:rPr spc="-35" dirty="0"/>
              <a:t> </a:t>
            </a:r>
            <a:r>
              <a:rPr spc="45" dirty="0"/>
              <a:t>=</a:t>
            </a:r>
            <a:r>
              <a:rPr spc="-40" dirty="0"/>
              <a:t> </a:t>
            </a:r>
            <a:r>
              <a:rPr i="1" spc="-5" dirty="0">
                <a:latin typeface="Arial"/>
                <a:cs typeface="Arial"/>
              </a:rPr>
              <a:t>B</a:t>
            </a:r>
          </a:p>
          <a:p>
            <a:pPr marL="303530">
              <a:lnSpc>
                <a:spcPct val="100000"/>
              </a:lnSpc>
              <a:spcBef>
                <a:spcPts val="295"/>
              </a:spcBef>
            </a:pPr>
            <a:r>
              <a:rPr i="1" spc="25" dirty="0">
                <a:latin typeface="Arial"/>
                <a:cs typeface="Arial"/>
              </a:rPr>
              <a:t>f </a:t>
            </a:r>
            <a:r>
              <a:rPr i="1" spc="-65" dirty="0">
                <a:latin typeface="Arial"/>
                <a:cs typeface="Arial"/>
              </a:rPr>
              <a:t> </a:t>
            </a:r>
            <a:r>
              <a:rPr spc="-80" dirty="0"/>
              <a:t>:</a:t>
            </a:r>
            <a:r>
              <a:rPr spc="-35" dirty="0"/>
              <a:t> </a:t>
            </a:r>
            <a:r>
              <a:rPr i="1" spc="-5" dirty="0">
                <a:latin typeface="Arial"/>
                <a:cs typeface="Arial"/>
              </a:rPr>
              <a:t>A </a:t>
            </a:r>
            <a:r>
              <a:rPr spc="165" dirty="0">
                <a:latin typeface="Lucida Sans Unicode"/>
                <a:cs typeface="Lucida Sans Unicode"/>
              </a:rPr>
              <a:t>↣</a:t>
            </a:r>
            <a:r>
              <a:rPr spc="-40" dirty="0">
                <a:latin typeface="Lucida Sans Unicode"/>
                <a:cs typeface="Lucida Sans Unicode"/>
              </a:rPr>
              <a:t> </a:t>
            </a:r>
            <a:r>
              <a:rPr i="1" spc="-5" dirty="0">
                <a:latin typeface="Arial"/>
                <a:cs typeface="Arial"/>
              </a:rPr>
              <a:t>B</a:t>
            </a:r>
            <a:r>
              <a:rPr i="1" spc="135" dirty="0">
                <a:latin typeface="Arial"/>
                <a:cs typeface="Arial"/>
              </a:rPr>
              <a:t> </a:t>
            </a:r>
            <a:r>
              <a:rPr spc="-25" dirty="0"/>
              <a:t>(i.e.</a:t>
            </a:r>
            <a:r>
              <a:rPr spc="130" dirty="0"/>
              <a:t> </a:t>
            </a:r>
            <a:r>
              <a:rPr i="1" spc="25" dirty="0">
                <a:latin typeface="Arial"/>
                <a:cs typeface="Arial"/>
              </a:rPr>
              <a:t>f</a:t>
            </a:r>
            <a:r>
              <a:rPr i="1" dirty="0">
                <a:latin typeface="Arial"/>
                <a:cs typeface="Arial"/>
              </a:rPr>
              <a:t> </a:t>
            </a:r>
            <a:r>
              <a:rPr i="1" spc="-10" dirty="0">
                <a:latin typeface="Arial"/>
                <a:cs typeface="Arial"/>
              </a:rPr>
              <a:t> </a:t>
            </a:r>
            <a:r>
              <a:rPr spc="-30" dirty="0"/>
              <a:t>is</a:t>
            </a:r>
            <a:r>
              <a:rPr spc="20" dirty="0"/>
              <a:t> </a:t>
            </a:r>
            <a:r>
              <a:rPr spc="-60" dirty="0"/>
              <a:t>everywhere</a:t>
            </a:r>
            <a:r>
              <a:rPr spc="20" dirty="0"/>
              <a:t> </a:t>
            </a:r>
            <a:r>
              <a:rPr spc="-40" dirty="0"/>
              <a:t>defined)</a:t>
            </a:r>
            <a:r>
              <a:rPr spc="15" dirty="0"/>
              <a:t> </a:t>
            </a:r>
            <a:r>
              <a:rPr spc="-210" dirty="0">
                <a:latin typeface="Lucida Sans Unicode"/>
                <a:cs typeface="Lucida Sans Unicode"/>
              </a:rPr>
              <a:t>⇔</a:t>
            </a:r>
            <a:r>
              <a:rPr spc="-40" dirty="0">
                <a:latin typeface="Lucida Sans Unicode"/>
                <a:cs typeface="Lucida Sans Unicode"/>
              </a:rPr>
              <a:t> </a:t>
            </a:r>
            <a:r>
              <a:rPr i="1" spc="-45" dirty="0">
                <a:latin typeface="Arial"/>
                <a:cs typeface="Arial"/>
              </a:rPr>
              <a:t>do</a:t>
            </a:r>
            <a:r>
              <a:rPr i="1" spc="-50" dirty="0">
                <a:latin typeface="Arial"/>
                <a:cs typeface="Arial"/>
              </a:rPr>
              <a:t>m</a:t>
            </a:r>
            <a:r>
              <a:rPr dirty="0"/>
              <a:t>(</a:t>
            </a:r>
            <a:r>
              <a:rPr i="1" spc="25" dirty="0">
                <a:latin typeface="Arial"/>
                <a:cs typeface="Arial"/>
              </a:rPr>
              <a:t>f</a:t>
            </a:r>
            <a:r>
              <a:rPr i="1" spc="-65" dirty="0">
                <a:latin typeface="Arial"/>
                <a:cs typeface="Arial"/>
              </a:rPr>
              <a:t> </a:t>
            </a:r>
            <a:r>
              <a:rPr dirty="0"/>
              <a:t>)</a:t>
            </a:r>
            <a:r>
              <a:rPr spc="-35" dirty="0"/>
              <a:t> </a:t>
            </a:r>
            <a:r>
              <a:rPr spc="45" dirty="0"/>
              <a:t>=</a:t>
            </a:r>
            <a:r>
              <a:rPr spc="-40" dirty="0"/>
              <a:t> </a:t>
            </a:r>
            <a:r>
              <a:rPr i="1" spc="-5" dirty="0">
                <a:latin typeface="Arial"/>
                <a:cs typeface="Arial"/>
              </a:rPr>
              <a:t>A</a:t>
            </a:r>
          </a:p>
        </p:txBody>
      </p:sp>
      <p:sp>
        <p:nvSpPr>
          <p:cNvPr id="40" name="object 40"/>
          <p:cNvSpPr/>
          <p:nvPr/>
        </p:nvSpPr>
        <p:spPr>
          <a:xfrm>
            <a:off x="698562" y="2166556"/>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1" name="object 41"/>
          <p:cNvSpPr txBox="1"/>
          <p:nvPr/>
        </p:nvSpPr>
        <p:spPr>
          <a:xfrm>
            <a:off x="749363" y="2196495"/>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42" name="object 42"/>
          <p:cNvGrpSpPr/>
          <p:nvPr/>
        </p:nvGrpSpPr>
        <p:grpSpPr>
          <a:xfrm>
            <a:off x="698562" y="2223496"/>
            <a:ext cx="3831590" cy="378460"/>
            <a:chOff x="698562" y="2223496"/>
            <a:chExt cx="3831590" cy="378460"/>
          </a:xfrm>
        </p:grpSpPr>
        <p:pic>
          <p:nvPicPr>
            <p:cNvPr id="43" name="object 43"/>
            <p:cNvPicPr/>
            <p:nvPr/>
          </p:nvPicPr>
          <p:blipFill>
            <a:blip r:embed="rId9" cstate="print"/>
            <a:stretch>
              <a:fillRect/>
            </a:stretch>
          </p:blipFill>
          <p:spPr>
            <a:xfrm>
              <a:off x="698563" y="2324150"/>
              <a:ext cx="3780284" cy="50609"/>
            </a:xfrm>
            <a:prstGeom prst="rect">
              <a:avLst/>
            </a:prstGeom>
          </p:spPr>
        </p:pic>
        <p:sp>
          <p:nvSpPr>
            <p:cNvPr id="44" name="object 44"/>
            <p:cNvSpPr/>
            <p:nvPr/>
          </p:nvSpPr>
          <p:spPr>
            <a:xfrm>
              <a:off x="749363" y="2223496"/>
              <a:ext cx="3780790" cy="378460"/>
            </a:xfrm>
            <a:custGeom>
              <a:avLst/>
              <a:gdLst/>
              <a:ahLst/>
              <a:cxnLst/>
              <a:rect l="l" t="t" r="r" b="b"/>
              <a:pathLst>
                <a:path w="3780790" h="378460">
                  <a:moveTo>
                    <a:pt x="3780285" y="0"/>
                  </a:moveTo>
                  <a:lnTo>
                    <a:pt x="0" y="0"/>
                  </a:lnTo>
                  <a:lnTo>
                    <a:pt x="0" y="377946"/>
                  </a:lnTo>
                  <a:lnTo>
                    <a:pt x="3780285" y="377946"/>
                  </a:lnTo>
                  <a:lnTo>
                    <a:pt x="3780285" y="0"/>
                  </a:lnTo>
                  <a:close/>
                </a:path>
              </a:pathLst>
            </a:custGeom>
            <a:solidFill>
              <a:srgbClr val="000000"/>
            </a:solidFill>
          </p:spPr>
          <p:txBody>
            <a:bodyPr wrap="square" lIns="0" tIns="0" rIns="0" bIns="0" rtlCol="0"/>
            <a:lstStyle/>
            <a:p>
              <a:endParaRPr/>
            </a:p>
          </p:txBody>
        </p:sp>
        <p:sp>
          <p:nvSpPr>
            <p:cNvPr id="45" name="object 45"/>
            <p:cNvSpPr/>
            <p:nvPr/>
          </p:nvSpPr>
          <p:spPr>
            <a:xfrm>
              <a:off x="698562" y="2368442"/>
              <a:ext cx="3780790" cy="182245"/>
            </a:xfrm>
            <a:custGeom>
              <a:avLst/>
              <a:gdLst/>
              <a:ahLst/>
              <a:cxnLst/>
              <a:rect l="l" t="t" r="r" b="b"/>
              <a:pathLst>
                <a:path w="3780790" h="182244">
                  <a:moveTo>
                    <a:pt x="3780285" y="0"/>
                  </a:moveTo>
                  <a:lnTo>
                    <a:pt x="0" y="0"/>
                  </a:lnTo>
                  <a:lnTo>
                    <a:pt x="0" y="131400"/>
                  </a:lnTo>
                  <a:lnTo>
                    <a:pt x="4008" y="151125"/>
                  </a:lnTo>
                  <a:lnTo>
                    <a:pt x="14922" y="167277"/>
                  </a:lnTo>
                  <a:lnTo>
                    <a:pt x="31075" y="178192"/>
                  </a:lnTo>
                  <a:lnTo>
                    <a:pt x="50800" y="182200"/>
                  </a:lnTo>
                  <a:lnTo>
                    <a:pt x="3729484" y="182200"/>
                  </a:lnTo>
                  <a:lnTo>
                    <a:pt x="3749209" y="178192"/>
                  </a:lnTo>
                  <a:lnTo>
                    <a:pt x="3765362" y="167277"/>
                  </a:lnTo>
                  <a:lnTo>
                    <a:pt x="3776276" y="151125"/>
                  </a:lnTo>
                  <a:lnTo>
                    <a:pt x="3780285" y="131400"/>
                  </a:lnTo>
                  <a:lnTo>
                    <a:pt x="3780285" y="0"/>
                  </a:lnTo>
                  <a:close/>
                </a:path>
              </a:pathLst>
            </a:custGeom>
            <a:solidFill>
              <a:srgbClr val="E9E9F2"/>
            </a:solidFill>
          </p:spPr>
          <p:txBody>
            <a:bodyPr wrap="square" lIns="0" tIns="0" rIns="0" bIns="0" rtlCol="0"/>
            <a:lstStyle/>
            <a:p>
              <a:endParaRPr/>
            </a:p>
          </p:txBody>
        </p:sp>
      </p:grpSp>
      <p:sp>
        <p:nvSpPr>
          <p:cNvPr id="46" name="object 46"/>
          <p:cNvSpPr txBox="1"/>
          <p:nvPr/>
        </p:nvSpPr>
        <p:spPr>
          <a:xfrm>
            <a:off x="698563" y="2223496"/>
            <a:ext cx="3831590" cy="378460"/>
          </a:xfrm>
          <a:prstGeom prst="rect">
            <a:avLst/>
          </a:prstGeom>
        </p:spPr>
        <p:txBody>
          <a:bodyPr vert="horz" wrap="square" lIns="0" tIns="6350" rIns="0" bIns="0" rtlCol="0">
            <a:spAutoFit/>
          </a:bodyPr>
          <a:lstStyle/>
          <a:p>
            <a:pPr>
              <a:lnSpc>
                <a:spcPct val="100000"/>
              </a:lnSpc>
              <a:spcBef>
                <a:spcPts val="50"/>
              </a:spcBef>
            </a:pPr>
            <a:endParaRPr sz="850">
              <a:latin typeface="Times New Roman"/>
              <a:cs typeface="Times New Roman"/>
            </a:endParaRPr>
          </a:p>
          <a:p>
            <a:pPr marL="50800">
              <a:lnSpc>
                <a:spcPct val="100000"/>
              </a:lnSpc>
              <a:spcBef>
                <a:spcPts val="5"/>
              </a:spcBef>
            </a:pPr>
            <a:r>
              <a:rPr sz="1000" spc="-30" dirty="0">
                <a:latin typeface="Tahoma"/>
                <a:cs typeface="Tahoma"/>
              </a:rPr>
              <a:t>Obvious</a:t>
            </a:r>
            <a:r>
              <a:rPr sz="1000" spc="-10" dirty="0">
                <a:latin typeface="Tahoma"/>
                <a:cs typeface="Tahoma"/>
              </a:rPr>
              <a:t> </a:t>
            </a:r>
            <a:r>
              <a:rPr sz="1000" spc="-55" dirty="0">
                <a:latin typeface="Tahoma"/>
                <a:cs typeface="Tahoma"/>
              </a:rPr>
              <a:t>by</a:t>
            </a:r>
            <a:r>
              <a:rPr sz="1000" spc="-5" dirty="0">
                <a:latin typeface="Tahoma"/>
                <a:cs typeface="Tahoma"/>
              </a:rPr>
              <a:t> </a:t>
            </a:r>
            <a:r>
              <a:rPr sz="1000" spc="-25" dirty="0">
                <a:latin typeface="Tahoma"/>
                <a:cs typeface="Tahoma"/>
              </a:rPr>
              <a:t>definition.</a:t>
            </a:r>
            <a:endParaRPr sz="1000">
              <a:latin typeface="Tahoma"/>
              <a:cs typeface="Tahoma"/>
            </a:endParaRPr>
          </a:p>
        </p:txBody>
      </p:sp>
      <p:grpSp>
        <p:nvGrpSpPr>
          <p:cNvPr id="47" name="object 47"/>
          <p:cNvGrpSpPr/>
          <p:nvPr/>
        </p:nvGrpSpPr>
        <p:grpSpPr>
          <a:xfrm>
            <a:off x="4335779" y="2396197"/>
            <a:ext cx="86360" cy="85725"/>
            <a:chOff x="4335779" y="2396197"/>
            <a:chExt cx="86360" cy="85725"/>
          </a:xfrm>
        </p:grpSpPr>
        <p:sp>
          <p:nvSpPr>
            <p:cNvPr id="48" name="object 48"/>
            <p:cNvSpPr/>
            <p:nvPr/>
          </p:nvSpPr>
          <p:spPr>
            <a:xfrm>
              <a:off x="4338307" y="2396197"/>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9" name="object 49"/>
            <p:cNvSpPr/>
            <p:nvPr/>
          </p:nvSpPr>
          <p:spPr>
            <a:xfrm>
              <a:off x="4340834" y="2398737"/>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0" name="object 50"/>
            <p:cNvSpPr/>
            <p:nvPr/>
          </p:nvSpPr>
          <p:spPr>
            <a:xfrm>
              <a:off x="4340834" y="2479078"/>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1" name="object 51"/>
            <p:cNvSpPr/>
            <p:nvPr/>
          </p:nvSpPr>
          <p:spPr>
            <a:xfrm>
              <a:off x="4419282" y="2396197"/>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31559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4" name="object 4"/>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5" name="object 5"/>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2145665" cy="244475"/>
          </a:xfrm>
          <a:prstGeom prst="rect">
            <a:avLst/>
          </a:prstGeom>
        </p:spPr>
        <p:txBody>
          <a:bodyPr vert="horz" wrap="square" lIns="0" tIns="17145" rIns="0" bIns="0" rtlCol="0">
            <a:spAutoFit/>
          </a:bodyPr>
          <a:lstStyle/>
          <a:p>
            <a:pPr marL="12700">
              <a:lnSpc>
                <a:spcPct val="100000"/>
              </a:lnSpc>
              <a:spcBef>
                <a:spcPts val="135"/>
              </a:spcBef>
            </a:pPr>
            <a:r>
              <a:rPr spc="-40" dirty="0"/>
              <a:t>Composition</a:t>
            </a:r>
            <a:r>
              <a:rPr spc="130" dirty="0"/>
              <a:t> </a:t>
            </a:r>
            <a:r>
              <a:rPr spc="-30" dirty="0"/>
              <a:t>of</a:t>
            </a:r>
            <a:r>
              <a:rPr spc="135" dirty="0"/>
              <a:t> </a:t>
            </a:r>
            <a:r>
              <a:rPr spc="-60" dirty="0"/>
              <a:t>mappings</a:t>
            </a:r>
          </a:p>
        </p:txBody>
      </p:sp>
      <p:sp>
        <p:nvSpPr>
          <p:cNvPr id="29" name="object 29"/>
          <p:cNvSpPr/>
          <p:nvPr/>
        </p:nvSpPr>
        <p:spPr>
          <a:xfrm>
            <a:off x="698562" y="1246212"/>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0" name="object 30"/>
          <p:cNvSpPr txBox="1"/>
          <p:nvPr/>
        </p:nvSpPr>
        <p:spPr>
          <a:xfrm>
            <a:off x="749363" y="1276139"/>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1" name="object 31"/>
          <p:cNvGrpSpPr/>
          <p:nvPr/>
        </p:nvGrpSpPr>
        <p:grpSpPr>
          <a:xfrm>
            <a:off x="698562" y="1303133"/>
            <a:ext cx="3831590" cy="1118870"/>
            <a:chOff x="698562" y="1303133"/>
            <a:chExt cx="3831590" cy="1118870"/>
          </a:xfrm>
        </p:grpSpPr>
        <p:pic>
          <p:nvPicPr>
            <p:cNvPr id="32" name="object 32"/>
            <p:cNvPicPr/>
            <p:nvPr/>
          </p:nvPicPr>
          <p:blipFill>
            <a:blip r:embed="rId7" cstate="print"/>
            <a:stretch>
              <a:fillRect/>
            </a:stretch>
          </p:blipFill>
          <p:spPr>
            <a:xfrm>
              <a:off x="698563" y="1403807"/>
              <a:ext cx="3780284" cy="50609"/>
            </a:xfrm>
            <a:prstGeom prst="rect">
              <a:avLst/>
            </a:prstGeom>
          </p:spPr>
        </p:pic>
        <p:sp>
          <p:nvSpPr>
            <p:cNvPr id="33" name="object 33"/>
            <p:cNvSpPr/>
            <p:nvPr/>
          </p:nvSpPr>
          <p:spPr>
            <a:xfrm>
              <a:off x="749363" y="1303133"/>
              <a:ext cx="3780790" cy="1118870"/>
            </a:xfrm>
            <a:custGeom>
              <a:avLst/>
              <a:gdLst/>
              <a:ahLst/>
              <a:cxnLst/>
              <a:rect l="l" t="t" r="r" b="b"/>
              <a:pathLst>
                <a:path w="3780790" h="1118870">
                  <a:moveTo>
                    <a:pt x="3780285" y="0"/>
                  </a:moveTo>
                  <a:lnTo>
                    <a:pt x="0" y="0"/>
                  </a:lnTo>
                  <a:lnTo>
                    <a:pt x="0" y="1118833"/>
                  </a:lnTo>
                  <a:lnTo>
                    <a:pt x="3780285" y="1118833"/>
                  </a:lnTo>
                  <a:lnTo>
                    <a:pt x="3780285" y="0"/>
                  </a:lnTo>
                  <a:close/>
                </a:path>
              </a:pathLst>
            </a:custGeom>
            <a:solidFill>
              <a:srgbClr val="000000"/>
            </a:solidFill>
          </p:spPr>
          <p:txBody>
            <a:bodyPr wrap="square" lIns="0" tIns="0" rIns="0" bIns="0" rtlCol="0"/>
            <a:lstStyle/>
            <a:p>
              <a:endParaRPr/>
            </a:p>
          </p:txBody>
        </p:sp>
        <p:sp>
          <p:nvSpPr>
            <p:cNvPr id="34" name="object 34"/>
            <p:cNvSpPr/>
            <p:nvPr/>
          </p:nvSpPr>
          <p:spPr>
            <a:xfrm>
              <a:off x="698562" y="1448079"/>
              <a:ext cx="3780790" cy="923290"/>
            </a:xfrm>
            <a:custGeom>
              <a:avLst/>
              <a:gdLst/>
              <a:ahLst/>
              <a:cxnLst/>
              <a:rect l="l" t="t" r="r" b="b"/>
              <a:pathLst>
                <a:path w="3780790" h="923289">
                  <a:moveTo>
                    <a:pt x="3780285" y="0"/>
                  </a:moveTo>
                  <a:lnTo>
                    <a:pt x="0" y="0"/>
                  </a:lnTo>
                  <a:lnTo>
                    <a:pt x="0" y="872287"/>
                  </a:lnTo>
                  <a:lnTo>
                    <a:pt x="4008" y="892011"/>
                  </a:lnTo>
                  <a:lnTo>
                    <a:pt x="14922" y="908164"/>
                  </a:lnTo>
                  <a:lnTo>
                    <a:pt x="31075" y="919078"/>
                  </a:lnTo>
                  <a:lnTo>
                    <a:pt x="50800" y="923087"/>
                  </a:lnTo>
                  <a:lnTo>
                    <a:pt x="3729484" y="923087"/>
                  </a:lnTo>
                  <a:lnTo>
                    <a:pt x="3749209" y="919078"/>
                  </a:lnTo>
                  <a:lnTo>
                    <a:pt x="3765362" y="908164"/>
                  </a:lnTo>
                  <a:lnTo>
                    <a:pt x="3776276" y="892011"/>
                  </a:lnTo>
                  <a:lnTo>
                    <a:pt x="3780285" y="872287"/>
                  </a:lnTo>
                  <a:lnTo>
                    <a:pt x="3780285" y="0"/>
                  </a:lnTo>
                  <a:close/>
                </a:path>
              </a:pathLst>
            </a:custGeom>
            <a:solidFill>
              <a:srgbClr val="E9E9F2"/>
            </a:solidFill>
          </p:spPr>
          <p:txBody>
            <a:bodyPr wrap="square" lIns="0" tIns="0" rIns="0" bIns="0" rtlCol="0"/>
            <a:lstStyle/>
            <a:p>
              <a:endParaRPr/>
            </a:p>
          </p:txBody>
        </p:sp>
      </p:grpSp>
      <p:sp>
        <p:nvSpPr>
          <p:cNvPr id="35" name="object 35"/>
          <p:cNvSpPr txBox="1"/>
          <p:nvPr/>
        </p:nvSpPr>
        <p:spPr>
          <a:xfrm>
            <a:off x="749363" y="1422036"/>
            <a:ext cx="3479165" cy="177800"/>
          </a:xfrm>
          <a:prstGeom prst="rect">
            <a:avLst/>
          </a:prstGeom>
        </p:spPr>
        <p:txBody>
          <a:bodyPr vert="horz" wrap="square" lIns="0" tIns="12065" rIns="0" bIns="0" rtlCol="0">
            <a:spAutoFit/>
          </a:bodyPr>
          <a:lstStyle/>
          <a:p>
            <a:pPr>
              <a:lnSpc>
                <a:spcPct val="100000"/>
              </a:lnSpc>
              <a:spcBef>
                <a:spcPts val="95"/>
              </a:spcBef>
            </a:pPr>
            <a:r>
              <a:rPr sz="1000" spc="-10" dirty="0">
                <a:latin typeface="Tahoma"/>
                <a:cs typeface="Tahoma"/>
              </a:rPr>
              <a:t>Let</a:t>
            </a:r>
            <a:r>
              <a:rPr sz="1000" spc="15" dirty="0">
                <a:latin typeface="Tahoma"/>
                <a:cs typeface="Tahoma"/>
              </a:rPr>
              <a:t> </a:t>
            </a:r>
            <a:r>
              <a:rPr sz="1000" i="1" spc="-50" dirty="0">
                <a:latin typeface="Arial"/>
                <a:cs typeface="Arial"/>
              </a:rPr>
              <a:t>A</a:t>
            </a:r>
            <a:r>
              <a:rPr sz="1000" i="1" spc="-50" dirty="0">
                <a:latin typeface="Verdana"/>
                <a:cs typeface="Verdana"/>
              </a:rPr>
              <a:t>,</a:t>
            </a:r>
            <a:r>
              <a:rPr sz="1000" i="1" spc="-185" dirty="0">
                <a:latin typeface="Verdana"/>
                <a:cs typeface="Verdana"/>
              </a:rPr>
              <a:t> </a:t>
            </a:r>
            <a:r>
              <a:rPr sz="1000" i="1" spc="-10" dirty="0">
                <a:latin typeface="Arial"/>
                <a:cs typeface="Arial"/>
              </a:rPr>
              <a:t>B</a:t>
            </a:r>
            <a:r>
              <a:rPr sz="1000" i="1" spc="-10" dirty="0">
                <a:latin typeface="Verdana"/>
                <a:cs typeface="Verdana"/>
              </a:rPr>
              <a:t>,</a:t>
            </a:r>
            <a:r>
              <a:rPr sz="1000" i="1" spc="-180" dirty="0">
                <a:latin typeface="Verdana"/>
                <a:cs typeface="Verdana"/>
              </a:rPr>
              <a:t> </a:t>
            </a:r>
            <a:r>
              <a:rPr sz="1000" i="1" spc="-90" dirty="0">
                <a:latin typeface="Arial"/>
                <a:cs typeface="Arial"/>
              </a:rPr>
              <a:t>C</a:t>
            </a:r>
            <a:r>
              <a:rPr sz="1000" i="1" spc="175" dirty="0">
                <a:latin typeface="Arial"/>
                <a:cs typeface="Arial"/>
              </a:rPr>
              <a:t> </a:t>
            </a:r>
            <a:r>
              <a:rPr sz="1000" spc="-50" dirty="0">
                <a:latin typeface="Tahoma"/>
                <a:cs typeface="Tahoma"/>
              </a:rPr>
              <a:t>be</a:t>
            </a:r>
            <a:r>
              <a:rPr sz="1000" spc="20" dirty="0">
                <a:latin typeface="Tahoma"/>
                <a:cs typeface="Tahoma"/>
              </a:rPr>
              <a:t> </a:t>
            </a:r>
            <a:r>
              <a:rPr sz="1000" spc="-45" dirty="0">
                <a:latin typeface="Tahoma"/>
                <a:cs typeface="Tahoma"/>
              </a:rPr>
              <a:t>three</a:t>
            </a:r>
            <a:r>
              <a:rPr sz="1000" spc="15" dirty="0">
                <a:latin typeface="Tahoma"/>
                <a:cs typeface="Tahoma"/>
              </a:rPr>
              <a:t> </a:t>
            </a:r>
            <a:r>
              <a:rPr sz="1000" spc="-50" dirty="0">
                <a:latin typeface="Tahoma"/>
                <a:cs typeface="Tahoma"/>
              </a:rPr>
              <a:t>sets</a:t>
            </a:r>
            <a:r>
              <a:rPr sz="1000" spc="20" dirty="0">
                <a:latin typeface="Tahoma"/>
                <a:cs typeface="Tahoma"/>
              </a:rPr>
              <a:t> </a:t>
            </a:r>
            <a:r>
              <a:rPr sz="1000" spc="-45" dirty="0">
                <a:latin typeface="Tahoma"/>
                <a:cs typeface="Tahoma"/>
              </a:rPr>
              <a:t>and</a:t>
            </a:r>
            <a:r>
              <a:rPr sz="1000" spc="15" dirty="0">
                <a:latin typeface="Tahoma"/>
                <a:cs typeface="Tahoma"/>
              </a:rPr>
              <a:t> </a:t>
            </a:r>
            <a:r>
              <a:rPr sz="1000" spc="-50" dirty="0">
                <a:latin typeface="Tahoma"/>
                <a:cs typeface="Tahoma"/>
              </a:rPr>
              <a:t>two</a:t>
            </a:r>
            <a:r>
              <a:rPr sz="1000" spc="20" dirty="0">
                <a:latin typeface="Tahoma"/>
                <a:cs typeface="Tahoma"/>
              </a:rPr>
              <a:t> </a:t>
            </a:r>
            <a:r>
              <a:rPr sz="1000" spc="-45" dirty="0">
                <a:latin typeface="Tahoma"/>
                <a:cs typeface="Tahoma"/>
              </a:rPr>
              <a:t>mappings</a:t>
            </a:r>
            <a:r>
              <a:rPr sz="1000" spc="15" dirty="0">
                <a:latin typeface="Tahoma"/>
                <a:cs typeface="Tahoma"/>
              </a:rPr>
              <a:t> </a:t>
            </a:r>
            <a:r>
              <a:rPr sz="1000" spc="-65" dirty="0">
                <a:latin typeface="Tahoma"/>
                <a:cs typeface="Tahoma"/>
              </a:rPr>
              <a:t>are</a:t>
            </a:r>
            <a:r>
              <a:rPr sz="1000" spc="25" dirty="0">
                <a:latin typeface="Tahoma"/>
                <a:cs typeface="Tahoma"/>
              </a:rPr>
              <a:t> </a:t>
            </a:r>
            <a:r>
              <a:rPr sz="1000" spc="-50" dirty="0">
                <a:latin typeface="Tahoma"/>
                <a:cs typeface="Tahoma"/>
              </a:rPr>
              <a:t>given:</a:t>
            </a:r>
            <a:r>
              <a:rPr sz="1000" spc="140" dirty="0">
                <a:latin typeface="Tahoma"/>
                <a:cs typeface="Tahoma"/>
              </a:rPr>
              <a:t> </a:t>
            </a:r>
            <a:r>
              <a:rPr sz="1000" i="1" spc="25" dirty="0">
                <a:latin typeface="Arial"/>
                <a:cs typeface="Arial"/>
              </a:rPr>
              <a:t>f</a:t>
            </a:r>
            <a:r>
              <a:rPr sz="1000" i="1" spc="21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35" dirty="0">
                <a:latin typeface="Lucida Sans Unicode"/>
                <a:cs typeface="Lucida Sans Unicode"/>
              </a:rPr>
              <a:t> </a:t>
            </a:r>
            <a:r>
              <a:rPr sz="1000" i="1" spc="-5" dirty="0">
                <a:latin typeface="Arial"/>
                <a:cs typeface="Arial"/>
              </a:rPr>
              <a:t>B</a:t>
            </a:r>
            <a:endParaRPr sz="1000">
              <a:latin typeface="Arial"/>
              <a:cs typeface="Arial"/>
            </a:endParaRPr>
          </a:p>
        </p:txBody>
      </p:sp>
      <p:sp>
        <p:nvSpPr>
          <p:cNvPr id="36" name="object 36"/>
          <p:cNvSpPr txBox="1"/>
          <p:nvPr/>
        </p:nvSpPr>
        <p:spPr>
          <a:xfrm>
            <a:off x="749363" y="1573865"/>
            <a:ext cx="3289300" cy="177800"/>
          </a:xfrm>
          <a:prstGeom prst="rect">
            <a:avLst/>
          </a:prstGeom>
        </p:spPr>
        <p:txBody>
          <a:bodyPr vert="horz" wrap="square" lIns="0" tIns="12065" rIns="0" bIns="0" rtlCol="0">
            <a:spAutoFit/>
          </a:bodyPr>
          <a:lstStyle/>
          <a:p>
            <a:pPr>
              <a:lnSpc>
                <a:spcPct val="100000"/>
              </a:lnSpc>
              <a:spcBef>
                <a:spcPts val="95"/>
              </a:spcBef>
            </a:pPr>
            <a:r>
              <a:rPr sz="1000" spc="-45" dirty="0">
                <a:latin typeface="Tahoma"/>
                <a:cs typeface="Tahoma"/>
              </a:rPr>
              <a:t>and</a:t>
            </a:r>
            <a:r>
              <a:rPr sz="1000" spc="20" dirty="0">
                <a:latin typeface="Tahoma"/>
                <a:cs typeface="Tahoma"/>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40" dirty="0">
                <a:latin typeface="Tahoma"/>
                <a:cs typeface="Tahoma"/>
              </a:rPr>
              <a:t> </a:t>
            </a:r>
            <a:r>
              <a:rPr sz="1000" i="1" spc="-5" dirty="0">
                <a:latin typeface="Arial"/>
                <a:cs typeface="Arial"/>
              </a:rPr>
              <a:t>B</a:t>
            </a:r>
            <a:r>
              <a:rPr sz="1000" i="1" spc="80"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r>
              <a:rPr sz="1000" i="1" spc="-160" dirty="0">
                <a:latin typeface="Arial"/>
                <a:cs typeface="Arial"/>
              </a:rPr>
              <a:t> </a:t>
            </a:r>
            <a:r>
              <a:rPr sz="1000" spc="-30" dirty="0">
                <a:latin typeface="Tahoma"/>
                <a:cs typeface="Tahoma"/>
              </a:rPr>
              <a:t>.</a:t>
            </a:r>
            <a:r>
              <a:rPr sz="1000" spc="130" dirty="0">
                <a:latin typeface="Tahoma"/>
                <a:cs typeface="Tahoma"/>
              </a:rPr>
              <a:t> </a:t>
            </a:r>
            <a:r>
              <a:rPr sz="1000" spc="-20" dirty="0">
                <a:latin typeface="Tahoma"/>
                <a:cs typeface="Tahoma"/>
              </a:rPr>
              <a:t>Then</a:t>
            </a:r>
            <a:r>
              <a:rPr sz="1000" spc="20" dirty="0">
                <a:latin typeface="Tahoma"/>
                <a:cs typeface="Tahoma"/>
              </a:rPr>
              <a:t> </a:t>
            </a:r>
            <a:r>
              <a:rPr sz="1000" spc="-50" dirty="0">
                <a:latin typeface="Tahoma"/>
                <a:cs typeface="Tahoma"/>
              </a:rPr>
              <a:t>a</a:t>
            </a:r>
            <a:r>
              <a:rPr sz="1000" spc="15" dirty="0">
                <a:latin typeface="Tahoma"/>
                <a:cs typeface="Tahoma"/>
              </a:rPr>
              <a:t> </a:t>
            </a:r>
            <a:r>
              <a:rPr sz="1000" b="1" spc="-55" dirty="0">
                <a:latin typeface="Arial"/>
                <a:cs typeface="Arial"/>
              </a:rPr>
              <a:t>com</a:t>
            </a:r>
            <a:r>
              <a:rPr sz="1000" b="1" spc="-20" dirty="0">
                <a:latin typeface="Arial"/>
                <a:cs typeface="Arial"/>
              </a:rPr>
              <a:t>p</a:t>
            </a:r>
            <a:r>
              <a:rPr sz="1000" b="1" spc="-105" dirty="0">
                <a:latin typeface="Arial"/>
                <a:cs typeface="Arial"/>
              </a:rPr>
              <a:t>os</a:t>
            </a:r>
            <a:r>
              <a:rPr sz="1000" b="1" spc="-20" dirty="0">
                <a:latin typeface="Arial"/>
                <a:cs typeface="Arial"/>
              </a:rPr>
              <a:t>ition</a:t>
            </a:r>
            <a:r>
              <a:rPr sz="1000" b="1" spc="50" dirty="0">
                <a:latin typeface="Arial"/>
                <a:cs typeface="Arial"/>
              </a:rPr>
              <a:t> </a:t>
            </a:r>
            <a:r>
              <a:rPr sz="1000" spc="-30" dirty="0">
                <a:latin typeface="Tahoma"/>
                <a:cs typeface="Tahoma"/>
              </a:rPr>
              <a:t>of</a:t>
            </a:r>
            <a:r>
              <a:rPr sz="1000" spc="15" dirty="0">
                <a:latin typeface="Tahoma"/>
                <a:cs typeface="Tahoma"/>
              </a:rPr>
              <a:t> </a:t>
            </a:r>
            <a:r>
              <a:rPr sz="1000" spc="-45" dirty="0">
                <a:latin typeface="Tahoma"/>
                <a:cs typeface="Tahoma"/>
              </a:rPr>
              <a:t>mappings</a:t>
            </a:r>
            <a:r>
              <a:rPr sz="1000" spc="20" dirty="0">
                <a:latin typeface="Tahoma"/>
                <a:cs typeface="Tahoma"/>
              </a:rPr>
              <a:t> </a:t>
            </a:r>
            <a:r>
              <a:rPr sz="1000" i="1" spc="25" dirty="0">
                <a:latin typeface="Arial"/>
                <a:cs typeface="Arial"/>
              </a:rPr>
              <a:t>f</a:t>
            </a:r>
            <a:r>
              <a:rPr sz="1000" i="1" dirty="0">
                <a:latin typeface="Arial"/>
                <a:cs typeface="Arial"/>
              </a:rPr>
              <a:t> </a:t>
            </a:r>
            <a:r>
              <a:rPr sz="1000" i="1" spc="-10" dirty="0">
                <a:latin typeface="Arial"/>
                <a:cs typeface="Arial"/>
              </a:rPr>
              <a:t> </a:t>
            </a:r>
            <a:r>
              <a:rPr sz="1000" spc="-45" dirty="0">
                <a:latin typeface="Tahoma"/>
                <a:cs typeface="Tahoma"/>
              </a:rPr>
              <a:t>and</a:t>
            </a:r>
            <a:r>
              <a:rPr sz="1000" spc="20" dirty="0">
                <a:latin typeface="Tahoma"/>
                <a:cs typeface="Tahoma"/>
              </a:rPr>
              <a:t> </a:t>
            </a:r>
            <a:r>
              <a:rPr sz="1000" i="1" spc="-60" dirty="0">
                <a:latin typeface="Arial"/>
                <a:cs typeface="Arial"/>
              </a:rPr>
              <a:t>g</a:t>
            </a:r>
            <a:r>
              <a:rPr sz="1000" i="1" dirty="0">
                <a:latin typeface="Arial"/>
                <a:cs typeface="Arial"/>
              </a:rPr>
              <a:t> </a:t>
            </a:r>
            <a:r>
              <a:rPr sz="1000" i="1" spc="-120" dirty="0">
                <a:latin typeface="Arial"/>
                <a:cs typeface="Arial"/>
              </a:rPr>
              <a:t> </a:t>
            </a:r>
            <a:r>
              <a:rPr sz="1000" spc="-30" dirty="0">
                <a:latin typeface="Tahoma"/>
                <a:cs typeface="Tahoma"/>
              </a:rPr>
              <a:t>is</a:t>
            </a:r>
            <a:endParaRPr sz="1000">
              <a:latin typeface="Tahoma"/>
              <a:cs typeface="Tahoma"/>
            </a:endParaRPr>
          </a:p>
        </p:txBody>
      </p:sp>
      <p:sp>
        <p:nvSpPr>
          <p:cNvPr id="37" name="object 37"/>
          <p:cNvSpPr txBox="1"/>
          <p:nvPr/>
        </p:nvSpPr>
        <p:spPr>
          <a:xfrm>
            <a:off x="736663" y="1725693"/>
            <a:ext cx="3585210" cy="886460"/>
          </a:xfrm>
          <a:prstGeom prst="rect">
            <a:avLst/>
          </a:prstGeom>
        </p:spPr>
        <p:txBody>
          <a:bodyPr vert="horz" wrap="square" lIns="0" tIns="12065" rIns="0" bIns="0" rtlCol="0">
            <a:spAutoFit/>
          </a:bodyPr>
          <a:lstStyle/>
          <a:p>
            <a:pPr marL="12700" marR="5080">
              <a:lnSpc>
                <a:spcPct val="100000"/>
              </a:lnSpc>
              <a:spcBef>
                <a:spcPts val="95"/>
              </a:spcBef>
            </a:pPr>
            <a:r>
              <a:rPr sz="1000" spc="-45" dirty="0">
                <a:latin typeface="Tahoma"/>
                <a:cs typeface="Tahoma"/>
              </a:rPr>
              <a:t>defined.</a:t>
            </a:r>
            <a:r>
              <a:rPr sz="1000" spc="135" dirty="0">
                <a:latin typeface="Tahoma"/>
                <a:cs typeface="Tahoma"/>
              </a:rPr>
              <a:t> </a:t>
            </a:r>
            <a:r>
              <a:rPr sz="1000" spc="-40" dirty="0">
                <a:latin typeface="Tahoma"/>
                <a:cs typeface="Tahoma"/>
              </a:rPr>
              <a:t>It</a:t>
            </a:r>
            <a:r>
              <a:rPr sz="1000" spc="20" dirty="0">
                <a:latin typeface="Tahoma"/>
                <a:cs typeface="Tahoma"/>
              </a:rPr>
              <a:t> </a:t>
            </a:r>
            <a:r>
              <a:rPr sz="1000" spc="-30" dirty="0">
                <a:latin typeface="Tahoma"/>
                <a:cs typeface="Tahoma"/>
              </a:rPr>
              <a:t>is</a:t>
            </a:r>
            <a:r>
              <a:rPr sz="1000" spc="25" dirty="0">
                <a:latin typeface="Tahoma"/>
                <a:cs typeface="Tahoma"/>
              </a:rPr>
              <a:t> </a:t>
            </a:r>
            <a:r>
              <a:rPr sz="1000" spc="-50" dirty="0">
                <a:latin typeface="Tahoma"/>
                <a:cs typeface="Tahoma"/>
              </a:rPr>
              <a:t>a</a:t>
            </a:r>
            <a:r>
              <a:rPr sz="1000" spc="20" dirty="0">
                <a:latin typeface="Tahoma"/>
                <a:cs typeface="Tahoma"/>
              </a:rPr>
              <a:t> </a:t>
            </a:r>
            <a:r>
              <a:rPr sz="1000" spc="-40" dirty="0">
                <a:latin typeface="Tahoma"/>
                <a:cs typeface="Tahoma"/>
              </a:rPr>
              <a:t>mapping</a:t>
            </a:r>
            <a:r>
              <a:rPr sz="1000" spc="20" dirty="0">
                <a:latin typeface="Tahoma"/>
                <a:cs typeface="Tahoma"/>
              </a:rPr>
              <a:t> </a:t>
            </a:r>
            <a:r>
              <a:rPr sz="1000" i="1" spc="25" dirty="0">
                <a:latin typeface="Arial"/>
                <a:cs typeface="Arial"/>
              </a:rPr>
              <a:t>f</a:t>
            </a:r>
            <a:r>
              <a:rPr sz="1000" i="1" spc="160" dirty="0">
                <a:latin typeface="Arial"/>
                <a:cs typeface="Arial"/>
              </a:rPr>
              <a:t> </a:t>
            </a:r>
            <a:r>
              <a:rPr sz="1000" spc="-65" dirty="0">
                <a:latin typeface="Lucida Sans Unicode"/>
                <a:cs typeface="Lucida Sans Unicode"/>
              </a:rPr>
              <a:t>◦</a:t>
            </a:r>
            <a:r>
              <a:rPr sz="1000" spc="-90" dirty="0">
                <a:latin typeface="Lucida Sans Unicode"/>
                <a:cs typeface="Lucida Sans Unicode"/>
              </a:rPr>
              <a:t> </a:t>
            </a:r>
            <a:r>
              <a:rPr sz="1000" i="1" spc="-60" dirty="0">
                <a:latin typeface="Arial"/>
                <a:cs typeface="Arial"/>
              </a:rPr>
              <a:t>g</a:t>
            </a:r>
            <a:r>
              <a:rPr sz="1000" i="1" spc="110"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a:t>
            </a:r>
            <a:r>
              <a:rPr sz="1000" i="1" dirty="0">
                <a:latin typeface="Arial"/>
                <a:cs typeface="Arial"/>
              </a:rPr>
              <a:t> </a:t>
            </a:r>
            <a:r>
              <a:rPr sz="1000" spc="55" dirty="0">
                <a:latin typeface="Lucida Sans Unicode"/>
                <a:cs typeface="Lucida Sans Unicode"/>
              </a:rPr>
              <a:t>→</a:t>
            </a:r>
            <a:r>
              <a:rPr sz="1000" spc="-35" dirty="0">
                <a:latin typeface="Lucida Sans Unicode"/>
                <a:cs typeface="Lucida Sans Unicode"/>
              </a:rPr>
              <a:t> </a:t>
            </a:r>
            <a:r>
              <a:rPr sz="1000" i="1" spc="-90" dirty="0">
                <a:latin typeface="Arial"/>
                <a:cs typeface="Arial"/>
              </a:rPr>
              <a:t>C</a:t>
            </a:r>
            <a:r>
              <a:rPr sz="1000" i="1" spc="-160" dirty="0">
                <a:latin typeface="Arial"/>
                <a:cs typeface="Arial"/>
              </a:rPr>
              <a:t> </a:t>
            </a:r>
            <a:r>
              <a:rPr sz="1000" spc="-30" dirty="0">
                <a:latin typeface="Tahoma"/>
                <a:cs typeface="Tahoma"/>
              </a:rPr>
              <a:t>,</a:t>
            </a:r>
            <a:r>
              <a:rPr sz="1000" spc="25" dirty="0">
                <a:latin typeface="Tahoma"/>
                <a:cs typeface="Tahoma"/>
              </a:rPr>
              <a:t> </a:t>
            </a:r>
            <a:r>
              <a:rPr sz="1000" spc="-35" dirty="0">
                <a:latin typeface="Tahoma"/>
                <a:cs typeface="Tahoma"/>
              </a:rPr>
              <a:t>which</a:t>
            </a:r>
            <a:r>
              <a:rPr sz="1000" spc="20" dirty="0">
                <a:latin typeface="Tahoma"/>
                <a:cs typeface="Tahoma"/>
              </a:rPr>
              <a:t> </a:t>
            </a:r>
            <a:r>
              <a:rPr sz="1000" spc="-30" dirty="0">
                <a:latin typeface="Tahoma"/>
                <a:cs typeface="Tahoma"/>
              </a:rPr>
              <a:t>is</a:t>
            </a:r>
            <a:r>
              <a:rPr sz="1000" spc="25" dirty="0">
                <a:latin typeface="Tahoma"/>
                <a:cs typeface="Tahoma"/>
              </a:rPr>
              <a:t> </a:t>
            </a:r>
            <a:r>
              <a:rPr sz="1000" spc="-45" dirty="0">
                <a:latin typeface="Tahoma"/>
                <a:cs typeface="Tahoma"/>
              </a:rPr>
              <a:t>defined</a:t>
            </a:r>
            <a:r>
              <a:rPr sz="1000" spc="25" dirty="0">
                <a:latin typeface="Tahoma"/>
                <a:cs typeface="Tahoma"/>
              </a:rPr>
              <a:t> </a:t>
            </a:r>
            <a:r>
              <a:rPr sz="1000" spc="-60" dirty="0">
                <a:latin typeface="Tahoma"/>
                <a:cs typeface="Tahoma"/>
              </a:rPr>
              <a:t>as</a:t>
            </a:r>
            <a:r>
              <a:rPr sz="1000" spc="25" dirty="0">
                <a:latin typeface="Tahoma"/>
                <a:cs typeface="Tahoma"/>
              </a:rPr>
              <a:t> </a:t>
            </a:r>
            <a:r>
              <a:rPr sz="1000" spc="-45" dirty="0">
                <a:latin typeface="Tahoma"/>
                <a:cs typeface="Tahoma"/>
              </a:rPr>
              <a:t>follows: </a:t>
            </a:r>
            <a:r>
              <a:rPr sz="1000" spc="-300" dirty="0">
                <a:latin typeface="Tahoma"/>
                <a:cs typeface="Tahoma"/>
              </a:rPr>
              <a:t> </a:t>
            </a:r>
            <a:r>
              <a:rPr sz="1000" spc="-25" dirty="0">
                <a:latin typeface="Tahoma"/>
                <a:cs typeface="Tahoma"/>
              </a:rPr>
              <a:t>f</a:t>
            </a:r>
            <a:r>
              <a:rPr sz="1000" spc="-70" dirty="0">
                <a:latin typeface="Tahoma"/>
                <a:cs typeface="Tahoma"/>
              </a:rPr>
              <a:t>o</a:t>
            </a:r>
            <a:r>
              <a:rPr sz="1000" spc="-25" dirty="0">
                <a:latin typeface="Tahoma"/>
                <a:cs typeface="Tahoma"/>
              </a:rPr>
              <a:t>r</a:t>
            </a:r>
            <a:r>
              <a:rPr sz="1000" spc="20" dirty="0">
                <a:latin typeface="Tahoma"/>
                <a:cs typeface="Tahoma"/>
              </a:rPr>
              <a:t> </a:t>
            </a:r>
            <a:r>
              <a:rPr sz="1000" spc="-55" dirty="0">
                <a:latin typeface="Tahoma"/>
                <a:cs typeface="Tahoma"/>
              </a:rPr>
              <a:t>a</a:t>
            </a:r>
            <a:r>
              <a:rPr sz="1000" spc="-45" dirty="0">
                <a:latin typeface="Tahoma"/>
                <a:cs typeface="Tahoma"/>
              </a:rPr>
              <a:t>ny</a:t>
            </a:r>
            <a:r>
              <a:rPr sz="1000" spc="20" dirty="0">
                <a:latin typeface="Tahoma"/>
                <a:cs typeface="Tahoma"/>
              </a:rPr>
              <a:t> </a:t>
            </a:r>
            <a:r>
              <a:rPr sz="1000" spc="-45" dirty="0">
                <a:latin typeface="Tahoma"/>
                <a:cs typeface="Tahoma"/>
              </a:rPr>
              <a:t>element</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endParaRPr sz="1000">
              <a:latin typeface="Arial"/>
              <a:cs typeface="Arial"/>
            </a:endParaRPr>
          </a:p>
          <a:p>
            <a:pPr marL="12700" marR="1164590" indent="1278890">
              <a:lnSpc>
                <a:spcPts val="2190"/>
              </a:lnSpc>
              <a:spcBef>
                <a:spcPts val="100"/>
              </a:spcBef>
            </a:pPr>
            <a:r>
              <a:rPr sz="1000" dirty="0">
                <a:latin typeface="Tahoma"/>
                <a:cs typeface="Tahoma"/>
              </a:rPr>
              <a:t>(</a:t>
            </a:r>
            <a:r>
              <a:rPr sz="1000" i="1" spc="25" dirty="0">
                <a:latin typeface="Arial"/>
                <a:cs typeface="Arial"/>
              </a:rPr>
              <a:t>f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70" dirty="0">
                <a:latin typeface="Arial"/>
                <a:cs typeface="Arial"/>
              </a:rPr>
              <a:t> </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55" dirty="0">
                <a:latin typeface="Lucida Sans Unicode"/>
                <a:cs typeface="Lucida Sans Unicode"/>
              </a:rPr>
              <a:t>⇌</a:t>
            </a:r>
            <a:r>
              <a:rPr sz="1000" spc="-40" dirty="0">
                <a:latin typeface="Lucida Sans Unicode"/>
                <a:cs typeface="Lucida Sans Unicode"/>
              </a:rPr>
              <a:t> </a:t>
            </a:r>
            <a:r>
              <a:rPr sz="1000" i="1" spc="-60" dirty="0">
                <a:latin typeface="Arial"/>
                <a:cs typeface="Arial"/>
              </a:rPr>
              <a:t>g</a:t>
            </a:r>
            <a:r>
              <a:rPr sz="1000" i="1" spc="-170" dirty="0">
                <a:latin typeface="Arial"/>
                <a:cs typeface="Arial"/>
              </a:rPr>
              <a:t> </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i="1" spc="-70" dirty="0">
                <a:latin typeface="Arial"/>
                <a:cs typeface="Arial"/>
              </a:rPr>
              <a:t>a</a:t>
            </a:r>
            <a:r>
              <a:rPr sz="1000" dirty="0">
                <a:latin typeface="Tahoma"/>
                <a:cs typeface="Tahoma"/>
              </a:rPr>
              <a:t>))  </a:t>
            </a:r>
            <a:r>
              <a:rPr sz="1000" spc="-20" dirty="0">
                <a:latin typeface="Tahoma"/>
                <a:cs typeface="Tahoma"/>
              </a:rPr>
              <a:t>Note,</a:t>
            </a:r>
            <a:r>
              <a:rPr sz="1000" spc="10" dirty="0">
                <a:latin typeface="Tahoma"/>
                <a:cs typeface="Tahoma"/>
              </a:rPr>
              <a:t> </a:t>
            </a:r>
            <a:r>
              <a:rPr sz="1000" spc="-10" dirty="0">
                <a:latin typeface="Tahoma"/>
                <a:cs typeface="Tahoma"/>
              </a:rPr>
              <a:t>that</a:t>
            </a:r>
            <a:r>
              <a:rPr sz="1000" spc="15" dirty="0">
                <a:latin typeface="Tahoma"/>
                <a:cs typeface="Tahoma"/>
              </a:rPr>
              <a:t> </a:t>
            </a:r>
            <a:r>
              <a:rPr sz="1000" spc="-20" dirty="0">
                <a:latin typeface="Tahoma"/>
                <a:cs typeface="Tahoma"/>
              </a:rPr>
              <a:t>this</a:t>
            </a:r>
            <a:r>
              <a:rPr sz="1000" spc="15" dirty="0">
                <a:latin typeface="Tahoma"/>
                <a:cs typeface="Tahoma"/>
              </a:rPr>
              <a:t> </a:t>
            </a:r>
            <a:r>
              <a:rPr sz="1000" spc="-25" dirty="0">
                <a:latin typeface="Tahoma"/>
                <a:cs typeface="Tahoma"/>
              </a:rPr>
              <a:t>definition</a:t>
            </a:r>
            <a:r>
              <a:rPr sz="1000" spc="15" dirty="0">
                <a:latin typeface="Tahoma"/>
                <a:cs typeface="Tahoma"/>
              </a:rPr>
              <a:t> </a:t>
            </a:r>
            <a:r>
              <a:rPr sz="1000" spc="-30" dirty="0">
                <a:latin typeface="Tahoma"/>
                <a:cs typeface="Tahoma"/>
              </a:rPr>
              <a:t>is</a:t>
            </a:r>
            <a:r>
              <a:rPr sz="1000" spc="15" dirty="0">
                <a:latin typeface="Tahoma"/>
                <a:cs typeface="Tahoma"/>
              </a:rPr>
              <a:t> </a:t>
            </a:r>
            <a:r>
              <a:rPr sz="1000" spc="-30" dirty="0">
                <a:latin typeface="Tahoma"/>
                <a:cs typeface="Tahoma"/>
              </a:rPr>
              <a:t>correct.</a:t>
            </a:r>
            <a:endParaRPr sz="1000">
              <a:latin typeface="Tahoma"/>
              <a:cs typeface="Tahoma"/>
            </a:endParaRP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176780" cy="244475"/>
          </a:xfrm>
          <a:prstGeom prst="rect">
            <a:avLst/>
          </a:prstGeom>
        </p:spPr>
        <p:txBody>
          <a:bodyPr vert="horz" wrap="square" lIns="0" tIns="17145" rIns="0" bIns="0" rtlCol="0">
            <a:spAutoFit/>
          </a:bodyPr>
          <a:lstStyle/>
          <a:p>
            <a:pPr marL="12700">
              <a:lnSpc>
                <a:spcPct val="100000"/>
              </a:lnSpc>
              <a:spcBef>
                <a:spcPts val="135"/>
              </a:spcBef>
            </a:pPr>
            <a:r>
              <a:rPr spc="-20" dirty="0"/>
              <a:t>Properties</a:t>
            </a:r>
            <a:r>
              <a:rPr spc="114" dirty="0"/>
              <a:t> </a:t>
            </a:r>
            <a:r>
              <a:rPr spc="-30" dirty="0"/>
              <a:t>of</a:t>
            </a:r>
            <a:r>
              <a:rPr spc="114" dirty="0"/>
              <a:t> </a:t>
            </a:r>
            <a:r>
              <a:rPr spc="-45" dirty="0"/>
              <a:t>composition</a:t>
            </a:r>
          </a:p>
        </p:txBody>
      </p:sp>
      <p:sp>
        <p:nvSpPr>
          <p:cNvPr id="30" name="object 30"/>
          <p:cNvSpPr/>
          <p:nvPr/>
        </p:nvSpPr>
        <p:spPr>
          <a:xfrm>
            <a:off x="698562" y="863815"/>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893742"/>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32" name="object 32"/>
          <p:cNvGrpSpPr/>
          <p:nvPr/>
        </p:nvGrpSpPr>
        <p:grpSpPr>
          <a:xfrm>
            <a:off x="698562" y="920737"/>
            <a:ext cx="3831590" cy="947419"/>
            <a:chOff x="698562" y="920737"/>
            <a:chExt cx="3831590" cy="947419"/>
          </a:xfrm>
        </p:grpSpPr>
        <p:pic>
          <p:nvPicPr>
            <p:cNvPr id="33" name="object 33"/>
            <p:cNvPicPr/>
            <p:nvPr/>
          </p:nvPicPr>
          <p:blipFill>
            <a:blip r:embed="rId7" cstate="print"/>
            <a:stretch>
              <a:fillRect/>
            </a:stretch>
          </p:blipFill>
          <p:spPr>
            <a:xfrm>
              <a:off x="698563" y="1027036"/>
              <a:ext cx="3780284" cy="50609"/>
            </a:xfrm>
            <a:prstGeom prst="rect">
              <a:avLst/>
            </a:prstGeom>
          </p:spPr>
        </p:pic>
        <p:sp>
          <p:nvSpPr>
            <p:cNvPr id="34" name="object 34"/>
            <p:cNvSpPr/>
            <p:nvPr/>
          </p:nvSpPr>
          <p:spPr>
            <a:xfrm>
              <a:off x="749363" y="920737"/>
              <a:ext cx="3780790" cy="947419"/>
            </a:xfrm>
            <a:custGeom>
              <a:avLst/>
              <a:gdLst/>
              <a:ahLst/>
              <a:cxnLst/>
              <a:rect l="l" t="t" r="r" b="b"/>
              <a:pathLst>
                <a:path w="3780790" h="947419">
                  <a:moveTo>
                    <a:pt x="3780285" y="0"/>
                  </a:moveTo>
                  <a:lnTo>
                    <a:pt x="0" y="0"/>
                  </a:lnTo>
                  <a:lnTo>
                    <a:pt x="0" y="947318"/>
                  </a:lnTo>
                  <a:lnTo>
                    <a:pt x="3780285" y="947318"/>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071306"/>
              <a:ext cx="3780790" cy="746125"/>
            </a:xfrm>
            <a:custGeom>
              <a:avLst/>
              <a:gdLst/>
              <a:ahLst/>
              <a:cxnLst/>
              <a:rect l="l" t="t" r="r" b="b"/>
              <a:pathLst>
                <a:path w="3780790" h="746125">
                  <a:moveTo>
                    <a:pt x="3780285" y="0"/>
                  </a:moveTo>
                  <a:lnTo>
                    <a:pt x="0" y="0"/>
                  </a:lnTo>
                  <a:lnTo>
                    <a:pt x="0" y="695148"/>
                  </a:lnTo>
                  <a:lnTo>
                    <a:pt x="4008" y="714873"/>
                  </a:lnTo>
                  <a:lnTo>
                    <a:pt x="14922" y="731026"/>
                  </a:lnTo>
                  <a:lnTo>
                    <a:pt x="31075" y="741940"/>
                  </a:lnTo>
                  <a:lnTo>
                    <a:pt x="50800" y="745949"/>
                  </a:lnTo>
                  <a:lnTo>
                    <a:pt x="3729484" y="745949"/>
                  </a:lnTo>
                  <a:lnTo>
                    <a:pt x="3749209" y="741940"/>
                  </a:lnTo>
                  <a:lnTo>
                    <a:pt x="3765362" y="731026"/>
                  </a:lnTo>
                  <a:lnTo>
                    <a:pt x="3776276" y="714873"/>
                  </a:lnTo>
                  <a:lnTo>
                    <a:pt x="3780285" y="695148"/>
                  </a:lnTo>
                  <a:lnTo>
                    <a:pt x="3780285" y="0"/>
                  </a:lnTo>
                  <a:close/>
                </a:path>
              </a:pathLst>
            </a:custGeom>
            <a:solidFill>
              <a:srgbClr val="E9E9F2"/>
            </a:solidFill>
          </p:spPr>
          <p:txBody>
            <a:bodyPr wrap="square" lIns="0" tIns="0" rIns="0" bIns="0" rtlCol="0"/>
            <a:lstStyle/>
            <a:p>
              <a:endParaRPr/>
            </a:p>
          </p:txBody>
        </p:sp>
      </p:grpSp>
      <p:sp>
        <p:nvSpPr>
          <p:cNvPr id="36" name="object 36"/>
          <p:cNvSpPr txBox="1"/>
          <p:nvPr/>
        </p:nvSpPr>
        <p:spPr>
          <a:xfrm>
            <a:off x="749363" y="1045253"/>
            <a:ext cx="3371850" cy="177800"/>
          </a:xfrm>
          <a:prstGeom prst="rect">
            <a:avLst/>
          </a:prstGeom>
        </p:spPr>
        <p:txBody>
          <a:bodyPr vert="horz" wrap="square" lIns="0" tIns="12065" rIns="0" bIns="0" rtlCol="0">
            <a:spAutoFit/>
          </a:bodyPr>
          <a:lstStyle/>
          <a:p>
            <a:pPr>
              <a:lnSpc>
                <a:spcPct val="100000"/>
              </a:lnSpc>
              <a:spcBef>
                <a:spcPts val="95"/>
              </a:spcBef>
            </a:pPr>
            <a:r>
              <a:rPr sz="1000" spc="-10" dirty="0">
                <a:latin typeface="Tahoma"/>
                <a:cs typeface="Tahoma"/>
              </a:rPr>
              <a:t>Let</a:t>
            </a:r>
            <a:r>
              <a:rPr sz="1000" spc="15"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40"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75" dirty="0">
                <a:latin typeface="Arial"/>
                <a:cs typeface="Arial"/>
              </a:rPr>
              <a:t>B</a:t>
            </a:r>
            <a:r>
              <a:rPr sz="1000" spc="-30" dirty="0">
                <a:latin typeface="Tahoma"/>
                <a:cs typeface="Tahoma"/>
              </a:rPr>
              <a:t>,</a:t>
            </a:r>
            <a:r>
              <a:rPr sz="1000" spc="20" dirty="0">
                <a:latin typeface="Tahoma"/>
                <a:cs typeface="Tahoma"/>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B</a:t>
            </a:r>
            <a:r>
              <a:rPr sz="1000" i="1" spc="80"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r>
              <a:rPr sz="1000" i="1" dirty="0">
                <a:latin typeface="Arial"/>
                <a:cs typeface="Arial"/>
              </a:rPr>
              <a:t> </a:t>
            </a:r>
            <a:r>
              <a:rPr sz="1000" i="1" spc="-105" dirty="0">
                <a:latin typeface="Arial"/>
                <a:cs typeface="Arial"/>
              </a:rPr>
              <a:t> </a:t>
            </a:r>
            <a:r>
              <a:rPr sz="1000" spc="-45" dirty="0">
                <a:latin typeface="Tahoma"/>
                <a:cs typeface="Tahoma"/>
              </a:rPr>
              <a:t>and</a:t>
            </a:r>
            <a:r>
              <a:rPr sz="1000" spc="20" dirty="0">
                <a:latin typeface="Tahoma"/>
                <a:cs typeface="Tahoma"/>
              </a:rPr>
              <a:t> </a:t>
            </a:r>
            <a:r>
              <a:rPr sz="1000" i="1" spc="-45" dirty="0">
                <a:latin typeface="Arial"/>
                <a:cs typeface="Arial"/>
              </a:rPr>
              <a:t>h</a:t>
            </a:r>
            <a:r>
              <a:rPr sz="1000" i="1" spc="15" dirty="0">
                <a:latin typeface="Arial"/>
                <a:cs typeface="Arial"/>
              </a:rPr>
              <a:t> </a:t>
            </a:r>
            <a:r>
              <a:rPr sz="1000" spc="-80" dirty="0">
                <a:latin typeface="Tahoma"/>
                <a:cs typeface="Tahoma"/>
              </a:rPr>
              <a:t>:</a:t>
            </a:r>
            <a:r>
              <a:rPr sz="1000" spc="-35" dirty="0">
                <a:latin typeface="Tahoma"/>
                <a:cs typeface="Tahoma"/>
              </a:rPr>
              <a:t> </a:t>
            </a:r>
            <a:r>
              <a:rPr sz="1000" i="1" spc="-90" dirty="0">
                <a:latin typeface="Arial"/>
                <a:cs typeface="Arial"/>
              </a:rPr>
              <a:t>C</a:t>
            </a:r>
            <a:r>
              <a:rPr sz="1000" i="1" spc="114"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D</a:t>
            </a:r>
            <a:r>
              <a:rPr sz="1000" i="1" spc="125" dirty="0">
                <a:latin typeface="Arial"/>
                <a:cs typeface="Arial"/>
              </a:rPr>
              <a:t> </a:t>
            </a:r>
            <a:r>
              <a:rPr sz="1000" spc="-15" dirty="0">
                <a:latin typeface="Tahoma"/>
                <a:cs typeface="Tahoma"/>
              </a:rPr>
              <a:t>b</a:t>
            </a:r>
            <a:r>
              <a:rPr sz="1000" spc="-85" dirty="0">
                <a:latin typeface="Tahoma"/>
                <a:cs typeface="Tahoma"/>
              </a:rPr>
              <a:t>e</a:t>
            </a:r>
            <a:r>
              <a:rPr sz="1000" spc="15" dirty="0">
                <a:latin typeface="Tahoma"/>
                <a:cs typeface="Tahoma"/>
              </a:rPr>
              <a:t> </a:t>
            </a:r>
            <a:r>
              <a:rPr sz="1000" spc="-40" dirty="0">
                <a:latin typeface="Tahoma"/>
                <a:cs typeface="Tahoma"/>
              </a:rPr>
              <a:t>mappings.</a:t>
            </a:r>
            <a:r>
              <a:rPr sz="1000" spc="130" dirty="0">
                <a:latin typeface="Tahoma"/>
                <a:cs typeface="Tahoma"/>
              </a:rPr>
              <a:t> </a:t>
            </a:r>
            <a:r>
              <a:rPr sz="1000" spc="-35" dirty="0">
                <a:latin typeface="Tahoma"/>
                <a:cs typeface="Tahoma"/>
              </a:rPr>
              <a:t>Then:</a:t>
            </a:r>
            <a:endParaRPr sz="1000">
              <a:latin typeface="Tahoma"/>
              <a:cs typeface="Tahoma"/>
            </a:endParaRPr>
          </a:p>
        </p:txBody>
      </p:sp>
      <p:grpSp>
        <p:nvGrpSpPr>
          <p:cNvPr id="37" name="object 37"/>
          <p:cNvGrpSpPr/>
          <p:nvPr/>
        </p:nvGrpSpPr>
        <p:grpSpPr>
          <a:xfrm>
            <a:off x="830757" y="1285573"/>
            <a:ext cx="104775" cy="484505"/>
            <a:chOff x="830757" y="1285573"/>
            <a:chExt cx="104775" cy="484505"/>
          </a:xfrm>
        </p:grpSpPr>
        <p:pic>
          <p:nvPicPr>
            <p:cNvPr id="38" name="object 38"/>
            <p:cNvPicPr/>
            <p:nvPr/>
          </p:nvPicPr>
          <p:blipFill>
            <a:blip r:embed="rId8" cstate="print"/>
            <a:stretch>
              <a:fillRect/>
            </a:stretch>
          </p:blipFill>
          <p:spPr>
            <a:xfrm>
              <a:off x="830757" y="1285573"/>
              <a:ext cx="104301" cy="104301"/>
            </a:xfrm>
            <a:prstGeom prst="rect">
              <a:avLst/>
            </a:prstGeom>
          </p:spPr>
        </p:pic>
        <p:pic>
          <p:nvPicPr>
            <p:cNvPr id="39" name="object 39"/>
            <p:cNvPicPr/>
            <p:nvPr/>
          </p:nvPicPr>
          <p:blipFill>
            <a:blip r:embed="rId8" cstate="print"/>
            <a:stretch>
              <a:fillRect/>
            </a:stretch>
          </p:blipFill>
          <p:spPr>
            <a:xfrm>
              <a:off x="830757" y="1475362"/>
              <a:ext cx="104301" cy="104301"/>
            </a:xfrm>
            <a:prstGeom prst="rect">
              <a:avLst/>
            </a:prstGeom>
          </p:spPr>
        </p:pic>
        <p:pic>
          <p:nvPicPr>
            <p:cNvPr id="40" name="object 40"/>
            <p:cNvPicPr/>
            <p:nvPr/>
          </p:nvPicPr>
          <p:blipFill>
            <a:blip r:embed="rId8" cstate="print"/>
            <a:stretch>
              <a:fillRect/>
            </a:stretch>
          </p:blipFill>
          <p:spPr>
            <a:xfrm>
              <a:off x="830757" y="1665150"/>
              <a:ext cx="104301" cy="104301"/>
            </a:xfrm>
            <a:prstGeom prst="rect">
              <a:avLst/>
            </a:prstGeom>
          </p:spPr>
        </p:pic>
      </p:grpSp>
      <p:sp>
        <p:nvSpPr>
          <p:cNvPr id="41" name="object 41"/>
          <p:cNvSpPr txBox="1"/>
          <p:nvPr/>
        </p:nvSpPr>
        <p:spPr>
          <a:xfrm>
            <a:off x="866114" y="1276193"/>
            <a:ext cx="46355" cy="481330"/>
          </a:xfrm>
          <a:prstGeom prst="rect">
            <a:avLst/>
          </a:prstGeom>
        </p:spPr>
        <p:txBody>
          <a:bodyPr vert="horz" wrap="square" lIns="0" tIns="12065" rIns="0" bIns="0" rtlCol="0">
            <a:spAutoFit/>
          </a:bodyPr>
          <a:lstStyle/>
          <a:p>
            <a:pPr>
              <a:lnSpc>
                <a:spcPct val="100000"/>
              </a:lnSpc>
              <a:spcBef>
                <a:spcPts val="95"/>
              </a:spcBef>
            </a:pPr>
            <a:r>
              <a:rPr sz="500" spc="-15" dirty="0">
                <a:solidFill>
                  <a:srgbClr val="FFFFFF"/>
                </a:solidFill>
                <a:latin typeface="Microsoft Sans Serif"/>
                <a:cs typeface="Microsoft Sans Serif"/>
              </a:rPr>
              <a:t>1</a:t>
            </a:r>
            <a:endParaRPr sz="500">
              <a:latin typeface="Microsoft Sans Serif"/>
              <a:cs typeface="Microsoft Sans Serif"/>
            </a:endParaRPr>
          </a:p>
          <a:p>
            <a:pPr>
              <a:lnSpc>
                <a:spcPct val="100000"/>
              </a:lnSpc>
            </a:pPr>
            <a:endParaRPr sz="500">
              <a:latin typeface="Microsoft Sans Serif"/>
              <a:cs typeface="Microsoft Sans Serif"/>
            </a:endParaRPr>
          </a:p>
          <a:p>
            <a:pPr>
              <a:lnSpc>
                <a:spcPct val="100000"/>
              </a:lnSpc>
              <a:spcBef>
                <a:spcPts val="330"/>
              </a:spcBef>
            </a:pPr>
            <a:r>
              <a:rPr sz="500" spc="-15" dirty="0">
                <a:solidFill>
                  <a:srgbClr val="FFFFFF"/>
                </a:solidFill>
                <a:latin typeface="Microsoft Sans Serif"/>
                <a:cs typeface="Microsoft Sans Serif"/>
              </a:rPr>
              <a:t>2</a:t>
            </a:r>
            <a:endParaRPr sz="500">
              <a:latin typeface="Microsoft Sans Serif"/>
              <a:cs typeface="Microsoft Sans Serif"/>
            </a:endParaRPr>
          </a:p>
          <a:p>
            <a:pPr>
              <a:lnSpc>
                <a:spcPct val="100000"/>
              </a:lnSpc>
            </a:pPr>
            <a:endParaRPr sz="500">
              <a:latin typeface="Microsoft Sans Serif"/>
              <a:cs typeface="Microsoft Sans Serif"/>
            </a:endParaRPr>
          </a:p>
          <a:p>
            <a:pPr>
              <a:lnSpc>
                <a:spcPct val="100000"/>
              </a:lnSpc>
              <a:spcBef>
                <a:spcPts val="330"/>
              </a:spcBef>
            </a:pPr>
            <a:r>
              <a:rPr sz="500" spc="-15" dirty="0">
                <a:solidFill>
                  <a:srgbClr val="FFFFFF"/>
                </a:solidFill>
                <a:latin typeface="Microsoft Sans Serif"/>
                <a:cs typeface="Microsoft Sans Serif"/>
              </a:rPr>
              <a:t>3</a:t>
            </a:r>
            <a:endParaRPr sz="500">
              <a:latin typeface="Microsoft Sans Serif"/>
              <a:cs typeface="Microsoft Sans Serif"/>
            </a:endParaRPr>
          </a:p>
        </p:txBody>
      </p:sp>
      <p:sp>
        <p:nvSpPr>
          <p:cNvPr id="42" name="object 42"/>
          <p:cNvSpPr txBox="1"/>
          <p:nvPr/>
        </p:nvSpPr>
        <p:spPr>
          <a:xfrm>
            <a:off x="977011" y="1197083"/>
            <a:ext cx="2880360" cy="594995"/>
          </a:xfrm>
          <a:prstGeom prst="rect">
            <a:avLst/>
          </a:prstGeom>
        </p:spPr>
        <p:txBody>
          <a:bodyPr vert="horz" wrap="square" lIns="0" tIns="50165" rIns="0" bIns="0" rtlCol="0">
            <a:spAutoFit/>
          </a:bodyPr>
          <a:lstStyle/>
          <a:p>
            <a:pPr marL="25400">
              <a:lnSpc>
                <a:spcPct val="100000"/>
              </a:lnSpc>
              <a:spcBef>
                <a:spcPts val="395"/>
              </a:spcBef>
            </a:pPr>
            <a:r>
              <a:rPr sz="1000" dirty="0">
                <a:latin typeface="Tahoma"/>
                <a:cs typeface="Tahoma"/>
              </a:rPr>
              <a:t>(</a:t>
            </a:r>
            <a:r>
              <a:rPr sz="1000" i="1" spc="25" dirty="0">
                <a:latin typeface="Arial"/>
                <a:cs typeface="Arial"/>
              </a:rPr>
              <a:t>f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70" dirty="0">
                <a:latin typeface="Arial"/>
                <a:cs typeface="Arial"/>
              </a:rPr>
              <a:t> </a:t>
            </a:r>
            <a:r>
              <a:rPr sz="1000" dirty="0">
                <a:latin typeface="Tahoma"/>
                <a:cs typeface="Tahoma"/>
              </a:rPr>
              <a:t>)</a:t>
            </a:r>
            <a:r>
              <a:rPr sz="1000" spc="-95" dirty="0">
                <a:latin typeface="Tahoma"/>
                <a:cs typeface="Tahoma"/>
              </a:rPr>
              <a:t> </a:t>
            </a:r>
            <a:r>
              <a:rPr sz="1000" spc="-65" dirty="0">
                <a:latin typeface="Lucida Sans Unicode"/>
                <a:cs typeface="Lucida Sans Unicode"/>
              </a:rPr>
              <a:t>◦</a:t>
            </a:r>
            <a:r>
              <a:rPr sz="1000" spc="-95" dirty="0">
                <a:latin typeface="Lucida Sans Unicode"/>
                <a:cs typeface="Lucida Sans Unicode"/>
              </a:rPr>
              <a:t> </a:t>
            </a:r>
            <a:r>
              <a:rPr sz="1000" i="1" spc="-45" dirty="0">
                <a:latin typeface="Arial"/>
                <a:cs typeface="Arial"/>
              </a:rPr>
              <a:t>h</a:t>
            </a:r>
            <a:r>
              <a:rPr sz="1000" i="1" spc="15" dirty="0">
                <a:latin typeface="Arial"/>
                <a:cs typeface="Arial"/>
              </a:rPr>
              <a:t> </a:t>
            </a:r>
            <a:r>
              <a:rPr sz="1000" spc="45" dirty="0">
                <a:latin typeface="Tahoma"/>
                <a:cs typeface="Tahoma"/>
              </a:rPr>
              <a:t>=</a:t>
            </a:r>
            <a:r>
              <a:rPr sz="1000" spc="-35" dirty="0">
                <a:latin typeface="Tahoma"/>
                <a:cs typeface="Tahoma"/>
              </a:rPr>
              <a:t> </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60" dirty="0">
                <a:latin typeface="Arial"/>
                <a:cs typeface="Arial"/>
              </a:rPr>
              <a:t>g</a:t>
            </a:r>
            <a:r>
              <a:rPr sz="1000" i="1" spc="5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30" dirty="0">
                <a:latin typeface="Arial"/>
                <a:cs typeface="Arial"/>
              </a:rPr>
              <a:t>h</a:t>
            </a:r>
            <a:r>
              <a:rPr sz="1000" dirty="0">
                <a:latin typeface="Tahoma"/>
                <a:cs typeface="Tahoma"/>
              </a:rPr>
              <a:t>)</a:t>
            </a:r>
            <a:r>
              <a:rPr sz="1000" spc="20" dirty="0">
                <a:latin typeface="Tahoma"/>
                <a:cs typeface="Tahoma"/>
              </a:rPr>
              <a:t> </a:t>
            </a:r>
            <a:r>
              <a:rPr sz="1000" spc="-35" dirty="0">
                <a:latin typeface="Tahoma"/>
                <a:cs typeface="Tahoma"/>
              </a:rPr>
              <a:t>-</a:t>
            </a:r>
            <a:r>
              <a:rPr sz="1000" spc="20" dirty="0">
                <a:latin typeface="Tahoma"/>
                <a:cs typeface="Tahoma"/>
              </a:rPr>
              <a:t> </a:t>
            </a:r>
            <a:r>
              <a:rPr sz="1000" spc="-55" dirty="0">
                <a:latin typeface="Tahoma"/>
                <a:cs typeface="Tahoma"/>
              </a:rPr>
              <a:t>ass</a:t>
            </a:r>
            <a:r>
              <a:rPr sz="1000" spc="-40" dirty="0">
                <a:latin typeface="Tahoma"/>
                <a:cs typeface="Tahoma"/>
              </a:rPr>
              <a:t>o</a:t>
            </a:r>
            <a:r>
              <a:rPr sz="1000" spc="-20" dirty="0">
                <a:latin typeface="Tahoma"/>
                <a:cs typeface="Tahoma"/>
              </a:rPr>
              <a:t>c</a:t>
            </a:r>
            <a:r>
              <a:rPr sz="1000" spc="-15" dirty="0">
                <a:latin typeface="Tahoma"/>
                <a:cs typeface="Tahoma"/>
              </a:rPr>
              <a:t>i</a:t>
            </a:r>
            <a:r>
              <a:rPr sz="1000" spc="-35" dirty="0">
                <a:latin typeface="Tahoma"/>
                <a:cs typeface="Tahoma"/>
              </a:rPr>
              <a:t>a</a:t>
            </a:r>
            <a:r>
              <a:rPr sz="1000" spc="-5" dirty="0">
                <a:latin typeface="Tahoma"/>
                <a:cs typeface="Tahoma"/>
              </a:rPr>
              <a:t>tiv</a:t>
            </a:r>
            <a:r>
              <a:rPr sz="1000" dirty="0">
                <a:latin typeface="Tahoma"/>
                <a:cs typeface="Tahoma"/>
              </a:rPr>
              <a:t>i</a:t>
            </a:r>
            <a:r>
              <a:rPr sz="1000" spc="-5" dirty="0">
                <a:latin typeface="Tahoma"/>
                <a:cs typeface="Tahoma"/>
              </a:rPr>
              <a:t>t</a:t>
            </a:r>
            <a:r>
              <a:rPr sz="1000" spc="-40" dirty="0">
                <a:latin typeface="Tahoma"/>
                <a:cs typeface="Tahoma"/>
              </a:rPr>
              <a:t>y</a:t>
            </a:r>
            <a:r>
              <a:rPr sz="1000" spc="15" dirty="0">
                <a:latin typeface="Tahoma"/>
                <a:cs typeface="Tahoma"/>
              </a:rPr>
              <a:t> </a:t>
            </a:r>
            <a:r>
              <a:rPr sz="1000" spc="-30" dirty="0">
                <a:latin typeface="Tahoma"/>
                <a:cs typeface="Tahoma"/>
              </a:rPr>
              <a:t>of</a:t>
            </a:r>
            <a:r>
              <a:rPr sz="1000" spc="15" dirty="0">
                <a:latin typeface="Tahoma"/>
                <a:cs typeface="Tahoma"/>
              </a:rPr>
              <a:t> </a:t>
            </a:r>
            <a:r>
              <a:rPr sz="1000" spc="-65" dirty="0">
                <a:latin typeface="Lucida Sans Unicode"/>
                <a:cs typeface="Lucida Sans Unicode"/>
              </a:rPr>
              <a:t>◦</a:t>
            </a:r>
            <a:r>
              <a:rPr sz="1000" spc="15" dirty="0">
                <a:latin typeface="Lucida Sans Unicode"/>
                <a:cs typeface="Lucida Sans Unicode"/>
              </a:rPr>
              <a:t> </a:t>
            </a:r>
            <a:r>
              <a:rPr sz="1000" spc="-45" dirty="0">
                <a:latin typeface="Tahoma"/>
                <a:cs typeface="Tahoma"/>
              </a:rPr>
              <a:t>o</a:t>
            </a:r>
            <a:r>
              <a:rPr sz="1000" spc="-20" dirty="0">
                <a:latin typeface="Tahoma"/>
                <a:cs typeface="Tahoma"/>
              </a:rPr>
              <a:t>p</a:t>
            </a:r>
            <a:r>
              <a:rPr sz="1000" spc="-30" dirty="0">
                <a:latin typeface="Tahoma"/>
                <a:cs typeface="Tahoma"/>
              </a:rPr>
              <a:t>eration</a:t>
            </a:r>
            <a:endParaRPr sz="1000">
              <a:latin typeface="Tahoma"/>
              <a:cs typeface="Tahoma"/>
            </a:endParaRPr>
          </a:p>
          <a:p>
            <a:pPr marL="25400" marR="2282190">
              <a:lnSpc>
                <a:spcPct val="124500"/>
              </a:lnSpc>
            </a:pPr>
            <a:r>
              <a:rPr sz="1000" i="1" spc="25" dirty="0">
                <a:latin typeface="Arial"/>
                <a:cs typeface="Arial"/>
              </a:rPr>
              <a:t>f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15" dirty="0">
                <a:latin typeface="Arial"/>
                <a:cs typeface="Arial"/>
              </a:rPr>
              <a:t>id</a:t>
            </a:r>
            <a:r>
              <a:rPr sz="1050" i="1" spc="37" baseline="-11904" dirty="0">
                <a:latin typeface="Arial"/>
                <a:cs typeface="Arial"/>
              </a:rPr>
              <a:t>B</a:t>
            </a:r>
            <a:r>
              <a:rPr sz="1050" i="1" baseline="-11904" dirty="0">
                <a:latin typeface="Arial"/>
                <a:cs typeface="Arial"/>
              </a:rPr>
              <a:t> </a:t>
            </a:r>
            <a:r>
              <a:rPr sz="1050" i="1" spc="-15" baseline="-11904" dirty="0">
                <a:latin typeface="Arial"/>
                <a:cs typeface="Arial"/>
              </a:rPr>
              <a:t> </a:t>
            </a:r>
            <a:r>
              <a:rPr sz="1000" spc="45" dirty="0">
                <a:latin typeface="Tahoma"/>
                <a:cs typeface="Tahoma"/>
              </a:rPr>
              <a:t>=</a:t>
            </a:r>
            <a:r>
              <a:rPr sz="1000" spc="-35" dirty="0">
                <a:latin typeface="Tahoma"/>
                <a:cs typeface="Tahoma"/>
              </a:rPr>
              <a:t> </a:t>
            </a:r>
            <a:r>
              <a:rPr sz="1000" i="1" spc="25" dirty="0">
                <a:latin typeface="Arial"/>
                <a:cs typeface="Arial"/>
              </a:rPr>
              <a:t>f  </a:t>
            </a:r>
            <a:r>
              <a:rPr sz="1000" i="1" spc="-15" dirty="0">
                <a:latin typeface="Arial"/>
                <a:cs typeface="Arial"/>
              </a:rPr>
              <a:t>id</a:t>
            </a:r>
            <a:r>
              <a:rPr sz="1050" i="1" spc="37" baseline="-11904" dirty="0">
                <a:latin typeface="Arial"/>
                <a:cs typeface="Arial"/>
              </a:rPr>
              <a:t>A</a:t>
            </a:r>
            <a:r>
              <a:rPr sz="1050" i="1" spc="112" baseline="-11904"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25" dirty="0">
                <a:latin typeface="Arial"/>
                <a:cs typeface="Arial"/>
              </a:rPr>
              <a:t>f</a:t>
            </a:r>
            <a:r>
              <a:rPr sz="1000" i="1" dirty="0">
                <a:latin typeface="Arial"/>
                <a:cs typeface="Arial"/>
              </a:rPr>
              <a:t> </a:t>
            </a:r>
            <a:r>
              <a:rPr sz="1000" i="1" spc="-65" dirty="0">
                <a:latin typeface="Arial"/>
                <a:cs typeface="Arial"/>
              </a:rPr>
              <a:t> </a:t>
            </a:r>
            <a:r>
              <a:rPr sz="1000" spc="45" dirty="0">
                <a:latin typeface="Tahoma"/>
                <a:cs typeface="Tahoma"/>
              </a:rPr>
              <a:t>=</a:t>
            </a:r>
            <a:r>
              <a:rPr sz="1000" spc="-35" dirty="0">
                <a:latin typeface="Tahoma"/>
                <a:cs typeface="Tahoma"/>
              </a:rPr>
              <a:t> </a:t>
            </a:r>
            <a:r>
              <a:rPr sz="1000" i="1" spc="25" dirty="0">
                <a:latin typeface="Arial"/>
                <a:cs typeface="Arial"/>
              </a:rPr>
              <a:t>f</a:t>
            </a:r>
            <a:endParaRPr sz="1000">
              <a:latin typeface="Arial"/>
              <a:cs typeface="Arial"/>
            </a:endParaRPr>
          </a:p>
        </p:txBody>
      </p:sp>
      <p:sp>
        <p:nvSpPr>
          <p:cNvPr id="43" name="object 43"/>
          <p:cNvSpPr/>
          <p:nvPr/>
        </p:nvSpPr>
        <p:spPr>
          <a:xfrm>
            <a:off x="698562" y="1969172"/>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4" name="object 44"/>
          <p:cNvSpPr txBox="1"/>
          <p:nvPr/>
        </p:nvSpPr>
        <p:spPr>
          <a:xfrm>
            <a:off x="749363" y="1999112"/>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45" name="object 45"/>
          <p:cNvGrpSpPr/>
          <p:nvPr/>
        </p:nvGrpSpPr>
        <p:grpSpPr>
          <a:xfrm>
            <a:off x="698562" y="2026105"/>
            <a:ext cx="3831590" cy="1137285"/>
            <a:chOff x="698562" y="2026105"/>
            <a:chExt cx="3831590" cy="1137285"/>
          </a:xfrm>
        </p:grpSpPr>
        <p:pic>
          <p:nvPicPr>
            <p:cNvPr id="46" name="object 46"/>
            <p:cNvPicPr/>
            <p:nvPr/>
          </p:nvPicPr>
          <p:blipFill>
            <a:blip r:embed="rId7" cstate="print"/>
            <a:stretch>
              <a:fillRect/>
            </a:stretch>
          </p:blipFill>
          <p:spPr>
            <a:xfrm>
              <a:off x="698563" y="2126780"/>
              <a:ext cx="3780284" cy="50609"/>
            </a:xfrm>
            <a:prstGeom prst="rect">
              <a:avLst/>
            </a:prstGeom>
          </p:spPr>
        </p:pic>
        <p:sp>
          <p:nvSpPr>
            <p:cNvPr id="47" name="object 47"/>
            <p:cNvSpPr/>
            <p:nvPr/>
          </p:nvSpPr>
          <p:spPr>
            <a:xfrm>
              <a:off x="749363" y="2026105"/>
              <a:ext cx="3780790" cy="1137285"/>
            </a:xfrm>
            <a:custGeom>
              <a:avLst/>
              <a:gdLst/>
              <a:ahLst/>
              <a:cxnLst/>
              <a:rect l="l" t="t" r="r" b="b"/>
              <a:pathLst>
                <a:path w="3780790" h="1137285">
                  <a:moveTo>
                    <a:pt x="3780285" y="0"/>
                  </a:moveTo>
                  <a:lnTo>
                    <a:pt x="0" y="0"/>
                  </a:lnTo>
                  <a:lnTo>
                    <a:pt x="0" y="1137109"/>
                  </a:lnTo>
                  <a:lnTo>
                    <a:pt x="3780285" y="1137109"/>
                  </a:lnTo>
                  <a:lnTo>
                    <a:pt x="3780285" y="0"/>
                  </a:lnTo>
                  <a:close/>
                </a:path>
              </a:pathLst>
            </a:custGeom>
            <a:solidFill>
              <a:srgbClr val="000000"/>
            </a:solidFill>
          </p:spPr>
          <p:txBody>
            <a:bodyPr wrap="square" lIns="0" tIns="0" rIns="0" bIns="0" rtlCol="0"/>
            <a:lstStyle/>
            <a:p>
              <a:endParaRPr/>
            </a:p>
          </p:txBody>
        </p:sp>
        <p:sp>
          <p:nvSpPr>
            <p:cNvPr id="48" name="object 48"/>
            <p:cNvSpPr/>
            <p:nvPr/>
          </p:nvSpPr>
          <p:spPr>
            <a:xfrm>
              <a:off x="698562" y="2171051"/>
              <a:ext cx="3780790" cy="941705"/>
            </a:xfrm>
            <a:custGeom>
              <a:avLst/>
              <a:gdLst/>
              <a:ahLst/>
              <a:cxnLst/>
              <a:rect l="l" t="t" r="r" b="b"/>
              <a:pathLst>
                <a:path w="3780790" h="941705">
                  <a:moveTo>
                    <a:pt x="3780285" y="0"/>
                  </a:moveTo>
                  <a:lnTo>
                    <a:pt x="0" y="0"/>
                  </a:lnTo>
                  <a:lnTo>
                    <a:pt x="0" y="890563"/>
                  </a:lnTo>
                  <a:lnTo>
                    <a:pt x="4008" y="910288"/>
                  </a:lnTo>
                  <a:lnTo>
                    <a:pt x="14922" y="926441"/>
                  </a:lnTo>
                  <a:lnTo>
                    <a:pt x="31075" y="937355"/>
                  </a:lnTo>
                  <a:lnTo>
                    <a:pt x="50800" y="941363"/>
                  </a:lnTo>
                  <a:lnTo>
                    <a:pt x="3729484" y="941363"/>
                  </a:lnTo>
                  <a:lnTo>
                    <a:pt x="3749209" y="937355"/>
                  </a:lnTo>
                  <a:lnTo>
                    <a:pt x="3765362" y="926441"/>
                  </a:lnTo>
                  <a:lnTo>
                    <a:pt x="3776276" y="910288"/>
                  </a:lnTo>
                  <a:lnTo>
                    <a:pt x="3780285" y="890563"/>
                  </a:lnTo>
                  <a:lnTo>
                    <a:pt x="3780285" y="0"/>
                  </a:lnTo>
                  <a:close/>
                </a:path>
              </a:pathLst>
            </a:custGeom>
            <a:solidFill>
              <a:srgbClr val="E9E9F2"/>
            </a:solidFill>
          </p:spPr>
          <p:txBody>
            <a:bodyPr wrap="square" lIns="0" tIns="0" rIns="0" bIns="0" rtlCol="0"/>
            <a:lstStyle/>
            <a:p>
              <a:endParaRPr/>
            </a:p>
          </p:txBody>
        </p:sp>
      </p:grpSp>
      <p:sp>
        <p:nvSpPr>
          <p:cNvPr id="49" name="object 49"/>
          <p:cNvSpPr txBox="1"/>
          <p:nvPr/>
        </p:nvSpPr>
        <p:spPr>
          <a:xfrm>
            <a:off x="749363" y="2145009"/>
            <a:ext cx="3691254" cy="177800"/>
          </a:xfrm>
          <a:prstGeom prst="rect">
            <a:avLst/>
          </a:prstGeom>
        </p:spPr>
        <p:txBody>
          <a:bodyPr vert="horz" wrap="square" lIns="0" tIns="12065" rIns="0" bIns="0" rtlCol="0">
            <a:spAutoFit/>
          </a:bodyPr>
          <a:lstStyle/>
          <a:p>
            <a:pPr>
              <a:lnSpc>
                <a:spcPct val="100000"/>
              </a:lnSpc>
              <a:spcBef>
                <a:spcPts val="95"/>
              </a:spcBef>
            </a:pPr>
            <a:r>
              <a:rPr sz="1000" spc="-50" dirty="0">
                <a:latin typeface="Tahoma"/>
                <a:cs typeface="Tahoma"/>
              </a:rPr>
              <a:t>2</a:t>
            </a:r>
            <a:r>
              <a:rPr sz="1000" spc="10" dirty="0">
                <a:latin typeface="Tahoma"/>
                <a:cs typeface="Tahoma"/>
              </a:rPr>
              <a:t> </a:t>
            </a:r>
            <a:r>
              <a:rPr sz="1000" spc="-45" dirty="0">
                <a:latin typeface="Tahoma"/>
                <a:cs typeface="Tahoma"/>
              </a:rPr>
              <a:t>and</a:t>
            </a:r>
            <a:r>
              <a:rPr sz="1000" spc="10" dirty="0">
                <a:latin typeface="Tahoma"/>
                <a:cs typeface="Tahoma"/>
              </a:rPr>
              <a:t> </a:t>
            </a:r>
            <a:r>
              <a:rPr sz="1000" spc="-50" dirty="0">
                <a:latin typeface="Tahoma"/>
                <a:cs typeface="Tahoma"/>
              </a:rPr>
              <a:t>3</a:t>
            </a:r>
            <a:r>
              <a:rPr sz="1000" spc="10" dirty="0">
                <a:latin typeface="Tahoma"/>
                <a:cs typeface="Tahoma"/>
              </a:rPr>
              <a:t> </a:t>
            </a:r>
            <a:r>
              <a:rPr sz="1000" spc="-30" dirty="0">
                <a:latin typeface="Tahoma"/>
                <a:cs typeface="Tahoma"/>
              </a:rPr>
              <a:t>is</a:t>
            </a:r>
            <a:r>
              <a:rPr sz="1000" spc="15" dirty="0">
                <a:latin typeface="Tahoma"/>
                <a:cs typeface="Tahoma"/>
              </a:rPr>
              <a:t> </a:t>
            </a:r>
            <a:r>
              <a:rPr sz="1000" spc="-40" dirty="0">
                <a:latin typeface="Tahoma"/>
                <a:cs typeface="Tahoma"/>
              </a:rPr>
              <a:t>obvious,</a:t>
            </a:r>
            <a:r>
              <a:rPr sz="1000" spc="10" dirty="0">
                <a:latin typeface="Tahoma"/>
                <a:cs typeface="Tahoma"/>
              </a:rPr>
              <a:t> </a:t>
            </a:r>
            <a:r>
              <a:rPr sz="1000" spc="-40" dirty="0">
                <a:latin typeface="Tahoma"/>
                <a:cs typeface="Tahoma"/>
              </a:rPr>
              <a:t>for</a:t>
            </a:r>
            <a:r>
              <a:rPr sz="1000" spc="10" dirty="0">
                <a:latin typeface="Tahoma"/>
                <a:cs typeface="Tahoma"/>
              </a:rPr>
              <a:t> </a:t>
            </a:r>
            <a:r>
              <a:rPr sz="1000" spc="-50" dirty="0">
                <a:latin typeface="Tahoma"/>
                <a:cs typeface="Tahoma"/>
              </a:rPr>
              <a:t>1</a:t>
            </a:r>
            <a:r>
              <a:rPr sz="1000" spc="15" dirty="0">
                <a:latin typeface="Tahoma"/>
                <a:cs typeface="Tahoma"/>
              </a:rPr>
              <a:t> it </a:t>
            </a:r>
            <a:r>
              <a:rPr sz="1000" spc="-30" dirty="0">
                <a:latin typeface="Tahoma"/>
                <a:cs typeface="Tahoma"/>
              </a:rPr>
              <a:t>is</a:t>
            </a:r>
            <a:r>
              <a:rPr sz="1000" spc="10" dirty="0">
                <a:latin typeface="Tahoma"/>
                <a:cs typeface="Tahoma"/>
              </a:rPr>
              <a:t> </a:t>
            </a:r>
            <a:r>
              <a:rPr sz="1000" spc="-30" dirty="0">
                <a:latin typeface="Tahoma"/>
                <a:cs typeface="Tahoma"/>
              </a:rPr>
              <a:t>sufficient</a:t>
            </a:r>
            <a:r>
              <a:rPr sz="1000" spc="10" dirty="0">
                <a:latin typeface="Tahoma"/>
                <a:cs typeface="Tahoma"/>
              </a:rPr>
              <a:t> </a:t>
            </a:r>
            <a:r>
              <a:rPr sz="1000" spc="-10" dirty="0">
                <a:latin typeface="Tahoma"/>
                <a:cs typeface="Tahoma"/>
              </a:rPr>
              <a:t>to</a:t>
            </a:r>
            <a:r>
              <a:rPr sz="1000" spc="10" dirty="0">
                <a:latin typeface="Tahoma"/>
                <a:cs typeface="Tahoma"/>
              </a:rPr>
              <a:t> </a:t>
            </a:r>
            <a:r>
              <a:rPr sz="1000" spc="-35" dirty="0">
                <a:latin typeface="Tahoma"/>
                <a:cs typeface="Tahoma"/>
              </a:rPr>
              <a:t>note,</a:t>
            </a:r>
            <a:r>
              <a:rPr sz="1000" spc="15" dirty="0">
                <a:latin typeface="Tahoma"/>
                <a:cs typeface="Tahoma"/>
              </a:rPr>
              <a:t> </a:t>
            </a:r>
            <a:r>
              <a:rPr sz="1000" spc="-10" dirty="0">
                <a:latin typeface="Tahoma"/>
                <a:cs typeface="Tahoma"/>
              </a:rPr>
              <a:t>that</a:t>
            </a:r>
            <a:r>
              <a:rPr sz="1000" spc="10" dirty="0">
                <a:latin typeface="Tahoma"/>
                <a:cs typeface="Tahoma"/>
              </a:rPr>
              <a:t> </a:t>
            </a:r>
            <a:r>
              <a:rPr sz="1000" spc="-40" dirty="0">
                <a:latin typeface="Tahoma"/>
                <a:cs typeface="Tahoma"/>
              </a:rPr>
              <a:t>for</a:t>
            </a:r>
            <a:r>
              <a:rPr sz="1000" spc="20" dirty="0">
                <a:latin typeface="Tahoma"/>
                <a:cs typeface="Tahoma"/>
              </a:rPr>
              <a:t> </a:t>
            </a:r>
            <a:r>
              <a:rPr sz="1000" spc="-45" dirty="0">
                <a:latin typeface="Tahoma"/>
                <a:cs typeface="Tahoma"/>
              </a:rPr>
              <a:t>any</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45" dirty="0">
                <a:latin typeface="Arial"/>
                <a:cs typeface="Arial"/>
              </a:rPr>
              <a:t> </a:t>
            </a:r>
            <a:r>
              <a:rPr sz="1000" spc="-90" dirty="0">
                <a:latin typeface="Tahoma"/>
                <a:cs typeface="Tahoma"/>
              </a:rPr>
              <a:t>we</a:t>
            </a:r>
            <a:endParaRPr sz="1000">
              <a:latin typeface="Tahoma"/>
              <a:cs typeface="Tahoma"/>
            </a:endParaRPr>
          </a:p>
        </p:txBody>
      </p:sp>
      <p:sp>
        <p:nvSpPr>
          <p:cNvPr id="50" name="object 50"/>
          <p:cNvSpPr txBox="1"/>
          <p:nvPr/>
        </p:nvSpPr>
        <p:spPr>
          <a:xfrm>
            <a:off x="749363" y="2296838"/>
            <a:ext cx="254000" cy="177800"/>
          </a:xfrm>
          <a:prstGeom prst="rect">
            <a:avLst/>
          </a:prstGeom>
        </p:spPr>
        <p:txBody>
          <a:bodyPr vert="horz" wrap="square" lIns="0" tIns="12065" rIns="0" bIns="0" rtlCol="0">
            <a:spAutoFit/>
          </a:bodyPr>
          <a:lstStyle/>
          <a:p>
            <a:pPr>
              <a:lnSpc>
                <a:spcPct val="100000"/>
              </a:lnSpc>
              <a:spcBef>
                <a:spcPts val="95"/>
              </a:spcBef>
            </a:pPr>
            <a:r>
              <a:rPr sz="1000" spc="-55" dirty="0">
                <a:latin typeface="Tahoma"/>
                <a:cs typeface="Tahoma"/>
              </a:rPr>
              <a:t>have</a:t>
            </a:r>
            <a:endParaRPr sz="1000">
              <a:latin typeface="Tahoma"/>
              <a:cs typeface="Tahoma"/>
            </a:endParaRPr>
          </a:p>
        </p:txBody>
      </p:sp>
      <p:sp>
        <p:nvSpPr>
          <p:cNvPr id="51" name="object 51"/>
          <p:cNvSpPr txBox="1"/>
          <p:nvPr/>
        </p:nvSpPr>
        <p:spPr>
          <a:xfrm>
            <a:off x="749363" y="2372747"/>
            <a:ext cx="3052445" cy="708660"/>
          </a:xfrm>
          <a:prstGeom prst="rect">
            <a:avLst/>
          </a:prstGeom>
        </p:spPr>
        <p:txBody>
          <a:bodyPr vert="horz" wrap="square" lIns="0" tIns="88265" rIns="0" bIns="0" rtlCol="0">
            <a:spAutoFit/>
          </a:bodyPr>
          <a:lstStyle/>
          <a:p>
            <a:pPr marL="663575">
              <a:lnSpc>
                <a:spcPct val="100000"/>
              </a:lnSpc>
              <a:spcBef>
                <a:spcPts val="695"/>
              </a:spcBef>
            </a:pPr>
            <a:r>
              <a:rPr sz="1000" spc="10" dirty="0">
                <a:latin typeface="Tahoma"/>
                <a:cs typeface="Tahoma"/>
              </a:rPr>
              <a:t>((</a:t>
            </a:r>
            <a:r>
              <a:rPr sz="1000" i="1" spc="10" dirty="0">
                <a:latin typeface="Arial"/>
                <a:cs typeface="Arial"/>
              </a:rPr>
              <a:t>f</a:t>
            </a:r>
            <a:r>
              <a:rPr sz="1000" i="1" spc="155"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70" dirty="0">
                <a:latin typeface="Arial"/>
                <a:cs typeface="Arial"/>
              </a:rPr>
              <a:t> </a:t>
            </a:r>
            <a:r>
              <a:rPr sz="1000" dirty="0">
                <a:latin typeface="Tahoma"/>
                <a:cs typeface="Tahoma"/>
              </a:rPr>
              <a:t>)</a:t>
            </a:r>
            <a:r>
              <a:rPr sz="1000" spc="-95" dirty="0">
                <a:latin typeface="Tahoma"/>
                <a:cs typeface="Tahoma"/>
              </a:rPr>
              <a:t> </a:t>
            </a:r>
            <a:r>
              <a:rPr sz="1000" spc="-65" dirty="0">
                <a:latin typeface="Lucida Sans Unicode"/>
                <a:cs typeface="Lucida Sans Unicode"/>
              </a:rPr>
              <a:t>◦</a:t>
            </a:r>
            <a:r>
              <a:rPr sz="1000" spc="-95" dirty="0">
                <a:latin typeface="Lucida Sans Unicode"/>
                <a:cs typeface="Lucida Sans Unicode"/>
              </a:rPr>
              <a:t> </a:t>
            </a:r>
            <a:r>
              <a:rPr sz="1000" i="1" spc="-20" dirty="0">
                <a:latin typeface="Arial"/>
                <a:cs typeface="Arial"/>
              </a:rPr>
              <a:t>h</a:t>
            </a:r>
            <a:r>
              <a:rPr sz="1000" spc="-20" dirty="0">
                <a:latin typeface="Tahoma"/>
                <a:cs typeface="Tahoma"/>
              </a:rPr>
              <a:t>)(</a:t>
            </a:r>
            <a:r>
              <a:rPr sz="1000" i="1" spc="-20" dirty="0">
                <a:latin typeface="Arial"/>
                <a:cs typeface="Arial"/>
              </a:rPr>
              <a:t>a</a:t>
            </a:r>
            <a:r>
              <a:rPr sz="1000" spc="-2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dirty="0">
                <a:latin typeface="Arial"/>
                <a:cs typeface="Arial"/>
              </a:rPr>
              <a:t>h</a:t>
            </a:r>
            <a:r>
              <a:rPr sz="1000" dirty="0">
                <a:latin typeface="Tahoma"/>
                <a:cs typeface="Tahoma"/>
              </a:rPr>
              <a:t>(</a:t>
            </a:r>
            <a:r>
              <a:rPr sz="1000" i="1" dirty="0">
                <a:latin typeface="Arial"/>
                <a:cs typeface="Arial"/>
              </a:rPr>
              <a:t>f</a:t>
            </a:r>
            <a:r>
              <a:rPr sz="1000" i="1" spc="16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70" dirty="0">
                <a:latin typeface="Arial"/>
                <a:cs typeface="Arial"/>
              </a:rPr>
              <a:t> </a:t>
            </a:r>
            <a:r>
              <a:rPr sz="1000" spc="-15" dirty="0">
                <a:latin typeface="Tahoma"/>
                <a:cs typeface="Tahoma"/>
              </a:rPr>
              <a:t>(</a:t>
            </a:r>
            <a:r>
              <a:rPr sz="1000" i="1" spc="-15" dirty="0">
                <a:latin typeface="Arial"/>
                <a:cs typeface="Arial"/>
              </a:rPr>
              <a:t>a</a:t>
            </a:r>
            <a:r>
              <a:rPr sz="1000" spc="-15"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30" dirty="0">
                <a:latin typeface="Arial"/>
                <a:cs typeface="Arial"/>
              </a:rPr>
              <a:t>h</a:t>
            </a:r>
            <a:r>
              <a:rPr sz="1000" spc="-30" dirty="0">
                <a:latin typeface="Tahoma"/>
                <a:cs typeface="Tahoma"/>
              </a:rPr>
              <a:t>(</a:t>
            </a:r>
            <a:r>
              <a:rPr sz="1000" i="1" spc="-3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f</a:t>
            </a:r>
            <a:r>
              <a:rPr sz="1000" i="1" spc="-65" dirty="0">
                <a:latin typeface="Arial"/>
                <a:cs typeface="Arial"/>
              </a:rPr>
              <a:t> </a:t>
            </a:r>
            <a:r>
              <a:rPr sz="1000" spc="-15" dirty="0">
                <a:latin typeface="Tahoma"/>
                <a:cs typeface="Tahoma"/>
              </a:rPr>
              <a:t>(</a:t>
            </a:r>
            <a:r>
              <a:rPr sz="1000" i="1" spc="-15" dirty="0">
                <a:latin typeface="Arial"/>
                <a:cs typeface="Arial"/>
              </a:rPr>
              <a:t>a</a:t>
            </a:r>
            <a:r>
              <a:rPr sz="1000" spc="-15" dirty="0">
                <a:latin typeface="Tahoma"/>
                <a:cs typeface="Tahoma"/>
              </a:rPr>
              <a:t>)))</a:t>
            </a:r>
            <a:endParaRPr sz="1000">
              <a:latin typeface="Tahoma"/>
              <a:cs typeface="Tahoma"/>
            </a:endParaRPr>
          </a:p>
          <a:p>
            <a:pPr marR="5080" indent="638810">
              <a:lnSpc>
                <a:spcPct val="149400"/>
              </a:lnSpc>
            </a:pPr>
            <a:r>
              <a:rPr sz="1000" dirty="0">
                <a:latin typeface="Tahoma"/>
                <a:cs typeface="Tahoma"/>
              </a:rPr>
              <a:t>(</a:t>
            </a:r>
            <a:r>
              <a:rPr sz="1000" i="1" spc="25" dirty="0">
                <a:latin typeface="Arial"/>
                <a:cs typeface="Arial"/>
              </a:rPr>
              <a:t>f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spc="-60" dirty="0">
                <a:latin typeface="Arial"/>
                <a:cs typeface="Arial"/>
              </a:rPr>
              <a:t>g</a:t>
            </a:r>
            <a:r>
              <a:rPr sz="1000" i="1" spc="5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30" dirty="0">
                <a:latin typeface="Arial"/>
                <a:cs typeface="Arial"/>
              </a:rPr>
              <a:t>h</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35" dirty="0">
                <a:latin typeface="Tahoma"/>
                <a:cs typeface="Tahoma"/>
              </a:rPr>
              <a:t> </a:t>
            </a:r>
            <a:r>
              <a:rPr sz="1000" dirty="0">
                <a:latin typeface="Tahoma"/>
                <a:cs typeface="Tahoma"/>
              </a:rPr>
              <a:t>(</a:t>
            </a:r>
            <a:r>
              <a:rPr sz="1000" i="1" spc="-60" dirty="0">
                <a:latin typeface="Arial"/>
                <a:cs typeface="Arial"/>
              </a:rPr>
              <a:t>g</a:t>
            </a:r>
            <a:r>
              <a:rPr sz="1000" i="1" spc="5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30" dirty="0">
                <a:latin typeface="Arial"/>
                <a:cs typeface="Arial"/>
              </a:rPr>
              <a:t>h</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30" dirty="0">
                <a:latin typeface="Arial"/>
                <a:cs typeface="Arial"/>
              </a:rPr>
              <a:t>h</a:t>
            </a:r>
            <a:r>
              <a:rPr sz="1000" dirty="0">
                <a:latin typeface="Tahoma"/>
                <a:cs typeface="Tahoma"/>
              </a:rPr>
              <a:t>(</a:t>
            </a:r>
            <a:r>
              <a:rPr sz="1000" i="1" spc="-60" dirty="0">
                <a:latin typeface="Arial"/>
                <a:cs typeface="Arial"/>
              </a:rPr>
              <a:t>g</a:t>
            </a:r>
            <a:r>
              <a:rPr sz="1000" i="1" spc="-170" dirty="0">
                <a:latin typeface="Arial"/>
                <a:cs typeface="Arial"/>
              </a:rPr>
              <a:t> </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i="1" spc="-70" dirty="0">
                <a:latin typeface="Arial"/>
                <a:cs typeface="Arial"/>
              </a:rPr>
              <a:t>a</a:t>
            </a:r>
            <a:r>
              <a:rPr sz="1000" dirty="0">
                <a:latin typeface="Tahoma"/>
                <a:cs typeface="Tahoma"/>
              </a:rPr>
              <a:t>)))  </a:t>
            </a:r>
            <a:r>
              <a:rPr sz="1000" spc="-10" dirty="0">
                <a:latin typeface="Tahoma"/>
                <a:cs typeface="Tahoma"/>
              </a:rPr>
              <a:t>Right</a:t>
            </a:r>
            <a:r>
              <a:rPr sz="1000" spc="20" dirty="0">
                <a:latin typeface="Tahoma"/>
                <a:cs typeface="Tahoma"/>
              </a:rPr>
              <a:t> </a:t>
            </a:r>
            <a:r>
              <a:rPr sz="1000" spc="-40" dirty="0">
                <a:latin typeface="Tahoma"/>
                <a:cs typeface="Tahoma"/>
              </a:rPr>
              <a:t>parts</a:t>
            </a:r>
            <a:r>
              <a:rPr sz="1000" spc="20" dirty="0">
                <a:latin typeface="Tahoma"/>
                <a:cs typeface="Tahoma"/>
              </a:rPr>
              <a:t> </a:t>
            </a:r>
            <a:r>
              <a:rPr sz="1000" spc="-30" dirty="0">
                <a:latin typeface="Tahoma"/>
                <a:cs typeface="Tahoma"/>
              </a:rPr>
              <a:t>of</a:t>
            </a:r>
            <a:r>
              <a:rPr sz="1000" spc="15" dirty="0">
                <a:latin typeface="Tahoma"/>
                <a:cs typeface="Tahoma"/>
              </a:rPr>
              <a:t> </a:t>
            </a:r>
            <a:r>
              <a:rPr sz="1000" spc="-40" dirty="0">
                <a:latin typeface="Tahoma"/>
                <a:cs typeface="Tahoma"/>
              </a:rPr>
              <a:t>equations</a:t>
            </a:r>
            <a:r>
              <a:rPr sz="1000" spc="20" dirty="0">
                <a:latin typeface="Tahoma"/>
                <a:cs typeface="Tahoma"/>
              </a:rPr>
              <a:t> </a:t>
            </a:r>
            <a:r>
              <a:rPr sz="1000" spc="-65" dirty="0">
                <a:latin typeface="Tahoma"/>
                <a:cs typeface="Tahoma"/>
              </a:rPr>
              <a:t>are</a:t>
            </a:r>
            <a:r>
              <a:rPr sz="1000" spc="20" dirty="0">
                <a:latin typeface="Tahoma"/>
                <a:cs typeface="Tahoma"/>
              </a:rPr>
              <a:t> </a:t>
            </a:r>
            <a:r>
              <a:rPr sz="1000" spc="-40" dirty="0">
                <a:latin typeface="Tahoma"/>
                <a:cs typeface="Tahoma"/>
              </a:rPr>
              <a:t>equal,</a:t>
            </a:r>
            <a:r>
              <a:rPr sz="1000" spc="15" dirty="0">
                <a:latin typeface="Tahoma"/>
                <a:cs typeface="Tahoma"/>
              </a:rPr>
              <a:t> </a:t>
            </a:r>
            <a:r>
              <a:rPr sz="1000" spc="-55" dirty="0">
                <a:latin typeface="Tahoma"/>
                <a:cs typeface="Tahoma"/>
              </a:rPr>
              <a:t>so</a:t>
            </a:r>
            <a:r>
              <a:rPr sz="1000" spc="20" dirty="0">
                <a:latin typeface="Tahoma"/>
                <a:cs typeface="Tahoma"/>
              </a:rPr>
              <a:t> </a:t>
            </a:r>
            <a:r>
              <a:rPr sz="1000" spc="-10" dirty="0">
                <a:latin typeface="Tahoma"/>
                <a:cs typeface="Tahoma"/>
              </a:rPr>
              <a:t>that</a:t>
            </a:r>
            <a:r>
              <a:rPr sz="1000" spc="20" dirty="0">
                <a:latin typeface="Tahoma"/>
                <a:cs typeface="Tahoma"/>
              </a:rPr>
              <a:t> </a:t>
            </a:r>
            <a:r>
              <a:rPr sz="1000" spc="-45" dirty="0">
                <a:latin typeface="Tahoma"/>
                <a:cs typeface="Tahoma"/>
              </a:rPr>
              <a:t>and</a:t>
            </a:r>
            <a:r>
              <a:rPr sz="1000" spc="15" dirty="0">
                <a:latin typeface="Tahoma"/>
                <a:cs typeface="Tahoma"/>
              </a:rPr>
              <a:t> </a:t>
            </a:r>
            <a:r>
              <a:rPr sz="1000" spc="-20" dirty="0">
                <a:latin typeface="Tahoma"/>
                <a:cs typeface="Tahoma"/>
              </a:rPr>
              <a:t>left</a:t>
            </a:r>
            <a:r>
              <a:rPr sz="1000" spc="20" dirty="0">
                <a:latin typeface="Tahoma"/>
                <a:cs typeface="Tahoma"/>
              </a:rPr>
              <a:t> </a:t>
            </a:r>
            <a:r>
              <a:rPr sz="1000" spc="-55" dirty="0">
                <a:latin typeface="Tahoma"/>
                <a:cs typeface="Tahoma"/>
              </a:rPr>
              <a:t>are.</a:t>
            </a:r>
            <a:endParaRPr sz="1000">
              <a:latin typeface="Tahoma"/>
              <a:cs typeface="Tahoma"/>
            </a:endParaRPr>
          </a:p>
        </p:txBody>
      </p:sp>
      <p:grpSp>
        <p:nvGrpSpPr>
          <p:cNvPr id="52" name="object 52"/>
          <p:cNvGrpSpPr/>
          <p:nvPr/>
        </p:nvGrpSpPr>
        <p:grpSpPr>
          <a:xfrm>
            <a:off x="4335779" y="2957969"/>
            <a:ext cx="86360" cy="85725"/>
            <a:chOff x="4335779" y="2957969"/>
            <a:chExt cx="86360" cy="85725"/>
          </a:xfrm>
        </p:grpSpPr>
        <p:sp>
          <p:nvSpPr>
            <p:cNvPr id="53" name="object 53"/>
            <p:cNvSpPr/>
            <p:nvPr/>
          </p:nvSpPr>
          <p:spPr>
            <a:xfrm>
              <a:off x="4338307" y="2957969"/>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54" name="object 54"/>
            <p:cNvSpPr/>
            <p:nvPr/>
          </p:nvSpPr>
          <p:spPr>
            <a:xfrm>
              <a:off x="4340834" y="2960509"/>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5" name="object 55"/>
            <p:cNvSpPr/>
            <p:nvPr/>
          </p:nvSpPr>
          <p:spPr>
            <a:xfrm>
              <a:off x="4340834" y="3040850"/>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6" name="object 56"/>
            <p:cNvSpPr/>
            <p:nvPr/>
          </p:nvSpPr>
          <p:spPr>
            <a:xfrm>
              <a:off x="4419282" y="2957969"/>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grpSp>
        <p:nvGrpSpPr>
          <p:cNvPr id="7" name="object 7"/>
          <p:cNvGrpSpPr/>
          <p:nvPr/>
        </p:nvGrpSpPr>
        <p:grpSpPr>
          <a:xfrm>
            <a:off x="698562" y="2062822"/>
            <a:ext cx="3867150" cy="1353185"/>
            <a:chOff x="698562" y="2062822"/>
            <a:chExt cx="3867150" cy="1353185"/>
          </a:xfrm>
        </p:grpSpPr>
        <p:sp>
          <p:nvSpPr>
            <p:cNvPr id="8" name="object 8"/>
            <p:cNvSpPr/>
            <p:nvPr/>
          </p:nvSpPr>
          <p:spPr>
            <a:xfrm>
              <a:off x="3069083" y="3371226"/>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9" name="object 9"/>
            <p:cNvSpPr/>
            <p:nvPr/>
          </p:nvSpPr>
          <p:spPr>
            <a:xfrm>
              <a:off x="2989465" y="3367265"/>
              <a:ext cx="203200" cy="38735"/>
            </a:xfrm>
            <a:custGeom>
              <a:avLst/>
              <a:gdLst/>
              <a:ahLst/>
              <a:cxnLst/>
              <a:rect l="l" t="t" r="r" b="b"/>
              <a:pathLst>
                <a:path w="203200" h="38735">
                  <a:moveTo>
                    <a:pt x="25400" y="0"/>
                  </a:moveTo>
                  <a:lnTo>
                    <a:pt x="0" y="19050"/>
                  </a:lnTo>
                  <a:lnTo>
                    <a:pt x="25400" y="38112"/>
                  </a:lnTo>
                  <a:lnTo>
                    <a:pt x="25400" y="0"/>
                  </a:lnTo>
                  <a:close/>
                </a:path>
                <a:path w="203200" h="38735">
                  <a:moveTo>
                    <a:pt x="203200" y="19050"/>
                  </a:moveTo>
                  <a:lnTo>
                    <a:pt x="177800" y="0"/>
                  </a:lnTo>
                  <a:lnTo>
                    <a:pt x="177800" y="38112"/>
                  </a:lnTo>
                  <a:lnTo>
                    <a:pt x="203200" y="19050"/>
                  </a:lnTo>
                  <a:close/>
                </a:path>
              </a:pathLst>
            </a:custGeom>
            <a:solidFill>
              <a:srgbClr val="D6D6EF"/>
            </a:solidFill>
          </p:spPr>
          <p:txBody>
            <a:bodyPr wrap="square" lIns="0" tIns="0" rIns="0" bIns="0" rtlCol="0"/>
            <a:lstStyle/>
            <a:p>
              <a:endParaRPr/>
            </a:p>
          </p:txBody>
        </p:sp>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2" name="object 12"/>
            <p:cNvSpPr/>
            <p:nvPr/>
          </p:nvSpPr>
          <p:spPr>
            <a:xfrm>
              <a:off x="3620326" y="33736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3" name="object 13"/>
            <p:cNvSpPr/>
            <p:nvPr/>
          </p:nvSpPr>
          <p:spPr>
            <a:xfrm>
              <a:off x="353142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4" name="object 14"/>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15" name="object 15"/>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80239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sp>
          <p:nvSpPr>
            <p:cNvPr id="18" name="object 18"/>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19" name="object 19"/>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0" name="object 20"/>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1" name="object 21"/>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2" name="object 22"/>
            <p:cNvSpPr/>
            <p:nvPr/>
          </p:nvSpPr>
          <p:spPr>
            <a:xfrm>
              <a:off x="698562" y="2062822"/>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grpSp>
      <p:grpSp>
        <p:nvGrpSpPr>
          <p:cNvPr id="23" name="object 23"/>
          <p:cNvGrpSpPr/>
          <p:nvPr/>
        </p:nvGrpSpPr>
        <p:grpSpPr>
          <a:xfrm>
            <a:off x="0" y="0"/>
            <a:ext cx="4608195" cy="569595"/>
            <a:chOff x="0" y="0"/>
            <a:chExt cx="4608195" cy="569595"/>
          </a:xfrm>
        </p:grpSpPr>
        <p:sp>
          <p:nvSpPr>
            <p:cNvPr id="24" name="object 24"/>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5" name="object 25"/>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6" name="object 26"/>
          <p:cNvSpPr txBox="1">
            <a:spLocks noGrp="1"/>
          </p:cNvSpPr>
          <p:nvPr>
            <p:ph type="title"/>
          </p:nvPr>
        </p:nvSpPr>
        <p:spPr>
          <a:xfrm>
            <a:off x="664667" y="144815"/>
            <a:ext cx="3134360" cy="244475"/>
          </a:xfrm>
          <a:prstGeom prst="rect">
            <a:avLst/>
          </a:prstGeom>
        </p:spPr>
        <p:txBody>
          <a:bodyPr vert="horz" wrap="square" lIns="0" tIns="17145" rIns="0" bIns="0" rtlCol="0">
            <a:spAutoFit/>
          </a:bodyPr>
          <a:lstStyle/>
          <a:p>
            <a:pPr marL="12700">
              <a:lnSpc>
                <a:spcPct val="100000"/>
              </a:lnSpc>
              <a:spcBef>
                <a:spcPts val="135"/>
              </a:spcBef>
            </a:pPr>
            <a:r>
              <a:rPr spc="-40" dirty="0"/>
              <a:t>Composition</a:t>
            </a:r>
            <a:r>
              <a:rPr spc="135" dirty="0"/>
              <a:t> </a:t>
            </a:r>
            <a:r>
              <a:rPr spc="-45" dirty="0"/>
              <a:t>and</a:t>
            </a:r>
            <a:r>
              <a:rPr spc="135" dirty="0"/>
              <a:t> </a:t>
            </a:r>
            <a:r>
              <a:rPr spc="-100" dirty="0"/>
              <a:t>classes</a:t>
            </a:r>
            <a:r>
              <a:rPr spc="140" dirty="0"/>
              <a:t> </a:t>
            </a:r>
            <a:r>
              <a:rPr spc="-30" dirty="0"/>
              <a:t>of</a:t>
            </a:r>
            <a:r>
              <a:rPr spc="135" dirty="0"/>
              <a:t> </a:t>
            </a:r>
            <a:r>
              <a:rPr spc="-60" dirty="0"/>
              <a:t>mappings</a:t>
            </a:r>
          </a:p>
        </p:txBody>
      </p:sp>
      <p:sp>
        <p:nvSpPr>
          <p:cNvPr id="27" name="object 27"/>
          <p:cNvSpPr/>
          <p:nvPr/>
        </p:nvSpPr>
        <p:spPr>
          <a:xfrm>
            <a:off x="698562" y="695959"/>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28" name="object 28"/>
          <p:cNvSpPr txBox="1"/>
          <p:nvPr/>
        </p:nvSpPr>
        <p:spPr>
          <a:xfrm>
            <a:off x="749363" y="725898"/>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29" name="object 29"/>
          <p:cNvGrpSpPr/>
          <p:nvPr/>
        </p:nvGrpSpPr>
        <p:grpSpPr>
          <a:xfrm>
            <a:off x="698562" y="752884"/>
            <a:ext cx="3831590" cy="1218565"/>
            <a:chOff x="698562" y="752884"/>
            <a:chExt cx="3831590" cy="1218565"/>
          </a:xfrm>
        </p:grpSpPr>
        <p:pic>
          <p:nvPicPr>
            <p:cNvPr id="30" name="object 30"/>
            <p:cNvPicPr/>
            <p:nvPr/>
          </p:nvPicPr>
          <p:blipFill>
            <a:blip r:embed="rId7" cstate="print"/>
            <a:stretch>
              <a:fillRect/>
            </a:stretch>
          </p:blipFill>
          <p:spPr>
            <a:xfrm>
              <a:off x="698563" y="859180"/>
              <a:ext cx="3780284" cy="50609"/>
            </a:xfrm>
            <a:prstGeom prst="rect">
              <a:avLst/>
            </a:prstGeom>
          </p:spPr>
        </p:pic>
        <p:sp>
          <p:nvSpPr>
            <p:cNvPr id="31" name="object 31"/>
            <p:cNvSpPr/>
            <p:nvPr/>
          </p:nvSpPr>
          <p:spPr>
            <a:xfrm>
              <a:off x="749363" y="752884"/>
              <a:ext cx="3780790" cy="1218565"/>
            </a:xfrm>
            <a:custGeom>
              <a:avLst/>
              <a:gdLst/>
              <a:ahLst/>
              <a:cxnLst/>
              <a:rect l="l" t="t" r="r" b="b"/>
              <a:pathLst>
                <a:path w="3780790" h="1218564">
                  <a:moveTo>
                    <a:pt x="3780285" y="0"/>
                  </a:moveTo>
                  <a:lnTo>
                    <a:pt x="0" y="0"/>
                  </a:lnTo>
                  <a:lnTo>
                    <a:pt x="0" y="1218257"/>
                  </a:lnTo>
                  <a:lnTo>
                    <a:pt x="3780285" y="1218257"/>
                  </a:lnTo>
                  <a:lnTo>
                    <a:pt x="3780285" y="0"/>
                  </a:lnTo>
                  <a:close/>
                </a:path>
              </a:pathLst>
            </a:custGeom>
            <a:solidFill>
              <a:srgbClr val="000000"/>
            </a:solidFill>
          </p:spPr>
          <p:txBody>
            <a:bodyPr wrap="square" lIns="0" tIns="0" rIns="0" bIns="0" rtlCol="0"/>
            <a:lstStyle/>
            <a:p>
              <a:endParaRPr/>
            </a:p>
          </p:txBody>
        </p:sp>
        <p:sp>
          <p:nvSpPr>
            <p:cNvPr id="32" name="object 32"/>
            <p:cNvSpPr/>
            <p:nvPr/>
          </p:nvSpPr>
          <p:spPr>
            <a:xfrm>
              <a:off x="698562" y="903453"/>
              <a:ext cx="3780790" cy="1017269"/>
            </a:xfrm>
            <a:custGeom>
              <a:avLst/>
              <a:gdLst/>
              <a:ahLst/>
              <a:cxnLst/>
              <a:rect l="l" t="t" r="r" b="b"/>
              <a:pathLst>
                <a:path w="3780790" h="1017269">
                  <a:moveTo>
                    <a:pt x="3780285" y="0"/>
                  </a:moveTo>
                  <a:lnTo>
                    <a:pt x="0" y="0"/>
                  </a:lnTo>
                  <a:lnTo>
                    <a:pt x="0" y="966087"/>
                  </a:lnTo>
                  <a:lnTo>
                    <a:pt x="4008" y="985812"/>
                  </a:lnTo>
                  <a:lnTo>
                    <a:pt x="14922" y="1001965"/>
                  </a:lnTo>
                  <a:lnTo>
                    <a:pt x="31075" y="1012879"/>
                  </a:lnTo>
                  <a:lnTo>
                    <a:pt x="50800" y="1016888"/>
                  </a:lnTo>
                  <a:lnTo>
                    <a:pt x="3729484" y="1016888"/>
                  </a:lnTo>
                  <a:lnTo>
                    <a:pt x="3749209" y="1012879"/>
                  </a:lnTo>
                  <a:lnTo>
                    <a:pt x="3765362" y="1001965"/>
                  </a:lnTo>
                  <a:lnTo>
                    <a:pt x="3776276" y="985812"/>
                  </a:lnTo>
                  <a:lnTo>
                    <a:pt x="3780285" y="966087"/>
                  </a:lnTo>
                  <a:lnTo>
                    <a:pt x="3780285" y="0"/>
                  </a:lnTo>
                  <a:close/>
                </a:path>
              </a:pathLst>
            </a:custGeom>
            <a:solidFill>
              <a:srgbClr val="E9E9F2"/>
            </a:solidFill>
          </p:spPr>
          <p:txBody>
            <a:bodyPr wrap="square" lIns="0" tIns="0" rIns="0" bIns="0" rtlCol="0"/>
            <a:lstStyle/>
            <a:p>
              <a:endParaRPr/>
            </a:p>
          </p:txBody>
        </p:sp>
      </p:grpSp>
      <p:sp>
        <p:nvSpPr>
          <p:cNvPr id="33" name="object 33"/>
          <p:cNvSpPr txBox="1"/>
          <p:nvPr/>
        </p:nvSpPr>
        <p:spPr>
          <a:xfrm>
            <a:off x="749363" y="877410"/>
            <a:ext cx="2727325" cy="177800"/>
          </a:xfrm>
          <a:prstGeom prst="rect">
            <a:avLst/>
          </a:prstGeom>
        </p:spPr>
        <p:txBody>
          <a:bodyPr vert="horz" wrap="square" lIns="0" tIns="12065" rIns="0" bIns="0" rtlCol="0">
            <a:spAutoFit/>
          </a:bodyPr>
          <a:lstStyle/>
          <a:p>
            <a:pPr>
              <a:lnSpc>
                <a:spcPct val="100000"/>
              </a:lnSpc>
              <a:spcBef>
                <a:spcPts val="95"/>
              </a:spcBef>
            </a:pPr>
            <a:r>
              <a:rPr sz="1000" spc="-10" dirty="0">
                <a:latin typeface="Tahoma"/>
                <a:cs typeface="Tahoma"/>
              </a:rPr>
              <a:t>Let</a:t>
            </a:r>
            <a:r>
              <a:rPr sz="1000" spc="15"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40"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45" dirty="0">
                <a:latin typeface="Tahoma"/>
                <a:cs typeface="Tahoma"/>
              </a:rPr>
              <a:t>and</a:t>
            </a:r>
            <a:r>
              <a:rPr sz="1000" spc="20" dirty="0">
                <a:latin typeface="Tahoma"/>
                <a:cs typeface="Tahoma"/>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B</a:t>
            </a:r>
            <a:r>
              <a:rPr sz="1000" i="1" spc="80"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r>
              <a:rPr sz="1000" i="1" dirty="0">
                <a:latin typeface="Arial"/>
                <a:cs typeface="Arial"/>
              </a:rPr>
              <a:t> </a:t>
            </a:r>
            <a:r>
              <a:rPr sz="1000" i="1" spc="-105" dirty="0">
                <a:latin typeface="Arial"/>
                <a:cs typeface="Arial"/>
              </a:rPr>
              <a:t> </a:t>
            </a:r>
            <a:r>
              <a:rPr sz="1000" spc="-15" dirty="0">
                <a:latin typeface="Tahoma"/>
                <a:cs typeface="Tahoma"/>
              </a:rPr>
              <a:t>b</a:t>
            </a:r>
            <a:r>
              <a:rPr sz="1000" spc="-85" dirty="0">
                <a:latin typeface="Tahoma"/>
                <a:cs typeface="Tahoma"/>
              </a:rPr>
              <a:t>e</a:t>
            </a:r>
            <a:r>
              <a:rPr sz="1000" spc="15" dirty="0">
                <a:latin typeface="Tahoma"/>
                <a:cs typeface="Tahoma"/>
              </a:rPr>
              <a:t> </a:t>
            </a:r>
            <a:r>
              <a:rPr sz="1000" spc="-40" dirty="0">
                <a:latin typeface="Tahoma"/>
                <a:cs typeface="Tahoma"/>
              </a:rPr>
              <a:t>mappings.</a:t>
            </a:r>
            <a:r>
              <a:rPr sz="1000" spc="130" dirty="0">
                <a:latin typeface="Tahoma"/>
                <a:cs typeface="Tahoma"/>
              </a:rPr>
              <a:t> </a:t>
            </a:r>
            <a:r>
              <a:rPr sz="1000" spc="-35" dirty="0">
                <a:latin typeface="Tahoma"/>
                <a:cs typeface="Tahoma"/>
              </a:rPr>
              <a:t>Then:</a:t>
            </a:r>
            <a:endParaRPr sz="1000">
              <a:latin typeface="Tahoma"/>
              <a:cs typeface="Tahoma"/>
            </a:endParaRPr>
          </a:p>
        </p:txBody>
      </p:sp>
      <p:pic>
        <p:nvPicPr>
          <p:cNvPr id="34" name="object 34"/>
          <p:cNvPicPr/>
          <p:nvPr/>
        </p:nvPicPr>
        <p:blipFill>
          <a:blip r:embed="rId8" cstate="print"/>
          <a:stretch>
            <a:fillRect/>
          </a:stretch>
        </p:blipFill>
        <p:spPr>
          <a:xfrm>
            <a:off x="830757" y="1145657"/>
            <a:ext cx="104301" cy="104301"/>
          </a:xfrm>
          <a:prstGeom prst="rect">
            <a:avLst/>
          </a:prstGeom>
        </p:spPr>
      </p:pic>
      <p:sp>
        <p:nvSpPr>
          <p:cNvPr id="35" name="object 35"/>
          <p:cNvSpPr txBox="1"/>
          <p:nvPr/>
        </p:nvSpPr>
        <p:spPr>
          <a:xfrm>
            <a:off x="866114" y="1136265"/>
            <a:ext cx="46355" cy="101600"/>
          </a:xfrm>
          <a:prstGeom prst="rect">
            <a:avLst/>
          </a:prstGeom>
        </p:spPr>
        <p:txBody>
          <a:bodyPr vert="horz" wrap="square" lIns="0" tIns="12065" rIns="0" bIns="0" rtlCol="0">
            <a:spAutoFit/>
          </a:bodyPr>
          <a:lstStyle/>
          <a:p>
            <a:pPr>
              <a:lnSpc>
                <a:spcPct val="100000"/>
              </a:lnSpc>
              <a:spcBef>
                <a:spcPts val="95"/>
              </a:spcBef>
            </a:pPr>
            <a:r>
              <a:rPr sz="500" spc="-15" dirty="0">
                <a:solidFill>
                  <a:srgbClr val="FFFFFF"/>
                </a:solidFill>
                <a:latin typeface="Microsoft Sans Serif"/>
                <a:cs typeface="Microsoft Sans Serif"/>
              </a:rPr>
              <a:t>1</a:t>
            </a:r>
            <a:endParaRPr sz="500">
              <a:latin typeface="Microsoft Sans Serif"/>
              <a:cs typeface="Microsoft Sans Serif"/>
            </a:endParaRPr>
          </a:p>
        </p:txBody>
      </p:sp>
      <p:sp>
        <p:nvSpPr>
          <p:cNvPr id="36" name="object 36"/>
          <p:cNvSpPr txBox="1"/>
          <p:nvPr/>
        </p:nvSpPr>
        <p:spPr>
          <a:xfrm>
            <a:off x="1407667" y="1061354"/>
            <a:ext cx="2075180" cy="132080"/>
          </a:xfrm>
          <a:prstGeom prst="rect">
            <a:avLst/>
          </a:prstGeom>
        </p:spPr>
        <p:txBody>
          <a:bodyPr vert="horz" wrap="square" lIns="0" tIns="12065" rIns="0" bIns="0" rtlCol="0">
            <a:spAutoFit/>
          </a:bodyPr>
          <a:lstStyle/>
          <a:p>
            <a:pPr>
              <a:lnSpc>
                <a:spcPct val="100000"/>
              </a:lnSpc>
              <a:spcBef>
                <a:spcPts val="95"/>
              </a:spcBef>
              <a:tabLst>
                <a:tab pos="844550" algn="l"/>
                <a:tab pos="1941830" algn="l"/>
              </a:tabLst>
            </a:pPr>
            <a:r>
              <a:rPr sz="700" spc="-10" dirty="0">
                <a:latin typeface="Microsoft Sans Serif"/>
                <a:cs typeface="Microsoft Sans Serif"/>
              </a:rPr>
              <a:t>1:1	1:1	1:1</a:t>
            </a:r>
            <a:endParaRPr sz="700">
              <a:latin typeface="Microsoft Sans Serif"/>
              <a:cs typeface="Microsoft Sans Serif"/>
            </a:endParaRPr>
          </a:p>
        </p:txBody>
      </p:sp>
      <p:pic>
        <p:nvPicPr>
          <p:cNvPr id="37" name="object 37"/>
          <p:cNvPicPr/>
          <p:nvPr/>
        </p:nvPicPr>
        <p:blipFill>
          <a:blip r:embed="rId8" cstate="print"/>
          <a:stretch>
            <a:fillRect/>
          </a:stretch>
        </p:blipFill>
        <p:spPr>
          <a:xfrm>
            <a:off x="830757" y="1335433"/>
            <a:ext cx="104301" cy="104301"/>
          </a:xfrm>
          <a:prstGeom prst="rect">
            <a:avLst/>
          </a:prstGeom>
        </p:spPr>
      </p:pic>
      <p:sp>
        <p:nvSpPr>
          <p:cNvPr id="38" name="object 38"/>
          <p:cNvSpPr txBox="1"/>
          <p:nvPr/>
        </p:nvSpPr>
        <p:spPr>
          <a:xfrm>
            <a:off x="840714" y="1057167"/>
            <a:ext cx="2787015" cy="405130"/>
          </a:xfrm>
          <a:prstGeom prst="rect">
            <a:avLst/>
          </a:prstGeom>
        </p:spPr>
        <p:txBody>
          <a:bodyPr vert="horz" wrap="square" lIns="0" tIns="50165" rIns="0" bIns="0" rtlCol="0">
            <a:spAutoFit/>
          </a:bodyPr>
          <a:lstStyle/>
          <a:p>
            <a:pPr marR="30480" algn="r">
              <a:lnSpc>
                <a:spcPct val="100000"/>
              </a:lnSpc>
              <a:spcBef>
                <a:spcPts val="395"/>
              </a:spcBef>
            </a:pPr>
            <a:r>
              <a:rPr sz="1000" spc="-5" dirty="0">
                <a:latin typeface="Tahoma"/>
                <a:cs typeface="Tahoma"/>
              </a:rPr>
              <a:t>if</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45" dirty="0">
                <a:latin typeface="Tahoma"/>
                <a:cs typeface="Tahoma"/>
              </a:rPr>
              <a:t>and</a:t>
            </a:r>
            <a:r>
              <a:rPr sz="1000" spc="20" dirty="0">
                <a:latin typeface="Tahoma"/>
                <a:cs typeface="Tahoma"/>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B</a:t>
            </a:r>
            <a:r>
              <a:rPr sz="1000" i="1" spc="80"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r>
              <a:rPr sz="1000" i="1" spc="-160" dirty="0">
                <a:latin typeface="Arial"/>
                <a:cs typeface="Arial"/>
              </a:rPr>
              <a:t> </a:t>
            </a:r>
            <a:r>
              <a:rPr sz="1000" spc="-30" dirty="0">
                <a:latin typeface="Tahoma"/>
                <a:cs typeface="Tahoma"/>
              </a:rPr>
              <a:t>,</a:t>
            </a:r>
            <a:r>
              <a:rPr sz="1000" spc="20" dirty="0">
                <a:latin typeface="Tahoma"/>
                <a:cs typeface="Tahoma"/>
              </a:rPr>
              <a:t> </a:t>
            </a:r>
            <a:r>
              <a:rPr sz="1000" spc="-40" dirty="0">
                <a:latin typeface="Tahoma"/>
                <a:cs typeface="Tahoma"/>
              </a:rPr>
              <a:t>then</a:t>
            </a:r>
            <a:r>
              <a:rPr sz="1000" spc="20" dirty="0">
                <a:latin typeface="Tahoma"/>
                <a:cs typeface="Tahoma"/>
              </a:rPr>
              <a:t> </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endParaRPr sz="1000">
              <a:latin typeface="Arial"/>
              <a:cs typeface="Arial"/>
            </a:endParaRPr>
          </a:p>
          <a:p>
            <a:pPr marR="30480" algn="r">
              <a:lnSpc>
                <a:spcPct val="100000"/>
              </a:lnSpc>
              <a:spcBef>
                <a:spcPts val="295"/>
              </a:spcBef>
            </a:pPr>
            <a:r>
              <a:rPr sz="750" spc="-22" baseline="16666" dirty="0">
                <a:solidFill>
                  <a:srgbClr val="FFFFFF"/>
                </a:solidFill>
                <a:latin typeface="Microsoft Sans Serif"/>
                <a:cs typeface="Microsoft Sans Serif"/>
              </a:rPr>
              <a:t>2     </a:t>
            </a:r>
            <a:r>
              <a:rPr sz="750" spc="15" baseline="16666" dirty="0">
                <a:solidFill>
                  <a:srgbClr val="FFFFFF"/>
                </a:solidFill>
                <a:latin typeface="Microsoft Sans Serif"/>
                <a:cs typeface="Microsoft Sans Serif"/>
              </a:rPr>
              <a:t> </a:t>
            </a:r>
            <a:r>
              <a:rPr sz="1000" spc="-5" dirty="0">
                <a:latin typeface="Tahoma"/>
                <a:cs typeface="Tahoma"/>
              </a:rPr>
              <a:t>if</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45" dirty="0">
                <a:latin typeface="Tahoma"/>
                <a:cs typeface="Tahoma"/>
              </a:rPr>
              <a:t>and</a:t>
            </a:r>
            <a:r>
              <a:rPr sz="1000" spc="20" dirty="0">
                <a:latin typeface="Tahoma"/>
                <a:cs typeface="Tahoma"/>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B</a:t>
            </a:r>
            <a:r>
              <a:rPr sz="1000" i="1" spc="80"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r>
              <a:rPr sz="1000" i="1" spc="-160" dirty="0">
                <a:latin typeface="Arial"/>
                <a:cs typeface="Arial"/>
              </a:rPr>
              <a:t> </a:t>
            </a:r>
            <a:r>
              <a:rPr sz="1000" spc="-30" dirty="0">
                <a:latin typeface="Tahoma"/>
                <a:cs typeface="Tahoma"/>
              </a:rPr>
              <a:t>,</a:t>
            </a:r>
            <a:r>
              <a:rPr sz="1000" spc="20" dirty="0">
                <a:latin typeface="Tahoma"/>
                <a:cs typeface="Tahoma"/>
              </a:rPr>
              <a:t> </a:t>
            </a:r>
            <a:r>
              <a:rPr sz="1000" spc="-40" dirty="0">
                <a:latin typeface="Tahoma"/>
                <a:cs typeface="Tahoma"/>
              </a:rPr>
              <a:t>then</a:t>
            </a:r>
            <a:r>
              <a:rPr sz="1000" spc="20" dirty="0">
                <a:latin typeface="Tahoma"/>
                <a:cs typeface="Tahoma"/>
              </a:rPr>
              <a:t> </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endParaRPr sz="1000">
              <a:latin typeface="Arial"/>
              <a:cs typeface="Arial"/>
            </a:endParaRPr>
          </a:p>
        </p:txBody>
      </p:sp>
      <p:pic>
        <p:nvPicPr>
          <p:cNvPr id="39" name="object 39"/>
          <p:cNvPicPr/>
          <p:nvPr/>
        </p:nvPicPr>
        <p:blipFill>
          <a:blip r:embed="rId9" cstate="print"/>
          <a:stretch>
            <a:fillRect/>
          </a:stretch>
        </p:blipFill>
        <p:spPr>
          <a:xfrm>
            <a:off x="830757" y="1525222"/>
            <a:ext cx="104301" cy="104301"/>
          </a:xfrm>
          <a:prstGeom prst="rect">
            <a:avLst/>
          </a:prstGeom>
        </p:spPr>
      </p:pic>
      <p:sp>
        <p:nvSpPr>
          <p:cNvPr id="40" name="object 40"/>
          <p:cNvSpPr txBox="1"/>
          <p:nvPr/>
        </p:nvSpPr>
        <p:spPr>
          <a:xfrm>
            <a:off x="866114" y="1515842"/>
            <a:ext cx="46355" cy="101600"/>
          </a:xfrm>
          <a:prstGeom prst="rect">
            <a:avLst/>
          </a:prstGeom>
        </p:spPr>
        <p:txBody>
          <a:bodyPr vert="horz" wrap="square" lIns="0" tIns="12065" rIns="0" bIns="0" rtlCol="0">
            <a:spAutoFit/>
          </a:bodyPr>
          <a:lstStyle/>
          <a:p>
            <a:pPr>
              <a:lnSpc>
                <a:spcPct val="100000"/>
              </a:lnSpc>
              <a:spcBef>
                <a:spcPts val="95"/>
              </a:spcBef>
            </a:pPr>
            <a:r>
              <a:rPr sz="500" spc="-15" dirty="0">
                <a:solidFill>
                  <a:srgbClr val="FFFFFF"/>
                </a:solidFill>
                <a:latin typeface="Microsoft Sans Serif"/>
                <a:cs typeface="Microsoft Sans Serif"/>
              </a:rPr>
              <a:t>3</a:t>
            </a:r>
            <a:endParaRPr sz="500">
              <a:latin typeface="Microsoft Sans Serif"/>
              <a:cs typeface="Microsoft Sans Serif"/>
            </a:endParaRPr>
          </a:p>
        </p:txBody>
      </p:sp>
      <p:sp>
        <p:nvSpPr>
          <p:cNvPr id="41" name="object 41"/>
          <p:cNvSpPr txBox="1"/>
          <p:nvPr/>
        </p:nvSpPr>
        <p:spPr>
          <a:xfrm>
            <a:off x="1002411" y="1474703"/>
            <a:ext cx="2642235" cy="177800"/>
          </a:xfrm>
          <a:prstGeom prst="rect">
            <a:avLst/>
          </a:prstGeom>
        </p:spPr>
        <p:txBody>
          <a:bodyPr vert="horz" wrap="square" lIns="0" tIns="12065" rIns="0" bIns="0" rtlCol="0">
            <a:spAutoFit/>
          </a:bodyPr>
          <a:lstStyle/>
          <a:p>
            <a:pPr>
              <a:lnSpc>
                <a:spcPct val="100000"/>
              </a:lnSpc>
              <a:spcBef>
                <a:spcPts val="95"/>
              </a:spcBef>
            </a:pPr>
            <a:r>
              <a:rPr sz="1000" spc="-5" dirty="0">
                <a:latin typeface="Tahoma"/>
                <a:cs typeface="Tahoma"/>
              </a:rPr>
              <a:t>if</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16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45" dirty="0">
                <a:latin typeface="Tahoma"/>
                <a:cs typeface="Tahoma"/>
              </a:rPr>
              <a:t>and</a:t>
            </a:r>
            <a:r>
              <a:rPr sz="1000" spc="20" dirty="0">
                <a:latin typeface="Tahoma"/>
                <a:cs typeface="Tahoma"/>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B</a:t>
            </a:r>
            <a:r>
              <a:rPr sz="1000" i="1" spc="80" dirty="0">
                <a:latin typeface="Arial"/>
                <a:cs typeface="Arial"/>
              </a:rPr>
              <a:t> </a:t>
            </a:r>
            <a:r>
              <a:rPr sz="1000" spc="16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r>
              <a:rPr sz="1000" i="1" spc="-160" dirty="0">
                <a:latin typeface="Arial"/>
                <a:cs typeface="Arial"/>
              </a:rPr>
              <a:t> </a:t>
            </a:r>
            <a:r>
              <a:rPr sz="1000" spc="-30" dirty="0">
                <a:latin typeface="Tahoma"/>
                <a:cs typeface="Tahoma"/>
              </a:rPr>
              <a:t>,</a:t>
            </a:r>
            <a:r>
              <a:rPr sz="1000" spc="20" dirty="0">
                <a:latin typeface="Tahoma"/>
                <a:cs typeface="Tahoma"/>
              </a:rPr>
              <a:t> </a:t>
            </a:r>
            <a:r>
              <a:rPr sz="1000" spc="-40" dirty="0">
                <a:latin typeface="Tahoma"/>
                <a:cs typeface="Tahoma"/>
              </a:rPr>
              <a:t>then</a:t>
            </a:r>
            <a:r>
              <a:rPr sz="1000" spc="20" dirty="0">
                <a:latin typeface="Tahoma"/>
                <a:cs typeface="Tahoma"/>
              </a:rPr>
              <a:t> </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16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endParaRPr sz="1000">
              <a:latin typeface="Arial"/>
              <a:cs typeface="Arial"/>
            </a:endParaRPr>
          </a:p>
        </p:txBody>
      </p:sp>
      <p:pic>
        <p:nvPicPr>
          <p:cNvPr id="42" name="object 42"/>
          <p:cNvPicPr/>
          <p:nvPr/>
        </p:nvPicPr>
        <p:blipFill>
          <a:blip r:embed="rId8" cstate="print"/>
          <a:stretch>
            <a:fillRect/>
          </a:stretch>
        </p:blipFill>
        <p:spPr>
          <a:xfrm>
            <a:off x="830757" y="1762610"/>
            <a:ext cx="104301" cy="104301"/>
          </a:xfrm>
          <a:prstGeom prst="rect">
            <a:avLst/>
          </a:prstGeom>
        </p:spPr>
      </p:pic>
      <p:sp>
        <p:nvSpPr>
          <p:cNvPr id="43" name="object 43"/>
          <p:cNvSpPr txBox="1"/>
          <p:nvPr/>
        </p:nvSpPr>
        <p:spPr>
          <a:xfrm>
            <a:off x="830757" y="1762610"/>
            <a:ext cx="104775" cy="104775"/>
          </a:xfrm>
          <a:prstGeom prst="rect">
            <a:avLst/>
          </a:prstGeom>
        </p:spPr>
        <p:txBody>
          <a:bodyPr vert="horz" wrap="square" lIns="0" tIns="3175" rIns="0" bIns="0" rtlCol="0">
            <a:spAutoFit/>
          </a:bodyPr>
          <a:lstStyle/>
          <a:p>
            <a:pPr algn="ctr">
              <a:lnSpc>
                <a:spcPct val="100000"/>
              </a:lnSpc>
              <a:spcBef>
                <a:spcPts val="25"/>
              </a:spcBef>
            </a:pPr>
            <a:r>
              <a:rPr sz="500" spc="-15" dirty="0">
                <a:solidFill>
                  <a:srgbClr val="FFFFFF"/>
                </a:solidFill>
                <a:latin typeface="Microsoft Sans Serif"/>
                <a:cs typeface="Microsoft Sans Serif"/>
              </a:rPr>
              <a:t>4</a:t>
            </a:r>
            <a:endParaRPr sz="500">
              <a:latin typeface="Microsoft Sans Serif"/>
              <a:cs typeface="Microsoft Sans Serif"/>
            </a:endParaRPr>
          </a:p>
        </p:txBody>
      </p:sp>
      <p:sp>
        <p:nvSpPr>
          <p:cNvPr id="44" name="object 44"/>
          <p:cNvSpPr txBox="1"/>
          <p:nvPr/>
        </p:nvSpPr>
        <p:spPr>
          <a:xfrm>
            <a:off x="1002411" y="1658647"/>
            <a:ext cx="2600325" cy="231140"/>
          </a:xfrm>
          <a:prstGeom prst="rect">
            <a:avLst/>
          </a:prstGeom>
        </p:spPr>
        <p:txBody>
          <a:bodyPr vert="horz" wrap="square" lIns="0" tIns="12065" rIns="0" bIns="0" rtlCol="0">
            <a:spAutoFit/>
          </a:bodyPr>
          <a:lstStyle/>
          <a:p>
            <a:pPr marL="405130">
              <a:lnSpc>
                <a:spcPts val="630"/>
              </a:lnSpc>
              <a:spcBef>
                <a:spcPts val="95"/>
              </a:spcBef>
              <a:tabLst>
                <a:tab pos="1249680" algn="l"/>
                <a:tab pos="2347595" algn="l"/>
              </a:tabLst>
            </a:pPr>
            <a:r>
              <a:rPr sz="700" spc="-10" dirty="0">
                <a:latin typeface="Microsoft Sans Serif"/>
                <a:cs typeface="Microsoft Sans Serif"/>
              </a:rPr>
              <a:t>1:1	1:1	1:1</a:t>
            </a:r>
            <a:endParaRPr sz="700">
              <a:latin typeface="Microsoft Sans Serif"/>
              <a:cs typeface="Microsoft Sans Serif"/>
            </a:endParaRPr>
          </a:p>
          <a:p>
            <a:pPr>
              <a:lnSpc>
                <a:spcPts val="990"/>
              </a:lnSpc>
            </a:pPr>
            <a:r>
              <a:rPr sz="1000" spc="-5" dirty="0">
                <a:latin typeface="Tahoma"/>
                <a:cs typeface="Tahoma"/>
              </a:rPr>
              <a:t>if</a:t>
            </a:r>
            <a:r>
              <a:rPr sz="1000" spc="20"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a:t>
            </a:r>
            <a:r>
              <a:rPr sz="1000" i="1" spc="-110" dirty="0">
                <a:latin typeface="Arial"/>
                <a:cs typeface="Arial"/>
              </a:rPr>
              <a:t> </a:t>
            </a:r>
            <a:r>
              <a:rPr sz="1000" spc="-835" dirty="0">
                <a:latin typeface="Lucida Sans Unicode"/>
                <a:cs typeface="Lucida Sans Unicode"/>
              </a:rPr>
              <a:t>↣</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45" dirty="0">
                <a:latin typeface="Tahoma"/>
                <a:cs typeface="Tahoma"/>
              </a:rPr>
              <a:t>and</a:t>
            </a:r>
            <a:r>
              <a:rPr sz="1000" spc="20" dirty="0">
                <a:latin typeface="Tahoma"/>
                <a:cs typeface="Tahoma"/>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B</a:t>
            </a:r>
            <a:r>
              <a:rPr sz="1000" i="1" spc="-30" dirty="0">
                <a:latin typeface="Arial"/>
                <a:cs typeface="Arial"/>
              </a:rPr>
              <a:t> </a:t>
            </a:r>
            <a:r>
              <a:rPr sz="1000" spc="-835" dirty="0">
                <a:latin typeface="Lucida Sans Unicode"/>
                <a:cs typeface="Lucida Sans Unicode"/>
              </a:rPr>
              <a:t>↣</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r>
              <a:rPr sz="1000" i="1" spc="-160" dirty="0">
                <a:latin typeface="Arial"/>
                <a:cs typeface="Arial"/>
              </a:rPr>
              <a:t> </a:t>
            </a:r>
            <a:r>
              <a:rPr sz="1000" spc="-30" dirty="0">
                <a:latin typeface="Tahoma"/>
                <a:cs typeface="Tahoma"/>
              </a:rPr>
              <a:t>,</a:t>
            </a:r>
            <a:r>
              <a:rPr sz="1000" spc="20" dirty="0">
                <a:latin typeface="Tahoma"/>
                <a:cs typeface="Tahoma"/>
              </a:rPr>
              <a:t> </a:t>
            </a:r>
            <a:r>
              <a:rPr sz="1000" spc="-40" dirty="0">
                <a:latin typeface="Tahoma"/>
                <a:cs typeface="Tahoma"/>
              </a:rPr>
              <a:t>then</a:t>
            </a:r>
            <a:r>
              <a:rPr sz="1000" spc="20" dirty="0">
                <a:latin typeface="Tahoma"/>
                <a:cs typeface="Tahoma"/>
              </a:rPr>
              <a:t> </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a:t>
            </a:r>
            <a:r>
              <a:rPr sz="1000" i="1" spc="-110" dirty="0">
                <a:latin typeface="Arial"/>
                <a:cs typeface="Arial"/>
              </a:rPr>
              <a:t> </a:t>
            </a:r>
            <a:r>
              <a:rPr sz="1000" spc="-835" dirty="0">
                <a:latin typeface="Lucida Sans Unicode"/>
                <a:cs typeface="Lucida Sans Unicode"/>
              </a:rPr>
              <a:t>↣</a:t>
            </a:r>
            <a:r>
              <a:rPr sz="1000" spc="55" dirty="0">
                <a:latin typeface="Lucida Sans Unicode"/>
                <a:cs typeface="Lucida Sans Unicode"/>
              </a:rPr>
              <a:t>↠</a:t>
            </a:r>
            <a:r>
              <a:rPr sz="1000" spc="-40" dirty="0">
                <a:latin typeface="Lucida Sans Unicode"/>
                <a:cs typeface="Lucida Sans Unicode"/>
              </a:rPr>
              <a:t> </a:t>
            </a:r>
            <a:r>
              <a:rPr sz="1000" i="1" spc="-90" dirty="0">
                <a:latin typeface="Arial"/>
                <a:cs typeface="Arial"/>
              </a:rPr>
              <a:t>C</a:t>
            </a:r>
            <a:endParaRPr sz="1000">
              <a:latin typeface="Arial"/>
              <a:cs typeface="Arial"/>
            </a:endParaRPr>
          </a:p>
        </p:txBody>
      </p:sp>
      <p:sp>
        <p:nvSpPr>
          <p:cNvPr id="45" name="object 45"/>
          <p:cNvSpPr txBox="1"/>
          <p:nvPr/>
        </p:nvSpPr>
        <p:spPr>
          <a:xfrm>
            <a:off x="749363" y="2092749"/>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46" name="object 46"/>
          <p:cNvGrpSpPr/>
          <p:nvPr/>
        </p:nvGrpSpPr>
        <p:grpSpPr>
          <a:xfrm>
            <a:off x="698562" y="2119738"/>
            <a:ext cx="3831590" cy="1289050"/>
            <a:chOff x="698562" y="2119738"/>
            <a:chExt cx="3831590" cy="1289050"/>
          </a:xfrm>
        </p:grpSpPr>
        <p:pic>
          <p:nvPicPr>
            <p:cNvPr id="47" name="object 47"/>
            <p:cNvPicPr/>
            <p:nvPr/>
          </p:nvPicPr>
          <p:blipFill>
            <a:blip r:embed="rId7" cstate="print"/>
            <a:stretch>
              <a:fillRect/>
            </a:stretch>
          </p:blipFill>
          <p:spPr>
            <a:xfrm>
              <a:off x="698563" y="2220417"/>
              <a:ext cx="3780284" cy="50609"/>
            </a:xfrm>
            <a:prstGeom prst="rect">
              <a:avLst/>
            </a:prstGeom>
          </p:spPr>
        </p:pic>
        <p:sp>
          <p:nvSpPr>
            <p:cNvPr id="48" name="object 48"/>
            <p:cNvSpPr/>
            <p:nvPr/>
          </p:nvSpPr>
          <p:spPr>
            <a:xfrm>
              <a:off x="749363" y="2119738"/>
              <a:ext cx="3780790" cy="1289050"/>
            </a:xfrm>
            <a:custGeom>
              <a:avLst/>
              <a:gdLst/>
              <a:ahLst/>
              <a:cxnLst/>
              <a:rect l="l" t="t" r="r" b="b"/>
              <a:pathLst>
                <a:path w="3780790" h="1289050">
                  <a:moveTo>
                    <a:pt x="3780285" y="0"/>
                  </a:moveTo>
                  <a:lnTo>
                    <a:pt x="0" y="0"/>
                  </a:lnTo>
                  <a:lnTo>
                    <a:pt x="0" y="1288942"/>
                  </a:lnTo>
                  <a:lnTo>
                    <a:pt x="3780285" y="1288942"/>
                  </a:lnTo>
                  <a:lnTo>
                    <a:pt x="3780285" y="0"/>
                  </a:lnTo>
                  <a:close/>
                </a:path>
              </a:pathLst>
            </a:custGeom>
            <a:solidFill>
              <a:srgbClr val="000000"/>
            </a:solidFill>
          </p:spPr>
          <p:txBody>
            <a:bodyPr wrap="square" lIns="0" tIns="0" rIns="0" bIns="0" rtlCol="0"/>
            <a:lstStyle/>
            <a:p>
              <a:endParaRPr/>
            </a:p>
          </p:txBody>
        </p:sp>
        <p:sp>
          <p:nvSpPr>
            <p:cNvPr id="49" name="object 49"/>
            <p:cNvSpPr/>
            <p:nvPr/>
          </p:nvSpPr>
          <p:spPr>
            <a:xfrm>
              <a:off x="698562" y="2264684"/>
              <a:ext cx="3780790" cy="1093470"/>
            </a:xfrm>
            <a:custGeom>
              <a:avLst/>
              <a:gdLst/>
              <a:ahLst/>
              <a:cxnLst/>
              <a:rect l="l" t="t" r="r" b="b"/>
              <a:pathLst>
                <a:path w="3780790" h="1093470">
                  <a:moveTo>
                    <a:pt x="3780285" y="0"/>
                  </a:moveTo>
                  <a:lnTo>
                    <a:pt x="0" y="0"/>
                  </a:lnTo>
                  <a:lnTo>
                    <a:pt x="0" y="1042395"/>
                  </a:lnTo>
                  <a:lnTo>
                    <a:pt x="4008" y="1062120"/>
                  </a:lnTo>
                  <a:lnTo>
                    <a:pt x="14922" y="1078273"/>
                  </a:lnTo>
                  <a:lnTo>
                    <a:pt x="31075" y="1089187"/>
                  </a:lnTo>
                  <a:lnTo>
                    <a:pt x="50800" y="1093196"/>
                  </a:lnTo>
                  <a:lnTo>
                    <a:pt x="3729484" y="1093196"/>
                  </a:lnTo>
                  <a:lnTo>
                    <a:pt x="3749209" y="1089187"/>
                  </a:lnTo>
                  <a:lnTo>
                    <a:pt x="3765362" y="1078273"/>
                  </a:lnTo>
                  <a:lnTo>
                    <a:pt x="3776276" y="1062120"/>
                  </a:lnTo>
                  <a:lnTo>
                    <a:pt x="3780285" y="1042395"/>
                  </a:lnTo>
                  <a:lnTo>
                    <a:pt x="3780285" y="0"/>
                  </a:lnTo>
                  <a:close/>
                </a:path>
              </a:pathLst>
            </a:custGeom>
            <a:solidFill>
              <a:srgbClr val="E9E9F2"/>
            </a:solidFill>
          </p:spPr>
          <p:txBody>
            <a:bodyPr wrap="square" lIns="0" tIns="0" rIns="0" bIns="0" rtlCol="0"/>
            <a:lstStyle/>
            <a:p>
              <a:endParaRPr/>
            </a:p>
          </p:txBody>
        </p:sp>
      </p:grpSp>
      <p:sp>
        <p:nvSpPr>
          <p:cNvPr id="50" name="object 50"/>
          <p:cNvSpPr txBox="1"/>
          <p:nvPr/>
        </p:nvSpPr>
        <p:spPr>
          <a:xfrm>
            <a:off x="660463" y="2238646"/>
            <a:ext cx="3831590" cy="1088390"/>
          </a:xfrm>
          <a:prstGeom prst="rect">
            <a:avLst/>
          </a:prstGeom>
        </p:spPr>
        <p:txBody>
          <a:bodyPr vert="horz" wrap="square" lIns="0" tIns="12065" rIns="0" bIns="0" rtlCol="0">
            <a:spAutoFit/>
          </a:bodyPr>
          <a:lstStyle/>
          <a:p>
            <a:pPr marL="88265">
              <a:lnSpc>
                <a:spcPts val="1200"/>
              </a:lnSpc>
              <a:spcBef>
                <a:spcPts val="95"/>
              </a:spcBef>
            </a:pPr>
            <a:r>
              <a:rPr sz="1000" spc="-5" dirty="0">
                <a:latin typeface="Tahoma"/>
                <a:cs typeface="Tahoma"/>
              </a:rPr>
              <a:t>Let’s</a:t>
            </a:r>
            <a:r>
              <a:rPr sz="1000" spc="20" dirty="0">
                <a:latin typeface="Tahoma"/>
                <a:cs typeface="Tahoma"/>
              </a:rPr>
              <a:t> </a:t>
            </a:r>
            <a:r>
              <a:rPr sz="1000" spc="-55" dirty="0">
                <a:latin typeface="Tahoma"/>
                <a:cs typeface="Tahoma"/>
              </a:rPr>
              <a:t>prove</a:t>
            </a:r>
            <a:r>
              <a:rPr sz="1000" spc="20" dirty="0">
                <a:latin typeface="Tahoma"/>
                <a:cs typeface="Tahoma"/>
              </a:rPr>
              <a:t> </a:t>
            </a:r>
            <a:r>
              <a:rPr sz="1000" spc="-50" dirty="0">
                <a:latin typeface="Tahoma"/>
                <a:cs typeface="Tahoma"/>
              </a:rPr>
              <a:t>1</a:t>
            </a:r>
            <a:r>
              <a:rPr sz="1000" spc="20" dirty="0">
                <a:latin typeface="Tahoma"/>
                <a:cs typeface="Tahoma"/>
              </a:rPr>
              <a:t> </a:t>
            </a:r>
            <a:r>
              <a:rPr sz="1000" spc="-55" dirty="0">
                <a:latin typeface="Tahoma"/>
                <a:cs typeface="Tahoma"/>
              </a:rPr>
              <a:t>by</a:t>
            </a:r>
            <a:r>
              <a:rPr sz="1000" spc="20" dirty="0">
                <a:latin typeface="Tahoma"/>
                <a:cs typeface="Tahoma"/>
              </a:rPr>
              <a:t> </a:t>
            </a:r>
            <a:r>
              <a:rPr sz="1000" spc="-20" dirty="0">
                <a:latin typeface="Tahoma"/>
                <a:cs typeface="Tahoma"/>
              </a:rPr>
              <a:t>contradiction.</a:t>
            </a:r>
            <a:r>
              <a:rPr sz="1000" spc="130" dirty="0">
                <a:latin typeface="Tahoma"/>
                <a:cs typeface="Tahoma"/>
              </a:rPr>
              <a:t> </a:t>
            </a:r>
            <a:r>
              <a:rPr sz="1000" spc="-45" dirty="0">
                <a:latin typeface="Tahoma"/>
                <a:cs typeface="Tahoma"/>
              </a:rPr>
              <a:t>Suppose,</a:t>
            </a:r>
            <a:r>
              <a:rPr sz="1000" spc="20" dirty="0">
                <a:latin typeface="Tahoma"/>
                <a:cs typeface="Tahoma"/>
              </a:rPr>
              <a:t> </a:t>
            </a:r>
            <a:r>
              <a:rPr sz="1000" spc="-10" dirty="0">
                <a:latin typeface="Tahoma"/>
                <a:cs typeface="Tahoma"/>
              </a:rPr>
              <a:t>that</a:t>
            </a:r>
            <a:r>
              <a:rPr sz="1000" spc="20" dirty="0">
                <a:latin typeface="Tahoma"/>
                <a:cs typeface="Tahoma"/>
              </a:rPr>
              <a:t> </a:t>
            </a:r>
            <a:r>
              <a:rPr sz="1000" i="1" spc="25" dirty="0">
                <a:latin typeface="Arial"/>
                <a:cs typeface="Arial"/>
              </a:rPr>
              <a:t>f</a:t>
            </a:r>
            <a:r>
              <a:rPr sz="1000" i="1" spc="16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50" dirty="0">
                <a:latin typeface="Arial"/>
                <a:cs typeface="Arial"/>
              </a:rPr>
              <a:t> </a:t>
            </a:r>
            <a:r>
              <a:rPr sz="1000" spc="-35" dirty="0">
                <a:latin typeface="Tahoma"/>
                <a:cs typeface="Tahoma"/>
              </a:rPr>
              <a:t>-</a:t>
            </a:r>
            <a:r>
              <a:rPr sz="1000" spc="20" dirty="0">
                <a:latin typeface="Tahoma"/>
                <a:cs typeface="Tahoma"/>
              </a:rPr>
              <a:t> </a:t>
            </a:r>
            <a:r>
              <a:rPr sz="1000" spc="-30" dirty="0">
                <a:latin typeface="Tahoma"/>
                <a:cs typeface="Tahoma"/>
              </a:rPr>
              <a:t>is</a:t>
            </a:r>
            <a:r>
              <a:rPr sz="1000" spc="20" dirty="0">
                <a:latin typeface="Tahoma"/>
                <a:cs typeface="Tahoma"/>
              </a:rPr>
              <a:t> </a:t>
            </a:r>
            <a:r>
              <a:rPr sz="1000" spc="-25" dirty="0">
                <a:latin typeface="Tahoma"/>
                <a:cs typeface="Tahoma"/>
              </a:rPr>
              <a:t>not</a:t>
            </a:r>
            <a:r>
              <a:rPr sz="1000" spc="20" dirty="0">
                <a:latin typeface="Tahoma"/>
                <a:cs typeface="Tahoma"/>
              </a:rPr>
              <a:t> </a:t>
            </a:r>
            <a:r>
              <a:rPr sz="1000" spc="-30" dirty="0">
                <a:latin typeface="Tahoma"/>
                <a:cs typeface="Tahoma"/>
              </a:rPr>
              <a:t>injective.</a:t>
            </a:r>
            <a:endParaRPr sz="1000">
              <a:latin typeface="Tahoma"/>
              <a:cs typeface="Tahoma"/>
            </a:endParaRPr>
          </a:p>
          <a:p>
            <a:pPr marL="88900">
              <a:lnSpc>
                <a:spcPts val="1195"/>
              </a:lnSpc>
            </a:pPr>
            <a:r>
              <a:rPr sz="1000" spc="-40" dirty="0">
                <a:latin typeface="Tahoma"/>
                <a:cs typeface="Tahoma"/>
              </a:rPr>
              <a:t>It</a:t>
            </a:r>
            <a:r>
              <a:rPr sz="1000" spc="20" dirty="0">
                <a:latin typeface="Tahoma"/>
                <a:cs typeface="Tahoma"/>
              </a:rPr>
              <a:t> </a:t>
            </a:r>
            <a:r>
              <a:rPr sz="1000" spc="-55" dirty="0">
                <a:latin typeface="Tahoma"/>
                <a:cs typeface="Tahoma"/>
              </a:rPr>
              <a:t>means,</a:t>
            </a:r>
            <a:r>
              <a:rPr sz="1000" spc="20" dirty="0">
                <a:latin typeface="Tahoma"/>
                <a:cs typeface="Tahoma"/>
              </a:rPr>
              <a:t> </a:t>
            </a:r>
            <a:r>
              <a:rPr sz="1000" spc="-10" dirty="0">
                <a:latin typeface="Tahoma"/>
                <a:cs typeface="Tahoma"/>
              </a:rPr>
              <a:t>that</a:t>
            </a:r>
            <a:r>
              <a:rPr sz="1000" spc="15" dirty="0">
                <a:latin typeface="Tahoma"/>
                <a:cs typeface="Tahoma"/>
              </a:rPr>
              <a:t> </a:t>
            </a:r>
            <a:r>
              <a:rPr sz="1000" spc="-45" dirty="0">
                <a:latin typeface="Tahoma"/>
                <a:cs typeface="Tahoma"/>
              </a:rPr>
              <a:t>there</a:t>
            </a:r>
            <a:r>
              <a:rPr sz="1000" spc="15" dirty="0">
                <a:latin typeface="Tahoma"/>
                <a:cs typeface="Tahoma"/>
              </a:rPr>
              <a:t> </a:t>
            </a:r>
            <a:r>
              <a:rPr sz="1000" spc="-80" dirty="0">
                <a:latin typeface="Tahoma"/>
                <a:cs typeface="Tahoma"/>
              </a:rPr>
              <a:t>a</a:t>
            </a:r>
            <a:r>
              <a:rPr sz="1000" spc="-55" dirty="0">
                <a:latin typeface="Tahoma"/>
                <a:cs typeface="Tahoma"/>
              </a:rPr>
              <a:t>re</a:t>
            </a:r>
            <a:r>
              <a:rPr sz="1000" spc="20" dirty="0">
                <a:latin typeface="Tahoma"/>
                <a:cs typeface="Tahoma"/>
              </a:rPr>
              <a:t> </a:t>
            </a:r>
            <a:r>
              <a:rPr sz="1000" spc="-45" dirty="0">
                <a:latin typeface="Tahoma"/>
                <a:cs typeface="Tahoma"/>
              </a:rPr>
              <a:t>such</a:t>
            </a:r>
            <a:r>
              <a:rPr sz="1000" spc="20" dirty="0">
                <a:latin typeface="Tahoma"/>
                <a:cs typeface="Tahoma"/>
              </a:rPr>
              <a:t> </a:t>
            </a:r>
            <a:r>
              <a:rPr sz="1000" i="1" spc="-80" dirty="0">
                <a:latin typeface="Arial"/>
                <a:cs typeface="Arial"/>
              </a:rPr>
              <a:t>a</a:t>
            </a:r>
            <a:r>
              <a:rPr sz="1050" spc="44" baseline="-11904" dirty="0">
                <a:latin typeface="Microsoft Sans Serif"/>
                <a:cs typeface="Microsoft Sans Serif"/>
              </a:rPr>
              <a:t>1</a:t>
            </a:r>
            <a:r>
              <a:rPr sz="1000" i="1" spc="-90" dirty="0">
                <a:latin typeface="Verdana"/>
                <a:cs typeface="Verdana"/>
              </a:rPr>
              <a:t>,</a:t>
            </a:r>
            <a:r>
              <a:rPr sz="1000" i="1" spc="-185" dirty="0">
                <a:latin typeface="Verdana"/>
                <a:cs typeface="Verdana"/>
              </a:rPr>
              <a:t> </a:t>
            </a:r>
            <a:r>
              <a:rPr sz="1000" i="1" spc="-80" dirty="0">
                <a:latin typeface="Arial"/>
                <a:cs typeface="Arial"/>
              </a:rPr>
              <a:t>a</a:t>
            </a:r>
            <a:r>
              <a:rPr sz="1050" spc="-30" baseline="-11904" dirty="0">
                <a:latin typeface="Microsoft Sans Serif"/>
                <a:cs typeface="Microsoft Sans Serif"/>
              </a:rPr>
              <a:t>2</a:t>
            </a:r>
            <a:r>
              <a:rPr sz="1050" baseline="-11904" dirty="0">
                <a:latin typeface="Microsoft Sans Serif"/>
                <a:cs typeface="Microsoft Sans Serif"/>
              </a:rPr>
              <a:t> </a:t>
            </a:r>
            <a:r>
              <a:rPr sz="1050" spc="-75" baseline="-11904" dirty="0">
                <a:latin typeface="Microsoft Sans Serif"/>
                <a:cs typeface="Microsoft Sans Serif"/>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spc="-30" dirty="0">
                <a:latin typeface="Tahoma"/>
                <a:cs typeface="Tahoma"/>
              </a:rPr>
              <a:t>,</a:t>
            </a:r>
            <a:r>
              <a:rPr sz="1000" spc="20" dirty="0">
                <a:latin typeface="Tahoma"/>
                <a:cs typeface="Tahoma"/>
              </a:rPr>
              <a:t> </a:t>
            </a:r>
            <a:r>
              <a:rPr sz="1000" spc="-10" dirty="0">
                <a:latin typeface="Tahoma"/>
                <a:cs typeface="Tahoma"/>
              </a:rPr>
              <a:t>that</a:t>
            </a:r>
            <a:r>
              <a:rPr sz="1000" spc="20" dirty="0">
                <a:latin typeface="Tahoma"/>
                <a:cs typeface="Tahoma"/>
              </a:rPr>
              <a:t> </a:t>
            </a:r>
            <a:r>
              <a:rPr sz="1000" i="1" spc="-80" dirty="0">
                <a:latin typeface="Arial"/>
                <a:cs typeface="Arial"/>
              </a:rPr>
              <a:t>a</a:t>
            </a:r>
            <a:r>
              <a:rPr sz="1050" spc="-30" baseline="-11904" dirty="0">
                <a:latin typeface="Microsoft Sans Serif"/>
                <a:cs typeface="Microsoft Sans Serif"/>
              </a:rPr>
              <a:t>1</a:t>
            </a:r>
            <a:r>
              <a:rPr sz="1050" baseline="-11904" dirty="0">
                <a:latin typeface="Microsoft Sans Serif"/>
                <a:cs typeface="Microsoft Sans Serif"/>
              </a:rPr>
              <a:t> </a:t>
            </a:r>
            <a:r>
              <a:rPr sz="1050" spc="-75" baseline="-11904" dirty="0">
                <a:latin typeface="Microsoft Sans Serif"/>
                <a:cs typeface="Microsoft Sans Serif"/>
              </a:rPr>
              <a:t> </a:t>
            </a:r>
            <a:r>
              <a:rPr sz="1000" dirty="0">
                <a:latin typeface="Lucida Sans Unicode"/>
                <a:cs typeface="Lucida Sans Unicode"/>
              </a:rPr>
              <a:t≯</a:t>
            </a:r>
            <a:r>
              <a:rPr sz="1000" spc="45" dirty="0">
                <a:latin typeface="Tahoma"/>
                <a:cs typeface="Tahoma"/>
              </a:rPr>
              <a:t>=</a:t>
            </a:r>
            <a:r>
              <a:rPr sz="1000" spc="-35" dirty="0">
                <a:latin typeface="Tahoma"/>
                <a:cs typeface="Tahoma"/>
              </a:rPr>
              <a:t> </a:t>
            </a:r>
            <a:r>
              <a:rPr sz="1000" i="1" spc="-80" dirty="0">
                <a:latin typeface="Arial"/>
                <a:cs typeface="Arial"/>
              </a:rPr>
              <a:t>a</a:t>
            </a:r>
            <a:r>
              <a:rPr sz="1050" spc="-30" baseline="-11904" dirty="0">
                <a:latin typeface="Microsoft Sans Serif"/>
                <a:cs typeface="Microsoft Sans Serif"/>
              </a:rPr>
              <a:t>2</a:t>
            </a:r>
            <a:r>
              <a:rPr sz="1050" baseline="-11904" dirty="0">
                <a:latin typeface="Microsoft Sans Serif"/>
                <a:cs typeface="Microsoft Sans Serif"/>
              </a:rPr>
              <a:t> </a:t>
            </a:r>
            <a:r>
              <a:rPr sz="1050" spc="15" baseline="-11904" dirty="0">
                <a:latin typeface="Microsoft Sans Serif"/>
                <a:cs typeface="Microsoft Sans Serif"/>
              </a:rPr>
              <a:t> </a:t>
            </a:r>
            <a:r>
              <a:rPr sz="1000" spc="-45" dirty="0">
                <a:latin typeface="Tahoma"/>
                <a:cs typeface="Tahoma"/>
              </a:rPr>
              <a:t>and</a:t>
            </a:r>
            <a:endParaRPr sz="1000">
              <a:latin typeface="Tahoma"/>
              <a:cs typeface="Tahoma"/>
            </a:endParaRPr>
          </a:p>
          <a:p>
            <a:pPr marL="88900">
              <a:lnSpc>
                <a:spcPts val="1195"/>
              </a:lnSpc>
            </a:pPr>
            <a:r>
              <a:rPr sz="1000" spc="10" dirty="0">
                <a:latin typeface="Tahoma"/>
                <a:cs typeface="Tahoma"/>
              </a:rPr>
              <a:t>(</a:t>
            </a:r>
            <a:r>
              <a:rPr sz="1000" i="1" spc="10" dirty="0">
                <a:latin typeface="Arial"/>
                <a:cs typeface="Arial"/>
              </a:rPr>
              <a:t>f</a:t>
            </a:r>
            <a:r>
              <a:rPr sz="1000" i="1" spc="155" dirty="0">
                <a:latin typeface="Arial"/>
                <a:cs typeface="Arial"/>
              </a:rPr>
              <a:t> </a:t>
            </a:r>
            <a:r>
              <a:rPr sz="1000" spc="-65" dirty="0">
                <a:latin typeface="Lucida Sans Unicode"/>
                <a:cs typeface="Lucida Sans Unicode"/>
              </a:rPr>
              <a:t>◦</a:t>
            </a:r>
            <a:r>
              <a:rPr sz="1000" spc="-90" dirty="0">
                <a:latin typeface="Lucida Sans Unicode"/>
                <a:cs typeface="Lucida Sans Unicode"/>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00" spc="-10" dirty="0">
                <a:latin typeface="Tahoma"/>
                <a:cs typeface="Tahoma"/>
              </a:rPr>
              <a:t>)</a:t>
            </a:r>
            <a:r>
              <a:rPr sz="1000" spc="-35" dirty="0">
                <a:latin typeface="Tahoma"/>
                <a:cs typeface="Tahoma"/>
              </a:rPr>
              <a:t> </a:t>
            </a:r>
            <a:r>
              <a:rPr sz="1000" spc="45" dirty="0">
                <a:latin typeface="Tahoma"/>
                <a:cs typeface="Tahoma"/>
              </a:rPr>
              <a:t>=</a:t>
            </a:r>
            <a:r>
              <a:rPr sz="1000" spc="-35" dirty="0">
                <a:latin typeface="Tahoma"/>
                <a:cs typeface="Tahoma"/>
              </a:rPr>
              <a:t> </a:t>
            </a:r>
            <a:r>
              <a:rPr sz="1000" spc="10" dirty="0">
                <a:latin typeface="Tahoma"/>
                <a:cs typeface="Tahoma"/>
              </a:rPr>
              <a:t>(</a:t>
            </a:r>
            <a:r>
              <a:rPr sz="1000" i="1" spc="10" dirty="0">
                <a:latin typeface="Arial"/>
                <a:cs typeface="Arial"/>
              </a:rPr>
              <a:t>f</a:t>
            </a:r>
            <a:r>
              <a:rPr sz="1000" i="1" spc="16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70" dirty="0">
                <a:latin typeface="Arial"/>
                <a:cs typeface="Arial"/>
              </a:rPr>
              <a:t> </a:t>
            </a:r>
            <a:r>
              <a:rPr sz="1000" spc="-15" dirty="0">
                <a:latin typeface="Tahoma"/>
                <a:cs typeface="Tahoma"/>
              </a:rPr>
              <a:t>)(</a:t>
            </a:r>
            <a:r>
              <a:rPr sz="1000" i="1" spc="-15" dirty="0">
                <a:latin typeface="Arial"/>
                <a:cs typeface="Arial"/>
              </a:rPr>
              <a:t>a</a:t>
            </a:r>
            <a:r>
              <a:rPr sz="1050" spc="-22" baseline="-11904" dirty="0">
                <a:latin typeface="Microsoft Sans Serif"/>
                <a:cs typeface="Microsoft Sans Serif"/>
              </a:rPr>
              <a:t>2</a:t>
            </a:r>
            <a:r>
              <a:rPr sz="1000" spc="-15" dirty="0">
                <a:latin typeface="Tahoma"/>
                <a:cs typeface="Tahoma"/>
              </a:rPr>
              <a:t>).</a:t>
            </a:r>
            <a:r>
              <a:rPr sz="1000" spc="135" dirty="0">
                <a:latin typeface="Tahoma"/>
                <a:cs typeface="Tahoma"/>
              </a:rPr>
              <a:t> </a:t>
            </a:r>
            <a:r>
              <a:rPr sz="1000" spc="-10" dirty="0">
                <a:latin typeface="Tahoma"/>
                <a:cs typeface="Tahoma"/>
              </a:rPr>
              <a:t>Let</a:t>
            </a:r>
            <a:r>
              <a:rPr sz="1000" spc="15" dirty="0">
                <a:latin typeface="Tahoma"/>
                <a:cs typeface="Tahoma"/>
              </a:rPr>
              <a:t> </a:t>
            </a:r>
            <a:r>
              <a:rPr sz="1000" i="1" spc="-35" dirty="0">
                <a:latin typeface="Arial"/>
                <a:cs typeface="Arial"/>
              </a:rPr>
              <a:t>b</a:t>
            </a:r>
            <a:r>
              <a:rPr sz="1050" spc="-52" baseline="-11904" dirty="0">
                <a:latin typeface="Microsoft Sans Serif"/>
                <a:cs typeface="Microsoft Sans Serif"/>
              </a:rPr>
              <a:t>1</a:t>
            </a:r>
            <a:r>
              <a:rPr sz="1050" spc="-7" baseline="-11904" dirty="0">
                <a:latin typeface="Microsoft Sans Serif"/>
                <a:cs typeface="Microsoft Sans Serif"/>
              </a:rPr>
              <a:t> </a:t>
            </a:r>
            <a:r>
              <a:rPr sz="1000" spc="45" dirty="0">
                <a:latin typeface="Tahoma"/>
                <a:cs typeface="Tahoma"/>
              </a:rPr>
              <a:t>=</a:t>
            </a:r>
            <a:r>
              <a:rPr sz="1000" spc="-35" dirty="0">
                <a:latin typeface="Tahoma"/>
                <a:cs typeface="Tahoma"/>
              </a:rPr>
              <a:t> </a:t>
            </a:r>
            <a:r>
              <a:rPr sz="1000" i="1" spc="25" dirty="0">
                <a:latin typeface="Arial"/>
                <a:cs typeface="Arial"/>
              </a:rPr>
              <a:t>f</a:t>
            </a:r>
            <a:r>
              <a:rPr sz="1000" i="1" spc="-65"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00" spc="-10" dirty="0">
                <a:latin typeface="Tahoma"/>
                <a:cs typeface="Tahoma"/>
              </a:rPr>
              <a:t>)</a:t>
            </a:r>
            <a:r>
              <a:rPr sz="1000" spc="25" dirty="0">
                <a:latin typeface="Tahoma"/>
                <a:cs typeface="Tahoma"/>
              </a:rPr>
              <a:t> </a:t>
            </a:r>
            <a:r>
              <a:rPr sz="1000" spc="-45" dirty="0">
                <a:latin typeface="Tahoma"/>
                <a:cs typeface="Tahoma"/>
              </a:rPr>
              <a:t>and</a:t>
            </a:r>
            <a:r>
              <a:rPr sz="1000" spc="20" dirty="0">
                <a:latin typeface="Tahoma"/>
                <a:cs typeface="Tahoma"/>
              </a:rPr>
              <a:t> </a:t>
            </a:r>
            <a:r>
              <a:rPr sz="1000" i="1" spc="-35" dirty="0">
                <a:latin typeface="Arial"/>
                <a:cs typeface="Arial"/>
              </a:rPr>
              <a:t>b</a:t>
            </a:r>
            <a:r>
              <a:rPr sz="1050" spc="-52" baseline="-11904" dirty="0">
                <a:latin typeface="Microsoft Sans Serif"/>
                <a:cs typeface="Microsoft Sans Serif"/>
              </a:rPr>
              <a:t>2</a:t>
            </a:r>
            <a:r>
              <a:rPr sz="1050" spc="209" baseline="-11904" dirty="0">
                <a:latin typeface="Microsoft Sans Serif"/>
                <a:cs typeface="Microsoft Sans Serif"/>
              </a:rPr>
              <a:t> </a:t>
            </a:r>
            <a:r>
              <a:rPr sz="1000" spc="45" dirty="0">
                <a:latin typeface="Tahoma"/>
                <a:cs typeface="Tahoma"/>
              </a:rPr>
              <a:t>=</a:t>
            </a:r>
            <a:r>
              <a:rPr sz="1000" spc="-35" dirty="0">
                <a:latin typeface="Tahoma"/>
                <a:cs typeface="Tahoma"/>
              </a:rPr>
              <a:t> </a:t>
            </a:r>
            <a:r>
              <a:rPr sz="1000" i="1" spc="25" dirty="0">
                <a:latin typeface="Arial"/>
                <a:cs typeface="Arial"/>
              </a:rPr>
              <a:t>f</a:t>
            </a:r>
            <a:r>
              <a:rPr sz="1000" i="1" spc="-65" dirty="0">
                <a:latin typeface="Arial"/>
                <a:cs typeface="Arial"/>
              </a:rPr>
              <a:t> </a:t>
            </a:r>
            <a:r>
              <a:rPr sz="1000" spc="-15" dirty="0">
                <a:latin typeface="Tahoma"/>
                <a:cs typeface="Tahoma"/>
              </a:rPr>
              <a:t>(</a:t>
            </a:r>
            <a:r>
              <a:rPr sz="1000" i="1" spc="-15" dirty="0">
                <a:latin typeface="Arial"/>
                <a:cs typeface="Arial"/>
              </a:rPr>
              <a:t>a</a:t>
            </a:r>
            <a:r>
              <a:rPr sz="1050" spc="-22" baseline="-11904" dirty="0">
                <a:latin typeface="Microsoft Sans Serif"/>
                <a:cs typeface="Microsoft Sans Serif"/>
              </a:rPr>
              <a:t>2</a:t>
            </a:r>
            <a:r>
              <a:rPr sz="1000" spc="-15" dirty="0">
                <a:latin typeface="Tahoma"/>
                <a:cs typeface="Tahoma"/>
              </a:rPr>
              <a:t>).</a:t>
            </a:r>
            <a:r>
              <a:rPr sz="1000" spc="130" dirty="0">
                <a:latin typeface="Tahoma"/>
                <a:cs typeface="Tahoma"/>
              </a:rPr>
              <a:t> </a:t>
            </a:r>
            <a:r>
              <a:rPr sz="1000" spc="-20" dirty="0">
                <a:latin typeface="Tahoma"/>
                <a:cs typeface="Tahoma"/>
              </a:rPr>
              <a:t>Then</a:t>
            </a:r>
            <a:endParaRPr sz="1000">
              <a:latin typeface="Tahoma"/>
              <a:cs typeface="Tahoma"/>
            </a:endParaRPr>
          </a:p>
          <a:p>
            <a:pPr marL="88900" marR="55880">
              <a:lnSpc>
                <a:spcPts val="1200"/>
              </a:lnSpc>
              <a:spcBef>
                <a:spcPts val="40"/>
              </a:spcBef>
            </a:pPr>
            <a:r>
              <a:rPr sz="1000" spc="10" dirty="0">
                <a:latin typeface="Tahoma"/>
                <a:cs typeface="Tahoma"/>
              </a:rPr>
              <a:t>(</a:t>
            </a:r>
            <a:r>
              <a:rPr sz="1000" i="1" spc="10" dirty="0">
                <a:latin typeface="Arial"/>
                <a:cs typeface="Arial"/>
              </a:rPr>
              <a:t>f</a:t>
            </a:r>
            <a:r>
              <a:rPr sz="1000" i="1" spc="140" dirty="0">
                <a:latin typeface="Arial"/>
                <a:cs typeface="Arial"/>
              </a:rPr>
              <a:t> </a:t>
            </a:r>
            <a:r>
              <a:rPr sz="1000" spc="-65" dirty="0">
                <a:latin typeface="Lucida Sans Unicode"/>
                <a:cs typeface="Lucida Sans Unicode"/>
              </a:rPr>
              <a:t>◦</a:t>
            </a:r>
            <a:r>
              <a:rPr sz="1000" spc="-120" dirty="0">
                <a:latin typeface="Lucida Sans Unicode"/>
                <a:cs typeface="Lucida Sans Unicode"/>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00" spc="-10" dirty="0">
                <a:latin typeface="Tahoma"/>
                <a:cs typeface="Tahoma"/>
              </a:rPr>
              <a:t>)</a:t>
            </a:r>
            <a:r>
              <a:rPr sz="1000" spc="-30" dirty="0">
                <a:latin typeface="Tahoma"/>
                <a:cs typeface="Tahoma"/>
              </a:rPr>
              <a:t> </a:t>
            </a:r>
            <a:r>
              <a:rPr sz="1000" spc="45" dirty="0">
                <a:latin typeface="Tahoma"/>
                <a:cs typeface="Tahoma"/>
              </a:rPr>
              <a:t>=</a:t>
            </a:r>
            <a:r>
              <a:rPr sz="1000" spc="-35" dirty="0">
                <a:latin typeface="Tahoma"/>
                <a:cs typeface="Tahoma"/>
              </a:rPr>
              <a:t> </a:t>
            </a:r>
            <a:r>
              <a:rPr sz="1000" i="1" spc="-60" dirty="0">
                <a:latin typeface="Arial"/>
                <a:cs typeface="Arial"/>
              </a:rPr>
              <a:t>g</a:t>
            </a:r>
            <a:r>
              <a:rPr sz="1000" i="1" spc="-170" dirty="0">
                <a:latin typeface="Arial"/>
                <a:cs typeface="Arial"/>
              </a:rPr>
              <a:t> </a:t>
            </a:r>
            <a:r>
              <a:rPr sz="1000" spc="-5" dirty="0">
                <a:latin typeface="Tahoma"/>
                <a:cs typeface="Tahoma"/>
              </a:rPr>
              <a:t>(</a:t>
            </a:r>
            <a:r>
              <a:rPr sz="1000" i="1" spc="-5" dirty="0">
                <a:latin typeface="Arial"/>
                <a:cs typeface="Arial"/>
              </a:rPr>
              <a:t>b</a:t>
            </a:r>
            <a:r>
              <a:rPr sz="1050" spc="-7" baseline="-11904" dirty="0">
                <a:latin typeface="Microsoft Sans Serif"/>
                <a:cs typeface="Microsoft Sans Serif"/>
              </a:rPr>
              <a:t>1</a:t>
            </a:r>
            <a:r>
              <a:rPr sz="1000" spc="-5" dirty="0">
                <a:latin typeface="Tahoma"/>
                <a:cs typeface="Tahoma"/>
              </a:rPr>
              <a:t>)</a:t>
            </a:r>
            <a:r>
              <a:rPr sz="1000" spc="-30" dirty="0">
                <a:latin typeface="Tahoma"/>
                <a:cs typeface="Tahoma"/>
              </a:rPr>
              <a:t> </a:t>
            </a:r>
            <a:r>
              <a:rPr sz="1000" spc="45" dirty="0">
                <a:latin typeface="Tahoma"/>
                <a:cs typeface="Tahoma"/>
              </a:rPr>
              <a:t>=</a:t>
            </a:r>
            <a:r>
              <a:rPr sz="1000" spc="-35" dirty="0">
                <a:latin typeface="Tahoma"/>
                <a:cs typeface="Tahoma"/>
              </a:rPr>
              <a:t> </a:t>
            </a:r>
            <a:r>
              <a:rPr sz="1000" spc="10" dirty="0">
                <a:latin typeface="Tahoma"/>
                <a:cs typeface="Tahoma"/>
              </a:rPr>
              <a:t>(</a:t>
            </a:r>
            <a:r>
              <a:rPr sz="1000" i="1" spc="10" dirty="0">
                <a:latin typeface="Arial"/>
                <a:cs typeface="Arial"/>
              </a:rPr>
              <a:t>f</a:t>
            </a:r>
            <a:r>
              <a:rPr sz="1000" i="1" spc="140" dirty="0">
                <a:latin typeface="Arial"/>
                <a:cs typeface="Arial"/>
              </a:rPr>
              <a:t> </a:t>
            </a:r>
            <a:r>
              <a:rPr sz="1000" spc="-65" dirty="0">
                <a:latin typeface="Lucida Sans Unicode"/>
                <a:cs typeface="Lucida Sans Unicode"/>
              </a:rPr>
              <a:t>◦</a:t>
            </a:r>
            <a:r>
              <a:rPr sz="1000" spc="-114" dirty="0">
                <a:latin typeface="Lucida Sans Unicode"/>
                <a:cs typeface="Lucida Sans Unicode"/>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2</a:t>
            </a:r>
            <a:r>
              <a:rPr sz="1000" spc="-10" dirty="0">
                <a:latin typeface="Tahoma"/>
                <a:cs typeface="Tahoma"/>
              </a:rPr>
              <a:t>)</a:t>
            </a:r>
            <a:r>
              <a:rPr sz="1000" spc="-30" dirty="0">
                <a:latin typeface="Tahoma"/>
                <a:cs typeface="Tahoma"/>
              </a:rPr>
              <a:t> </a:t>
            </a:r>
            <a:r>
              <a:rPr sz="1000" spc="45" dirty="0">
                <a:latin typeface="Tahoma"/>
                <a:cs typeface="Tahoma"/>
              </a:rPr>
              <a:t>=</a:t>
            </a:r>
            <a:r>
              <a:rPr sz="1000" spc="-35" dirty="0">
                <a:latin typeface="Tahoma"/>
                <a:cs typeface="Tahoma"/>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b</a:t>
            </a:r>
            <a:r>
              <a:rPr sz="1050" spc="-15" baseline="-11904" dirty="0">
                <a:latin typeface="Microsoft Sans Serif"/>
                <a:cs typeface="Microsoft Sans Serif"/>
              </a:rPr>
              <a:t>2</a:t>
            </a:r>
            <a:r>
              <a:rPr sz="1000" spc="-10" dirty="0">
                <a:latin typeface="Tahoma"/>
                <a:cs typeface="Tahoma"/>
              </a:rPr>
              <a:t>),</a:t>
            </a:r>
            <a:r>
              <a:rPr sz="1000" spc="15" dirty="0">
                <a:latin typeface="Tahoma"/>
                <a:cs typeface="Tahoma"/>
              </a:rPr>
              <a:t> </a:t>
            </a:r>
            <a:r>
              <a:rPr sz="1000" spc="-35" dirty="0">
                <a:latin typeface="Tahoma"/>
                <a:cs typeface="Tahoma"/>
              </a:rPr>
              <a:t>i.e.</a:t>
            </a:r>
            <a:r>
              <a:rPr sz="1000" spc="130" dirty="0">
                <a:latin typeface="Tahoma"/>
                <a:cs typeface="Tahoma"/>
              </a:rPr>
              <a:t> </a:t>
            </a:r>
            <a:r>
              <a:rPr sz="1000" i="1" spc="-60" dirty="0">
                <a:latin typeface="Arial"/>
                <a:cs typeface="Arial"/>
              </a:rPr>
              <a:t>g</a:t>
            </a:r>
            <a:r>
              <a:rPr sz="1000" i="1" spc="-170" dirty="0">
                <a:latin typeface="Arial"/>
                <a:cs typeface="Arial"/>
              </a:rPr>
              <a:t> </a:t>
            </a:r>
            <a:r>
              <a:rPr sz="1000" spc="-5" dirty="0">
                <a:latin typeface="Tahoma"/>
                <a:cs typeface="Tahoma"/>
              </a:rPr>
              <a:t>(</a:t>
            </a:r>
            <a:r>
              <a:rPr sz="1000" i="1" spc="-5" dirty="0">
                <a:latin typeface="Arial"/>
                <a:cs typeface="Arial"/>
              </a:rPr>
              <a:t>b</a:t>
            </a:r>
            <a:r>
              <a:rPr sz="1050" spc="-7" baseline="-11904" dirty="0">
                <a:latin typeface="Microsoft Sans Serif"/>
                <a:cs typeface="Microsoft Sans Serif"/>
              </a:rPr>
              <a:t>1</a:t>
            </a:r>
            <a:r>
              <a:rPr sz="1000" spc="-5" dirty="0">
                <a:latin typeface="Tahoma"/>
                <a:cs typeface="Tahoma"/>
              </a:rPr>
              <a:t>)</a:t>
            </a:r>
            <a:r>
              <a:rPr sz="1000" spc="-30" dirty="0">
                <a:latin typeface="Tahoma"/>
                <a:cs typeface="Tahoma"/>
              </a:rPr>
              <a:t> </a:t>
            </a:r>
            <a:r>
              <a:rPr sz="1000" spc="45" dirty="0">
                <a:latin typeface="Tahoma"/>
                <a:cs typeface="Tahoma"/>
              </a:rPr>
              <a:t>=</a:t>
            </a:r>
            <a:r>
              <a:rPr sz="1000" spc="-40" dirty="0">
                <a:latin typeface="Tahoma"/>
                <a:cs typeface="Tahoma"/>
              </a:rPr>
              <a:t> </a:t>
            </a:r>
            <a:r>
              <a:rPr sz="1000" i="1" spc="-60" dirty="0">
                <a:latin typeface="Arial"/>
                <a:cs typeface="Arial"/>
              </a:rPr>
              <a:t>g</a:t>
            </a:r>
            <a:r>
              <a:rPr sz="1000" i="1" spc="-165" dirty="0">
                <a:latin typeface="Arial"/>
                <a:cs typeface="Arial"/>
              </a:rPr>
              <a:t> </a:t>
            </a:r>
            <a:r>
              <a:rPr sz="1000" spc="-10" dirty="0">
                <a:latin typeface="Tahoma"/>
                <a:cs typeface="Tahoma"/>
              </a:rPr>
              <a:t>(</a:t>
            </a:r>
            <a:r>
              <a:rPr sz="1000" i="1" spc="-10" dirty="0">
                <a:latin typeface="Arial"/>
                <a:cs typeface="Arial"/>
              </a:rPr>
              <a:t>b</a:t>
            </a:r>
            <a:r>
              <a:rPr sz="1050" spc="-15" baseline="-11904" dirty="0">
                <a:latin typeface="Microsoft Sans Serif"/>
                <a:cs typeface="Microsoft Sans Serif"/>
              </a:rPr>
              <a:t>2</a:t>
            </a:r>
            <a:r>
              <a:rPr sz="1000" spc="-10" dirty="0">
                <a:latin typeface="Tahoma"/>
                <a:cs typeface="Tahoma"/>
              </a:rPr>
              <a:t>).</a:t>
            </a:r>
            <a:r>
              <a:rPr sz="1000" spc="130" dirty="0">
                <a:latin typeface="Tahoma"/>
                <a:cs typeface="Tahoma"/>
              </a:rPr>
              <a:t> </a:t>
            </a:r>
            <a:r>
              <a:rPr sz="1000" spc="-5" dirty="0">
                <a:latin typeface="Tahoma"/>
                <a:cs typeface="Tahoma"/>
              </a:rPr>
              <a:t>As</a:t>
            </a:r>
            <a:r>
              <a:rPr sz="1000" spc="10" dirty="0">
                <a:latin typeface="Tahoma"/>
                <a:cs typeface="Tahoma"/>
              </a:rPr>
              <a:t> </a:t>
            </a:r>
            <a:r>
              <a:rPr sz="1000" spc="-40" dirty="0">
                <a:latin typeface="Tahoma"/>
                <a:cs typeface="Tahoma"/>
              </a:rPr>
              <a:t>far </a:t>
            </a:r>
            <a:r>
              <a:rPr sz="1000" spc="-300" dirty="0">
                <a:latin typeface="Tahoma"/>
                <a:cs typeface="Tahoma"/>
              </a:rPr>
              <a:t> </a:t>
            </a:r>
            <a:r>
              <a:rPr sz="1000" spc="-60" dirty="0">
                <a:latin typeface="Tahoma"/>
                <a:cs typeface="Tahoma"/>
              </a:rPr>
              <a:t>as </a:t>
            </a:r>
            <a:r>
              <a:rPr sz="1000" i="1" spc="-60" dirty="0">
                <a:latin typeface="Arial"/>
                <a:cs typeface="Arial"/>
              </a:rPr>
              <a:t>g</a:t>
            </a:r>
            <a:r>
              <a:rPr sz="1000" i="1" spc="-55" dirty="0">
                <a:latin typeface="Arial"/>
                <a:cs typeface="Arial"/>
              </a:rPr>
              <a:t> </a:t>
            </a:r>
            <a:r>
              <a:rPr sz="1000" spc="-30" dirty="0">
                <a:latin typeface="Tahoma"/>
                <a:cs typeface="Tahoma"/>
              </a:rPr>
              <a:t>is injective, </a:t>
            </a:r>
            <a:r>
              <a:rPr sz="1000" spc="-40" dirty="0">
                <a:latin typeface="Tahoma"/>
                <a:cs typeface="Tahoma"/>
              </a:rPr>
              <a:t>then </a:t>
            </a:r>
            <a:r>
              <a:rPr sz="1000" i="1" spc="-35" dirty="0">
                <a:latin typeface="Arial"/>
                <a:cs typeface="Arial"/>
              </a:rPr>
              <a:t>b</a:t>
            </a:r>
            <a:r>
              <a:rPr sz="1050" spc="-52" baseline="-11904" dirty="0">
                <a:latin typeface="Microsoft Sans Serif"/>
                <a:cs typeface="Microsoft Sans Serif"/>
              </a:rPr>
              <a:t>1</a:t>
            </a:r>
            <a:r>
              <a:rPr sz="1050" spc="-44" baseline="-11904" dirty="0">
                <a:latin typeface="Microsoft Sans Serif"/>
                <a:cs typeface="Microsoft Sans Serif"/>
              </a:rPr>
              <a:t> </a:t>
            </a:r>
            <a:r>
              <a:rPr sz="1000" spc="45" dirty="0">
                <a:latin typeface="Tahoma"/>
                <a:cs typeface="Tahoma"/>
              </a:rPr>
              <a:t>= </a:t>
            </a:r>
            <a:r>
              <a:rPr sz="1000" i="1" spc="-15" dirty="0">
                <a:latin typeface="Arial"/>
                <a:cs typeface="Arial"/>
              </a:rPr>
              <a:t>b</a:t>
            </a:r>
            <a:r>
              <a:rPr sz="1050" spc="-22" baseline="-11904" dirty="0">
                <a:latin typeface="Microsoft Sans Serif"/>
                <a:cs typeface="Microsoft Sans Serif"/>
              </a:rPr>
              <a:t>2</a:t>
            </a:r>
            <a:r>
              <a:rPr sz="1000" spc="-15" dirty="0">
                <a:latin typeface="Tahoma"/>
                <a:cs typeface="Tahoma"/>
              </a:rPr>
              <a:t>, </a:t>
            </a:r>
            <a:r>
              <a:rPr sz="1000" spc="-35" dirty="0">
                <a:latin typeface="Tahoma"/>
                <a:cs typeface="Tahoma"/>
              </a:rPr>
              <a:t>i.e.</a:t>
            </a:r>
            <a:r>
              <a:rPr sz="1000" spc="-30" dirty="0">
                <a:latin typeface="Tahoma"/>
                <a:cs typeface="Tahoma"/>
              </a:rPr>
              <a:t> </a:t>
            </a:r>
            <a:r>
              <a:rPr sz="1000" i="1" spc="25" dirty="0">
                <a:latin typeface="Arial"/>
                <a:cs typeface="Arial"/>
              </a:rPr>
              <a:t>f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00" spc="-10" dirty="0">
                <a:latin typeface="Tahoma"/>
                <a:cs typeface="Tahoma"/>
              </a:rPr>
              <a:t>) </a:t>
            </a:r>
            <a:r>
              <a:rPr sz="1000" spc="45" dirty="0">
                <a:latin typeface="Tahoma"/>
                <a:cs typeface="Tahoma"/>
              </a:rPr>
              <a:t>= </a:t>
            </a:r>
            <a:r>
              <a:rPr sz="1000" i="1" spc="25" dirty="0">
                <a:latin typeface="Arial"/>
                <a:cs typeface="Arial"/>
              </a:rPr>
              <a:t>f </a:t>
            </a:r>
            <a:r>
              <a:rPr sz="1000" spc="-15" dirty="0">
                <a:latin typeface="Tahoma"/>
                <a:cs typeface="Tahoma"/>
              </a:rPr>
              <a:t>(</a:t>
            </a:r>
            <a:r>
              <a:rPr sz="1000" i="1" spc="-15" dirty="0">
                <a:latin typeface="Arial"/>
                <a:cs typeface="Arial"/>
              </a:rPr>
              <a:t>a</a:t>
            </a:r>
            <a:r>
              <a:rPr sz="1050" spc="-22" baseline="-11904" dirty="0">
                <a:latin typeface="Microsoft Sans Serif"/>
                <a:cs typeface="Microsoft Sans Serif"/>
              </a:rPr>
              <a:t>2</a:t>
            </a:r>
            <a:r>
              <a:rPr sz="1000" spc="-15" dirty="0">
                <a:latin typeface="Tahoma"/>
                <a:cs typeface="Tahoma"/>
              </a:rPr>
              <a:t>). </a:t>
            </a:r>
            <a:r>
              <a:rPr sz="1000" spc="15" dirty="0">
                <a:latin typeface="Tahoma"/>
                <a:cs typeface="Tahoma"/>
              </a:rPr>
              <a:t>But </a:t>
            </a:r>
            <a:r>
              <a:rPr sz="1000" i="1" spc="25" dirty="0">
                <a:latin typeface="Arial"/>
                <a:cs typeface="Arial"/>
              </a:rPr>
              <a:t>f</a:t>
            </a:r>
            <a:r>
              <a:rPr sz="1000" i="1" spc="30" dirty="0">
                <a:latin typeface="Arial"/>
                <a:cs typeface="Arial"/>
              </a:rPr>
              <a:t> </a:t>
            </a:r>
            <a:r>
              <a:rPr sz="1000" spc="-30" dirty="0">
                <a:latin typeface="Tahoma"/>
                <a:cs typeface="Tahoma"/>
              </a:rPr>
              <a:t>is </a:t>
            </a:r>
            <a:r>
              <a:rPr sz="1000" spc="-50" dirty="0">
                <a:latin typeface="Tahoma"/>
                <a:cs typeface="Tahoma"/>
              </a:rPr>
              <a:t>alse </a:t>
            </a:r>
            <a:r>
              <a:rPr sz="1000" spc="-45" dirty="0">
                <a:latin typeface="Tahoma"/>
                <a:cs typeface="Tahoma"/>
              </a:rPr>
              <a:t> </a:t>
            </a:r>
            <a:r>
              <a:rPr sz="1000" spc="-30" dirty="0">
                <a:latin typeface="Tahoma"/>
                <a:cs typeface="Tahoma"/>
              </a:rPr>
              <a:t>injective, </a:t>
            </a:r>
            <a:r>
              <a:rPr sz="1000" spc="-55" dirty="0">
                <a:latin typeface="Tahoma"/>
                <a:cs typeface="Tahoma"/>
              </a:rPr>
              <a:t>so </a:t>
            </a:r>
            <a:r>
              <a:rPr sz="1000" i="1" spc="-50" dirty="0">
                <a:latin typeface="Arial"/>
                <a:cs typeface="Arial"/>
              </a:rPr>
              <a:t>a</a:t>
            </a:r>
            <a:r>
              <a:rPr sz="1050" spc="-75" baseline="-11904" dirty="0">
                <a:latin typeface="Microsoft Sans Serif"/>
                <a:cs typeface="Microsoft Sans Serif"/>
              </a:rPr>
              <a:t>1</a:t>
            </a:r>
            <a:r>
              <a:rPr sz="1050" spc="-67" baseline="-11904" dirty="0">
                <a:latin typeface="Microsoft Sans Serif"/>
                <a:cs typeface="Microsoft Sans Serif"/>
              </a:rPr>
              <a:t> </a:t>
            </a:r>
            <a:r>
              <a:rPr sz="1000" spc="45" dirty="0">
                <a:latin typeface="Tahoma"/>
                <a:cs typeface="Tahoma"/>
              </a:rPr>
              <a:t>= </a:t>
            </a:r>
            <a:r>
              <a:rPr sz="1000" i="1" spc="-50" dirty="0">
                <a:latin typeface="Arial"/>
                <a:cs typeface="Arial"/>
              </a:rPr>
              <a:t>a</a:t>
            </a:r>
            <a:r>
              <a:rPr sz="1050" spc="-75" baseline="-11904" dirty="0">
                <a:latin typeface="Microsoft Sans Serif"/>
                <a:cs typeface="Microsoft Sans Serif"/>
              </a:rPr>
              <a:t>2</a:t>
            </a:r>
            <a:r>
              <a:rPr sz="1050" spc="-67" baseline="-11904" dirty="0">
                <a:latin typeface="Microsoft Sans Serif"/>
                <a:cs typeface="Microsoft Sans Serif"/>
              </a:rPr>
              <a:t> </a:t>
            </a:r>
            <a:r>
              <a:rPr sz="1000" spc="-35" dirty="0">
                <a:latin typeface="Tahoma"/>
                <a:cs typeface="Tahoma"/>
              </a:rPr>
              <a:t>- </a:t>
            </a:r>
            <a:r>
              <a:rPr sz="1000" spc="-20" dirty="0">
                <a:latin typeface="Tahoma"/>
                <a:cs typeface="Tahoma"/>
              </a:rPr>
              <a:t>contradiction.</a:t>
            </a:r>
            <a:r>
              <a:rPr sz="1000" spc="-15" dirty="0">
                <a:latin typeface="Tahoma"/>
                <a:cs typeface="Tahoma"/>
              </a:rPr>
              <a:t> </a:t>
            </a:r>
            <a:r>
              <a:rPr sz="1000" spc="-20" dirty="0">
                <a:latin typeface="Tahoma"/>
                <a:cs typeface="Tahoma"/>
              </a:rPr>
              <a:t>Other </a:t>
            </a:r>
            <a:r>
              <a:rPr sz="1000" spc="-60" dirty="0">
                <a:latin typeface="Tahoma"/>
                <a:cs typeface="Tahoma"/>
              </a:rPr>
              <a:t>cases</a:t>
            </a:r>
            <a:r>
              <a:rPr sz="1000" spc="-55" dirty="0">
                <a:latin typeface="Tahoma"/>
                <a:cs typeface="Tahoma"/>
              </a:rPr>
              <a:t> </a:t>
            </a:r>
            <a:r>
              <a:rPr sz="1000" spc="-65" dirty="0">
                <a:latin typeface="Tahoma"/>
                <a:cs typeface="Tahoma"/>
              </a:rPr>
              <a:t>are</a:t>
            </a:r>
            <a:r>
              <a:rPr sz="1000" spc="180" dirty="0">
                <a:latin typeface="Tahoma"/>
                <a:cs typeface="Tahoma"/>
              </a:rPr>
              <a:t> </a:t>
            </a:r>
            <a:r>
              <a:rPr sz="1000" spc="-50" dirty="0">
                <a:latin typeface="Tahoma"/>
                <a:cs typeface="Tahoma"/>
              </a:rPr>
              <a:t>proved </a:t>
            </a:r>
            <a:r>
              <a:rPr sz="1000" spc="-45" dirty="0">
                <a:latin typeface="Tahoma"/>
                <a:cs typeface="Tahoma"/>
              </a:rPr>
              <a:t> </a:t>
            </a:r>
            <a:r>
              <a:rPr sz="1000" spc="-35" dirty="0">
                <a:latin typeface="Tahoma"/>
                <a:cs typeface="Tahoma"/>
              </a:rPr>
              <a:t>analogically.</a:t>
            </a:r>
            <a:endParaRPr sz="1000">
              <a:latin typeface="Tahoma"/>
              <a:cs typeface="Tahoma"/>
            </a:endParaRPr>
          </a:p>
        </p:txBody>
      </p:sp>
      <p:grpSp>
        <p:nvGrpSpPr>
          <p:cNvPr id="51" name="object 51"/>
          <p:cNvGrpSpPr/>
          <p:nvPr/>
        </p:nvGrpSpPr>
        <p:grpSpPr>
          <a:xfrm>
            <a:off x="4335779" y="3203448"/>
            <a:ext cx="86360" cy="85725"/>
            <a:chOff x="4335779" y="3203448"/>
            <a:chExt cx="86360" cy="85725"/>
          </a:xfrm>
        </p:grpSpPr>
        <p:sp>
          <p:nvSpPr>
            <p:cNvPr id="52" name="object 52"/>
            <p:cNvSpPr/>
            <p:nvPr/>
          </p:nvSpPr>
          <p:spPr>
            <a:xfrm>
              <a:off x="4338307" y="3203448"/>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53" name="object 53"/>
            <p:cNvSpPr/>
            <p:nvPr/>
          </p:nvSpPr>
          <p:spPr>
            <a:xfrm>
              <a:off x="4340834" y="3205975"/>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4" name="object 54"/>
            <p:cNvSpPr/>
            <p:nvPr/>
          </p:nvSpPr>
          <p:spPr>
            <a:xfrm>
              <a:off x="4340834" y="3286328"/>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5" name="object 55"/>
            <p:cNvSpPr/>
            <p:nvPr/>
          </p:nvSpPr>
          <p:spPr>
            <a:xfrm>
              <a:off x="4419282" y="3203448"/>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95910" cy="315595"/>
          </a:xfrm>
          <a:prstGeom prst="rect">
            <a:avLst/>
          </a:prstGeom>
        </p:spPr>
        <p:txBody>
          <a:bodyPr vert="horz" wrap="square" lIns="0" tIns="12065" rIns="0" bIns="0" rtlCol="0">
            <a:spAutoFit/>
          </a:bodyPr>
          <a:lstStyle/>
          <a:p>
            <a:pPr marL="12700" marR="15875">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a:p>
            <a:pPr>
              <a:lnSpc>
                <a:spcPct val="100000"/>
              </a:lnSpc>
              <a:spcBef>
                <a:spcPts val="30"/>
              </a:spcBef>
            </a:pPr>
            <a:endParaRPr sz="400">
              <a:latin typeface="Microsoft Sans Serif"/>
              <a:cs typeface="Microsoft Sans Serif"/>
            </a:endParaRPr>
          </a:p>
          <a:p>
            <a:pPr marL="12700">
              <a:lnSpc>
                <a:spcPct val="100000"/>
              </a:lnSpc>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6" name="object 6"/>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7" name="object 7"/>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8" name="object 8"/>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9" name="object 9"/>
          <p:cNvGrpSpPr/>
          <p:nvPr/>
        </p:nvGrpSpPr>
        <p:grpSpPr>
          <a:xfrm>
            <a:off x="3260445" y="3358384"/>
            <a:ext cx="203200" cy="55880"/>
            <a:chOff x="3260445" y="3358384"/>
            <a:chExt cx="203200" cy="55880"/>
          </a:xfrm>
        </p:grpSpPr>
        <p:sp>
          <p:nvSpPr>
            <p:cNvPr id="10" name="object 1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1" name="object 1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2" name="object 12"/>
          <p:cNvGrpSpPr/>
          <p:nvPr/>
        </p:nvGrpSpPr>
        <p:grpSpPr>
          <a:xfrm>
            <a:off x="3531425" y="3357119"/>
            <a:ext cx="203200" cy="58419"/>
            <a:chOff x="3531425" y="3357119"/>
            <a:chExt cx="203200" cy="58419"/>
          </a:xfrm>
        </p:grpSpPr>
        <p:sp>
          <p:nvSpPr>
            <p:cNvPr id="13" name="object 13"/>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4" name="object 14"/>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5" name="object 15"/>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6" name="object 16"/>
          <p:cNvGrpSpPr/>
          <p:nvPr/>
        </p:nvGrpSpPr>
        <p:grpSpPr>
          <a:xfrm>
            <a:off x="3802393" y="3357119"/>
            <a:ext cx="203200" cy="58419"/>
            <a:chOff x="3802393" y="3357119"/>
            <a:chExt cx="203200" cy="58419"/>
          </a:xfrm>
        </p:grpSpPr>
        <p:sp>
          <p:nvSpPr>
            <p:cNvPr id="17" name="object 17"/>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8" name="object 18"/>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0" name="object 20"/>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1" name="object 21"/>
          <p:cNvGrpSpPr/>
          <p:nvPr/>
        </p:nvGrpSpPr>
        <p:grpSpPr>
          <a:xfrm>
            <a:off x="4326582" y="3358384"/>
            <a:ext cx="238760" cy="57150"/>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5" name="object 25"/>
          <p:cNvGrpSpPr/>
          <p:nvPr/>
        </p:nvGrpSpPr>
        <p:grpSpPr>
          <a:xfrm>
            <a:off x="0" y="0"/>
            <a:ext cx="4608195" cy="569595"/>
            <a:chOff x="0" y="0"/>
            <a:chExt cx="4608195" cy="569595"/>
          </a:xfrm>
        </p:grpSpPr>
        <p:sp>
          <p:nvSpPr>
            <p:cNvPr id="26" name="object 26"/>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7" name="object 27"/>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8" name="object 28"/>
          <p:cNvSpPr txBox="1">
            <a:spLocks noGrp="1"/>
          </p:cNvSpPr>
          <p:nvPr>
            <p:ph type="title"/>
          </p:nvPr>
        </p:nvSpPr>
        <p:spPr>
          <a:xfrm>
            <a:off x="664667" y="144815"/>
            <a:ext cx="1384935" cy="244475"/>
          </a:xfrm>
          <a:prstGeom prst="rect">
            <a:avLst/>
          </a:prstGeom>
        </p:spPr>
        <p:txBody>
          <a:bodyPr vert="horz" wrap="square" lIns="0" tIns="17145" rIns="0" bIns="0" rtlCol="0">
            <a:spAutoFit/>
          </a:bodyPr>
          <a:lstStyle/>
          <a:p>
            <a:pPr marL="12700">
              <a:lnSpc>
                <a:spcPct val="100000"/>
              </a:lnSpc>
              <a:spcBef>
                <a:spcPts val="135"/>
              </a:spcBef>
            </a:pPr>
            <a:r>
              <a:rPr spc="-45" dirty="0"/>
              <a:t>Inverse</a:t>
            </a:r>
            <a:r>
              <a:rPr spc="55" dirty="0"/>
              <a:t> </a:t>
            </a:r>
            <a:r>
              <a:rPr spc="-40" dirty="0"/>
              <a:t>mapping</a:t>
            </a:r>
          </a:p>
        </p:txBody>
      </p:sp>
      <p:sp>
        <p:nvSpPr>
          <p:cNvPr id="29" name="object 29"/>
          <p:cNvSpPr/>
          <p:nvPr/>
        </p:nvSpPr>
        <p:spPr>
          <a:xfrm>
            <a:off x="698562" y="814171"/>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0" name="object 30"/>
          <p:cNvSpPr txBox="1"/>
          <p:nvPr/>
        </p:nvSpPr>
        <p:spPr>
          <a:xfrm>
            <a:off x="749363" y="844110"/>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1" name="object 31"/>
          <p:cNvGrpSpPr/>
          <p:nvPr/>
        </p:nvGrpSpPr>
        <p:grpSpPr>
          <a:xfrm>
            <a:off x="698562" y="871107"/>
            <a:ext cx="3831590" cy="530225"/>
            <a:chOff x="698562" y="871107"/>
            <a:chExt cx="3831590" cy="530225"/>
          </a:xfrm>
        </p:grpSpPr>
        <p:pic>
          <p:nvPicPr>
            <p:cNvPr id="32" name="object 32"/>
            <p:cNvPicPr/>
            <p:nvPr/>
          </p:nvPicPr>
          <p:blipFill>
            <a:blip r:embed="rId7" cstate="print"/>
            <a:stretch>
              <a:fillRect/>
            </a:stretch>
          </p:blipFill>
          <p:spPr>
            <a:xfrm>
              <a:off x="698563" y="971765"/>
              <a:ext cx="3780284" cy="50609"/>
            </a:xfrm>
            <a:prstGeom prst="rect">
              <a:avLst/>
            </a:prstGeom>
          </p:spPr>
        </p:pic>
        <p:sp>
          <p:nvSpPr>
            <p:cNvPr id="33" name="object 33"/>
            <p:cNvSpPr/>
            <p:nvPr/>
          </p:nvSpPr>
          <p:spPr>
            <a:xfrm>
              <a:off x="749363" y="871107"/>
              <a:ext cx="3780790" cy="530225"/>
            </a:xfrm>
            <a:custGeom>
              <a:avLst/>
              <a:gdLst/>
              <a:ahLst/>
              <a:cxnLst/>
              <a:rect l="l" t="t" r="r" b="b"/>
              <a:pathLst>
                <a:path w="3780790" h="530225">
                  <a:moveTo>
                    <a:pt x="3780285" y="0"/>
                  </a:moveTo>
                  <a:lnTo>
                    <a:pt x="0" y="0"/>
                  </a:lnTo>
                  <a:lnTo>
                    <a:pt x="0" y="529779"/>
                  </a:lnTo>
                  <a:lnTo>
                    <a:pt x="3780285" y="529779"/>
                  </a:lnTo>
                  <a:lnTo>
                    <a:pt x="3780285" y="0"/>
                  </a:lnTo>
                  <a:close/>
                </a:path>
              </a:pathLst>
            </a:custGeom>
            <a:solidFill>
              <a:srgbClr val="000000"/>
            </a:solidFill>
          </p:spPr>
          <p:txBody>
            <a:bodyPr wrap="square" lIns="0" tIns="0" rIns="0" bIns="0" rtlCol="0"/>
            <a:lstStyle/>
            <a:p>
              <a:endParaRPr/>
            </a:p>
          </p:txBody>
        </p:sp>
        <p:sp>
          <p:nvSpPr>
            <p:cNvPr id="34" name="object 34"/>
            <p:cNvSpPr/>
            <p:nvPr/>
          </p:nvSpPr>
          <p:spPr>
            <a:xfrm>
              <a:off x="698562" y="1016053"/>
              <a:ext cx="3780790" cy="334645"/>
            </a:xfrm>
            <a:custGeom>
              <a:avLst/>
              <a:gdLst/>
              <a:ahLst/>
              <a:cxnLst/>
              <a:rect l="l" t="t" r="r" b="b"/>
              <a:pathLst>
                <a:path w="3780790" h="334644">
                  <a:moveTo>
                    <a:pt x="3780285" y="0"/>
                  </a:moveTo>
                  <a:lnTo>
                    <a:pt x="0" y="0"/>
                  </a:lnTo>
                  <a:lnTo>
                    <a:pt x="0" y="283232"/>
                  </a:lnTo>
                  <a:lnTo>
                    <a:pt x="4008" y="302957"/>
                  </a:lnTo>
                  <a:lnTo>
                    <a:pt x="14922" y="319110"/>
                  </a:lnTo>
                  <a:lnTo>
                    <a:pt x="31075" y="330024"/>
                  </a:lnTo>
                  <a:lnTo>
                    <a:pt x="50800" y="334033"/>
                  </a:lnTo>
                  <a:lnTo>
                    <a:pt x="3729484" y="334033"/>
                  </a:lnTo>
                  <a:lnTo>
                    <a:pt x="3749209" y="330024"/>
                  </a:lnTo>
                  <a:lnTo>
                    <a:pt x="3765362" y="319110"/>
                  </a:lnTo>
                  <a:lnTo>
                    <a:pt x="3776276" y="302957"/>
                  </a:lnTo>
                  <a:lnTo>
                    <a:pt x="3780285" y="283232"/>
                  </a:lnTo>
                  <a:lnTo>
                    <a:pt x="3780285" y="0"/>
                  </a:lnTo>
                  <a:close/>
                </a:path>
              </a:pathLst>
            </a:custGeom>
            <a:solidFill>
              <a:srgbClr val="E9E9F2"/>
            </a:solidFill>
          </p:spPr>
          <p:txBody>
            <a:bodyPr wrap="square" lIns="0" tIns="0" rIns="0" bIns="0" rtlCol="0"/>
            <a:lstStyle/>
            <a:p>
              <a:endParaRPr/>
            </a:p>
          </p:txBody>
        </p:sp>
      </p:grpSp>
      <p:sp>
        <p:nvSpPr>
          <p:cNvPr id="35" name="object 35"/>
          <p:cNvSpPr txBox="1"/>
          <p:nvPr/>
        </p:nvSpPr>
        <p:spPr>
          <a:xfrm>
            <a:off x="749363" y="989995"/>
            <a:ext cx="3492500" cy="177800"/>
          </a:xfrm>
          <a:prstGeom prst="rect">
            <a:avLst/>
          </a:prstGeom>
        </p:spPr>
        <p:txBody>
          <a:bodyPr vert="horz" wrap="square" lIns="0" tIns="12065" rIns="0" bIns="0" rtlCol="0">
            <a:spAutoFit/>
          </a:bodyPr>
          <a:lstStyle/>
          <a:p>
            <a:pPr>
              <a:lnSpc>
                <a:spcPct val="100000"/>
              </a:lnSpc>
              <a:spcBef>
                <a:spcPts val="95"/>
              </a:spcBef>
            </a:pPr>
            <a:r>
              <a:rPr sz="1000" spc="-10" dirty="0">
                <a:latin typeface="Tahoma"/>
                <a:cs typeface="Tahoma"/>
              </a:rPr>
              <a:t>Let</a:t>
            </a:r>
            <a:r>
              <a:rPr sz="1000" spc="15" dirty="0">
                <a:latin typeface="Tahoma"/>
                <a:cs typeface="Tahoma"/>
              </a:rPr>
              <a:t> </a:t>
            </a:r>
            <a:r>
              <a:rPr sz="1000" i="1" spc="25" dirty="0">
                <a:latin typeface="Arial"/>
                <a:cs typeface="Arial"/>
              </a:rPr>
              <a:t>f</a:t>
            </a:r>
            <a:r>
              <a:rPr sz="1000" i="1" dirty="0">
                <a:latin typeface="Arial"/>
                <a:cs typeface="Arial"/>
              </a:rPr>
              <a:t> </a:t>
            </a:r>
            <a:r>
              <a:rPr sz="1000" i="1" spc="-65" dirty="0">
                <a:latin typeface="Arial"/>
                <a:cs typeface="Arial"/>
              </a:rPr>
              <a:t> </a:t>
            </a:r>
            <a:r>
              <a:rPr sz="1000" spc="-80" dirty="0">
                <a:latin typeface="Tahoma"/>
                <a:cs typeface="Tahoma"/>
              </a:rPr>
              <a:t>:</a:t>
            </a:r>
            <a:r>
              <a:rPr sz="1000" spc="-40" dirty="0">
                <a:latin typeface="Tahoma"/>
                <a:cs typeface="Tahoma"/>
              </a:rPr>
              <a:t> </a:t>
            </a:r>
            <a:r>
              <a:rPr sz="1000" i="1" spc="-5" dirty="0">
                <a:latin typeface="Arial"/>
                <a:cs typeface="Arial"/>
              </a:rPr>
              <a:t>A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B</a:t>
            </a:r>
            <a:r>
              <a:rPr sz="1000" i="1" spc="135" dirty="0">
                <a:latin typeface="Arial"/>
                <a:cs typeface="Arial"/>
              </a:rPr>
              <a:t> </a:t>
            </a:r>
            <a:r>
              <a:rPr sz="1000" spc="-45" dirty="0">
                <a:latin typeface="Tahoma"/>
                <a:cs typeface="Tahoma"/>
              </a:rPr>
              <a:t>and</a:t>
            </a:r>
            <a:r>
              <a:rPr sz="1000" spc="20" dirty="0">
                <a:latin typeface="Tahoma"/>
                <a:cs typeface="Tahoma"/>
              </a:rPr>
              <a:t> </a:t>
            </a:r>
            <a:r>
              <a:rPr sz="1000" i="1" spc="-60" dirty="0">
                <a:latin typeface="Arial"/>
                <a:cs typeface="Arial"/>
              </a:rPr>
              <a:t>g</a:t>
            </a:r>
            <a:r>
              <a:rPr sz="1000" i="1" spc="10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B</a:t>
            </a:r>
            <a:r>
              <a:rPr sz="1000" i="1" spc="80"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55" dirty="0">
                <a:latin typeface="Arial"/>
                <a:cs typeface="Arial"/>
              </a:rPr>
              <a:t> </a:t>
            </a:r>
            <a:r>
              <a:rPr sz="1000" spc="-15" dirty="0">
                <a:latin typeface="Tahoma"/>
                <a:cs typeface="Tahoma"/>
              </a:rPr>
              <a:t>b</a:t>
            </a:r>
            <a:r>
              <a:rPr sz="1000" spc="-85" dirty="0">
                <a:latin typeface="Tahoma"/>
                <a:cs typeface="Tahoma"/>
              </a:rPr>
              <a:t>e</a:t>
            </a:r>
            <a:r>
              <a:rPr sz="1000" spc="15" dirty="0">
                <a:latin typeface="Tahoma"/>
                <a:cs typeface="Tahoma"/>
              </a:rPr>
              <a:t> </a:t>
            </a:r>
            <a:r>
              <a:rPr sz="1000" spc="-5" dirty="0">
                <a:latin typeface="Tahoma"/>
                <a:cs typeface="Tahoma"/>
              </a:rPr>
              <a:t>t</a:t>
            </a:r>
            <a:r>
              <a:rPr sz="1000" spc="-95" dirty="0">
                <a:latin typeface="Tahoma"/>
                <a:cs typeface="Tahoma"/>
              </a:rPr>
              <a:t>w</a:t>
            </a:r>
            <a:r>
              <a:rPr sz="1000" spc="-45" dirty="0">
                <a:latin typeface="Tahoma"/>
                <a:cs typeface="Tahoma"/>
              </a:rPr>
              <a:t>o</a:t>
            </a:r>
            <a:r>
              <a:rPr sz="1000" spc="15" dirty="0">
                <a:latin typeface="Tahoma"/>
                <a:cs typeface="Tahoma"/>
              </a:rPr>
              <a:t> </a:t>
            </a:r>
            <a:r>
              <a:rPr sz="1000" spc="-40" dirty="0">
                <a:latin typeface="Tahoma"/>
                <a:cs typeface="Tahoma"/>
              </a:rPr>
              <a:t>mappings.</a:t>
            </a:r>
            <a:r>
              <a:rPr sz="1000" spc="130" dirty="0">
                <a:latin typeface="Tahoma"/>
                <a:cs typeface="Tahoma"/>
              </a:rPr>
              <a:t> </a:t>
            </a:r>
            <a:r>
              <a:rPr sz="1000" spc="-20" dirty="0">
                <a:latin typeface="Tahoma"/>
                <a:cs typeface="Tahoma"/>
              </a:rPr>
              <a:t>Then</a:t>
            </a:r>
            <a:r>
              <a:rPr sz="1000" spc="20" dirty="0">
                <a:latin typeface="Tahoma"/>
                <a:cs typeface="Tahoma"/>
              </a:rPr>
              <a:t> </a:t>
            </a:r>
            <a:r>
              <a:rPr sz="1000" i="1" spc="-60" dirty="0">
                <a:latin typeface="Arial"/>
                <a:cs typeface="Arial"/>
              </a:rPr>
              <a:t>g</a:t>
            </a:r>
            <a:r>
              <a:rPr sz="1000" i="1" dirty="0">
                <a:latin typeface="Arial"/>
                <a:cs typeface="Arial"/>
              </a:rPr>
              <a:t> </a:t>
            </a:r>
            <a:r>
              <a:rPr sz="1000" i="1" spc="-120" dirty="0">
                <a:latin typeface="Arial"/>
                <a:cs typeface="Arial"/>
              </a:rPr>
              <a:t> </a:t>
            </a:r>
            <a:r>
              <a:rPr sz="1000" spc="-30" dirty="0">
                <a:latin typeface="Tahoma"/>
                <a:cs typeface="Tahoma"/>
              </a:rPr>
              <a:t>is</a:t>
            </a:r>
            <a:r>
              <a:rPr sz="1000" spc="20" dirty="0">
                <a:latin typeface="Tahoma"/>
                <a:cs typeface="Tahoma"/>
              </a:rPr>
              <a:t> </a:t>
            </a:r>
            <a:r>
              <a:rPr sz="1000" spc="-30" dirty="0">
                <a:latin typeface="Tahoma"/>
                <a:cs typeface="Tahoma"/>
              </a:rPr>
              <a:t>called</a:t>
            </a:r>
            <a:endParaRPr sz="1000">
              <a:latin typeface="Tahoma"/>
              <a:cs typeface="Tahoma"/>
            </a:endParaRPr>
          </a:p>
        </p:txBody>
      </p:sp>
      <p:sp>
        <p:nvSpPr>
          <p:cNvPr id="36" name="object 36"/>
          <p:cNvSpPr txBox="1"/>
          <p:nvPr/>
        </p:nvSpPr>
        <p:spPr>
          <a:xfrm>
            <a:off x="723963" y="1141824"/>
            <a:ext cx="2453005" cy="177800"/>
          </a:xfrm>
          <a:prstGeom prst="rect">
            <a:avLst/>
          </a:prstGeom>
        </p:spPr>
        <p:txBody>
          <a:bodyPr vert="horz" wrap="square" lIns="0" tIns="12065" rIns="0" bIns="0" rtlCol="0">
            <a:spAutoFit/>
          </a:bodyPr>
          <a:lstStyle/>
          <a:p>
            <a:pPr marL="25400">
              <a:lnSpc>
                <a:spcPct val="100000"/>
              </a:lnSpc>
              <a:spcBef>
                <a:spcPts val="95"/>
              </a:spcBef>
            </a:pPr>
            <a:r>
              <a:rPr sz="1000" b="1" spc="-55" dirty="0">
                <a:latin typeface="Arial"/>
                <a:cs typeface="Arial"/>
              </a:rPr>
              <a:t>inverse</a:t>
            </a:r>
            <a:r>
              <a:rPr sz="1000" b="1" spc="50" dirty="0">
                <a:latin typeface="Arial"/>
                <a:cs typeface="Arial"/>
              </a:rPr>
              <a:t> </a:t>
            </a:r>
            <a:r>
              <a:rPr sz="1000" spc="-10" dirty="0">
                <a:latin typeface="Tahoma"/>
                <a:cs typeface="Tahoma"/>
              </a:rPr>
              <a:t>to</a:t>
            </a:r>
            <a:r>
              <a:rPr sz="1000" spc="15" dirty="0">
                <a:latin typeface="Tahoma"/>
                <a:cs typeface="Tahoma"/>
              </a:rPr>
              <a:t> </a:t>
            </a:r>
            <a:r>
              <a:rPr sz="1000" i="1" spc="25" dirty="0">
                <a:latin typeface="Arial"/>
                <a:cs typeface="Arial"/>
              </a:rPr>
              <a:t>f</a:t>
            </a:r>
            <a:r>
              <a:rPr sz="1000" i="1" spc="-65" dirty="0">
                <a:latin typeface="Arial"/>
                <a:cs typeface="Arial"/>
              </a:rPr>
              <a:t> </a:t>
            </a:r>
            <a:r>
              <a:rPr sz="1000" spc="-30" dirty="0">
                <a:latin typeface="Tahoma"/>
                <a:cs typeface="Tahoma"/>
              </a:rPr>
              <a:t>,</a:t>
            </a:r>
            <a:r>
              <a:rPr sz="1000" spc="20" dirty="0">
                <a:latin typeface="Tahoma"/>
                <a:cs typeface="Tahoma"/>
              </a:rPr>
              <a:t> </a:t>
            </a:r>
            <a:r>
              <a:rPr sz="1000" spc="-20" dirty="0">
                <a:latin typeface="Tahoma"/>
                <a:cs typeface="Tahoma"/>
              </a:rPr>
              <a:t>iff</a:t>
            </a:r>
            <a:r>
              <a:rPr sz="1000" spc="20" dirty="0">
                <a:latin typeface="Tahoma"/>
                <a:cs typeface="Tahoma"/>
              </a:rPr>
              <a:t> </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05" dirty="0">
                <a:latin typeface="Arial"/>
                <a:cs typeface="Arial"/>
              </a:rPr>
              <a:t> </a:t>
            </a:r>
            <a:r>
              <a:rPr sz="1000" spc="45" dirty="0">
                <a:latin typeface="Tahoma"/>
                <a:cs typeface="Tahoma"/>
              </a:rPr>
              <a:t>=</a:t>
            </a:r>
            <a:r>
              <a:rPr sz="1000" spc="-35" dirty="0">
                <a:latin typeface="Tahoma"/>
                <a:cs typeface="Tahoma"/>
              </a:rPr>
              <a:t> </a:t>
            </a:r>
            <a:r>
              <a:rPr sz="1000" i="1" spc="-15" dirty="0">
                <a:latin typeface="Arial"/>
                <a:cs typeface="Arial"/>
              </a:rPr>
              <a:t>id</a:t>
            </a:r>
            <a:r>
              <a:rPr sz="1050" i="1" spc="37" baseline="-11904" dirty="0">
                <a:latin typeface="Arial"/>
                <a:cs typeface="Arial"/>
              </a:rPr>
              <a:t>A</a:t>
            </a:r>
            <a:r>
              <a:rPr sz="1050" i="1" baseline="-11904" dirty="0">
                <a:latin typeface="Arial"/>
                <a:cs typeface="Arial"/>
              </a:rPr>
              <a:t> </a:t>
            </a:r>
            <a:r>
              <a:rPr sz="1050" i="1" spc="-15" baseline="-11904" dirty="0">
                <a:latin typeface="Arial"/>
                <a:cs typeface="Arial"/>
              </a:rPr>
              <a:t> </a:t>
            </a:r>
            <a:r>
              <a:rPr sz="1000" spc="-45" dirty="0">
                <a:latin typeface="Tahoma"/>
                <a:cs typeface="Tahoma"/>
              </a:rPr>
              <a:t>and</a:t>
            </a:r>
            <a:r>
              <a:rPr sz="1000" spc="20" dirty="0">
                <a:latin typeface="Tahoma"/>
                <a:cs typeface="Tahoma"/>
              </a:rPr>
              <a:t> </a:t>
            </a:r>
            <a:r>
              <a:rPr sz="1000" i="1" spc="-60" dirty="0">
                <a:latin typeface="Arial"/>
                <a:cs typeface="Arial"/>
              </a:rPr>
              <a:t>g</a:t>
            </a:r>
            <a:r>
              <a:rPr sz="1000" i="1" spc="5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25" dirty="0">
                <a:latin typeface="Arial"/>
                <a:cs typeface="Arial"/>
              </a:rPr>
              <a:t>f</a:t>
            </a:r>
            <a:r>
              <a:rPr sz="1000" i="1" dirty="0">
                <a:latin typeface="Arial"/>
                <a:cs typeface="Arial"/>
              </a:rPr>
              <a:t> </a:t>
            </a:r>
            <a:r>
              <a:rPr sz="1000" i="1" spc="-65" dirty="0">
                <a:latin typeface="Arial"/>
                <a:cs typeface="Arial"/>
              </a:rPr>
              <a:t> </a:t>
            </a:r>
            <a:r>
              <a:rPr sz="1000" spc="45" dirty="0">
                <a:latin typeface="Tahoma"/>
                <a:cs typeface="Tahoma"/>
              </a:rPr>
              <a:t>=</a:t>
            </a:r>
            <a:r>
              <a:rPr sz="1000" spc="-35" dirty="0">
                <a:latin typeface="Tahoma"/>
                <a:cs typeface="Tahoma"/>
              </a:rPr>
              <a:t> </a:t>
            </a:r>
            <a:r>
              <a:rPr sz="1000" i="1" spc="-15" dirty="0">
                <a:latin typeface="Arial"/>
                <a:cs typeface="Arial"/>
              </a:rPr>
              <a:t>id</a:t>
            </a:r>
            <a:r>
              <a:rPr sz="1050" i="1" spc="37" baseline="-11904" dirty="0">
                <a:latin typeface="Arial"/>
                <a:cs typeface="Arial"/>
              </a:rPr>
              <a:t>B</a:t>
            </a:r>
            <a:r>
              <a:rPr sz="1050" i="1" spc="-135" baseline="-11904" dirty="0">
                <a:latin typeface="Arial"/>
                <a:cs typeface="Arial"/>
              </a:rPr>
              <a:t> </a:t>
            </a:r>
            <a:r>
              <a:rPr sz="1000" spc="-30" dirty="0">
                <a:latin typeface="Tahoma"/>
                <a:cs typeface="Tahoma"/>
              </a:rPr>
              <a:t>.</a:t>
            </a:r>
            <a:endParaRPr sz="1000">
              <a:latin typeface="Tahoma"/>
              <a:cs typeface="Tahoma"/>
            </a:endParaRPr>
          </a:p>
        </p:txBody>
      </p:sp>
      <p:sp>
        <p:nvSpPr>
          <p:cNvPr id="37" name="object 37"/>
          <p:cNvSpPr/>
          <p:nvPr/>
        </p:nvSpPr>
        <p:spPr>
          <a:xfrm>
            <a:off x="698562" y="1502003"/>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1531942"/>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39" name="object 39"/>
          <p:cNvGrpSpPr/>
          <p:nvPr/>
        </p:nvGrpSpPr>
        <p:grpSpPr>
          <a:xfrm>
            <a:off x="698562" y="1558942"/>
            <a:ext cx="3831590" cy="535940"/>
            <a:chOff x="698562" y="1558942"/>
            <a:chExt cx="3831590" cy="535940"/>
          </a:xfrm>
        </p:grpSpPr>
        <p:pic>
          <p:nvPicPr>
            <p:cNvPr id="40" name="object 40"/>
            <p:cNvPicPr/>
            <p:nvPr/>
          </p:nvPicPr>
          <p:blipFill>
            <a:blip r:embed="rId7" cstate="print"/>
            <a:stretch>
              <a:fillRect/>
            </a:stretch>
          </p:blipFill>
          <p:spPr>
            <a:xfrm>
              <a:off x="698563" y="1665223"/>
              <a:ext cx="3780284" cy="50609"/>
            </a:xfrm>
            <a:prstGeom prst="rect">
              <a:avLst/>
            </a:prstGeom>
          </p:spPr>
        </p:pic>
        <p:sp>
          <p:nvSpPr>
            <p:cNvPr id="41" name="object 41"/>
            <p:cNvSpPr/>
            <p:nvPr/>
          </p:nvSpPr>
          <p:spPr>
            <a:xfrm>
              <a:off x="749363" y="1558942"/>
              <a:ext cx="3780790" cy="535940"/>
            </a:xfrm>
            <a:custGeom>
              <a:avLst/>
              <a:gdLst/>
              <a:ahLst/>
              <a:cxnLst/>
              <a:rect l="l" t="t" r="r" b="b"/>
              <a:pathLst>
                <a:path w="3780790" h="535939">
                  <a:moveTo>
                    <a:pt x="3780285" y="0"/>
                  </a:moveTo>
                  <a:lnTo>
                    <a:pt x="0" y="0"/>
                  </a:lnTo>
                  <a:lnTo>
                    <a:pt x="0" y="535402"/>
                  </a:lnTo>
                  <a:lnTo>
                    <a:pt x="3780285" y="535402"/>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1709511"/>
              <a:ext cx="3780790" cy="334645"/>
            </a:xfrm>
            <a:custGeom>
              <a:avLst/>
              <a:gdLst/>
              <a:ahLst/>
              <a:cxnLst/>
              <a:rect l="l" t="t" r="r" b="b"/>
              <a:pathLst>
                <a:path w="3780790" h="334644">
                  <a:moveTo>
                    <a:pt x="3780285" y="0"/>
                  </a:moveTo>
                  <a:lnTo>
                    <a:pt x="0" y="0"/>
                  </a:lnTo>
                  <a:lnTo>
                    <a:pt x="0" y="283232"/>
                  </a:lnTo>
                  <a:lnTo>
                    <a:pt x="4008" y="302957"/>
                  </a:lnTo>
                  <a:lnTo>
                    <a:pt x="14922" y="319110"/>
                  </a:lnTo>
                  <a:lnTo>
                    <a:pt x="31075" y="330024"/>
                  </a:lnTo>
                  <a:lnTo>
                    <a:pt x="50800" y="334033"/>
                  </a:lnTo>
                  <a:lnTo>
                    <a:pt x="3729484" y="334033"/>
                  </a:lnTo>
                  <a:lnTo>
                    <a:pt x="3749209" y="330024"/>
                  </a:lnTo>
                  <a:lnTo>
                    <a:pt x="3765362" y="319110"/>
                  </a:lnTo>
                  <a:lnTo>
                    <a:pt x="3776276" y="302957"/>
                  </a:lnTo>
                  <a:lnTo>
                    <a:pt x="3780285" y="283232"/>
                  </a:lnTo>
                  <a:lnTo>
                    <a:pt x="3780285" y="0"/>
                  </a:lnTo>
                  <a:close/>
                </a:path>
              </a:pathLst>
            </a:custGeom>
            <a:solidFill>
              <a:srgbClr val="E9E9F2"/>
            </a:solidFill>
          </p:spPr>
          <p:txBody>
            <a:bodyPr wrap="square" lIns="0" tIns="0" rIns="0" bIns="0" rtlCol="0"/>
            <a:lstStyle/>
            <a:p>
              <a:endParaRPr/>
            </a:p>
          </p:txBody>
        </p:sp>
      </p:grpSp>
      <p:sp>
        <p:nvSpPr>
          <p:cNvPr id="43" name="object 43"/>
          <p:cNvSpPr txBox="1"/>
          <p:nvPr/>
        </p:nvSpPr>
        <p:spPr>
          <a:xfrm>
            <a:off x="749363" y="1683453"/>
            <a:ext cx="3636010" cy="329565"/>
          </a:xfrm>
          <a:prstGeom prst="rect">
            <a:avLst/>
          </a:prstGeom>
        </p:spPr>
        <p:txBody>
          <a:bodyPr vert="horz" wrap="square" lIns="0" tIns="12065" rIns="0" bIns="0" rtlCol="0">
            <a:spAutoFit/>
          </a:bodyPr>
          <a:lstStyle/>
          <a:p>
            <a:pPr marR="5080">
              <a:lnSpc>
                <a:spcPct val="100000"/>
              </a:lnSpc>
              <a:spcBef>
                <a:spcPts val="95"/>
              </a:spcBef>
            </a:pPr>
            <a:r>
              <a:rPr sz="1000" spc="-60" dirty="0">
                <a:latin typeface="Tahoma"/>
                <a:cs typeface="Tahoma"/>
              </a:rPr>
              <a:t>If</a:t>
            </a:r>
            <a:r>
              <a:rPr sz="1000" spc="20" dirty="0">
                <a:latin typeface="Tahoma"/>
                <a:cs typeface="Tahoma"/>
              </a:rPr>
              <a:t> </a:t>
            </a:r>
            <a:r>
              <a:rPr sz="1000" spc="-40" dirty="0">
                <a:latin typeface="Tahoma"/>
                <a:cs typeface="Tahoma"/>
              </a:rPr>
              <a:t>for</a:t>
            </a:r>
            <a:r>
              <a:rPr sz="1000" spc="20" dirty="0">
                <a:latin typeface="Tahoma"/>
                <a:cs typeface="Tahoma"/>
              </a:rPr>
              <a:t> </a:t>
            </a:r>
            <a:r>
              <a:rPr sz="1000" spc="-65" dirty="0">
                <a:latin typeface="Tahoma"/>
                <a:cs typeface="Tahoma"/>
              </a:rPr>
              <a:t>some</a:t>
            </a:r>
            <a:r>
              <a:rPr sz="1000" spc="20" dirty="0">
                <a:latin typeface="Tahoma"/>
                <a:cs typeface="Tahoma"/>
              </a:rPr>
              <a:t> </a:t>
            </a:r>
            <a:r>
              <a:rPr sz="1000" spc="-40" dirty="0">
                <a:latin typeface="Tahoma"/>
                <a:cs typeface="Tahoma"/>
              </a:rPr>
              <a:t>mapping</a:t>
            </a:r>
            <a:r>
              <a:rPr sz="1000" spc="20" dirty="0">
                <a:latin typeface="Tahoma"/>
                <a:cs typeface="Tahoma"/>
              </a:rPr>
              <a:t> </a:t>
            </a:r>
            <a:r>
              <a:rPr sz="1000" i="1" spc="25" dirty="0">
                <a:latin typeface="Arial"/>
                <a:cs typeface="Arial"/>
              </a:rPr>
              <a:t>f</a:t>
            </a:r>
            <a:r>
              <a:rPr sz="1000" i="1" spc="21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 </a:t>
            </a:r>
            <a:r>
              <a:rPr sz="1000" spc="55" dirty="0">
                <a:latin typeface="Lucida Sans Unicode"/>
                <a:cs typeface="Lucida Sans Unicode"/>
              </a:rPr>
              <a:t>→</a:t>
            </a:r>
            <a:r>
              <a:rPr sz="1000" spc="-35" dirty="0">
                <a:latin typeface="Lucida Sans Unicode"/>
                <a:cs typeface="Lucida Sans Unicode"/>
              </a:rPr>
              <a:t> </a:t>
            </a:r>
            <a:r>
              <a:rPr sz="1000" i="1" spc="-5" dirty="0">
                <a:latin typeface="Arial"/>
                <a:cs typeface="Arial"/>
              </a:rPr>
              <a:t>B</a:t>
            </a:r>
            <a:r>
              <a:rPr sz="1000" i="1" spc="135" dirty="0">
                <a:latin typeface="Arial"/>
                <a:cs typeface="Arial"/>
              </a:rPr>
              <a:t> </a:t>
            </a:r>
            <a:r>
              <a:rPr sz="1000" spc="-35" dirty="0">
                <a:latin typeface="Tahoma"/>
                <a:cs typeface="Tahoma"/>
              </a:rPr>
              <a:t>the</a:t>
            </a:r>
            <a:r>
              <a:rPr sz="1000" spc="15" dirty="0">
                <a:latin typeface="Tahoma"/>
                <a:cs typeface="Tahoma"/>
              </a:rPr>
              <a:t> </a:t>
            </a:r>
            <a:r>
              <a:rPr sz="1000" spc="-50" dirty="0">
                <a:latin typeface="Tahoma"/>
                <a:cs typeface="Tahoma"/>
              </a:rPr>
              <a:t>inverse</a:t>
            </a:r>
            <a:r>
              <a:rPr sz="1000" spc="25" dirty="0">
                <a:latin typeface="Tahoma"/>
                <a:cs typeface="Tahoma"/>
              </a:rPr>
              <a:t> </a:t>
            </a:r>
            <a:r>
              <a:rPr sz="1000" spc="-40" dirty="0">
                <a:latin typeface="Tahoma"/>
                <a:cs typeface="Tahoma"/>
              </a:rPr>
              <a:t>mapping</a:t>
            </a:r>
            <a:r>
              <a:rPr sz="1000" spc="15" dirty="0">
                <a:latin typeface="Tahoma"/>
                <a:cs typeface="Tahoma"/>
              </a:rPr>
              <a:t> </a:t>
            </a:r>
            <a:r>
              <a:rPr sz="1000" spc="-35" dirty="0">
                <a:latin typeface="Tahoma"/>
                <a:cs typeface="Tahoma"/>
              </a:rPr>
              <a:t>exists,</a:t>
            </a:r>
            <a:r>
              <a:rPr sz="1000" spc="15" dirty="0">
                <a:latin typeface="Tahoma"/>
                <a:cs typeface="Tahoma"/>
              </a:rPr>
              <a:t> </a:t>
            </a:r>
            <a:r>
              <a:rPr sz="1000" spc="-40" dirty="0">
                <a:latin typeface="Tahoma"/>
                <a:cs typeface="Tahoma"/>
              </a:rPr>
              <a:t>then</a:t>
            </a:r>
            <a:r>
              <a:rPr sz="1000" spc="25" dirty="0">
                <a:latin typeface="Tahoma"/>
                <a:cs typeface="Tahoma"/>
              </a:rPr>
              <a:t> </a:t>
            </a:r>
            <a:r>
              <a:rPr sz="1000" i="1" spc="25" dirty="0">
                <a:latin typeface="Arial"/>
                <a:cs typeface="Arial"/>
              </a:rPr>
              <a:t>f</a:t>
            </a:r>
            <a:r>
              <a:rPr sz="1000" i="1" spc="270" dirty="0">
                <a:latin typeface="Arial"/>
                <a:cs typeface="Arial"/>
              </a:rPr>
              <a:t> </a:t>
            </a:r>
            <a:r>
              <a:rPr sz="1000" spc="-30" dirty="0">
                <a:latin typeface="Tahoma"/>
                <a:cs typeface="Tahoma"/>
              </a:rPr>
              <a:t>is </a:t>
            </a:r>
            <a:r>
              <a:rPr sz="1000" spc="-300" dirty="0">
                <a:latin typeface="Tahoma"/>
                <a:cs typeface="Tahoma"/>
              </a:rPr>
              <a:t> </a:t>
            </a:r>
            <a:r>
              <a:rPr sz="1000" spc="-35" dirty="0">
                <a:latin typeface="Tahoma"/>
                <a:cs typeface="Tahoma"/>
              </a:rPr>
              <a:t>surjective</a:t>
            </a:r>
            <a:r>
              <a:rPr sz="1000" spc="10" dirty="0">
                <a:latin typeface="Tahoma"/>
                <a:cs typeface="Tahoma"/>
              </a:rPr>
              <a:t> </a:t>
            </a:r>
            <a:r>
              <a:rPr sz="1000" spc="-45" dirty="0">
                <a:latin typeface="Tahoma"/>
                <a:cs typeface="Tahoma"/>
              </a:rPr>
              <a:t>and</a:t>
            </a:r>
            <a:r>
              <a:rPr sz="1000" spc="20" dirty="0">
                <a:latin typeface="Tahoma"/>
                <a:cs typeface="Tahoma"/>
              </a:rPr>
              <a:t> </a:t>
            </a:r>
            <a:r>
              <a:rPr sz="1000" spc="-60" dirty="0">
                <a:latin typeface="Tahoma"/>
                <a:cs typeface="Tahoma"/>
              </a:rPr>
              <a:t>everywhere</a:t>
            </a:r>
            <a:r>
              <a:rPr sz="1000" spc="15" dirty="0">
                <a:latin typeface="Tahoma"/>
                <a:cs typeface="Tahoma"/>
              </a:rPr>
              <a:t> </a:t>
            </a:r>
            <a:r>
              <a:rPr sz="1000" spc="-45" dirty="0">
                <a:latin typeface="Tahoma"/>
                <a:cs typeface="Tahoma"/>
              </a:rPr>
              <a:t>defined.</a:t>
            </a:r>
            <a:endParaRPr sz="1000">
              <a:latin typeface="Tahoma"/>
              <a:cs typeface="Tahoma"/>
            </a:endParaRPr>
          </a:p>
        </p:txBody>
      </p:sp>
      <p:sp>
        <p:nvSpPr>
          <p:cNvPr id="44" name="object 44"/>
          <p:cNvSpPr/>
          <p:nvPr/>
        </p:nvSpPr>
        <p:spPr>
          <a:xfrm>
            <a:off x="698562" y="2195461"/>
            <a:ext cx="3780790" cy="170815"/>
          </a:xfrm>
          <a:custGeom>
            <a:avLst/>
            <a:gdLst/>
            <a:ahLst/>
            <a:cxnLst/>
            <a:rect l="l" t="t" r="r" b="b"/>
            <a:pathLst>
              <a:path w="3780790" h="170814">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5" name="object 45"/>
          <p:cNvSpPr txBox="1"/>
          <p:nvPr/>
        </p:nvSpPr>
        <p:spPr>
          <a:xfrm>
            <a:off x="749363" y="2225400"/>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46" name="object 46"/>
          <p:cNvGrpSpPr/>
          <p:nvPr/>
        </p:nvGrpSpPr>
        <p:grpSpPr>
          <a:xfrm>
            <a:off x="698562" y="2252385"/>
            <a:ext cx="3831590" cy="985519"/>
            <a:chOff x="698562" y="2252385"/>
            <a:chExt cx="3831590" cy="985519"/>
          </a:xfrm>
        </p:grpSpPr>
        <p:pic>
          <p:nvPicPr>
            <p:cNvPr id="47" name="object 47"/>
            <p:cNvPicPr/>
            <p:nvPr/>
          </p:nvPicPr>
          <p:blipFill>
            <a:blip r:embed="rId7" cstate="print"/>
            <a:stretch>
              <a:fillRect/>
            </a:stretch>
          </p:blipFill>
          <p:spPr>
            <a:xfrm>
              <a:off x="698563" y="2353068"/>
              <a:ext cx="3780284" cy="50609"/>
            </a:xfrm>
            <a:prstGeom prst="rect">
              <a:avLst/>
            </a:prstGeom>
          </p:spPr>
        </p:pic>
        <p:sp>
          <p:nvSpPr>
            <p:cNvPr id="48" name="object 48"/>
            <p:cNvSpPr/>
            <p:nvPr/>
          </p:nvSpPr>
          <p:spPr>
            <a:xfrm>
              <a:off x="749363" y="2252385"/>
              <a:ext cx="3780790" cy="985519"/>
            </a:xfrm>
            <a:custGeom>
              <a:avLst/>
              <a:gdLst/>
              <a:ahLst/>
              <a:cxnLst/>
              <a:rect l="l" t="t" r="r" b="b"/>
              <a:pathLst>
                <a:path w="3780790" h="985519">
                  <a:moveTo>
                    <a:pt x="3780285" y="0"/>
                  </a:moveTo>
                  <a:lnTo>
                    <a:pt x="0" y="0"/>
                  </a:lnTo>
                  <a:lnTo>
                    <a:pt x="0" y="985277"/>
                  </a:lnTo>
                  <a:lnTo>
                    <a:pt x="3780285" y="985277"/>
                  </a:lnTo>
                  <a:lnTo>
                    <a:pt x="3780285" y="0"/>
                  </a:lnTo>
                  <a:close/>
                </a:path>
              </a:pathLst>
            </a:custGeom>
            <a:solidFill>
              <a:srgbClr val="000000"/>
            </a:solidFill>
          </p:spPr>
          <p:txBody>
            <a:bodyPr wrap="square" lIns="0" tIns="0" rIns="0" bIns="0" rtlCol="0"/>
            <a:lstStyle/>
            <a:p>
              <a:endParaRPr/>
            </a:p>
          </p:txBody>
        </p:sp>
        <p:sp>
          <p:nvSpPr>
            <p:cNvPr id="49" name="object 49"/>
            <p:cNvSpPr/>
            <p:nvPr/>
          </p:nvSpPr>
          <p:spPr>
            <a:xfrm>
              <a:off x="698562" y="2397331"/>
              <a:ext cx="3780790" cy="789940"/>
            </a:xfrm>
            <a:custGeom>
              <a:avLst/>
              <a:gdLst/>
              <a:ahLst/>
              <a:cxnLst/>
              <a:rect l="l" t="t" r="r" b="b"/>
              <a:pathLst>
                <a:path w="3780790" h="789939">
                  <a:moveTo>
                    <a:pt x="3780285" y="0"/>
                  </a:moveTo>
                  <a:lnTo>
                    <a:pt x="0" y="0"/>
                  </a:lnTo>
                  <a:lnTo>
                    <a:pt x="0" y="738730"/>
                  </a:lnTo>
                  <a:lnTo>
                    <a:pt x="4008" y="758455"/>
                  </a:lnTo>
                  <a:lnTo>
                    <a:pt x="14922" y="774608"/>
                  </a:lnTo>
                  <a:lnTo>
                    <a:pt x="31075" y="785522"/>
                  </a:lnTo>
                  <a:lnTo>
                    <a:pt x="50800" y="789531"/>
                  </a:lnTo>
                  <a:lnTo>
                    <a:pt x="3729484" y="789531"/>
                  </a:lnTo>
                  <a:lnTo>
                    <a:pt x="3749209" y="785522"/>
                  </a:lnTo>
                  <a:lnTo>
                    <a:pt x="3765362" y="774608"/>
                  </a:lnTo>
                  <a:lnTo>
                    <a:pt x="3776276" y="758455"/>
                  </a:lnTo>
                  <a:lnTo>
                    <a:pt x="3780285" y="738730"/>
                  </a:lnTo>
                  <a:lnTo>
                    <a:pt x="3780285" y="0"/>
                  </a:lnTo>
                  <a:close/>
                </a:path>
              </a:pathLst>
            </a:custGeom>
            <a:solidFill>
              <a:srgbClr val="E9E9F2"/>
            </a:solidFill>
          </p:spPr>
          <p:txBody>
            <a:bodyPr wrap="square" lIns="0" tIns="0" rIns="0" bIns="0" rtlCol="0"/>
            <a:lstStyle/>
            <a:p>
              <a:endParaRPr/>
            </a:p>
          </p:txBody>
        </p:sp>
      </p:grpSp>
      <p:sp>
        <p:nvSpPr>
          <p:cNvPr id="50" name="object 50"/>
          <p:cNvSpPr txBox="1"/>
          <p:nvPr/>
        </p:nvSpPr>
        <p:spPr>
          <a:xfrm>
            <a:off x="685863" y="2371285"/>
            <a:ext cx="3794760" cy="784860"/>
          </a:xfrm>
          <a:prstGeom prst="rect">
            <a:avLst/>
          </a:prstGeom>
        </p:spPr>
        <p:txBody>
          <a:bodyPr vert="horz" wrap="square" lIns="0" tIns="12065" rIns="0" bIns="0" rtlCol="0">
            <a:spAutoFit/>
          </a:bodyPr>
          <a:lstStyle/>
          <a:p>
            <a:pPr marL="63500" marR="294005">
              <a:lnSpc>
                <a:spcPct val="100000"/>
              </a:lnSpc>
              <a:spcBef>
                <a:spcPts val="95"/>
              </a:spcBef>
            </a:pPr>
            <a:r>
              <a:rPr sz="1000" spc="-5" dirty="0">
                <a:latin typeface="Tahoma"/>
                <a:cs typeface="Tahoma"/>
              </a:rPr>
              <a:t>Let’s</a:t>
            </a:r>
            <a:r>
              <a:rPr sz="1000" spc="25" dirty="0">
                <a:latin typeface="Tahoma"/>
                <a:cs typeface="Tahoma"/>
              </a:rPr>
              <a:t> </a:t>
            </a:r>
            <a:r>
              <a:rPr sz="1000" spc="-55" dirty="0">
                <a:latin typeface="Tahoma"/>
                <a:cs typeface="Tahoma"/>
              </a:rPr>
              <a:t>prove</a:t>
            </a:r>
            <a:r>
              <a:rPr sz="1000" spc="25" dirty="0">
                <a:latin typeface="Tahoma"/>
                <a:cs typeface="Tahoma"/>
              </a:rPr>
              <a:t> </a:t>
            </a:r>
            <a:r>
              <a:rPr sz="1000" spc="-45" dirty="0">
                <a:latin typeface="Tahoma"/>
                <a:cs typeface="Tahoma"/>
              </a:rPr>
              <a:t>surjectiveness.</a:t>
            </a:r>
            <a:r>
              <a:rPr sz="1000" spc="140" dirty="0">
                <a:latin typeface="Tahoma"/>
                <a:cs typeface="Tahoma"/>
              </a:rPr>
              <a:t> </a:t>
            </a:r>
            <a:r>
              <a:rPr sz="1000" spc="-60" dirty="0">
                <a:latin typeface="Tahoma"/>
                <a:cs typeface="Tahoma"/>
              </a:rPr>
              <a:t>If</a:t>
            </a:r>
            <a:r>
              <a:rPr sz="1000" spc="25" dirty="0">
                <a:latin typeface="Tahoma"/>
                <a:cs typeface="Tahoma"/>
              </a:rPr>
              <a:t> </a:t>
            </a:r>
            <a:r>
              <a:rPr sz="1000" i="1" spc="25" dirty="0">
                <a:latin typeface="Arial"/>
                <a:cs typeface="Arial"/>
              </a:rPr>
              <a:t>f</a:t>
            </a:r>
            <a:r>
              <a:rPr sz="1000" i="1" spc="280" dirty="0">
                <a:latin typeface="Arial"/>
                <a:cs typeface="Arial"/>
              </a:rPr>
              <a:t> </a:t>
            </a:r>
            <a:r>
              <a:rPr sz="1000" spc="-30" dirty="0">
                <a:latin typeface="Tahoma"/>
                <a:cs typeface="Tahoma"/>
              </a:rPr>
              <a:t>is</a:t>
            </a:r>
            <a:r>
              <a:rPr sz="1000" spc="25" dirty="0">
                <a:latin typeface="Tahoma"/>
                <a:cs typeface="Tahoma"/>
              </a:rPr>
              <a:t> </a:t>
            </a:r>
            <a:r>
              <a:rPr sz="1000" spc="-25" dirty="0">
                <a:latin typeface="Tahoma"/>
                <a:cs typeface="Tahoma"/>
              </a:rPr>
              <a:t>not</a:t>
            </a:r>
            <a:r>
              <a:rPr sz="1000" spc="30" dirty="0">
                <a:latin typeface="Tahoma"/>
                <a:cs typeface="Tahoma"/>
              </a:rPr>
              <a:t> </a:t>
            </a:r>
            <a:r>
              <a:rPr sz="1000" spc="-35" dirty="0">
                <a:latin typeface="Tahoma"/>
                <a:cs typeface="Tahoma"/>
              </a:rPr>
              <a:t>surjective,</a:t>
            </a:r>
            <a:r>
              <a:rPr sz="1000" spc="20" dirty="0">
                <a:latin typeface="Tahoma"/>
                <a:cs typeface="Tahoma"/>
              </a:rPr>
              <a:t> </a:t>
            </a:r>
            <a:r>
              <a:rPr sz="1000" spc="-40" dirty="0">
                <a:latin typeface="Tahoma"/>
                <a:cs typeface="Tahoma"/>
              </a:rPr>
              <a:t>then</a:t>
            </a:r>
            <a:r>
              <a:rPr sz="1000" spc="25" dirty="0">
                <a:latin typeface="Tahoma"/>
                <a:cs typeface="Tahoma"/>
              </a:rPr>
              <a:t> </a:t>
            </a:r>
            <a:r>
              <a:rPr sz="1000" spc="-45" dirty="0">
                <a:latin typeface="Tahoma"/>
                <a:cs typeface="Tahoma"/>
              </a:rPr>
              <a:t>there</a:t>
            </a:r>
            <a:r>
              <a:rPr sz="1000" spc="25" dirty="0">
                <a:latin typeface="Tahoma"/>
                <a:cs typeface="Tahoma"/>
              </a:rPr>
              <a:t> </a:t>
            </a:r>
            <a:r>
              <a:rPr sz="1000" spc="-40" dirty="0">
                <a:latin typeface="Tahoma"/>
                <a:cs typeface="Tahoma"/>
              </a:rPr>
              <a:t>exists </a:t>
            </a:r>
            <a:r>
              <a:rPr sz="1000" spc="-295" dirty="0">
                <a:latin typeface="Tahoma"/>
                <a:cs typeface="Tahoma"/>
              </a:rPr>
              <a:t> </a:t>
            </a:r>
            <a:r>
              <a:rPr sz="1000" spc="-45" dirty="0">
                <a:latin typeface="Tahoma"/>
                <a:cs typeface="Tahoma"/>
              </a:rPr>
              <a:t>such</a:t>
            </a:r>
            <a:r>
              <a:rPr sz="1000" spc="20" dirty="0">
                <a:latin typeface="Tahoma"/>
                <a:cs typeface="Tahoma"/>
              </a:rPr>
              <a:t> </a:t>
            </a:r>
            <a:r>
              <a:rPr sz="1000" i="1" spc="-45" dirty="0">
                <a:latin typeface="Arial"/>
                <a:cs typeface="Arial"/>
              </a:rPr>
              <a:t>b</a:t>
            </a:r>
            <a:r>
              <a:rPr sz="1000" i="1" spc="3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20" dirty="0">
                <a:latin typeface="Arial"/>
                <a:cs typeface="Arial"/>
              </a:rPr>
              <a:t>B</a:t>
            </a:r>
            <a:r>
              <a:rPr sz="1000" spc="20" dirty="0">
                <a:latin typeface="Tahoma"/>
                <a:cs typeface="Tahoma"/>
              </a:rPr>
              <a:t>, </a:t>
            </a:r>
            <a:r>
              <a:rPr sz="1000" spc="-10" dirty="0">
                <a:latin typeface="Tahoma"/>
                <a:cs typeface="Tahoma"/>
              </a:rPr>
              <a:t>that</a:t>
            </a:r>
            <a:r>
              <a:rPr sz="1000" spc="20" dirty="0">
                <a:latin typeface="Tahoma"/>
                <a:cs typeface="Tahoma"/>
              </a:rPr>
              <a:t> </a:t>
            </a:r>
            <a:r>
              <a:rPr sz="1000" i="1" spc="-45" dirty="0">
                <a:latin typeface="Arial"/>
                <a:cs typeface="Arial"/>
              </a:rPr>
              <a:t>b</a:t>
            </a:r>
            <a:r>
              <a:rPr sz="1000" i="1" spc="30" dirty="0">
                <a:latin typeface="Arial"/>
                <a:cs typeface="Arial"/>
              </a:rPr>
              <a:t> </a:t>
            </a:r>
            <a:r>
              <a:rPr sz="1000" spc="-325" dirty="0">
                <a:latin typeface="Lucida Sans Unicode"/>
                <a:cs typeface="Lucida Sans Unicode"/>
              </a:rPr>
              <a:t>∈</a:t>
            </a:r>
            <a:r>
              <a:rPr sz="1000" i="1" spc="-325" dirty="0">
                <a:latin typeface="Verdana"/>
                <a:cs typeface="Verdana"/>
              </a:rPr>
              <a:t>/</a:t>
            </a:r>
            <a:r>
              <a:rPr sz="1000" i="1" spc="-305" dirty="0">
                <a:latin typeface="Verdana"/>
                <a:cs typeface="Verdana"/>
              </a:rPr>
              <a:t> </a:t>
            </a:r>
            <a:r>
              <a:rPr sz="1000" i="1" spc="-35" dirty="0">
                <a:latin typeface="Arial"/>
                <a:cs typeface="Arial"/>
              </a:rPr>
              <a:t>rng</a:t>
            </a:r>
            <a:r>
              <a:rPr sz="1000" i="1" spc="-170" dirty="0">
                <a:latin typeface="Arial"/>
                <a:cs typeface="Arial"/>
              </a:rPr>
              <a:t> </a:t>
            </a:r>
            <a:r>
              <a:rPr sz="1000" spc="10" dirty="0">
                <a:latin typeface="Tahoma"/>
                <a:cs typeface="Tahoma"/>
              </a:rPr>
              <a:t>(</a:t>
            </a:r>
            <a:r>
              <a:rPr sz="1000" i="1" spc="10" dirty="0">
                <a:latin typeface="Arial"/>
                <a:cs typeface="Arial"/>
              </a:rPr>
              <a:t>f</a:t>
            </a:r>
            <a:r>
              <a:rPr sz="1000" i="1" spc="-65" dirty="0">
                <a:latin typeface="Arial"/>
                <a:cs typeface="Arial"/>
              </a:rPr>
              <a:t> </a:t>
            </a:r>
            <a:r>
              <a:rPr sz="1000" spc="-15" dirty="0">
                <a:latin typeface="Tahoma"/>
                <a:cs typeface="Tahoma"/>
              </a:rPr>
              <a:t>).</a:t>
            </a:r>
            <a:r>
              <a:rPr sz="1000" spc="130" dirty="0">
                <a:latin typeface="Tahoma"/>
                <a:cs typeface="Tahoma"/>
              </a:rPr>
              <a:t> </a:t>
            </a:r>
            <a:r>
              <a:rPr sz="1000" spc="15" dirty="0">
                <a:latin typeface="Tahoma"/>
                <a:cs typeface="Tahoma"/>
              </a:rPr>
              <a:t>But</a:t>
            </a:r>
            <a:r>
              <a:rPr sz="1000" spc="25" dirty="0">
                <a:latin typeface="Tahoma"/>
                <a:cs typeface="Tahoma"/>
              </a:rPr>
              <a:t> </a:t>
            </a:r>
            <a:r>
              <a:rPr sz="1000" spc="-55" dirty="0">
                <a:latin typeface="Tahoma"/>
                <a:cs typeface="Tahoma"/>
              </a:rPr>
              <a:t>by</a:t>
            </a:r>
            <a:r>
              <a:rPr sz="1000" spc="15" dirty="0">
                <a:latin typeface="Tahoma"/>
                <a:cs typeface="Tahoma"/>
              </a:rPr>
              <a:t> </a:t>
            </a:r>
            <a:r>
              <a:rPr sz="1000" spc="-25" dirty="0">
                <a:latin typeface="Tahoma"/>
                <a:cs typeface="Tahoma"/>
              </a:rPr>
              <a:t>definition</a:t>
            </a:r>
            <a:r>
              <a:rPr sz="1000" spc="20" dirty="0">
                <a:latin typeface="Tahoma"/>
                <a:cs typeface="Tahoma"/>
              </a:rPr>
              <a:t> </a:t>
            </a:r>
            <a:r>
              <a:rPr sz="1000" spc="-90" dirty="0">
                <a:latin typeface="Tahoma"/>
                <a:cs typeface="Tahoma"/>
              </a:rPr>
              <a:t>we</a:t>
            </a:r>
            <a:r>
              <a:rPr sz="1000" spc="15" dirty="0">
                <a:latin typeface="Tahoma"/>
                <a:cs typeface="Tahoma"/>
              </a:rPr>
              <a:t> </a:t>
            </a:r>
            <a:r>
              <a:rPr sz="1000" spc="-55" dirty="0">
                <a:latin typeface="Tahoma"/>
                <a:cs typeface="Tahoma"/>
              </a:rPr>
              <a:t>have</a:t>
            </a:r>
            <a:endParaRPr sz="1000">
              <a:latin typeface="Tahoma"/>
              <a:cs typeface="Tahoma"/>
            </a:endParaRPr>
          </a:p>
          <a:p>
            <a:pPr marL="62865" marR="68580">
              <a:lnSpc>
                <a:spcPts val="1200"/>
              </a:lnSpc>
              <a:spcBef>
                <a:spcPts val="30"/>
              </a:spcBef>
            </a:pPr>
            <a:r>
              <a:rPr sz="1000" i="1" spc="-5" dirty="0">
                <a:latin typeface="Arial"/>
                <a:cs typeface="Arial"/>
              </a:rPr>
              <a:t>id</a:t>
            </a:r>
            <a:r>
              <a:rPr sz="1050" i="1" spc="-7" baseline="-11904" dirty="0">
                <a:latin typeface="Arial"/>
                <a:cs typeface="Arial"/>
              </a:rPr>
              <a:t>B</a:t>
            </a:r>
            <a:r>
              <a:rPr sz="1050" i="1" spc="7" baseline="-11904" dirty="0">
                <a:latin typeface="Arial"/>
                <a:cs typeface="Arial"/>
              </a:rPr>
              <a:t> </a:t>
            </a:r>
            <a:r>
              <a:rPr sz="1000" spc="45" dirty="0">
                <a:latin typeface="Tahoma"/>
                <a:cs typeface="Tahoma"/>
              </a:rPr>
              <a:t>=</a:t>
            </a:r>
            <a:r>
              <a:rPr sz="1000" spc="-35" dirty="0">
                <a:latin typeface="Tahoma"/>
                <a:cs typeface="Tahoma"/>
              </a:rPr>
              <a:t> </a:t>
            </a:r>
            <a:r>
              <a:rPr sz="1000" spc="-30" dirty="0">
                <a:latin typeface="Tahoma"/>
                <a:cs typeface="Tahoma"/>
              </a:rPr>
              <a:t>(</a:t>
            </a:r>
            <a:r>
              <a:rPr sz="1000" i="1" spc="-30" dirty="0">
                <a:latin typeface="Arial"/>
                <a:cs typeface="Arial"/>
              </a:rPr>
              <a:t>g</a:t>
            </a:r>
            <a:r>
              <a:rPr sz="1000" i="1" spc="50" dirty="0">
                <a:latin typeface="Arial"/>
                <a:cs typeface="Arial"/>
              </a:rPr>
              <a:t> </a:t>
            </a:r>
            <a:r>
              <a:rPr sz="1000" spc="-65" dirty="0">
                <a:latin typeface="Lucida Sans Unicode"/>
                <a:cs typeface="Lucida Sans Unicode"/>
              </a:rPr>
              <a:t>◦</a:t>
            </a:r>
            <a:r>
              <a:rPr sz="1000" spc="-90" dirty="0">
                <a:latin typeface="Lucida Sans Unicode"/>
                <a:cs typeface="Lucida Sans Unicode"/>
              </a:rPr>
              <a:t> </a:t>
            </a:r>
            <a:r>
              <a:rPr sz="1000" i="1" spc="25" dirty="0">
                <a:latin typeface="Arial"/>
                <a:cs typeface="Arial"/>
              </a:rPr>
              <a:t>f</a:t>
            </a:r>
            <a:r>
              <a:rPr sz="1000" i="1" spc="-65" dirty="0">
                <a:latin typeface="Arial"/>
                <a:cs typeface="Arial"/>
              </a:rPr>
              <a:t> </a:t>
            </a:r>
            <a:r>
              <a:rPr sz="1000" spc="-5" dirty="0">
                <a:latin typeface="Tahoma"/>
                <a:cs typeface="Tahoma"/>
              </a:rPr>
              <a:t>)(</a:t>
            </a:r>
            <a:r>
              <a:rPr sz="1000" i="1" spc="-5" dirty="0">
                <a:latin typeface="Arial"/>
                <a:cs typeface="Arial"/>
              </a:rPr>
              <a:t>b</a:t>
            </a:r>
            <a:r>
              <a:rPr sz="1000" spc="-5" dirty="0">
                <a:latin typeface="Tahoma"/>
                <a:cs typeface="Tahoma"/>
              </a:rPr>
              <a:t>)</a:t>
            </a:r>
            <a:r>
              <a:rPr sz="1000" spc="-30" dirty="0">
                <a:latin typeface="Tahoma"/>
                <a:cs typeface="Tahoma"/>
              </a:rPr>
              <a:t> </a:t>
            </a:r>
            <a:r>
              <a:rPr sz="1000" spc="45" dirty="0">
                <a:latin typeface="Tahoma"/>
                <a:cs typeface="Tahoma"/>
              </a:rPr>
              <a:t>=</a:t>
            </a:r>
            <a:r>
              <a:rPr sz="1000" spc="-40" dirty="0">
                <a:latin typeface="Tahoma"/>
                <a:cs typeface="Tahoma"/>
              </a:rPr>
              <a:t> </a:t>
            </a:r>
            <a:r>
              <a:rPr sz="1000" i="1" spc="25" dirty="0">
                <a:latin typeface="Arial"/>
                <a:cs typeface="Arial"/>
              </a:rPr>
              <a:t>f</a:t>
            </a:r>
            <a:r>
              <a:rPr sz="1000" i="1" spc="-65" dirty="0">
                <a:latin typeface="Arial"/>
                <a:cs typeface="Arial"/>
              </a:rPr>
              <a:t> </a:t>
            </a:r>
            <a:r>
              <a:rPr sz="1000" spc="-30" dirty="0">
                <a:latin typeface="Tahoma"/>
                <a:cs typeface="Tahoma"/>
              </a:rPr>
              <a:t>(</a:t>
            </a:r>
            <a:r>
              <a:rPr sz="1000" i="1" spc="-30" dirty="0">
                <a:latin typeface="Arial"/>
                <a:cs typeface="Arial"/>
              </a:rPr>
              <a:t>g</a:t>
            </a:r>
            <a:r>
              <a:rPr sz="1000" i="1" spc="-170" dirty="0">
                <a:latin typeface="Arial"/>
                <a:cs typeface="Arial"/>
              </a:rPr>
              <a:t> </a:t>
            </a:r>
            <a:r>
              <a:rPr sz="1000" spc="-5" dirty="0">
                <a:latin typeface="Tahoma"/>
                <a:cs typeface="Tahoma"/>
              </a:rPr>
              <a:t>(</a:t>
            </a:r>
            <a:r>
              <a:rPr sz="1000" i="1" spc="-5" dirty="0">
                <a:latin typeface="Arial"/>
                <a:cs typeface="Arial"/>
              </a:rPr>
              <a:t>b</a:t>
            </a:r>
            <a:r>
              <a:rPr sz="1000" spc="-5" dirty="0">
                <a:latin typeface="Tahoma"/>
                <a:cs typeface="Tahoma"/>
              </a:rPr>
              <a:t>))</a:t>
            </a:r>
            <a:r>
              <a:rPr sz="1000" spc="-30" dirty="0">
                <a:latin typeface="Tahoma"/>
                <a:cs typeface="Tahoma"/>
              </a:rPr>
              <a:t> </a:t>
            </a:r>
            <a:r>
              <a:rPr sz="1000" spc="45" dirty="0">
                <a:latin typeface="Tahoma"/>
                <a:cs typeface="Tahoma"/>
              </a:rPr>
              <a:t>=</a:t>
            </a:r>
            <a:r>
              <a:rPr sz="1000" spc="-40" dirty="0">
                <a:latin typeface="Tahoma"/>
                <a:cs typeface="Tahoma"/>
              </a:rPr>
              <a:t> </a:t>
            </a:r>
            <a:r>
              <a:rPr sz="1000" i="1" spc="-20" dirty="0">
                <a:latin typeface="Arial"/>
                <a:cs typeface="Arial"/>
              </a:rPr>
              <a:t>b</a:t>
            </a:r>
            <a:r>
              <a:rPr sz="1000" spc="-20" dirty="0">
                <a:latin typeface="Tahoma"/>
                <a:cs typeface="Tahoma"/>
              </a:rPr>
              <a:t>,</a:t>
            </a:r>
            <a:r>
              <a:rPr sz="1000" spc="25" dirty="0">
                <a:latin typeface="Tahoma"/>
                <a:cs typeface="Tahoma"/>
              </a:rPr>
              <a:t> </a:t>
            </a:r>
            <a:r>
              <a:rPr sz="1000" spc="-35" dirty="0">
                <a:latin typeface="Tahoma"/>
                <a:cs typeface="Tahoma"/>
              </a:rPr>
              <a:t>i.e.</a:t>
            </a:r>
            <a:r>
              <a:rPr sz="1000" spc="135" dirty="0">
                <a:latin typeface="Tahoma"/>
                <a:cs typeface="Tahoma"/>
              </a:rPr>
              <a:t> </a:t>
            </a:r>
            <a:r>
              <a:rPr sz="1000" spc="-5" dirty="0">
                <a:latin typeface="Tahoma"/>
                <a:cs typeface="Tahoma"/>
              </a:rPr>
              <a:t>if</a:t>
            </a:r>
            <a:r>
              <a:rPr sz="1000" spc="15" dirty="0">
                <a:latin typeface="Tahoma"/>
                <a:cs typeface="Tahoma"/>
              </a:rPr>
              <a:t> </a:t>
            </a:r>
            <a:r>
              <a:rPr sz="1000" i="1" spc="-80" dirty="0">
                <a:latin typeface="Arial"/>
                <a:cs typeface="Arial"/>
              </a:rPr>
              <a:t>a</a:t>
            </a:r>
            <a:r>
              <a:rPr sz="1000" i="1" spc="10" dirty="0">
                <a:latin typeface="Arial"/>
                <a:cs typeface="Arial"/>
              </a:rPr>
              <a:t> </a:t>
            </a:r>
            <a:r>
              <a:rPr sz="1000" spc="45" dirty="0">
                <a:latin typeface="Tahoma"/>
                <a:cs typeface="Tahoma"/>
              </a:rPr>
              <a:t>=</a:t>
            </a:r>
            <a:r>
              <a:rPr sz="1000" spc="-35" dirty="0">
                <a:latin typeface="Tahoma"/>
                <a:cs typeface="Tahoma"/>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b</a:t>
            </a:r>
            <a:r>
              <a:rPr sz="1000" spc="-10" dirty="0">
                <a:latin typeface="Tahoma"/>
                <a:cs typeface="Tahoma"/>
              </a:rPr>
              <a:t>),</a:t>
            </a:r>
            <a:r>
              <a:rPr sz="1000" spc="25" dirty="0">
                <a:latin typeface="Tahoma"/>
                <a:cs typeface="Tahoma"/>
              </a:rPr>
              <a:t> </a:t>
            </a:r>
            <a:r>
              <a:rPr sz="1000" spc="-40" dirty="0">
                <a:latin typeface="Tahoma"/>
                <a:cs typeface="Tahoma"/>
              </a:rPr>
              <a:t>then</a:t>
            </a:r>
            <a:r>
              <a:rPr sz="1000" spc="20" dirty="0">
                <a:latin typeface="Tahoma"/>
                <a:cs typeface="Tahoma"/>
              </a:rPr>
              <a:t> </a:t>
            </a:r>
            <a:r>
              <a:rPr sz="1000" spc="-55" dirty="0">
                <a:latin typeface="Tahoma"/>
                <a:cs typeface="Tahoma"/>
              </a:rPr>
              <a:t>(</a:t>
            </a:r>
            <a:r>
              <a:rPr sz="1000" i="1" spc="-55" dirty="0">
                <a:latin typeface="Arial"/>
                <a:cs typeface="Arial"/>
              </a:rPr>
              <a:t>a</a:t>
            </a:r>
            <a:r>
              <a:rPr sz="1000" i="1" spc="-55" dirty="0">
                <a:latin typeface="Verdana"/>
                <a:cs typeface="Verdana"/>
              </a:rPr>
              <a:t>,</a:t>
            </a:r>
            <a:r>
              <a:rPr sz="1000" i="1" spc="-185" dirty="0">
                <a:latin typeface="Verdana"/>
                <a:cs typeface="Verdana"/>
              </a:rPr>
              <a:t> </a:t>
            </a:r>
            <a:r>
              <a:rPr sz="1000" i="1" spc="-5" dirty="0">
                <a:latin typeface="Arial"/>
                <a:cs typeface="Arial"/>
              </a:rPr>
              <a:t>b</a:t>
            </a:r>
            <a:r>
              <a:rPr sz="1000" spc="-5" dirty="0">
                <a:latin typeface="Tahoma"/>
                <a:cs typeface="Tahoma"/>
              </a:rPr>
              <a:t>)</a:t>
            </a:r>
            <a:r>
              <a:rPr sz="1000" spc="-30" dirty="0">
                <a:latin typeface="Tahoma"/>
                <a:cs typeface="Tahoma"/>
              </a:rPr>
              <a:t> </a:t>
            </a:r>
            <a:r>
              <a:rPr sz="1000" spc="-135" dirty="0">
                <a:latin typeface="Lucida Sans Unicode"/>
                <a:cs typeface="Lucida Sans Unicode"/>
              </a:rPr>
              <a:t>∈</a:t>
            </a:r>
            <a:r>
              <a:rPr sz="1000" spc="-40" dirty="0">
                <a:latin typeface="Lucida Sans Unicode"/>
                <a:cs typeface="Lucida Sans Unicode"/>
              </a:rPr>
              <a:t> </a:t>
            </a:r>
            <a:r>
              <a:rPr sz="1000" i="1" spc="25" dirty="0">
                <a:latin typeface="Arial"/>
                <a:cs typeface="Arial"/>
              </a:rPr>
              <a:t>f</a:t>
            </a:r>
            <a:r>
              <a:rPr sz="1000" i="1" spc="-60" dirty="0">
                <a:latin typeface="Arial"/>
                <a:cs typeface="Arial"/>
              </a:rPr>
              <a:t> </a:t>
            </a:r>
            <a:r>
              <a:rPr sz="1000" spc="-30" dirty="0">
                <a:latin typeface="Tahoma"/>
                <a:cs typeface="Tahoma"/>
              </a:rPr>
              <a:t>,</a:t>
            </a:r>
            <a:r>
              <a:rPr sz="1000" spc="20" dirty="0">
                <a:latin typeface="Tahoma"/>
                <a:cs typeface="Tahoma"/>
              </a:rPr>
              <a:t> </a:t>
            </a:r>
            <a:r>
              <a:rPr sz="1000" spc="-35" dirty="0">
                <a:latin typeface="Tahoma"/>
                <a:cs typeface="Tahoma"/>
              </a:rPr>
              <a:t>i.e. </a:t>
            </a:r>
            <a:r>
              <a:rPr sz="1000" spc="-300" dirty="0">
                <a:latin typeface="Tahoma"/>
                <a:cs typeface="Tahoma"/>
              </a:rPr>
              <a:t> </a:t>
            </a:r>
            <a:r>
              <a:rPr sz="1000" i="1" spc="-45" dirty="0">
                <a:latin typeface="Arial"/>
                <a:cs typeface="Arial"/>
              </a:rPr>
              <a:t>b</a:t>
            </a:r>
            <a:r>
              <a:rPr sz="1000" i="1" spc="3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35" dirty="0">
                <a:latin typeface="Arial"/>
                <a:cs typeface="Arial"/>
              </a:rPr>
              <a:t>rng</a:t>
            </a:r>
            <a:r>
              <a:rPr sz="1000" i="1" spc="-170" dirty="0">
                <a:latin typeface="Arial"/>
                <a:cs typeface="Arial"/>
              </a:rPr>
              <a:t> </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spc="20" dirty="0">
                <a:latin typeface="Tahoma"/>
                <a:cs typeface="Tahoma"/>
              </a:rPr>
              <a:t> </a:t>
            </a:r>
            <a:r>
              <a:rPr sz="1000" spc="-35" dirty="0">
                <a:latin typeface="Tahoma"/>
                <a:cs typeface="Tahoma"/>
              </a:rPr>
              <a:t>-</a:t>
            </a:r>
            <a:r>
              <a:rPr sz="1000" spc="20" dirty="0">
                <a:latin typeface="Tahoma"/>
                <a:cs typeface="Tahoma"/>
              </a:rPr>
              <a:t> </a:t>
            </a:r>
            <a:r>
              <a:rPr sz="1000" spc="-20" dirty="0">
                <a:latin typeface="Tahoma"/>
                <a:cs typeface="Tahoma"/>
              </a:rPr>
              <a:t>contradiction.</a:t>
            </a:r>
            <a:r>
              <a:rPr sz="1000" spc="130" dirty="0">
                <a:latin typeface="Tahoma"/>
                <a:cs typeface="Tahoma"/>
              </a:rPr>
              <a:t> </a:t>
            </a:r>
            <a:r>
              <a:rPr sz="1000" spc="-45" dirty="0">
                <a:latin typeface="Tahoma"/>
                <a:cs typeface="Tahoma"/>
              </a:rPr>
              <a:t>Everywhere</a:t>
            </a:r>
            <a:r>
              <a:rPr sz="1000" spc="20" dirty="0">
                <a:latin typeface="Tahoma"/>
                <a:cs typeface="Tahoma"/>
              </a:rPr>
              <a:t> </a:t>
            </a:r>
            <a:r>
              <a:rPr sz="1000" spc="-55" dirty="0">
                <a:latin typeface="Tahoma"/>
                <a:cs typeface="Tahoma"/>
              </a:rPr>
              <a:t>defineness</a:t>
            </a:r>
            <a:r>
              <a:rPr sz="1000" spc="20" dirty="0">
                <a:latin typeface="Tahoma"/>
                <a:cs typeface="Tahoma"/>
              </a:rPr>
              <a:t> </a:t>
            </a:r>
            <a:r>
              <a:rPr sz="1000" spc="-30" dirty="0">
                <a:latin typeface="Tahoma"/>
                <a:cs typeface="Tahoma"/>
              </a:rPr>
              <a:t>is</a:t>
            </a:r>
            <a:r>
              <a:rPr sz="1000" spc="20" dirty="0">
                <a:latin typeface="Tahoma"/>
                <a:cs typeface="Tahoma"/>
              </a:rPr>
              <a:t> </a:t>
            </a:r>
            <a:r>
              <a:rPr sz="1000" spc="-70" dirty="0">
                <a:latin typeface="Tahoma"/>
                <a:cs typeface="Tahoma"/>
              </a:rPr>
              <a:t>p</a:t>
            </a:r>
            <a:r>
              <a:rPr sz="1000" spc="-45" dirty="0">
                <a:latin typeface="Tahoma"/>
                <a:cs typeface="Tahoma"/>
              </a:rPr>
              <a:t>roved  </a:t>
            </a:r>
            <a:r>
              <a:rPr sz="1000" spc="-35" dirty="0">
                <a:latin typeface="Tahoma"/>
                <a:cs typeface="Tahoma"/>
              </a:rPr>
              <a:t>analogically.</a:t>
            </a:r>
            <a:endParaRPr sz="1000">
              <a:latin typeface="Tahoma"/>
              <a:cs typeface="Tahoma"/>
            </a:endParaRPr>
          </a:p>
        </p:txBody>
      </p:sp>
      <p:grpSp>
        <p:nvGrpSpPr>
          <p:cNvPr id="51" name="object 51"/>
          <p:cNvGrpSpPr/>
          <p:nvPr/>
        </p:nvGrpSpPr>
        <p:grpSpPr>
          <a:xfrm>
            <a:off x="4335779" y="3032429"/>
            <a:ext cx="86360" cy="85725"/>
            <a:chOff x="4335779" y="3032429"/>
            <a:chExt cx="86360" cy="85725"/>
          </a:xfrm>
        </p:grpSpPr>
        <p:sp>
          <p:nvSpPr>
            <p:cNvPr id="52" name="object 52"/>
            <p:cNvSpPr/>
            <p:nvPr/>
          </p:nvSpPr>
          <p:spPr>
            <a:xfrm>
              <a:off x="4338307" y="3032429"/>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53" name="object 53"/>
            <p:cNvSpPr/>
            <p:nvPr/>
          </p:nvSpPr>
          <p:spPr>
            <a:xfrm>
              <a:off x="4340834" y="3034969"/>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4" name="object 54"/>
            <p:cNvSpPr/>
            <p:nvPr/>
          </p:nvSpPr>
          <p:spPr>
            <a:xfrm>
              <a:off x="4340834" y="3115310"/>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55" name="object 55"/>
            <p:cNvSpPr/>
            <p:nvPr/>
          </p:nvSpPr>
          <p:spPr>
            <a:xfrm>
              <a:off x="4419282" y="3032429"/>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480945" cy="244475"/>
          </a:xfrm>
          <a:prstGeom prst="rect">
            <a:avLst/>
          </a:prstGeom>
        </p:spPr>
        <p:txBody>
          <a:bodyPr vert="horz" wrap="square" lIns="0" tIns="17145" rIns="0" bIns="0" rtlCol="0">
            <a:spAutoFit/>
          </a:bodyPr>
          <a:lstStyle/>
          <a:p>
            <a:pPr marL="12700">
              <a:lnSpc>
                <a:spcPct val="100000"/>
              </a:lnSpc>
              <a:spcBef>
                <a:spcPts val="135"/>
              </a:spcBef>
            </a:pPr>
            <a:r>
              <a:rPr spc="-10" dirty="0"/>
              <a:t>Injectivity</a:t>
            </a:r>
            <a:r>
              <a:rPr spc="125" dirty="0"/>
              <a:t> </a:t>
            </a:r>
            <a:r>
              <a:rPr spc="-30" dirty="0"/>
              <a:t>of</a:t>
            </a:r>
            <a:r>
              <a:rPr spc="130" dirty="0"/>
              <a:t> </a:t>
            </a:r>
            <a:r>
              <a:rPr spc="-60" dirty="0"/>
              <a:t>inverse</a:t>
            </a:r>
            <a:r>
              <a:rPr spc="130" dirty="0"/>
              <a:t> </a:t>
            </a:r>
            <a:r>
              <a:rPr spc="-40" dirty="0"/>
              <a:t>mapping</a:t>
            </a:r>
          </a:p>
        </p:txBody>
      </p:sp>
      <p:sp>
        <p:nvSpPr>
          <p:cNvPr id="30" name="object 30"/>
          <p:cNvSpPr/>
          <p:nvPr/>
        </p:nvSpPr>
        <p:spPr>
          <a:xfrm>
            <a:off x="698562" y="882497"/>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912423"/>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32" name="object 32"/>
          <p:cNvGrpSpPr/>
          <p:nvPr/>
        </p:nvGrpSpPr>
        <p:grpSpPr>
          <a:xfrm>
            <a:off x="698562" y="939427"/>
            <a:ext cx="3831590" cy="384175"/>
            <a:chOff x="698562" y="939427"/>
            <a:chExt cx="3831590" cy="384175"/>
          </a:xfrm>
        </p:grpSpPr>
        <p:pic>
          <p:nvPicPr>
            <p:cNvPr id="33" name="object 33"/>
            <p:cNvPicPr/>
            <p:nvPr/>
          </p:nvPicPr>
          <p:blipFill>
            <a:blip r:embed="rId7" cstate="print"/>
            <a:stretch>
              <a:fillRect/>
            </a:stretch>
          </p:blipFill>
          <p:spPr>
            <a:xfrm>
              <a:off x="698563" y="1045718"/>
              <a:ext cx="3780284" cy="50609"/>
            </a:xfrm>
            <a:prstGeom prst="rect">
              <a:avLst/>
            </a:prstGeom>
          </p:spPr>
        </p:pic>
        <p:sp>
          <p:nvSpPr>
            <p:cNvPr id="34" name="object 34"/>
            <p:cNvSpPr/>
            <p:nvPr/>
          </p:nvSpPr>
          <p:spPr>
            <a:xfrm>
              <a:off x="749363" y="939427"/>
              <a:ext cx="3780790" cy="384175"/>
            </a:xfrm>
            <a:custGeom>
              <a:avLst/>
              <a:gdLst/>
              <a:ahLst/>
              <a:cxnLst/>
              <a:rect l="l" t="t" r="r" b="b"/>
              <a:pathLst>
                <a:path w="3780790" h="384175">
                  <a:moveTo>
                    <a:pt x="3780285" y="0"/>
                  </a:moveTo>
                  <a:lnTo>
                    <a:pt x="0" y="0"/>
                  </a:lnTo>
                  <a:lnTo>
                    <a:pt x="0" y="383570"/>
                  </a:lnTo>
                  <a:lnTo>
                    <a:pt x="3780285" y="383570"/>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089996"/>
              <a:ext cx="3780790" cy="182245"/>
            </a:xfrm>
            <a:custGeom>
              <a:avLst/>
              <a:gdLst/>
              <a:ahLst/>
              <a:cxnLst/>
              <a:rect l="l" t="t" r="r" b="b"/>
              <a:pathLst>
                <a:path w="3780790" h="182244">
                  <a:moveTo>
                    <a:pt x="3780285" y="0"/>
                  </a:moveTo>
                  <a:lnTo>
                    <a:pt x="0" y="0"/>
                  </a:lnTo>
                  <a:lnTo>
                    <a:pt x="0" y="131400"/>
                  </a:lnTo>
                  <a:lnTo>
                    <a:pt x="4008" y="151125"/>
                  </a:lnTo>
                  <a:lnTo>
                    <a:pt x="14922" y="167277"/>
                  </a:lnTo>
                  <a:lnTo>
                    <a:pt x="31075" y="178192"/>
                  </a:lnTo>
                  <a:lnTo>
                    <a:pt x="50800" y="182200"/>
                  </a:lnTo>
                  <a:lnTo>
                    <a:pt x="3729484" y="182200"/>
                  </a:lnTo>
                  <a:lnTo>
                    <a:pt x="3749209" y="178192"/>
                  </a:lnTo>
                  <a:lnTo>
                    <a:pt x="3765362" y="167277"/>
                  </a:lnTo>
                  <a:lnTo>
                    <a:pt x="3776276" y="151125"/>
                  </a:lnTo>
                  <a:lnTo>
                    <a:pt x="3780285" y="131400"/>
                  </a:lnTo>
                  <a:lnTo>
                    <a:pt x="3780285" y="0"/>
                  </a:lnTo>
                  <a:close/>
                </a:path>
              </a:pathLst>
            </a:custGeom>
            <a:solidFill>
              <a:srgbClr val="E9E9F2"/>
            </a:solidFill>
          </p:spPr>
          <p:txBody>
            <a:bodyPr wrap="square" lIns="0" tIns="0" rIns="0" bIns="0" rtlCol="0"/>
            <a:lstStyle/>
            <a:p>
              <a:endParaRPr/>
            </a:p>
          </p:txBody>
        </p:sp>
      </p:grpSp>
      <p:sp>
        <p:nvSpPr>
          <p:cNvPr id="36" name="object 36"/>
          <p:cNvSpPr txBox="1"/>
          <p:nvPr/>
        </p:nvSpPr>
        <p:spPr>
          <a:xfrm>
            <a:off x="698563" y="939427"/>
            <a:ext cx="3831590" cy="384175"/>
          </a:xfrm>
          <a:prstGeom prst="rect">
            <a:avLst/>
          </a:prstGeom>
        </p:spPr>
        <p:txBody>
          <a:bodyPr vert="horz" wrap="square" lIns="0" tIns="136525" rIns="0" bIns="0" rtlCol="0">
            <a:spAutoFit/>
          </a:bodyPr>
          <a:lstStyle/>
          <a:p>
            <a:pPr marL="50800">
              <a:lnSpc>
                <a:spcPct val="100000"/>
              </a:lnSpc>
              <a:spcBef>
                <a:spcPts val="1075"/>
              </a:spcBef>
            </a:pPr>
            <a:r>
              <a:rPr sz="1000" spc="-60" dirty="0">
                <a:latin typeface="Tahoma"/>
                <a:cs typeface="Tahoma"/>
              </a:rPr>
              <a:t>If</a:t>
            </a:r>
            <a:r>
              <a:rPr sz="1000" spc="5" dirty="0">
                <a:latin typeface="Tahoma"/>
                <a:cs typeface="Tahoma"/>
              </a:rPr>
              <a:t> </a:t>
            </a:r>
            <a:r>
              <a:rPr sz="1000" spc="-40" dirty="0">
                <a:latin typeface="Tahoma"/>
                <a:cs typeface="Tahoma"/>
              </a:rPr>
              <a:t>for</a:t>
            </a:r>
            <a:r>
              <a:rPr sz="1000" spc="10" dirty="0">
                <a:latin typeface="Tahoma"/>
                <a:cs typeface="Tahoma"/>
              </a:rPr>
              <a:t> </a:t>
            </a:r>
            <a:r>
              <a:rPr sz="1000" spc="-50" dirty="0">
                <a:latin typeface="Tahoma"/>
                <a:cs typeface="Tahoma"/>
              </a:rPr>
              <a:t>a</a:t>
            </a:r>
            <a:r>
              <a:rPr sz="1000" spc="5" dirty="0">
                <a:latin typeface="Tahoma"/>
                <a:cs typeface="Tahoma"/>
              </a:rPr>
              <a:t> </a:t>
            </a:r>
            <a:r>
              <a:rPr sz="1000" spc="-40" dirty="0">
                <a:latin typeface="Tahoma"/>
                <a:cs typeface="Tahoma"/>
              </a:rPr>
              <a:t>mapping</a:t>
            </a:r>
            <a:r>
              <a:rPr sz="1000" spc="10" dirty="0">
                <a:latin typeface="Tahoma"/>
                <a:cs typeface="Tahoma"/>
              </a:rPr>
              <a:t> </a:t>
            </a:r>
            <a:r>
              <a:rPr sz="1000" i="1" spc="25" dirty="0">
                <a:latin typeface="Arial"/>
                <a:cs typeface="Arial"/>
              </a:rPr>
              <a:t>f</a:t>
            </a:r>
            <a:r>
              <a:rPr sz="1000" i="1" spc="215" dirty="0">
                <a:latin typeface="Arial"/>
                <a:cs typeface="Arial"/>
              </a:rPr>
              <a:t> </a:t>
            </a:r>
            <a:r>
              <a:rPr sz="1000" spc="-80" dirty="0">
                <a:latin typeface="Tahoma"/>
                <a:cs typeface="Tahoma"/>
              </a:rPr>
              <a:t>:</a:t>
            </a:r>
            <a:r>
              <a:rPr sz="1000" spc="-30" dirty="0">
                <a:latin typeface="Tahoma"/>
                <a:cs typeface="Tahoma"/>
              </a:rPr>
              <a:t> </a:t>
            </a:r>
            <a:r>
              <a:rPr sz="1000" i="1" spc="-5" dirty="0">
                <a:latin typeface="Arial"/>
                <a:cs typeface="Arial"/>
              </a:rPr>
              <a:t>A </a:t>
            </a:r>
            <a:r>
              <a:rPr sz="1000" spc="55" dirty="0">
                <a:latin typeface="Lucida Sans Unicode"/>
                <a:cs typeface="Lucida Sans Unicode"/>
              </a:rPr>
              <a:t>→</a:t>
            </a:r>
            <a:r>
              <a:rPr sz="1000" spc="-35" dirty="0">
                <a:latin typeface="Lucida Sans Unicode"/>
                <a:cs typeface="Lucida Sans Unicode"/>
              </a:rPr>
              <a:t> </a:t>
            </a:r>
            <a:r>
              <a:rPr sz="1000" i="1" spc="-5" dirty="0">
                <a:latin typeface="Arial"/>
                <a:cs typeface="Arial"/>
              </a:rPr>
              <a:t>B</a:t>
            </a:r>
            <a:r>
              <a:rPr sz="1000" i="1" spc="125" dirty="0">
                <a:latin typeface="Arial"/>
                <a:cs typeface="Arial"/>
              </a:rPr>
              <a:t> </a:t>
            </a:r>
            <a:r>
              <a:rPr sz="1000" spc="-45" dirty="0">
                <a:latin typeface="Tahoma"/>
                <a:cs typeface="Tahoma"/>
              </a:rPr>
              <a:t>there</a:t>
            </a:r>
            <a:r>
              <a:rPr sz="1000" spc="5" dirty="0">
                <a:latin typeface="Tahoma"/>
                <a:cs typeface="Tahoma"/>
              </a:rPr>
              <a:t> </a:t>
            </a:r>
            <a:r>
              <a:rPr sz="1000" spc="-40" dirty="0">
                <a:latin typeface="Tahoma"/>
                <a:cs typeface="Tahoma"/>
              </a:rPr>
              <a:t>exists</a:t>
            </a:r>
            <a:r>
              <a:rPr sz="1000" spc="10" dirty="0">
                <a:latin typeface="Tahoma"/>
                <a:cs typeface="Tahoma"/>
              </a:rPr>
              <a:t> </a:t>
            </a:r>
            <a:r>
              <a:rPr sz="1000" spc="-50" dirty="0">
                <a:latin typeface="Tahoma"/>
                <a:cs typeface="Tahoma"/>
              </a:rPr>
              <a:t>an</a:t>
            </a:r>
            <a:r>
              <a:rPr sz="1000" spc="10" dirty="0">
                <a:latin typeface="Tahoma"/>
                <a:cs typeface="Tahoma"/>
              </a:rPr>
              <a:t> </a:t>
            </a:r>
            <a:r>
              <a:rPr sz="1000" spc="-45" dirty="0">
                <a:latin typeface="Tahoma"/>
                <a:cs typeface="Tahoma"/>
              </a:rPr>
              <a:t>inverse,</a:t>
            </a:r>
            <a:r>
              <a:rPr sz="1000" spc="5" dirty="0">
                <a:latin typeface="Tahoma"/>
                <a:cs typeface="Tahoma"/>
              </a:rPr>
              <a:t> </a:t>
            </a:r>
            <a:r>
              <a:rPr sz="1000" spc="-40" dirty="0">
                <a:latin typeface="Tahoma"/>
                <a:cs typeface="Tahoma"/>
              </a:rPr>
              <a:t>then</a:t>
            </a:r>
            <a:r>
              <a:rPr sz="1000" spc="10" dirty="0">
                <a:latin typeface="Tahoma"/>
                <a:cs typeface="Tahoma"/>
              </a:rPr>
              <a:t> </a:t>
            </a:r>
            <a:r>
              <a:rPr sz="1000" i="1" spc="25" dirty="0">
                <a:latin typeface="Arial"/>
                <a:cs typeface="Arial"/>
              </a:rPr>
              <a:t>f</a:t>
            </a:r>
            <a:r>
              <a:rPr sz="1000" i="1" spc="254" dirty="0">
                <a:latin typeface="Arial"/>
                <a:cs typeface="Arial"/>
              </a:rPr>
              <a:t> </a:t>
            </a:r>
            <a:r>
              <a:rPr sz="1000" spc="-30" dirty="0">
                <a:latin typeface="Tahoma"/>
                <a:cs typeface="Tahoma"/>
              </a:rPr>
              <a:t>is</a:t>
            </a:r>
            <a:r>
              <a:rPr sz="1000" spc="10" dirty="0">
                <a:latin typeface="Tahoma"/>
                <a:cs typeface="Tahoma"/>
              </a:rPr>
              <a:t> </a:t>
            </a:r>
            <a:r>
              <a:rPr sz="1000" spc="-30" dirty="0">
                <a:latin typeface="Tahoma"/>
                <a:cs typeface="Tahoma"/>
              </a:rPr>
              <a:t>injective.</a:t>
            </a:r>
            <a:endParaRPr sz="1000">
              <a:latin typeface="Tahoma"/>
              <a:cs typeface="Tahoma"/>
            </a:endParaRPr>
          </a:p>
        </p:txBody>
      </p:sp>
      <p:sp>
        <p:nvSpPr>
          <p:cNvPr id="37" name="object 37"/>
          <p:cNvSpPr/>
          <p:nvPr/>
        </p:nvSpPr>
        <p:spPr>
          <a:xfrm>
            <a:off x="698562" y="1424126"/>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1454053"/>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39" name="object 39"/>
          <p:cNvGrpSpPr/>
          <p:nvPr/>
        </p:nvGrpSpPr>
        <p:grpSpPr>
          <a:xfrm>
            <a:off x="698562" y="1481053"/>
            <a:ext cx="3831590" cy="960755"/>
            <a:chOff x="698562" y="1481053"/>
            <a:chExt cx="3831590" cy="960755"/>
          </a:xfrm>
        </p:grpSpPr>
        <p:pic>
          <p:nvPicPr>
            <p:cNvPr id="40" name="object 40"/>
            <p:cNvPicPr/>
            <p:nvPr/>
          </p:nvPicPr>
          <p:blipFill>
            <a:blip r:embed="rId7" cstate="print"/>
            <a:stretch>
              <a:fillRect/>
            </a:stretch>
          </p:blipFill>
          <p:spPr>
            <a:xfrm>
              <a:off x="698563" y="1581721"/>
              <a:ext cx="3780284" cy="50609"/>
            </a:xfrm>
            <a:prstGeom prst="rect">
              <a:avLst/>
            </a:prstGeom>
          </p:spPr>
        </p:pic>
        <p:sp>
          <p:nvSpPr>
            <p:cNvPr id="41" name="object 41"/>
            <p:cNvSpPr/>
            <p:nvPr/>
          </p:nvSpPr>
          <p:spPr>
            <a:xfrm>
              <a:off x="749363" y="1481053"/>
              <a:ext cx="3780790" cy="960755"/>
            </a:xfrm>
            <a:custGeom>
              <a:avLst/>
              <a:gdLst/>
              <a:ahLst/>
              <a:cxnLst/>
              <a:rect l="l" t="t" r="r" b="b"/>
              <a:pathLst>
                <a:path w="3780790" h="960755">
                  <a:moveTo>
                    <a:pt x="3780285" y="0"/>
                  </a:moveTo>
                  <a:lnTo>
                    <a:pt x="0" y="0"/>
                  </a:lnTo>
                  <a:lnTo>
                    <a:pt x="0" y="960674"/>
                  </a:lnTo>
                  <a:lnTo>
                    <a:pt x="3780285" y="960674"/>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1625999"/>
              <a:ext cx="3780790" cy="765175"/>
            </a:xfrm>
            <a:custGeom>
              <a:avLst/>
              <a:gdLst/>
              <a:ahLst/>
              <a:cxnLst/>
              <a:rect l="l" t="t" r="r" b="b"/>
              <a:pathLst>
                <a:path w="3780790" h="765175">
                  <a:moveTo>
                    <a:pt x="3780285" y="0"/>
                  </a:moveTo>
                  <a:lnTo>
                    <a:pt x="0" y="0"/>
                  </a:lnTo>
                  <a:lnTo>
                    <a:pt x="0" y="714128"/>
                  </a:lnTo>
                  <a:lnTo>
                    <a:pt x="4008" y="733852"/>
                  </a:lnTo>
                  <a:lnTo>
                    <a:pt x="14922" y="750005"/>
                  </a:lnTo>
                  <a:lnTo>
                    <a:pt x="31075" y="760919"/>
                  </a:lnTo>
                  <a:lnTo>
                    <a:pt x="50800" y="764928"/>
                  </a:lnTo>
                  <a:lnTo>
                    <a:pt x="3729484" y="764928"/>
                  </a:lnTo>
                  <a:lnTo>
                    <a:pt x="3749209" y="760919"/>
                  </a:lnTo>
                  <a:lnTo>
                    <a:pt x="3765362" y="750005"/>
                  </a:lnTo>
                  <a:lnTo>
                    <a:pt x="3776276" y="733852"/>
                  </a:lnTo>
                  <a:lnTo>
                    <a:pt x="3780285" y="714128"/>
                  </a:lnTo>
                  <a:lnTo>
                    <a:pt x="3780285" y="0"/>
                  </a:lnTo>
                  <a:close/>
                </a:path>
              </a:pathLst>
            </a:custGeom>
            <a:solidFill>
              <a:srgbClr val="E9E9F2"/>
            </a:solidFill>
          </p:spPr>
          <p:txBody>
            <a:bodyPr wrap="square" lIns="0" tIns="0" rIns="0" bIns="0" rtlCol="0"/>
            <a:lstStyle/>
            <a:p>
              <a:endParaRPr/>
            </a:p>
          </p:txBody>
        </p:sp>
        <p:sp>
          <p:nvSpPr>
            <p:cNvPr id="43" name="object 43"/>
            <p:cNvSpPr/>
            <p:nvPr/>
          </p:nvSpPr>
          <p:spPr>
            <a:xfrm>
              <a:off x="4338307" y="2261095"/>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4" name="object 44"/>
            <p:cNvSpPr/>
            <p:nvPr/>
          </p:nvSpPr>
          <p:spPr>
            <a:xfrm>
              <a:off x="4340834" y="2263622"/>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5" name="object 45"/>
            <p:cNvSpPr/>
            <p:nvPr/>
          </p:nvSpPr>
          <p:spPr>
            <a:xfrm>
              <a:off x="4340834" y="2343962"/>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6" name="object 46"/>
            <p:cNvSpPr/>
            <p:nvPr/>
          </p:nvSpPr>
          <p:spPr>
            <a:xfrm>
              <a:off x="4419282" y="2261095"/>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
        <p:nvSpPr>
          <p:cNvPr id="47" name="object 47"/>
          <p:cNvSpPr/>
          <p:nvPr/>
        </p:nvSpPr>
        <p:spPr>
          <a:xfrm>
            <a:off x="698562" y="2542844"/>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48" name="object 48"/>
          <p:cNvSpPr txBox="1"/>
          <p:nvPr/>
        </p:nvSpPr>
        <p:spPr>
          <a:xfrm>
            <a:off x="749363" y="2572783"/>
            <a:ext cx="466725" cy="128270"/>
          </a:xfrm>
          <a:prstGeom prst="rect">
            <a:avLst/>
          </a:prstGeom>
        </p:spPr>
        <p:txBody>
          <a:bodyPr vert="horz" wrap="square" lIns="0" tIns="0" rIns="0" bIns="0" rtlCol="0">
            <a:spAutoFit/>
          </a:bodyPr>
          <a:lstStyle/>
          <a:p>
            <a:pPr>
              <a:lnSpc>
                <a:spcPts val="955"/>
              </a:lnSpc>
            </a:pPr>
            <a:r>
              <a:rPr sz="1000" spc="-10" dirty="0">
                <a:solidFill>
                  <a:srgbClr val="FFFFFF"/>
                </a:solidFill>
                <a:latin typeface="Tahoma"/>
                <a:cs typeface="Tahoma"/>
              </a:rPr>
              <a:t>C</a:t>
            </a:r>
            <a:r>
              <a:rPr sz="1000" spc="-35" dirty="0">
                <a:solidFill>
                  <a:srgbClr val="FFFFFF"/>
                </a:solidFill>
                <a:latin typeface="Tahoma"/>
                <a:cs typeface="Tahoma"/>
              </a:rPr>
              <a:t>o</a:t>
            </a:r>
            <a:r>
              <a:rPr sz="1000" spc="-20" dirty="0">
                <a:solidFill>
                  <a:srgbClr val="FFFFFF"/>
                </a:solidFill>
                <a:latin typeface="Tahoma"/>
                <a:cs typeface="Tahoma"/>
              </a:rPr>
              <a:t>roll</a:t>
            </a:r>
            <a:r>
              <a:rPr sz="1000" spc="-60" dirty="0">
                <a:solidFill>
                  <a:srgbClr val="FFFFFF"/>
                </a:solidFill>
                <a:latin typeface="Tahoma"/>
                <a:cs typeface="Tahoma"/>
              </a:rPr>
              <a:t>a</a:t>
            </a:r>
            <a:r>
              <a:rPr sz="1000" spc="-30" dirty="0">
                <a:solidFill>
                  <a:srgbClr val="FFFFFF"/>
                </a:solidFill>
                <a:latin typeface="Tahoma"/>
                <a:cs typeface="Tahoma"/>
              </a:rPr>
              <a:t>ry</a:t>
            </a:r>
            <a:endParaRPr sz="1000">
              <a:latin typeface="Tahoma"/>
              <a:cs typeface="Tahoma"/>
            </a:endParaRPr>
          </a:p>
        </p:txBody>
      </p:sp>
      <p:grpSp>
        <p:nvGrpSpPr>
          <p:cNvPr id="49" name="object 49"/>
          <p:cNvGrpSpPr/>
          <p:nvPr/>
        </p:nvGrpSpPr>
        <p:grpSpPr>
          <a:xfrm>
            <a:off x="698562" y="2599783"/>
            <a:ext cx="3831590" cy="535940"/>
            <a:chOff x="698562" y="2599783"/>
            <a:chExt cx="3831590" cy="535940"/>
          </a:xfrm>
        </p:grpSpPr>
        <p:pic>
          <p:nvPicPr>
            <p:cNvPr id="50" name="object 50"/>
            <p:cNvPicPr/>
            <p:nvPr/>
          </p:nvPicPr>
          <p:blipFill>
            <a:blip r:embed="rId8" cstate="print"/>
            <a:stretch>
              <a:fillRect/>
            </a:stretch>
          </p:blipFill>
          <p:spPr>
            <a:xfrm>
              <a:off x="698563" y="2706065"/>
              <a:ext cx="3780284" cy="50609"/>
            </a:xfrm>
            <a:prstGeom prst="rect">
              <a:avLst/>
            </a:prstGeom>
          </p:spPr>
        </p:pic>
        <p:sp>
          <p:nvSpPr>
            <p:cNvPr id="51" name="object 51"/>
            <p:cNvSpPr/>
            <p:nvPr/>
          </p:nvSpPr>
          <p:spPr>
            <a:xfrm>
              <a:off x="749363" y="2599783"/>
              <a:ext cx="3780790" cy="535940"/>
            </a:xfrm>
            <a:custGeom>
              <a:avLst/>
              <a:gdLst/>
              <a:ahLst/>
              <a:cxnLst/>
              <a:rect l="l" t="t" r="r" b="b"/>
              <a:pathLst>
                <a:path w="3780790" h="535939">
                  <a:moveTo>
                    <a:pt x="3780285" y="0"/>
                  </a:moveTo>
                  <a:lnTo>
                    <a:pt x="0" y="0"/>
                  </a:lnTo>
                  <a:lnTo>
                    <a:pt x="0" y="535402"/>
                  </a:lnTo>
                  <a:lnTo>
                    <a:pt x="3780285" y="535402"/>
                  </a:lnTo>
                  <a:lnTo>
                    <a:pt x="3780285" y="0"/>
                  </a:lnTo>
                  <a:close/>
                </a:path>
              </a:pathLst>
            </a:custGeom>
            <a:solidFill>
              <a:srgbClr val="000000"/>
            </a:solidFill>
          </p:spPr>
          <p:txBody>
            <a:bodyPr wrap="square" lIns="0" tIns="0" rIns="0" bIns="0" rtlCol="0"/>
            <a:lstStyle/>
            <a:p>
              <a:endParaRPr/>
            </a:p>
          </p:txBody>
        </p:sp>
        <p:sp>
          <p:nvSpPr>
            <p:cNvPr id="52" name="object 52"/>
            <p:cNvSpPr/>
            <p:nvPr/>
          </p:nvSpPr>
          <p:spPr>
            <a:xfrm>
              <a:off x="698562" y="2750352"/>
              <a:ext cx="3780790" cy="334645"/>
            </a:xfrm>
            <a:custGeom>
              <a:avLst/>
              <a:gdLst/>
              <a:ahLst/>
              <a:cxnLst/>
              <a:rect l="l" t="t" r="r" b="b"/>
              <a:pathLst>
                <a:path w="3780790" h="334644">
                  <a:moveTo>
                    <a:pt x="3780285" y="0"/>
                  </a:moveTo>
                  <a:lnTo>
                    <a:pt x="0" y="0"/>
                  </a:lnTo>
                  <a:lnTo>
                    <a:pt x="0" y="283232"/>
                  </a:lnTo>
                  <a:lnTo>
                    <a:pt x="4008" y="302957"/>
                  </a:lnTo>
                  <a:lnTo>
                    <a:pt x="14922" y="319110"/>
                  </a:lnTo>
                  <a:lnTo>
                    <a:pt x="31075" y="330024"/>
                  </a:lnTo>
                  <a:lnTo>
                    <a:pt x="50800" y="334033"/>
                  </a:lnTo>
                  <a:lnTo>
                    <a:pt x="3729484" y="334033"/>
                  </a:lnTo>
                  <a:lnTo>
                    <a:pt x="3749209" y="330024"/>
                  </a:lnTo>
                  <a:lnTo>
                    <a:pt x="3765362" y="319110"/>
                  </a:lnTo>
                  <a:lnTo>
                    <a:pt x="3776276" y="302957"/>
                  </a:lnTo>
                  <a:lnTo>
                    <a:pt x="3780285" y="283232"/>
                  </a:lnTo>
                  <a:lnTo>
                    <a:pt x="3780285" y="0"/>
                  </a:lnTo>
                  <a:close/>
                </a:path>
              </a:pathLst>
            </a:custGeom>
            <a:solidFill>
              <a:srgbClr val="E9E9F2"/>
            </a:solidFill>
          </p:spPr>
          <p:txBody>
            <a:bodyPr wrap="square" lIns="0" tIns="0" rIns="0" bIns="0" rtlCol="0"/>
            <a:lstStyle/>
            <a:p>
              <a:endParaRPr/>
            </a:p>
          </p:txBody>
        </p:sp>
      </p:grpSp>
      <p:sp>
        <p:nvSpPr>
          <p:cNvPr id="53" name="object 53"/>
          <p:cNvSpPr txBox="1"/>
          <p:nvPr/>
        </p:nvSpPr>
        <p:spPr>
          <a:xfrm>
            <a:off x="647763" y="1599951"/>
            <a:ext cx="3870325" cy="1453515"/>
          </a:xfrm>
          <a:prstGeom prst="rect">
            <a:avLst/>
          </a:prstGeom>
        </p:spPr>
        <p:txBody>
          <a:bodyPr vert="horz" wrap="square" lIns="0" tIns="12065" rIns="0" bIns="0" rtlCol="0">
            <a:spAutoFit/>
          </a:bodyPr>
          <a:lstStyle/>
          <a:p>
            <a:pPr marL="101600">
              <a:lnSpc>
                <a:spcPts val="1200"/>
              </a:lnSpc>
              <a:spcBef>
                <a:spcPts val="95"/>
              </a:spcBef>
            </a:pPr>
            <a:r>
              <a:rPr sz="1000" spc="-35" dirty="0">
                <a:latin typeface="Tahoma"/>
                <a:cs typeface="Tahoma"/>
              </a:rPr>
              <a:t>Otherwise</a:t>
            </a:r>
            <a:r>
              <a:rPr sz="1000" spc="15" dirty="0">
                <a:latin typeface="Tahoma"/>
                <a:cs typeface="Tahoma"/>
              </a:rPr>
              <a:t> </a:t>
            </a:r>
            <a:r>
              <a:rPr sz="1000" spc="-45" dirty="0">
                <a:latin typeface="Tahoma"/>
                <a:cs typeface="Tahoma"/>
              </a:rPr>
              <a:t>there</a:t>
            </a:r>
            <a:r>
              <a:rPr sz="1000" spc="20" dirty="0">
                <a:latin typeface="Tahoma"/>
                <a:cs typeface="Tahoma"/>
              </a:rPr>
              <a:t> </a:t>
            </a:r>
            <a:r>
              <a:rPr sz="1000" spc="-35" dirty="0">
                <a:latin typeface="Tahoma"/>
                <a:cs typeface="Tahoma"/>
              </a:rPr>
              <a:t>exist</a:t>
            </a:r>
            <a:r>
              <a:rPr sz="1000" spc="15" dirty="0">
                <a:latin typeface="Tahoma"/>
                <a:cs typeface="Tahoma"/>
              </a:rPr>
              <a:t> </a:t>
            </a:r>
            <a:r>
              <a:rPr sz="1000" spc="-45" dirty="0">
                <a:latin typeface="Tahoma"/>
                <a:cs typeface="Tahoma"/>
              </a:rPr>
              <a:t>such</a:t>
            </a:r>
            <a:r>
              <a:rPr sz="1000" spc="25" dirty="0">
                <a:latin typeface="Tahoma"/>
                <a:cs typeface="Tahoma"/>
              </a:rPr>
              <a:t> </a:t>
            </a:r>
            <a:r>
              <a:rPr sz="1000" i="1" spc="-45" dirty="0">
                <a:latin typeface="Arial"/>
                <a:cs typeface="Arial"/>
              </a:rPr>
              <a:t>a</a:t>
            </a:r>
            <a:r>
              <a:rPr sz="1050" spc="-67" baseline="-11904" dirty="0">
                <a:latin typeface="Microsoft Sans Serif"/>
                <a:cs typeface="Microsoft Sans Serif"/>
              </a:rPr>
              <a:t>1</a:t>
            </a:r>
            <a:r>
              <a:rPr sz="1000" i="1" spc="-45" dirty="0">
                <a:latin typeface="Verdana"/>
                <a:cs typeface="Verdana"/>
              </a:rPr>
              <a:t>,</a:t>
            </a:r>
            <a:r>
              <a:rPr sz="1000" i="1" spc="-185" dirty="0">
                <a:latin typeface="Verdana"/>
                <a:cs typeface="Verdana"/>
              </a:rPr>
              <a:t> </a:t>
            </a:r>
            <a:r>
              <a:rPr sz="1000" i="1" spc="-50" dirty="0">
                <a:latin typeface="Arial"/>
                <a:cs typeface="Arial"/>
              </a:rPr>
              <a:t>a</a:t>
            </a:r>
            <a:r>
              <a:rPr sz="1050" spc="-75" baseline="-11904" dirty="0">
                <a:latin typeface="Microsoft Sans Serif"/>
                <a:cs typeface="Microsoft Sans Serif"/>
              </a:rPr>
              <a:t>2</a:t>
            </a:r>
            <a:r>
              <a:rPr sz="1050" spc="7" baseline="-11904" dirty="0">
                <a:latin typeface="Microsoft Sans Serif"/>
                <a:cs typeface="Microsoft Sans Serif"/>
              </a:rPr>
              <a:t> </a:t>
            </a:r>
            <a:r>
              <a:rPr sz="1000" spc="-135" dirty="0">
                <a:latin typeface="Lucida Sans Unicode"/>
                <a:cs typeface="Lucida Sans Unicode"/>
              </a:rPr>
              <a:t>∈</a:t>
            </a:r>
            <a:r>
              <a:rPr sz="1000" spc="-40" dirty="0">
                <a:latin typeface="Lucida Sans Unicode"/>
                <a:cs typeface="Lucida Sans Unicode"/>
              </a:rPr>
              <a:t> </a:t>
            </a:r>
            <a:r>
              <a:rPr sz="1000" i="1" spc="-20" dirty="0">
                <a:latin typeface="Arial"/>
                <a:cs typeface="Arial"/>
              </a:rPr>
              <a:t>A</a:t>
            </a:r>
            <a:r>
              <a:rPr sz="1000" spc="-20" dirty="0">
                <a:latin typeface="Tahoma"/>
                <a:cs typeface="Tahoma"/>
              </a:rPr>
              <a:t>,</a:t>
            </a:r>
            <a:r>
              <a:rPr sz="1000" spc="20" dirty="0">
                <a:latin typeface="Tahoma"/>
                <a:cs typeface="Tahoma"/>
              </a:rPr>
              <a:t> </a:t>
            </a:r>
            <a:r>
              <a:rPr sz="1000" spc="-10" dirty="0">
                <a:latin typeface="Tahoma"/>
                <a:cs typeface="Tahoma"/>
              </a:rPr>
              <a:t>that</a:t>
            </a:r>
            <a:r>
              <a:rPr sz="1000" spc="20" dirty="0">
                <a:latin typeface="Tahoma"/>
                <a:cs typeface="Tahoma"/>
              </a:rPr>
              <a:t> </a:t>
            </a:r>
            <a:r>
              <a:rPr sz="1000" i="1" spc="-50" dirty="0">
                <a:latin typeface="Arial"/>
                <a:cs typeface="Arial"/>
              </a:rPr>
              <a:t>a</a:t>
            </a:r>
            <a:r>
              <a:rPr sz="1050" spc="-75" baseline="-11904" dirty="0">
                <a:latin typeface="Microsoft Sans Serif"/>
                <a:cs typeface="Microsoft Sans Serif"/>
              </a:rPr>
              <a:t>1</a:t>
            </a:r>
            <a:r>
              <a:rPr sz="1050" spc="202" baseline="-11904" dirty="0">
                <a:latin typeface="Microsoft Sans Serif"/>
                <a:cs typeface="Microsoft Sans Serif"/>
              </a:rPr>
              <a:t> </a:t>
            </a:r>
            <a:r>
              <a:rPr sz="1000" spc="20" dirty="0">
                <a:latin typeface="Lucida Sans Unicode"/>
                <a:cs typeface="Lucida Sans Unicode"/>
              </a:rPr>
              <a:t≯</a:t>
            </a:r>
            <a:r>
              <a:rPr sz="1000" spc="20" dirty="0">
                <a:latin typeface="Tahoma"/>
                <a:cs typeface="Tahoma"/>
              </a:rPr>
              <a:t>=</a:t>
            </a:r>
            <a:r>
              <a:rPr sz="1000" spc="-35" dirty="0">
                <a:latin typeface="Tahoma"/>
                <a:cs typeface="Tahoma"/>
              </a:rPr>
              <a:t> </a:t>
            </a:r>
            <a:r>
              <a:rPr sz="1000" i="1" spc="-50" dirty="0">
                <a:latin typeface="Arial"/>
                <a:cs typeface="Arial"/>
              </a:rPr>
              <a:t>a</a:t>
            </a:r>
            <a:r>
              <a:rPr sz="1050" spc="-75" baseline="-11904" dirty="0">
                <a:latin typeface="Microsoft Sans Serif"/>
                <a:cs typeface="Microsoft Sans Serif"/>
              </a:rPr>
              <a:t>2</a:t>
            </a:r>
            <a:r>
              <a:rPr sz="1050" spc="292" baseline="-11904" dirty="0">
                <a:latin typeface="Microsoft Sans Serif"/>
                <a:cs typeface="Microsoft Sans Serif"/>
              </a:rPr>
              <a:t> </a:t>
            </a:r>
            <a:r>
              <a:rPr sz="1000" spc="-45" dirty="0">
                <a:latin typeface="Tahoma"/>
                <a:cs typeface="Tahoma"/>
              </a:rPr>
              <a:t>and</a:t>
            </a:r>
            <a:endParaRPr sz="1000">
              <a:latin typeface="Tahoma"/>
              <a:cs typeface="Tahoma"/>
            </a:endParaRPr>
          </a:p>
          <a:p>
            <a:pPr marL="101600">
              <a:lnSpc>
                <a:spcPts val="1195"/>
              </a:lnSpc>
            </a:pPr>
            <a:r>
              <a:rPr sz="1000" i="1" spc="25" dirty="0">
                <a:latin typeface="Arial"/>
                <a:cs typeface="Arial"/>
              </a:rPr>
              <a:t>f</a:t>
            </a:r>
            <a:r>
              <a:rPr sz="1000" i="1" spc="-65" dirty="0">
                <a:latin typeface="Arial"/>
                <a:cs typeface="Arial"/>
              </a:rPr>
              <a:t> </a:t>
            </a:r>
            <a:r>
              <a:rPr sz="1000" dirty="0">
                <a:latin typeface="Tahoma"/>
                <a:cs typeface="Tahoma"/>
              </a:rPr>
              <a:t>(</a:t>
            </a:r>
            <a:r>
              <a:rPr sz="1000" i="1" spc="-80" dirty="0">
                <a:latin typeface="Arial"/>
                <a:cs typeface="Arial"/>
              </a:rPr>
              <a:t>a</a:t>
            </a:r>
            <a:r>
              <a:rPr sz="1050" spc="44" baseline="-11904" dirty="0">
                <a:latin typeface="Microsoft Sans Serif"/>
                <a:cs typeface="Microsoft Sans Serif"/>
              </a:rPr>
              <a:t>1</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25" dirty="0">
                <a:latin typeface="Arial"/>
                <a:cs typeface="Arial"/>
              </a:rPr>
              <a:t>f</a:t>
            </a:r>
            <a:r>
              <a:rPr sz="1000" i="1" spc="-65" dirty="0">
                <a:latin typeface="Arial"/>
                <a:cs typeface="Arial"/>
              </a:rPr>
              <a:t> </a:t>
            </a:r>
            <a:r>
              <a:rPr sz="1000" dirty="0">
                <a:latin typeface="Tahoma"/>
                <a:cs typeface="Tahoma"/>
              </a:rPr>
              <a:t>(</a:t>
            </a:r>
            <a:r>
              <a:rPr sz="1000" i="1" spc="-80" dirty="0">
                <a:latin typeface="Arial"/>
                <a:cs typeface="Arial"/>
              </a:rPr>
              <a:t>a</a:t>
            </a:r>
            <a:r>
              <a:rPr sz="1050" spc="44" baseline="-11904" dirty="0">
                <a:latin typeface="Microsoft Sans Serif"/>
                <a:cs typeface="Microsoft Sans Serif"/>
              </a:rPr>
              <a:t>2</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45" dirty="0">
                <a:latin typeface="Arial"/>
                <a:cs typeface="Arial"/>
              </a:rPr>
              <a:t>b</a:t>
            </a:r>
            <a:r>
              <a:rPr sz="1000" i="1" spc="3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75" dirty="0">
                <a:latin typeface="Arial"/>
                <a:cs typeface="Arial"/>
              </a:rPr>
              <a:t>B</a:t>
            </a:r>
            <a:r>
              <a:rPr sz="1000" spc="-30" dirty="0">
                <a:latin typeface="Tahoma"/>
                <a:cs typeface="Tahoma"/>
              </a:rPr>
              <a:t>.</a:t>
            </a:r>
            <a:r>
              <a:rPr sz="1000" spc="130" dirty="0">
                <a:latin typeface="Tahoma"/>
                <a:cs typeface="Tahoma"/>
              </a:rPr>
              <a:t> </a:t>
            </a:r>
            <a:r>
              <a:rPr sz="1000" spc="15" dirty="0">
                <a:latin typeface="Tahoma"/>
                <a:cs typeface="Tahoma"/>
              </a:rPr>
              <a:t>By</a:t>
            </a:r>
            <a:r>
              <a:rPr sz="1000" spc="20" dirty="0">
                <a:latin typeface="Tahoma"/>
                <a:cs typeface="Tahoma"/>
              </a:rPr>
              <a:t> </a:t>
            </a:r>
            <a:r>
              <a:rPr sz="1000" spc="-25" dirty="0">
                <a:latin typeface="Tahoma"/>
                <a:cs typeface="Tahoma"/>
              </a:rPr>
              <a:t>condition</a:t>
            </a:r>
            <a:r>
              <a:rPr sz="1000" spc="15" dirty="0">
                <a:latin typeface="Tahoma"/>
                <a:cs typeface="Tahoma"/>
              </a:rPr>
              <a:t> </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05" dirty="0">
                <a:latin typeface="Arial"/>
                <a:cs typeface="Arial"/>
              </a:rPr>
              <a:t> </a:t>
            </a:r>
            <a:r>
              <a:rPr sz="1000" spc="45" dirty="0">
                <a:latin typeface="Tahoma"/>
                <a:cs typeface="Tahoma"/>
              </a:rPr>
              <a:t>=</a:t>
            </a:r>
            <a:r>
              <a:rPr sz="1000" spc="-35" dirty="0">
                <a:latin typeface="Tahoma"/>
                <a:cs typeface="Tahoma"/>
              </a:rPr>
              <a:t> </a:t>
            </a:r>
            <a:r>
              <a:rPr sz="1000" i="1" spc="-15" dirty="0">
                <a:latin typeface="Arial"/>
                <a:cs typeface="Arial"/>
              </a:rPr>
              <a:t>id</a:t>
            </a:r>
            <a:r>
              <a:rPr sz="1050" i="1" spc="112" baseline="-11904" dirty="0">
                <a:latin typeface="Arial"/>
                <a:cs typeface="Arial"/>
              </a:rPr>
              <a:t>A</a:t>
            </a:r>
            <a:r>
              <a:rPr sz="1000" spc="-30" dirty="0">
                <a:latin typeface="Tahoma"/>
                <a:cs typeface="Tahoma"/>
              </a:rPr>
              <a:t>,</a:t>
            </a:r>
            <a:r>
              <a:rPr sz="1000" spc="20" dirty="0">
                <a:latin typeface="Tahoma"/>
                <a:cs typeface="Tahoma"/>
              </a:rPr>
              <a:t> </a:t>
            </a:r>
            <a:r>
              <a:rPr sz="1000" spc="-35" dirty="0">
                <a:latin typeface="Tahoma"/>
                <a:cs typeface="Tahoma"/>
              </a:rPr>
              <a:t>i.e.</a:t>
            </a:r>
            <a:r>
              <a:rPr sz="1000" spc="130" dirty="0">
                <a:latin typeface="Tahoma"/>
                <a:cs typeface="Tahoma"/>
              </a:rPr>
              <a:t> </a:t>
            </a:r>
            <a:r>
              <a:rPr sz="1000" spc="-5" dirty="0">
                <a:latin typeface="Tahoma"/>
                <a:cs typeface="Tahoma"/>
              </a:rPr>
              <a:t>(</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70" dirty="0">
                <a:latin typeface="Arial"/>
                <a:cs typeface="Arial"/>
              </a:rPr>
              <a:t> </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80" dirty="0">
                <a:latin typeface="Arial"/>
                <a:cs typeface="Arial"/>
              </a:rPr>
              <a:t>a</a:t>
            </a:r>
            <a:endParaRPr sz="1000">
              <a:latin typeface="Arial"/>
              <a:cs typeface="Arial"/>
            </a:endParaRPr>
          </a:p>
          <a:p>
            <a:pPr marL="100965">
              <a:lnSpc>
                <a:spcPts val="1195"/>
              </a:lnSpc>
            </a:pPr>
            <a:r>
              <a:rPr sz="1000" spc="-25" dirty="0">
                <a:latin typeface="Tahoma"/>
                <a:cs typeface="Tahoma"/>
              </a:rPr>
              <a:t>f</a:t>
            </a:r>
            <a:r>
              <a:rPr sz="1000" spc="-70" dirty="0">
                <a:latin typeface="Tahoma"/>
                <a:cs typeface="Tahoma"/>
              </a:rPr>
              <a:t>o</a:t>
            </a:r>
            <a:r>
              <a:rPr sz="1000" spc="-25" dirty="0">
                <a:latin typeface="Tahoma"/>
                <a:cs typeface="Tahoma"/>
              </a:rPr>
              <a:t>r</a:t>
            </a:r>
            <a:r>
              <a:rPr sz="1000" spc="20" dirty="0">
                <a:latin typeface="Tahoma"/>
                <a:cs typeface="Tahoma"/>
              </a:rPr>
              <a:t> </a:t>
            </a:r>
            <a:r>
              <a:rPr sz="1000" spc="-45" dirty="0">
                <a:latin typeface="Tahoma"/>
                <a:cs typeface="Tahoma"/>
              </a:rPr>
              <a:t>any</a:t>
            </a:r>
            <a:r>
              <a:rPr sz="1000" spc="15" dirty="0">
                <a:latin typeface="Tahoma"/>
                <a:cs typeface="Tahoma"/>
              </a:rPr>
              <a:t> </a:t>
            </a:r>
            <a:r>
              <a:rPr sz="1000" i="1" spc="-80" dirty="0">
                <a:latin typeface="Arial"/>
                <a:cs typeface="Arial"/>
              </a:rPr>
              <a:t>a</a:t>
            </a:r>
            <a:r>
              <a:rPr sz="1000" i="1" spc="5"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spc="-30" dirty="0">
                <a:latin typeface="Tahoma"/>
                <a:cs typeface="Tahoma"/>
              </a:rPr>
              <a:t>.</a:t>
            </a:r>
            <a:r>
              <a:rPr sz="1000" spc="130" dirty="0">
                <a:latin typeface="Tahoma"/>
                <a:cs typeface="Tahoma"/>
              </a:rPr>
              <a:t> </a:t>
            </a:r>
            <a:r>
              <a:rPr sz="1000" spc="-20" dirty="0">
                <a:latin typeface="Tahoma"/>
                <a:cs typeface="Tahoma"/>
              </a:rPr>
              <a:t>Then</a:t>
            </a:r>
            <a:endParaRPr sz="1000">
              <a:latin typeface="Tahoma"/>
              <a:cs typeface="Tahoma"/>
            </a:endParaRPr>
          </a:p>
          <a:p>
            <a:pPr marL="100965" marR="135890">
              <a:lnSpc>
                <a:spcPts val="1200"/>
              </a:lnSpc>
              <a:spcBef>
                <a:spcPts val="40"/>
              </a:spcBef>
            </a:pPr>
            <a:r>
              <a:rPr sz="1000" i="1" spc="-50" dirty="0">
                <a:latin typeface="Arial"/>
                <a:cs typeface="Arial"/>
              </a:rPr>
              <a:t>a</a:t>
            </a:r>
            <a:r>
              <a:rPr sz="1050" spc="-75" baseline="-11904" dirty="0">
                <a:latin typeface="Microsoft Sans Serif"/>
                <a:cs typeface="Microsoft Sans Serif"/>
              </a:rPr>
              <a:t>1</a:t>
            </a:r>
            <a:r>
              <a:rPr sz="1050" spc="7" baseline="-11904" dirty="0">
                <a:latin typeface="Microsoft Sans Serif"/>
                <a:cs typeface="Microsoft Sans Serif"/>
              </a:rPr>
              <a:t> </a:t>
            </a:r>
            <a:r>
              <a:rPr sz="1000" spc="45" dirty="0">
                <a:latin typeface="Tahoma"/>
                <a:cs typeface="Tahoma"/>
              </a:rPr>
              <a:t>=</a:t>
            </a:r>
            <a:r>
              <a:rPr sz="1000" spc="-35" dirty="0">
                <a:latin typeface="Tahoma"/>
                <a:cs typeface="Tahoma"/>
              </a:rPr>
              <a:t> </a:t>
            </a:r>
            <a:r>
              <a:rPr sz="1000" spc="10" dirty="0">
                <a:latin typeface="Tahoma"/>
                <a:cs typeface="Tahoma"/>
              </a:rPr>
              <a:t>(</a:t>
            </a:r>
            <a:r>
              <a:rPr sz="1000" i="1" spc="10" dirty="0">
                <a:latin typeface="Arial"/>
                <a:cs typeface="Arial"/>
              </a:rPr>
              <a:t>f</a:t>
            </a:r>
            <a:r>
              <a:rPr sz="1000" i="1" spc="16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00" spc="-10" dirty="0">
                <a:latin typeface="Tahoma"/>
                <a:cs typeface="Tahoma"/>
              </a:rPr>
              <a:t>)</a:t>
            </a:r>
            <a:r>
              <a:rPr sz="1000" spc="-30" dirty="0">
                <a:latin typeface="Tahoma"/>
                <a:cs typeface="Tahoma"/>
              </a:rPr>
              <a:t> </a:t>
            </a:r>
            <a:r>
              <a:rPr sz="1000" spc="45" dirty="0">
                <a:latin typeface="Tahoma"/>
                <a:cs typeface="Tahoma"/>
              </a:rPr>
              <a:t>=</a:t>
            </a:r>
            <a:r>
              <a:rPr sz="1000" spc="-40" dirty="0">
                <a:latin typeface="Tahoma"/>
                <a:cs typeface="Tahoma"/>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f</a:t>
            </a:r>
            <a:r>
              <a:rPr sz="1000" i="1" spc="-60"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1</a:t>
            </a:r>
            <a:r>
              <a:rPr sz="1000" spc="-1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60" dirty="0">
                <a:latin typeface="Arial"/>
                <a:cs typeface="Arial"/>
              </a:rPr>
              <a:t>g</a:t>
            </a:r>
            <a:r>
              <a:rPr sz="1000" i="1" spc="-170" dirty="0">
                <a:latin typeface="Arial"/>
                <a:cs typeface="Arial"/>
              </a:rPr>
              <a:t> </a:t>
            </a:r>
            <a:r>
              <a:rPr sz="1000" spc="-5" dirty="0">
                <a:latin typeface="Tahoma"/>
                <a:cs typeface="Tahoma"/>
              </a:rPr>
              <a:t>(</a:t>
            </a:r>
            <a:r>
              <a:rPr sz="1000" i="1" spc="-5" dirty="0">
                <a:latin typeface="Arial"/>
                <a:cs typeface="Arial"/>
              </a:rPr>
              <a:t>b</a:t>
            </a:r>
            <a:r>
              <a:rPr sz="1000" spc="-5" dirty="0">
                <a:latin typeface="Tahoma"/>
                <a:cs typeface="Tahoma"/>
              </a:rPr>
              <a:t>)</a:t>
            </a:r>
            <a:r>
              <a:rPr sz="1000" spc="-30" dirty="0">
                <a:latin typeface="Tahoma"/>
                <a:cs typeface="Tahoma"/>
              </a:rPr>
              <a:t> </a:t>
            </a:r>
            <a:r>
              <a:rPr sz="1000" spc="45" dirty="0">
                <a:latin typeface="Tahoma"/>
                <a:cs typeface="Tahoma"/>
              </a:rPr>
              <a:t>=</a:t>
            </a:r>
            <a:r>
              <a:rPr sz="1000" spc="-40" dirty="0">
                <a:latin typeface="Tahoma"/>
                <a:cs typeface="Tahoma"/>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f</a:t>
            </a:r>
            <a:r>
              <a:rPr sz="1000" i="1" spc="-60"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2</a:t>
            </a:r>
            <a:r>
              <a:rPr sz="1000" spc="-1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spc="10" dirty="0">
                <a:latin typeface="Tahoma"/>
                <a:cs typeface="Tahoma"/>
              </a:rPr>
              <a:t>(</a:t>
            </a:r>
            <a:r>
              <a:rPr sz="1000" i="1" spc="10" dirty="0">
                <a:latin typeface="Arial"/>
                <a:cs typeface="Arial"/>
              </a:rPr>
              <a:t>f</a:t>
            </a:r>
            <a:r>
              <a:rPr sz="1000" i="1" spc="165"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00" i="1" spc="-170" dirty="0">
                <a:latin typeface="Arial"/>
                <a:cs typeface="Arial"/>
              </a:rPr>
              <a:t> </a:t>
            </a:r>
            <a:r>
              <a:rPr sz="1000" spc="-10" dirty="0">
                <a:latin typeface="Tahoma"/>
                <a:cs typeface="Tahoma"/>
              </a:rPr>
              <a:t>)(</a:t>
            </a:r>
            <a:r>
              <a:rPr sz="1000" i="1" spc="-10" dirty="0">
                <a:latin typeface="Arial"/>
                <a:cs typeface="Arial"/>
              </a:rPr>
              <a:t>a</a:t>
            </a:r>
            <a:r>
              <a:rPr sz="1050" spc="-15" baseline="-11904" dirty="0">
                <a:latin typeface="Microsoft Sans Serif"/>
                <a:cs typeface="Microsoft Sans Serif"/>
              </a:rPr>
              <a:t>2</a:t>
            </a:r>
            <a:r>
              <a:rPr sz="1000" spc="-10" dirty="0">
                <a:latin typeface="Tahoma"/>
                <a:cs typeface="Tahoma"/>
              </a:rPr>
              <a:t>)</a:t>
            </a:r>
            <a:r>
              <a:rPr sz="1000" spc="-35" dirty="0">
                <a:latin typeface="Tahoma"/>
                <a:cs typeface="Tahoma"/>
              </a:rPr>
              <a:t> </a:t>
            </a:r>
            <a:r>
              <a:rPr sz="1000" spc="45" dirty="0">
                <a:latin typeface="Tahoma"/>
                <a:cs typeface="Tahoma"/>
              </a:rPr>
              <a:t>=</a:t>
            </a:r>
            <a:r>
              <a:rPr sz="1000" spc="-35" dirty="0">
                <a:latin typeface="Tahoma"/>
                <a:cs typeface="Tahoma"/>
              </a:rPr>
              <a:t> </a:t>
            </a:r>
            <a:r>
              <a:rPr sz="1000" i="1" spc="-50" dirty="0">
                <a:latin typeface="Arial"/>
                <a:cs typeface="Arial"/>
              </a:rPr>
              <a:t>a</a:t>
            </a:r>
            <a:r>
              <a:rPr sz="1050" spc="-75" baseline="-11904" dirty="0">
                <a:latin typeface="Microsoft Sans Serif"/>
                <a:cs typeface="Microsoft Sans Serif"/>
              </a:rPr>
              <a:t>2</a:t>
            </a:r>
            <a:r>
              <a:rPr sz="1050" spc="97" baseline="-11904" dirty="0">
                <a:latin typeface="Microsoft Sans Serif"/>
                <a:cs typeface="Microsoft Sans Serif"/>
              </a:rPr>
              <a:t> </a:t>
            </a:r>
            <a:r>
              <a:rPr sz="1000" spc="-35" dirty="0">
                <a:latin typeface="Tahoma"/>
                <a:cs typeface="Tahoma"/>
              </a:rPr>
              <a:t>- </a:t>
            </a:r>
            <a:r>
              <a:rPr sz="1000" spc="-300" dirty="0">
                <a:latin typeface="Tahoma"/>
                <a:cs typeface="Tahoma"/>
              </a:rPr>
              <a:t> </a:t>
            </a:r>
            <a:r>
              <a:rPr sz="1000" spc="-20" dirty="0">
                <a:latin typeface="Tahoma"/>
                <a:cs typeface="Tahoma"/>
              </a:rPr>
              <a:t>contradiction.</a:t>
            </a:r>
            <a:endParaRPr sz="1000">
              <a:latin typeface="Tahoma"/>
              <a:cs typeface="Tahoma"/>
            </a:endParaRPr>
          </a:p>
          <a:p>
            <a:pPr>
              <a:lnSpc>
                <a:spcPct val="100000"/>
              </a:lnSpc>
            </a:pPr>
            <a:endParaRPr sz="1000">
              <a:latin typeface="Tahoma"/>
              <a:cs typeface="Tahoma"/>
            </a:endParaRPr>
          </a:p>
          <a:p>
            <a:pPr>
              <a:lnSpc>
                <a:spcPct val="100000"/>
              </a:lnSpc>
              <a:spcBef>
                <a:spcPts val="45"/>
              </a:spcBef>
            </a:pPr>
            <a:endParaRPr sz="1300">
              <a:latin typeface="Tahoma"/>
              <a:cs typeface="Tahoma"/>
            </a:endParaRPr>
          </a:p>
          <a:p>
            <a:pPr marL="100965" marR="362585">
              <a:lnSpc>
                <a:spcPct val="100000"/>
              </a:lnSpc>
              <a:spcBef>
                <a:spcPts val="5"/>
              </a:spcBef>
            </a:pPr>
            <a:r>
              <a:rPr sz="1000" spc="-60" dirty="0">
                <a:latin typeface="Tahoma"/>
                <a:cs typeface="Tahoma"/>
              </a:rPr>
              <a:t>If</a:t>
            </a:r>
            <a:r>
              <a:rPr sz="1000" spc="20" dirty="0">
                <a:latin typeface="Tahoma"/>
                <a:cs typeface="Tahoma"/>
              </a:rPr>
              <a:t> </a:t>
            </a:r>
            <a:r>
              <a:rPr sz="1000" spc="-40" dirty="0">
                <a:latin typeface="Tahoma"/>
                <a:cs typeface="Tahoma"/>
              </a:rPr>
              <a:t>for</a:t>
            </a:r>
            <a:r>
              <a:rPr sz="1000" spc="25" dirty="0">
                <a:latin typeface="Tahoma"/>
                <a:cs typeface="Tahoma"/>
              </a:rPr>
              <a:t> </a:t>
            </a:r>
            <a:r>
              <a:rPr sz="1000" spc="-65" dirty="0">
                <a:latin typeface="Tahoma"/>
                <a:cs typeface="Tahoma"/>
              </a:rPr>
              <a:t>some</a:t>
            </a:r>
            <a:r>
              <a:rPr sz="1000" spc="20" dirty="0">
                <a:latin typeface="Tahoma"/>
                <a:cs typeface="Tahoma"/>
              </a:rPr>
              <a:t> </a:t>
            </a:r>
            <a:r>
              <a:rPr sz="1000" i="1" spc="25" dirty="0">
                <a:latin typeface="Arial"/>
                <a:cs typeface="Arial"/>
              </a:rPr>
              <a:t>f</a:t>
            </a:r>
            <a:r>
              <a:rPr sz="1000" i="1" spc="220"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a:t>
            </a:r>
            <a:r>
              <a:rPr sz="1000" i="1" dirty="0">
                <a:latin typeface="Arial"/>
                <a:cs typeface="Arial"/>
              </a:rPr>
              <a:t> </a:t>
            </a:r>
            <a:r>
              <a:rPr sz="1000" spc="55" dirty="0">
                <a:latin typeface="Lucida Sans Unicode"/>
                <a:cs typeface="Lucida Sans Unicode"/>
              </a:rPr>
              <a:t>→</a:t>
            </a:r>
            <a:r>
              <a:rPr sz="1000" spc="-35" dirty="0">
                <a:latin typeface="Lucida Sans Unicode"/>
                <a:cs typeface="Lucida Sans Unicode"/>
              </a:rPr>
              <a:t> </a:t>
            </a:r>
            <a:r>
              <a:rPr sz="1000" i="1" spc="-5" dirty="0">
                <a:latin typeface="Arial"/>
                <a:cs typeface="Arial"/>
              </a:rPr>
              <a:t>B</a:t>
            </a:r>
            <a:r>
              <a:rPr sz="1000" i="1" spc="140" dirty="0">
                <a:latin typeface="Arial"/>
                <a:cs typeface="Arial"/>
              </a:rPr>
              <a:t> </a:t>
            </a:r>
            <a:r>
              <a:rPr sz="1000" spc="-45" dirty="0">
                <a:latin typeface="Tahoma"/>
                <a:cs typeface="Tahoma"/>
              </a:rPr>
              <a:t>there</a:t>
            </a:r>
            <a:r>
              <a:rPr sz="1000" spc="15" dirty="0">
                <a:latin typeface="Tahoma"/>
                <a:cs typeface="Tahoma"/>
              </a:rPr>
              <a:t> </a:t>
            </a:r>
            <a:r>
              <a:rPr sz="1000" spc="-40" dirty="0">
                <a:latin typeface="Tahoma"/>
                <a:cs typeface="Tahoma"/>
              </a:rPr>
              <a:t>exists</a:t>
            </a:r>
            <a:r>
              <a:rPr sz="1000" spc="20" dirty="0">
                <a:latin typeface="Tahoma"/>
                <a:cs typeface="Tahoma"/>
              </a:rPr>
              <a:t> </a:t>
            </a:r>
            <a:r>
              <a:rPr sz="1000" spc="-50" dirty="0">
                <a:latin typeface="Tahoma"/>
                <a:cs typeface="Tahoma"/>
              </a:rPr>
              <a:t>an</a:t>
            </a:r>
            <a:r>
              <a:rPr sz="1000" spc="20" dirty="0">
                <a:latin typeface="Tahoma"/>
                <a:cs typeface="Tahoma"/>
              </a:rPr>
              <a:t> </a:t>
            </a:r>
            <a:r>
              <a:rPr sz="1000" spc="-50" dirty="0">
                <a:latin typeface="Tahoma"/>
                <a:cs typeface="Tahoma"/>
              </a:rPr>
              <a:t>inverse</a:t>
            </a:r>
            <a:r>
              <a:rPr sz="1000" spc="25" dirty="0">
                <a:latin typeface="Tahoma"/>
                <a:cs typeface="Tahoma"/>
              </a:rPr>
              <a:t> </a:t>
            </a:r>
            <a:r>
              <a:rPr sz="1000" spc="-40" dirty="0">
                <a:latin typeface="Tahoma"/>
                <a:cs typeface="Tahoma"/>
              </a:rPr>
              <a:t>mapping,</a:t>
            </a:r>
            <a:r>
              <a:rPr sz="1000" spc="25" dirty="0">
                <a:latin typeface="Tahoma"/>
                <a:cs typeface="Tahoma"/>
              </a:rPr>
              <a:t> </a:t>
            </a:r>
            <a:r>
              <a:rPr sz="1000" spc="-40" dirty="0">
                <a:latin typeface="Tahoma"/>
                <a:cs typeface="Tahoma"/>
              </a:rPr>
              <a:t>then</a:t>
            </a:r>
            <a:r>
              <a:rPr sz="1000" spc="15" dirty="0">
                <a:latin typeface="Tahoma"/>
                <a:cs typeface="Tahoma"/>
              </a:rPr>
              <a:t> </a:t>
            </a:r>
            <a:r>
              <a:rPr sz="1000" i="1" spc="25" dirty="0">
                <a:latin typeface="Arial"/>
                <a:cs typeface="Arial"/>
              </a:rPr>
              <a:t>f</a:t>
            </a:r>
            <a:r>
              <a:rPr sz="1000" i="1" spc="275" dirty="0">
                <a:latin typeface="Arial"/>
                <a:cs typeface="Arial"/>
              </a:rPr>
              <a:t> </a:t>
            </a:r>
            <a:r>
              <a:rPr sz="1000" spc="-30" dirty="0">
                <a:latin typeface="Tahoma"/>
                <a:cs typeface="Tahoma"/>
              </a:rPr>
              <a:t>is </a:t>
            </a:r>
            <a:r>
              <a:rPr sz="1000" spc="-295" dirty="0">
                <a:latin typeface="Tahoma"/>
                <a:cs typeface="Tahoma"/>
              </a:rPr>
              <a:t> </a:t>
            </a:r>
            <a:r>
              <a:rPr sz="1000" spc="-30" dirty="0">
                <a:latin typeface="Tahoma"/>
                <a:cs typeface="Tahoma"/>
              </a:rPr>
              <a:t>bijective.</a:t>
            </a:r>
            <a:endParaRPr sz="1000">
              <a:latin typeface="Tahoma"/>
              <a:cs typeface="Tahoma"/>
            </a:endParaRPr>
          </a:p>
        </p:txBody>
      </p:sp>
    </p:spTree>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142875" cy="101600"/>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p:txBody>
      </p:sp>
      <p:sp>
        <p:nvSpPr>
          <p:cNvPr id="4" name="object 4"/>
          <p:cNvSpPr txBox="1"/>
          <p:nvPr/>
        </p:nvSpPr>
        <p:spPr>
          <a:xfrm>
            <a:off x="25260" y="1136227"/>
            <a:ext cx="489584" cy="177800"/>
          </a:xfrm>
          <a:prstGeom prst="rect">
            <a:avLst/>
          </a:prstGeom>
        </p:spPr>
        <p:txBody>
          <a:bodyPr vert="horz" wrap="square" lIns="0" tIns="12065" rIns="0" bIns="0" rtlCol="0">
            <a:spAutoFit/>
          </a:bodyPr>
          <a:lstStyle/>
          <a:p>
            <a:pPr marL="12700" marR="5080">
              <a:lnSpc>
                <a:spcPct val="100000"/>
              </a:lnSpc>
              <a:spcBef>
                <a:spcPts val="95"/>
              </a:spcBef>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p:txBody>
      </p:sp>
      <p:sp>
        <p:nvSpPr>
          <p:cNvPr id="5" name="object 5"/>
          <p:cNvSpPr txBox="1"/>
          <p:nvPr/>
        </p:nvSpPr>
        <p:spPr>
          <a:xfrm>
            <a:off x="25260" y="1349917"/>
            <a:ext cx="285115" cy="177800"/>
          </a:xfrm>
          <a:prstGeom prst="rect">
            <a:avLst/>
          </a:prstGeom>
        </p:spPr>
        <p:txBody>
          <a:bodyPr vert="horz" wrap="square" lIns="0" tIns="12065" rIns="0" bIns="0" rtlCol="0">
            <a:spAutoFit/>
          </a:bodyPr>
          <a:lstStyle/>
          <a:p>
            <a:pPr marL="12700" marR="5080">
              <a:lnSpc>
                <a:spcPct val="100000"/>
              </a:lnSpc>
              <a:spcBef>
                <a:spcPts val="95"/>
              </a:spcBef>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6" name="object 6"/>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7" name="object 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9" name="object 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10" name="object 10"/>
          <p:cNvGrpSpPr/>
          <p:nvPr/>
        </p:nvGrpSpPr>
        <p:grpSpPr>
          <a:xfrm>
            <a:off x="3260445" y="3358384"/>
            <a:ext cx="203200" cy="55880"/>
            <a:chOff x="3260445" y="3358384"/>
            <a:chExt cx="203200" cy="55880"/>
          </a:xfrm>
        </p:grpSpPr>
        <p:sp>
          <p:nvSpPr>
            <p:cNvPr id="11" name="object 11"/>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2" name="object 12"/>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3" name="object 13"/>
          <p:cNvGrpSpPr/>
          <p:nvPr/>
        </p:nvGrpSpPr>
        <p:grpSpPr>
          <a:xfrm>
            <a:off x="3531425" y="3357119"/>
            <a:ext cx="203200" cy="58419"/>
            <a:chOff x="3531425" y="3357119"/>
            <a:chExt cx="203200" cy="58419"/>
          </a:xfrm>
        </p:grpSpPr>
        <p:sp>
          <p:nvSpPr>
            <p:cNvPr id="14" name="object 14"/>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7" name="object 17"/>
          <p:cNvGrpSpPr/>
          <p:nvPr/>
        </p:nvGrpSpPr>
        <p:grpSpPr>
          <a:xfrm>
            <a:off x="3802393" y="3357119"/>
            <a:ext cx="203200" cy="58419"/>
            <a:chOff x="3802393" y="3357119"/>
            <a:chExt cx="203200" cy="58419"/>
          </a:xfrm>
        </p:grpSpPr>
        <p:sp>
          <p:nvSpPr>
            <p:cNvPr id="18" name="object 18"/>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9" name="object 19"/>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0" name="object 20"/>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21" name="object 21"/>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2" name="object 22"/>
          <p:cNvGrpSpPr/>
          <p:nvPr/>
        </p:nvGrpSpPr>
        <p:grpSpPr>
          <a:xfrm>
            <a:off x="4326582" y="3358384"/>
            <a:ext cx="238760" cy="57150"/>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6" name="object 26"/>
          <p:cNvGrpSpPr/>
          <p:nvPr/>
        </p:nvGrpSpPr>
        <p:grpSpPr>
          <a:xfrm>
            <a:off x="0" y="0"/>
            <a:ext cx="4608195" cy="569595"/>
            <a:chOff x="0" y="0"/>
            <a:chExt cx="4608195" cy="569595"/>
          </a:xfrm>
        </p:grpSpPr>
        <p:sp>
          <p:nvSpPr>
            <p:cNvPr id="27" name="object 27"/>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8" name="object 28"/>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9" name="object 29"/>
          <p:cNvSpPr txBox="1">
            <a:spLocks noGrp="1"/>
          </p:cNvSpPr>
          <p:nvPr>
            <p:ph type="title"/>
          </p:nvPr>
        </p:nvSpPr>
        <p:spPr>
          <a:xfrm>
            <a:off x="664667" y="144815"/>
            <a:ext cx="2602230" cy="244475"/>
          </a:xfrm>
          <a:prstGeom prst="rect">
            <a:avLst/>
          </a:prstGeom>
        </p:spPr>
        <p:txBody>
          <a:bodyPr vert="horz" wrap="square" lIns="0" tIns="17145" rIns="0" bIns="0" rtlCol="0">
            <a:spAutoFit/>
          </a:bodyPr>
          <a:lstStyle/>
          <a:p>
            <a:pPr marL="12700">
              <a:lnSpc>
                <a:spcPct val="100000"/>
              </a:lnSpc>
              <a:spcBef>
                <a:spcPts val="135"/>
              </a:spcBef>
            </a:pPr>
            <a:r>
              <a:rPr spc="-60" dirty="0"/>
              <a:t>Uniqueness</a:t>
            </a:r>
            <a:r>
              <a:rPr spc="114" dirty="0"/>
              <a:t> </a:t>
            </a:r>
            <a:r>
              <a:rPr spc="-30" dirty="0"/>
              <a:t>of</a:t>
            </a:r>
            <a:r>
              <a:rPr spc="120" dirty="0"/>
              <a:t> </a:t>
            </a:r>
            <a:r>
              <a:rPr spc="-60" dirty="0"/>
              <a:t>inverse</a:t>
            </a:r>
            <a:r>
              <a:rPr spc="114" dirty="0"/>
              <a:t> </a:t>
            </a:r>
            <a:r>
              <a:rPr spc="-40" dirty="0"/>
              <a:t>mapping</a:t>
            </a:r>
          </a:p>
        </p:txBody>
      </p:sp>
      <p:sp>
        <p:nvSpPr>
          <p:cNvPr id="30" name="object 30"/>
          <p:cNvSpPr/>
          <p:nvPr/>
        </p:nvSpPr>
        <p:spPr>
          <a:xfrm>
            <a:off x="698562" y="828382"/>
            <a:ext cx="3780790" cy="175895"/>
          </a:xfrm>
          <a:custGeom>
            <a:avLst/>
            <a:gdLst/>
            <a:ahLst/>
            <a:cxnLst/>
            <a:rect l="l" t="t" r="r" b="b"/>
            <a:pathLst>
              <a:path w="3780790" h="175894">
                <a:moveTo>
                  <a:pt x="3729484" y="0"/>
                </a:moveTo>
                <a:lnTo>
                  <a:pt x="50800" y="0"/>
                </a:lnTo>
                <a:lnTo>
                  <a:pt x="31075" y="4008"/>
                </a:lnTo>
                <a:lnTo>
                  <a:pt x="14922" y="14922"/>
                </a:lnTo>
                <a:lnTo>
                  <a:pt x="4008" y="31075"/>
                </a:lnTo>
                <a:lnTo>
                  <a:pt x="0" y="50800"/>
                </a:lnTo>
                <a:lnTo>
                  <a:pt x="0" y="175874"/>
                </a:lnTo>
                <a:lnTo>
                  <a:pt x="3780285" y="175874"/>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1" name="object 31"/>
          <p:cNvSpPr txBox="1"/>
          <p:nvPr/>
        </p:nvSpPr>
        <p:spPr>
          <a:xfrm>
            <a:off x="749363" y="858309"/>
            <a:ext cx="60261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Pro</a:t>
            </a:r>
            <a:r>
              <a:rPr sz="1000" spc="15" dirty="0">
                <a:solidFill>
                  <a:srgbClr val="FFFFFF"/>
                </a:solidFill>
                <a:latin typeface="Tahoma"/>
                <a:cs typeface="Tahoma"/>
              </a:rPr>
              <a:t>p</a:t>
            </a:r>
            <a:r>
              <a:rPr sz="1000" spc="-25" dirty="0">
                <a:solidFill>
                  <a:srgbClr val="FFFFFF"/>
                </a:solidFill>
                <a:latin typeface="Tahoma"/>
                <a:cs typeface="Tahoma"/>
              </a:rPr>
              <a:t>osition</a:t>
            </a:r>
            <a:endParaRPr sz="1000">
              <a:latin typeface="Tahoma"/>
              <a:cs typeface="Tahoma"/>
            </a:endParaRPr>
          </a:p>
        </p:txBody>
      </p:sp>
      <p:grpSp>
        <p:nvGrpSpPr>
          <p:cNvPr id="32" name="object 32"/>
          <p:cNvGrpSpPr/>
          <p:nvPr/>
        </p:nvGrpSpPr>
        <p:grpSpPr>
          <a:xfrm>
            <a:off x="698562" y="885313"/>
            <a:ext cx="3831590" cy="384175"/>
            <a:chOff x="698562" y="885313"/>
            <a:chExt cx="3831590" cy="384175"/>
          </a:xfrm>
        </p:grpSpPr>
        <p:pic>
          <p:nvPicPr>
            <p:cNvPr id="33" name="object 33"/>
            <p:cNvPicPr/>
            <p:nvPr/>
          </p:nvPicPr>
          <p:blipFill>
            <a:blip r:embed="rId7" cstate="print"/>
            <a:stretch>
              <a:fillRect/>
            </a:stretch>
          </p:blipFill>
          <p:spPr>
            <a:xfrm>
              <a:off x="698563" y="991603"/>
              <a:ext cx="3780284" cy="50609"/>
            </a:xfrm>
            <a:prstGeom prst="rect">
              <a:avLst/>
            </a:prstGeom>
          </p:spPr>
        </p:pic>
        <p:sp>
          <p:nvSpPr>
            <p:cNvPr id="34" name="object 34"/>
            <p:cNvSpPr/>
            <p:nvPr/>
          </p:nvSpPr>
          <p:spPr>
            <a:xfrm>
              <a:off x="749363" y="885313"/>
              <a:ext cx="3780790" cy="384175"/>
            </a:xfrm>
            <a:custGeom>
              <a:avLst/>
              <a:gdLst/>
              <a:ahLst/>
              <a:cxnLst/>
              <a:rect l="l" t="t" r="r" b="b"/>
              <a:pathLst>
                <a:path w="3780790" h="384175">
                  <a:moveTo>
                    <a:pt x="3780285" y="0"/>
                  </a:moveTo>
                  <a:lnTo>
                    <a:pt x="0" y="0"/>
                  </a:lnTo>
                  <a:lnTo>
                    <a:pt x="0" y="383570"/>
                  </a:lnTo>
                  <a:lnTo>
                    <a:pt x="3780285" y="383570"/>
                  </a:lnTo>
                  <a:lnTo>
                    <a:pt x="3780285" y="0"/>
                  </a:lnTo>
                  <a:close/>
                </a:path>
              </a:pathLst>
            </a:custGeom>
            <a:solidFill>
              <a:srgbClr val="000000"/>
            </a:solidFill>
          </p:spPr>
          <p:txBody>
            <a:bodyPr wrap="square" lIns="0" tIns="0" rIns="0" bIns="0" rtlCol="0"/>
            <a:lstStyle/>
            <a:p>
              <a:endParaRPr/>
            </a:p>
          </p:txBody>
        </p:sp>
        <p:sp>
          <p:nvSpPr>
            <p:cNvPr id="35" name="object 35"/>
            <p:cNvSpPr/>
            <p:nvPr/>
          </p:nvSpPr>
          <p:spPr>
            <a:xfrm>
              <a:off x="698562" y="1035882"/>
              <a:ext cx="3780790" cy="182245"/>
            </a:xfrm>
            <a:custGeom>
              <a:avLst/>
              <a:gdLst/>
              <a:ahLst/>
              <a:cxnLst/>
              <a:rect l="l" t="t" r="r" b="b"/>
              <a:pathLst>
                <a:path w="3780790" h="182244">
                  <a:moveTo>
                    <a:pt x="3780285" y="0"/>
                  </a:moveTo>
                  <a:lnTo>
                    <a:pt x="0" y="0"/>
                  </a:lnTo>
                  <a:lnTo>
                    <a:pt x="0" y="131400"/>
                  </a:lnTo>
                  <a:lnTo>
                    <a:pt x="4008" y="151125"/>
                  </a:lnTo>
                  <a:lnTo>
                    <a:pt x="14922" y="167277"/>
                  </a:lnTo>
                  <a:lnTo>
                    <a:pt x="31075" y="178192"/>
                  </a:lnTo>
                  <a:lnTo>
                    <a:pt x="50800" y="182200"/>
                  </a:lnTo>
                  <a:lnTo>
                    <a:pt x="3729484" y="182200"/>
                  </a:lnTo>
                  <a:lnTo>
                    <a:pt x="3749209" y="178192"/>
                  </a:lnTo>
                  <a:lnTo>
                    <a:pt x="3765362" y="167277"/>
                  </a:lnTo>
                  <a:lnTo>
                    <a:pt x="3776276" y="151125"/>
                  </a:lnTo>
                  <a:lnTo>
                    <a:pt x="3780285" y="131400"/>
                  </a:lnTo>
                  <a:lnTo>
                    <a:pt x="3780285" y="0"/>
                  </a:lnTo>
                  <a:close/>
                </a:path>
              </a:pathLst>
            </a:custGeom>
            <a:solidFill>
              <a:srgbClr val="E9E9F2"/>
            </a:solidFill>
          </p:spPr>
          <p:txBody>
            <a:bodyPr wrap="square" lIns="0" tIns="0" rIns="0" bIns="0" rtlCol="0"/>
            <a:lstStyle/>
            <a:p>
              <a:endParaRPr/>
            </a:p>
          </p:txBody>
        </p:sp>
      </p:grpSp>
      <p:sp>
        <p:nvSpPr>
          <p:cNvPr id="36" name="object 36"/>
          <p:cNvSpPr txBox="1"/>
          <p:nvPr/>
        </p:nvSpPr>
        <p:spPr>
          <a:xfrm>
            <a:off x="698563" y="885313"/>
            <a:ext cx="3831590" cy="384175"/>
          </a:xfrm>
          <a:prstGeom prst="rect">
            <a:avLst/>
          </a:prstGeom>
        </p:spPr>
        <p:txBody>
          <a:bodyPr vert="horz" wrap="square" lIns="0" tIns="136525" rIns="0" bIns="0" rtlCol="0">
            <a:spAutoFit/>
          </a:bodyPr>
          <a:lstStyle/>
          <a:p>
            <a:pPr marL="50800">
              <a:lnSpc>
                <a:spcPct val="100000"/>
              </a:lnSpc>
              <a:spcBef>
                <a:spcPts val="1075"/>
              </a:spcBef>
            </a:pPr>
            <a:r>
              <a:rPr sz="1000" spc="-60" dirty="0">
                <a:latin typeface="Tahoma"/>
                <a:cs typeface="Tahoma"/>
              </a:rPr>
              <a:t>If</a:t>
            </a:r>
            <a:r>
              <a:rPr sz="1000" spc="20" dirty="0">
                <a:latin typeface="Tahoma"/>
                <a:cs typeface="Tahoma"/>
              </a:rPr>
              <a:t> </a:t>
            </a:r>
            <a:r>
              <a:rPr sz="1000" spc="-45" dirty="0">
                <a:latin typeface="Tahoma"/>
                <a:cs typeface="Tahoma"/>
              </a:rPr>
              <a:t>there</a:t>
            </a:r>
            <a:r>
              <a:rPr sz="1000" spc="20" dirty="0">
                <a:latin typeface="Tahoma"/>
                <a:cs typeface="Tahoma"/>
              </a:rPr>
              <a:t> </a:t>
            </a:r>
            <a:r>
              <a:rPr sz="1000" spc="-30" dirty="0">
                <a:latin typeface="Tahoma"/>
                <a:cs typeface="Tahoma"/>
              </a:rPr>
              <a:t>is</a:t>
            </a:r>
            <a:r>
              <a:rPr sz="1000" spc="25" dirty="0">
                <a:latin typeface="Tahoma"/>
                <a:cs typeface="Tahoma"/>
              </a:rPr>
              <a:t> </a:t>
            </a:r>
            <a:r>
              <a:rPr sz="1000" spc="-50" dirty="0">
                <a:latin typeface="Tahoma"/>
                <a:cs typeface="Tahoma"/>
              </a:rPr>
              <a:t>an</a:t>
            </a:r>
            <a:r>
              <a:rPr sz="1000" spc="15" dirty="0">
                <a:latin typeface="Tahoma"/>
                <a:cs typeface="Tahoma"/>
              </a:rPr>
              <a:t> </a:t>
            </a:r>
            <a:r>
              <a:rPr sz="1000" spc="-50" dirty="0">
                <a:latin typeface="Tahoma"/>
                <a:cs typeface="Tahoma"/>
              </a:rPr>
              <a:t>inverse</a:t>
            </a:r>
            <a:r>
              <a:rPr sz="1000" spc="25" dirty="0">
                <a:latin typeface="Tahoma"/>
                <a:cs typeface="Tahoma"/>
              </a:rPr>
              <a:t> </a:t>
            </a:r>
            <a:r>
              <a:rPr sz="1000" spc="-40" dirty="0">
                <a:latin typeface="Tahoma"/>
                <a:cs typeface="Tahoma"/>
              </a:rPr>
              <a:t>mapping</a:t>
            </a:r>
            <a:r>
              <a:rPr sz="1000" spc="15" dirty="0">
                <a:latin typeface="Tahoma"/>
                <a:cs typeface="Tahoma"/>
              </a:rPr>
              <a:t> </a:t>
            </a:r>
            <a:r>
              <a:rPr sz="1000" spc="-40" dirty="0">
                <a:latin typeface="Tahoma"/>
                <a:cs typeface="Tahoma"/>
              </a:rPr>
              <a:t>for</a:t>
            </a:r>
            <a:r>
              <a:rPr sz="1000" spc="20" dirty="0">
                <a:latin typeface="Tahoma"/>
                <a:cs typeface="Tahoma"/>
              </a:rPr>
              <a:t> </a:t>
            </a:r>
            <a:r>
              <a:rPr sz="1000" i="1" spc="25" dirty="0">
                <a:latin typeface="Arial"/>
                <a:cs typeface="Arial"/>
              </a:rPr>
              <a:t>f</a:t>
            </a:r>
            <a:r>
              <a:rPr sz="1000" i="1" spc="215" dirty="0">
                <a:latin typeface="Arial"/>
                <a:cs typeface="Arial"/>
              </a:rPr>
              <a:t> </a:t>
            </a:r>
            <a:r>
              <a:rPr sz="1000" spc="-80" dirty="0">
                <a:latin typeface="Tahoma"/>
                <a:cs typeface="Tahoma"/>
              </a:rPr>
              <a:t>:</a:t>
            </a:r>
            <a:r>
              <a:rPr sz="1000" spc="-40" dirty="0">
                <a:latin typeface="Tahoma"/>
                <a:cs typeface="Tahoma"/>
              </a:rPr>
              <a:t> </a:t>
            </a:r>
            <a:r>
              <a:rPr sz="1000" i="1" spc="-5" dirty="0">
                <a:latin typeface="Arial"/>
                <a:cs typeface="Arial"/>
              </a:rPr>
              <a:t>A</a:t>
            </a:r>
            <a:r>
              <a:rPr sz="1000" i="1"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20" dirty="0">
                <a:latin typeface="Arial"/>
                <a:cs typeface="Arial"/>
              </a:rPr>
              <a:t>B</a:t>
            </a:r>
            <a:r>
              <a:rPr sz="1000" spc="20" dirty="0">
                <a:latin typeface="Tahoma"/>
                <a:cs typeface="Tahoma"/>
              </a:rPr>
              <a:t>,</a:t>
            </a:r>
            <a:r>
              <a:rPr sz="1000" spc="25" dirty="0">
                <a:latin typeface="Tahoma"/>
                <a:cs typeface="Tahoma"/>
              </a:rPr>
              <a:t> </a:t>
            </a:r>
            <a:r>
              <a:rPr sz="1000" spc="-40" dirty="0">
                <a:latin typeface="Tahoma"/>
                <a:cs typeface="Tahoma"/>
              </a:rPr>
              <a:t>then</a:t>
            </a:r>
            <a:r>
              <a:rPr sz="1000" spc="20" dirty="0">
                <a:latin typeface="Tahoma"/>
                <a:cs typeface="Tahoma"/>
              </a:rPr>
              <a:t> </a:t>
            </a:r>
            <a:r>
              <a:rPr sz="1000" spc="15" dirty="0">
                <a:latin typeface="Tahoma"/>
                <a:cs typeface="Tahoma"/>
              </a:rPr>
              <a:t>it</a:t>
            </a:r>
            <a:r>
              <a:rPr sz="1000" spc="25" dirty="0">
                <a:latin typeface="Tahoma"/>
                <a:cs typeface="Tahoma"/>
              </a:rPr>
              <a:t> </a:t>
            </a:r>
            <a:r>
              <a:rPr sz="1000" spc="-30" dirty="0">
                <a:latin typeface="Tahoma"/>
                <a:cs typeface="Tahoma"/>
              </a:rPr>
              <a:t>is</a:t>
            </a:r>
            <a:r>
              <a:rPr sz="1000" spc="20" dirty="0">
                <a:latin typeface="Tahoma"/>
                <a:cs typeface="Tahoma"/>
              </a:rPr>
              <a:t> </a:t>
            </a:r>
            <a:r>
              <a:rPr sz="1000" spc="-40" dirty="0">
                <a:latin typeface="Tahoma"/>
                <a:cs typeface="Tahoma"/>
              </a:rPr>
              <a:t>unique.</a:t>
            </a:r>
            <a:endParaRPr sz="1000">
              <a:latin typeface="Tahoma"/>
              <a:cs typeface="Tahoma"/>
            </a:endParaRPr>
          </a:p>
        </p:txBody>
      </p:sp>
      <p:sp>
        <p:nvSpPr>
          <p:cNvPr id="37" name="object 37"/>
          <p:cNvSpPr/>
          <p:nvPr/>
        </p:nvSpPr>
        <p:spPr>
          <a:xfrm>
            <a:off x="698562" y="1370012"/>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38" name="object 38"/>
          <p:cNvSpPr txBox="1"/>
          <p:nvPr/>
        </p:nvSpPr>
        <p:spPr>
          <a:xfrm>
            <a:off x="749363" y="1399938"/>
            <a:ext cx="328295" cy="128270"/>
          </a:xfrm>
          <a:prstGeom prst="rect">
            <a:avLst/>
          </a:prstGeom>
        </p:spPr>
        <p:txBody>
          <a:bodyPr vert="horz" wrap="square" lIns="0" tIns="0" rIns="0" bIns="0" rtlCol="0">
            <a:spAutoFit/>
          </a:bodyPr>
          <a:lstStyle/>
          <a:p>
            <a:pPr>
              <a:lnSpc>
                <a:spcPts val="955"/>
              </a:lnSpc>
            </a:pPr>
            <a:r>
              <a:rPr sz="1000" spc="5" dirty="0">
                <a:solidFill>
                  <a:srgbClr val="FFFFFF"/>
                </a:solidFill>
                <a:latin typeface="Tahoma"/>
                <a:cs typeface="Tahoma"/>
              </a:rPr>
              <a:t>Pr</a:t>
            </a:r>
            <a:r>
              <a:rPr sz="1000" spc="30" dirty="0">
                <a:solidFill>
                  <a:srgbClr val="FFFFFF"/>
                </a:solidFill>
                <a:latin typeface="Tahoma"/>
                <a:cs typeface="Tahoma"/>
              </a:rPr>
              <a:t>o</a:t>
            </a:r>
            <a:r>
              <a:rPr sz="1000" spc="-30" dirty="0">
                <a:solidFill>
                  <a:srgbClr val="FFFFFF"/>
                </a:solidFill>
                <a:latin typeface="Tahoma"/>
                <a:cs typeface="Tahoma"/>
              </a:rPr>
              <a:t>of.</a:t>
            </a:r>
            <a:endParaRPr sz="1000">
              <a:latin typeface="Tahoma"/>
              <a:cs typeface="Tahoma"/>
            </a:endParaRPr>
          </a:p>
        </p:txBody>
      </p:sp>
      <p:grpSp>
        <p:nvGrpSpPr>
          <p:cNvPr id="39" name="object 39"/>
          <p:cNvGrpSpPr/>
          <p:nvPr/>
        </p:nvGrpSpPr>
        <p:grpSpPr>
          <a:xfrm>
            <a:off x="698562" y="1426924"/>
            <a:ext cx="3831590" cy="1789430"/>
            <a:chOff x="698562" y="1426924"/>
            <a:chExt cx="3831590" cy="1789430"/>
          </a:xfrm>
        </p:grpSpPr>
        <p:pic>
          <p:nvPicPr>
            <p:cNvPr id="40" name="object 40"/>
            <p:cNvPicPr/>
            <p:nvPr/>
          </p:nvPicPr>
          <p:blipFill>
            <a:blip r:embed="rId8" cstate="print"/>
            <a:stretch>
              <a:fillRect/>
            </a:stretch>
          </p:blipFill>
          <p:spPr>
            <a:xfrm>
              <a:off x="698563" y="1527606"/>
              <a:ext cx="3780284" cy="50609"/>
            </a:xfrm>
            <a:prstGeom prst="rect">
              <a:avLst/>
            </a:prstGeom>
          </p:spPr>
        </p:pic>
        <p:sp>
          <p:nvSpPr>
            <p:cNvPr id="41" name="object 41"/>
            <p:cNvSpPr/>
            <p:nvPr/>
          </p:nvSpPr>
          <p:spPr>
            <a:xfrm>
              <a:off x="749363" y="1426924"/>
              <a:ext cx="3780790" cy="1789430"/>
            </a:xfrm>
            <a:custGeom>
              <a:avLst/>
              <a:gdLst/>
              <a:ahLst/>
              <a:cxnLst/>
              <a:rect l="l" t="t" r="r" b="b"/>
              <a:pathLst>
                <a:path w="3780790" h="1789430">
                  <a:moveTo>
                    <a:pt x="3780285" y="0"/>
                  </a:moveTo>
                  <a:lnTo>
                    <a:pt x="0" y="0"/>
                  </a:lnTo>
                  <a:lnTo>
                    <a:pt x="0" y="1789427"/>
                  </a:lnTo>
                  <a:lnTo>
                    <a:pt x="3780285" y="1789427"/>
                  </a:lnTo>
                  <a:lnTo>
                    <a:pt x="3780285" y="0"/>
                  </a:lnTo>
                  <a:close/>
                </a:path>
              </a:pathLst>
            </a:custGeom>
            <a:solidFill>
              <a:srgbClr val="000000"/>
            </a:solidFill>
          </p:spPr>
          <p:txBody>
            <a:bodyPr wrap="square" lIns="0" tIns="0" rIns="0" bIns="0" rtlCol="0"/>
            <a:lstStyle/>
            <a:p>
              <a:endParaRPr/>
            </a:p>
          </p:txBody>
        </p:sp>
        <p:sp>
          <p:nvSpPr>
            <p:cNvPr id="42" name="object 42"/>
            <p:cNvSpPr/>
            <p:nvPr/>
          </p:nvSpPr>
          <p:spPr>
            <a:xfrm>
              <a:off x="698562" y="1571870"/>
              <a:ext cx="3780790" cy="1593850"/>
            </a:xfrm>
            <a:custGeom>
              <a:avLst/>
              <a:gdLst/>
              <a:ahLst/>
              <a:cxnLst/>
              <a:rect l="l" t="t" r="r" b="b"/>
              <a:pathLst>
                <a:path w="3780790" h="1593850">
                  <a:moveTo>
                    <a:pt x="3780285" y="0"/>
                  </a:moveTo>
                  <a:lnTo>
                    <a:pt x="0" y="0"/>
                  </a:lnTo>
                  <a:lnTo>
                    <a:pt x="0" y="1542880"/>
                  </a:lnTo>
                  <a:lnTo>
                    <a:pt x="4008" y="1562605"/>
                  </a:lnTo>
                  <a:lnTo>
                    <a:pt x="14922" y="1578758"/>
                  </a:lnTo>
                  <a:lnTo>
                    <a:pt x="31075" y="1589672"/>
                  </a:lnTo>
                  <a:lnTo>
                    <a:pt x="50800" y="1593681"/>
                  </a:lnTo>
                  <a:lnTo>
                    <a:pt x="3729484" y="1593681"/>
                  </a:lnTo>
                  <a:lnTo>
                    <a:pt x="3749209" y="1589672"/>
                  </a:lnTo>
                  <a:lnTo>
                    <a:pt x="3765362" y="1578758"/>
                  </a:lnTo>
                  <a:lnTo>
                    <a:pt x="3776276" y="1562605"/>
                  </a:lnTo>
                  <a:lnTo>
                    <a:pt x="3780285" y="1542880"/>
                  </a:lnTo>
                  <a:lnTo>
                    <a:pt x="3780285" y="0"/>
                  </a:lnTo>
                  <a:close/>
                </a:path>
              </a:pathLst>
            </a:custGeom>
            <a:solidFill>
              <a:srgbClr val="E9E9F2"/>
            </a:solidFill>
          </p:spPr>
          <p:txBody>
            <a:bodyPr wrap="square" lIns="0" tIns="0" rIns="0" bIns="0" rtlCol="0"/>
            <a:lstStyle/>
            <a:p>
              <a:endParaRPr/>
            </a:p>
          </p:txBody>
        </p:sp>
      </p:grpSp>
      <p:sp>
        <p:nvSpPr>
          <p:cNvPr id="43" name="object 43"/>
          <p:cNvSpPr txBox="1"/>
          <p:nvPr/>
        </p:nvSpPr>
        <p:spPr>
          <a:xfrm>
            <a:off x="723963" y="1545836"/>
            <a:ext cx="3672840" cy="177800"/>
          </a:xfrm>
          <a:prstGeom prst="rect">
            <a:avLst/>
          </a:prstGeom>
        </p:spPr>
        <p:txBody>
          <a:bodyPr vert="horz" wrap="square" lIns="0" tIns="12065" rIns="0" bIns="0" rtlCol="0">
            <a:spAutoFit/>
          </a:bodyPr>
          <a:lstStyle/>
          <a:p>
            <a:pPr marL="25400">
              <a:lnSpc>
                <a:spcPct val="100000"/>
              </a:lnSpc>
              <a:spcBef>
                <a:spcPts val="95"/>
              </a:spcBef>
            </a:pPr>
            <a:r>
              <a:rPr sz="1000" spc="-45" dirty="0">
                <a:latin typeface="Tahoma"/>
                <a:cs typeface="Tahoma"/>
              </a:rPr>
              <a:t>Suppose,</a:t>
            </a:r>
            <a:r>
              <a:rPr sz="1000" spc="15" dirty="0">
                <a:latin typeface="Tahoma"/>
                <a:cs typeface="Tahoma"/>
              </a:rPr>
              <a:t> </a:t>
            </a:r>
            <a:r>
              <a:rPr sz="1000" spc="-10" dirty="0">
                <a:latin typeface="Tahoma"/>
                <a:cs typeface="Tahoma"/>
              </a:rPr>
              <a:t>that</a:t>
            </a:r>
            <a:r>
              <a:rPr sz="1000" spc="25" dirty="0">
                <a:latin typeface="Tahoma"/>
                <a:cs typeface="Tahoma"/>
              </a:rPr>
              <a:t> </a:t>
            </a:r>
            <a:r>
              <a:rPr sz="1000" i="1" spc="-40" dirty="0">
                <a:latin typeface="Arial"/>
                <a:cs typeface="Arial"/>
              </a:rPr>
              <a:t>g</a:t>
            </a:r>
            <a:r>
              <a:rPr sz="1050" spc="-60" baseline="-11904" dirty="0">
                <a:latin typeface="Microsoft Sans Serif"/>
                <a:cs typeface="Microsoft Sans Serif"/>
              </a:rPr>
              <a:t>1</a:t>
            </a:r>
            <a:r>
              <a:rPr sz="1000" i="1" spc="-40" dirty="0">
                <a:latin typeface="Verdana"/>
                <a:cs typeface="Verdana"/>
              </a:rPr>
              <a:t>,</a:t>
            </a:r>
            <a:r>
              <a:rPr sz="1000" i="1" spc="-180" dirty="0">
                <a:latin typeface="Verdana"/>
                <a:cs typeface="Verdana"/>
              </a:rPr>
              <a:t> </a:t>
            </a:r>
            <a:r>
              <a:rPr sz="1000" i="1" spc="-40" dirty="0">
                <a:latin typeface="Arial"/>
                <a:cs typeface="Arial"/>
              </a:rPr>
              <a:t>g</a:t>
            </a:r>
            <a:r>
              <a:rPr sz="1050" spc="-60" baseline="-11904" dirty="0">
                <a:latin typeface="Microsoft Sans Serif"/>
                <a:cs typeface="Microsoft Sans Serif"/>
              </a:rPr>
              <a:t>2</a:t>
            </a:r>
            <a:r>
              <a:rPr sz="1050" baseline="-11904" dirty="0">
                <a:latin typeface="Microsoft Sans Serif"/>
                <a:cs typeface="Microsoft Sans Serif"/>
              </a:rPr>
              <a:t> </a:t>
            </a:r>
            <a:r>
              <a:rPr sz="1000" spc="-80" dirty="0">
                <a:latin typeface="Tahoma"/>
                <a:cs typeface="Tahoma"/>
              </a:rPr>
              <a:t>:</a:t>
            </a:r>
            <a:r>
              <a:rPr sz="1000" spc="-35" dirty="0">
                <a:latin typeface="Tahoma"/>
                <a:cs typeface="Tahoma"/>
              </a:rPr>
              <a:t> </a:t>
            </a:r>
            <a:r>
              <a:rPr sz="1000" i="1" spc="-5" dirty="0">
                <a:latin typeface="Arial"/>
                <a:cs typeface="Arial"/>
              </a:rPr>
              <a:t>B</a:t>
            </a:r>
            <a:r>
              <a:rPr sz="1000" i="1" spc="85" dirty="0">
                <a:latin typeface="Arial"/>
                <a:cs typeface="Arial"/>
              </a:rPr>
              <a:t> </a:t>
            </a:r>
            <a:r>
              <a:rPr sz="1000" spc="55" dirty="0">
                <a:latin typeface="Lucida Sans Unicode"/>
                <a:cs typeface="Lucida Sans Unicode"/>
              </a:rPr>
              <a:t>→</a:t>
            </a:r>
            <a:r>
              <a:rPr sz="1000" spc="-35" dirty="0">
                <a:latin typeface="Lucida Sans Unicode"/>
                <a:cs typeface="Lucida Sans Unicode"/>
              </a:rPr>
              <a:t> </a:t>
            </a:r>
            <a:r>
              <a:rPr sz="1000" i="1" spc="-5" dirty="0">
                <a:latin typeface="Arial"/>
                <a:cs typeface="Arial"/>
              </a:rPr>
              <a:t>A</a:t>
            </a:r>
            <a:r>
              <a:rPr sz="1000" i="1" spc="60" dirty="0">
                <a:latin typeface="Arial"/>
                <a:cs typeface="Arial"/>
              </a:rPr>
              <a:t> </a:t>
            </a:r>
            <a:r>
              <a:rPr sz="1000" spc="-65" dirty="0">
                <a:latin typeface="Tahoma"/>
                <a:cs typeface="Tahoma"/>
              </a:rPr>
              <a:t>are</a:t>
            </a:r>
            <a:r>
              <a:rPr sz="1000" spc="25" dirty="0">
                <a:latin typeface="Tahoma"/>
                <a:cs typeface="Tahoma"/>
              </a:rPr>
              <a:t> </a:t>
            </a:r>
            <a:r>
              <a:rPr sz="1000" spc="-50" dirty="0">
                <a:latin typeface="Tahoma"/>
                <a:cs typeface="Tahoma"/>
              </a:rPr>
              <a:t>two</a:t>
            </a:r>
            <a:r>
              <a:rPr sz="1000" spc="20" dirty="0">
                <a:latin typeface="Tahoma"/>
                <a:cs typeface="Tahoma"/>
              </a:rPr>
              <a:t> </a:t>
            </a:r>
            <a:r>
              <a:rPr sz="1000" spc="-50" dirty="0">
                <a:latin typeface="Tahoma"/>
                <a:cs typeface="Tahoma"/>
              </a:rPr>
              <a:t>inverse</a:t>
            </a:r>
            <a:r>
              <a:rPr sz="1000" spc="25" dirty="0">
                <a:latin typeface="Tahoma"/>
                <a:cs typeface="Tahoma"/>
              </a:rPr>
              <a:t> </a:t>
            </a:r>
            <a:r>
              <a:rPr sz="1000" spc="-45" dirty="0">
                <a:latin typeface="Tahoma"/>
                <a:cs typeface="Tahoma"/>
              </a:rPr>
              <a:t>mappings</a:t>
            </a:r>
            <a:r>
              <a:rPr sz="1000" spc="20" dirty="0">
                <a:latin typeface="Tahoma"/>
                <a:cs typeface="Tahoma"/>
              </a:rPr>
              <a:t> </a:t>
            </a:r>
            <a:r>
              <a:rPr sz="1000" spc="-40" dirty="0">
                <a:latin typeface="Tahoma"/>
                <a:cs typeface="Tahoma"/>
              </a:rPr>
              <a:t>for</a:t>
            </a:r>
            <a:r>
              <a:rPr sz="1000" spc="20" dirty="0">
                <a:latin typeface="Tahoma"/>
                <a:cs typeface="Tahoma"/>
              </a:rPr>
              <a:t> </a:t>
            </a:r>
            <a:r>
              <a:rPr sz="1000" i="1" spc="25" dirty="0">
                <a:latin typeface="Arial"/>
                <a:cs typeface="Arial"/>
              </a:rPr>
              <a:t>f</a:t>
            </a:r>
            <a:r>
              <a:rPr sz="1000" i="1" spc="-65" dirty="0">
                <a:latin typeface="Arial"/>
                <a:cs typeface="Arial"/>
              </a:rPr>
              <a:t> </a:t>
            </a:r>
            <a:r>
              <a:rPr sz="1000" spc="-30" dirty="0">
                <a:latin typeface="Tahoma"/>
                <a:cs typeface="Tahoma"/>
              </a:rPr>
              <a:t>.</a:t>
            </a:r>
            <a:r>
              <a:rPr sz="1000" spc="135" dirty="0">
                <a:latin typeface="Tahoma"/>
                <a:cs typeface="Tahoma"/>
              </a:rPr>
              <a:t> </a:t>
            </a:r>
            <a:r>
              <a:rPr sz="1000" spc="-25" dirty="0">
                <a:latin typeface="Tahoma"/>
                <a:cs typeface="Tahoma"/>
              </a:rPr>
              <a:t>Then,</a:t>
            </a:r>
            <a:endParaRPr sz="1000">
              <a:latin typeface="Tahoma"/>
              <a:cs typeface="Tahoma"/>
            </a:endParaRPr>
          </a:p>
        </p:txBody>
      </p:sp>
      <p:sp>
        <p:nvSpPr>
          <p:cNvPr id="44" name="object 44"/>
          <p:cNvSpPr txBox="1"/>
          <p:nvPr/>
        </p:nvSpPr>
        <p:spPr>
          <a:xfrm>
            <a:off x="698563" y="1697664"/>
            <a:ext cx="3654425" cy="1442720"/>
          </a:xfrm>
          <a:prstGeom prst="rect">
            <a:avLst/>
          </a:prstGeom>
        </p:spPr>
        <p:txBody>
          <a:bodyPr vert="horz" wrap="square" lIns="0" tIns="12065" rIns="0" bIns="0" rtlCol="0">
            <a:spAutoFit/>
          </a:bodyPr>
          <a:lstStyle/>
          <a:p>
            <a:pPr marL="50800" marR="55880">
              <a:lnSpc>
                <a:spcPct val="100000"/>
              </a:lnSpc>
              <a:spcBef>
                <a:spcPts val="95"/>
              </a:spcBef>
              <a:tabLst>
                <a:tab pos="2359660" algn="l"/>
              </a:tabLst>
            </a:pPr>
            <a:r>
              <a:rPr sz="1000" spc="-55" dirty="0">
                <a:latin typeface="Tahoma"/>
                <a:cs typeface="Tahoma"/>
              </a:rPr>
              <a:t>suppose</a:t>
            </a:r>
            <a:r>
              <a:rPr sz="1000" spc="20" dirty="0">
                <a:latin typeface="Tahoma"/>
                <a:cs typeface="Tahoma"/>
              </a:rPr>
              <a:t> </a:t>
            </a:r>
            <a:r>
              <a:rPr sz="1000" spc="-10" dirty="0">
                <a:latin typeface="Tahoma"/>
                <a:cs typeface="Tahoma"/>
              </a:rPr>
              <a:t>that</a:t>
            </a:r>
            <a:r>
              <a:rPr sz="1000" spc="25" dirty="0">
                <a:latin typeface="Tahoma"/>
                <a:cs typeface="Tahoma"/>
              </a:rPr>
              <a:t> </a:t>
            </a:r>
            <a:r>
              <a:rPr sz="1000" spc="-40" dirty="0">
                <a:latin typeface="Tahoma"/>
                <a:cs typeface="Tahoma"/>
              </a:rPr>
              <a:t>for</a:t>
            </a:r>
            <a:r>
              <a:rPr sz="1000" spc="25" dirty="0">
                <a:latin typeface="Tahoma"/>
                <a:cs typeface="Tahoma"/>
              </a:rPr>
              <a:t> </a:t>
            </a:r>
            <a:r>
              <a:rPr sz="1000" spc="-65" dirty="0">
                <a:latin typeface="Tahoma"/>
                <a:cs typeface="Tahoma"/>
              </a:rPr>
              <a:t>some</a:t>
            </a:r>
            <a:r>
              <a:rPr sz="1000" spc="30" dirty="0">
                <a:latin typeface="Tahoma"/>
                <a:cs typeface="Tahoma"/>
              </a:rPr>
              <a:t> </a:t>
            </a:r>
            <a:r>
              <a:rPr sz="1000" i="1" spc="-45" dirty="0">
                <a:latin typeface="Arial"/>
                <a:cs typeface="Arial"/>
              </a:rPr>
              <a:t>b</a:t>
            </a:r>
            <a:r>
              <a:rPr sz="1000" i="1" spc="35" dirty="0">
                <a:latin typeface="Arial"/>
                <a:cs typeface="Arial"/>
              </a:rPr>
              <a:t> </a:t>
            </a:r>
            <a:r>
              <a:rPr sz="1000" spc="-135" dirty="0">
                <a:latin typeface="Lucida Sans Unicode"/>
                <a:cs typeface="Lucida Sans Unicode"/>
              </a:rPr>
              <a:t>∈</a:t>
            </a:r>
            <a:r>
              <a:rPr sz="1000" spc="-35" dirty="0">
                <a:latin typeface="Lucida Sans Unicode"/>
                <a:cs typeface="Lucida Sans Unicode"/>
              </a:rPr>
              <a:t> </a:t>
            </a:r>
            <a:r>
              <a:rPr sz="1000" i="1" spc="-5" dirty="0">
                <a:latin typeface="Arial"/>
                <a:cs typeface="Arial"/>
              </a:rPr>
              <a:t>B</a:t>
            </a:r>
            <a:r>
              <a:rPr sz="1000" i="1" spc="145" dirty="0">
                <a:latin typeface="Arial"/>
                <a:cs typeface="Arial"/>
              </a:rPr>
              <a:t> </a:t>
            </a:r>
            <a:r>
              <a:rPr sz="1000" i="1" spc="-50" dirty="0">
                <a:latin typeface="Arial"/>
                <a:cs typeface="Arial"/>
              </a:rPr>
              <a:t>a</a:t>
            </a:r>
            <a:r>
              <a:rPr sz="1050" spc="-75" baseline="-11904" dirty="0">
                <a:latin typeface="Microsoft Sans Serif"/>
                <a:cs typeface="Microsoft Sans Serif"/>
              </a:rPr>
              <a:t>1</a:t>
            </a:r>
            <a:r>
              <a:rPr sz="1050" spc="217" baseline="-11904" dirty="0">
                <a:latin typeface="Microsoft Sans Serif"/>
                <a:cs typeface="Microsoft Sans Serif"/>
              </a:rPr>
              <a:t> </a:t>
            </a:r>
            <a:r>
              <a:rPr sz="1000" spc="45" dirty="0">
                <a:latin typeface="Tahoma"/>
                <a:cs typeface="Tahoma"/>
              </a:rPr>
              <a:t>=</a:t>
            </a:r>
            <a:r>
              <a:rPr sz="1000" spc="-30" dirty="0">
                <a:latin typeface="Tahoma"/>
                <a:cs typeface="Tahoma"/>
              </a:rPr>
              <a:t> </a:t>
            </a:r>
            <a:r>
              <a:rPr sz="1000" i="1" spc="-10" dirty="0">
                <a:latin typeface="Arial"/>
                <a:cs typeface="Arial"/>
              </a:rPr>
              <a:t>g</a:t>
            </a:r>
            <a:r>
              <a:rPr sz="1050" spc="-15" baseline="-11904" dirty="0">
                <a:latin typeface="Microsoft Sans Serif"/>
                <a:cs typeface="Microsoft Sans Serif"/>
              </a:rPr>
              <a:t>1</a:t>
            </a:r>
            <a:r>
              <a:rPr sz="1000" spc="-10" dirty="0">
                <a:latin typeface="Tahoma"/>
                <a:cs typeface="Tahoma"/>
              </a:rPr>
              <a:t>(</a:t>
            </a:r>
            <a:r>
              <a:rPr sz="1000" i="1" spc="-10" dirty="0">
                <a:latin typeface="Arial"/>
                <a:cs typeface="Arial"/>
              </a:rPr>
              <a:t>b</a:t>
            </a:r>
            <a:r>
              <a:rPr sz="1000" spc="-10" dirty="0">
                <a:latin typeface="Tahoma"/>
                <a:cs typeface="Tahoma"/>
              </a:rPr>
              <a:t>)</a:t>
            </a:r>
            <a:r>
              <a:rPr sz="1000" spc="-25" dirty="0">
                <a:latin typeface="Tahoma"/>
                <a:cs typeface="Tahoma"/>
              </a:rPr>
              <a:t> </a:t>
            </a:r>
            <a:r>
              <a:rPr sz="1000" spc="-365" dirty="0">
                <a:latin typeface="Tahoma"/>
                <a:cs typeface="Tahoma"/>
              </a:rPr>
              <a:t>=</a:t>
            </a:r>
            <a:r>
              <a:rPr sz="1000" spc="-365" dirty="0">
                <a:latin typeface="Lucida Sans Unicode"/>
                <a:cs typeface="Lucida Sans Unicode"/>
              </a:rPr>
              <a:t≯	</a:t>
            </a:r>
            <a:r>
              <a:rPr sz="1000" i="1" spc="-50" dirty="0">
                <a:latin typeface="Arial"/>
                <a:cs typeface="Arial"/>
              </a:rPr>
              <a:t>a</a:t>
            </a:r>
            <a:r>
              <a:rPr sz="1050" spc="-75" baseline="-11904" dirty="0">
                <a:latin typeface="Microsoft Sans Serif"/>
                <a:cs typeface="Microsoft Sans Serif"/>
              </a:rPr>
              <a:t>2</a:t>
            </a:r>
            <a:r>
              <a:rPr sz="1050" spc="-15" baseline="-11904" dirty="0">
                <a:latin typeface="Microsoft Sans Serif"/>
                <a:cs typeface="Microsoft Sans Serif"/>
              </a:rPr>
              <a:t> </a:t>
            </a:r>
            <a:r>
              <a:rPr sz="1000" spc="45" dirty="0">
                <a:latin typeface="Tahoma"/>
                <a:cs typeface="Tahoma"/>
              </a:rPr>
              <a:t>=</a:t>
            </a:r>
            <a:r>
              <a:rPr sz="1000" spc="-55" dirty="0">
                <a:latin typeface="Tahoma"/>
                <a:cs typeface="Tahoma"/>
              </a:rPr>
              <a:t> </a:t>
            </a:r>
            <a:r>
              <a:rPr sz="1000" i="1" spc="-10" dirty="0">
                <a:latin typeface="Arial"/>
                <a:cs typeface="Arial"/>
              </a:rPr>
              <a:t>g</a:t>
            </a:r>
            <a:r>
              <a:rPr sz="1050" spc="-15" baseline="-11904" dirty="0">
                <a:latin typeface="Microsoft Sans Serif"/>
                <a:cs typeface="Microsoft Sans Serif"/>
              </a:rPr>
              <a:t>2</a:t>
            </a:r>
            <a:r>
              <a:rPr sz="1000" spc="-10" dirty="0">
                <a:latin typeface="Tahoma"/>
                <a:cs typeface="Tahoma"/>
              </a:rPr>
              <a:t>(</a:t>
            </a:r>
            <a:r>
              <a:rPr sz="1000" i="1" spc="-10" dirty="0">
                <a:latin typeface="Arial"/>
                <a:cs typeface="Arial"/>
              </a:rPr>
              <a:t>b</a:t>
            </a:r>
            <a:r>
              <a:rPr sz="1000" spc="-10" dirty="0">
                <a:latin typeface="Tahoma"/>
                <a:cs typeface="Tahoma"/>
              </a:rPr>
              <a:t>).</a:t>
            </a:r>
            <a:r>
              <a:rPr sz="1000" spc="105" dirty="0">
                <a:latin typeface="Tahoma"/>
                <a:cs typeface="Tahoma"/>
              </a:rPr>
              <a:t> </a:t>
            </a:r>
            <a:r>
              <a:rPr sz="1000" spc="-40" dirty="0">
                <a:latin typeface="Tahoma"/>
                <a:cs typeface="Tahoma"/>
              </a:rPr>
              <a:t>Because</a:t>
            </a:r>
            <a:r>
              <a:rPr sz="1000" dirty="0">
                <a:latin typeface="Tahoma"/>
                <a:cs typeface="Tahoma"/>
              </a:rPr>
              <a:t> </a:t>
            </a:r>
            <a:r>
              <a:rPr sz="1000" spc="-30" dirty="0">
                <a:latin typeface="Tahoma"/>
                <a:cs typeface="Tahoma"/>
              </a:rPr>
              <a:t>of </a:t>
            </a:r>
            <a:r>
              <a:rPr sz="1000" spc="-300" dirty="0">
                <a:latin typeface="Tahoma"/>
                <a:cs typeface="Tahoma"/>
              </a:rPr>
              <a:t> </a:t>
            </a:r>
            <a:r>
              <a:rPr sz="1000" spc="-25" dirty="0">
                <a:latin typeface="Tahoma"/>
                <a:cs typeface="Tahoma"/>
              </a:rPr>
              <a:t>surjectivity</a:t>
            </a:r>
            <a:r>
              <a:rPr sz="1000" spc="15" dirty="0">
                <a:latin typeface="Tahoma"/>
                <a:cs typeface="Tahoma"/>
              </a:rPr>
              <a:t> </a:t>
            </a:r>
            <a:r>
              <a:rPr sz="1000" spc="-30" dirty="0">
                <a:latin typeface="Tahoma"/>
                <a:cs typeface="Tahoma"/>
              </a:rPr>
              <a:t>of</a:t>
            </a:r>
            <a:r>
              <a:rPr sz="1000" spc="20" dirty="0">
                <a:latin typeface="Tahoma"/>
                <a:cs typeface="Tahoma"/>
              </a:rPr>
              <a:t> </a:t>
            </a:r>
            <a:r>
              <a:rPr sz="1000" i="1" spc="25" dirty="0">
                <a:latin typeface="Arial"/>
                <a:cs typeface="Arial"/>
              </a:rPr>
              <a:t>f</a:t>
            </a:r>
            <a:r>
              <a:rPr sz="1000" i="1" spc="-65" dirty="0">
                <a:latin typeface="Arial"/>
                <a:cs typeface="Arial"/>
              </a:rPr>
              <a:t> </a:t>
            </a:r>
            <a:r>
              <a:rPr sz="1000" spc="-30" dirty="0">
                <a:latin typeface="Tahoma"/>
                <a:cs typeface="Tahoma"/>
              </a:rPr>
              <a:t>,</a:t>
            </a:r>
            <a:r>
              <a:rPr sz="1000" spc="15" dirty="0">
                <a:latin typeface="Tahoma"/>
                <a:cs typeface="Tahoma"/>
              </a:rPr>
              <a:t> </a:t>
            </a:r>
            <a:r>
              <a:rPr sz="1000" spc="-45" dirty="0">
                <a:latin typeface="Tahoma"/>
                <a:cs typeface="Tahoma"/>
              </a:rPr>
              <a:t>element</a:t>
            </a:r>
            <a:r>
              <a:rPr sz="1000" spc="20" dirty="0">
                <a:latin typeface="Tahoma"/>
                <a:cs typeface="Tahoma"/>
              </a:rPr>
              <a:t> </a:t>
            </a:r>
            <a:r>
              <a:rPr sz="1000" i="1" spc="-45" dirty="0">
                <a:latin typeface="Arial"/>
                <a:cs typeface="Arial"/>
              </a:rPr>
              <a:t>b</a:t>
            </a:r>
            <a:r>
              <a:rPr sz="1000" i="1" spc="80" dirty="0">
                <a:latin typeface="Arial"/>
                <a:cs typeface="Arial"/>
              </a:rPr>
              <a:t> </a:t>
            </a:r>
            <a:r>
              <a:rPr sz="1000" spc="-55" dirty="0">
                <a:latin typeface="Tahoma"/>
                <a:cs typeface="Tahoma"/>
              </a:rPr>
              <a:t>has</a:t>
            </a:r>
            <a:r>
              <a:rPr sz="1000" spc="20" dirty="0">
                <a:latin typeface="Tahoma"/>
                <a:cs typeface="Tahoma"/>
              </a:rPr>
              <a:t> </a:t>
            </a:r>
            <a:r>
              <a:rPr sz="1000" spc="-50" dirty="0">
                <a:latin typeface="Tahoma"/>
                <a:cs typeface="Tahoma"/>
              </a:rPr>
              <a:t>a</a:t>
            </a:r>
            <a:r>
              <a:rPr sz="1000" spc="20" dirty="0">
                <a:latin typeface="Tahoma"/>
                <a:cs typeface="Tahoma"/>
              </a:rPr>
              <a:t> </a:t>
            </a:r>
            <a:r>
              <a:rPr sz="1000" spc="-50" dirty="0">
                <a:latin typeface="Tahoma"/>
                <a:cs typeface="Tahoma"/>
              </a:rPr>
              <a:t>preimage</a:t>
            </a:r>
            <a:r>
              <a:rPr sz="1000" spc="10" dirty="0">
                <a:latin typeface="Tahoma"/>
                <a:cs typeface="Tahoma"/>
              </a:rPr>
              <a:t> </a:t>
            </a:r>
            <a:r>
              <a:rPr sz="1000" i="1" spc="-80" dirty="0">
                <a:latin typeface="Arial"/>
                <a:cs typeface="Arial"/>
              </a:rPr>
              <a:t>a</a:t>
            </a:r>
            <a:r>
              <a:rPr sz="1000" i="1" spc="60" dirty="0">
                <a:latin typeface="Arial"/>
                <a:cs typeface="Arial"/>
              </a:rPr>
              <a:t> </a:t>
            </a:r>
            <a:r>
              <a:rPr sz="1000" spc="-15" dirty="0">
                <a:latin typeface="Tahoma"/>
                <a:cs typeface="Tahoma"/>
              </a:rPr>
              <a:t>at</a:t>
            </a:r>
            <a:r>
              <a:rPr sz="1000" spc="15" dirty="0">
                <a:latin typeface="Tahoma"/>
                <a:cs typeface="Tahoma"/>
              </a:rPr>
              <a:t> </a:t>
            </a:r>
            <a:r>
              <a:rPr sz="1000" spc="-40" dirty="0">
                <a:latin typeface="Tahoma"/>
                <a:cs typeface="Tahoma"/>
              </a:rPr>
              <a:t>mapping</a:t>
            </a:r>
            <a:r>
              <a:rPr sz="1000" spc="15" dirty="0">
                <a:latin typeface="Tahoma"/>
                <a:cs typeface="Tahoma"/>
              </a:rPr>
              <a:t> </a:t>
            </a:r>
            <a:r>
              <a:rPr sz="1000" i="1" spc="25" dirty="0">
                <a:latin typeface="Arial"/>
                <a:cs typeface="Arial"/>
              </a:rPr>
              <a:t>f</a:t>
            </a:r>
            <a:r>
              <a:rPr sz="1000" i="1" spc="-65" dirty="0">
                <a:latin typeface="Arial"/>
                <a:cs typeface="Arial"/>
              </a:rPr>
              <a:t> </a:t>
            </a:r>
            <a:r>
              <a:rPr sz="1000" spc="-30" dirty="0">
                <a:latin typeface="Tahoma"/>
                <a:cs typeface="Tahoma"/>
              </a:rPr>
              <a:t>.</a:t>
            </a:r>
            <a:r>
              <a:rPr sz="1000" spc="130" dirty="0">
                <a:latin typeface="Tahoma"/>
                <a:cs typeface="Tahoma"/>
              </a:rPr>
              <a:t> </a:t>
            </a:r>
            <a:r>
              <a:rPr sz="1000" spc="-20" dirty="0">
                <a:latin typeface="Tahoma"/>
                <a:cs typeface="Tahoma"/>
              </a:rPr>
              <a:t>Then</a:t>
            </a:r>
            <a:endParaRPr sz="1000">
              <a:latin typeface="Tahoma"/>
              <a:cs typeface="Tahoma"/>
            </a:endParaRPr>
          </a:p>
          <a:p>
            <a:pPr>
              <a:lnSpc>
                <a:spcPct val="100000"/>
              </a:lnSpc>
              <a:spcBef>
                <a:spcPts val="20"/>
              </a:spcBef>
            </a:pPr>
            <a:endParaRPr sz="800">
              <a:latin typeface="Tahoma"/>
              <a:cs typeface="Tahoma"/>
            </a:endParaRPr>
          </a:p>
          <a:p>
            <a:pPr marL="119380" algn="ctr">
              <a:lnSpc>
                <a:spcPct val="100000"/>
              </a:lnSpc>
            </a:pPr>
            <a:r>
              <a:rPr sz="1000" i="1" spc="-80" dirty="0">
                <a:latin typeface="Arial"/>
                <a:cs typeface="Arial"/>
              </a:rPr>
              <a:t>a</a:t>
            </a:r>
            <a:r>
              <a:rPr sz="1000" i="1" spc="5" dirty="0">
                <a:latin typeface="Arial"/>
                <a:cs typeface="Arial"/>
              </a:rPr>
              <a:t> </a:t>
            </a:r>
            <a:r>
              <a:rPr sz="1000" spc="45" dirty="0">
                <a:latin typeface="Tahoma"/>
                <a:cs typeface="Tahoma"/>
              </a:rPr>
              <a:t>=</a:t>
            </a:r>
            <a:r>
              <a:rPr sz="1000" spc="-35" dirty="0">
                <a:latin typeface="Tahoma"/>
                <a:cs typeface="Tahoma"/>
              </a:rPr>
              <a:t> </a:t>
            </a:r>
            <a:r>
              <a:rPr sz="1000" i="1" spc="-15" dirty="0">
                <a:latin typeface="Arial"/>
                <a:cs typeface="Arial"/>
              </a:rPr>
              <a:t>id</a:t>
            </a:r>
            <a:r>
              <a:rPr sz="1050" i="1" spc="112" baseline="-11904" dirty="0">
                <a:latin typeface="Arial"/>
                <a:cs typeface="Arial"/>
              </a:rPr>
              <a:t>A</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35" dirty="0">
                <a:latin typeface="Tahoma"/>
                <a:cs typeface="Tahoma"/>
              </a:rPr>
              <a:t> </a:t>
            </a:r>
            <a:r>
              <a:rPr sz="1000" dirty="0">
                <a:latin typeface="Tahoma"/>
                <a:cs typeface="Tahoma"/>
              </a:rPr>
              <a:t>(</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50" spc="44" baseline="-11904" dirty="0">
                <a:latin typeface="Microsoft Sans Serif"/>
                <a:cs typeface="Microsoft Sans Serif"/>
              </a:rPr>
              <a:t>1</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60" dirty="0">
                <a:latin typeface="Arial"/>
                <a:cs typeface="Arial"/>
              </a:rPr>
              <a:t>g</a:t>
            </a:r>
            <a:r>
              <a:rPr sz="1050" spc="44" baseline="-11904" dirty="0">
                <a:latin typeface="Microsoft Sans Serif"/>
                <a:cs typeface="Microsoft Sans Serif"/>
              </a:rPr>
              <a:t>1</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60" dirty="0">
                <a:latin typeface="Arial"/>
                <a:cs typeface="Arial"/>
              </a:rPr>
              <a:t>g</a:t>
            </a:r>
            <a:r>
              <a:rPr sz="1050" spc="44" baseline="-11904" dirty="0">
                <a:latin typeface="Microsoft Sans Serif"/>
                <a:cs typeface="Microsoft Sans Serif"/>
              </a:rPr>
              <a:t>1</a:t>
            </a:r>
            <a:r>
              <a:rPr sz="1000" dirty="0">
                <a:latin typeface="Tahoma"/>
                <a:cs typeface="Tahoma"/>
              </a:rPr>
              <a:t>(</a:t>
            </a:r>
            <a:r>
              <a:rPr sz="1000" i="1" spc="-15" dirty="0">
                <a:latin typeface="Arial"/>
                <a:cs typeface="Arial"/>
              </a:rPr>
              <a:t>b</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80" dirty="0">
                <a:latin typeface="Arial"/>
                <a:cs typeface="Arial"/>
              </a:rPr>
              <a:t>a</a:t>
            </a:r>
            <a:r>
              <a:rPr sz="1050" spc="-30" baseline="-11904" dirty="0">
                <a:latin typeface="Microsoft Sans Serif"/>
                <a:cs typeface="Microsoft Sans Serif"/>
              </a:rPr>
              <a:t>1</a:t>
            </a:r>
            <a:endParaRPr sz="1050" baseline="-11904">
              <a:latin typeface="Microsoft Sans Serif"/>
              <a:cs typeface="Microsoft Sans Serif"/>
            </a:endParaRPr>
          </a:p>
          <a:p>
            <a:pPr marL="50165">
              <a:lnSpc>
                <a:spcPct val="100000"/>
              </a:lnSpc>
              <a:spcBef>
                <a:spcPts val="995"/>
              </a:spcBef>
            </a:pPr>
            <a:r>
              <a:rPr sz="1000" spc="-20" dirty="0">
                <a:latin typeface="Tahoma"/>
                <a:cs typeface="Tahoma"/>
              </a:rPr>
              <a:t>Analogically</a:t>
            </a:r>
            <a:r>
              <a:rPr sz="1000" spc="15" dirty="0">
                <a:latin typeface="Tahoma"/>
                <a:cs typeface="Tahoma"/>
              </a:rPr>
              <a:t> </a:t>
            </a:r>
            <a:r>
              <a:rPr sz="1000" spc="-90" dirty="0">
                <a:latin typeface="Tahoma"/>
                <a:cs typeface="Tahoma"/>
              </a:rPr>
              <a:t>we</a:t>
            </a:r>
            <a:r>
              <a:rPr sz="1000" spc="20" dirty="0">
                <a:latin typeface="Tahoma"/>
                <a:cs typeface="Tahoma"/>
              </a:rPr>
              <a:t> </a:t>
            </a:r>
            <a:r>
              <a:rPr sz="1000" spc="-40" dirty="0">
                <a:latin typeface="Tahoma"/>
                <a:cs typeface="Tahoma"/>
              </a:rPr>
              <a:t>can</a:t>
            </a:r>
            <a:r>
              <a:rPr sz="1000" spc="15" dirty="0">
                <a:latin typeface="Tahoma"/>
                <a:cs typeface="Tahoma"/>
              </a:rPr>
              <a:t> </a:t>
            </a:r>
            <a:r>
              <a:rPr sz="1000" spc="-40" dirty="0">
                <a:latin typeface="Tahoma"/>
                <a:cs typeface="Tahoma"/>
              </a:rPr>
              <a:t>get,</a:t>
            </a:r>
            <a:r>
              <a:rPr sz="1000" spc="20" dirty="0">
                <a:latin typeface="Tahoma"/>
                <a:cs typeface="Tahoma"/>
              </a:rPr>
              <a:t> </a:t>
            </a:r>
            <a:r>
              <a:rPr sz="1000" spc="-15" dirty="0">
                <a:latin typeface="Tahoma"/>
                <a:cs typeface="Tahoma"/>
              </a:rPr>
              <a:t>that</a:t>
            </a:r>
            <a:endParaRPr sz="1000">
              <a:latin typeface="Tahoma"/>
              <a:cs typeface="Tahoma"/>
            </a:endParaRPr>
          </a:p>
          <a:p>
            <a:pPr>
              <a:lnSpc>
                <a:spcPct val="100000"/>
              </a:lnSpc>
              <a:spcBef>
                <a:spcPts val="25"/>
              </a:spcBef>
            </a:pPr>
            <a:endParaRPr sz="800">
              <a:latin typeface="Tahoma"/>
              <a:cs typeface="Tahoma"/>
            </a:endParaRPr>
          </a:p>
          <a:p>
            <a:pPr marL="119380" algn="ctr">
              <a:lnSpc>
                <a:spcPct val="100000"/>
              </a:lnSpc>
            </a:pPr>
            <a:r>
              <a:rPr sz="1000" i="1" spc="-80" dirty="0">
                <a:latin typeface="Arial"/>
                <a:cs typeface="Arial"/>
              </a:rPr>
              <a:t>a</a:t>
            </a:r>
            <a:r>
              <a:rPr sz="1000" i="1" spc="5" dirty="0">
                <a:latin typeface="Arial"/>
                <a:cs typeface="Arial"/>
              </a:rPr>
              <a:t> </a:t>
            </a:r>
            <a:r>
              <a:rPr sz="1000" spc="45" dirty="0">
                <a:latin typeface="Tahoma"/>
                <a:cs typeface="Tahoma"/>
              </a:rPr>
              <a:t>=</a:t>
            </a:r>
            <a:r>
              <a:rPr sz="1000" spc="-35" dirty="0">
                <a:latin typeface="Tahoma"/>
                <a:cs typeface="Tahoma"/>
              </a:rPr>
              <a:t> </a:t>
            </a:r>
            <a:r>
              <a:rPr sz="1000" i="1" spc="-15" dirty="0">
                <a:latin typeface="Arial"/>
                <a:cs typeface="Arial"/>
              </a:rPr>
              <a:t>id</a:t>
            </a:r>
            <a:r>
              <a:rPr sz="1050" i="1" spc="112" baseline="-11904" dirty="0">
                <a:latin typeface="Arial"/>
                <a:cs typeface="Arial"/>
              </a:rPr>
              <a:t>A</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35" dirty="0">
                <a:latin typeface="Tahoma"/>
                <a:cs typeface="Tahoma"/>
              </a:rPr>
              <a:t> </a:t>
            </a:r>
            <a:r>
              <a:rPr sz="1000" dirty="0">
                <a:latin typeface="Tahoma"/>
                <a:cs typeface="Tahoma"/>
              </a:rPr>
              <a:t>(</a:t>
            </a:r>
            <a:r>
              <a:rPr sz="1000" i="1" spc="25" dirty="0">
                <a:latin typeface="Arial"/>
                <a:cs typeface="Arial"/>
              </a:rPr>
              <a:t>f</a:t>
            </a:r>
            <a:r>
              <a:rPr sz="1000" i="1" dirty="0">
                <a:latin typeface="Arial"/>
                <a:cs typeface="Arial"/>
              </a:rPr>
              <a:t> </a:t>
            </a:r>
            <a:r>
              <a:rPr sz="1000" i="1" spc="-120" dirty="0">
                <a:latin typeface="Arial"/>
                <a:cs typeface="Arial"/>
              </a:rPr>
              <a:t> </a:t>
            </a:r>
            <a:r>
              <a:rPr sz="1000" spc="-65" dirty="0">
                <a:latin typeface="Lucida Sans Unicode"/>
                <a:cs typeface="Lucida Sans Unicode"/>
              </a:rPr>
              <a:t>◦</a:t>
            </a:r>
            <a:r>
              <a:rPr sz="1000" spc="-95" dirty="0">
                <a:latin typeface="Lucida Sans Unicode"/>
                <a:cs typeface="Lucida Sans Unicode"/>
              </a:rPr>
              <a:t> </a:t>
            </a:r>
            <a:r>
              <a:rPr sz="1000" i="1" spc="-60" dirty="0">
                <a:latin typeface="Arial"/>
                <a:cs typeface="Arial"/>
              </a:rPr>
              <a:t>g</a:t>
            </a:r>
            <a:r>
              <a:rPr sz="1050" spc="44" baseline="-11904" dirty="0">
                <a:latin typeface="Microsoft Sans Serif"/>
                <a:cs typeface="Microsoft Sans Serif"/>
              </a:rPr>
              <a:t>2</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60" dirty="0">
                <a:latin typeface="Arial"/>
                <a:cs typeface="Arial"/>
              </a:rPr>
              <a:t>g</a:t>
            </a:r>
            <a:r>
              <a:rPr sz="1050" spc="44" baseline="-11904" dirty="0">
                <a:latin typeface="Microsoft Sans Serif"/>
                <a:cs typeface="Microsoft Sans Serif"/>
              </a:rPr>
              <a:t>2</a:t>
            </a:r>
            <a:r>
              <a:rPr sz="1000" dirty="0">
                <a:latin typeface="Tahoma"/>
                <a:cs typeface="Tahoma"/>
              </a:rPr>
              <a:t>(</a:t>
            </a:r>
            <a:r>
              <a:rPr sz="1000" i="1" spc="25" dirty="0">
                <a:latin typeface="Arial"/>
                <a:cs typeface="Arial"/>
              </a:rPr>
              <a:t>f</a:t>
            </a:r>
            <a:r>
              <a:rPr sz="1000" i="1" spc="-65" dirty="0">
                <a:latin typeface="Arial"/>
                <a:cs typeface="Arial"/>
              </a:rPr>
              <a:t> </a:t>
            </a:r>
            <a:r>
              <a:rPr sz="1000" dirty="0">
                <a:latin typeface="Tahoma"/>
                <a:cs typeface="Tahoma"/>
              </a:rPr>
              <a:t>(</a:t>
            </a:r>
            <a:r>
              <a:rPr sz="1000" i="1" spc="-70" dirty="0">
                <a:latin typeface="Arial"/>
                <a:cs typeface="Arial"/>
              </a:rPr>
              <a:t>a</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60" dirty="0">
                <a:latin typeface="Arial"/>
                <a:cs typeface="Arial"/>
              </a:rPr>
              <a:t>g</a:t>
            </a:r>
            <a:r>
              <a:rPr sz="1050" spc="44" baseline="-11904" dirty="0">
                <a:latin typeface="Microsoft Sans Serif"/>
                <a:cs typeface="Microsoft Sans Serif"/>
              </a:rPr>
              <a:t>2</a:t>
            </a:r>
            <a:r>
              <a:rPr sz="1000" dirty="0">
                <a:latin typeface="Tahoma"/>
                <a:cs typeface="Tahoma"/>
              </a:rPr>
              <a:t>(</a:t>
            </a:r>
            <a:r>
              <a:rPr sz="1000" i="1" spc="-15" dirty="0">
                <a:latin typeface="Arial"/>
                <a:cs typeface="Arial"/>
              </a:rPr>
              <a:t>b</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i="1" spc="-80" dirty="0">
                <a:latin typeface="Arial"/>
                <a:cs typeface="Arial"/>
              </a:rPr>
              <a:t>a</a:t>
            </a:r>
            <a:r>
              <a:rPr sz="1050" spc="-30" baseline="-11904" dirty="0">
                <a:latin typeface="Microsoft Sans Serif"/>
                <a:cs typeface="Microsoft Sans Serif"/>
              </a:rPr>
              <a:t>2</a:t>
            </a:r>
            <a:endParaRPr sz="1050" baseline="-11904">
              <a:latin typeface="Microsoft Sans Serif"/>
              <a:cs typeface="Microsoft Sans Serif"/>
            </a:endParaRPr>
          </a:p>
          <a:p>
            <a:pPr marL="50165">
              <a:lnSpc>
                <a:spcPct val="100000"/>
              </a:lnSpc>
              <a:spcBef>
                <a:spcPts val="990"/>
              </a:spcBef>
            </a:pPr>
            <a:r>
              <a:rPr sz="1000" spc="-35" dirty="0">
                <a:latin typeface="Tahoma"/>
                <a:cs typeface="Tahoma"/>
              </a:rPr>
              <a:t>i.e.</a:t>
            </a:r>
            <a:r>
              <a:rPr sz="1000" spc="110" dirty="0">
                <a:latin typeface="Tahoma"/>
                <a:cs typeface="Tahoma"/>
              </a:rPr>
              <a:t> </a:t>
            </a:r>
            <a:r>
              <a:rPr sz="1000" i="1" spc="-50" dirty="0">
                <a:latin typeface="Arial"/>
                <a:cs typeface="Arial"/>
              </a:rPr>
              <a:t>a</a:t>
            </a:r>
            <a:r>
              <a:rPr sz="1050" spc="-75" baseline="-11904" dirty="0">
                <a:latin typeface="Microsoft Sans Serif"/>
                <a:cs typeface="Microsoft Sans Serif"/>
              </a:rPr>
              <a:t>1</a:t>
            </a:r>
            <a:r>
              <a:rPr sz="1050" spc="-7" baseline="-11904" dirty="0">
                <a:latin typeface="Microsoft Sans Serif"/>
                <a:cs typeface="Microsoft Sans Serif"/>
              </a:rPr>
              <a:t> </a:t>
            </a:r>
            <a:r>
              <a:rPr sz="1000" spc="45" dirty="0">
                <a:latin typeface="Tahoma"/>
                <a:cs typeface="Tahoma"/>
              </a:rPr>
              <a:t>=</a:t>
            </a:r>
            <a:r>
              <a:rPr sz="1000" spc="-45" dirty="0">
                <a:latin typeface="Tahoma"/>
                <a:cs typeface="Tahoma"/>
              </a:rPr>
              <a:t> </a:t>
            </a:r>
            <a:r>
              <a:rPr sz="1000" i="1" spc="-50" dirty="0">
                <a:latin typeface="Arial"/>
                <a:cs typeface="Arial"/>
              </a:rPr>
              <a:t>a</a:t>
            </a:r>
            <a:r>
              <a:rPr sz="1050" spc="-75" baseline="-11904" dirty="0">
                <a:latin typeface="Microsoft Sans Serif"/>
                <a:cs typeface="Microsoft Sans Serif"/>
              </a:rPr>
              <a:t>2</a:t>
            </a:r>
            <a:r>
              <a:rPr sz="1050" spc="270" baseline="-11904" dirty="0">
                <a:latin typeface="Microsoft Sans Serif"/>
                <a:cs typeface="Microsoft Sans Serif"/>
              </a:rPr>
              <a:t> </a:t>
            </a:r>
            <a:r>
              <a:rPr sz="1000" spc="-35" dirty="0">
                <a:latin typeface="Tahoma"/>
                <a:cs typeface="Tahoma"/>
              </a:rPr>
              <a:t>-</a:t>
            </a:r>
            <a:r>
              <a:rPr sz="1000" spc="5" dirty="0">
                <a:latin typeface="Tahoma"/>
                <a:cs typeface="Tahoma"/>
              </a:rPr>
              <a:t> </a:t>
            </a:r>
            <a:r>
              <a:rPr sz="1000" spc="-20" dirty="0">
                <a:latin typeface="Tahoma"/>
                <a:cs typeface="Tahoma"/>
              </a:rPr>
              <a:t>contradiction.</a:t>
            </a:r>
            <a:endParaRPr sz="1000">
              <a:latin typeface="Tahoma"/>
              <a:cs typeface="Tahoma"/>
            </a:endParaRPr>
          </a:p>
        </p:txBody>
      </p:sp>
      <p:grpSp>
        <p:nvGrpSpPr>
          <p:cNvPr id="45" name="object 45"/>
          <p:cNvGrpSpPr/>
          <p:nvPr/>
        </p:nvGrpSpPr>
        <p:grpSpPr>
          <a:xfrm>
            <a:off x="4335779" y="3016732"/>
            <a:ext cx="86360" cy="85725"/>
            <a:chOff x="4335779" y="3016732"/>
            <a:chExt cx="86360" cy="85725"/>
          </a:xfrm>
        </p:grpSpPr>
        <p:sp>
          <p:nvSpPr>
            <p:cNvPr id="46" name="object 46"/>
            <p:cNvSpPr/>
            <p:nvPr/>
          </p:nvSpPr>
          <p:spPr>
            <a:xfrm>
              <a:off x="4338307" y="3016732"/>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sp>
          <p:nvSpPr>
            <p:cNvPr id="47" name="object 47"/>
            <p:cNvSpPr/>
            <p:nvPr/>
          </p:nvSpPr>
          <p:spPr>
            <a:xfrm>
              <a:off x="4340834" y="3019272"/>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8" name="object 48"/>
            <p:cNvSpPr/>
            <p:nvPr/>
          </p:nvSpPr>
          <p:spPr>
            <a:xfrm>
              <a:off x="4340834" y="3099612"/>
              <a:ext cx="76200" cy="0"/>
            </a:xfrm>
            <a:custGeom>
              <a:avLst/>
              <a:gdLst/>
              <a:ahLst/>
              <a:cxnLst/>
              <a:rect l="l" t="t" r="r" b="b"/>
              <a:pathLst>
                <a:path w="76200">
                  <a:moveTo>
                    <a:pt x="0" y="0"/>
                  </a:moveTo>
                  <a:lnTo>
                    <a:pt x="75920" y="0"/>
                  </a:lnTo>
                </a:path>
              </a:pathLst>
            </a:custGeom>
            <a:ln w="5054">
              <a:solidFill>
                <a:srgbClr val="3333B2"/>
              </a:solidFill>
            </a:ln>
          </p:spPr>
          <p:txBody>
            <a:bodyPr wrap="square" lIns="0" tIns="0" rIns="0" bIns="0" rtlCol="0"/>
            <a:lstStyle/>
            <a:p>
              <a:endParaRPr/>
            </a:p>
          </p:txBody>
        </p:sp>
        <p:sp>
          <p:nvSpPr>
            <p:cNvPr id="49" name="object 49"/>
            <p:cNvSpPr/>
            <p:nvPr/>
          </p:nvSpPr>
          <p:spPr>
            <a:xfrm>
              <a:off x="4419282" y="3016732"/>
              <a:ext cx="0" cy="85725"/>
            </a:xfrm>
            <a:custGeom>
              <a:avLst/>
              <a:gdLst/>
              <a:ahLst/>
              <a:cxnLst/>
              <a:rect l="l" t="t" r="r" b="b"/>
              <a:pathLst>
                <a:path h="85725">
                  <a:moveTo>
                    <a:pt x="0" y="85407"/>
                  </a:moveTo>
                  <a:lnTo>
                    <a:pt x="0" y="0"/>
                  </a:lnTo>
                </a:path>
              </a:pathLst>
            </a:custGeom>
            <a:ln w="5054">
              <a:solidFill>
                <a:srgbClr val="3333B2"/>
              </a:solidFill>
            </a:ln>
          </p:spPr>
          <p:txBody>
            <a:bodyPr wrap="square" lIns="0" tIns="0" rIns="0" bIns="0" rtlCol="0"/>
            <a:lstStyle/>
            <a:p>
              <a:endParaRPr/>
            </a:p>
          </p:txBody>
        </p:sp>
      </p:gr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44" y="638158"/>
            <a:ext cx="514984" cy="177800"/>
          </a:xfrm>
          <a:prstGeom prst="rect">
            <a:avLst/>
          </a:prstGeom>
        </p:spPr>
        <p:txBody>
          <a:bodyPr vert="horz" wrap="square" lIns="0" tIns="12065" rIns="0" bIns="0" rtlCol="0">
            <a:spAutoFit/>
          </a:bodyPr>
          <a:lstStyle/>
          <a:p>
            <a:pPr marL="12700" marR="5080" indent="112395">
              <a:lnSpc>
                <a:spcPct val="100000"/>
              </a:lnSpc>
              <a:spcBef>
                <a:spcPts val="95"/>
              </a:spcBef>
            </a:pPr>
            <a:r>
              <a:rPr sz="500" spc="-5" dirty="0">
                <a:solidFill>
                  <a:srgbClr val="FFFFFF"/>
                </a:solidFill>
                <a:latin typeface="Microsoft Sans Serif"/>
                <a:cs typeface="Microsoft Sans Serif"/>
                <a:hlinkClick r:id="rId2" action="ppaction://hlinksldjump"/>
              </a:rPr>
              <a:t>Lecture</a:t>
            </a:r>
            <a:r>
              <a:rPr sz="500" spc="20"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1 </a:t>
            </a:r>
            <a:r>
              <a:rPr sz="500" spc="-10" dirty="0">
                <a:solidFill>
                  <a:srgbClr val="FFFFFF"/>
                </a:solidFill>
                <a:latin typeface="Microsoft Sans Serif"/>
                <a:cs typeface="Microsoft Sans Serif"/>
                <a:hlinkClick r:id="rId2" action="ppaction://hlinksldjump"/>
              </a:rPr>
              <a:t> Naive</a:t>
            </a:r>
            <a:r>
              <a:rPr sz="500" spc="5" dirty="0">
                <a:solidFill>
                  <a:srgbClr val="FFFFFF"/>
                </a:solidFill>
                <a:latin typeface="Microsoft Sans Serif"/>
                <a:cs typeface="Microsoft Sans Serif"/>
                <a:hlinkClick r:id="rId2" action="ppaction://hlinksldjump"/>
              </a:rPr>
              <a:t> </a:t>
            </a:r>
            <a:r>
              <a:rPr sz="500" spc="-15" dirty="0">
                <a:solidFill>
                  <a:srgbClr val="FFFFFF"/>
                </a:solidFill>
                <a:latin typeface="Microsoft Sans Serif"/>
                <a:cs typeface="Microsoft Sans Serif"/>
                <a:hlinkClick r:id="rId2" action="ppaction://hlinksldjump"/>
              </a:rPr>
              <a:t>Set</a:t>
            </a:r>
            <a:r>
              <a:rPr sz="500" spc="10" dirty="0">
                <a:solidFill>
                  <a:srgbClr val="FFFFFF"/>
                </a:solidFill>
                <a:latin typeface="Microsoft Sans Serif"/>
                <a:cs typeface="Microsoft Sans Serif"/>
                <a:hlinkClick r:id="rId2" action="ppaction://hlinksldjump"/>
              </a:rPr>
              <a:t> </a:t>
            </a:r>
            <a:r>
              <a:rPr sz="500" spc="-5" dirty="0">
                <a:solidFill>
                  <a:srgbClr val="FFFFFF"/>
                </a:solidFill>
                <a:latin typeface="Microsoft Sans Serif"/>
                <a:cs typeface="Microsoft Sans Serif"/>
                <a:hlinkClick r:id="rId2" action="ppaction://hlinksldjump"/>
              </a:rPr>
              <a:t>Theory</a:t>
            </a:r>
            <a:endParaRPr sz="500">
              <a:latin typeface="Microsoft Sans Serif"/>
              <a:cs typeface="Microsoft Sans Serif"/>
            </a:endParaRPr>
          </a:p>
        </p:txBody>
      </p:sp>
      <p:sp>
        <p:nvSpPr>
          <p:cNvPr id="3" name="object 3"/>
          <p:cNvSpPr txBox="1"/>
          <p:nvPr/>
        </p:nvSpPr>
        <p:spPr>
          <a:xfrm>
            <a:off x="25260" y="998457"/>
            <a:ext cx="489584" cy="528955"/>
          </a:xfrm>
          <a:prstGeom prst="rect">
            <a:avLst/>
          </a:prstGeom>
        </p:spPr>
        <p:txBody>
          <a:bodyPr vert="horz" wrap="square" lIns="0" tIns="12065" rIns="0" bIns="0" rtlCol="0">
            <a:spAutoFit/>
          </a:bodyPr>
          <a:lstStyle/>
          <a:p>
            <a:pPr marL="12700">
              <a:lnSpc>
                <a:spcPct val="100000"/>
              </a:lnSpc>
              <a:spcBef>
                <a:spcPts val="95"/>
              </a:spcBef>
            </a:pPr>
            <a:r>
              <a:rPr sz="500" spc="-20" dirty="0">
                <a:solidFill>
                  <a:srgbClr val="8484D1"/>
                </a:solidFill>
                <a:latin typeface="Microsoft Sans Serif"/>
                <a:cs typeface="Microsoft Sans Serif"/>
                <a:hlinkClick r:id="rId3" action="ppaction://hlinksldjump"/>
              </a:rPr>
              <a:t>Sets</a:t>
            </a:r>
            <a:endParaRPr sz="500">
              <a:latin typeface="Microsoft Sans Serif"/>
              <a:cs typeface="Microsoft Sans Serif"/>
            </a:endParaRPr>
          </a:p>
          <a:p>
            <a:pPr>
              <a:lnSpc>
                <a:spcPct val="100000"/>
              </a:lnSpc>
              <a:spcBef>
                <a:spcPts val="35"/>
              </a:spcBef>
            </a:pPr>
            <a:endParaRPr sz="400">
              <a:latin typeface="Microsoft Sans Serif"/>
              <a:cs typeface="Microsoft Sans Serif"/>
            </a:endParaRPr>
          </a:p>
          <a:p>
            <a:pPr marL="12700" marR="5080">
              <a:lnSpc>
                <a:spcPct val="100000"/>
              </a:lnSpc>
            </a:pPr>
            <a:r>
              <a:rPr sz="500" spc="-5" dirty="0">
                <a:solidFill>
                  <a:srgbClr val="8484D1"/>
                </a:solidFill>
                <a:latin typeface="Microsoft Sans Serif"/>
                <a:cs typeface="Microsoft Sans Serif"/>
                <a:hlinkClick r:id="rId4" action="ppaction://hlinksldjump"/>
              </a:rPr>
              <a:t>Properties</a:t>
            </a:r>
            <a:r>
              <a:rPr sz="500" dirty="0">
                <a:solidFill>
                  <a:srgbClr val="8484D1"/>
                </a:solidFill>
                <a:latin typeface="Microsoft Sans Serif"/>
                <a:cs typeface="Microsoft Sans Serif"/>
                <a:hlinkClick r:id="rId4" action="ppaction://hlinksldjump"/>
              </a:rPr>
              <a:t> of</a:t>
            </a:r>
            <a:r>
              <a:rPr sz="500" spc="5" dirty="0">
                <a:solidFill>
                  <a:srgbClr val="8484D1"/>
                </a:solidFill>
                <a:latin typeface="Microsoft Sans Serif"/>
                <a:cs typeface="Microsoft Sans Serif"/>
                <a:hlinkClick r:id="rId4" action="ppaction://hlinksldjump"/>
              </a:rPr>
              <a:t> </a:t>
            </a:r>
            <a:r>
              <a:rPr sz="500" spc="-15" dirty="0">
                <a:solidFill>
                  <a:srgbClr val="8484D1"/>
                </a:solidFill>
                <a:latin typeface="Microsoft Sans Serif"/>
                <a:cs typeface="Microsoft Sans Serif"/>
                <a:hlinkClick r:id="rId4" action="ppaction://hlinksldjump"/>
              </a:rPr>
              <a:t>set </a:t>
            </a:r>
            <a:r>
              <a:rPr sz="500" spc="-120" dirty="0">
                <a:solidFill>
                  <a:srgbClr val="8484D1"/>
                </a:solidFill>
                <a:latin typeface="Microsoft Sans Serif"/>
                <a:cs typeface="Microsoft Sans Serif"/>
                <a:hlinkClick r:id="rId4" action="ppaction://hlinksldjump"/>
              </a:rPr>
              <a:t> </a:t>
            </a:r>
            <a:r>
              <a:rPr sz="500" spc="-10" dirty="0">
                <a:solidFill>
                  <a:srgbClr val="8484D1"/>
                </a:solidFill>
                <a:latin typeface="Microsoft Sans Serif"/>
                <a:cs typeface="Microsoft Sans Serif"/>
                <a:hlinkClick r:id="rId4" action="ppaction://hlinksldjump"/>
              </a:rPr>
              <a:t>operations</a:t>
            </a:r>
            <a:endParaRPr sz="500">
              <a:latin typeface="Microsoft Sans Serif"/>
              <a:cs typeface="Microsoft Sans Serif"/>
            </a:endParaRPr>
          </a:p>
          <a:p>
            <a:pPr>
              <a:lnSpc>
                <a:spcPct val="100000"/>
              </a:lnSpc>
              <a:spcBef>
                <a:spcPts val="30"/>
              </a:spcBef>
            </a:pPr>
            <a:endParaRPr sz="400">
              <a:latin typeface="Microsoft Sans Serif"/>
              <a:cs typeface="Microsoft Sans Serif"/>
            </a:endParaRPr>
          </a:p>
          <a:p>
            <a:pPr marL="12700" marR="208915">
              <a:lnSpc>
                <a:spcPct val="100000"/>
              </a:lnSpc>
            </a:pPr>
            <a:r>
              <a:rPr sz="500" spc="-35" dirty="0">
                <a:solidFill>
                  <a:srgbClr val="8484D1"/>
                </a:solidFill>
                <a:latin typeface="Microsoft Sans Serif"/>
                <a:cs typeface="Microsoft Sans Serif"/>
                <a:hlinkClick r:id="rId5" action="ppaction://hlinksldjump"/>
              </a:rPr>
              <a:t>C</a:t>
            </a:r>
            <a:r>
              <a:rPr sz="500" spc="-40" dirty="0">
                <a:solidFill>
                  <a:srgbClr val="8484D1"/>
                </a:solidFill>
                <a:latin typeface="Microsoft Sans Serif"/>
                <a:cs typeface="Microsoft Sans Serif"/>
                <a:hlinkClick r:id="rId5" action="ppaction://hlinksldjump"/>
              </a:rPr>
              <a:t>a</a:t>
            </a:r>
            <a:r>
              <a:rPr sz="500" spc="-10" dirty="0">
                <a:solidFill>
                  <a:srgbClr val="8484D1"/>
                </a:solidFill>
                <a:latin typeface="Microsoft Sans Serif"/>
                <a:cs typeface="Microsoft Sans Serif"/>
                <a:hlinkClick r:id="rId5" action="ppaction://hlinksldjump"/>
              </a:rPr>
              <a:t>rtesian  </a:t>
            </a:r>
            <a:r>
              <a:rPr sz="500" dirty="0">
                <a:solidFill>
                  <a:srgbClr val="8484D1"/>
                </a:solidFill>
                <a:latin typeface="Microsoft Sans Serif"/>
                <a:cs typeface="Microsoft Sans Serif"/>
                <a:hlinkClick r:id="rId5" action="ppaction://hlinksldjump"/>
              </a:rPr>
              <a:t>Pr</a:t>
            </a:r>
            <a:r>
              <a:rPr sz="500" spc="10" dirty="0">
                <a:solidFill>
                  <a:srgbClr val="8484D1"/>
                </a:solidFill>
                <a:latin typeface="Microsoft Sans Serif"/>
                <a:cs typeface="Microsoft Sans Serif"/>
                <a:hlinkClick r:id="rId5" action="ppaction://hlinksldjump"/>
              </a:rPr>
              <a:t>o</a:t>
            </a:r>
            <a:r>
              <a:rPr sz="500" spc="-5" dirty="0">
                <a:solidFill>
                  <a:srgbClr val="8484D1"/>
                </a:solidFill>
                <a:latin typeface="Microsoft Sans Serif"/>
                <a:cs typeface="Microsoft Sans Serif"/>
                <a:hlinkClick r:id="rId5" action="ppaction://hlinksldjump"/>
              </a:rPr>
              <a:t>ducts</a:t>
            </a:r>
            <a:endParaRPr sz="500">
              <a:latin typeface="Microsoft Sans Serif"/>
              <a:cs typeface="Microsoft Sans Serif"/>
            </a:endParaRPr>
          </a:p>
        </p:txBody>
      </p:sp>
      <p:sp>
        <p:nvSpPr>
          <p:cNvPr id="4" name="object 4"/>
          <p:cNvSpPr txBox="1"/>
          <p:nvPr/>
        </p:nvSpPr>
        <p:spPr>
          <a:xfrm>
            <a:off x="25260" y="1563594"/>
            <a:ext cx="29591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Microsoft Sans Serif"/>
                <a:cs typeface="Microsoft Sans Serif"/>
                <a:hlinkClick r:id="rId6" action="ppaction://hlinksldjump"/>
              </a:rPr>
              <a:t>Mappings</a:t>
            </a:r>
            <a:endParaRPr sz="500">
              <a:latin typeface="Microsoft Sans Serif"/>
              <a:cs typeface="Microsoft Sans Serif"/>
            </a:endParaRPr>
          </a:p>
        </p:txBody>
      </p:sp>
      <p:sp>
        <p:nvSpPr>
          <p:cNvPr id="5" name="object 5"/>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7" name="object 7"/>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8" name="object 8"/>
          <p:cNvGrpSpPr/>
          <p:nvPr/>
        </p:nvGrpSpPr>
        <p:grpSpPr>
          <a:xfrm>
            <a:off x="3260445" y="3358384"/>
            <a:ext cx="203200" cy="55880"/>
            <a:chOff x="3260445" y="3358384"/>
            <a:chExt cx="203200" cy="55880"/>
          </a:xfrm>
        </p:grpSpPr>
        <p:sp>
          <p:nvSpPr>
            <p:cNvPr id="9" name="object 9"/>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10" name="object 10"/>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1" name="object 11"/>
          <p:cNvGrpSpPr/>
          <p:nvPr/>
        </p:nvGrpSpPr>
        <p:grpSpPr>
          <a:xfrm>
            <a:off x="3531425" y="3357119"/>
            <a:ext cx="203200" cy="58419"/>
            <a:chOff x="3531425" y="3357119"/>
            <a:chExt cx="203200" cy="58419"/>
          </a:xfrm>
        </p:grpSpPr>
        <p:sp>
          <p:nvSpPr>
            <p:cNvPr id="12" name="object 12"/>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3" name="object 13"/>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4" name="object 14"/>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5" name="object 15"/>
          <p:cNvGrpSpPr/>
          <p:nvPr/>
        </p:nvGrpSpPr>
        <p:grpSpPr>
          <a:xfrm>
            <a:off x="3802393" y="3357119"/>
            <a:ext cx="203200" cy="58419"/>
            <a:chOff x="3802393" y="3357119"/>
            <a:chExt cx="203200" cy="58419"/>
          </a:xfrm>
        </p:grpSpPr>
        <p:sp>
          <p:nvSpPr>
            <p:cNvPr id="16" name="object 16"/>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7" name="object 17"/>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8" name="object 18"/>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9" name="object 19"/>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20" name="object 20"/>
          <p:cNvGrpSpPr/>
          <p:nvPr/>
        </p:nvGrpSpPr>
        <p:grpSpPr>
          <a:xfrm>
            <a:off x="4326582" y="3358384"/>
            <a:ext cx="238760" cy="57150"/>
            <a:chOff x="4326582" y="3358384"/>
            <a:chExt cx="238760" cy="57150"/>
          </a:xfrm>
        </p:grpSpPr>
        <p:sp>
          <p:nvSpPr>
            <p:cNvPr id="21" name="object 21"/>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2" name="object 22"/>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3" name="object 23"/>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grpSp>
        <p:nvGrpSpPr>
          <p:cNvPr id="24" name="object 24"/>
          <p:cNvGrpSpPr/>
          <p:nvPr/>
        </p:nvGrpSpPr>
        <p:grpSpPr>
          <a:xfrm>
            <a:off x="0" y="0"/>
            <a:ext cx="4608195" cy="569595"/>
            <a:chOff x="0" y="0"/>
            <a:chExt cx="4608195" cy="569595"/>
          </a:xfrm>
        </p:grpSpPr>
        <p:sp>
          <p:nvSpPr>
            <p:cNvPr id="25" name="object 25"/>
            <p:cNvSpPr/>
            <p:nvPr/>
          </p:nvSpPr>
          <p:spPr>
            <a:xfrm>
              <a:off x="569366" y="0"/>
              <a:ext cx="4039235" cy="569595"/>
            </a:xfrm>
            <a:custGeom>
              <a:avLst/>
              <a:gdLst/>
              <a:ahLst/>
              <a:cxnLst/>
              <a:rect l="l" t="t" r="r" b="b"/>
              <a:pathLst>
                <a:path w="4039235" h="569595">
                  <a:moveTo>
                    <a:pt x="0" y="569366"/>
                  </a:moveTo>
                  <a:lnTo>
                    <a:pt x="4038638" y="569366"/>
                  </a:lnTo>
                  <a:lnTo>
                    <a:pt x="4038638" y="0"/>
                  </a:lnTo>
                  <a:lnTo>
                    <a:pt x="0" y="0"/>
                  </a:lnTo>
                  <a:lnTo>
                    <a:pt x="0" y="569366"/>
                  </a:lnTo>
                  <a:close/>
                </a:path>
              </a:pathLst>
            </a:custGeom>
            <a:solidFill>
              <a:srgbClr val="3333B2"/>
            </a:solidFill>
          </p:spPr>
          <p:txBody>
            <a:bodyPr wrap="square" lIns="0" tIns="0" rIns="0" bIns="0" rtlCol="0"/>
            <a:lstStyle/>
            <a:p>
              <a:endParaRPr/>
            </a:p>
          </p:txBody>
        </p:sp>
        <p:sp>
          <p:nvSpPr>
            <p:cNvPr id="26" name="object 26"/>
            <p:cNvSpPr/>
            <p:nvPr/>
          </p:nvSpPr>
          <p:spPr>
            <a:xfrm>
              <a:off x="0" y="0"/>
              <a:ext cx="569595" cy="569595"/>
            </a:xfrm>
            <a:custGeom>
              <a:avLst/>
              <a:gdLst/>
              <a:ahLst/>
              <a:cxnLst/>
              <a:rect l="l" t="t" r="r" b="b"/>
              <a:pathLst>
                <a:path w="569595" h="569595">
                  <a:moveTo>
                    <a:pt x="569366" y="0"/>
                  </a:moveTo>
                  <a:lnTo>
                    <a:pt x="0" y="0"/>
                  </a:lnTo>
                  <a:lnTo>
                    <a:pt x="0" y="569366"/>
                  </a:lnTo>
                  <a:lnTo>
                    <a:pt x="569366" y="569366"/>
                  </a:lnTo>
                  <a:lnTo>
                    <a:pt x="569366" y="0"/>
                  </a:lnTo>
                  <a:close/>
                </a:path>
              </a:pathLst>
            </a:custGeom>
            <a:solidFill>
              <a:srgbClr val="262685"/>
            </a:solidFill>
          </p:spPr>
          <p:txBody>
            <a:bodyPr wrap="square" lIns="0" tIns="0" rIns="0" bIns="0" rtlCol="0"/>
            <a:lstStyle/>
            <a:p>
              <a:endParaRPr/>
            </a:p>
          </p:txBody>
        </p:sp>
      </p:grpSp>
      <p:sp>
        <p:nvSpPr>
          <p:cNvPr id="27" name="object 27"/>
          <p:cNvSpPr txBox="1">
            <a:spLocks noGrp="1"/>
          </p:cNvSpPr>
          <p:nvPr>
            <p:ph type="title"/>
          </p:nvPr>
        </p:nvSpPr>
        <p:spPr>
          <a:xfrm>
            <a:off x="664667" y="144815"/>
            <a:ext cx="1071880" cy="244475"/>
          </a:xfrm>
          <a:prstGeom prst="rect">
            <a:avLst/>
          </a:prstGeom>
        </p:spPr>
        <p:txBody>
          <a:bodyPr vert="horz" wrap="square" lIns="0" tIns="17145" rIns="0" bIns="0" rtlCol="0">
            <a:spAutoFit/>
          </a:bodyPr>
          <a:lstStyle/>
          <a:p>
            <a:pPr marL="12700">
              <a:lnSpc>
                <a:spcPct val="100000"/>
              </a:lnSpc>
              <a:spcBef>
                <a:spcPts val="135"/>
              </a:spcBef>
            </a:pPr>
            <a:r>
              <a:rPr spc="-15" dirty="0"/>
              <a:t>Image</a:t>
            </a:r>
            <a:r>
              <a:rPr spc="105" dirty="0"/>
              <a:t> </a:t>
            </a:r>
            <a:r>
              <a:rPr spc="-30" dirty="0"/>
              <a:t>of</a:t>
            </a:r>
            <a:r>
              <a:rPr spc="105" dirty="0"/>
              <a:t> </a:t>
            </a:r>
            <a:r>
              <a:rPr spc="-40" dirty="0"/>
              <a:t>set</a:t>
            </a:r>
          </a:p>
        </p:txBody>
      </p:sp>
      <p:sp>
        <p:nvSpPr>
          <p:cNvPr id="28" name="object 28"/>
          <p:cNvSpPr/>
          <p:nvPr/>
        </p:nvSpPr>
        <p:spPr>
          <a:xfrm>
            <a:off x="698562" y="1397050"/>
            <a:ext cx="3780790" cy="170815"/>
          </a:xfrm>
          <a:custGeom>
            <a:avLst/>
            <a:gdLst/>
            <a:ahLst/>
            <a:cxnLst/>
            <a:rect l="l" t="t" r="r" b="b"/>
            <a:pathLst>
              <a:path w="3780790" h="170815">
                <a:moveTo>
                  <a:pt x="3729484" y="0"/>
                </a:moveTo>
                <a:lnTo>
                  <a:pt x="50800" y="0"/>
                </a:lnTo>
                <a:lnTo>
                  <a:pt x="31075" y="4008"/>
                </a:lnTo>
                <a:lnTo>
                  <a:pt x="14922" y="14922"/>
                </a:lnTo>
                <a:lnTo>
                  <a:pt x="4008" y="31075"/>
                </a:lnTo>
                <a:lnTo>
                  <a:pt x="0" y="50800"/>
                </a:lnTo>
                <a:lnTo>
                  <a:pt x="0" y="170250"/>
                </a:lnTo>
                <a:lnTo>
                  <a:pt x="3780285" y="170250"/>
                </a:lnTo>
                <a:lnTo>
                  <a:pt x="3780285" y="50800"/>
                </a:lnTo>
                <a:lnTo>
                  <a:pt x="3776276" y="31075"/>
                </a:lnTo>
                <a:lnTo>
                  <a:pt x="3765362" y="14922"/>
                </a:lnTo>
                <a:lnTo>
                  <a:pt x="3749209" y="4008"/>
                </a:lnTo>
                <a:lnTo>
                  <a:pt x="3729484" y="0"/>
                </a:lnTo>
                <a:close/>
              </a:path>
            </a:pathLst>
          </a:custGeom>
          <a:solidFill>
            <a:srgbClr val="262685"/>
          </a:solidFill>
        </p:spPr>
        <p:txBody>
          <a:bodyPr wrap="square" lIns="0" tIns="0" rIns="0" bIns="0" rtlCol="0"/>
          <a:lstStyle/>
          <a:p>
            <a:endParaRPr/>
          </a:p>
        </p:txBody>
      </p:sp>
      <p:sp>
        <p:nvSpPr>
          <p:cNvPr id="29" name="object 29"/>
          <p:cNvSpPr txBox="1"/>
          <p:nvPr/>
        </p:nvSpPr>
        <p:spPr>
          <a:xfrm>
            <a:off x="749363" y="1426989"/>
            <a:ext cx="515620" cy="128270"/>
          </a:xfrm>
          <a:prstGeom prst="rect">
            <a:avLst/>
          </a:prstGeom>
        </p:spPr>
        <p:txBody>
          <a:bodyPr vert="horz" wrap="square" lIns="0" tIns="0" rIns="0" bIns="0" rtlCol="0">
            <a:spAutoFit/>
          </a:bodyPr>
          <a:lstStyle/>
          <a:p>
            <a:pPr>
              <a:lnSpc>
                <a:spcPts val="955"/>
              </a:lnSpc>
            </a:pPr>
            <a:r>
              <a:rPr sz="1000" spc="-15" dirty="0">
                <a:solidFill>
                  <a:srgbClr val="FFFFFF"/>
                </a:solidFill>
                <a:latin typeface="Tahoma"/>
                <a:cs typeface="Tahoma"/>
              </a:rPr>
              <a:t>Definition</a:t>
            </a:r>
            <a:endParaRPr sz="1000">
              <a:latin typeface="Tahoma"/>
              <a:cs typeface="Tahoma"/>
            </a:endParaRPr>
          </a:p>
        </p:txBody>
      </p:sp>
      <p:grpSp>
        <p:nvGrpSpPr>
          <p:cNvPr id="30" name="object 30"/>
          <p:cNvGrpSpPr/>
          <p:nvPr/>
        </p:nvGrpSpPr>
        <p:grpSpPr>
          <a:xfrm>
            <a:off x="698562" y="1453983"/>
            <a:ext cx="3831590" cy="909955"/>
            <a:chOff x="698562" y="1453983"/>
            <a:chExt cx="3831590" cy="909955"/>
          </a:xfrm>
        </p:grpSpPr>
        <p:pic>
          <p:nvPicPr>
            <p:cNvPr id="31" name="object 31"/>
            <p:cNvPicPr/>
            <p:nvPr/>
          </p:nvPicPr>
          <p:blipFill>
            <a:blip r:embed="rId7" cstate="print"/>
            <a:stretch>
              <a:fillRect/>
            </a:stretch>
          </p:blipFill>
          <p:spPr>
            <a:xfrm>
              <a:off x="698563" y="1554657"/>
              <a:ext cx="3780284" cy="50609"/>
            </a:xfrm>
            <a:prstGeom prst="rect">
              <a:avLst/>
            </a:prstGeom>
          </p:spPr>
        </p:pic>
        <p:sp>
          <p:nvSpPr>
            <p:cNvPr id="32" name="object 32"/>
            <p:cNvSpPr/>
            <p:nvPr/>
          </p:nvSpPr>
          <p:spPr>
            <a:xfrm>
              <a:off x="749363" y="1453983"/>
              <a:ext cx="3780790" cy="909955"/>
            </a:xfrm>
            <a:custGeom>
              <a:avLst/>
              <a:gdLst/>
              <a:ahLst/>
              <a:cxnLst/>
              <a:rect l="l" t="t" r="r" b="b"/>
              <a:pathLst>
                <a:path w="3780790" h="909955">
                  <a:moveTo>
                    <a:pt x="3780285" y="0"/>
                  </a:moveTo>
                  <a:lnTo>
                    <a:pt x="0" y="0"/>
                  </a:lnTo>
                  <a:lnTo>
                    <a:pt x="0" y="909361"/>
                  </a:lnTo>
                  <a:lnTo>
                    <a:pt x="3780285" y="909361"/>
                  </a:lnTo>
                  <a:lnTo>
                    <a:pt x="3780285" y="0"/>
                  </a:lnTo>
                  <a:close/>
                </a:path>
              </a:pathLst>
            </a:custGeom>
            <a:solidFill>
              <a:srgbClr val="000000"/>
            </a:solidFill>
          </p:spPr>
          <p:txBody>
            <a:bodyPr wrap="square" lIns="0" tIns="0" rIns="0" bIns="0" rtlCol="0"/>
            <a:lstStyle/>
            <a:p>
              <a:endParaRPr/>
            </a:p>
          </p:txBody>
        </p:sp>
        <p:sp>
          <p:nvSpPr>
            <p:cNvPr id="33" name="object 33"/>
            <p:cNvSpPr/>
            <p:nvPr/>
          </p:nvSpPr>
          <p:spPr>
            <a:xfrm>
              <a:off x="698562" y="1598928"/>
              <a:ext cx="3780790" cy="713740"/>
            </a:xfrm>
            <a:custGeom>
              <a:avLst/>
              <a:gdLst/>
              <a:ahLst/>
              <a:cxnLst/>
              <a:rect l="l" t="t" r="r" b="b"/>
              <a:pathLst>
                <a:path w="3780790" h="713739">
                  <a:moveTo>
                    <a:pt x="3780285" y="0"/>
                  </a:moveTo>
                  <a:lnTo>
                    <a:pt x="0" y="0"/>
                  </a:lnTo>
                  <a:lnTo>
                    <a:pt x="0" y="662814"/>
                  </a:lnTo>
                  <a:lnTo>
                    <a:pt x="4008" y="682539"/>
                  </a:lnTo>
                  <a:lnTo>
                    <a:pt x="14922" y="698692"/>
                  </a:lnTo>
                  <a:lnTo>
                    <a:pt x="31075" y="709606"/>
                  </a:lnTo>
                  <a:lnTo>
                    <a:pt x="50800" y="713614"/>
                  </a:lnTo>
                  <a:lnTo>
                    <a:pt x="3729484" y="713614"/>
                  </a:lnTo>
                  <a:lnTo>
                    <a:pt x="3749209" y="709606"/>
                  </a:lnTo>
                  <a:lnTo>
                    <a:pt x="3765362" y="698692"/>
                  </a:lnTo>
                  <a:lnTo>
                    <a:pt x="3776276" y="682539"/>
                  </a:lnTo>
                  <a:lnTo>
                    <a:pt x="3780285" y="662814"/>
                  </a:lnTo>
                  <a:lnTo>
                    <a:pt x="3780285" y="0"/>
                  </a:lnTo>
                  <a:close/>
                </a:path>
              </a:pathLst>
            </a:custGeom>
            <a:solidFill>
              <a:srgbClr val="E9E9F2"/>
            </a:solidFill>
          </p:spPr>
          <p:txBody>
            <a:bodyPr wrap="square" lIns="0" tIns="0" rIns="0" bIns="0" rtlCol="0"/>
            <a:lstStyle/>
            <a:p>
              <a:endParaRPr/>
            </a:p>
          </p:txBody>
        </p:sp>
      </p:grpSp>
      <p:sp>
        <p:nvSpPr>
          <p:cNvPr id="34" name="object 34"/>
          <p:cNvSpPr txBox="1"/>
          <p:nvPr/>
        </p:nvSpPr>
        <p:spPr>
          <a:xfrm>
            <a:off x="749363" y="1572887"/>
            <a:ext cx="3648075" cy="177800"/>
          </a:xfrm>
          <a:prstGeom prst="rect">
            <a:avLst/>
          </a:prstGeom>
        </p:spPr>
        <p:txBody>
          <a:bodyPr vert="horz" wrap="square" lIns="0" tIns="12065" rIns="0" bIns="0" rtlCol="0">
            <a:spAutoFit/>
          </a:bodyPr>
          <a:lstStyle/>
          <a:p>
            <a:pPr>
              <a:lnSpc>
                <a:spcPct val="100000"/>
              </a:lnSpc>
              <a:spcBef>
                <a:spcPts val="95"/>
              </a:spcBef>
            </a:pPr>
            <a:r>
              <a:rPr sz="1000" spc="-5" dirty="0">
                <a:latin typeface="Tahoma"/>
                <a:cs typeface="Tahoma"/>
              </a:rPr>
              <a:t>Let’s</a:t>
            </a:r>
            <a:r>
              <a:rPr sz="1000" spc="20" dirty="0">
                <a:latin typeface="Tahoma"/>
                <a:cs typeface="Tahoma"/>
              </a:rPr>
              <a:t> </a:t>
            </a:r>
            <a:r>
              <a:rPr sz="1000" spc="-40" dirty="0">
                <a:latin typeface="Tahoma"/>
                <a:cs typeface="Tahoma"/>
              </a:rPr>
              <a:t>consider</a:t>
            </a:r>
            <a:r>
              <a:rPr sz="1000" spc="20" dirty="0">
                <a:latin typeface="Tahoma"/>
                <a:cs typeface="Tahoma"/>
              </a:rPr>
              <a:t> </a:t>
            </a:r>
            <a:r>
              <a:rPr sz="1000" spc="-50" dirty="0">
                <a:latin typeface="Tahoma"/>
                <a:cs typeface="Tahoma"/>
              </a:rPr>
              <a:t>a</a:t>
            </a:r>
            <a:r>
              <a:rPr sz="1000" spc="15" dirty="0">
                <a:latin typeface="Tahoma"/>
                <a:cs typeface="Tahoma"/>
              </a:rPr>
              <a:t> </a:t>
            </a:r>
            <a:r>
              <a:rPr sz="1000" spc="-40" dirty="0">
                <a:latin typeface="Tahoma"/>
                <a:cs typeface="Tahoma"/>
              </a:rPr>
              <a:t>mapping</a:t>
            </a:r>
            <a:r>
              <a:rPr sz="1000" spc="20" dirty="0">
                <a:latin typeface="Tahoma"/>
                <a:cs typeface="Tahoma"/>
              </a:rPr>
              <a:t> </a:t>
            </a:r>
            <a:r>
              <a:rPr sz="1000" i="1" spc="25" dirty="0">
                <a:latin typeface="Arial"/>
                <a:cs typeface="Arial"/>
              </a:rPr>
              <a:t>f</a:t>
            </a:r>
            <a:r>
              <a:rPr sz="1000" i="1" spc="215" dirty="0">
                <a:latin typeface="Arial"/>
                <a:cs typeface="Arial"/>
              </a:rPr>
              <a:t> </a:t>
            </a:r>
            <a:r>
              <a:rPr sz="1000" spc="-80" dirty="0">
                <a:latin typeface="Tahoma"/>
                <a:cs typeface="Tahoma"/>
              </a:rPr>
              <a:t>:</a:t>
            </a:r>
            <a:r>
              <a:rPr sz="1000" spc="-35" dirty="0">
                <a:latin typeface="Tahoma"/>
                <a:cs typeface="Tahoma"/>
              </a:rPr>
              <a:t> </a:t>
            </a:r>
            <a:r>
              <a:rPr sz="1000" i="1" spc="-5" dirty="0">
                <a:latin typeface="Arial"/>
                <a:cs typeface="Arial"/>
              </a:rPr>
              <a:t>A</a:t>
            </a:r>
            <a:r>
              <a:rPr sz="1000" i="1" dirty="0">
                <a:latin typeface="Arial"/>
                <a:cs typeface="Arial"/>
              </a:rPr>
              <a:t> </a:t>
            </a:r>
            <a:r>
              <a:rPr sz="1000" spc="55" dirty="0">
                <a:latin typeface="Lucida Sans Unicode"/>
                <a:cs typeface="Lucida Sans Unicode"/>
              </a:rPr>
              <a:t>→</a:t>
            </a:r>
            <a:r>
              <a:rPr sz="1000" spc="-40" dirty="0">
                <a:latin typeface="Lucida Sans Unicode"/>
                <a:cs typeface="Lucida Sans Unicode"/>
              </a:rPr>
              <a:t> </a:t>
            </a:r>
            <a:r>
              <a:rPr sz="1000" i="1" spc="20" dirty="0">
                <a:latin typeface="Arial"/>
                <a:cs typeface="Arial"/>
              </a:rPr>
              <a:t>B</a:t>
            </a:r>
            <a:r>
              <a:rPr sz="1000" spc="20" dirty="0">
                <a:latin typeface="Tahoma"/>
                <a:cs typeface="Tahoma"/>
              </a:rPr>
              <a:t>.</a:t>
            </a:r>
            <a:r>
              <a:rPr sz="1000" spc="130" dirty="0">
                <a:latin typeface="Tahoma"/>
                <a:cs typeface="Tahoma"/>
              </a:rPr>
              <a:t> </a:t>
            </a:r>
            <a:r>
              <a:rPr sz="1000" spc="-20" dirty="0">
                <a:latin typeface="Tahoma"/>
                <a:cs typeface="Tahoma"/>
              </a:rPr>
              <a:t>Then</a:t>
            </a:r>
            <a:r>
              <a:rPr sz="1000" spc="20" dirty="0">
                <a:latin typeface="Tahoma"/>
                <a:cs typeface="Tahoma"/>
              </a:rPr>
              <a:t> </a:t>
            </a:r>
            <a:r>
              <a:rPr sz="1000" spc="-40" dirty="0">
                <a:latin typeface="Tahoma"/>
                <a:cs typeface="Tahoma"/>
              </a:rPr>
              <a:t>for</a:t>
            </a:r>
            <a:r>
              <a:rPr sz="1000" spc="20" dirty="0">
                <a:latin typeface="Tahoma"/>
                <a:cs typeface="Tahoma"/>
              </a:rPr>
              <a:t> </a:t>
            </a:r>
            <a:r>
              <a:rPr sz="1000" spc="-45" dirty="0">
                <a:latin typeface="Tahoma"/>
                <a:cs typeface="Tahoma"/>
              </a:rPr>
              <a:t>any</a:t>
            </a:r>
            <a:r>
              <a:rPr sz="1000" spc="20" dirty="0">
                <a:latin typeface="Tahoma"/>
                <a:cs typeface="Tahoma"/>
              </a:rPr>
              <a:t> </a:t>
            </a:r>
            <a:r>
              <a:rPr sz="1000" spc="-50" dirty="0">
                <a:latin typeface="Tahoma"/>
                <a:cs typeface="Tahoma"/>
              </a:rPr>
              <a:t>subset</a:t>
            </a:r>
            <a:r>
              <a:rPr sz="1000" spc="20" dirty="0">
                <a:latin typeface="Tahoma"/>
                <a:cs typeface="Tahoma"/>
              </a:rPr>
              <a:t> </a:t>
            </a:r>
            <a:r>
              <a:rPr sz="1000" i="1" spc="-5" dirty="0">
                <a:latin typeface="Arial"/>
                <a:cs typeface="Arial"/>
              </a:rPr>
              <a:t>X</a:t>
            </a:r>
            <a:r>
              <a:rPr sz="1000" i="1" spc="130" dirty="0">
                <a:latin typeface="Arial"/>
                <a:cs typeface="Arial"/>
              </a:rPr>
              <a:t> </a:t>
            </a:r>
            <a:r>
              <a:rPr sz="1000" spc="-25" dirty="0">
                <a:latin typeface="Lucida Sans Unicode"/>
                <a:cs typeface="Lucida Sans Unicode"/>
              </a:rPr>
              <a:t>⊆</a:t>
            </a:r>
            <a:r>
              <a:rPr sz="1000" spc="-40" dirty="0">
                <a:latin typeface="Lucida Sans Unicode"/>
                <a:cs typeface="Lucida Sans Unicode"/>
              </a:rPr>
              <a:t> </a:t>
            </a:r>
            <a:r>
              <a:rPr sz="1000" i="1" spc="-5" dirty="0">
                <a:latin typeface="Arial"/>
                <a:cs typeface="Arial"/>
              </a:rPr>
              <a:t>A</a:t>
            </a:r>
            <a:r>
              <a:rPr sz="1000" i="1" spc="60" dirty="0">
                <a:latin typeface="Arial"/>
                <a:cs typeface="Arial"/>
              </a:rPr>
              <a:t> </a:t>
            </a:r>
            <a:r>
              <a:rPr sz="1000" spc="-90" dirty="0">
                <a:latin typeface="Tahoma"/>
                <a:cs typeface="Tahoma"/>
              </a:rPr>
              <a:t>we</a:t>
            </a:r>
            <a:endParaRPr sz="1000">
              <a:latin typeface="Tahoma"/>
              <a:cs typeface="Tahoma"/>
            </a:endParaRPr>
          </a:p>
        </p:txBody>
      </p:sp>
      <p:sp>
        <p:nvSpPr>
          <p:cNvPr id="35" name="object 35"/>
          <p:cNvSpPr txBox="1"/>
          <p:nvPr/>
        </p:nvSpPr>
        <p:spPr>
          <a:xfrm>
            <a:off x="749363" y="1724716"/>
            <a:ext cx="548640" cy="177800"/>
          </a:xfrm>
          <a:prstGeom prst="rect">
            <a:avLst/>
          </a:prstGeom>
        </p:spPr>
        <p:txBody>
          <a:bodyPr vert="horz" wrap="square" lIns="0" tIns="12065" rIns="0" bIns="0" rtlCol="0">
            <a:spAutoFit/>
          </a:bodyPr>
          <a:lstStyle/>
          <a:p>
            <a:pPr>
              <a:lnSpc>
                <a:spcPct val="100000"/>
              </a:lnSpc>
              <a:spcBef>
                <a:spcPts val="95"/>
              </a:spcBef>
            </a:pPr>
            <a:r>
              <a:rPr sz="1000" spc="-40" dirty="0">
                <a:latin typeface="Tahoma"/>
                <a:cs typeface="Tahoma"/>
              </a:rPr>
              <a:t>can</a:t>
            </a:r>
            <a:r>
              <a:rPr sz="1000" spc="15" dirty="0">
                <a:latin typeface="Tahoma"/>
                <a:cs typeface="Tahoma"/>
              </a:rPr>
              <a:t> </a:t>
            </a:r>
            <a:r>
              <a:rPr sz="1000" spc="-45" dirty="0">
                <a:latin typeface="Tahoma"/>
                <a:cs typeface="Tahoma"/>
              </a:rPr>
              <a:t>define</a:t>
            </a:r>
            <a:endParaRPr sz="1000">
              <a:latin typeface="Tahoma"/>
              <a:cs typeface="Tahoma"/>
            </a:endParaRPr>
          </a:p>
        </p:txBody>
      </p:sp>
      <p:sp>
        <p:nvSpPr>
          <p:cNvPr id="36" name="object 36"/>
          <p:cNvSpPr txBox="1"/>
          <p:nvPr/>
        </p:nvSpPr>
        <p:spPr>
          <a:xfrm>
            <a:off x="749363" y="1800625"/>
            <a:ext cx="2447925" cy="481330"/>
          </a:xfrm>
          <a:prstGeom prst="rect">
            <a:avLst/>
          </a:prstGeom>
        </p:spPr>
        <p:txBody>
          <a:bodyPr vert="horz" wrap="square" lIns="0" tIns="88265" rIns="0" bIns="0" rtlCol="0">
            <a:spAutoFit/>
          </a:bodyPr>
          <a:lstStyle/>
          <a:p>
            <a:pPr marL="1243330">
              <a:lnSpc>
                <a:spcPct val="100000"/>
              </a:lnSpc>
              <a:spcBef>
                <a:spcPts val="695"/>
              </a:spcBef>
            </a:pPr>
            <a:r>
              <a:rPr sz="1000" i="1" spc="25" dirty="0">
                <a:latin typeface="Arial"/>
                <a:cs typeface="Arial"/>
              </a:rPr>
              <a:t>f</a:t>
            </a:r>
            <a:r>
              <a:rPr sz="1000" i="1" spc="-65" dirty="0">
                <a:latin typeface="Arial"/>
                <a:cs typeface="Arial"/>
              </a:rPr>
              <a:t> </a:t>
            </a:r>
            <a:r>
              <a:rPr sz="1000" dirty="0">
                <a:latin typeface="Tahoma"/>
                <a:cs typeface="Tahoma"/>
              </a:rPr>
              <a:t>(</a:t>
            </a:r>
            <a:r>
              <a:rPr sz="1000" i="1" spc="-5" dirty="0">
                <a:latin typeface="Arial"/>
                <a:cs typeface="Arial"/>
              </a:rPr>
              <a:t>X</a:t>
            </a:r>
            <a:r>
              <a:rPr sz="1000" i="1" spc="-145" dirty="0">
                <a:latin typeface="Arial"/>
                <a:cs typeface="Arial"/>
              </a:rPr>
              <a:t> </a:t>
            </a:r>
            <a:r>
              <a:rPr sz="1000" dirty="0">
                <a:latin typeface="Tahoma"/>
                <a:cs typeface="Tahoma"/>
              </a:rPr>
              <a:t>)</a:t>
            </a:r>
            <a:r>
              <a:rPr sz="1000" spc="-35" dirty="0">
                <a:latin typeface="Tahoma"/>
                <a:cs typeface="Tahoma"/>
              </a:rPr>
              <a:t> </a:t>
            </a:r>
            <a:r>
              <a:rPr sz="1000" spc="45" dirty="0">
                <a:latin typeface="Tahoma"/>
                <a:cs typeface="Tahoma"/>
              </a:rPr>
              <a:t>=</a:t>
            </a:r>
            <a:r>
              <a:rPr sz="1000" spc="-40" dirty="0">
                <a:latin typeface="Tahoma"/>
                <a:cs typeface="Tahoma"/>
              </a:rPr>
              <a:t> </a:t>
            </a:r>
            <a:r>
              <a:rPr sz="1000" spc="170" dirty="0">
                <a:latin typeface="Lucida Sans Unicode"/>
                <a:cs typeface="Lucida Sans Unicode"/>
              </a:rPr>
              <a:t>{</a:t>
            </a:r>
            <a:r>
              <a:rPr sz="1000" i="1" spc="25" dirty="0">
                <a:latin typeface="Arial"/>
                <a:cs typeface="Arial"/>
              </a:rPr>
              <a:t>f</a:t>
            </a:r>
            <a:r>
              <a:rPr sz="1000" i="1" spc="-65" dirty="0">
                <a:latin typeface="Arial"/>
                <a:cs typeface="Arial"/>
              </a:rPr>
              <a:t> </a:t>
            </a:r>
            <a:r>
              <a:rPr sz="1000" dirty="0">
                <a:latin typeface="Tahoma"/>
                <a:cs typeface="Tahoma"/>
              </a:rPr>
              <a:t>(</a:t>
            </a:r>
            <a:r>
              <a:rPr sz="1000" i="1" spc="-45" dirty="0">
                <a:latin typeface="Arial"/>
                <a:cs typeface="Arial"/>
              </a:rPr>
              <a:t>x</a:t>
            </a:r>
            <a:r>
              <a:rPr sz="1000" i="1" spc="-190" dirty="0">
                <a:latin typeface="Arial"/>
                <a:cs typeface="Arial"/>
              </a:rPr>
              <a:t> </a:t>
            </a:r>
            <a:r>
              <a:rPr sz="1000" dirty="0">
                <a:latin typeface="Tahoma"/>
                <a:cs typeface="Tahoma"/>
              </a:rPr>
              <a:t>)</a:t>
            </a:r>
            <a:r>
              <a:rPr sz="1000" spc="-100" dirty="0">
                <a:latin typeface="Lucida Sans Unicode"/>
                <a:cs typeface="Lucida Sans Unicode"/>
              </a:rPr>
              <a:t>|</a:t>
            </a:r>
            <a:r>
              <a:rPr sz="1000" i="1" spc="-45" dirty="0">
                <a:latin typeface="Arial"/>
                <a:cs typeface="Arial"/>
              </a:rPr>
              <a:t>x</a:t>
            </a:r>
            <a:r>
              <a:rPr sz="1000" i="1" spc="90" dirty="0">
                <a:latin typeface="Arial"/>
                <a:cs typeface="Arial"/>
              </a:rPr>
              <a:t> </a:t>
            </a:r>
            <a:r>
              <a:rPr sz="1000" spc="-135" dirty="0">
                <a:latin typeface="Lucida Sans Unicode"/>
                <a:cs typeface="Lucida Sans Unicode"/>
              </a:rPr>
              <a:t>∈</a:t>
            </a:r>
            <a:r>
              <a:rPr sz="1000" spc="-40" dirty="0">
                <a:latin typeface="Lucida Sans Unicode"/>
                <a:cs typeface="Lucida Sans Unicode"/>
              </a:rPr>
              <a:t> </a:t>
            </a:r>
            <a:r>
              <a:rPr sz="1000" i="1" spc="-5" dirty="0">
                <a:latin typeface="Arial"/>
                <a:cs typeface="Arial"/>
              </a:rPr>
              <a:t>X</a:t>
            </a:r>
            <a:r>
              <a:rPr sz="1000" i="1" spc="-145" dirty="0">
                <a:latin typeface="Arial"/>
                <a:cs typeface="Arial"/>
              </a:rPr>
              <a:t> </a:t>
            </a:r>
            <a:r>
              <a:rPr sz="1000" spc="170" dirty="0">
                <a:latin typeface="Lucida Sans Unicode"/>
                <a:cs typeface="Lucida Sans Unicode"/>
              </a:rPr>
              <a:t>}</a:t>
            </a:r>
            <a:r>
              <a:rPr sz="1000" i="1" spc="-90" dirty="0">
                <a:latin typeface="Verdana"/>
                <a:cs typeface="Verdana"/>
              </a:rPr>
              <a:t>,</a:t>
            </a:r>
            <a:endParaRPr sz="1000">
              <a:latin typeface="Verdana"/>
              <a:cs typeface="Verdana"/>
            </a:endParaRPr>
          </a:p>
          <a:p>
            <a:pPr>
              <a:lnSpc>
                <a:spcPct val="100000"/>
              </a:lnSpc>
              <a:spcBef>
                <a:spcPts val="590"/>
              </a:spcBef>
            </a:pPr>
            <a:r>
              <a:rPr sz="1000" spc="-50" dirty="0">
                <a:latin typeface="Tahoma"/>
                <a:cs typeface="Tahoma"/>
              </a:rPr>
              <a:t>an</a:t>
            </a:r>
            <a:r>
              <a:rPr sz="1000" spc="15" dirty="0">
                <a:latin typeface="Tahoma"/>
                <a:cs typeface="Tahoma"/>
              </a:rPr>
              <a:t> </a:t>
            </a:r>
            <a:r>
              <a:rPr sz="1000" b="1" spc="-40" dirty="0">
                <a:latin typeface="Arial"/>
                <a:cs typeface="Arial"/>
              </a:rPr>
              <a:t>image</a:t>
            </a:r>
            <a:r>
              <a:rPr sz="1000" b="1" spc="45" dirty="0">
                <a:latin typeface="Arial"/>
                <a:cs typeface="Arial"/>
              </a:rPr>
              <a:t> </a:t>
            </a:r>
            <a:r>
              <a:rPr sz="1000" spc="-30" dirty="0">
                <a:latin typeface="Tahoma"/>
                <a:cs typeface="Tahoma"/>
              </a:rPr>
              <a:t>of</a:t>
            </a:r>
            <a:r>
              <a:rPr sz="1000" spc="10" dirty="0">
                <a:latin typeface="Tahoma"/>
                <a:cs typeface="Tahoma"/>
              </a:rPr>
              <a:t> </a:t>
            </a:r>
            <a:r>
              <a:rPr sz="1000" spc="-45" dirty="0">
                <a:latin typeface="Tahoma"/>
                <a:cs typeface="Tahoma"/>
              </a:rPr>
              <a:t>set</a:t>
            </a:r>
            <a:r>
              <a:rPr sz="1000" spc="15" dirty="0">
                <a:latin typeface="Tahoma"/>
                <a:cs typeface="Tahoma"/>
              </a:rPr>
              <a:t> </a:t>
            </a:r>
            <a:r>
              <a:rPr sz="1000" i="1" spc="-5" dirty="0">
                <a:latin typeface="Arial"/>
                <a:cs typeface="Arial"/>
              </a:rPr>
              <a:t>X</a:t>
            </a:r>
            <a:r>
              <a:rPr sz="1000" i="1" spc="180" dirty="0">
                <a:latin typeface="Arial"/>
                <a:cs typeface="Arial"/>
              </a:rPr>
              <a:t> </a:t>
            </a:r>
            <a:r>
              <a:rPr sz="1000" spc="-15" dirty="0">
                <a:latin typeface="Tahoma"/>
                <a:cs typeface="Tahoma"/>
              </a:rPr>
              <a:t>at</a:t>
            </a:r>
            <a:r>
              <a:rPr sz="1000" spc="10" dirty="0">
                <a:latin typeface="Tahoma"/>
                <a:cs typeface="Tahoma"/>
              </a:rPr>
              <a:t> </a:t>
            </a:r>
            <a:r>
              <a:rPr sz="1000" spc="-40" dirty="0">
                <a:latin typeface="Tahoma"/>
                <a:cs typeface="Tahoma"/>
              </a:rPr>
              <a:t>mapping</a:t>
            </a:r>
            <a:r>
              <a:rPr sz="1000" spc="20" dirty="0">
                <a:latin typeface="Tahoma"/>
                <a:cs typeface="Tahoma"/>
              </a:rPr>
              <a:t> </a:t>
            </a:r>
            <a:r>
              <a:rPr sz="1000" i="1" spc="25" dirty="0">
                <a:latin typeface="Arial"/>
                <a:cs typeface="Arial"/>
              </a:rPr>
              <a:t>f</a:t>
            </a:r>
            <a:r>
              <a:rPr sz="1000" i="1" spc="-70" dirty="0">
                <a:latin typeface="Arial"/>
                <a:cs typeface="Arial"/>
              </a:rPr>
              <a:t> </a:t>
            </a:r>
            <a:r>
              <a:rPr sz="1000" spc="-30" dirty="0">
                <a:latin typeface="Tahoma"/>
                <a:cs typeface="Tahoma"/>
              </a:rPr>
              <a:t>.</a:t>
            </a:r>
            <a:endParaRPr sz="1000">
              <a:latin typeface="Tahoma"/>
              <a:cs typeface="Tahoma"/>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3036</TotalTime>
  <Words>6217</Words>
  <Application>Microsoft Office PowerPoint</Application>
  <PresentationFormat>Произвольный</PresentationFormat>
  <Paragraphs>686</Paragraphs>
  <Slides>49</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49</vt:i4>
      </vt:variant>
    </vt:vector>
  </HeadingPairs>
  <TitlesOfParts>
    <vt:vector size="58" baseType="lpstr">
      <vt:lpstr>Arial</vt:lpstr>
      <vt:lpstr>Calibri</vt:lpstr>
      <vt:lpstr>Lucida Sans Unicode</vt:lpstr>
      <vt:lpstr>Microsoft Sans Serif</vt:lpstr>
      <vt:lpstr>Sitka Banner</vt:lpstr>
      <vt:lpstr>Tahoma</vt:lpstr>
      <vt:lpstr>Times New Roman</vt:lpstr>
      <vt:lpstr>Verdana</vt:lpstr>
      <vt:lpstr>Office Theme</vt:lpstr>
      <vt:lpstr>Презентация PowerPoint</vt:lpstr>
      <vt:lpstr>Множества</vt:lpstr>
      <vt:lpstr>Обозначения для множеств</vt:lpstr>
      <vt:lpstr>Объединение множеств</vt:lpstr>
      <vt:lpstr>Пересечение множеств</vt:lpstr>
      <vt:lpstr>Difference of sets</vt:lpstr>
      <vt:lpstr>Равенство множеств</vt:lpstr>
      <vt:lpstr>Пустой набор</vt:lpstr>
      <vt:lpstr>Идемпотентность</vt:lpstr>
      <vt:lpstr>Properties of empty set</vt:lpstr>
      <vt:lpstr>Commutativity</vt:lpstr>
      <vt:lpstr>Difference is not commutative</vt:lpstr>
      <vt:lpstr>Associativity</vt:lpstr>
      <vt:lpstr>Relation of inclusion</vt:lpstr>
      <vt:lpstr>Distributivity</vt:lpstr>
      <vt:lpstr>Distributivity - proof</vt:lpstr>
      <vt:lpstr>Distributivity - proof</vt:lpstr>
      <vt:lpstr>Power set</vt:lpstr>
      <vt:lpstr>Power set</vt:lpstr>
      <vt:lpstr>Mathematical notions</vt:lpstr>
      <vt:lpstr>Ordered pair</vt:lpstr>
      <vt:lpstr>Ordered tuple</vt:lpstr>
      <vt:lpstr>Tuple of length n</vt:lpstr>
      <vt:lpstr>Concatenation of tuples</vt:lpstr>
      <vt:lpstr>Concatenation of tuples</vt:lpstr>
      <vt:lpstr>Concatenation of tuples</vt:lpstr>
      <vt:lpstr>Cartesian product of sets</vt:lpstr>
      <vt:lpstr>Cartesian power of set</vt:lpstr>
      <vt:lpstr>Cartesian product is not associative</vt:lpstr>
      <vt:lpstr>Decomposition of Cartesian product</vt:lpstr>
      <vt:lpstr>Cardinality of binary Cartesian product</vt:lpstr>
      <vt:lpstr>Cardinality of finite Cartesian product</vt:lpstr>
      <vt:lpstr>Informal notion of mapping</vt:lpstr>
      <vt:lpstr>Rigorous definition of mapping</vt:lpstr>
      <vt:lpstr>Rigorous definition of mapping</vt:lpstr>
      <vt:lpstr>Domain and range</vt:lpstr>
      <vt:lpstr>Domain and range</vt:lpstr>
      <vt:lpstr>Domain and range</vt:lpstr>
      <vt:lpstr>Function</vt:lpstr>
      <vt:lpstr>Identity</vt:lpstr>
      <vt:lpstr>Classes of mappings</vt:lpstr>
      <vt:lpstr>Characterization of surjectivity</vt:lpstr>
      <vt:lpstr>Composition of mappings</vt:lpstr>
      <vt:lpstr>Properties of composition</vt:lpstr>
      <vt:lpstr>Composition and classes of mappings</vt:lpstr>
      <vt:lpstr>Inverse mapping</vt:lpstr>
      <vt:lpstr>Injectivity of inverse mapping</vt:lpstr>
      <vt:lpstr>Uniqueness of inverse mapping</vt:lpstr>
      <vt:lpstr>Image of set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Пользователь</cp:lastModifiedBy>
  <cp:revision>2</cp:revision>
  <dcterms:created xsi:type="dcterms:W3CDTF">2024-10-08T03:14:12Z</dcterms:created>
  <dcterms:modified xsi:type="dcterms:W3CDTF">2025-01-07T10:14:28Z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2024-09-02T00:00:00Z</vt:filetime>
  </property>
  <property fmtid="{D5CDD505-2E9C-101B-9397-08002B2CF9AE}" pid="3" name="Creator">
    <vt:lpwstr>LaTeX with Beamer class</vt:lpwstr>
  </property>
  <property fmtid="{D5CDD505-2E9C-101B-9397-08002B2CF9AE}" pid="4" name="LastSaved">
    <vt:filetime>2024-10-08T00:00:00Z</vt:filetime>
  </property>
</Properties>
</file>