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7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7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7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01679" y="6229680"/>
            <a:ext cx="457200" cy="4572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430889" y="6258877"/>
            <a:ext cx="398780" cy="399415"/>
          </a:xfrm>
          <a:custGeom>
            <a:avLst/>
            <a:gdLst/>
            <a:ahLst/>
            <a:cxnLst/>
            <a:rect l="l" t="t" r="r" b="b"/>
            <a:pathLst>
              <a:path w="398779" h="399415">
                <a:moveTo>
                  <a:pt x="0" y="199402"/>
                </a:moveTo>
                <a:lnTo>
                  <a:pt x="5266" y="153679"/>
                </a:lnTo>
                <a:lnTo>
                  <a:pt x="20268" y="111707"/>
                </a:lnTo>
                <a:lnTo>
                  <a:pt x="43807" y="74683"/>
                </a:lnTo>
                <a:lnTo>
                  <a:pt x="74686" y="43804"/>
                </a:lnTo>
                <a:lnTo>
                  <a:pt x="111708" y="20266"/>
                </a:lnTo>
                <a:lnTo>
                  <a:pt x="153675" y="5265"/>
                </a:lnTo>
                <a:lnTo>
                  <a:pt x="199389" y="0"/>
                </a:lnTo>
                <a:lnTo>
                  <a:pt x="245144" y="5265"/>
                </a:lnTo>
                <a:lnTo>
                  <a:pt x="287127" y="20266"/>
                </a:lnTo>
                <a:lnTo>
                  <a:pt x="324146" y="43804"/>
                </a:lnTo>
                <a:lnTo>
                  <a:pt x="355012" y="74683"/>
                </a:lnTo>
                <a:lnTo>
                  <a:pt x="378534" y="111707"/>
                </a:lnTo>
                <a:lnTo>
                  <a:pt x="393520" y="153679"/>
                </a:lnTo>
                <a:lnTo>
                  <a:pt x="398779" y="199402"/>
                </a:lnTo>
                <a:lnTo>
                  <a:pt x="393520" y="245126"/>
                </a:lnTo>
                <a:lnTo>
                  <a:pt x="378534" y="287098"/>
                </a:lnTo>
                <a:lnTo>
                  <a:pt x="355012" y="324121"/>
                </a:lnTo>
                <a:lnTo>
                  <a:pt x="324146" y="355001"/>
                </a:lnTo>
                <a:lnTo>
                  <a:pt x="287127" y="378539"/>
                </a:lnTo>
                <a:lnTo>
                  <a:pt x="245144" y="393539"/>
                </a:lnTo>
                <a:lnTo>
                  <a:pt x="199389" y="398805"/>
                </a:lnTo>
                <a:lnTo>
                  <a:pt x="153675" y="393539"/>
                </a:lnTo>
                <a:lnTo>
                  <a:pt x="111708" y="378539"/>
                </a:lnTo>
                <a:lnTo>
                  <a:pt x="74686" y="355001"/>
                </a:lnTo>
                <a:lnTo>
                  <a:pt x="43807" y="324121"/>
                </a:lnTo>
                <a:lnTo>
                  <a:pt x="20268" y="287098"/>
                </a:lnTo>
                <a:lnTo>
                  <a:pt x="5266" y="245126"/>
                </a:lnTo>
                <a:lnTo>
                  <a:pt x="0" y="199402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8133" y="1028700"/>
            <a:ext cx="6847471" cy="57569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7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7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401679" y="6229680"/>
            <a:ext cx="457200" cy="4572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430889" y="6258877"/>
            <a:ext cx="398780" cy="399415"/>
          </a:xfrm>
          <a:custGeom>
            <a:avLst/>
            <a:gdLst/>
            <a:ahLst/>
            <a:cxnLst/>
            <a:rect l="l" t="t" r="r" b="b"/>
            <a:pathLst>
              <a:path w="398779" h="399415">
                <a:moveTo>
                  <a:pt x="0" y="199402"/>
                </a:moveTo>
                <a:lnTo>
                  <a:pt x="5266" y="153679"/>
                </a:lnTo>
                <a:lnTo>
                  <a:pt x="20268" y="111707"/>
                </a:lnTo>
                <a:lnTo>
                  <a:pt x="43807" y="74683"/>
                </a:lnTo>
                <a:lnTo>
                  <a:pt x="74686" y="43804"/>
                </a:lnTo>
                <a:lnTo>
                  <a:pt x="111708" y="20266"/>
                </a:lnTo>
                <a:lnTo>
                  <a:pt x="153675" y="5265"/>
                </a:lnTo>
                <a:lnTo>
                  <a:pt x="199389" y="0"/>
                </a:lnTo>
                <a:lnTo>
                  <a:pt x="245144" y="5265"/>
                </a:lnTo>
                <a:lnTo>
                  <a:pt x="287127" y="20266"/>
                </a:lnTo>
                <a:lnTo>
                  <a:pt x="324146" y="43804"/>
                </a:lnTo>
                <a:lnTo>
                  <a:pt x="355012" y="74683"/>
                </a:lnTo>
                <a:lnTo>
                  <a:pt x="378534" y="111707"/>
                </a:lnTo>
                <a:lnTo>
                  <a:pt x="393520" y="153679"/>
                </a:lnTo>
                <a:lnTo>
                  <a:pt x="398779" y="199402"/>
                </a:lnTo>
                <a:lnTo>
                  <a:pt x="393520" y="245126"/>
                </a:lnTo>
                <a:lnTo>
                  <a:pt x="378534" y="287098"/>
                </a:lnTo>
                <a:lnTo>
                  <a:pt x="355012" y="324121"/>
                </a:lnTo>
                <a:lnTo>
                  <a:pt x="324146" y="355001"/>
                </a:lnTo>
                <a:lnTo>
                  <a:pt x="287127" y="378539"/>
                </a:lnTo>
                <a:lnTo>
                  <a:pt x="245144" y="393539"/>
                </a:lnTo>
                <a:lnTo>
                  <a:pt x="199389" y="398805"/>
                </a:lnTo>
                <a:lnTo>
                  <a:pt x="153675" y="393539"/>
                </a:lnTo>
                <a:lnTo>
                  <a:pt x="111708" y="378539"/>
                </a:lnTo>
                <a:lnTo>
                  <a:pt x="74686" y="355001"/>
                </a:lnTo>
                <a:lnTo>
                  <a:pt x="43807" y="324121"/>
                </a:lnTo>
                <a:lnTo>
                  <a:pt x="20268" y="287098"/>
                </a:lnTo>
                <a:lnTo>
                  <a:pt x="5266" y="245126"/>
                </a:lnTo>
                <a:lnTo>
                  <a:pt x="0" y="199402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48588" y="2112391"/>
            <a:ext cx="9894823" cy="605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48588" y="3240405"/>
            <a:ext cx="6341745" cy="2039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519407" y="6333410"/>
            <a:ext cx="22669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7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0838" y="1346923"/>
            <a:ext cx="10222992" cy="80683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920838" y="1484757"/>
            <a:ext cx="10223500" cy="3665220"/>
            <a:chOff x="920838" y="1484757"/>
            <a:chExt cx="10223500" cy="366522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0838" y="4282782"/>
              <a:ext cx="10222992" cy="80683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0838" y="1484757"/>
              <a:ext cx="10222992" cy="3665093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9757283" y="4177030"/>
              <a:ext cx="864869" cy="864869"/>
            </a:xfrm>
            <a:custGeom>
              <a:avLst/>
              <a:gdLst/>
              <a:ahLst/>
              <a:cxnLst/>
              <a:rect l="l" t="t" r="r" b="b"/>
              <a:pathLst>
                <a:path w="864870" h="864870">
                  <a:moveTo>
                    <a:pt x="0" y="432308"/>
                  </a:moveTo>
                  <a:lnTo>
                    <a:pt x="2536" y="385202"/>
                  </a:lnTo>
                  <a:lnTo>
                    <a:pt x="9971" y="339566"/>
                  </a:lnTo>
                  <a:lnTo>
                    <a:pt x="22040" y="295664"/>
                  </a:lnTo>
                  <a:lnTo>
                    <a:pt x="38479" y="253758"/>
                  </a:lnTo>
                  <a:lnTo>
                    <a:pt x="59026" y="214112"/>
                  </a:lnTo>
                  <a:lnTo>
                    <a:pt x="83417" y="176991"/>
                  </a:lnTo>
                  <a:lnTo>
                    <a:pt x="111388" y="142657"/>
                  </a:lnTo>
                  <a:lnTo>
                    <a:pt x="142677" y="111376"/>
                  </a:lnTo>
                  <a:lnTo>
                    <a:pt x="177018" y="83409"/>
                  </a:lnTo>
                  <a:lnTo>
                    <a:pt x="214150" y="59022"/>
                  </a:lnTo>
                  <a:lnTo>
                    <a:pt x="253808" y="38477"/>
                  </a:lnTo>
                  <a:lnTo>
                    <a:pt x="295729" y="22039"/>
                  </a:lnTo>
                  <a:lnTo>
                    <a:pt x="339649" y="9970"/>
                  </a:lnTo>
                  <a:lnTo>
                    <a:pt x="385306" y="2536"/>
                  </a:lnTo>
                  <a:lnTo>
                    <a:pt x="432435" y="0"/>
                  </a:lnTo>
                  <a:lnTo>
                    <a:pt x="479540" y="2536"/>
                  </a:lnTo>
                  <a:lnTo>
                    <a:pt x="525176" y="9970"/>
                  </a:lnTo>
                  <a:lnTo>
                    <a:pt x="569078" y="22039"/>
                  </a:lnTo>
                  <a:lnTo>
                    <a:pt x="610984" y="38477"/>
                  </a:lnTo>
                  <a:lnTo>
                    <a:pt x="650630" y="59022"/>
                  </a:lnTo>
                  <a:lnTo>
                    <a:pt x="687751" y="83409"/>
                  </a:lnTo>
                  <a:lnTo>
                    <a:pt x="722085" y="111376"/>
                  </a:lnTo>
                  <a:lnTo>
                    <a:pt x="753366" y="142657"/>
                  </a:lnTo>
                  <a:lnTo>
                    <a:pt x="781333" y="176991"/>
                  </a:lnTo>
                  <a:lnTo>
                    <a:pt x="805720" y="214112"/>
                  </a:lnTo>
                  <a:lnTo>
                    <a:pt x="826265" y="253758"/>
                  </a:lnTo>
                  <a:lnTo>
                    <a:pt x="842703" y="295664"/>
                  </a:lnTo>
                  <a:lnTo>
                    <a:pt x="854772" y="339566"/>
                  </a:lnTo>
                  <a:lnTo>
                    <a:pt x="862206" y="385202"/>
                  </a:lnTo>
                  <a:lnTo>
                    <a:pt x="864743" y="432308"/>
                  </a:lnTo>
                  <a:lnTo>
                    <a:pt x="862206" y="479414"/>
                  </a:lnTo>
                  <a:lnTo>
                    <a:pt x="854772" y="525055"/>
                  </a:lnTo>
                  <a:lnTo>
                    <a:pt x="842703" y="568965"/>
                  </a:lnTo>
                  <a:lnTo>
                    <a:pt x="826265" y="610880"/>
                  </a:lnTo>
                  <a:lnTo>
                    <a:pt x="805720" y="650536"/>
                  </a:lnTo>
                  <a:lnTo>
                    <a:pt x="781333" y="687669"/>
                  </a:lnTo>
                  <a:lnTo>
                    <a:pt x="753366" y="722015"/>
                  </a:lnTo>
                  <a:lnTo>
                    <a:pt x="722085" y="753309"/>
                  </a:lnTo>
                  <a:lnTo>
                    <a:pt x="687751" y="781288"/>
                  </a:lnTo>
                  <a:lnTo>
                    <a:pt x="650630" y="805688"/>
                  </a:lnTo>
                  <a:lnTo>
                    <a:pt x="610984" y="826243"/>
                  </a:lnTo>
                  <a:lnTo>
                    <a:pt x="569078" y="842690"/>
                  </a:lnTo>
                  <a:lnTo>
                    <a:pt x="525176" y="854765"/>
                  </a:lnTo>
                  <a:lnTo>
                    <a:pt x="479540" y="862204"/>
                  </a:lnTo>
                  <a:lnTo>
                    <a:pt x="432435" y="864743"/>
                  </a:lnTo>
                  <a:lnTo>
                    <a:pt x="385306" y="862204"/>
                  </a:lnTo>
                  <a:lnTo>
                    <a:pt x="339649" y="854765"/>
                  </a:lnTo>
                  <a:lnTo>
                    <a:pt x="295729" y="842690"/>
                  </a:lnTo>
                  <a:lnTo>
                    <a:pt x="253808" y="826243"/>
                  </a:lnTo>
                  <a:lnTo>
                    <a:pt x="214150" y="805688"/>
                  </a:lnTo>
                  <a:lnTo>
                    <a:pt x="177018" y="781288"/>
                  </a:lnTo>
                  <a:lnTo>
                    <a:pt x="142677" y="753309"/>
                  </a:lnTo>
                  <a:lnTo>
                    <a:pt x="111388" y="722015"/>
                  </a:lnTo>
                  <a:lnTo>
                    <a:pt x="83417" y="687669"/>
                  </a:lnTo>
                  <a:lnTo>
                    <a:pt x="59026" y="650536"/>
                  </a:lnTo>
                  <a:lnTo>
                    <a:pt x="38479" y="610880"/>
                  </a:lnTo>
                  <a:lnTo>
                    <a:pt x="22040" y="568965"/>
                  </a:lnTo>
                  <a:lnTo>
                    <a:pt x="9971" y="525055"/>
                  </a:lnTo>
                  <a:lnTo>
                    <a:pt x="2536" y="479414"/>
                  </a:lnTo>
                  <a:lnTo>
                    <a:pt x="0" y="432308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1300" y="2064639"/>
              <a:ext cx="4811890" cy="86360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06947" y="2120519"/>
              <a:ext cx="3387089" cy="807719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76045" y="2997327"/>
              <a:ext cx="3672814" cy="876046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1148588" y="4810505"/>
            <a:ext cx="205676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14" b="1">
                <a:solidFill>
                  <a:srgbClr val="715D71"/>
                </a:solidFill>
                <a:latin typeface="Cambria"/>
                <a:cs typeface="Cambria"/>
              </a:rPr>
              <a:t>Denis</a:t>
            </a:r>
            <a:r>
              <a:rPr dirty="0" sz="2000" spc="225" b="1">
                <a:solidFill>
                  <a:srgbClr val="715D71"/>
                </a:solidFill>
                <a:latin typeface="Cambria"/>
                <a:cs typeface="Cambria"/>
              </a:rPr>
              <a:t> </a:t>
            </a:r>
            <a:r>
              <a:rPr dirty="0" sz="2000" spc="125" b="1">
                <a:solidFill>
                  <a:srgbClr val="715D71"/>
                </a:solidFill>
                <a:latin typeface="Cambria"/>
                <a:cs typeface="Cambria"/>
              </a:rPr>
              <a:t>Miginsky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8588" y="3392804"/>
            <a:ext cx="6898005" cy="33083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135"/>
              <a:t>What</a:t>
            </a:r>
            <a:r>
              <a:rPr dirty="0" spc="225"/>
              <a:t> </a:t>
            </a:r>
            <a:r>
              <a:rPr dirty="0" spc="110"/>
              <a:t>is</a:t>
            </a:r>
            <a:r>
              <a:rPr dirty="0" spc="225"/>
              <a:t> </a:t>
            </a:r>
            <a:r>
              <a:rPr dirty="0" spc="110"/>
              <a:t>the</a:t>
            </a:r>
            <a:r>
              <a:rPr dirty="0" spc="215"/>
              <a:t> </a:t>
            </a:r>
            <a:r>
              <a:rPr dirty="0" spc="130"/>
              <a:t>most</a:t>
            </a:r>
            <a:r>
              <a:rPr dirty="0" spc="220"/>
              <a:t> </a:t>
            </a:r>
            <a:r>
              <a:rPr dirty="0" spc="100"/>
              <a:t>expensive</a:t>
            </a:r>
            <a:r>
              <a:rPr dirty="0" spc="175"/>
              <a:t> </a:t>
            </a:r>
            <a:r>
              <a:rPr dirty="0" spc="120"/>
              <a:t>product</a:t>
            </a:r>
            <a:r>
              <a:rPr dirty="0" spc="190"/>
              <a:t> </a:t>
            </a:r>
            <a:r>
              <a:rPr dirty="0"/>
              <a:t>for</a:t>
            </a:r>
            <a:r>
              <a:rPr dirty="0" spc="215"/>
              <a:t> </a:t>
            </a:r>
            <a:r>
              <a:rPr dirty="0" spc="155"/>
              <a:t>each</a:t>
            </a:r>
            <a:r>
              <a:rPr dirty="0" spc="195"/>
              <a:t> </a:t>
            </a:r>
            <a:r>
              <a:rPr dirty="0" spc="135"/>
              <a:t>company?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70"/>
              <a:t>10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3492" y="1037082"/>
            <a:ext cx="2774556" cy="567308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45539" y="2775966"/>
            <a:ext cx="9095105" cy="2312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225">
                <a:solidFill>
                  <a:srgbClr val="006FC0"/>
                </a:solidFill>
                <a:latin typeface="Cambria"/>
                <a:cs typeface="Cambria"/>
              </a:rPr>
              <a:t>SELECT</a:t>
            </a:r>
            <a:r>
              <a:rPr dirty="0" sz="2000" spc="185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query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expects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90" b="1">
                <a:latin typeface="Cambria"/>
                <a:cs typeface="Cambria"/>
              </a:rPr>
              <a:t>tables</a:t>
            </a:r>
            <a:r>
              <a:rPr dirty="0" sz="2000" spc="204" b="1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under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some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statements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55">
                <a:solidFill>
                  <a:srgbClr val="7E7E7E"/>
                </a:solidFill>
                <a:latin typeface="Cambria"/>
                <a:cs typeface="Cambria"/>
              </a:rPr>
              <a:t>(FROM,</a:t>
            </a:r>
            <a:r>
              <a:rPr dirty="0" sz="2000" spc="18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250">
                <a:solidFill>
                  <a:srgbClr val="7E7E7E"/>
                </a:solidFill>
                <a:latin typeface="Cambria"/>
                <a:cs typeface="Cambria"/>
              </a:rPr>
              <a:t>JOIN,</a:t>
            </a:r>
            <a:r>
              <a:rPr dirty="0" sz="2000" spc="17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40">
                <a:solidFill>
                  <a:srgbClr val="7E7E7E"/>
                </a:solidFill>
                <a:latin typeface="Cambria"/>
                <a:cs typeface="Cambria"/>
              </a:rPr>
              <a:t>…)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245"/>
              </a:spcBef>
            </a:pPr>
            <a:endParaRPr sz="2000">
              <a:latin typeface="Cambria"/>
              <a:cs typeface="Cambria"/>
            </a:endParaRPr>
          </a:p>
          <a:p>
            <a:pPr marL="12700" marR="5080">
              <a:lnSpc>
                <a:spcPts val="2160"/>
              </a:lnSpc>
            </a:pPr>
            <a:r>
              <a:rPr dirty="0" sz="2000" spc="225">
                <a:solidFill>
                  <a:srgbClr val="006FC0"/>
                </a:solidFill>
                <a:latin typeface="Cambria"/>
                <a:cs typeface="Cambria"/>
              </a:rPr>
              <a:t>SELECT</a:t>
            </a:r>
            <a:r>
              <a:rPr dirty="0" sz="2000" spc="215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query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itself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produces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95" b="1">
                <a:latin typeface="Cambria"/>
                <a:cs typeface="Cambria"/>
              </a:rPr>
              <a:t>table</a:t>
            </a:r>
            <a:r>
              <a:rPr dirty="0" sz="2000" spc="95">
                <a:latin typeface="Cambria"/>
                <a:cs typeface="Cambria"/>
              </a:rPr>
              <a:t>-</a:t>
            </a:r>
            <a:r>
              <a:rPr dirty="0" sz="2000" spc="90">
                <a:latin typeface="Cambria"/>
                <a:cs typeface="Cambria"/>
              </a:rPr>
              <a:t>like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structure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>
                <a:solidFill>
                  <a:srgbClr val="7E7E7E"/>
                </a:solidFill>
                <a:latin typeface="Cambria"/>
                <a:cs typeface="Cambria"/>
              </a:rPr>
              <a:t>(the</a:t>
            </a:r>
            <a:r>
              <a:rPr dirty="0" sz="2000" spc="26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05">
                <a:solidFill>
                  <a:srgbClr val="7E7E7E"/>
                </a:solidFill>
                <a:latin typeface="Cambria"/>
                <a:cs typeface="Cambria"/>
              </a:rPr>
              <a:t>application</a:t>
            </a:r>
            <a:r>
              <a:rPr dirty="0" sz="2000" spc="21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>
                <a:solidFill>
                  <a:srgbClr val="7E7E7E"/>
                </a:solidFill>
                <a:latin typeface="Cambria"/>
                <a:cs typeface="Cambria"/>
              </a:rPr>
              <a:t>of</a:t>
            </a:r>
            <a:r>
              <a:rPr dirty="0" sz="2000" spc="25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25">
                <a:solidFill>
                  <a:srgbClr val="7E7E7E"/>
                </a:solidFill>
                <a:latin typeface="Cambria"/>
                <a:cs typeface="Cambria"/>
              </a:rPr>
              <a:t>any </a:t>
            </a:r>
            <a:r>
              <a:rPr dirty="0" sz="2000" spc="80">
                <a:solidFill>
                  <a:srgbClr val="7E7E7E"/>
                </a:solidFill>
                <a:latin typeface="Cambria"/>
                <a:cs typeface="Cambria"/>
              </a:rPr>
              <a:t>operator</a:t>
            </a:r>
            <a:r>
              <a:rPr dirty="0" sz="2000" spc="17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85">
                <a:solidFill>
                  <a:srgbClr val="7E7E7E"/>
                </a:solidFill>
                <a:latin typeface="Cambria"/>
                <a:cs typeface="Cambria"/>
              </a:rPr>
              <a:t>from</a:t>
            </a:r>
            <a:r>
              <a:rPr dirty="0" sz="2000" spc="22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dirty="0" sz="2000" spc="204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95">
                <a:solidFill>
                  <a:srgbClr val="7E7E7E"/>
                </a:solidFill>
                <a:latin typeface="Cambria"/>
                <a:cs typeface="Cambria"/>
              </a:rPr>
              <a:t>relational</a:t>
            </a:r>
            <a:r>
              <a:rPr dirty="0" sz="2000" spc="20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05">
                <a:solidFill>
                  <a:srgbClr val="7E7E7E"/>
                </a:solidFill>
                <a:latin typeface="Cambria"/>
                <a:cs typeface="Cambria"/>
              </a:rPr>
              <a:t>algebra</a:t>
            </a:r>
            <a:r>
              <a:rPr dirty="0" sz="2000" spc="16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r>
              <a:rPr dirty="0" sz="2000" spc="21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05">
                <a:solidFill>
                  <a:srgbClr val="7E7E7E"/>
                </a:solidFill>
                <a:latin typeface="Cambria"/>
                <a:cs typeface="Cambria"/>
              </a:rPr>
              <a:t>always</a:t>
            </a:r>
            <a:r>
              <a:rPr dirty="0" sz="2000" spc="20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20">
                <a:solidFill>
                  <a:srgbClr val="7E7E7E"/>
                </a:solidFill>
                <a:latin typeface="Cambria"/>
                <a:cs typeface="Cambria"/>
              </a:rPr>
              <a:t>producing</a:t>
            </a:r>
            <a:r>
              <a:rPr dirty="0" sz="2000" spc="17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85">
                <a:solidFill>
                  <a:srgbClr val="7E7E7E"/>
                </a:solidFill>
                <a:latin typeface="Cambria"/>
                <a:cs typeface="Cambria"/>
              </a:rPr>
              <a:t>a</a:t>
            </a:r>
            <a:r>
              <a:rPr dirty="0" sz="2000" spc="21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50">
                <a:solidFill>
                  <a:srgbClr val="7E7E7E"/>
                </a:solidFill>
                <a:latin typeface="Cambria"/>
                <a:cs typeface="Cambria"/>
              </a:rPr>
              <a:t>relation)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45"/>
              </a:spcBef>
            </a:pP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2000" spc="150" b="1">
                <a:latin typeface="Cambria"/>
                <a:cs typeface="Cambria"/>
              </a:rPr>
              <a:t>Thus</a:t>
            </a:r>
            <a:r>
              <a:rPr dirty="0" sz="2000" spc="150">
                <a:latin typeface="Cambria"/>
                <a:cs typeface="Cambria"/>
              </a:rPr>
              <a:t>,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we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75">
                <a:latin typeface="Cambria"/>
                <a:cs typeface="Cambria"/>
              </a:rPr>
              <a:t>can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use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215">
                <a:solidFill>
                  <a:srgbClr val="006FC0"/>
                </a:solidFill>
                <a:latin typeface="Cambria"/>
                <a:cs typeface="Cambria"/>
              </a:rPr>
              <a:t>SELECT</a:t>
            </a:r>
            <a:r>
              <a:rPr dirty="0" sz="2000" spc="215">
                <a:latin typeface="Cambria"/>
                <a:cs typeface="Cambria"/>
              </a:rPr>
              <a:t>-</a:t>
            </a:r>
            <a:r>
              <a:rPr dirty="0" sz="2000" spc="95">
                <a:latin typeface="Cambria"/>
                <a:cs typeface="Cambria"/>
              </a:rPr>
              <a:t>query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instead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50">
                <a:latin typeface="Cambria"/>
                <a:cs typeface="Cambria"/>
              </a:rPr>
              <a:t>actual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table,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45">
                <a:latin typeface="Cambria"/>
                <a:cs typeface="Cambria"/>
              </a:rPr>
              <a:t>cannot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we?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70"/>
              <a:t>10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3492" y="1037082"/>
            <a:ext cx="5573255" cy="567308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48588" y="2434997"/>
            <a:ext cx="7189470" cy="3514090"/>
          </a:xfrm>
          <a:prstGeom prst="rect">
            <a:avLst/>
          </a:prstGeom>
        </p:spPr>
        <p:txBody>
          <a:bodyPr wrap="square" lIns="0" tIns="1200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dirty="0" sz="2000" spc="180" b="1">
                <a:latin typeface="Cambria"/>
                <a:cs typeface="Cambria"/>
              </a:rPr>
              <a:t>SQL: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ts val="2280"/>
              </a:lnSpc>
              <a:spcBef>
                <a:spcPts val="855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DISTINCT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m.COMPANY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16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4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MANUFACTURER</a:t>
            </a:r>
            <a:r>
              <a:rPr dirty="0" sz="2000" spc="-40">
                <a:latin typeface="Courier New"/>
                <a:cs typeface="Courier New"/>
              </a:rPr>
              <a:t> </a:t>
            </a:r>
            <a:r>
              <a:rPr dirty="0" sz="2000" spc="-25">
                <a:latin typeface="Courier New"/>
                <a:cs typeface="Courier New"/>
              </a:rPr>
              <a:t>m,</a:t>
            </a:r>
            <a:endParaRPr sz="2000">
              <a:latin typeface="Courier New"/>
              <a:cs typeface="Courier New"/>
            </a:endParaRPr>
          </a:p>
          <a:p>
            <a:pPr marL="927100" marR="1986280" indent="-152400">
              <a:lnSpc>
                <a:spcPts val="2160"/>
              </a:lnSpc>
              <a:spcBef>
                <a:spcPts val="150"/>
              </a:spcBef>
            </a:pPr>
            <a:r>
              <a:rPr dirty="0" sz="2000">
                <a:latin typeface="Courier New"/>
                <a:cs typeface="Courier New"/>
              </a:rPr>
              <a:t>(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4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p.RECIPE_ID</a:t>
            </a:r>
            <a:r>
              <a:rPr dirty="0" sz="2000" spc="-30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AS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RECIPE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PRODUCT</a:t>
            </a:r>
            <a:r>
              <a:rPr dirty="0" sz="2000" spc="-25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p,</a:t>
            </a:r>
            <a:r>
              <a:rPr dirty="0" sz="2000" spc="-25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CATEGORY</a:t>
            </a:r>
            <a:r>
              <a:rPr dirty="0" sz="2000" spc="-25">
                <a:latin typeface="Courier New"/>
                <a:cs typeface="Courier New"/>
              </a:rPr>
              <a:t> </a:t>
            </a:r>
            <a:r>
              <a:rPr dirty="0" sz="2000" spc="-50">
                <a:latin typeface="Courier New"/>
                <a:cs typeface="Courier New"/>
              </a:rPr>
              <a:t>c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ts val="201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dirty="0" sz="2000" spc="-5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p.WARE=c.WARE</a:t>
            </a:r>
            <a:r>
              <a:rPr dirty="0" sz="2000" spc="-45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AND</a:t>
            </a:r>
            <a:r>
              <a:rPr dirty="0" sz="2000" spc="-4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c.CLASS='Food')</a:t>
            </a:r>
            <a:r>
              <a:rPr dirty="0" sz="2000" spc="-40">
                <a:latin typeface="Courier New"/>
                <a:cs typeface="Courier New"/>
              </a:rPr>
              <a:t> </a:t>
            </a:r>
            <a:r>
              <a:rPr dirty="0" sz="2000" spc="-50">
                <a:latin typeface="Courier New"/>
                <a:cs typeface="Courier New"/>
              </a:rPr>
              <a:t>b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8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dirty="0" sz="2000" spc="-5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m.RECIPE_ID</a:t>
            </a:r>
            <a:r>
              <a:rPr dirty="0" sz="2000" spc="-40"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=b.RECIPE;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140"/>
              </a:spcBef>
            </a:pP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2000" spc="165" b="1">
                <a:latin typeface="Cambria"/>
                <a:cs typeface="Cambria"/>
              </a:rPr>
              <a:t>Q:</a:t>
            </a:r>
            <a:r>
              <a:rPr dirty="0" sz="2000" spc="190" b="1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What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does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this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query</a:t>
            </a:r>
            <a:r>
              <a:rPr dirty="0" sz="2000" spc="16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do?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2000" spc="165" b="1">
                <a:latin typeface="Cambria"/>
                <a:cs typeface="Cambria"/>
              </a:rPr>
              <a:t>Q:</a:t>
            </a:r>
            <a:r>
              <a:rPr dirty="0" sz="2000" spc="195" b="1">
                <a:latin typeface="Cambria"/>
                <a:cs typeface="Cambria"/>
              </a:rPr>
              <a:t> </a:t>
            </a:r>
            <a:r>
              <a:rPr dirty="0" sz="2000" spc="240">
                <a:latin typeface="Cambria"/>
                <a:cs typeface="Cambria"/>
              </a:rPr>
              <a:t>Can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it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be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rewritten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without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subqueries?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70"/>
              <a:t>10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0995" y="1037082"/>
            <a:ext cx="4048201" cy="45720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724242" y="1916302"/>
            <a:ext cx="5029200" cy="2248535"/>
          </a:xfrm>
          <a:prstGeom prst="rect">
            <a:avLst/>
          </a:prstGeom>
          <a:ln w="9525">
            <a:solidFill>
              <a:srgbClr val="578793"/>
            </a:solidFill>
          </a:ln>
        </p:spPr>
        <p:txBody>
          <a:bodyPr wrap="square" lIns="0" tIns="698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55"/>
              </a:spcBef>
            </a:pPr>
            <a:r>
              <a:rPr dirty="0" sz="2000" spc="75" b="1">
                <a:latin typeface="Cambria"/>
                <a:cs typeface="Cambria"/>
              </a:rPr>
              <a:t>Pros:</a:t>
            </a:r>
            <a:endParaRPr sz="2000">
              <a:latin typeface="Cambria"/>
              <a:cs typeface="Cambria"/>
            </a:endParaRPr>
          </a:p>
          <a:p>
            <a:pPr marL="273050" indent="-182245">
              <a:lnSpc>
                <a:spcPct val="100000"/>
              </a:lnSpc>
              <a:spcBef>
                <a:spcPts val="93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273050" algn="l"/>
              </a:tabLst>
            </a:pPr>
            <a:r>
              <a:rPr dirty="0" sz="2000" spc="135">
                <a:latin typeface="Cambria"/>
                <a:cs typeface="Cambria"/>
              </a:rPr>
              <a:t>Easier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to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design</a:t>
            </a:r>
            <a:endParaRPr sz="2000">
              <a:latin typeface="Cambria"/>
              <a:cs typeface="Cambria"/>
            </a:endParaRPr>
          </a:p>
          <a:p>
            <a:pPr marL="273050" indent="-182245">
              <a:lnSpc>
                <a:spcPts val="228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273050" algn="l"/>
              </a:tabLst>
            </a:pPr>
            <a:r>
              <a:rPr dirty="0" sz="2000" spc="140">
                <a:latin typeface="Cambria"/>
                <a:cs typeface="Cambria"/>
              </a:rPr>
              <a:t>Query</a:t>
            </a:r>
            <a:r>
              <a:rPr dirty="0" sz="2000" spc="15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more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structured</a:t>
            </a:r>
            <a:r>
              <a:rPr dirty="0" sz="2000" spc="165">
                <a:latin typeface="Cambria"/>
                <a:cs typeface="Cambria"/>
              </a:rPr>
              <a:t> and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better</a:t>
            </a:r>
            <a:endParaRPr sz="2000">
              <a:latin typeface="Cambria"/>
              <a:cs typeface="Cambria"/>
            </a:endParaRPr>
          </a:p>
          <a:p>
            <a:pPr marL="274320">
              <a:lnSpc>
                <a:spcPts val="2280"/>
              </a:lnSpc>
            </a:pPr>
            <a:r>
              <a:rPr dirty="0" sz="2000" spc="80">
                <a:latin typeface="Cambria"/>
                <a:cs typeface="Cambria"/>
              </a:rPr>
              <a:t>reflects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the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original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question</a:t>
            </a:r>
            <a:endParaRPr sz="2000">
              <a:latin typeface="Cambria"/>
              <a:cs typeface="Cambria"/>
            </a:endParaRPr>
          </a:p>
          <a:p>
            <a:pPr marL="273050" marR="502284" indent="-182245">
              <a:lnSpc>
                <a:spcPts val="2160"/>
              </a:lnSpc>
              <a:spcBef>
                <a:spcPts val="123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274320" algn="l"/>
              </a:tabLst>
            </a:pPr>
            <a:r>
              <a:rPr dirty="0" sz="2000" spc="160">
                <a:latin typeface="Cambria"/>
                <a:cs typeface="Cambria"/>
              </a:rPr>
              <a:t>Some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queries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could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not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be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60">
                <a:latin typeface="Cambria"/>
                <a:cs typeface="Cambria"/>
              </a:rPr>
              <a:t>written </a:t>
            </a:r>
            <a:r>
              <a:rPr dirty="0" sz="2000" spc="60">
                <a:latin typeface="Cambria"/>
                <a:cs typeface="Cambria"/>
              </a:rPr>
              <a:t>	</a:t>
            </a:r>
            <a:r>
              <a:rPr dirty="0" sz="2000" spc="100">
                <a:latin typeface="Cambria"/>
                <a:cs typeface="Cambria"/>
              </a:rPr>
              <a:t>without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subqueries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70"/>
              <a:t>10</a:t>
            </a:fld>
          </a:p>
        </p:txBody>
      </p:sp>
      <p:sp>
        <p:nvSpPr>
          <p:cNvPr id="4" name="object 4" descr=""/>
          <p:cNvSpPr txBox="1"/>
          <p:nvPr/>
        </p:nvSpPr>
        <p:spPr>
          <a:xfrm>
            <a:off x="6236208" y="1916302"/>
            <a:ext cx="5029200" cy="2248535"/>
          </a:xfrm>
          <a:prstGeom prst="rect">
            <a:avLst/>
          </a:prstGeom>
          <a:ln w="9525">
            <a:solidFill>
              <a:srgbClr val="7B3956"/>
            </a:solidFill>
          </a:ln>
        </p:spPr>
        <p:txBody>
          <a:bodyPr wrap="square" lIns="0" tIns="698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55"/>
              </a:spcBef>
            </a:pPr>
            <a:r>
              <a:rPr dirty="0" sz="2000" spc="155" b="1">
                <a:latin typeface="Cambria"/>
                <a:cs typeface="Cambria"/>
              </a:rPr>
              <a:t>Cons:</a:t>
            </a:r>
            <a:endParaRPr sz="2000">
              <a:latin typeface="Cambria"/>
              <a:cs typeface="Cambria"/>
            </a:endParaRPr>
          </a:p>
          <a:p>
            <a:pPr marL="274320" indent="-182245">
              <a:lnSpc>
                <a:spcPct val="100000"/>
              </a:lnSpc>
              <a:spcBef>
                <a:spcPts val="93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274320" algn="l"/>
              </a:tabLst>
            </a:pPr>
            <a:r>
              <a:rPr dirty="0" sz="2000" spc="85">
                <a:latin typeface="Cambria"/>
                <a:cs typeface="Cambria"/>
              </a:rPr>
              <a:t>Worse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performance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in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general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24242" y="4553026"/>
            <a:ext cx="10541635" cy="2086610"/>
          </a:xfrm>
          <a:prstGeom prst="rect">
            <a:avLst/>
          </a:prstGeom>
          <a:ln w="9525">
            <a:solidFill>
              <a:srgbClr val="AFAA56"/>
            </a:solidFill>
          </a:ln>
        </p:spPr>
        <p:txBody>
          <a:bodyPr wrap="square" lIns="0" tIns="762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60"/>
              </a:spcBef>
            </a:pPr>
            <a:r>
              <a:rPr dirty="0" sz="2000" spc="95" b="1">
                <a:latin typeface="Cambria"/>
                <a:cs typeface="Cambria"/>
              </a:rPr>
              <a:t>Tips:</a:t>
            </a:r>
            <a:endParaRPr sz="2000">
              <a:latin typeface="Cambria"/>
              <a:cs typeface="Cambria"/>
            </a:endParaRPr>
          </a:p>
          <a:p>
            <a:pPr marL="273050" indent="-182245">
              <a:lnSpc>
                <a:spcPct val="100000"/>
              </a:lnSpc>
              <a:spcBef>
                <a:spcPts val="93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273050" algn="l"/>
              </a:tabLst>
            </a:pPr>
            <a:r>
              <a:rPr dirty="0" sz="2000" spc="95">
                <a:latin typeface="Cambria"/>
                <a:cs typeface="Cambria"/>
              </a:rPr>
              <a:t>Feel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free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to</a:t>
            </a:r>
            <a:r>
              <a:rPr dirty="0" sz="2000" spc="235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use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subqueries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to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create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initial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query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design</a:t>
            </a:r>
            <a:endParaRPr sz="2000">
              <a:latin typeface="Cambria"/>
              <a:cs typeface="Cambria"/>
            </a:endParaRPr>
          </a:p>
          <a:p>
            <a:pPr marL="273050" indent="-182245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273050" algn="l"/>
              </a:tabLst>
            </a:pPr>
            <a:r>
              <a:rPr dirty="0" sz="2000" spc="130">
                <a:latin typeface="Cambria"/>
                <a:cs typeface="Cambria"/>
              </a:rPr>
              <a:t>Next,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60">
                <a:latin typeface="Cambria"/>
                <a:cs typeface="Cambria"/>
              </a:rPr>
              <a:t>try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to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45">
                <a:latin typeface="Cambria"/>
                <a:cs typeface="Cambria"/>
              </a:rPr>
              <a:t>rewrite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query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with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70">
                <a:latin typeface="Cambria"/>
                <a:cs typeface="Cambria"/>
              </a:rPr>
              <a:t>as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few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subqueries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70">
                <a:latin typeface="Cambria"/>
                <a:cs typeface="Cambria"/>
              </a:rPr>
              <a:t>as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possible</a:t>
            </a:r>
            <a:endParaRPr sz="2000">
              <a:latin typeface="Cambria"/>
              <a:cs typeface="Cambria"/>
            </a:endParaRPr>
          </a:p>
          <a:p>
            <a:pPr marL="273050" indent="-182245">
              <a:lnSpc>
                <a:spcPts val="228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273050" algn="l"/>
              </a:tabLst>
            </a:pPr>
            <a:r>
              <a:rPr dirty="0" sz="2000">
                <a:latin typeface="Cambria"/>
                <a:cs typeface="Cambria"/>
              </a:rPr>
              <a:t>Try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to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keep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subqueries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70">
                <a:latin typeface="Cambria"/>
                <a:cs typeface="Cambria"/>
              </a:rPr>
              <a:t>as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simple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70">
                <a:latin typeface="Cambria"/>
                <a:cs typeface="Cambria"/>
              </a:rPr>
              <a:t>as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possible.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Move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all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complexity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to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  <a:p>
            <a:pPr marL="274320">
              <a:lnSpc>
                <a:spcPts val="2280"/>
              </a:lnSpc>
            </a:pPr>
            <a:r>
              <a:rPr dirty="0" sz="2000" spc="114">
                <a:latin typeface="Cambria"/>
                <a:cs typeface="Cambria"/>
              </a:rPr>
              <a:t>parent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query.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3492" y="699516"/>
            <a:ext cx="8155038" cy="57569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6769" y="1371853"/>
            <a:ext cx="2920250" cy="45161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148588" y="2434997"/>
            <a:ext cx="8561070" cy="2502535"/>
          </a:xfrm>
          <a:prstGeom prst="rect">
            <a:avLst/>
          </a:prstGeom>
        </p:spPr>
        <p:txBody>
          <a:bodyPr wrap="square" lIns="0" tIns="1200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dirty="0" sz="2000" spc="180" b="1">
                <a:latin typeface="Cambria"/>
                <a:cs typeface="Cambria"/>
              </a:rPr>
              <a:t>SQL: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ts val="2280"/>
              </a:lnSpc>
              <a:spcBef>
                <a:spcPts val="855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DISTINCT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COMPANY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16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MANUFACTURER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16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RECIPE_ID</a:t>
            </a:r>
            <a:r>
              <a:rPr dirty="0" sz="2000" spc="-30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IN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(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RECIPE_ID</a:t>
            </a:r>
            <a:endParaRPr sz="2000">
              <a:latin typeface="Courier New"/>
              <a:cs typeface="Courier New"/>
            </a:endParaRPr>
          </a:p>
          <a:p>
            <a:pPr marL="3061335">
              <a:lnSpc>
                <a:spcPts val="216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PRODUCT</a:t>
            </a:r>
            <a:endParaRPr sz="2000">
              <a:latin typeface="Courier New"/>
              <a:cs typeface="Courier New"/>
            </a:endParaRPr>
          </a:p>
          <a:p>
            <a:pPr marL="3061335">
              <a:lnSpc>
                <a:spcPts val="216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WARE</a:t>
            </a:r>
            <a:r>
              <a:rPr dirty="0" sz="2000" spc="-20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IN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(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20">
                <a:latin typeface="Courier New"/>
                <a:cs typeface="Courier New"/>
              </a:rPr>
              <a:t>WARE</a:t>
            </a:r>
            <a:endParaRPr sz="2000">
              <a:latin typeface="Courier New"/>
              <a:cs typeface="Courier New"/>
            </a:endParaRPr>
          </a:p>
          <a:p>
            <a:pPr marL="5347335">
              <a:lnSpc>
                <a:spcPts val="218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CATEGORY</a:t>
            </a:r>
            <a:endParaRPr sz="2000">
              <a:latin typeface="Courier New"/>
              <a:cs typeface="Courier New"/>
            </a:endParaRPr>
          </a:p>
          <a:p>
            <a:pPr marL="5347335">
              <a:lnSpc>
                <a:spcPts val="230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CLASS='Food'));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70"/>
              <a:t>10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300" y="1028700"/>
            <a:ext cx="8091068" cy="465582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040993" y="3165449"/>
            <a:ext cx="9758045" cy="2281555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2000" spc="75">
                <a:solidFill>
                  <a:srgbClr val="006FC0"/>
                </a:solidFill>
                <a:latin typeface="Cambria"/>
                <a:cs typeface="Cambria"/>
              </a:rPr>
              <a:t>IN</a:t>
            </a:r>
            <a:r>
              <a:rPr dirty="0" sz="2000" spc="19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expects</a:t>
            </a:r>
            <a:r>
              <a:rPr dirty="0" sz="2000" spc="185">
                <a:latin typeface="Cambria"/>
                <a:cs typeface="Cambria"/>
              </a:rPr>
              <a:t> a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“list”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values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40"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same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type.</a:t>
            </a:r>
            <a:endParaRPr sz="2000">
              <a:latin typeface="Cambria"/>
              <a:cs typeface="Cambria"/>
            </a:endParaRPr>
          </a:p>
          <a:p>
            <a:pPr marL="12700" marR="875665">
              <a:lnSpc>
                <a:spcPts val="2160"/>
              </a:lnSpc>
              <a:spcBef>
                <a:spcPts val="1230"/>
              </a:spcBef>
            </a:pPr>
            <a:r>
              <a:rPr dirty="0" sz="2000" spc="150" b="1">
                <a:latin typeface="Cambria"/>
                <a:cs typeface="Cambria"/>
              </a:rPr>
              <a:t>Thus</a:t>
            </a:r>
            <a:r>
              <a:rPr dirty="0" sz="2000" spc="150">
                <a:latin typeface="Cambria"/>
                <a:cs typeface="Cambria"/>
              </a:rPr>
              <a:t>,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it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expects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that</a:t>
            </a:r>
            <a:r>
              <a:rPr dirty="0" sz="2000" spc="23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subquery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will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return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result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with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single </a:t>
            </a:r>
            <a:r>
              <a:rPr dirty="0" sz="2000" spc="165">
                <a:latin typeface="Cambria"/>
                <a:cs typeface="Cambria"/>
              </a:rPr>
              <a:t>column,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that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compatible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with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expression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before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75">
                <a:solidFill>
                  <a:srgbClr val="006FC0"/>
                </a:solidFill>
                <a:latin typeface="Cambria"/>
                <a:cs typeface="Cambria"/>
              </a:rPr>
              <a:t>IN</a:t>
            </a:r>
            <a:r>
              <a:rPr dirty="0" sz="2000" spc="175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by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type.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215"/>
              </a:spcBef>
            </a:pPr>
            <a:endParaRPr sz="2000">
              <a:latin typeface="Cambria"/>
              <a:cs typeface="Cambria"/>
            </a:endParaRPr>
          </a:p>
          <a:p>
            <a:pPr marL="12700" marR="5080">
              <a:lnSpc>
                <a:spcPts val="2160"/>
              </a:lnSpc>
            </a:pPr>
            <a:r>
              <a:rPr dirty="0" sz="2000" spc="114">
                <a:solidFill>
                  <a:srgbClr val="7E7E7E"/>
                </a:solidFill>
                <a:latin typeface="Cambria"/>
                <a:cs typeface="Cambria"/>
              </a:rPr>
              <a:t>In</a:t>
            </a:r>
            <a:r>
              <a:rPr dirty="0" sz="2000" spc="19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4">
                <a:solidFill>
                  <a:srgbClr val="7E7E7E"/>
                </a:solidFill>
                <a:latin typeface="Cambria"/>
                <a:cs typeface="Cambria"/>
              </a:rPr>
              <a:t>general,</a:t>
            </a:r>
            <a:r>
              <a:rPr dirty="0" sz="2000" spc="17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20">
                <a:solidFill>
                  <a:srgbClr val="7E7E7E"/>
                </a:solidFill>
                <a:latin typeface="Cambria"/>
                <a:cs typeface="Cambria"/>
              </a:rPr>
              <a:t>you</a:t>
            </a:r>
            <a:r>
              <a:rPr dirty="0" sz="2000" spc="20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75">
                <a:solidFill>
                  <a:srgbClr val="7E7E7E"/>
                </a:solidFill>
                <a:latin typeface="Cambria"/>
                <a:cs typeface="Cambria"/>
              </a:rPr>
              <a:t>can</a:t>
            </a:r>
            <a:r>
              <a:rPr dirty="0" sz="2000" spc="21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65">
                <a:solidFill>
                  <a:srgbClr val="7E7E7E"/>
                </a:solidFill>
                <a:latin typeface="Cambria"/>
                <a:cs typeface="Cambria"/>
              </a:rPr>
              <a:t>use</a:t>
            </a:r>
            <a:r>
              <a:rPr dirty="0" sz="2000" spc="18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85">
                <a:solidFill>
                  <a:srgbClr val="7E7E7E"/>
                </a:solidFill>
                <a:latin typeface="Cambria"/>
                <a:cs typeface="Cambria"/>
              </a:rPr>
              <a:t>a</a:t>
            </a:r>
            <a:r>
              <a:rPr dirty="0" sz="2000" spc="21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0">
                <a:solidFill>
                  <a:srgbClr val="7E7E7E"/>
                </a:solidFill>
                <a:latin typeface="Cambria"/>
                <a:cs typeface="Cambria"/>
              </a:rPr>
              <a:t>tuple</a:t>
            </a:r>
            <a:r>
              <a:rPr dirty="0" sz="2000" spc="19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25">
                <a:solidFill>
                  <a:srgbClr val="7E7E7E"/>
                </a:solidFill>
                <a:latin typeface="Cambria"/>
                <a:cs typeface="Cambria"/>
              </a:rPr>
              <a:t>on</a:t>
            </a:r>
            <a:r>
              <a:rPr dirty="0" sz="2000" spc="21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dirty="0" sz="2000" spc="22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55">
                <a:solidFill>
                  <a:srgbClr val="7E7E7E"/>
                </a:solidFill>
                <a:latin typeface="Cambria"/>
                <a:cs typeface="Cambria"/>
              </a:rPr>
              <a:t>left</a:t>
            </a:r>
            <a:r>
              <a:rPr dirty="0" sz="2000" spc="18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65">
                <a:solidFill>
                  <a:srgbClr val="7E7E7E"/>
                </a:solidFill>
                <a:latin typeface="Cambria"/>
                <a:cs typeface="Cambria"/>
              </a:rPr>
              <a:t>and</a:t>
            </a:r>
            <a:r>
              <a:rPr dirty="0" sz="2000" spc="21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dirty="0" sz="2000" spc="20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95">
                <a:solidFill>
                  <a:srgbClr val="7E7E7E"/>
                </a:solidFill>
                <a:latin typeface="Cambria"/>
                <a:cs typeface="Cambria"/>
              </a:rPr>
              <a:t>corresponded</a:t>
            </a:r>
            <a:r>
              <a:rPr dirty="0" sz="2000" spc="16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90">
                <a:solidFill>
                  <a:srgbClr val="7E7E7E"/>
                </a:solidFill>
                <a:latin typeface="Cambria"/>
                <a:cs typeface="Cambria"/>
              </a:rPr>
              <a:t>projection</a:t>
            </a:r>
            <a:r>
              <a:rPr dirty="0" sz="2000" spc="18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-25">
                <a:solidFill>
                  <a:srgbClr val="7E7E7E"/>
                </a:solidFill>
                <a:latin typeface="Cambria"/>
                <a:cs typeface="Cambria"/>
              </a:rPr>
              <a:t>(by </a:t>
            </a:r>
            <a:r>
              <a:rPr dirty="0" sz="2000" spc="114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dirty="0" sz="2000" spc="25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>
                <a:solidFill>
                  <a:srgbClr val="7E7E7E"/>
                </a:solidFill>
                <a:latin typeface="Cambria"/>
                <a:cs typeface="Cambria"/>
              </a:rPr>
              <a:t>type)</a:t>
            </a:r>
            <a:r>
              <a:rPr dirty="0" sz="2000" spc="20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25">
                <a:solidFill>
                  <a:srgbClr val="7E7E7E"/>
                </a:solidFill>
                <a:latin typeface="Cambria"/>
                <a:cs typeface="Cambria"/>
              </a:rPr>
              <a:t>on</a:t>
            </a:r>
            <a:r>
              <a:rPr dirty="0" sz="2000" spc="24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4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dirty="0" sz="2000" spc="23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05">
                <a:solidFill>
                  <a:srgbClr val="7E7E7E"/>
                </a:solidFill>
                <a:latin typeface="Cambria"/>
                <a:cs typeface="Cambria"/>
              </a:rPr>
              <a:t>right.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70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9581" y="1028700"/>
            <a:ext cx="8612278" cy="57569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677062" y="2407565"/>
            <a:ext cx="6884034" cy="2223135"/>
          </a:xfrm>
          <a:prstGeom prst="rect">
            <a:avLst/>
          </a:prstGeom>
        </p:spPr>
        <p:txBody>
          <a:bodyPr wrap="square" lIns="0" tIns="1200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dirty="0" sz="2000" spc="170" b="1">
                <a:latin typeface="Cambria"/>
                <a:cs typeface="Cambria"/>
              </a:rPr>
              <a:t>SQL: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ts val="2280"/>
              </a:lnSpc>
              <a:spcBef>
                <a:spcPts val="855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DISTINCT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p.WARE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160"/>
              </a:lnSpc>
              <a:tabLst>
                <a:tab pos="774700" algn="l"/>
              </a:tabLst>
            </a:pP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	</a:t>
            </a:r>
            <a:r>
              <a:rPr dirty="0" sz="2000">
                <a:latin typeface="Courier New"/>
                <a:cs typeface="Courier New"/>
              </a:rPr>
              <a:t>PRODUCT</a:t>
            </a:r>
            <a:r>
              <a:rPr dirty="0" sz="2000" spc="-45">
                <a:latin typeface="Courier New"/>
                <a:cs typeface="Courier New"/>
              </a:rPr>
              <a:t> </a:t>
            </a:r>
            <a:r>
              <a:rPr dirty="0" sz="2000" spc="-50">
                <a:latin typeface="Courier New"/>
                <a:cs typeface="Courier New"/>
              </a:rPr>
              <a:t>p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160"/>
              </a:lnSpc>
              <a:tabLst>
                <a:tab pos="927100" algn="l"/>
              </a:tabLst>
            </a:pPr>
            <a:r>
              <a:rPr dirty="0" sz="2000" spc="-1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	EXISTS</a:t>
            </a:r>
            <a:r>
              <a:rPr dirty="0" sz="2000" spc="-4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(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5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2146300">
              <a:lnSpc>
                <a:spcPts val="216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MATERIAL</a:t>
            </a:r>
            <a:r>
              <a:rPr dirty="0" sz="2000" spc="-30">
                <a:latin typeface="Courier New"/>
                <a:cs typeface="Courier New"/>
              </a:rPr>
              <a:t> </a:t>
            </a:r>
            <a:r>
              <a:rPr dirty="0" sz="2000" spc="-25">
                <a:latin typeface="Courier New"/>
                <a:cs typeface="Courier New"/>
              </a:rPr>
              <a:t>mt1</a:t>
            </a:r>
            <a:endParaRPr sz="2000">
              <a:latin typeface="Courier New"/>
              <a:cs typeface="Courier New"/>
            </a:endParaRPr>
          </a:p>
          <a:p>
            <a:pPr marL="2146300">
              <a:lnSpc>
                <a:spcPts val="216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mt1.RECIPE_ID=</a:t>
            </a:r>
            <a:r>
              <a:rPr dirty="0" sz="2000" spc="-10">
                <a:solidFill>
                  <a:srgbClr val="C00000"/>
                </a:solidFill>
                <a:latin typeface="Courier New"/>
                <a:cs typeface="Courier New"/>
              </a:rPr>
              <a:t>p.RECIPE_ID</a:t>
            </a:r>
            <a:endParaRPr sz="2000">
              <a:latin typeface="Courier New"/>
              <a:cs typeface="Courier New"/>
            </a:endParaRPr>
          </a:p>
          <a:p>
            <a:pPr marL="2451100">
              <a:lnSpc>
                <a:spcPts val="228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AND</a:t>
            </a:r>
            <a:r>
              <a:rPr dirty="0" sz="2000" spc="-1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mt1.WARE='Water');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70"/>
              <a:t>10</a:t>
            </a:fld>
          </a:p>
        </p:txBody>
      </p:sp>
      <p:sp>
        <p:nvSpPr>
          <p:cNvPr id="4" name="object 4" descr=""/>
          <p:cNvSpPr txBox="1"/>
          <p:nvPr/>
        </p:nvSpPr>
        <p:spPr>
          <a:xfrm>
            <a:off x="7840726" y="4025265"/>
            <a:ext cx="30734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latin typeface="Courier New"/>
                <a:cs typeface="Courier New"/>
              </a:rPr>
              <a:t>--</a:t>
            </a:r>
            <a:r>
              <a:rPr dirty="0" sz="2000">
                <a:latin typeface="Courier New"/>
                <a:cs typeface="Courier New"/>
              </a:rPr>
              <a:t>dep.</a:t>
            </a:r>
            <a:r>
              <a:rPr dirty="0" sz="2000" spc="-20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from</a:t>
            </a:r>
            <a:r>
              <a:rPr dirty="0" sz="2000" spc="-20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outer</a:t>
            </a:r>
            <a:r>
              <a:rPr dirty="0" sz="2000" spc="-15">
                <a:latin typeface="Courier New"/>
                <a:cs typeface="Courier New"/>
              </a:rPr>
              <a:t> </a:t>
            </a:r>
            <a:r>
              <a:rPr dirty="0" sz="2000" spc="-25">
                <a:latin typeface="Courier New"/>
                <a:cs typeface="Courier New"/>
              </a:rPr>
              <a:t>q.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77062" y="5043263"/>
            <a:ext cx="5346700" cy="878840"/>
          </a:xfrm>
          <a:prstGeom prst="rect">
            <a:avLst/>
          </a:prstGeom>
        </p:spPr>
        <p:txBody>
          <a:bodyPr wrap="square" lIns="0" tIns="133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2000" spc="165" b="1">
                <a:latin typeface="Cambria"/>
                <a:cs typeface="Cambria"/>
              </a:rPr>
              <a:t>Q:</a:t>
            </a:r>
            <a:r>
              <a:rPr dirty="0" sz="2000" spc="190" b="1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What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does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this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query</a:t>
            </a:r>
            <a:r>
              <a:rPr dirty="0" sz="2000" spc="16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do?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2000" spc="165" b="1">
                <a:latin typeface="Cambria"/>
                <a:cs typeface="Cambria"/>
              </a:rPr>
              <a:t>Q:</a:t>
            </a:r>
            <a:r>
              <a:rPr dirty="0" sz="2000" spc="195" b="1">
                <a:latin typeface="Cambria"/>
                <a:cs typeface="Cambria"/>
              </a:rPr>
              <a:t> </a:t>
            </a:r>
            <a:r>
              <a:rPr dirty="0" sz="2000" spc="240">
                <a:latin typeface="Cambria"/>
                <a:cs typeface="Cambria"/>
              </a:rPr>
              <a:t>Can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it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be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rewritten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without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subqueries?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592" y="1037082"/>
            <a:ext cx="3100819" cy="45986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48588" y="2434997"/>
            <a:ext cx="7646670" cy="2813050"/>
          </a:xfrm>
          <a:prstGeom prst="rect">
            <a:avLst/>
          </a:prstGeom>
        </p:spPr>
        <p:txBody>
          <a:bodyPr wrap="square" lIns="0" tIns="1200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dirty="0" sz="2000" spc="180" b="1">
                <a:latin typeface="Cambria"/>
                <a:cs typeface="Cambria"/>
              </a:rPr>
              <a:t>SQL: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ts val="2280"/>
              </a:lnSpc>
              <a:spcBef>
                <a:spcPts val="855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DISTINCT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p.WARE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16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PRODUCT</a:t>
            </a:r>
            <a:r>
              <a:rPr dirty="0" sz="2000" spc="-25">
                <a:latin typeface="Courier New"/>
                <a:cs typeface="Courier New"/>
              </a:rPr>
              <a:t> </a:t>
            </a:r>
            <a:r>
              <a:rPr dirty="0" sz="2000" spc="-50">
                <a:latin typeface="Courier New"/>
                <a:cs typeface="Courier New"/>
              </a:rPr>
              <a:t>p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16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NOT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EXISTS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(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5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2756535">
              <a:lnSpc>
                <a:spcPts val="218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MATERIAL</a:t>
            </a:r>
            <a:r>
              <a:rPr dirty="0" sz="2000" spc="-30">
                <a:latin typeface="Courier New"/>
                <a:cs typeface="Courier New"/>
              </a:rPr>
              <a:t> </a:t>
            </a:r>
            <a:r>
              <a:rPr dirty="0" sz="2000" spc="-25">
                <a:latin typeface="Courier New"/>
                <a:cs typeface="Courier New"/>
              </a:rPr>
              <a:t>mt</a:t>
            </a:r>
            <a:endParaRPr sz="2000">
              <a:latin typeface="Courier New"/>
              <a:cs typeface="Courier New"/>
            </a:endParaRPr>
          </a:p>
          <a:p>
            <a:pPr marL="2756535">
              <a:lnSpc>
                <a:spcPts val="230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mt.RECIPE_ID=</a:t>
            </a:r>
            <a:r>
              <a:rPr dirty="0" sz="2000" spc="-10">
                <a:solidFill>
                  <a:srgbClr val="C00000"/>
                </a:solidFill>
                <a:latin typeface="Courier New"/>
                <a:cs typeface="Courier New"/>
              </a:rPr>
              <a:t>p.RECIPE_ID</a:t>
            </a:r>
            <a:r>
              <a:rPr dirty="0" sz="2000" spc="-10">
                <a:latin typeface="Courier New"/>
                <a:cs typeface="Courier New"/>
              </a:rPr>
              <a:t>);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105"/>
              </a:spcBef>
            </a:pP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2000" spc="105">
                <a:latin typeface="Cambria"/>
                <a:cs typeface="Cambria"/>
              </a:rPr>
              <a:t>&lt;the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same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questions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here&gt;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70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592" y="1037082"/>
            <a:ext cx="4490707" cy="45986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45539" y="2775966"/>
            <a:ext cx="9653905" cy="286131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algn="just" marL="12700" marR="299085">
              <a:lnSpc>
                <a:spcPts val="2160"/>
              </a:lnSpc>
              <a:spcBef>
                <a:spcPts val="375"/>
              </a:spcBef>
            </a:pPr>
            <a:r>
              <a:rPr dirty="0" sz="2000" spc="215">
                <a:solidFill>
                  <a:srgbClr val="006FC0"/>
                </a:solidFill>
                <a:latin typeface="Cambria"/>
                <a:cs typeface="Cambria"/>
              </a:rPr>
              <a:t>EXISTS</a:t>
            </a:r>
            <a:r>
              <a:rPr dirty="0" sz="2000" spc="20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checks</a:t>
            </a:r>
            <a:r>
              <a:rPr dirty="0" sz="2000" spc="16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if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subquery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returns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at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least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one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row.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The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structure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and </a:t>
            </a:r>
            <a:r>
              <a:rPr dirty="0" sz="2000" spc="130">
                <a:latin typeface="Cambria"/>
                <a:cs typeface="Cambria"/>
              </a:rPr>
              <a:t>values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the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row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do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not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matter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>
                <a:solidFill>
                  <a:srgbClr val="7E7E7E"/>
                </a:solidFill>
                <a:latin typeface="Cambria"/>
                <a:cs typeface="Cambria"/>
              </a:rPr>
              <a:t>(so</a:t>
            </a:r>
            <a:r>
              <a:rPr dirty="0" sz="2000" spc="21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65">
                <a:solidFill>
                  <a:srgbClr val="7E7E7E"/>
                </a:solidFill>
                <a:latin typeface="Cambria"/>
                <a:cs typeface="Cambria"/>
              </a:rPr>
              <a:t>it</a:t>
            </a:r>
            <a:r>
              <a:rPr dirty="0" sz="2000" spc="21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r>
              <a:rPr dirty="0" sz="2000" spc="22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2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dirty="0" sz="2000" spc="21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00">
                <a:solidFill>
                  <a:srgbClr val="7E7E7E"/>
                </a:solidFill>
                <a:latin typeface="Cambria"/>
                <a:cs typeface="Cambria"/>
              </a:rPr>
              <a:t>typical</a:t>
            </a:r>
            <a:r>
              <a:rPr dirty="0" sz="2000" spc="21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0">
                <a:solidFill>
                  <a:srgbClr val="7E7E7E"/>
                </a:solidFill>
                <a:latin typeface="Cambria"/>
                <a:cs typeface="Cambria"/>
              </a:rPr>
              <a:t>pattern</a:t>
            </a:r>
            <a:r>
              <a:rPr dirty="0" sz="2000" spc="20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60">
                <a:solidFill>
                  <a:srgbClr val="7E7E7E"/>
                </a:solidFill>
                <a:latin typeface="Cambria"/>
                <a:cs typeface="Cambria"/>
              </a:rPr>
              <a:t>to</a:t>
            </a:r>
            <a:r>
              <a:rPr dirty="0" sz="2000" spc="22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65">
                <a:solidFill>
                  <a:srgbClr val="7E7E7E"/>
                </a:solidFill>
                <a:latin typeface="Cambria"/>
                <a:cs typeface="Cambria"/>
              </a:rPr>
              <a:t>use</a:t>
            </a:r>
            <a:r>
              <a:rPr dirty="0" sz="2000" spc="21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25">
                <a:solidFill>
                  <a:srgbClr val="7E7E7E"/>
                </a:solidFill>
                <a:latin typeface="Cambria"/>
                <a:cs typeface="Cambria"/>
              </a:rPr>
              <a:t>constant- </a:t>
            </a:r>
            <a:r>
              <a:rPr dirty="0" sz="2000" spc="110">
                <a:solidFill>
                  <a:srgbClr val="7E7E7E"/>
                </a:solidFill>
                <a:latin typeface="Cambria"/>
                <a:cs typeface="Cambria"/>
              </a:rPr>
              <a:t>value</a:t>
            </a:r>
            <a:r>
              <a:rPr dirty="0" sz="2000" spc="18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95">
                <a:solidFill>
                  <a:srgbClr val="7E7E7E"/>
                </a:solidFill>
                <a:latin typeface="Cambria"/>
                <a:cs typeface="Cambria"/>
              </a:rPr>
              <a:t>projections</a:t>
            </a:r>
            <a:r>
              <a:rPr dirty="0" sz="2000" spc="17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85">
                <a:solidFill>
                  <a:srgbClr val="7E7E7E"/>
                </a:solidFill>
                <a:latin typeface="Cambria"/>
                <a:cs typeface="Cambria"/>
              </a:rPr>
              <a:t>with</a:t>
            </a:r>
            <a:r>
              <a:rPr dirty="0" sz="2000" spc="22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0">
                <a:solidFill>
                  <a:srgbClr val="7E7E7E"/>
                </a:solidFill>
                <a:latin typeface="Cambria"/>
                <a:cs typeface="Cambria"/>
              </a:rPr>
              <a:t>value</a:t>
            </a:r>
            <a:r>
              <a:rPr dirty="0" sz="2000" spc="18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20">
                <a:solidFill>
                  <a:srgbClr val="7E7E7E"/>
                </a:solidFill>
                <a:latin typeface="Cambria"/>
                <a:cs typeface="Cambria"/>
              </a:rPr>
              <a:t>0</a:t>
            </a:r>
            <a:r>
              <a:rPr dirty="0" sz="2000" spc="19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55">
                <a:solidFill>
                  <a:srgbClr val="7E7E7E"/>
                </a:solidFill>
                <a:latin typeface="Cambria"/>
                <a:cs typeface="Cambria"/>
              </a:rPr>
              <a:t>or</a:t>
            </a:r>
            <a:r>
              <a:rPr dirty="0" sz="2000" spc="21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35">
                <a:solidFill>
                  <a:srgbClr val="7E7E7E"/>
                </a:solidFill>
                <a:latin typeface="Cambria"/>
                <a:cs typeface="Cambria"/>
              </a:rPr>
              <a:t>1)</a:t>
            </a:r>
            <a:r>
              <a:rPr dirty="0" sz="2000" spc="35"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 algn="just" marL="12700">
              <a:lnSpc>
                <a:spcPct val="100000"/>
              </a:lnSpc>
              <a:spcBef>
                <a:spcPts val="930"/>
              </a:spcBef>
            </a:pPr>
            <a:r>
              <a:rPr dirty="0" sz="2000" spc="145">
                <a:latin typeface="Cambria"/>
                <a:cs typeface="Cambria"/>
              </a:rPr>
              <a:t>Usually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it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75">
                <a:latin typeface="Cambria"/>
                <a:cs typeface="Cambria"/>
              </a:rPr>
              <a:t>can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be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rewritten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with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254">
                <a:solidFill>
                  <a:srgbClr val="006FC0"/>
                </a:solidFill>
                <a:latin typeface="Cambria"/>
                <a:cs typeface="Cambria"/>
              </a:rPr>
              <a:t>JOIN</a:t>
            </a:r>
            <a:r>
              <a:rPr dirty="0" sz="2000" spc="195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and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45">
                <a:solidFill>
                  <a:srgbClr val="006FC0"/>
                </a:solidFill>
                <a:latin typeface="Cambria"/>
                <a:cs typeface="Cambria"/>
              </a:rPr>
              <a:t>DISTINCT</a:t>
            </a:r>
            <a:r>
              <a:rPr dirty="0" sz="2000" spc="17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in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projection.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75"/>
              </a:spcBef>
            </a:pPr>
            <a:endParaRPr sz="2000">
              <a:latin typeface="Cambria"/>
              <a:cs typeface="Cambria"/>
            </a:endParaRPr>
          </a:p>
          <a:p>
            <a:pPr algn="just" marL="12700">
              <a:lnSpc>
                <a:spcPct val="100000"/>
              </a:lnSpc>
            </a:pPr>
            <a:r>
              <a:rPr dirty="0" sz="2000" spc="150">
                <a:solidFill>
                  <a:srgbClr val="006FC0"/>
                </a:solidFill>
                <a:latin typeface="Cambria"/>
                <a:cs typeface="Cambria"/>
              </a:rPr>
              <a:t>NOT</a:t>
            </a:r>
            <a:r>
              <a:rPr dirty="0" sz="2000" spc="17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dirty="0" sz="2000" spc="215">
                <a:solidFill>
                  <a:srgbClr val="006FC0"/>
                </a:solidFill>
                <a:latin typeface="Cambria"/>
                <a:cs typeface="Cambria"/>
              </a:rPr>
              <a:t>EXISTS</a:t>
            </a:r>
            <a:r>
              <a:rPr dirty="0" sz="2000" spc="195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opposite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to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204">
                <a:solidFill>
                  <a:srgbClr val="006FC0"/>
                </a:solidFill>
                <a:latin typeface="Cambria"/>
                <a:cs typeface="Cambria"/>
              </a:rPr>
              <a:t>EXISTS</a:t>
            </a:r>
            <a:r>
              <a:rPr dirty="0" sz="2000" spc="204"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 marL="12700" marR="5080">
              <a:lnSpc>
                <a:spcPts val="2160"/>
              </a:lnSpc>
              <a:spcBef>
                <a:spcPts val="1235"/>
              </a:spcBef>
            </a:pPr>
            <a:r>
              <a:rPr dirty="0" sz="2000" spc="145">
                <a:latin typeface="Cambria"/>
                <a:cs typeface="Cambria"/>
              </a:rPr>
              <a:t>Usually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it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75">
                <a:latin typeface="Cambria"/>
                <a:cs typeface="Cambria"/>
              </a:rPr>
              <a:t>can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be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rewritten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with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210">
                <a:solidFill>
                  <a:srgbClr val="006FC0"/>
                </a:solidFill>
                <a:latin typeface="Cambria"/>
                <a:cs typeface="Cambria"/>
              </a:rPr>
              <a:t>OUTER</a:t>
            </a:r>
            <a:r>
              <a:rPr dirty="0" sz="2000" spc="195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dirty="0" sz="2000" spc="254">
                <a:solidFill>
                  <a:srgbClr val="006FC0"/>
                </a:solidFill>
                <a:latin typeface="Cambria"/>
                <a:cs typeface="Cambria"/>
              </a:rPr>
              <a:t>JOIN</a:t>
            </a:r>
            <a:r>
              <a:rPr dirty="0" sz="2000" spc="175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and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explicit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80">
                <a:solidFill>
                  <a:srgbClr val="006FC0"/>
                </a:solidFill>
                <a:latin typeface="Cambria"/>
                <a:cs typeface="Cambria"/>
              </a:rPr>
              <a:t>IS</a:t>
            </a:r>
            <a:r>
              <a:rPr dirty="0" sz="2000" spc="19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dirty="0" sz="2000" spc="150">
                <a:solidFill>
                  <a:srgbClr val="006FC0"/>
                </a:solidFill>
                <a:latin typeface="Cambria"/>
                <a:cs typeface="Cambria"/>
              </a:rPr>
              <a:t>NULL</a:t>
            </a:r>
            <a:r>
              <a:rPr dirty="0" sz="2000" spc="204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check, </a:t>
            </a:r>
            <a:r>
              <a:rPr dirty="0" sz="2000" spc="55">
                <a:latin typeface="Cambria"/>
                <a:cs typeface="Cambria"/>
              </a:rPr>
              <a:t>or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with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210">
                <a:solidFill>
                  <a:srgbClr val="006FC0"/>
                </a:solidFill>
                <a:latin typeface="Cambria"/>
                <a:cs typeface="Cambria"/>
              </a:rPr>
              <a:t>EXCEPT</a:t>
            </a:r>
            <a:r>
              <a:rPr dirty="0" sz="2000" spc="210"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70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300" y="1028700"/>
            <a:ext cx="8071256" cy="57569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42491" y="1902713"/>
            <a:ext cx="9789795" cy="41116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280"/>
              </a:lnSpc>
              <a:spcBef>
                <a:spcPts val="105"/>
              </a:spcBef>
            </a:pPr>
            <a:r>
              <a:rPr dirty="0" sz="2000" spc="95">
                <a:latin typeface="Cambria"/>
                <a:cs typeface="Cambria"/>
              </a:rPr>
              <a:t>The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subquery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forms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its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own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lexical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scope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45">
                <a:latin typeface="Cambria"/>
                <a:cs typeface="Cambria"/>
              </a:rPr>
              <a:t>that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nested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to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scope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ts val="2280"/>
              </a:lnSpc>
            </a:pPr>
            <a:r>
              <a:rPr dirty="0" sz="2000" spc="114">
                <a:latin typeface="Cambria"/>
                <a:cs typeface="Cambria"/>
              </a:rPr>
              <a:t>parent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query: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75"/>
              </a:spcBef>
            </a:pP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ts val="2280"/>
              </a:lnSpc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95">
                <a:latin typeface="Cambria"/>
                <a:cs typeface="Cambria"/>
              </a:rPr>
              <a:t>The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parent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query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75">
                <a:latin typeface="Cambria"/>
                <a:cs typeface="Cambria"/>
              </a:rPr>
              <a:t>can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see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only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result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subquery,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but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not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its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local</a:t>
            </a:r>
            <a:endParaRPr sz="2000">
              <a:latin typeface="Cambria"/>
              <a:cs typeface="Cambria"/>
            </a:endParaRPr>
          </a:p>
          <a:p>
            <a:pPr marL="195580">
              <a:lnSpc>
                <a:spcPts val="2280"/>
              </a:lnSpc>
            </a:pPr>
            <a:r>
              <a:rPr dirty="0" sz="2000" spc="90">
                <a:latin typeface="Cambria"/>
                <a:cs typeface="Cambria"/>
              </a:rPr>
              <a:t>“variables”.</a:t>
            </a:r>
            <a:endParaRPr sz="2000">
              <a:latin typeface="Cambria"/>
              <a:cs typeface="Cambria"/>
            </a:endParaRPr>
          </a:p>
          <a:p>
            <a:pPr marL="194310" marR="5080" indent="-182245">
              <a:lnSpc>
                <a:spcPts val="2160"/>
              </a:lnSpc>
              <a:spcBef>
                <a:spcPts val="123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5580" algn="l"/>
              </a:tabLst>
            </a:pPr>
            <a:r>
              <a:rPr dirty="0" sz="2000" spc="95">
                <a:latin typeface="Cambria"/>
                <a:cs typeface="Cambria"/>
              </a:rPr>
              <a:t>The</a:t>
            </a:r>
            <a:r>
              <a:rPr dirty="0" sz="2000" spc="240">
                <a:latin typeface="Cambria"/>
                <a:cs typeface="Cambria"/>
              </a:rPr>
              <a:t> </a:t>
            </a:r>
            <a:r>
              <a:rPr dirty="0" sz="2000" spc="110" b="1">
                <a:latin typeface="Cambria"/>
                <a:cs typeface="Cambria"/>
              </a:rPr>
              <a:t>renaming</a:t>
            </a:r>
            <a:r>
              <a:rPr dirty="0" sz="2000" spc="229" b="1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(</a:t>
            </a:r>
            <a:r>
              <a:rPr dirty="0" sz="2000">
                <a:solidFill>
                  <a:srgbClr val="006FC0"/>
                </a:solidFill>
                <a:latin typeface="Cambria"/>
                <a:cs typeface="Cambria"/>
              </a:rPr>
              <a:t>AS</a:t>
            </a:r>
            <a:r>
              <a:rPr dirty="0" sz="2000">
                <a:latin typeface="Cambria"/>
                <a:cs typeface="Cambria"/>
              </a:rPr>
              <a:t>)</a:t>
            </a:r>
            <a:r>
              <a:rPr dirty="0" sz="2000" spc="235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operation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24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essential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for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subqueries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95">
                <a:solidFill>
                  <a:srgbClr val="7E7E7E"/>
                </a:solidFill>
                <a:latin typeface="Cambria"/>
                <a:cs typeface="Cambria"/>
              </a:rPr>
              <a:t>(unlike</a:t>
            </a:r>
            <a:r>
              <a:rPr dirty="0" sz="2000" spc="22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4">
                <a:solidFill>
                  <a:srgbClr val="7E7E7E"/>
                </a:solidFill>
                <a:latin typeface="Cambria"/>
                <a:cs typeface="Cambria"/>
              </a:rPr>
              <a:t>plain</a:t>
            </a:r>
            <a:r>
              <a:rPr dirty="0" sz="2000" spc="24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90">
                <a:solidFill>
                  <a:srgbClr val="7E7E7E"/>
                </a:solidFill>
                <a:latin typeface="Cambria"/>
                <a:cs typeface="Cambria"/>
              </a:rPr>
              <a:t>queries </a:t>
            </a:r>
            <a:r>
              <a:rPr dirty="0" sz="2000" spc="90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dirty="0" sz="2000" spc="80">
                <a:solidFill>
                  <a:srgbClr val="7E7E7E"/>
                </a:solidFill>
                <a:latin typeface="Cambria"/>
                <a:cs typeface="Cambria"/>
              </a:rPr>
              <a:t>where</a:t>
            </a:r>
            <a:r>
              <a:rPr dirty="0" sz="2000" spc="17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4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dirty="0" sz="2000" spc="19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30">
                <a:solidFill>
                  <a:srgbClr val="7E7E7E"/>
                </a:solidFill>
                <a:latin typeface="Cambria"/>
                <a:cs typeface="Cambria"/>
              </a:rPr>
              <a:t>renaming</a:t>
            </a:r>
            <a:r>
              <a:rPr dirty="0" sz="2000" spc="16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r>
              <a:rPr dirty="0" sz="2000" spc="204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00">
                <a:solidFill>
                  <a:srgbClr val="7E7E7E"/>
                </a:solidFill>
                <a:latin typeface="Cambria"/>
                <a:cs typeface="Cambria"/>
              </a:rPr>
              <a:t>purely</a:t>
            </a:r>
            <a:r>
              <a:rPr dirty="0" sz="2000" spc="18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75">
                <a:solidFill>
                  <a:srgbClr val="7E7E7E"/>
                </a:solidFill>
                <a:latin typeface="Cambria"/>
                <a:cs typeface="Cambria"/>
              </a:rPr>
              <a:t>cosmetic)</a:t>
            </a:r>
            <a:endParaRPr sz="2000">
              <a:latin typeface="Cambria"/>
              <a:cs typeface="Cambria"/>
            </a:endParaRPr>
          </a:p>
          <a:p>
            <a:pPr marL="194310" marR="24765" indent="-182245">
              <a:lnSpc>
                <a:spcPts val="2160"/>
              </a:lnSpc>
              <a:spcBef>
                <a:spcPts val="120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5580" algn="l"/>
              </a:tabLst>
            </a:pPr>
            <a:r>
              <a:rPr dirty="0" sz="2000" spc="105">
                <a:latin typeface="Cambria"/>
                <a:cs typeface="Cambria"/>
              </a:rPr>
              <a:t>Correlated</a:t>
            </a:r>
            <a:r>
              <a:rPr dirty="0" sz="2000" spc="15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subqueries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75">
                <a:latin typeface="Cambria"/>
                <a:cs typeface="Cambria"/>
              </a:rPr>
              <a:t>can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appear</a:t>
            </a:r>
            <a:r>
              <a:rPr dirty="0" sz="2000" spc="16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in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selection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and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projection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sections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75">
                <a:solidFill>
                  <a:srgbClr val="7E7E7E"/>
                </a:solidFill>
                <a:latin typeface="Cambria"/>
                <a:cs typeface="Cambria"/>
              </a:rPr>
              <a:t>(under </a:t>
            </a:r>
            <a:r>
              <a:rPr dirty="0" sz="2000" spc="75">
                <a:solidFill>
                  <a:srgbClr val="7E7E7E"/>
                </a:solidFill>
                <a:latin typeface="Cambria"/>
                <a:cs typeface="Cambria"/>
              </a:rPr>
              <a:t>	</a:t>
            </a:r>
            <a:r>
              <a:rPr dirty="0" sz="2000" spc="225">
                <a:solidFill>
                  <a:srgbClr val="006FC0"/>
                </a:solidFill>
                <a:latin typeface="Cambria"/>
                <a:cs typeface="Cambria"/>
              </a:rPr>
              <a:t>SELECT</a:t>
            </a:r>
            <a:r>
              <a:rPr dirty="0" sz="2000" spc="225">
                <a:solidFill>
                  <a:srgbClr val="7E7E7E"/>
                </a:solidFill>
                <a:latin typeface="Cambria"/>
                <a:cs typeface="Cambria"/>
              </a:rPr>
              <a:t>,</a:t>
            </a:r>
            <a:r>
              <a:rPr dirty="0" sz="2000" spc="204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210">
                <a:solidFill>
                  <a:srgbClr val="006FC0"/>
                </a:solidFill>
                <a:latin typeface="Cambria"/>
                <a:cs typeface="Cambria"/>
              </a:rPr>
              <a:t>WHERE</a:t>
            </a:r>
            <a:r>
              <a:rPr dirty="0" sz="2000" spc="210">
                <a:solidFill>
                  <a:srgbClr val="7E7E7E"/>
                </a:solidFill>
                <a:latin typeface="Cambria"/>
                <a:cs typeface="Cambria"/>
              </a:rPr>
              <a:t>, </a:t>
            </a:r>
            <a:r>
              <a:rPr dirty="0" sz="2000" spc="175">
                <a:solidFill>
                  <a:srgbClr val="006FC0"/>
                </a:solidFill>
                <a:latin typeface="Cambria"/>
                <a:cs typeface="Cambria"/>
              </a:rPr>
              <a:t>HAVING</a:t>
            </a:r>
            <a:r>
              <a:rPr dirty="0" sz="2000" spc="175">
                <a:solidFill>
                  <a:srgbClr val="7E7E7E"/>
                </a:solidFill>
                <a:latin typeface="Cambria"/>
                <a:cs typeface="Cambria"/>
              </a:rPr>
              <a:t>,</a:t>
            </a:r>
            <a:r>
              <a:rPr dirty="0" sz="2000" spc="17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55">
                <a:solidFill>
                  <a:srgbClr val="7E7E7E"/>
                </a:solidFill>
                <a:latin typeface="Cambria"/>
                <a:cs typeface="Cambria"/>
              </a:rPr>
              <a:t>but</a:t>
            </a:r>
            <a:r>
              <a:rPr dirty="0" sz="2000" spc="19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0">
                <a:solidFill>
                  <a:srgbClr val="7E7E7E"/>
                </a:solidFill>
                <a:latin typeface="Cambria"/>
                <a:cs typeface="Cambria"/>
              </a:rPr>
              <a:t>not</a:t>
            </a:r>
            <a:r>
              <a:rPr dirty="0" sz="2000" spc="22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40">
                <a:solidFill>
                  <a:srgbClr val="7E7E7E"/>
                </a:solidFill>
                <a:latin typeface="Cambria"/>
                <a:cs typeface="Cambria"/>
              </a:rPr>
              <a:t>under</a:t>
            </a:r>
            <a:r>
              <a:rPr dirty="0" sz="2000" spc="18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25">
                <a:solidFill>
                  <a:srgbClr val="006FC0"/>
                </a:solidFill>
                <a:latin typeface="Cambria"/>
                <a:cs typeface="Cambria"/>
              </a:rPr>
              <a:t>FROM</a:t>
            </a:r>
            <a:r>
              <a:rPr dirty="0" sz="2000" spc="125">
                <a:solidFill>
                  <a:srgbClr val="7E7E7E"/>
                </a:solidFill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  <a:p>
            <a:pPr marL="194310" marR="287655" indent="-182245">
              <a:lnSpc>
                <a:spcPts val="2160"/>
              </a:lnSpc>
              <a:spcBef>
                <a:spcPts val="120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5580" algn="l"/>
              </a:tabLst>
            </a:pPr>
            <a:r>
              <a:rPr dirty="0" sz="2000" spc="95">
                <a:latin typeface="Cambria"/>
                <a:cs typeface="Cambria"/>
              </a:rPr>
              <a:t>The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correlated</a:t>
            </a:r>
            <a:r>
              <a:rPr dirty="0" sz="2000" spc="160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subquery</a:t>
            </a:r>
            <a:r>
              <a:rPr dirty="0" sz="2000" spc="145">
                <a:latin typeface="Cambria"/>
                <a:cs typeface="Cambria"/>
              </a:rPr>
              <a:t> </a:t>
            </a:r>
            <a:r>
              <a:rPr dirty="0" sz="2000" spc="175">
                <a:latin typeface="Cambria"/>
                <a:cs typeface="Cambria"/>
              </a:rPr>
              <a:t>can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see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everything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from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parent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query</a:t>
            </a:r>
            <a:r>
              <a:rPr dirty="0" sz="2000" spc="160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that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is </a:t>
            </a:r>
            <a:r>
              <a:rPr dirty="0" sz="2000" spc="85">
                <a:latin typeface="Cambria"/>
                <a:cs typeface="Cambria"/>
              </a:rPr>
              <a:t>	</a:t>
            </a:r>
            <a:r>
              <a:rPr dirty="0" sz="2000" spc="95">
                <a:latin typeface="Cambria"/>
                <a:cs typeface="Cambria"/>
              </a:rPr>
              <a:t>available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for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statement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where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it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appears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75">
                <a:solidFill>
                  <a:srgbClr val="7E7E7E"/>
                </a:solidFill>
                <a:latin typeface="Cambria"/>
                <a:cs typeface="Cambria"/>
              </a:rPr>
              <a:t>(consider</a:t>
            </a:r>
            <a:r>
              <a:rPr dirty="0" sz="2000" spc="17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200">
                <a:solidFill>
                  <a:srgbClr val="006FC0"/>
                </a:solidFill>
                <a:latin typeface="Cambria"/>
                <a:cs typeface="Cambria"/>
              </a:rPr>
              <a:t>HAVING</a:t>
            </a:r>
            <a:r>
              <a:rPr dirty="0" sz="2000" spc="200">
                <a:solidFill>
                  <a:srgbClr val="7E7E7E"/>
                </a:solidFill>
                <a:latin typeface="Cambria"/>
                <a:cs typeface="Cambria"/>
              </a:rPr>
              <a:t>/</a:t>
            </a:r>
            <a:r>
              <a:rPr dirty="0" sz="2000" spc="200">
                <a:solidFill>
                  <a:srgbClr val="006FC0"/>
                </a:solidFill>
                <a:latin typeface="Cambria"/>
                <a:cs typeface="Cambria"/>
              </a:rPr>
              <a:t>GROUP</a:t>
            </a:r>
            <a:r>
              <a:rPr dirty="0" sz="2000" spc="185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dirty="0" sz="2000" spc="170">
                <a:solidFill>
                  <a:srgbClr val="006FC0"/>
                </a:solidFill>
                <a:latin typeface="Cambria"/>
                <a:cs typeface="Cambria"/>
              </a:rPr>
              <a:t>BY </a:t>
            </a:r>
            <a:r>
              <a:rPr dirty="0" sz="2000" spc="170">
                <a:solidFill>
                  <a:srgbClr val="006FC0"/>
                </a:solidFill>
                <a:latin typeface="Cambria"/>
                <a:cs typeface="Cambria"/>
              </a:rPr>
              <a:t>	</a:t>
            </a:r>
            <a:r>
              <a:rPr dirty="0" sz="2000" spc="105">
                <a:solidFill>
                  <a:srgbClr val="7E7E7E"/>
                </a:solidFill>
                <a:latin typeface="Cambria"/>
                <a:cs typeface="Cambria"/>
              </a:rPr>
              <a:t>limitations</a:t>
            </a:r>
            <a:r>
              <a:rPr dirty="0" sz="2000" spc="27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>
                <a:solidFill>
                  <a:srgbClr val="7E7E7E"/>
                </a:solidFill>
                <a:latin typeface="Cambria"/>
                <a:cs typeface="Cambria"/>
              </a:rPr>
              <a:t>for</a:t>
            </a:r>
            <a:r>
              <a:rPr dirty="0" sz="2000" spc="27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90">
                <a:solidFill>
                  <a:srgbClr val="7E7E7E"/>
                </a:solidFill>
                <a:latin typeface="Cambria"/>
                <a:cs typeface="Cambria"/>
              </a:rPr>
              <a:t>instance)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70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9570" y="1028700"/>
            <a:ext cx="2555532" cy="4917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7625" rIns="0" bIns="0" rtlCol="0" vert="horz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dirty="0" spc="100"/>
              <a:t>For</a:t>
            </a:r>
            <a:r>
              <a:rPr dirty="0" spc="190"/>
              <a:t> </a:t>
            </a:r>
            <a:r>
              <a:rPr dirty="0" spc="155"/>
              <a:t>each</a:t>
            </a:r>
            <a:r>
              <a:rPr dirty="0" spc="190"/>
              <a:t> </a:t>
            </a:r>
            <a:r>
              <a:rPr dirty="0" spc="120"/>
              <a:t>product</a:t>
            </a:r>
            <a:r>
              <a:rPr dirty="0" spc="185"/>
              <a:t> </a:t>
            </a:r>
            <a:r>
              <a:rPr dirty="0"/>
              <a:t>we</a:t>
            </a:r>
            <a:r>
              <a:rPr dirty="0" spc="210"/>
              <a:t> </a:t>
            </a:r>
            <a:r>
              <a:rPr dirty="0" spc="114"/>
              <a:t>need</a:t>
            </a:r>
            <a:r>
              <a:rPr dirty="0" spc="165"/>
              <a:t> </a:t>
            </a:r>
            <a:r>
              <a:rPr dirty="0" spc="100"/>
              <a:t>all</a:t>
            </a:r>
            <a:r>
              <a:rPr dirty="0" spc="220"/>
              <a:t> </a:t>
            </a:r>
            <a:r>
              <a:rPr dirty="0" spc="110"/>
              <a:t>the</a:t>
            </a:r>
            <a:r>
              <a:rPr dirty="0" spc="229"/>
              <a:t> </a:t>
            </a:r>
            <a:r>
              <a:rPr dirty="0" spc="125"/>
              <a:t>materials.</a:t>
            </a:r>
            <a:r>
              <a:rPr dirty="0" spc="185"/>
              <a:t> </a:t>
            </a:r>
            <a:r>
              <a:rPr dirty="0" spc="80"/>
              <a:t>There</a:t>
            </a:r>
            <a:r>
              <a:rPr dirty="0" spc="195"/>
              <a:t> </a:t>
            </a:r>
            <a:r>
              <a:rPr dirty="0" spc="180"/>
              <a:t>must</a:t>
            </a:r>
            <a:r>
              <a:rPr dirty="0" spc="195"/>
              <a:t> </a:t>
            </a:r>
            <a:r>
              <a:rPr dirty="0" spc="95"/>
              <a:t>be</a:t>
            </a:r>
            <a:r>
              <a:rPr dirty="0" spc="200"/>
              <a:t> </a:t>
            </a:r>
            <a:r>
              <a:rPr dirty="0" spc="105"/>
              <a:t>one</a:t>
            </a:r>
            <a:r>
              <a:rPr dirty="0" spc="204"/>
              <a:t> </a:t>
            </a:r>
            <a:r>
              <a:rPr dirty="0"/>
              <a:t>row</a:t>
            </a:r>
            <a:r>
              <a:rPr dirty="0" spc="220"/>
              <a:t> </a:t>
            </a:r>
            <a:r>
              <a:rPr dirty="0" spc="80"/>
              <a:t>per</a:t>
            </a:r>
            <a:r>
              <a:rPr dirty="0" spc="185"/>
              <a:t> </a:t>
            </a:r>
            <a:r>
              <a:rPr dirty="0" spc="110"/>
              <a:t>product </a:t>
            </a:r>
            <a:r>
              <a:rPr dirty="0" spc="95"/>
              <a:t>ware.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70"/>
              <a:t>10</a:t>
            </a:fld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114"/>
              <a:t>Looks</a:t>
            </a:r>
            <a:r>
              <a:rPr dirty="0" spc="180"/>
              <a:t> </a:t>
            </a:r>
            <a:r>
              <a:rPr dirty="0" spc="100"/>
              <a:t>familiar?</a:t>
            </a:r>
          </a:p>
          <a:p>
            <a:pPr>
              <a:lnSpc>
                <a:spcPct val="100000"/>
              </a:lnSpc>
              <a:spcBef>
                <a:spcPts val="1970"/>
              </a:spcBef>
            </a:p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245"/>
              <a:t>Can</a:t>
            </a:r>
            <a:r>
              <a:rPr dirty="0" spc="204"/>
              <a:t> </a:t>
            </a:r>
            <a:r>
              <a:rPr dirty="0"/>
              <a:t>we</a:t>
            </a:r>
            <a:r>
              <a:rPr dirty="0" spc="215"/>
              <a:t> </a:t>
            </a:r>
            <a:r>
              <a:rPr dirty="0" spc="45"/>
              <a:t>rewrite</a:t>
            </a:r>
            <a:r>
              <a:rPr dirty="0" spc="210"/>
              <a:t> </a:t>
            </a:r>
            <a:r>
              <a:rPr dirty="0" spc="125"/>
              <a:t>this</a:t>
            </a:r>
            <a:r>
              <a:rPr dirty="0" spc="229"/>
              <a:t> </a:t>
            </a:r>
            <a:r>
              <a:rPr dirty="0" spc="100"/>
              <a:t>without</a:t>
            </a:r>
            <a:r>
              <a:rPr dirty="0" spc="225"/>
              <a:t> </a:t>
            </a:r>
            <a:r>
              <a:rPr dirty="0" spc="240"/>
              <a:t>GROUP</a:t>
            </a:r>
            <a:r>
              <a:rPr dirty="0" spc="204"/>
              <a:t> </a:t>
            </a:r>
            <a:r>
              <a:rPr dirty="0" spc="175"/>
              <a:t>BY?</a:t>
            </a:r>
          </a:p>
          <a:p>
            <a:pPr>
              <a:lnSpc>
                <a:spcPct val="100000"/>
              </a:lnSpc>
              <a:spcBef>
                <a:spcPts val="1985"/>
              </a:spcBef>
            </a:p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135"/>
              <a:t>What</a:t>
            </a:r>
            <a:r>
              <a:rPr dirty="0" spc="235"/>
              <a:t> </a:t>
            </a:r>
            <a:r>
              <a:rPr dirty="0"/>
              <a:t>if</a:t>
            </a:r>
            <a:r>
              <a:rPr dirty="0" spc="235"/>
              <a:t> </a:t>
            </a:r>
            <a:r>
              <a:rPr dirty="0"/>
              <a:t>we</a:t>
            </a:r>
            <a:r>
              <a:rPr dirty="0" spc="210"/>
              <a:t> </a:t>
            </a:r>
            <a:r>
              <a:rPr dirty="0" spc="114"/>
              <a:t>need</a:t>
            </a:r>
            <a:r>
              <a:rPr dirty="0" spc="195"/>
              <a:t> </a:t>
            </a:r>
            <a:r>
              <a:rPr dirty="0" spc="114"/>
              <a:t>the</a:t>
            </a:r>
            <a:r>
              <a:rPr dirty="0" spc="240"/>
              <a:t> </a:t>
            </a:r>
            <a:r>
              <a:rPr dirty="0" spc="90"/>
              <a:t>list</a:t>
            </a:r>
            <a:r>
              <a:rPr dirty="0" spc="225"/>
              <a:t> </a:t>
            </a:r>
            <a:r>
              <a:rPr dirty="0"/>
              <a:t>of</a:t>
            </a:r>
            <a:r>
              <a:rPr dirty="0" spc="235"/>
              <a:t> </a:t>
            </a:r>
            <a:r>
              <a:rPr dirty="0" spc="114"/>
              <a:t>materials</a:t>
            </a:r>
            <a:r>
              <a:rPr dirty="0" spc="195"/>
              <a:t> </a:t>
            </a:r>
            <a:r>
              <a:rPr dirty="0" spc="65"/>
              <a:t>to</a:t>
            </a:r>
            <a:r>
              <a:rPr dirty="0" spc="235"/>
              <a:t> </a:t>
            </a:r>
            <a:r>
              <a:rPr dirty="0" spc="95"/>
              <a:t>be</a:t>
            </a:r>
            <a:r>
              <a:rPr dirty="0" spc="200"/>
              <a:t> </a:t>
            </a:r>
            <a:r>
              <a:rPr dirty="0" spc="80"/>
              <a:t>ordered?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9581" y="1037082"/>
            <a:ext cx="4063011" cy="567308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48588" y="2434997"/>
            <a:ext cx="7036434" cy="3051175"/>
          </a:xfrm>
          <a:prstGeom prst="rect">
            <a:avLst/>
          </a:prstGeom>
        </p:spPr>
        <p:txBody>
          <a:bodyPr wrap="square" lIns="0" tIns="1200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dirty="0" sz="2000" spc="180" b="1">
                <a:latin typeface="Cambria"/>
                <a:cs typeface="Cambria"/>
              </a:rPr>
              <a:t>SQL: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ts val="2280"/>
              </a:lnSpc>
              <a:spcBef>
                <a:spcPts val="855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p.WARE,</a:t>
            </a:r>
            <a:endParaRPr sz="2000">
              <a:latin typeface="Courier New"/>
              <a:cs typeface="Courier New"/>
            </a:endParaRPr>
          </a:p>
          <a:p>
            <a:pPr marL="1079500">
              <a:lnSpc>
                <a:spcPts val="2160"/>
              </a:lnSpc>
            </a:pPr>
            <a:r>
              <a:rPr dirty="0" sz="2000">
                <a:latin typeface="Courier New"/>
                <a:cs typeface="Courier New"/>
              </a:rPr>
              <a:t>(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006FC0"/>
                </a:solidFill>
                <a:latin typeface="Courier New"/>
                <a:cs typeface="Courier New"/>
              </a:rPr>
              <a:t>GROUP_CONCAT</a:t>
            </a:r>
            <a:r>
              <a:rPr dirty="0" sz="2000" spc="-10">
                <a:latin typeface="Courier New"/>
                <a:cs typeface="Courier New"/>
              </a:rPr>
              <a:t>(WARE)</a:t>
            </a:r>
            <a:endParaRPr sz="2000">
              <a:latin typeface="Courier New"/>
              <a:cs typeface="Courier New"/>
            </a:endParaRPr>
          </a:p>
          <a:p>
            <a:pPr marL="1231900">
              <a:lnSpc>
                <a:spcPts val="216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4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(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DISTINCT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mt1.WARE</a:t>
            </a:r>
            <a:endParaRPr sz="2000">
              <a:latin typeface="Courier New"/>
              <a:cs typeface="Courier New"/>
            </a:endParaRPr>
          </a:p>
          <a:p>
            <a:pPr marL="2146300" marR="5080">
              <a:lnSpc>
                <a:spcPts val="2160"/>
              </a:lnSpc>
              <a:spcBef>
                <a:spcPts val="150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MATERIAL</a:t>
            </a:r>
            <a:r>
              <a:rPr dirty="0" sz="2000" spc="-30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mt1,</a:t>
            </a:r>
            <a:r>
              <a:rPr dirty="0" sz="2000" spc="-30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PRODUCT</a:t>
            </a:r>
            <a:r>
              <a:rPr dirty="0" sz="2000" spc="-25">
                <a:latin typeface="Courier New"/>
                <a:cs typeface="Courier New"/>
              </a:rPr>
              <a:t> p1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mt1.RECIPE_ID=p1.RECIPE_ID</a:t>
            </a:r>
            <a:endParaRPr sz="2000">
              <a:latin typeface="Courier New"/>
              <a:cs typeface="Courier New"/>
            </a:endParaRPr>
          </a:p>
          <a:p>
            <a:pPr marL="2451100">
              <a:lnSpc>
                <a:spcPts val="201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AND</a:t>
            </a:r>
            <a:r>
              <a:rPr dirty="0" sz="2000" spc="-1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p1.WARE=p.WARE</a:t>
            </a:r>
            <a:endParaRPr sz="2000">
              <a:latin typeface="Courier New"/>
              <a:cs typeface="Courier New"/>
            </a:endParaRPr>
          </a:p>
          <a:p>
            <a:pPr marL="2146300">
              <a:lnSpc>
                <a:spcPts val="216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ORDER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BY</a:t>
            </a:r>
            <a:r>
              <a:rPr dirty="0" sz="2000" spc="-1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mt1.WARE))</a:t>
            </a:r>
            <a:endParaRPr sz="2000">
              <a:latin typeface="Courier New"/>
              <a:cs typeface="Courier New"/>
            </a:endParaRPr>
          </a:p>
          <a:p>
            <a:pPr marL="12700" marR="614045">
              <a:lnSpc>
                <a:spcPts val="2200"/>
              </a:lnSpc>
              <a:spcBef>
                <a:spcPts val="120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(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DISTINCT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WARE</a:t>
            </a:r>
            <a:r>
              <a:rPr dirty="0" sz="2000" spc="-30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PRODUCT)</a:t>
            </a:r>
            <a:r>
              <a:rPr dirty="0" sz="2000" spc="-25">
                <a:latin typeface="Courier New"/>
                <a:cs typeface="Courier New"/>
              </a:rPr>
              <a:t> </a:t>
            </a:r>
            <a:r>
              <a:rPr dirty="0" sz="2000" spc="-60">
                <a:solidFill>
                  <a:srgbClr val="006FC0"/>
                </a:solidFill>
                <a:latin typeface="Courier New"/>
                <a:cs typeface="Courier New"/>
              </a:rPr>
              <a:t>p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ORDER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BY</a:t>
            </a:r>
            <a:r>
              <a:rPr dirty="0" sz="2000" spc="-1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p.WARE</a:t>
            </a:r>
            <a:r>
              <a:rPr dirty="0" sz="2000" spc="-10">
                <a:solidFill>
                  <a:srgbClr val="006FC0"/>
                </a:solidFill>
                <a:latin typeface="Courier New"/>
                <a:cs typeface="Courier New"/>
              </a:rPr>
              <a:t>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70"/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5344" y="1028700"/>
            <a:ext cx="5993650" cy="58394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48588" y="2528443"/>
            <a:ext cx="5323205" cy="287210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 marR="2559050">
              <a:lnSpc>
                <a:spcPts val="2160"/>
              </a:lnSpc>
              <a:spcBef>
                <a:spcPts val="375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WARE,</a:t>
            </a:r>
            <a:r>
              <a:rPr dirty="0" sz="2000" spc="-25"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PRICE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PRODUCT</a:t>
            </a:r>
            <a:endParaRPr sz="2000">
              <a:latin typeface="Courier New"/>
              <a:cs typeface="Courier New"/>
            </a:endParaRPr>
          </a:p>
          <a:p>
            <a:pPr marL="12700" marR="2406650">
              <a:lnSpc>
                <a:spcPts val="216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ORDER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BY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PRICE</a:t>
            </a:r>
            <a:r>
              <a:rPr dirty="0" sz="2000" spc="-20">
                <a:latin typeface="Courier New"/>
                <a:cs typeface="Courier New"/>
              </a:rPr>
              <a:t> 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DESC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LIMIT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25">
                <a:latin typeface="Courier New"/>
                <a:cs typeface="Courier New"/>
              </a:rPr>
              <a:t>1;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105"/>
              </a:spcBef>
            </a:pP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 spc="165" b="1">
                <a:latin typeface="Cambria"/>
                <a:cs typeface="Cambria"/>
              </a:rPr>
              <a:t>Q:</a:t>
            </a:r>
            <a:r>
              <a:rPr dirty="0" sz="2000" spc="204" b="1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What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the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meaning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this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query?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75"/>
              </a:spcBef>
            </a:pP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2000" spc="165" b="1">
                <a:latin typeface="Cambria"/>
                <a:cs typeface="Cambria"/>
              </a:rPr>
              <a:t>Q:</a:t>
            </a:r>
            <a:r>
              <a:rPr dirty="0" sz="2000" spc="245" b="1">
                <a:latin typeface="Cambria"/>
                <a:cs typeface="Cambria"/>
              </a:rPr>
              <a:t> </a:t>
            </a:r>
            <a:r>
              <a:rPr dirty="0" sz="2000" spc="240">
                <a:latin typeface="Cambria"/>
                <a:cs typeface="Cambria"/>
              </a:rPr>
              <a:t>Can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we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do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40"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same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for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each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company?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70"/>
              <a:t>10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019" y="1028700"/>
            <a:ext cx="9835769" cy="57569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4047" y="1799031"/>
            <a:ext cx="3989070" cy="6057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280"/>
              </a:lnSpc>
              <a:spcBef>
                <a:spcPts val="105"/>
              </a:spcBef>
            </a:pPr>
            <a:r>
              <a:rPr dirty="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pc="-4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006FC0"/>
                </a:solidFill>
                <a:latin typeface="Courier New"/>
                <a:cs typeface="Courier New"/>
              </a:rPr>
              <a:t>DISTINCT</a:t>
            </a:r>
            <a:r>
              <a:rPr dirty="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pc="-10">
                <a:latin typeface="Courier New"/>
                <a:cs typeface="Courier New"/>
              </a:rPr>
              <a:t>m.COMPANY,</a:t>
            </a:r>
          </a:p>
          <a:p>
            <a:pPr marL="1079500">
              <a:lnSpc>
                <a:spcPts val="2280"/>
              </a:lnSpc>
            </a:pPr>
            <a:r>
              <a:rPr dirty="0">
                <a:latin typeface="Courier New"/>
                <a:cs typeface="Courier New"/>
              </a:rPr>
              <a:t>(</a:t>
            </a:r>
            <a:r>
              <a:rPr dirty="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pc="-10">
                <a:latin typeface="Courier New"/>
                <a:cs typeface="Courier New"/>
              </a:rPr>
              <a:t>p1.WARE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84047" y="2348230"/>
            <a:ext cx="8081645" cy="420751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31900" marR="1964689">
              <a:lnSpc>
                <a:spcPts val="2160"/>
              </a:lnSpc>
              <a:spcBef>
                <a:spcPts val="375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PRODUCT</a:t>
            </a:r>
            <a:r>
              <a:rPr dirty="0" sz="2000" spc="-30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p1,</a:t>
            </a:r>
            <a:r>
              <a:rPr dirty="0" sz="2000" spc="-35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MANUFACTURER</a:t>
            </a:r>
            <a:r>
              <a:rPr dirty="0" sz="2000" spc="-30">
                <a:latin typeface="Courier New"/>
                <a:cs typeface="Courier New"/>
              </a:rPr>
              <a:t> </a:t>
            </a:r>
            <a:r>
              <a:rPr dirty="0" sz="2000" spc="-25">
                <a:latin typeface="Courier New"/>
                <a:cs typeface="Courier New"/>
              </a:rPr>
              <a:t>m1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p1.RECIPE_ID=m1.RECIPE_ID</a:t>
            </a:r>
            <a:endParaRPr sz="2000">
              <a:latin typeface="Courier New"/>
              <a:cs typeface="Courier New"/>
            </a:endParaRPr>
          </a:p>
          <a:p>
            <a:pPr marL="1536700">
              <a:lnSpc>
                <a:spcPts val="201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AND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m1.COMPANY=</a:t>
            </a:r>
            <a:r>
              <a:rPr dirty="0" sz="2000" spc="-10">
                <a:solidFill>
                  <a:srgbClr val="C00000"/>
                </a:solidFill>
                <a:latin typeface="Courier New"/>
                <a:cs typeface="Courier New"/>
              </a:rPr>
              <a:t>m.COMPANY</a:t>
            </a:r>
            <a:endParaRPr sz="2000">
              <a:latin typeface="Courier New"/>
              <a:cs typeface="Courier New"/>
            </a:endParaRPr>
          </a:p>
          <a:p>
            <a:pPr marL="1231900">
              <a:lnSpc>
                <a:spcPts val="216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ORDER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BY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p1.PRICE</a:t>
            </a:r>
            <a:r>
              <a:rPr dirty="0" sz="2000" spc="-25">
                <a:latin typeface="Courier New"/>
                <a:cs typeface="Courier New"/>
              </a:rPr>
              <a:t> 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DESC</a:t>
            </a:r>
            <a:endParaRPr sz="2000">
              <a:latin typeface="Courier New"/>
              <a:cs typeface="Courier New"/>
            </a:endParaRPr>
          </a:p>
          <a:p>
            <a:pPr marL="1079500" marR="3641090" indent="152400">
              <a:lnSpc>
                <a:spcPts val="2160"/>
              </a:lnSpc>
              <a:spcBef>
                <a:spcPts val="155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LIMIT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1)</a:t>
            </a:r>
            <a:r>
              <a:rPr dirty="0" sz="2000" spc="-15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AS</a:t>
            </a:r>
            <a:r>
              <a:rPr dirty="0" sz="2000" spc="-1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EXP_WARE, </a:t>
            </a:r>
            <a:r>
              <a:rPr dirty="0" sz="2000">
                <a:latin typeface="Courier New"/>
                <a:cs typeface="Courier New"/>
              </a:rPr>
              <a:t>(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p1.PRICE</a:t>
            </a:r>
            <a:endParaRPr sz="2000">
              <a:latin typeface="Courier New"/>
              <a:cs typeface="Courier New"/>
            </a:endParaRPr>
          </a:p>
          <a:p>
            <a:pPr marL="1231900" marR="1964689">
              <a:lnSpc>
                <a:spcPts val="216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PRODUCT</a:t>
            </a:r>
            <a:r>
              <a:rPr dirty="0" sz="2000" spc="-30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p1,</a:t>
            </a:r>
            <a:r>
              <a:rPr dirty="0" sz="2000" spc="-35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MANUFACTURER</a:t>
            </a:r>
            <a:r>
              <a:rPr dirty="0" sz="2000" spc="-30">
                <a:latin typeface="Courier New"/>
                <a:cs typeface="Courier New"/>
              </a:rPr>
              <a:t> </a:t>
            </a:r>
            <a:r>
              <a:rPr dirty="0" sz="2000" spc="-25">
                <a:latin typeface="Courier New"/>
                <a:cs typeface="Courier New"/>
              </a:rPr>
              <a:t>m1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p1.RECIPE_ID=m1.RECIPE_ID</a:t>
            </a:r>
            <a:endParaRPr sz="2000">
              <a:latin typeface="Courier New"/>
              <a:cs typeface="Courier New"/>
            </a:endParaRPr>
          </a:p>
          <a:p>
            <a:pPr marL="1231900" marR="2879090" indent="304800">
              <a:lnSpc>
                <a:spcPts val="216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AND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m1.COMPANY=</a:t>
            </a:r>
            <a:r>
              <a:rPr dirty="0" sz="2000" spc="-10">
                <a:solidFill>
                  <a:srgbClr val="C00000"/>
                </a:solidFill>
                <a:latin typeface="Courier New"/>
                <a:cs typeface="Courier New"/>
              </a:rPr>
              <a:t>m.COMPANY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ORDER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BY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p1.PRICE</a:t>
            </a:r>
            <a:r>
              <a:rPr dirty="0" sz="2000" spc="-25">
                <a:latin typeface="Courier New"/>
                <a:cs typeface="Courier New"/>
              </a:rPr>
              <a:t> 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DESC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LIMIT</a:t>
            </a:r>
            <a:r>
              <a:rPr dirty="0" sz="2000" spc="-1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1)</a:t>
            </a:r>
            <a:r>
              <a:rPr dirty="0" sz="2000" spc="-15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AS</a:t>
            </a:r>
            <a:r>
              <a:rPr dirty="0" sz="2000" spc="-1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PRICE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13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4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MANUFACTURER</a:t>
            </a:r>
            <a:r>
              <a:rPr dirty="0" sz="2000" spc="-40">
                <a:latin typeface="Courier New"/>
                <a:cs typeface="Courier New"/>
              </a:rPr>
              <a:t> </a:t>
            </a:r>
            <a:r>
              <a:rPr dirty="0" sz="2000" spc="-25">
                <a:latin typeface="Courier New"/>
                <a:cs typeface="Courier New"/>
              </a:rPr>
              <a:t>m;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dirty="0" sz="2000" spc="80" b="1">
                <a:latin typeface="Cambria"/>
                <a:cs typeface="Cambria"/>
              </a:rPr>
              <a:t>Problem</a:t>
            </a:r>
            <a:r>
              <a:rPr dirty="0" sz="2000" spc="80">
                <a:latin typeface="Cambria"/>
                <a:cs typeface="Cambria"/>
              </a:rPr>
              <a:t>: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85">
                <a:latin typeface="Cambria"/>
                <a:cs typeface="Cambria"/>
              </a:rPr>
              <a:t>a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60">
                <a:latin typeface="Cambria"/>
                <a:cs typeface="Cambria"/>
              </a:rPr>
              <a:t>little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bit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bulky,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there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are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two</a:t>
            </a:r>
            <a:r>
              <a:rPr dirty="0" sz="2000" spc="235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almost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identical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queries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dirty="0" sz="2000" spc="80" b="1">
                <a:latin typeface="Cambria"/>
                <a:cs typeface="Cambria"/>
              </a:rPr>
              <a:t>Problem</a:t>
            </a:r>
            <a:r>
              <a:rPr dirty="0" sz="2000" spc="80">
                <a:latin typeface="Cambria"/>
                <a:cs typeface="Cambria"/>
              </a:rPr>
              <a:t>: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performance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not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perfect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519407" y="6334455"/>
            <a:ext cx="22669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70" b="1">
                <a:solidFill>
                  <a:srgbClr val="FFFFFF"/>
                </a:solidFill>
                <a:latin typeface="Tahoma"/>
                <a:cs typeface="Tahoma"/>
              </a:rPr>
              <a:t>15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7963" y="1028700"/>
            <a:ext cx="6481533" cy="465582"/>
          </a:xfrm>
          <a:prstGeom prst="rect">
            <a:avLst/>
          </a:prstGeom>
        </p:spPr>
      </p:pic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738530" y="1743075"/>
          <a:ext cx="8219440" cy="2931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87875"/>
                <a:gridCol w="762000"/>
                <a:gridCol w="2133600"/>
                <a:gridCol w="650240"/>
              </a:tblGrid>
              <a:tr h="858519">
                <a:tc gridSpan="4">
                  <a:txBody>
                    <a:bodyPr/>
                    <a:lstStyle/>
                    <a:p>
                      <a:pPr marL="91440">
                        <a:lnSpc>
                          <a:spcPts val="2225"/>
                        </a:lnSpc>
                      </a:pPr>
                      <a:r>
                        <a:rPr dirty="0" sz="200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SELECT</a:t>
                      </a:r>
                      <a:r>
                        <a:rPr dirty="0" sz="2000" spc="-45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00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DISTINCT</a:t>
                      </a:r>
                      <a:r>
                        <a:rPr dirty="0" sz="2000" spc="-35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000" spc="-10">
                          <a:latin typeface="Courier New"/>
                          <a:cs typeface="Courier New"/>
                        </a:rPr>
                        <a:t>m.COMPANY,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1158240">
                        <a:lnSpc>
                          <a:spcPts val="2160"/>
                        </a:lnSpc>
                      </a:pPr>
                      <a:r>
                        <a:rPr dirty="0" sz="2000">
                          <a:latin typeface="Courier New"/>
                          <a:cs typeface="Courier New"/>
                        </a:rPr>
                        <a:t>…</a:t>
                      </a:r>
                      <a:r>
                        <a:rPr dirty="0" sz="2000" spc="-2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00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AS</a:t>
                      </a:r>
                      <a:r>
                        <a:rPr dirty="0" sz="2000" spc="-5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000" spc="-10">
                          <a:latin typeface="Courier New"/>
                          <a:cs typeface="Courier New"/>
                        </a:rPr>
                        <a:t>EXP_WARE,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1158240">
                        <a:lnSpc>
                          <a:spcPts val="2275"/>
                        </a:lnSpc>
                      </a:pPr>
                      <a:r>
                        <a:rPr dirty="0" sz="2000">
                          <a:latin typeface="Courier New"/>
                          <a:cs typeface="Courier New"/>
                        </a:rPr>
                        <a:t>…</a:t>
                      </a:r>
                      <a:r>
                        <a:rPr dirty="0" sz="20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00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AS</a:t>
                      </a:r>
                      <a:r>
                        <a:rPr dirty="0" sz="2000" spc="-5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000" spc="-10">
                          <a:latin typeface="Courier New"/>
                          <a:cs typeface="Courier New"/>
                        </a:rPr>
                        <a:t>PRICE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9525">
                      <a:solidFill>
                        <a:srgbClr val="578793"/>
                      </a:solidFill>
                      <a:prstDash val="solid"/>
                    </a:lnL>
                    <a:lnR w="9525">
                      <a:solidFill>
                        <a:srgbClr val="578793"/>
                      </a:solidFill>
                      <a:prstDash val="solid"/>
                    </a:lnR>
                    <a:lnT w="9525">
                      <a:solidFill>
                        <a:srgbClr val="578793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64820">
                <a:tc>
                  <a:txBody>
                    <a:bodyPr/>
                    <a:lstStyle/>
                    <a:p>
                      <a:pPr marL="91440">
                        <a:lnSpc>
                          <a:spcPts val="2070"/>
                        </a:lnSpc>
                      </a:pPr>
                      <a:r>
                        <a:rPr dirty="0" sz="200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dirty="0" sz="2000" spc="-35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000">
                          <a:latin typeface="Courier New"/>
                          <a:cs typeface="Courier New"/>
                        </a:rPr>
                        <a:t>(</a:t>
                      </a:r>
                      <a:r>
                        <a:rPr dirty="0" sz="200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SELECT</a:t>
                      </a:r>
                      <a:r>
                        <a:rPr dirty="0" sz="2000" spc="-3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00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DISTINCT</a:t>
                      </a:r>
                      <a:r>
                        <a:rPr dirty="0" sz="2000" spc="-3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000" spc="-10">
                          <a:latin typeface="Courier New"/>
                          <a:cs typeface="Courier New"/>
                        </a:rPr>
                        <a:t>COMPANY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9525">
                      <a:solidFill>
                        <a:srgbClr val="578793"/>
                      </a:solidFill>
                      <a:prstDash val="solid"/>
                    </a:lnL>
                    <a:lnB w="9525">
                      <a:solidFill>
                        <a:srgbClr val="57879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</a:pPr>
                      <a:r>
                        <a:rPr dirty="0" sz="2000" spc="-2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B w="9525">
                      <a:solidFill>
                        <a:srgbClr val="57879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70"/>
                        </a:lnSpc>
                      </a:pPr>
                      <a:r>
                        <a:rPr dirty="0" sz="2000" spc="-10">
                          <a:latin typeface="Courier New"/>
                          <a:cs typeface="Courier New"/>
                        </a:rPr>
                        <a:t>MANUFACTURER)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B w="9525">
                      <a:solidFill>
                        <a:srgbClr val="57879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070"/>
                        </a:lnSpc>
                      </a:pPr>
                      <a:r>
                        <a:rPr dirty="0" sz="2000" spc="-25">
                          <a:latin typeface="Courier New"/>
                          <a:cs typeface="Courier New"/>
                        </a:rPr>
                        <a:t>m;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R w="9525">
                      <a:solidFill>
                        <a:srgbClr val="578793"/>
                      </a:solidFill>
                      <a:prstDash val="solid"/>
                    </a:lnR>
                    <a:lnB w="9525">
                      <a:solidFill>
                        <a:srgbClr val="578793"/>
                      </a:solidFill>
                      <a:prstDash val="solid"/>
                    </a:lnB>
                  </a:tcPr>
                </a:tc>
              </a:tr>
              <a:tr h="2851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578793"/>
                      </a:solidFill>
                      <a:prstDash val="solid"/>
                    </a:lnT>
                    <a:lnB w="9525">
                      <a:solidFill>
                        <a:srgbClr val="57879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578793"/>
                      </a:solidFill>
                      <a:prstDash val="solid"/>
                    </a:lnT>
                    <a:lnB w="9525">
                      <a:solidFill>
                        <a:srgbClr val="57879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578793"/>
                      </a:solidFill>
                      <a:prstDash val="solid"/>
                    </a:lnT>
                    <a:lnB w="9525">
                      <a:solidFill>
                        <a:srgbClr val="57879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578793"/>
                      </a:solidFill>
                      <a:prstDash val="solid"/>
                    </a:lnT>
                    <a:lnB w="9525">
                      <a:solidFill>
                        <a:srgbClr val="578793"/>
                      </a:solidFill>
                      <a:prstDash val="solid"/>
                    </a:lnB>
                  </a:tcPr>
                </a:tc>
              </a:tr>
              <a:tr h="1323340">
                <a:tc>
                  <a:txBody>
                    <a:bodyPr/>
                    <a:lstStyle/>
                    <a:p>
                      <a:pPr marL="91440">
                        <a:lnSpc>
                          <a:spcPts val="2230"/>
                        </a:lnSpc>
                      </a:pPr>
                      <a:r>
                        <a:rPr dirty="0" sz="200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SELECT</a:t>
                      </a:r>
                      <a:r>
                        <a:rPr dirty="0" sz="2000" spc="-3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000" spc="-10">
                          <a:latin typeface="Courier New"/>
                          <a:cs typeface="Courier New"/>
                        </a:rPr>
                        <a:t>m.COMPANY,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1158240">
                        <a:lnSpc>
                          <a:spcPts val="2160"/>
                        </a:lnSpc>
                      </a:pPr>
                      <a:r>
                        <a:rPr dirty="0" sz="2000">
                          <a:latin typeface="Courier New"/>
                          <a:cs typeface="Courier New"/>
                        </a:rPr>
                        <a:t>…</a:t>
                      </a:r>
                      <a:r>
                        <a:rPr dirty="0" sz="2000" spc="-2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00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AS</a:t>
                      </a:r>
                      <a:r>
                        <a:rPr dirty="0" sz="2000" spc="-5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000" spc="-10">
                          <a:latin typeface="Courier New"/>
                          <a:cs typeface="Courier New"/>
                        </a:rPr>
                        <a:t>EXP_WARE,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1158240">
                        <a:lnSpc>
                          <a:spcPts val="2160"/>
                        </a:lnSpc>
                      </a:pPr>
                      <a:r>
                        <a:rPr dirty="0" sz="2000">
                          <a:latin typeface="Courier New"/>
                          <a:cs typeface="Courier New"/>
                        </a:rPr>
                        <a:t>…</a:t>
                      </a:r>
                      <a:r>
                        <a:rPr dirty="0" sz="20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00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AS</a:t>
                      </a:r>
                      <a:r>
                        <a:rPr dirty="0" sz="2000" spc="-5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000" spc="-10">
                          <a:latin typeface="Courier New"/>
                          <a:cs typeface="Courier New"/>
                        </a:rPr>
                        <a:t>PRICE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91440">
                        <a:lnSpc>
                          <a:spcPts val="2280"/>
                        </a:lnSpc>
                      </a:pPr>
                      <a:r>
                        <a:rPr dirty="0" sz="200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dirty="0" sz="2000" spc="-35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000">
                          <a:latin typeface="Courier New"/>
                          <a:cs typeface="Courier New"/>
                        </a:rPr>
                        <a:t>(</a:t>
                      </a:r>
                      <a:r>
                        <a:rPr dirty="0" sz="200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SELECT</a:t>
                      </a:r>
                      <a:r>
                        <a:rPr dirty="0" sz="2000" spc="-3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00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DISTINCT</a:t>
                      </a:r>
                      <a:r>
                        <a:rPr dirty="0" sz="2000" spc="-3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000" spc="-10">
                          <a:latin typeface="Courier New"/>
                          <a:cs typeface="Courier New"/>
                        </a:rPr>
                        <a:t>COMPANY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9525">
                      <a:solidFill>
                        <a:srgbClr val="578793"/>
                      </a:solidFill>
                      <a:prstDash val="solid"/>
                    </a:lnL>
                    <a:lnT w="9525">
                      <a:solidFill>
                        <a:srgbClr val="578793"/>
                      </a:solidFill>
                      <a:prstDash val="solid"/>
                    </a:lnT>
                    <a:lnB w="9525">
                      <a:solidFill>
                        <a:srgbClr val="57879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2000" spc="-2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T w="9525">
                      <a:solidFill>
                        <a:srgbClr val="578793"/>
                      </a:solidFill>
                      <a:prstDash val="solid"/>
                    </a:lnT>
                    <a:lnB w="9525">
                      <a:solidFill>
                        <a:srgbClr val="57879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2000" spc="-10">
                          <a:latin typeface="Courier New"/>
                          <a:cs typeface="Courier New"/>
                        </a:rPr>
                        <a:t>MANUFACTURER)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T w="9525">
                      <a:solidFill>
                        <a:srgbClr val="578793"/>
                      </a:solidFill>
                      <a:prstDash val="solid"/>
                    </a:lnT>
                    <a:lnB w="9525">
                      <a:solidFill>
                        <a:srgbClr val="57879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3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2000" spc="-25">
                          <a:latin typeface="Courier New"/>
                          <a:cs typeface="Courier New"/>
                        </a:rPr>
                        <a:t>m;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R w="9525">
                      <a:solidFill>
                        <a:srgbClr val="578793"/>
                      </a:solidFill>
                      <a:prstDash val="solid"/>
                    </a:lnR>
                    <a:lnT w="9525">
                      <a:solidFill>
                        <a:srgbClr val="578793"/>
                      </a:solidFill>
                      <a:prstDash val="solid"/>
                    </a:lnT>
                    <a:lnB w="9525">
                      <a:solidFill>
                        <a:srgbClr val="57879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11494007" y="6333410"/>
            <a:ext cx="290195" cy="2444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z="1400" spc="-25" b="1">
                <a:solidFill>
                  <a:srgbClr val="FFFFFF"/>
                </a:solidFill>
                <a:latin typeface="Tahoma"/>
                <a:cs typeface="Tahoma"/>
              </a:rPr>
              <a:t>18</a:t>
            </a:fld>
            <a:endParaRPr sz="14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43292" y="4962905"/>
            <a:ext cx="8133715" cy="1590040"/>
          </a:xfrm>
          <a:prstGeom prst="rect">
            <a:avLst/>
          </a:prstGeom>
          <a:ln w="9525">
            <a:solidFill>
              <a:srgbClr val="578793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1440">
              <a:lnSpc>
                <a:spcPts val="2235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m.COMPANY,</a:t>
            </a:r>
            <a:endParaRPr sz="2000">
              <a:latin typeface="Courier New"/>
              <a:cs typeface="Courier New"/>
            </a:endParaRPr>
          </a:p>
          <a:p>
            <a:pPr marL="1158240">
              <a:lnSpc>
                <a:spcPts val="2160"/>
              </a:lnSpc>
            </a:pPr>
            <a:r>
              <a:rPr dirty="0" sz="2000">
                <a:latin typeface="Courier New"/>
                <a:cs typeface="Courier New"/>
              </a:rPr>
              <a:t>…</a:t>
            </a:r>
            <a:r>
              <a:rPr dirty="0" sz="2000" spc="-20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AS</a:t>
            </a:r>
            <a:r>
              <a:rPr dirty="0" sz="2000" spc="-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EXP_WARE,</a:t>
            </a:r>
            <a:endParaRPr sz="2000">
              <a:latin typeface="Courier New"/>
              <a:cs typeface="Courier New"/>
            </a:endParaRPr>
          </a:p>
          <a:p>
            <a:pPr marL="91440" marR="5137785" indent="1066800">
              <a:lnSpc>
                <a:spcPts val="2160"/>
              </a:lnSpc>
              <a:spcBef>
                <a:spcPts val="150"/>
              </a:spcBef>
            </a:pPr>
            <a:r>
              <a:rPr dirty="0" sz="2000">
                <a:latin typeface="Courier New"/>
                <a:cs typeface="Courier New"/>
              </a:rPr>
              <a:t>…</a:t>
            </a:r>
            <a:r>
              <a:rPr dirty="0" sz="2000" spc="-10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AS</a:t>
            </a:r>
            <a:r>
              <a:rPr dirty="0" sz="2000" spc="-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PRICE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4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MANUFACTURER</a:t>
            </a:r>
            <a:r>
              <a:rPr dirty="0" sz="2000" spc="-40">
                <a:latin typeface="Courier New"/>
                <a:cs typeface="Courier New"/>
              </a:rPr>
              <a:t> </a:t>
            </a:r>
            <a:r>
              <a:rPr dirty="0" sz="2000" spc="-50">
                <a:latin typeface="Courier New"/>
                <a:cs typeface="Courier New"/>
              </a:rPr>
              <a:t>m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GROUP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BY</a:t>
            </a:r>
            <a:r>
              <a:rPr dirty="0" sz="2000" spc="-1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m.COMPANY;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3492" y="1028700"/>
            <a:ext cx="6135484" cy="57569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802944" y="2927426"/>
            <a:ext cx="7799070" cy="2012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280"/>
              </a:lnSpc>
              <a:spcBef>
                <a:spcPts val="105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DISTINCT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m.COMPANY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16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4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MANUFACTURER</a:t>
            </a:r>
            <a:r>
              <a:rPr dirty="0" sz="2000" spc="-40">
                <a:latin typeface="Courier New"/>
                <a:cs typeface="Courier New"/>
              </a:rPr>
              <a:t> </a:t>
            </a:r>
            <a:r>
              <a:rPr dirty="0" sz="2000" spc="-50">
                <a:latin typeface="Courier New"/>
                <a:cs typeface="Courier New"/>
              </a:rPr>
              <a:t>m</a:t>
            </a:r>
            <a:endParaRPr sz="2000">
              <a:latin typeface="Courier New"/>
              <a:cs typeface="Courier New"/>
            </a:endParaRPr>
          </a:p>
          <a:p>
            <a:pPr marL="1079500" marR="5080" indent="-1067435">
              <a:lnSpc>
                <a:spcPts val="2160"/>
              </a:lnSpc>
              <a:spcBef>
                <a:spcPts val="150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dirty="0" sz="2000" spc="-4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(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4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COUNT</a:t>
            </a:r>
            <a:r>
              <a:rPr dirty="0" sz="2000">
                <a:latin typeface="Courier New"/>
                <a:cs typeface="Courier New"/>
              </a:rPr>
              <a:t>(RECIPE_ID)</a:t>
            </a:r>
            <a:r>
              <a:rPr dirty="0" sz="2000" spc="-45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4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MANUFACTURER</a:t>
            </a:r>
            <a:r>
              <a:rPr dirty="0" sz="2000" spc="-40">
                <a:latin typeface="Courier New"/>
                <a:cs typeface="Courier New"/>
              </a:rPr>
              <a:t> </a:t>
            </a:r>
            <a:r>
              <a:rPr dirty="0" sz="2000" spc="-25">
                <a:latin typeface="Courier New"/>
                <a:cs typeface="Courier New"/>
              </a:rPr>
              <a:t>m1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dirty="0" sz="2000" spc="-5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m1.COMPANY=</a:t>
            </a:r>
            <a:r>
              <a:rPr dirty="0" sz="2000">
                <a:solidFill>
                  <a:srgbClr val="C00000"/>
                </a:solidFill>
                <a:latin typeface="Courier New"/>
                <a:cs typeface="Courier New"/>
              </a:rPr>
              <a:t>m.COMPANY</a:t>
            </a:r>
            <a:r>
              <a:rPr dirty="0" sz="2000">
                <a:latin typeface="Courier New"/>
                <a:cs typeface="Courier New"/>
              </a:rPr>
              <a:t>)</a:t>
            </a:r>
            <a:r>
              <a:rPr dirty="0" sz="2000" spc="-45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&gt;</a:t>
            </a:r>
            <a:r>
              <a:rPr dirty="0" sz="2000" spc="-45">
                <a:latin typeface="Courier New"/>
                <a:cs typeface="Courier New"/>
              </a:rPr>
              <a:t> </a:t>
            </a:r>
            <a:r>
              <a:rPr dirty="0" sz="2000" spc="-25">
                <a:latin typeface="Courier New"/>
                <a:cs typeface="Courier New"/>
              </a:rPr>
              <a:t>2;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60"/>
              </a:spcBef>
            </a:pP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 spc="80" b="1">
                <a:latin typeface="Cambria"/>
                <a:cs typeface="Cambria"/>
              </a:rPr>
              <a:t>Problem</a:t>
            </a:r>
            <a:r>
              <a:rPr dirty="0" sz="2000" spc="80">
                <a:latin typeface="Cambria"/>
                <a:cs typeface="Cambria"/>
              </a:rPr>
              <a:t>: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performance!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494007" y="6333410"/>
            <a:ext cx="290195" cy="2444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z="1400" spc="-25" b="1">
                <a:solidFill>
                  <a:srgbClr val="FFFFFF"/>
                </a:solidFill>
                <a:latin typeface="Tahoma"/>
                <a:cs typeface="Tahoma"/>
              </a:rPr>
              <a:t>18</a:t>
            </a:fld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9570" y="1028700"/>
            <a:ext cx="4069626" cy="46824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743292" y="1743075"/>
            <a:ext cx="8220075" cy="1323975"/>
          </a:xfrm>
          <a:prstGeom prst="rect">
            <a:avLst/>
          </a:prstGeom>
          <a:ln w="9525">
            <a:solidFill>
              <a:srgbClr val="578793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1440">
              <a:lnSpc>
                <a:spcPts val="2225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m.COMPANY</a:t>
            </a:r>
            <a:endParaRPr sz="2000">
              <a:latin typeface="Courier New"/>
              <a:cs typeface="Courier New"/>
            </a:endParaRPr>
          </a:p>
          <a:p>
            <a:pPr marL="91440">
              <a:lnSpc>
                <a:spcPts val="216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4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(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DISTINCT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COMPANY</a:t>
            </a:r>
            <a:r>
              <a:rPr dirty="0" sz="2000" spc="-35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MANUFACTURER)</a:t>
            </a:r>
            <a:r>
              <a:rPr dirty="0" sz="2000" spc="-35">
                <a:latin typeface="Courier New"/>
                <a:cs typeface="Courier New"/>
              </a:rPr>
              <a:t> </a:t>
            </a:r>
            <a:r>
              <a:rPr dirty="0" sz="2000" spc="-50">
                <a:latin typeface="Courier New"/>
                <a:cs typeface="Courier New"/>
              </a:rPr>
              <a:t>m</a:t>
            </a:r>
            <a:endParaRPr sz="2000">
              <a:latin typeface="Courier New"/>
              <a:cs typeface="Courier New"/>
            </a:endParaRPr>
          </a:p>
          <a:p>
            <a:pPr marL="1158240" marR="347345" indent="-1067435">
              <a:lnSpc>
                <a:spcPts val="2160"/>
              </a:lnSpc>
              <a:spcBef>
                <a:spcPts val="150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dirty="0" sz="2000" spc="-5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(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4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COUNT</a:t>
            </a:r>
            <a:r>
              <a:rPr dirty="0" sz="2000">
                <a:latin typeface="Courier New"/>
                <a:cs typeface="Courier New"/>
              </a:rPr>
              <a:t>(RECIPE_ID)</a:t>
            </a:r>
            <a:r>
              <a:rPr dirty="0" sz="2000" spc="-45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4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MANUFACTURER</a:t>
            </a:r>
            <a:r>
              <a:rPr dirty="0" sz="2000" spc="-40">
                <a:latin typeface="Courier New"/>
                <a:cs typeface="Courier New"/>
              </a:rPr>
              <a:t> </a:t>
            </a:r>
            <a:r>
              <a:rPr dirty="0" sz="2000" spc="-25">
                <a:latin typeface="Courier New"/>
                <a:cs typeface="Courier New"/>
              </a:rPr>
              <a:t>m1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dirty="0" sz="2000" spc="-5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m1.COMPANY=</a:t>
            </a:r>
            <a:r>
              <a:rPr dirty="0" sz="2000">
                <a:solidFill>
                  <a:srgbClr val="C00000"/>
                </a:solidFill>
                <a:latin typeface="Courier New"/>
                <a:cs typeface="Courier New"/>
              </a:rPr>
              <a:t>m.COMPANY</a:t>
            </a:r>
            <a:r>
              <a:rPr dirty="0" sz="2000">
                <a:latin typeface="Courier New"/>
                <a:cs typeface="Courier New"/>
              </a:rPr>
              <a:t>)</a:t>
            </a:r>
            <a:r>
              <a:rPr dirty="0" sz="2000" spc="-45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&gt;</a:t>
            </a:r>
            <a:r>
              <a:rPr dirty="0" sz="2000" spc="-45">
                <a:latin typeface="Courier New"/>
                <a:cs typeface="Courier New"/>
              </a:rPr>
              <a:t> </a:t>
            </a:r>
            <a:r>
              <a:rPr dirty="0" sz="2000" spc="-25">
                <a:latin typeface="Courier New"/>
                <a:cs typeface="Courier New"/>
              </a:rPr>
              <a:t>2;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43292" y="3400425"/>
            <a:ext cx="8220075" cy="1513205"/>
          </a:xfrm>
          <a:prstGeom prst="rect">
            <a:avLst/>
          </a:prstGeom>
          <a:ln w="9525">
            <a:solidFill>
              <a:srgbClr val="578793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1440">
              <a:lnSpc>
                <a:spcPts val="223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m.COMPANY</a:t>
            </a:r>
            <a:r>
              <a:rPr dirty="0" sz="2000" spc="-10">
                <a:solidFill>
                  <a:srgbClr val="006FC0"/>
                </a:solidFill>
                <a:latin typeface="Courier New"/>
                <a:cs typeface="Courier New"/>
              </a:rPr>
              <a:t>,</a:t>
            </a:r>
            <a:endParaRPr sz="2000">
              <a:latin typeface="Courier New"/>
              <a:cs typeface="Courier New"/>
            </a:endParaRPr>
          </a:p>
          <a:p>
            <a:pPr marL="1158240">
              <a:lnSpc>
                <a:spcPts val="2160"/>
              </a:lnSpc>
            </a:pPr>
            <a:r>
              <a:rPr dirty="0" sz="2000">
                <a:latin typeface="Courier New"/>
                <a:cs typeface="Courier New"/>
              </a:rPr>
              <a:t>(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5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COUNT</a:t>
            </a:r>
            <a:r>
              <a:rPr dirty="0" sz="2000">
                <a:latin typeface="Courier New"/>
                <a:cs typeface="Courier New"/>
              </a:rPr>
              <a:t>(RECIPE_ID)</a:t>
            </a:r>
            <a:r>
              <a:rPr dirty="0" sz="2000" spc="-50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5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MANUFACTURER</a:t>
            </a:r>
            <a:r>
              <a:rPr dirty="0" sz="2000" spc="-45">
                <a:latin typeface="Courier New"/>
                <a:cs typeface="Courier New"/>
              </a:rPr>
              <a:t> </a:t>
            </a:r>
            <a:r>
              <a:rPr dirty="0" sz="2000" spc="-35">
                <a:latin typeface="Courier New"/>
                <a:cs typeface="Courier New"/>
              </a:rPr>
              <a:t>m1</a:t>
            </a:r>
            <a:endParaRPr sz="2000">
              <a:latin typeface="Courier New"/>
              <a:cs typeface="Courier New"/>
            </a:endParaRPr>
          </a:p>
          <a:p>
            <a:pPr marL="1310640">
              <a:lnSpc>
                <a:spcPts val="216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dirty="0" sz="2000" spc="-6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m1.COMPANY=</a:t>
            </a:r>
            <a:r>
              <a:rPr dirty="0" sz="2000">
                <a:solidFill>
                  <a:srgbClr val="C00000"/>
                </a:solidFill>
                <a:latin typeface="Courier New"/>
                <a:cs typeface="Courier New"/>
              </a:rPr>
              <a:t>m.COMPANY</a:t>
            </a:r>
            <a:r>
              <a:rPr dirty="0" sz="2000">
                <a:latin typeface="Courier New"/>
                <a:cs typeface="Courier New"/>
              </a:rPr>
              <a:t>)</a:t>
            </a:r>
            <a:r>
              <a:rPr dirty="0" sz="2000" spc="-45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AS</a:t>
            </a:r>
            <a:r>
              <a:rPr dirty="0" sz="2000" spc="-4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25">
                <a:latin typeface="Courier New"/>
                <a:cs typeface="Courier New"/>
              </a:rPr>
              <a:t>CNT</a:t>
            </a:r>
            <a:endParaRPr sz="2000">
              <a:latin typeface="Courier New"/>
              <a:cs typeface="Courier New"/>
            </a:endParaRPr>
          </a:p>
          <a:p>
            <a:pPr marL="91440" marR="499109">
              <a:lnSpc>
                <a:spcPts val="2160"/>
              </a:lnSpc>
              <a:spcBef>
                <a:spcPts val="150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4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(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DISTINCT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COMPANY</a:t>
            </a:r>
            <a:r>
              <a:rPr dirty="0" sz="2000" spc="-35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MANUFACTURER)</a:t>
            </a:r>
            <a:r>
              <a:rPr dirty="0" sz="2000" spc="-35">
                <a:latin typeface="Courier New"/>
                <a:cs typeface="Courier New"/>
              </a:rPr>
              <a:t> </a:t>
            </a:r>
            <a:r>
              <a:rPr dirty="0" sz="2000" spc="-50">
                <a:latin typeface="Courier New"/>
                <a:cs typeface="Courier New"/>
              </a:rPr>
              <a:t>m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dirty="0" sz="2000" spc="-1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CNT</a:t>
            </a:r>
            <a:r>
              <a:rPr dirty="0" sz="2000" spc="-15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&gt;</a:t>
            </a:r>
            <a:r>
              <a:rPr dirty="0" sz="2000" spc="-15">
                <a:latin typeface="Courier New"/>
                <a:cs typeface="Courier New"/>
              </a:rPr>
              <a:t> </a:t>
            </a:r>
            <a:r>
              <a:rPr dirty="0" sz="2000" spc="-25">
                <a:latin typeface="Courier New"/>
                <a:cs typeface="Courier New"/>
              </a:rPr>
              <a:t>2;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743292" y="5246751"/>
            <a:ext cx="8220075" cy="1259205"/>
          </a:xfrm>
          <a:custGeom>
            <a:avLst/>
            <a:gdLst/>
            <a:ahLst/>
            <a:cxnLst/>
            <a:rect l="l" t="t" r="r" b="b"/>
            <a:pathLst>
              <a:path w="8220075" h="1259204">
                <a:moveTo>
                  <a:pt x="0" y="1258824"/>
                </a:moveTo>
                <a:lnTo>
                  <a:pt x="8219694" y="1258824"/>
                </a:lnTo>
                <a:lnTo>
                  <a:pt x="8219694" y="0"/>
                </a:lnTo>
                <a:lnTo>
                  <a:pt x="0" y="0"/>
                </a:lnTo>
                <a:lnTo>
                  <a:pt x="0" y="1258824"/>
                </a:lnTo>
                <a:close/>
              </a:path>
            </a:pathLst>
          </a:custGeom>
          <a:ln w="9525">
            <a:solidFill>
              <a:srgbClr val="57879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5864605" y="5227701"/>
            <a:ext cx="26035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dirty="0" sz="2000">
                <a:solidFill>
                  <a:srgbClr val="7E7E7E"/>
                </a:solidFill>
                <a:latin typeface="Courier New"/>
                <a:cs typeface="Courier New"/>
              </a:rPr>
              <a:t>the</a:t>
            </a:r>
            <a:r>
              <a:rPr dirty="0" sz="2000" spc="-3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7E7E7E"/>
                </a:solidFill>
                <a:latin typeface="Courier New"/>
                <a:cs typeface="Courier New"/>
              </a:rPr>
              <a:t>fastest</a:t>
            </a:r>
            <a:r>
              <a:rPr dirty="0" sz="2000" spc="-2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dirty="0" sz="2000" spc="-25">
                <a:solidFill>
                  <a:srgbClr val="7E7E7E"/>
                </a:solidFill>
                <a:latin typeface="Courier New"/>
                <a:cs typeface="Courier New"/>
              </a:rPr>
              <a:t>one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1494007" y="6333410"/>
            <a:ext cx="290195" cy="2444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z="1400" spc="-25" b="1">
                <a:solidFill>
                  <a:srgbClr val="FFFFFF"/>
                </a:solidFill>
                <a:latin typeface="Tahoma"/>
                <a:cs typeface="Tahoma"/>
              </a:rPr>
              <a:t>18</a:t>
            </a:fld>
            <a:endParaRPr sz="14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34847" y="5227701"/>
            <a:ext cx="3975735" cy="115443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R="157480">
              <a:lnSpc>
                <a:spcPts val="2160"/>
              </a:lnSpc>
              <a:spcBef>
                <a:spcPts val="375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DISTINCT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m.COMPANY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4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MANUFACTURER</a:t>
            </a:r>
            <a:r>
              <a:rPr dirty="0" sz="2000" spc="-40">
                <a:latin typeface="Courier New"/>
                <a:cs typeface="Courier New"/>
              </a:rPr>
              <a:t> </a:t>
            </a:r>
            <a:r>
              <a:rPr dirty="0" sz="2000" spc="-50">
                <a:latin typeface="Courier New"/>
                <a:cs typeface="Courier New"/>
              </a:rPr>
              <a:t>m</a:t>
            </a:r>
            <a:r>
              <a:rPr dirty="0" sz="2000" spc="500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GROUP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BY</a:t>
            </a:r>
            <a:r>
              <a:rPr dirty="0" sz="2000" spc="-1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m.COMPANY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ts val="213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HAVING</a:t>
            </a:r>
            <a:r>
              <a:rPr dirty="0" sz="2000" spc="-4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006FC0"/>
                </a:solidFill>
                <a:latin typeface="Courier New"/>
                <a:cs typeface="Courier New"/>
              </a:rPr>
              <a:t>COUNT</a:t>
            </a:r>
            <a:r>
              <a:rPr dirty="0" sz="2000" spc="-10">
                <a:latin typeface="Courier New"/>
                <a:cs typeface="Courier New"/>
              </a:rPr>
              <a:t>(RECIPE_ID)&gt;2;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9581" y="1028700"/>
            <a:ext cx="8978546" cy="57569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743292" y="1743075"/>
            <a:ext cx="9077325" cy="1609725"/>
          </a:xfrm>
          <a:prstGeom prst="rect">
            <a:avLst/>
          </a:prstGeom>
          <a:ln w="9525">
            <a:solidFill>
              <a:srgbClr val="578793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1440">
              <a:lnSpc>
                <a:spcPts val="2225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DISTINCT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m.COMPANY</a:t>
            </a:r>
            <a:endParaRPr sz="2000">
              <a:latin typeface="Courier New"/>
              <a:cs typeface="Courier New"/>
            </a:endParaRPr>
          </a:p>
          <a:p>
            <a:pPr marL="91440">
              <a:lnSpc>
                <a:spcPts val="216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4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MANUFACTURER</a:t>
            </a:r>
            <a:r>
              <a:rPr dirty="0" sz="2000" spc="-40">
                <a:latin typeface="Courier New"/>
                <a:cs typeface="Courier New"/>
              </a:rPr>
              <a:t> </a:t>
            </a:r>
            <a:r>
              <a:rPr dirty="0" sz="2000" spc="-50">
                <a:latin typeface="Courier New"/>
                <a:cs typeface="Courier New"/>
              </a:rPr>
              <a:t>m</a:t>
            </a:r>
            <a:endParaRPr sz="2000">
              <a:latin typeface="Courier New"/>
              <a:cs typeface="Courier New"/>
            </a:endParaRPr>
          </a:p>
          <a:p>
            <a:pPr marL="2225040" marR="290195" indent="-2134235">
              <a:lnSpc>
                <a:spcPts val="2160"/>
              </a:lnSpc>
              <a:spcBef>
                <a:spcPts val="150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EXISTS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(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1</a:t>
            </a:r>
            <a:r>
              <a:rPr dirty="0" sz="2000" spc="-25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MANUFACTURER</a:t>
            </a:r>
            <a:r>
              <a:rPr dirty="0" sz="2000" spc="-30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m1,</a:t>
            </a:r>
            <a:r>
              <a:rPr dirty="0" sz="2000" spc="-30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MATERIAL</a:t>
            </a:r>
            <a:r>
              <a:rPr dirty="0" sz="2000" spc="-25">
                <a:latin typeface="Courier New"/>
                <a:cs typeface="Courier New"/>
              </a:rPr>
              <a:t> mt1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mt1.RECIPE_ID=m1.RECIPE_ID</a:t>
            </a:r>
            <a:endParaRPr sz="2000">
              <a:latin typeface="Courier New"/>
              <a:cs typeface="Courier New"/>
            </a:endParaRPr>
          </a:p>
          <a:p>
            <a:pPr marL="2529840">
              <a:lnSpc>
                <a:spcPts val="213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AND</a:t>
            </a:r>
            <a:r>
              <a:rPr dirty="0" sz="2000" spc="-1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C00000"/>
                </a:solidFill>
                <a:latin typeface="Courier New"/>
                <a:cs typeface="Courier New"/>
              </a:rPr>
              <a:t>m.COMPANY</a:t>
            </a:r>
            <a:r>
              <a:rPr dirty="0" sz="2000" spc="-10">
                <a:latin typeface="Courier New"/>
                <a:cs typeface="Courier New"/>
              </a:rPr>
              <a:t>=m1.COMPANY);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494007" y="6333410"/>
            <a:ext cx="290195" cy="2444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z="1400" spc="-25" b="1">
                <a:solidFill>
                  <a:srgbClr val="FFFFFF"/>
                </a:solidFill>
                <a:latin typeface="Tahoma"/>
                <a:cs typeface="Tahoma"/>
              </a:rPr>
              <a:t>18</a:t>
            </a:fld>
            <a:endParaRPr sz="14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43292" y="3705225"/>
            <a:ext cx="9077325" cy="1609725"/>
          </a:xfrm>
          <a:prstGeom prst="rect">
            <a:avLst/>
          </a:prstGeom>
          <a:ln w="9525">
            <a:solidFill>
              <a:srgbClr val="578793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1440">
              <a:lnSpc>
                <a:spcPts val="223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DISTINCT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m.COMPANY</a:t>
            </a:r>
            <a:endParaRPr sz="2000">
              <a:latin typeface="Courier New"/>
              <a:cs typeface="Courier New"/>
            </a:endParaRPr>
          </a:p>
          <a:p>
            <a:pPr marL="91440">
              <a:lnSpc>
                <a:spcPts val="216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4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MANUFACTURER</a:t>
            </a:r>
            <a:r>
              <a:rPr dirty="0" sz="2000" spc="-40">
                <a:latin typeface="Courier New"/>
                <a:cs typeface="Courier New"/>
              </a:rPr>
              <a:t> </a:t>
            </a:r>
            <a:r>
              <a:rPr dirty="0" sz="2000" spc="-50">
                <a:latin typeface="Courier New"/>
                <a:cs typeface="Courier New"/>
              </a:rPr>
              <a:t>m</a:t>
            </a:r>
            <a:endParaRPr sz="2000">
              <a:latin typeface="Courier New"/>
              <a:cs typeface="Courier New"/>
            </a:endParaRPr>
          </a:p>
          <a:p>
            <a:pPr marL="2225040" marR="442595" indent="-2134235">
              <a:lnSpc>
                <a:spcPts val="2160"/>
              </a:lnSpc>
              <a:spcBef>
                <a:spcPts val="150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(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COUNT</a:t>
            </a:r>
            <a:r>
              <a:rPr dirty="0" sz="2000">
                <a:latin typeface="Courier New"/>
                <a:cs typeface="Courier New"/>
              </a:rPr>
              <a:t>()</a:t>
            </a:r>
            <a:r>
              <a:rPr dirty="0" sz="2000" spc="-30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MANUFACTURER</a:t>
            </a:r>
            <a:r>
              <a:rPr dirty="0" sz="2000" spc="-30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m1,</a:t>
            </a:r>
            <a:r>
              <a:rPr dirty="0" sz="2000" spc="-35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MATERIAL</a:t>
            </a:r>
            <a:r>
              <a:rPr dirty="0" sz="2000" spc="-30">
                <a:latin typeface="Courier New"/>
                <a:cs typeface="Courier New"/>
              </a:rPr>
              <a:t> </a:t>
            </a:r>
            <a:r>
              <a:rPr dirty="0" sz="2000" spc="-25">
                <a:latin typeface="Courier New"/>
                <a:cs typeface="Courier New"/>
              </a:rPr>
              <a:t>mt1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mt1.RECIPE_ID=m1.RECIPE_ID</a:t>
            </a:r>
            <a:endParaRPr sz="2000">
              <a:latin typeface="Courier New"/>
              <a:cs typeface="Courier New"/>
            </a:endParaRPr>
          </a:p>
          <a:p>
            <a:pPr marL="2529840">
              <a:lnSpc>
                <a:spcPts val="213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AND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C00000"/>
                </a:solidFill>
                <a:latin typeface="Courier New"/>
                <a:cs typeface="Courier New"/>
              </a:rPr>
              <a:t>m.COMPANY</a:t>
            </a:r>
            <a:r>
              <a:rPr dirty="0" sz="2000" spc="-10">
                <a:latin typeface="Courier New"/>
                <a:cs typeface="Courier New"/>
              </a:rPr>
              <a:t>=m1.COMPANY)&gt;0;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22147" y="5859881"/>
            <a:ext cx="294957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165" b="1">
                <a:latin typeface="Cambria"/>
                <a:cs typeface="Cambria"/>
              </a:rPr>
              <a:t>Q:</a:t>
            </a:r>
            <a:r>
              <a:rPr dirty="0" sz="2000" spc="220" b="1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Which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one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better?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8133" y="1028700"/>
            <a:ext cx="10019042" cy="535177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069847" y="2476500"/>
            <a:ext cx="9077325" cy="1609725"/>
          </a:xfrm>
          <a:prstGeom prst="rect">
            <a:avLst/>
          </a:prstGeom>
          <a:ln w="9525">
            <a:solidFill>
              <a:srgbClr val="578793"/>
            </a:solidFill>
          </a:ln>
        </p:spPr>
        <p:txBody>
          <a:bodyPr wrap="square" lIns="0" tIns="27940" rIns="0" bIns="0" rtlCol="0" vert="horz">
            <a:spAutoFit/>
          </a:bodyPr>
          <a:lstStyle/>
          <a:p>
            <a:pPr marL="91440" marR="5168265">
              <a:lnSpc>
                <a:spcPts val="2160"/>
              </a:lnSpc>
              <a:spcBef>
                <a:spcPts val="220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DISTINCT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m.COMPANY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4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MANUFACTURER</a:t>
            </a:r>
            <a:r>
              <a:rPr dirty="0" sz="2000" spc="-40">
                <a:latin typeface="Courier New"/>
                <a:cs typeface="Courier New"/>
              </a:rPr>
              <a:t> </a:t>
            </a:r>
            <a:r>
              <a:rPr dirty="0" sz="2000" spc="-50">
                <a:latin typeface="Courier New"/>
                <a:cs typeface="Courier New"/>
              </a:rPr>
              <a:t>m</a:t>
            </a:r>
            <a:endParaRPr sz="2000">
              <a:latin typeface="Courier New"/>
              <a:cs typeface="Courier New"/>
            </a:endParaRPr>
          </a:p>
          <a:p>
            <a:pPr marL="91440">
              <a:lnSpc>
                <a:spcPts val="201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JOIN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MATERIAL</a:t>
            </a:r>
            <a:r>
              <a:rPr dirty="0" sz="2000" spc="-30">
                <a:latin typeface="Courier New"/>
                <a:cs typeface="Courier New"/>
              </a:rPr>
              <a:t> </a:t>
            </a:r>
            <a:r>
              <a:rPr dirty="0" sz="2000" spc="-25">
                <a:latin typeface="Courier New"/>
                <a:cs typeface="Courier New"/>
              </a:rPr>
              <a:t>mt</a:t>
            </a:r>
            <a:endParaRPr sz="2000">
              <a:latin typeface="Courier New"/>
              <a:cs typeface="Courier New"/>
            </a:endParaRPr>
          </a:p>
          <a:p>
            <a:pPr marL="91440">
              <a:lnSpc>
                <a:spcPts val="228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ON</a:t>
            </a:r>
            <a:r>
              <a:rPr dirty="0" sz="2000" spc="-1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mt.RECIPE_ID=m.RECIPE_ID;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494007" y="6333410"/>
            <a:ext cx="290195" cy="2444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z="1400" spc="-25" b="1">
                <a:solidFill>
                  <a:srgbClr val="FFFFFF"/>
                </a:solidFill>
                <a:latin typeface="Tahoma"/>
                <a:cs typeface="Tahoma"/>
              </a:rPr>
              <a:t>18</a:t>
            </a:fld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9568" y="1028700"/>
            <a:ext cx="10366923" cy="57569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743292" y="1743075"/>
            <a:ext cx="9572625" cy="1609725"/>
          </a:xfrm>
          <a:prstGeom prst="rect">
            <a:avLst/>
          </a:prstGeom>
          <a:ln w="9525">
            <a:solidFill>
              <a:srgbClr val="578793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1440">
              <a:lnSpc>
                <a:spcPts val="2225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DISTINCT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m.COMPANY</a:t>
            </a:r>
            <a:endParaRPr sz="2000">
              <a:latin typeface="Courier New"/>
              <a:cs typeface="Courier New"/>
            </a:endParaRPr>
          </a:p>
          <a:p>
            <a:pPr marL="91440">
              <a:lnSpc>
                <a:spcPts val="216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4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MANUFACTURER</a:t>
            </a:r>
            <a:r>
              <a:rPr dirty="0" sz="2000" spc="-40">
                <a:latin typeface="Courier New"/>
                <a:cs typeface="Courier New"/>
              </a:rPr>
              <a:t> </a:t>
            </a:r>
            <a:r>
              <a:rPr dirty="0" sz="2000" spc="-50">
                <a:latin typeface="Courier New"/>
                <a:cs typeface="Courier New"/>
              </a:rPr>
              <a:t>m</a:t>
            </a:r>
            <a:endParaRPr sz="2000">
              <a:latin typeface="Courier New"/>
              <a:cs typeface="Courier New"/>
            </a:endParaRPr>
          </a:p>
          <a:p>
            <a:pPr marL="2834640" marR="175895" indent="-2743835">
              <a:lnSpc>
                <a:spcPts val="2160"/>
              </a:lnSpc>
              <a:spcBef>
                <a:spcPts val="150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NOT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EXISTS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(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1</a:t>
            </a:r>
            <a:r>
              <a:rPr dirty="0" sz="2000" spc="-30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MANUFACTURER</a:t>
            </a:r>
            <a:r>
              <a:rPr dirty="0" sz="2000" spc="-30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m1,</a:t>
            </a:r>
            <a:r>
              <a:rPr dirty="0" sz="2000" spc="-25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MATERIAL</a:t>
            </a:r>
            <a:r>
              <a:rPr dirty="0" sz="2000" spc="-25">
                <a:latin typeface="Courier New"/>
                <a:cs typeface="Courier New"/>
              </a:rPr>
              <a:t> mt1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mt1.RECIPE_ID=m1.RECIPE_ID</a:t>
            </a:r>
            <a:endParaRPr sz="2000">
              <a:latin typeface="Courier New"/>
              <a:cs typeface="Courier New"/>
            </a:endParaRPr>
          </a:p>
          <a:p>
            <a:pPr marL="3139440">
              <a:lnSpc>
                <a:spcPts val="213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AND</a:t>
            </a:r>
            <a:r>
              <a:rPr dirty="0" sz="2000" spc="-1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C00000"/>
                </a:solidFill>
                <a:latin typeface="Courier New"/>
                <a:cs typeface="Courier New"/>
              </a:rPr>
              <a:t>m.COMPANY</a:t>
            </a:r>
            <a:r>
              <a:rPr dirty="0" sz="2000" spc="-10">
                <a:latin typeface="Courier New"/>
                <a:cs typeface="Courier New"/>
              </a:rPr>
              <a:t>=m1.COMPANY);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494007" y="6333410"/>
            <a:ext cx="290195" cy="2444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z="1400" spc="-25" b="1">
                <a:solidFill>
                  <a:srgbClr val="FFFFFF"/>
                </a:solidFill>
                <a:latin typeface="Tahoma"/>
                <a:cs typeface="Tahoma"/>
              </a:rPr>
              <a:t>18</a:t>
            </a:fld>
            <a:endParaRPr sz="14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43292" y="3705225"/>
            <a:ext cx="9572625" cy="1609725"/>
          </a:xfrm>
          <a:prstGeom prst="rect">
            <a:avLst/>
          </a:prstGeom>
          <a:ln w="9525">
            <a:solidFill>
              <a:srgbClr val="578793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1440">
              <a:lnSpc>
                <a:spcPts val="223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DISTINCT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m.COMPANY</a:t>
            </a:r>
            <a:endParaRPr sz="2000">
              <a:latin typeface="Courier New"/>
              <a:cs typeface="Courier New"/>
            </a:endParaRPr>
          </a:p>
          <a:p>
            <a:pPr marL="91440">
              <a:lnSpc>
                <a:spcPts val="216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4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MANUFACTURER</a:t>
            </a:r>
            <a:r>
              <a:rPr dirty="0" sz="2000" spc="-40">
                <a:latin typeface="Courier New"/>
                <a:cs typeface="Courier New"/>
              </a:rPr>
              <a:t> </a:t>
            </a:r>
            <a:r>
              <a:rPr dirty="0" sz="2000" spc="-50">
                <a:latin typeface="Courier New"/>
                <a:cs typeface="Courier New"/>
              </a:rPr>
              <a:t>m</a:t>
            </a:r>
            <a:endParaRPr sz="2000">
              <a:latin typeface="Courier New"/>
              <a:cs typeface="Courier New"/>
            </a:endParaRPr>
          </a:p>
          <a:p>
            <a:pPr marL="1158240" marR="937894" indent="-1067435">
              <a:lnSpc>
                <a:spcPts val="2160"/>
              </a:lnSpc>
              <a:spcBef>
                <a:spcPts val="150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(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COUNT</a:t>
            </a:r>
            <a:r>
              <a:rPr dirty="0" sz="2000">
                <a:latin typeface="Courier New"/>
                <a:cs typeface="Courier New"/>
              </a:rPr>
              <a:t>()</a:t>
            </a:r>
            <a:r>
              <a:rPr dirty="0" sz="2000" spc="-30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MANUFACTURER</a:t>
            </a:r>
            <a:r>
              <a:rPr dirty="0" sz="2000" spc="-30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m1,</a:t>
            </a:r>
            <a:r>
              <a:rPr dirty="0" sz="2000" spc="-35"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MATERIAL</a:t>
            </a:r>
            <a:r>
              <a:rPr dirty="0" sz="2000" spc="-30">
                <a:latin typeface="Courier New"/>
                <a:cs typeface="Courier New"/>
              </a:rPr>
              <a:t> </a:t>
            </a:r>
            <a:r>
              <a:rPr dirty="0" sz="2000" spc="-25">
                <a:latin typeface="Courier New"/>
                <a:cs typeface="Courier New"/>
              </a:rPr>
              <a:t>mt1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mt1.RECIPE_ID=m1.RECIPE_ID</a:t>
            </a:r>
            <a:endParaRPr sz="2000">
              <a:latin typeface="Courier New"/>
              <a:cs typeface="Courier New"/>
            </a:endParaRPr>
          </a:p>
          <a:p>
            <a:pPr marL="1463040">
              <a:lnSpc>
                <a:spcPts val="213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AND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C00000"/>
                </a:solidFill>
                <a:latin typeface="Courier New"/>
                <a:cs typeface="Courier New"/>
              </a:rPr>
              <a:t>m.COMPANY</a:t>
            </a:r>
            <a:r>
              <a:rPr dirty="0" sz="2000" spc="-10">
                <a:latin typeface="Courier New"/>
                <a:cs typeface="Courier New"/>
              </a:rPr>
              <a:t>=m1.COMPANY)=0;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22147" y="5859881"/>
            <a:ext cx="294957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165" b="1">
                <a:latin typeface="Cambria"/>
                <a:cs typeface="Cambria"/>
              </a:rPr>
              <a:t>Q:</a:t>
            </a:r>
            <a:r>
              <a:rPr dirty="0" sz="2000" spc="220" b="1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Which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one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better?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8133" y="1028700"/>
            <a:ext cx="4622050" cy="465582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069847" y="2476500"/>
            <a:ext cx="9077325" cy="1609725"/>
          </a:xfrm>
          <a:prstGeom prst="rect">
            <a:avLst/>
          </a:prstGeom>
          <a:ln w="9525">
            <a:solidFill>
              <a:srgbClr val="578793"/>
            </a:solidFill>
          </a:ln>
        </p:spPr>
        <p:txBody>
          <a:bodyPr wrap="square" lIns="0" tIns="27940" rIns="0" bIns="0" rtlCol="0" vert="horz">
            <a:spAutoFit/>
          </a:bodyPr>
          <a:lstStyle/>
          <a:p>
            <a:pPr marL="91440" marR="5168265">
              <a:lnSpc>
                <a:spcPts val="2160"/>
              </a:lnSpc>
              <a:spcBef>
                <a:spcPts val="220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DISTINCT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m.COMPANY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4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MANUFACTURER</a:t>
            </a:r>
            <a:r>
              <a:rPr dirty="0" sz="2000" spc="-40">
                <a:latin typeface="Courier New"/>
                <a:cs typeface="Courier New"/>
              </a:rPr>
              <a:t> </a:t>
            </a:r>
            <a:r>
              <a:rPr dirty="0" sz="2000" spc="-50">
                <a:latin typeface="Courier New"/>
                <a:cs typeface="Courier New"/>
              </a:rPr>
              <a:t>m</a:t>
            </a:r>
            <a:endParaRPr sz="2000">
              <a:latin typeface="Courier New"/>
              <a:cs typeface="Courier New"/>
            </a:endParaRPr>
          </a:p>
          <a:p>
            <a:pPr marL="91440">
              <a:lnSpc>
                <a:spcPts val="201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LEFT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JOIN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MATERIAL</a:t>
            </a:r>
            <a:r>
              <a:rPr dirty="0" sz="2000" spc="-25">
                <a:latin typeface="Courier New"/>
                <a:cs typeface="Courier New"/>
              </a:rPr>
              <a:t> mt</a:t>
            </a:r>
            <a:endParaRPr sz="2000">
              <a:latin typeface="Courier New"/>
              <a:cs typeface="Courier New"/>
            </a:endParaRPr>
          </a:p>
          <a:p>
            <a:pPr marL="91440" marR="4861560">
              <a:lnSpc>
                <a:spcPts val="2160"/>
              </a:lnSpc>
              <a:spcBef>
                <a:spcPts val="150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ON</a:t>
            </a:r>
            <a:r>
              <a:rPr dirty="0" sz="2000" spc="-1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mt.RECIPE_ID=m.RECIPE_ID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mt.RECIPE_ID</a:t>
            </a:r>
            <a:r>
              <a:rPr dirty="0" sz="2000" spc="-25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IS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006FC0"/>
                </a:solidFill>
                <a:latin typeface="Courier New"/>
                <a:cs typeface="Courier New"/>
              </a:rPr>
              <a:t>NULL</a:t>
            </a:r>
            <a:r>
              <a:rPr dirty="0" sz="2000" spc="-10">
                <a:latin typeface="Courier New"/>
                <a:cs typeface="Courier New"/>
              </a:rPr>
              <a:t>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494007" y="6333410"/>
            <a:ext cx="290195" cy="2444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z="1400" spc="-25" b="1">
                <a:solidFill>
                  <a:srgbClr val="FFFFFF"/>
                </a:solidFill>
                <a:latin typeface="Tahoma"/>
                <a:cs typeface="Tahoma"/>
              </a:rPr>
              <a:t>18</a:t>
            </a:fld>
            <a:endParaRPr sz="14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45539" y="4983860"/>
            <a:ext cx="65925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65" b="1">
                <a:latin typeface="Cambria"/>
                <a:cs typeface="Cambria"/>
              </a:rPr>
              <a:t>Q:</a:t>
            </a:r>
            <a:r>
              <a:rPr dirty="0" sz="2000" spc="225" b="1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Is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it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correct?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Is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it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equivalent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to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previous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ones?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0995" y="1037082"/>
            <a:ext cx="4048201" cy="457200"/>
          </a:xfrm>
          <a:prstGeom prst="rect">
            <a:avLst/>
          </a:prstGeom>
        </p:spPr>
      </p:pic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063497" y="2342133"/>
          <a:ext cx="8216900" cy="3222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9545"/>
                <a:gridCol w="2709545"/>
                <a:gridCol w="2709544"/>
              </a:tblGrid>
              <a:tr h="8051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818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90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Performance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818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100" b="1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Flexibility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8183"/>
                    </a:solidFill>
                  </a:tcPr>
                </a:tc>
              </a:tr>
              <a:tr h="80581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000" spc="165" b="1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COUNT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000" spc="130" b="1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r>
                        <a:rPr dirty="0" sz="2000" spc="215" b="1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2000" spc="70" b="1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worst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000" spc="130" b="1">
                          <a:solidFill>
                            <a:srgbClr val="00AF5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r>
                        <a:rPr dirty="0" sz="2000" spc="215" b="1">
                          <a:solidFill>
                            <a:srgbClr val="00AF5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2000" spc="85" b="1">
                          <a:solidFill>
                            <a:srgbClr val="00AF50"/>
                          </a:solidFill>
                          <a:latin typeface="Cambria"/>
                          <a:cs typeface="Cambria"/>
                        </a:rPr>
                        <a:t>best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</a:tr>
              <a:tr h="80581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000" spc="220" b="1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EXISTS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000" spc="65" b="1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Bad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000" spc="114" b="1">
                          <a:solidFill>
                            <a:srgbClr val="00AF50"/>
                          </a:solidFill>
                          <a:latin typeface="Cambria"/>
                          <a:cs typeface="Cambria"/>
                        </a:rPr>
                        <a:t>Good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CEC"/>
                    </a:solidFill>
                  </a:tcPr>
                </a:tc>
              </a:tr>
              <a:tr h="80581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000" spc="235" b="1">
                          <a:solidFill>
                            <a:srgbClr val="006FC0"/>
                          </a:solidFill>
                          <a:latin typeface="Cambria"/>
                          <a:cs typeface="Cambria"/>
                        </a:rPr>
                        <a:t>JOIN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000" spc="130" b="1">
                          <a:solidFill>
                            <a:srgbClr val="00AF5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r>
                        <a:rPr dirty="0" sz="2000" spc="215" b="1">
                          <a:solidFill>
                            <a:srgbClr val="00AF5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2000" spc="85" b="1">
                          <a:solidFill>
                            <a:srgbClr val="00AF50"/>
                          </a:solidFill>
                          <a:latin typeface="Cambria"/>
                          <a:cs typeface="Cambria"/>
                        </a:rPr>
                        <a:t>best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000" spc="130" b="1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r>
                        <a:rPr dirty="0" sz="2000" spc="215" b="1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2000" spc="60" b="1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Worst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D7D9"/>
                    </a:solidFill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11494007" y="6333410"/>
            <a:ext cx="290195" cy="2444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z="1400" spc="-25" b="1">
                <a:solidFill>
                  <a:srgbClr val="FFFFFF"/>
                </a:solidFill>
                <a:latin typeface="Tahoma"/>
                <a:cs typeface="Tahoma"/>
              </a:rPr>
              <a:t>18</a:t>
            </a:fld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592" y="699516"/>
            <a:ext cx="7894434" cy="57569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3675" y="1357883"/>
            <a:ext cx="2564917" cy="57569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148588" y="2302510"/>
            <a:ext cx="9756140" cy="286321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94310" marR="1434465" indent="-182245">
              <a:lnSpc>
                <a:spcPts val="2160"/>
              </a:lnSpc>
              <a:spcBef>
                <a:spcPts val="37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5580" algn="l"/>
              </a:tabLst>
            </a:pPr>
            <a:r>
              <a:rPr dirty="0" sz="2000" spc="130">
                <a:latin typeface="Cambria"/>
                <a:cs typeface="Cambria"/>
              </a:rPr>
              <a:t>Being</a:t>
            </a:r>
            <a:r>
              <a:rPr dirty="0" sz="2000" spc="155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closer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to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formal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model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75">
                <a:solidFill>
                  <a:srgbClr val="7E7E7E"/>
                </a:solidFill>
                <a:latin typeface="Cambria"/>
                <a:cs typeface="Cambria"/>
              </a:rPr>
              <a:t>(relational</a:t>
            </a:r>
            <a:r>
              <a:rPr dirty="0" sz="2000" spc="19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75">
                <a:solidFill>
                  <a:srgbClr val="7E7E7E"/>
                </a:solidFill>
                <a:latin typeface="Cambria"/>
                <a:cs typeface="Cambria"/>
              </a:rPr>
              <a:t>algebra)</a:t>
            </a:r>
            <a:r>
              <a:rPr dirty="0" sz="2000" spc="17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means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better </a:t>
            </a:r>
            <a:r>
              <a:rPr dirty="0" sz="2000" spc="70">
                <a:latin typeface="Cambria"/>
                <a:cs typeface="Cambria"/>
              </a:rPr>
              <a:t>	</a:t>
            </a:r>
            <a:r>
              <a:rPr dirty="0" sz="2000" spc="105">
                <a:latin typeface="Cambria"/>
                <a:cs typeface="Cambria"/>
              </a:rPr>
              <a:t>performance:</a:t>
            </a:r>
            <a:r>
              <a:rPr dirty="0" sz="2000" spc="160">
                <a:latin typeface="Cambria"/>
                <a:cs typeface="Cambria"/>
              </a:rPr>
              <a:t> </a:t>
            </a:r>
            <a:r>
              <a:rPr dirty="0" sz="2000" spc="114">
                <a:solidFill>
                  <a:srgbClr val="006FC0"/>
                </a:solidFill>
                <a:latin typeface="Cambria"/>
                <a:cs typeface="Cambria"/>
              </a:rPr>
              <a:t>plain</a:t>
            </a:r>
            <a:r>
              <a:rPr dirty="0" sz="2000" spc="204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dirty="0" sz="2000" spc="100">
                <a:solidFill>
                  <a:srgbClr val="006FC0"/>
                </a:solidFill>
                <a:latin typeface="Cambria"/>
                <a:cs typeface="Cambria"/>
              </a:rPr>
              <a:t>query</a:t>
            </a:r>
            <a:r>
              <a:rPr dirty="0" sz="2000" spc="165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vs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20">
                <a:solidFill>
                  <a:srgbClr val="006FC0"/>
                </a:solidFill>
                <a:latin typeface="Cambria"/>
                <a:cs typeface="Cambria"/>
              </a:rPr>
              <a:t>nested</a:t>
            </a:r>
            <a:r>
              <a:rPr dirty="0" sz="2000" spc="165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dirty="0" sz="2000" spc="85">
                <a:solidFill>
                  <a:srgbClr val="006FC0"/>
                </a:solidFill>
                <a:latin typeface="Cambria"/>
                <a:cs typeface="Cambria"/>
              </a:rPr>
              <a:t>queries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45"/>
              </a:spcBef>
              <a:buClr>
                <a:srgbClr val="957D95"/>
              </a:buClr>
              <a:buFont typeface="Wingdings"/>
              <a:buChar char=""/>
            </a:pP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95">
                <a:latin typeface="Cambria"/>
                <a:cs typeface="Cambria"/>
              </a:rPr>
              <a:t>Better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flexibility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means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worse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performance: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210">
                <a:solidFill>
                  <a:srgbClr val="006FC0"/>
                </a:solidFill>
                <a:latin typeface="Cambria"/>
                <a:cs typeface="Cambria"/>
              </a:rPr>
              <a:t>EXISTS</a:t>
            </a:r>
            <a:r>
              <a:rPr dirty="0" sz="2000" spc="210">
                <a:latin typeface="Cambria"/>
                <a:cs typeface="Cambria"/>
              </a:rPr>
              <a:t>/</a:t>
            </a:r>
            <a:r>
              <a:rPr dirty="0" sz="2000" spc="210">
                <a:solidFill>
                  <a:srgbClr val="006FC0"/>
                </a:solidFill>
                <a:latin typeface="Cambria"/>
                <a:cs typeface="Cambria"/>
              </a:rPr>
              <a:t>COUNT</a:t>
            </a:r>
            <a:r>
              <a:rPr dirty="0" sz="2000" spc="185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vs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235">
                <a:solidFill>
                  <a:srgbClr val="006FC0"/>
                </a:solidFill>
                <a:latin typeface="Cambria"/>
                <a:cs typeface="Cambria"/>
              </a:rPr>
              <a:t>JOIN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210"/>
              </a:spcBef>
              <a:buClr>
                <a:srgbClr val="957D95"/>
              </a:buClr>
              <a:buFont typeface="Wingdings"/>
              <a:buChar char=""/>
            </a:pPr>
            <a:endParaRPr sz="2000">
              <a:latin typeface="Cambria"/>
              <a:cs typeface="Cambria"/>
            </a:endParaRPr>
          </a:p>
          <a:p>
            <a:pPr marL="194310" marR="5080" indent="-182245">
              <a:lnSpc>
                <a:spcPct val="90300"/>
              </a:lnSpc>
              <a:buClr>
                <a:srgbClr val="957D95"/>
              </a:buClr>
              <a:buSzPct val="85000"/>
              <a:buFont typeface="Wingdings"/>
              <a:buChar char=""/>
              <a:tabLst>
                <a:tab pos="195580" algn="l"/>
              </a:tabLst>
            </a:pPr>
            <a:r>
              <a:rPr dirty="0" sz="2000" spc="114">
                <a:latin typeface="Cambria"/>
                <a:cs typeface="Cambria"/>
              </a:rPr>
              <a:t>Highly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specialized/higher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55">
                <a:latin typeface="Cambria"/>
                <a:cs typeface="Cambria"/>
              </a:rPr>
              <a:t>level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operations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provide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more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information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to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the </a:t>
            </a:r>
            <a:r>
              <a:rPr dirty="0" sz="2000" spc="85">
                <a:latin typeface="Cambria"/>
                <a:cs typeface="Cambria"/>
              </a:rPr>
              <a:t>	</a:t>
            </a:r>
            <a:r>
              <a:rPr dirty="0" sz="2000" spc="100">
                <a:latin typeface="Cambria"/>
                <a:cs typeface="Cambria"/>
              </a:rPr>
              <a:t>query</a:t>
            </a:r>
            <a:r>
              <a:rPr dirty="0" sz="2000" spc="160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planner,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and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60">
                <a:latin typeface="Cambria"/>
                <a:cs typeface="Cambria"/>
              </a:rPr>
              <a:t>it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75">
                <a:latin typeface="Cambria"/>
                <a:cs typeface="Cambria"/>
              </a:rPr>
              <a:t>can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60">
                <a:latin typeface="Cambria"/>
                <a:cs typeface="Cambria"/>
              </a:rPr>
              <a:t>make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85">
                <a:latin typeface="Cambria"/>
                <a:cs typeface="Cambria"/>
              </a:rPr>
              <a:t>a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better</a:t>
            </a:r>
            <a:r>
              <a:rPr dirty="0" sz="2000" spc="160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plan: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215">
                <a:solidFill>
                  <a:srgbClr val="006FC0"/>
                </a:solidFill>
                <a:latin typeface="Cambria"/>
                <a:cs typeface="Cambria"/>
              </a:rPr>
              <a:t>EXISTS</a:t>
            </a:r>
            <a:r>
              <a:rPr dirty="0" sz="2000" spc="20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vs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204">
                <a:solidFill>
                  <a:srgbClr val="006FC0"/>
                </a:solidFill>
                <a:latin typeface="Cambria"/>
                <a:cs typeface="Cambria"/>
              </a:rPr>
              <a:t>COUNT</a:t>
            </a:r>
            <a:r>
              <a:rPr dirty="0" sz="2000" spc="204">
                <a:latin typeface="Cambria"/>
                <a:cs typeface="Cambria"/>
              </a:rPr>
              <a:t>,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95">
                <a:solidFill>
                  <a:srgbClr val="006FC0"/>
                </a:solidFill>
                <a:latin typeface="Cambria"/>
                <a:cs typeface="Cambria"/>
              </a:rPr>
              <a:t>equijoin</a:t>
            </a:r>
            <a:r>
              <a:rPr dirty="0" sz="2000" spc="195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vs </a:t>
            </a:r>
            <a:r>
              <a:rPr dirty="0" sz="2000" spc="75">
                <a:latin typeface="Cambria"/>
                <a:cs typeface="Cambria"/>
              </a:rPr>
              <a:t>	</a:t>
            </a:r>
            <a:r>
              <a:rPr dirty="0" sz="2000" spc="55">
                <a:solidFill>
                  <a:srgbClr val="006FC0"/>
                </a:solidFill>
                <a:latin typeface="Cambria"/>
                <a:cs typeface="Cambria"/>
              </a:rPr>
              <a:t>θ-</a:t>
            </a:r>
            <a:r>
              <a:rPr dirty="0" sz="2000" spc="60">
                <a:solidFill>
                  <a:srgbClr val="006FC0"/>
                </a:solidFill>
                <a:latin typeface="Cambria"/>
                <a:cs typeface="Cambria"/>
              </a:rPr>
              <a:t>join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494007" y="6333410"/>
            <a:ext cx="290195" cy="2444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z="1400" spc="-25" b="1">
                <a:solidFill>
                  <a:srgbClr val="FFFFFF"/>
                </a:solidFill>
                <a:latin typeface="Tahoma"/>
                <a:cs typeface="Tahoma"/>
              </a:rPr>
              <a:t>18</a:t>
            </a:fld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8133" y="699516"/>
            <a:ext cx="6648462" cy="57569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6769" y="1357883"/>
            <a:ext cx="7036701" cy="57569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148588" y="2112391"/>
            <a:ext cx="9631045" cy="409956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94310" marR="542290" indent="-182245">
              <a:lnSpc>
                <a:spcPts val="2160"/>
              </a:lnSpc>
              <a:spcBef>
                <a:spcPts val="37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5580" algn="l"/>
              </a:tabLst>
            </a:pPr>
            <a:r>
              <a:rPr dirty="0" sz="2000" spc="95">
                <a:latin typeface="Cambria"/>
                <a:cs typeface="Cambria"/>
              </a:rPr>
              <a:t>The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aggregation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should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be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70">
                <a:latin typeface="Cambria"/>
                <a:cs typeface="Cambria"/>
              </a:rPr>
              <a:t>used, </a:t>
            </a:r>
            <a:r>
              <a:rPr dirty="0" sz="2000" spc="165">
                <a:latin typeface="Cambria"/>
                <a:cs typeface="Cambria"/>
              </a:rPr>
              <a:t>and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more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complex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manipulations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with </a:t>
            </a:r>
            <a:r>
              <a:rPr dirty="0" sz="2000" spc="65">
                <a:latin typeface="Cambria"/>
                <a:cs typeface="Cambria"/>
              </a:rPr>
              <a:t>	</a:t>
            </a:r>
            <a:r>
              <a:rPr dirty="0" sz="2000" spc="120">
                <a:latin typeface="Cambria"/>
                <a:cs typeface="Cambria"/>
              </a:rPr>
              <a:t>groups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are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required</a:t>
            </a:r>
            <a:r>
              <a:rPr dirty="0" sz="2000" spc="165">
                <a:latin typeface="Cambria"/>
                <a:cs typeface="Cambria"/>
              </a:rPr>
              <a:t> than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standard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aggregators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75">
                <a:latin typeface="Cambria"/>
                <a:cs typeface="Cambria"/>
              </a:rPr>
              <a:t>can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provide:</a:t>
            </a:r>
            <a:endParaRPr sz="2000">
              <a:latin typeface="Cambria"/>
              <a:cs typeface="Cambria"/>
            </a:endParaRPr>
          </a:p>
          <a:p>
            <a:pPr lvl="1" marL="469265" indent="-182245">
              <a:lnSpc>
                <a:spcPct val="100000"/>
              </a:lnSpc>
              <a:spcBef>
                <a:spcPts val="155"/>
              </a:spcBef>
              <a:buClr>
                <a:srgbClr val="957D95"/>
              </a:buClr>
              <a:buSzPct val="83333"/>
              <a:buFont typeface="Wingdings"/>
              <a:buChar char=""/>
              <a:tabLst>
                <a:tab pos="469265" algn="l"/>
              </a:tabLst>
            </a:pPr>
            <a:r>
              <a:rPr dirty="0" sz="1800" spc="85">
                <a:latin typeface="Cambria"/>
                <a:cs typeface="Cambria"/>
              </a:rPr>
              <a:t>Ordering</a:t>
            </a:r>
            <a:endParaRPr sz="1800">
              <a:latin typeface="Cambria"/>
              <a:cs typeface="Cambria"/>
            </a:endParaRPr>
          </a:p>
          <a:p>
            <a:pPr lvl="1" marL="469265" indent="-182245">
              <a:lnSpc>
                <a:spcPct val="100000"/>
              </a:lnSpc>
              <a:spcBef>
                <a:spcPts val="385"/>
              </a:spcBef>
              <a:buClr>
                <a:srgbClr val="957D95"/>
              </a:buClr>
              <a:buSzPct val="83333"/>
              <a:buFont typeface="Wingdings"/>
              <a:buChar char=""/>
              <a:tabLst>
                <a:tab pos="469265" algn="l"/>
              </a:tabLst>
            </a:pPr>
            <a:r>
              <a:rPr dirty="0" sz="1800" spc="125">
                <a:latin typeface="Cambria"/>
                <a:cs typeface="Cambria"/>
              </a:rPr>
              <a:t>Sampling</a:t>
            </a:r>
            <a:endParaRPr sz="1800">
              <a:latin typeface="Cambria"/>
              <a:cs typeface="Cambria"/>
            </a:endParaRPr>
          </a:p>
          <a:p>
            <a:pPr lvl="1" marL="469265" indent="-182245">
              <a:lnSpc>
                <a:spcPct val="100000"/>
              </a:lnSpc>
              <a:spcBef>
                <a:spcPts val="385"/>
              </a:spcBef>
              <a:buClr>
                <a:srgbClr val="957D95"/>
              </a:buClr>
              <a:buSzPct val="83333"/>
              <a:buFont typeface="Wingdings"/>
              <a:buChar char=""/>
              <a:tabLst>
                <a:tab pos="469265" algn="l"/>
              </a:tabLst>
            </a:pPr>
            <a:r>
              <a:rPr dirty="0" sz="1800" spc="395">
                <a:latin typeface="Cambria"/>
                <a:cs typeface="Cambria"/>
              </a:rPr>
              <a:t>…</a:t>
            </a:r>
            <a:endParaRPr sz="18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115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160">
                <a:latin typeface="Cambria"/>
                <a:cs typeface="Cambria"/>
              </a:rPr>
              <a:t>Set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operations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should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be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used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with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45">
                <a:latin typeface="Cambria"/>
                <a:cs typeface="Cambria"/>
              </a:rPr>
              <a:t>subsequent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manipulations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with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results:</a:t>
            </a:r>
            <a:endParaRPr sz="2000">
              <a:latin typeface="Cambria"/>
              <a:cs typeface="Cambria"/>
            </a:endParaRPr>
          </a:p>
          <a:p>
            <a:pPr lvl="1" marL="469265" indent="-182245">
              <a:lnSpc>
                <a:spcPct val="100000"/>
              </a:lnSpc>
              <a:spcBef>
                <a:spcPts val="190"/>
              </a:spcBef>
              <a:buClr>
                <a:srgbClr val="957D95"/>
              </a:buClr>
              <a:buSzPct val="83333"/>
              <a:buFont typeface="Wingdings"/>
              <a:buChar char=""/>
              <a:tabLst>
                <a:tab pos="469265" algn="l"/>
              </a:tabLst>
            </a:pPr>
            <a:r>
              <a:rPr dirty="0" sz="1800" spc="70">
                <a:latin typeface="Cambria"/>
                <a:cs typeface="Cambria"/>
              </a:rPr>
              <a:t>Aggregation</a:t>
            </a:r>
            <a:endParaRPr sz="1800">
              <a:latin typeface="Cambria"/>
              <a:cs typeface="Cambria"/>
            </a:endParaRPr>
          </a:p>
          <a:p>
            <a:pPr lvl="1" marL="469265" indent="-182245">
              <a:lnSpc>
                <a:spcPct val="100000"/>
              </a:lnSpc>
              <a:spcBef>
                <a:spcPts val="385"/>
              </a:spcBef>
              <a:buClr>
                <a:srgbClr val="957D95"/>
              </a:buClr>
              <a:buSzPct val="83333"/>
              <a:buFont typeface="Wingdings"/>
              <a:buChar char=""/>
              <a:tabLst>
                <a:tab pos="469265" algn="l"/>
              </a:tabLst>
            </a:pPr>
            <a:r>
              <a:rPr dirty="0" sz="1800" spc="175">
                <a:latin typeface="Cambria"/>
                <a:cs typeface="Cambria"/>
              </a:rPr>
              <a:t>Join</a:t>
            </a:r>
            <a:endParaRPr sz="1800">
              <a:latin typeface="Cambria"/>
              <a:cs typeface="Cambria"/>
            </a:endParaRPr>
          </a:p>
          <a:p>
            <a:pPr lvl="1" marL="469265" indent="-182245">
              <a:lnSpc>
                <a:spcPct val="100000"/>
              </a:lnSpc>
              <a:spcBef>
                <a:spcPts val="385"/>
              </a:spcBef>
              <a:buClr>
                <a:srgbClr val="957D95"/>
              </a:buClr>
              <a:buSzPct val="83333"/>
              <a:buFont typeface="Wingdings"/>
              <a:buChar char=""/>
              <a:tabLst>
                <a:tab pos="469265" algn="l"/>
              </a:tabLst>
            </a:pPr>
            <a:r>
              <a:rPr dirty="0" sz="1800" spc="395">
                <a:latin typeface="Cambria"/>
                <a:cs typeface="Cambria"/>
              </a:rPr>
              <a:t>…</a:t>
            </a:r>
            <a:endParaRPr sz="1800">
              <a:latin typeface="Cambria"/>
              <a:cs typeface="Cambria"/>
            </a:endParaRPr>
          </a:p>
          <a:p>
            <a:pPr marL="194310" marR="245745" indent="-182245">
              <a:lnSpc>
                <a:spcPts val="2160"/>
              </a:lnSpc>
              <a:spcBef>
                <a:spcPts val="143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5580" algn="l"/>
              </a:tabLst>
            </a:pPr>
            <a:r>
              <a:rPr dirty="0" sz="2000" spc="95">
                <a:latin typeface="Cambria"/>
                <a:cs typeface="Cambria"/>
              </a:rPr>
              <a:t>The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appropriate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55">
                <a:latin typeface="Cambria"/>
                <a:cs typeface="Cambria"/>
              </a:rPr>
              <a:t>level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query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flexibility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necessary: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one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needs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to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change </a:t>
            </a:r>
            <a:r>
              <a:rPr dirty="0" sz="2000" spc="140">
                <a:latin typeface="Cambria"/>
                <a:cs typeface="Cambria"/>
              </a:rPr>
              <a:t>	</a:t>
            </a:r>
            <a:r>
              <a:rPr dirty="0" sz="2000" spc="110">
                <a:latin typeface="Cambria"/>
                <a:cs typeface="Cambria"/>
              </a:rPr>
              <a:t>conditions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in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85">
                <a:latin typeface="Cambria"/>
                <a:cs typeface="Cambria"/>
              </a:rPr>
              <a:t>a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parent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query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and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subqueries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relatively</a:t>
            </a:r>
            <a:r>
              <a:rPr dirty="0" sz="2000" spc="155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independently.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3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445">
                <a:latin typeface="Cambria"/>
                <a:cs typeface="Cambria"/>
              </a:rPr>
              <a:t>…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494007" y="6333410"/>
            <a:ext cx="290195" cy="2444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z="1400" spc="-25" b="1">
                <a:solidFill>
                  <a:srgbClr val="FFFFFF"/>
                </a:solidFill>
                <a:latin typeface="Tahoma"/>
                <a:cs typeface="Tahoma"/>
              </a:rPr>
              <a:t>18</a:t>
            </a:fld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shadow</dc:creator>
  <dc:title>Declarative Programming:  Query Languages</dc:title>
  <dcterms:created xsi:type="dcterms:W3CDTF">2025-05-22T11:40:48Z</dcterms:created>
  <dcterms:modified xsi:type="dcterms:W3CDTF">2025-05-22T11:40:48Z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2025-04-02T00:00:00Z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2025-05-22T00:00:00Z</vt:filetime>
  </property>
  <property fmtid="{D5CDD505-2E9C-101B-9397-08002B2CF9AE}" pid="5" name="Producer">
    <vt:lpwstr>Microsoft® PowerPoint® 2019</vt:lpwstr>
  </property>
</Properties>
</file>