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8826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8826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8826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8826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8826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01679" y="6229680"/>
            <a:ext cx="457200" cy="4572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430889" y="6258877"/>
            <a:ext cx="398780" cy="399415"/>
          </a:xfrm>
          <a:custGeom>
            <a:avLst/>
            <a:gdLst/>
            <a:ahLst/>
            <a:cxnLst/>
            <a:rect l="l" t="t" r="r" b="b"/>
            <a:pathLst>
              <a:path w="398779" h="399415">
                <a:moveTo>
                  <a:pt x="0" y="199402"/>
                </a:moveTo>
                <a:lnTo>
                  <a:pt x="5266" y="153679"/>
                </a:lnTo>
                <a:lnTo>
                  <a:pt x="20268" y="111707"/>
                </a:lnTo>
                <a:lnTo>
                  <a:pt x="43807" y="74683"/>
                </a:lnTo>
                <a:lnTo>
                  <a:pt x="74686" y="43804"/>
                </a:lnTo>
                <a:lnTo>
                  <a:pt x="111708" y="20266"/>
                </a:lnTo>
                <a:lnTo>
                  <a:pt x="153675" y="5265"/>
                </a:lnTo>
                <a:lnTo>
                  <a:pt x="199389" y="0"/>
                </a:lnTo>
                <a:lnTo>
                  <a:pt x="245144" y="5265"/>
                </a:lnTo>
                <a:lnTo>
                  <a:pt x="287127" y="20266"/>
                </a:lnTo>
                <a:lnTo>
                  <a:pt x="324146" y="43804"/>
                </a:lnTo>
                <a:lnTo>
                  <a:pt x="355012" y="74683"/>
                </a:lnTo>
                <a:lnTo>
                  <a:pt x="378534" y="111707"/>
                </a:lnTo>
                <a:lnTo>
                  <a:pt x="393520" y="153679"/>
                </a:lnTo>
                <a:lnTo>
                  <a:pt x="398779" y="199402"/>
                </a:lnTo>
                <a:lnTo>
                  <a:pt x="393520" y="245126"/>
                </a:lnTo>
                <a:lnTo>
                  <a:pt x="378534" y="287098"/>
                </a:lnTo>
                <a:lnTo>
                  <a:pt x="355012" y="324121"/>
                </a:lnTo>
                <a:lnTo>
                  <a:pt x="324146" y="355001"/>
                </a:lnTo>
                <a:lnTo>
                  <a:pt x="287127" y="378539"/>
                </a:lnTo>
                <a:lnTo>
                  <a:pt x="245144" y="393539"/>
                </a:lnTo>
                <a:lnTo>
                  <a:pt x="199389" y="398805"/>
                </a:lnTo>
                <a:lnTo>
                  <a:pt x="153675" y="393539"/>
                </a:lnTo>
                <a:lnTo>
                  <a:pt x="111708" y="378539"/>
                </a:lnTo>
                <a:lnTo>
                  <a:pt x="74686" y="355001"/>
                </a:lnTo>
                <a:lnTo>
                  <a:pt x="43807" y="324121"/>
                </a:lnTo>
                <a:lnTo>
                  <a:pt x="20268" y="287098"/>
                </a:lnTo>
                <a:lnTo>
                  <a:pt x="5266" y="245126"/>
                </a:lnTo>
                <a:lnTo>
                  <a:pt x="0" y="19940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5539" y="1682953"/>
            <a:ext cx="8688705" cy="3314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5539" y="2416090"/>
            <a:ext cx="5997575" cy="3866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494007" y="6333410"/>
            <a:ext cx="29019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8826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838" y="1346923"/>
            <a:ext cx="10222992" cy="80683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920838" y="1484757"/>
            <a:ext cx="10223500" cy="3665220"/>
            <a:chOff x="920838" y="1484757"/>
            <a:chExt cx="10223500" cy="366522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0838" y="4282782"/>
              <a:ext cx="10222992" cy="8068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0838" y="1484757"/>
              <a:ext cx="10222992" cy="3665093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9757283" y="4177030"/>
              <a:ext cx="864869" cy="864869"/>
            </a:xfrm>
            <a:custGeom>
              <a:avLst/>
              <a:gdLst/>
              <a:ahLst/>
              <a:cxnLst/>
              <a:rect l="l" t="t" r="r" b="b"/>
              <a:pathLst>
                <a:path w="864870" h="864870">
                  <a:moveTo>
                    <a:pt x="0" y="432308"/>
                  </a:moveTo>
                  <a:lnTo>
                    <a:pt x="2536" y="385202"/>
                  </a:lnTo>
                  <a:lnTo>
                    <a:pt x="9971" y="339566"/>
                  </a:lnTo>
                  <a:lnTo>
                    <a:pt x="22040" y="295664"/>
                  </a:lnTo>
                  <a:lnTo>
                    <a:pt x="38479" y="253758"/>
                  </a:lnTo>
                  <a:lnTo>
                    <a:pt x="59026" y="214112"/>
                  </a:lnTo>
                  <a:lnTo>
                    <a:pt x="83417" y="176991"/>
                  </a:lnTo>
                  <a:lnTo>
                    <a:pt x="111388" y="142657"/>
                  </a:lnTo>
                  <a:lnTo>
                    <a:pt x="142677" y="111376"/>
                  </a:lnTo>
                  <a:lnTo>
                    <a:pt x="177018" y="83409"/>
                  </a:lnTo>
                  <a:lnTo>
                    <a:pt x="214150" y="59022"/>
                  </a:lnTo>
                  <a:lnTo>
                    <a:pt x="253808" y="38477"/>
                  </a:lnTo>
                  <a:lnTo>
                    <a:pt x="295729" y="22039"/>
                  </a:lnTo>
                  <a:lnTo>
                    <a:pt x="339649" y="9970"/>
                  </a:lnTo>
                  <a:lnTo>
                    <a:pt x="385306" y="2536"/>
                  </a:lnTo>
                  <a:lnTo>
                    <a:pt x="432435" y="0"/>
                  </a:lnTo>
                  <a:lnTo>
                    <a:pt x="479540" y="2536"/>
                  </a:lnTo>
                  <a:lnTo>
                    <a:pt x="525176" y="9970"/>
                  </a:lnTo>
                  <a:lnTo>
                    <a:pt x="569078" y="22039"/>
                  </a:lnTo>
                  <a:lnTo>
                    <a:pt x="610984" y="38477"/>
                  </a:lnTo>
                  <a:lnTo>
                    <a:pt x="650630" y="59022"/>
                  </a:lnTo>
                  <a:lnTo>
                    <a:pt x="687751" y="83409"/>
                  </a:lnTo>
                  <a:lnTo>
                    <a:pt x="722085" y="111376"/>
                  </a:lnTo>
                  <a:lnTo>
                    <a:pt x="753366" y="142657"/>
                  </a:lnTo>
                  <a:lnTo>
                    <a:pt x="781333" y="176991"/>
                  </a:lnTo>
                  <a:lnTo>
                    <a:pt x="805720" y="214112"/>
                  </a:lnTo>
                  <a:lnTo>
                    <a:pt x="826265" y="253758"/>
                  </a:lnTo>
                  <a:lnTo>
                    <a:pt x="842703" y="295664"/>
                  </a:lnTo>
                  <a:lnTo>
                    <a:pt x="854772" y="339566"/>
                  </a:lnTo>
                  <a:lnTo>
                    <a:pt x="862206" y="385202"/>
                  </a:lnTo>
                  <a:lnTo>
                    <a:pt x="864743" y="432308"/>
                  </a:lnTo>
                  <a:lnTo>
                    <a:pt x="862206" y="479414"/>
                  </a:lnTo>
                  <a:lnTo>
                    <a:pt x="854772" y="525055"/>
                  </a:lnTo>
                  <a:lnTo>
                    <a:pt x="842703" y="568965"/>
                  </a:lnTo>
                  <a:lnTo>
                    <a:pt x="826265" y="610880"/>
                  </a:lnTo>
                  <a:lnTo>
                    <a:pt x="805720" y="650536"/>
                  </a:lnTo>
                  <a:lnTo>
                    <a:pt x="781333" y="687669"/>
                  </a:lnTo>
                  <a:lnTo>
                    <a:pt x="753366" y="722015"/>
                  </a:lnTo>
                  <a:lnTo>
                    <a:pt x="722085" y="753309"/>
                  </a:lnTo>
                  <a:lnTo>
                    <a:pt x="687751" y="781288"/>
                  </a:lnTo>
                  <a:lnTo>
                    <a:pt x="650630" y="805688"/>
                  </a:lnTo>
                  <a:lnTo>
                    <a:pt x="610984" y="826243"/>
                  </a:lnTo>
                  <a:lnTo>
                    <a:pt x="569078" y="842690"/>
                  </a:lnTo>
                  <a:lnTo>
                    <a:pt x="525176" y="854765"/>
                  </a:lnTo>
                  <a:lnTo>
                    <a:pt x="479540" y="862204"/>
                  </a:lnTo>
                  <a:lnTo>
                    <a:pt x="432435" y="864743"/>
                  </a:lnTo>
                  <a:lnTo>
                    <a:pt x="385306" y="862204"/>
                  </a:lnTo>
                  <a:lnTo>
                    <a:pt x="339649" y="854765"/>
                  </a:lnTo>
                  <a:lnTo>
                    <a:pt x="295729" y="842690"/>
                  </a:lnTo>
                  <a:lnTo>
                    <a:pt x="253808" y="826243"/>
                  </a:lnTo>
                  <a:lnTo>
                    <a:pt x="214150" y="805688"/>
                  </a:lnTo>
                  <a:lnTo>
                    <a:pt x="177018" y="781288"/>
                  </a:lnTo>
                  <a:lnTo>
                    <a:pt x="142677" y="753309"/>
                  </a:lnTo>
                  <a:lnTo>
                    <a:pt x="111388" y="722015"/>
                  </a:lnTo>
                  <a:lnTo>
                    <a:pt x="83417" y="687669"/>
                  </a:lnTo>
                  <a:lnTo>
                    <a:pt x="59026" y="650536"/>
                  </a:lnTo>
                  <a:lnTo>
                    <a:pt x="38479" y="610880"/>
                  </a:lnTo>
                  <a:lnTo>
                    <a:pt x="22040" y="568965"/>
                  </a:lnTo>
                  <a:lnTo>
                    <a:pt x="9971" y="525055"/>
                  </a:lnTo>
                  <a:lnTo>
                    <a:pt x="2536" y="479414"/>
                  </a:lnTo>
                  <a:lnTo>
                    <a:pt x="0" y="43230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5418" y="2530983"/>
              <a:ext cx="6772402" cy="87604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148588" y="4810505"/>
            <a:ext cx="205676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14" b="1">
                <a:solidFill>
                  <a:srgbClr val="715D71"/>
                </a:solidFill>
                <a:latin typeface="Cambria"/>
                <a:cs typeface="Cambria"/>
              </a:rPr>
              <a:t>Denis</a:t>
            </a:r>
            <a:r>
              <a:rPr dirty="0" sz="2000" spc="225" b="1">
                <a:solidFill>
                  <a:srgbClr val="715D71"/>
                </a:solidFill>
                <a:latin typeface="Cambria"/>
                <a:cs typeface="Cambria"/>
              </a:rPr>
              <a:t> </a:t>
            </a:r>
            <a:r>
              <a:rPr dirty="0" sz="2000" spc="125" b="1">
                <a:solidFill>
                  <a:srgbClr val="715D71"/>
                </a:solidFill>
                <a:latin typeface="Cambria"/>
                <a:cs typeface="Cambria"/>
              </a:rPr>
              <a:t>Miginsky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133" y="1028700"/>
            <a:ext cx="6847471" cy="57569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2112391"/>
            <a:ext cx="7951470" cy="3409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00">
                <a:latin typeface="Cambria"/>
                <a:cs typeface="Cambria"/>
              </a:rPr>
              <a:t>For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following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query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89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p.WARE,</a:t>
            </a:r>
            <a:r>
              <a:rPr dirty="0" sz="2000" spc="-35"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m.COMPANY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m,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PRODUCT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p,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CATEGORY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c</a:t>
            </a:r>
            <a:endParaRPr sz="2000">
              <a:latin typeface="Courier New"/>
              <a:cs typeface="Courier New"/>
            </a:endParaRPr>
          </a:p>
          <a:p>
            <a:pPr marL="317500" marR="5080" indent="-305435">
              <a:lnSpc>
                <a:spcPts val="2160"/>
              </a:lnSpc>
              <a:spcBef>
                <a:spcPts val="15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c.CLASS='Raw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food'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m.RECIPE_ID=p.RECIPE_ID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c.WARE=p.WARE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01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ORDER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BY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p.WARE</a:t>
            </a:r>
            <a:r>
              <a:rPr dirty="0" sz="2000" spc="-20">
                <a:latin typeface="Courier New"/>
                <a:cs typeface="Courier New"/>
              </a:rPr>
              <a:t> 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ASC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LIMIT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10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140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2000" spc="114">
                <a:latin typeface="Cambria"/>
                <a:cs typeface="Cambria"/>
              </a:rPr>
              <a:t>what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asymptotic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complexity?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4899" y="680719"/>
            <a:ext cx="6617792" cy="584072"/>
          </a:xfrm>
          <a:prstGeom prst="rect">
            <a:avLst/>
          </a:prstGeom>
        </p:spPr>
      </p:pic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057402" y="2921000"/>
          <a:ext cx="5434330" cy="37058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45430"/>
              </a:tblGrid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7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Plan</a:t>
                      </a:r>
                      <a:r>
                        <a:rPr dirty="0" sz="1800" spc="9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(pseudo-</a:t>
                      </a:r>
                      <a:r>
                        <a:rPr dirty="0" sz="1800" spc="4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code)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800" spc="165">
                          <a:latin typeface="Cambria"/>
                          <a:cs typeface="Cambria"/>
                        </a:rPr>
                        <a:t>MANUFACTURER</a:t>
                      </a:r>
                      <a:r>
                        <a:rPr dirty="0" sz="1800" spc="204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3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CROSS_PROD</a:t>
                      </a:r>
                      <a:r>
                        <a:rPr dirty="0" sz="1800" spc="204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PRODUCT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3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CROSS_PROD</a:t>
                      </a: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CATEGORY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FILTER</a:t>
                      </a:r>
                      <a:r>
                        <a:rPr dirty="0" sz="1800" spc="17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50">
                          <a:latin typeface="Cambria"/>
                          <a:cs typeface="Cambria"/>
                        </a:rPr>
                        <a:t>c.CLASS='Raw</a:t>
                      </a:r>
                      <a:r>
                        <a:rPr dirty="0" sz="1800" spc="1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-10">
                          <a:latin typeface="Cambria"/>
                          <a:cs typeface="Cambria"/>
                        </a:rPr>
                        <a:t>food'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2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FILTER</a:t>
                      </a:r>
                      <a:r>
                        <a:rPr dirty="0" sz="1800" spc="16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60">
                          <a:latin typeface="Cambria"/>
                          <a:cs typeface="Cambria"/>
                        </a:rPr>
                        <a:t>m.RECIPE_ID=p.RECIPE_ID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2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FILTER</a:t>
                      </a:r>
                      <a:r>
                        <a:rPr dirty="0" sz="1800" spc="16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latin typeface="Cambria"/>
                          <a:cs typeface="Cambria"/>
                        </a:rPr>
                        <a:t>c.WARE=p.WARE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2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9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SORT_BY</a:t>
                      </a:r>
                      <a:r>
                        <a:rPr dirty="0" sz="1800" spc="19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latin typeface="Cambria"/>
                          <a:cs typeface="Cambria"/>
                        </a:rPr>
                        <a:t>p.WARE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2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DISTINCT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4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MAP</a:t>
                      </a:r>
                      <a:r>
                        <a:rPr dirty="0" sz="1800" spc="1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0">
                          <a:latin typeface="Cambria"/>
                          <a:cs typeface="Cambria"/>
                        </a:rPr>
                        <a:t>(p.WARE,</a:t>
                      </a:r>
                      <a:r>
                        <a:rPr dirty="0" sz="1800" spc="1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latin typeface="Cambria"/>
                          <a:cs typeface="Cambria"/>
                        </a:rPr>
                        <a:t>m.COMPANY)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TAKE</a:t>
                      </a:r>
                      <a:r>
                        <a:rPr dirty="0" sz="1800" spc="19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</a:tbl>
          </a:graphicData>
        </a:graphic>
      </p:graphicFrame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50"/>
              <a:t>3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6893179" y="4151596"/>
            <a:ext cx="2434590" cy="880110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2000" spc="95">
                <a:latin typeface="Cambria"/>
                <a:cs typeface="Cambria"/>
              </a:rPr>
              <a:t>P=size(PRODUCT)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000" spc="125">
                <a:latin typeface="Cambria"/>
                <a:cs typeface="Cambria"/>
              </a:rPr>
              <a:t>C=size(CATEGORY)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158889" y="4151596"/>
            <a:ext cx="811530" cy="880110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2000" spc="40">
                <a:latin typeface="Cambria"/>
                <a:cs typeface="Cambria"/>
              </a:rPr>
              <a:t>~2000</a:t>
            </a:r>
            <a:endParaRPr sz="2000">
              <a:latin typeface="Cambria"/>
              <a:cs typeface="Cambria"/>
            </a:endParaRPr>
          </a:p>
          <a:p>
            <a:pPr marL="42545">
              <a:lnSpc>
                <a:spcPct val="100000"/>
              </a:lnSpc>
              <a:spcBef>
                <a:spcPts val="960"/>
              </a:spcBef>
            </a:pPr>
            <a:r>
              <a:rPr dirty="0" sz="2000" spc="-25">
                <a:latin typeface="Cambria"/>
                <a:cs typeface="Cambria"/>
              </a:rPr>
              <a:t>~20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42491" y="1527149"/>
            <a:ext cx="9859645" cy="2651125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2000" spc="90">
                <a:latin typeface="Cambria"/>
                <a:cs typeface="Cambria"/>
              </a:rPr>
              <a:t>Let’s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implement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245">
                <a:latin typeface="Cambria"/>
                <a:cs typeface="Cambria"/>
              </a:rPr>
              <a:t>SQL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query</a:t>
            </a:r>
            <a:r>
              <a:rPr dirty="0" sz="2000" spc="155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functional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program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000" spc="185">
                <a:latin typeface="Cambria"/>
                <a:cs typeface="Cambria"/>
              </a:rPr>
              <a:t>One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can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use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50">
                <a:solidFill>
                  <a:srgbClr val="006FC0"/>
                </a:solidFill>
                <a:latin typeface="Cambria"/>
                <a:cs typeface="Cambria"/>
              </a:rPr>
              <a:t>FILTER</a:t>
            </a:r>
            <a:r>
              <a:rPr dirty="0" sz="2000" spc="150">
                <a:latin typeface="Cambria"/>
                <a:cs typeface="Cambria"/>
              </a:rPr>
              <a:t>,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55">
                <a:solidFill>
                  <a:srgbClr val="006FC0"/>
                </a:solidFill>
                <a:latin typeface="Cambria"/>
                <a:cs typeface="Cambria"/>
              </a:rPr>
              <a:t>MAP</a:t>
            </a:r>
            <a:r>
              <a:rPr dirty="0" sz="2000" spc="155">
                <a:latin typeface="Cambria"/>
                <a:cs typeface="Cambria"/>
              </a:rPr>
              <a:t>,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65">
                <a:solidFill>
                  <a:srgbClr val="006FC0"/>
                </a:solidFill>
                <a:latin typeface="Cambria"/>
                <a:cs typeface="Cambria"/>
              </a:rPr>
              <a:t>TAKE</a:t>
            </a:r>
            <a:r>
              <a:rPr dirty="0" sz="2000" spc="165">
                <a:latin typeface="Cambria"/>
                <a:cs typeface="Cambria"/>
              </a:rPr>
              <a:t>,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etc.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50">
                <a:latin typeface="Cambria"/>
                <a:cs typeface="Cambria"/>
              </a:rPr>
              <a:t>any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other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functional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language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5375910" algn="l"/>
              </a:tabLst>
            </a:pPr>
            <a:r>
              <a:rPr dirty="0" sz="2000" spc="305">
                <a:latin typeface="Cambria"/>
                <a:cs typeface="Cambria"/>
              </a:rPr>
              <a:t>X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260">
                <a:solidFill>
                  <a:srgbClr val="006FC0"/>
                </a:solidFill>
                <a:latin typeface="Cambria"/>
                <a:cs typeface="Cambria"/>
              </a:rPr>
              <a:t>CROSS_PROD</a:t>
            </a:r>
            <a:r>
              <a:rPr dirty="0" sz="2000" spc="17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Y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=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[(x,y)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560">
                <a:latin typeface="Cambria"/>
                <a:cs typeface="Cambria"/>
              </a:rPr>
              <a:t>|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50">
                <a:latin typeface="Cambria"/>
                <a:cs typeface="Cambria"/>
              </a:rPr>
              <a:t>x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&lt;-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260">
                <a:latin typeface="Cambria"/>
                <a:cs typeface="Cambria"/>
              </a:rPr>
              <a:t>X,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y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&lt;-</a:t>
            </a:r>
            <a:r>
              <a:rPr dirty="0" sz="2000" spc="-25">
                <a:latin typeface="Cambria"/>
                <a:cs typeface="Cambria"/>
              </a:rPr>
              <a:t>Y]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135">
                <a:solidFill>
                  <a:srgbClr val="7E7E7E"/>
                </a:solidFill>
                <a:latin typeface="Cambria"/>
                <a:cs typeface="Cambria"/>
              </a:rPr>
              <a:t>--</a:t>
            </a:r>
            <a:r>
              <a:rPr dirty="0" sz="2000" spc="22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30">
                <a:solidFill>
                  <a:srgbClr val="7E7E7E"/>
                </a:solidFill>
                <a:latin typeface="Cambria"/>
                <a:cs typeface="Cambria"/>
              </a:rPr>
              <a:t>Haskell-</a:t>
            </a:r>
            <a:r>
              <a:rPr dirty="0" sz="2000" spc="65">
                <a:solidFill>
                  <a:srgbClr val="7E7E7E"/>
                </a:solidFill>
                <a:latin typeface="Cambria"/>
                <a:cs typeface="Cambria"/>
              </a:rPr>
              <a:t>like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2000">
              <a:latin typeface="Cambria"/>
              <a:cs typeface="Cambria"/>
            </a:endParaRPr>
          </a:p>
          <a:p>
            <a:pPr marL="5763260">
              <a:lnSpc>
                <a:spcPct val="100000"/>
              </a:lnSpc>
              <a:spcBef>
                <a:spcPts val="5"/>
              </a:spcBef>
            </a:pPr>
            <a:r>
              <a:rPr dirty="0" sz="2000" spc="125" b="1">
                <a:latin typeface="Cambria"/>
                <a:cs typeface="Cambria"/>
              </a:rPr>
              <a:t>Let:</a:t>
            </a:r>
            <a:endParaRPr sz="2000">
              <a:latin typeface="Cambria"/>
              <a:cs typeface="Cambria"/>
            </a:endParaRPr>
          </a:p>
          <a:p>
            <a:pPr marL="5763260">
              <a:lnSpc>
                <a:spcPct val="100000"/>
              </a:lnSpc>
              <a:spcBef>
                <a:spcPts val="935"/>
              </a:spcBef>
            </a:pPr>
            <a:r>
              <a:rPr dirty="0" sz="2000" spc="125">
                <a:latin typeface="Cambria"/>
                <a:cs typeface="Cambria"/>
              </a:rPr>
              <a:t>M=size(MANUFACTURER)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40">
                <a:latin typeface="Cambria"/>
                <a:cs typeface="Cambria"/>
              </a:rPr>
              <a:t>~1000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893179" y="5553862"/>
            <a:ext cx="3260090" cy="605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dirty="0" sz="2000" spc="165" b="1">
                <a:latin typeface="Cambria"/>
                <a:cs typeface="Cambria"/>
              </a:rPr>
              <a:t>Q:</a:t>
            </a:r>
            <a:r>
              <a:rPr dirty="0" sz="2000" spc="190" b="1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What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asymptotic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</a:pPr>
            <a:r>
              <a:rPr dirty="0" sz="2000" spc="100">
                <a:latin typeface="Cambria"/>
                <a:cs typeface="Cambria"/>
              </a:rPr>
              <a:t>complexity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this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plan?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581" y="1028700"/>
            <a:ext cx="3368067" cy="575690"/>
          </a:xfrm>
          <a:prstGeom prst="rect">
            <a:avLst/>
          </a:prstGeom>
        </p:spPr>
      </p:pic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057402" y="1828673"/>
          <a:ext cx="10953115" cy="40741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0020"/>
                <a:gridCol w="2812414"/>
                <a:gridCol w="2812415"/>
              </a:tblGrid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7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Plan</a:t>
                      </a:r>
                      <a:r>
                        <a:rPr dirty="0" sz="1800" spc="9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(pseudo-</a:t>
                      </a:r>
                      <a:r>
                        <a:rPr dirty="0" sz="1800" spc="4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code)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12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Complexity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9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Cardinality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65">
                          <a:latin typeface="Cambria"/>
                          <a:cs typeface="Cambria"/>
                        </a:rPr>
                        <a:t>MANUFACTURER</a:t>
                      </a:r>
                      <a:r>
                        <a:rPr dirty="0" sz="1800" spc="204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3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CROSS_PROD</a:t>
                      </a:r>
                      <a:r>
                        <a:rPr dirty="0" sz="1800" spc="204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PRODUCT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-10">
                          <a:latin typeface="Cambria"/>
                          <a:cs typeface="Cambria"/>
                        </a:rPr>
                        <a:t>O(M*P)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65">
                          <a:latin typeface="Cambria"/>
                          <a:cs typeface="Cambria"/>
                        </a:rPr>
                        <a:t>M*P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3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CROSS_PROD</a:t>
                      </a: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CATEGORY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5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O(M*P*C)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M*P*C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FILTER</a:t>
                      </a:r>
                      <a:r>
                        <a:rPr dirty="0" sz="1800" spc="17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50">
                          <a:latin typeface="Cambria"/>
                          <a:cs typeface="Cambria"/>
                        </a:rPr>
                        <a:t>c.CLASS='Raw</a:t>
                      </a:r>
                      <a:r>
                        <a:rPr dirty="0" sz="1800" spc="1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-10">
                          <a:latin typeface="Cambria"/>
                          <a:cs typeface="Cambria"/>
                        </a:rPr>
                        <a:t>food'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5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O(M*P*C)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  <a:tabLst>
                          <a:tab pos="1009015" algn="l"/>
                        </a:tabLst>
                      </a:pPr>
                      <a:r>
                        <a:rPr dirty="0" sz="1800" spc="85">
                          <a:latin typeface="Cambria"/>
                          <a:cs typeface="Cambria"/>
                        </a:rPr>
                        <a:t>M*P*C’</a:t>
                      </a:r>
                      <a:r>
                        <a:rPr dirty="0" sz="1800">
                          <a:latin typeface="Cambria"/>
                          <a:cs typeface="Cambria"/>
                        </a:rPr>
                        <a:t>	</a:t>
                      </a:r>
                      <a:r>
                        <a:rPr dirty="0" sz="1800" spc="500">
                          <a:latin typeface="Cambria"/>
                          <a:cs typeface="Cambria"/>
                        </a:rPr>
                        <a:t>|</a:t>
                      </a:r>
                      <a:r>
                        <a:rPr dirty="0" sz="1800" spc="1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50">
                          <a:latin typeface="Cambria"/>
                          <a:cs typeface="Cambria"/>
                        </a:rPr>
                        <a:t>C’</a:t>
                      </a:r>
                      <a:r>
                        <a:rPr dirty="0" sz="1800" spc="1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&lt;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60">
                          <a:latin typeface="Cambria"/>
                          <a:cs typeface="Cambria"/>
                        </a:rPr>
                        <a:t>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FILTER</a:t>
                      </a:r>
                      <a:r>
                        <a:rPr dirty="0" sz="1800" spc="17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60">
                          <a:latin typeface="Cambria"/>
                          <a:cs typeface="Cambria"/>
                        </a:rPr>
                        <a:t>m.RECIPE_ID=p.RECIPE_ID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50">
                          <a:latin typeface="Cambria"/>
                          <a:cs typeface="Cambria"/>
                        </a:rPr>
                        <a:t>O(M*P*C’)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75">
                          <a:latin typeface="Cambria"/>
                          <a:cs typeface="Cambria"/>
                        </a:rPr>
                        <a:t>P*C’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FILTER</a:t>
                      </a:r>
                      <a:r>
                        <a:rPr dirty="0" sz="1800" spc="17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25">
                          <a:latin typeface="Cambria"/>
                          <a:cs typeface="Cambria"/>
                        </a:rPr>
                        <a:t>c.WARE=p.WARE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-10">
                          <a:latin typeface="Cambria"/>
                          <a:cs typeface="Cambria"/>
                        </a:rPr>
                        <a:t>O(P*C’)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00">
                          <a:latin typeface="Cambria"/>
                          <a:cs typeface="Cambria"/>
                        </a:rPr>
                        <a:t>~P*C’/C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&lt;</a:t>
                      </a:r>
                      <a:r>
                        <a:rPr dirty="0" sz="1800" spc="16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30">
                          <a:latin typeface="Cambria"/>
                          <a:cs typeface="Cambria"/>
                        </a:rPr>
                        <a:t>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2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9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SORT_BY</a:t>
                      </a:r>
                      <a:r>
                        <a:rPr dirty="0" sz="1800" spc="19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latin typeface="Cambria"/>
                          <a:cs typeface="Cambria"/>
                        </a:rPr>
                        <a:t>p.WARE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65">
                          <a:latin typeface="Cambria"/>
                          <a:cs typeface="Cambria"/>
                        </a:rPr>
                        <a:t>O(P*C’/C*log(P*C’/C))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85">
                          <a:latin typeface="Cambria"/>
                          <a:cs typeface="Cambria"/>
                        </a:rPr>
                        <a:t>~P*C’/C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2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4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MAP</a:t>
                      </a:r>
                      <a:r>
                        <a:rPr dirty="0" sz="1800" spc="1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0">
                          <a:latin typeface="Cambria"/>
                          <a:cs typeface="Cambria"/>
                        </a:rPr>
                        <a:t>(p.WARE,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latin typeface="Cambria"/>
                          <a:cs typeface="Cambria"/>
                        </a:rPr>
                        <a:t>m.COMPANY)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85">
                          <a:latin typeface="Cambria"/>
                          <a:cs typeface="Cambria"/>
                        </a:rPr>
                        <a:t>O(P*C’/C)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85">
                          <a:latin typeface="Cambria"/>
                          <a:cs typeface="Cambria"/>
                        </a:rPr>
                        <a:t>~P*C’/C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20">
                          <a:latin typeface="Cambria"/>
                          <a:cs typeface="Cambria"/>
                        </a:rPr>
                        <a:t>-&gt;</a:t>
                      </a:r>
                      <a:r>
                        <a:rPr dirty="0" sz="1800" spc="12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DISTINCT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65">
                          <a:latin typeface="Cambria"/>
                          <a:cs typeface="Cambria"/>
                        </a:rPr>
                        <a:t>O(P*C’/C*log(P*C’/C))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85">
                          <a:latin typeface="Cambria"/>
                          <a:cs typeface="Cambria"/>
                        </a:rPr>
                        <a:t>~P*C’/C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TAKE</a:t>
                      </a:r>
                      <a:r>
                        <a:rPr dirty="0" sz="1800" spc="19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800" spc="80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800" spc="80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800" spc="114" b="1">
                          <a:latin typeface="Cambria"/>
                          <a:cs typeface="Cambria"/>
                        </a:rPr>
                        <a:t>TOTAL: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800" spc="-10" b="1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O(M*P*C)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800" spc="85" b="1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1148588" y="6162852"/>
            <a:ext cx="641794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35">
                <a:latin typeface="Cambria"/>
                <a:cs typeface="Cambria"/>
              </a:rPr>
              <a:t>What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options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are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available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to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lower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complexity?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569700" y="6334455"/>
            <a:ext cx="1257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570" y="1028700"/>
            <a:ext cx="8813838" cy="5839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8588" y="2112391"/>
            <a:ext cx="9710420" cy="605155"/>
          </a:xfrm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dirty="0" spc="125"/>
              <a:t>Fortunately,</a:t>
            </a:r>
            <a:r>
              <a:rPr dirty="0" spc="165"/>
              <a:t> </a:t>
            </a:r>
            <a:r>
              <a:rPr dirty="0" spc="245"/>
              <a:t>SQL</a:t>
            </a:r>
            <a:r>
              <a:rPr dirty="0" spc="200"/>
              <a:t> </a:t>
            </a:r>
            <a:r>
              <a:rPr dirty="0" spc="110"/>
              <a:t>is</a:t>
            </a:r>
            <a:r>
              <a:rPr dirty="0" spc="204"/>
              <a:t> </a:t>
            </a:r>
            <a:r>
              <a:rPr dirty="0" spc="145" b="1">
                <a:latin typeface="Cambria"/>
                <a:cs typeface="Cambria"/>
              </a:rPr>
              <a:t>not</a:t>
            </a:r>
            <a:r>
              <a:rPr dirty="0" spc="180" b="1">
                <a:latin typeface="Cambria"/>
                <a:cs typeface="Cambria"/>
              </a:rPr>
              <a:t> </a:t>
            </a:r>
            <a:r>
              <a:rPr dirty="0" spc="185"/>
              <a:t>a</a:t>
            </a:r>
            <a:r>
              <a:rPr dirty="0" spc="210"/>
              <a:t> </a:t>
            </a:r>
            <a:r>
              <a:rPr dirty="0" spc="130"/>
              <a:t>functional</a:t>
            </a:r>
            <a:r>
              <a:rPr dirty="0" spc="215"/>
              <a:t> </a:t>
            </a:r>
            <a:r>
              <a:rPr dirty="0" spc="150"/>
              <a:t>language.</a:t>
            </a:r>
            <a:r>
              <a:rPr dirty="0" spc="160"/>
              <a:t> </a:t>
            </a:r>
            <a:r>
              <a:rPr dirty="0" spc="114"/>
              <a:t>In</a:t>
            </a:r>
            <a:r>
              <a:rPr dirty="0" spc="190"/>
              <a:t> </a:t>
            </a:r>
            <a:r>
              <a:rPr dirty="0" spc="130"/>
              <a:t>fact,</a:t>
            </a:r>
            <a:r>
              <a:rPr dirty="0" spc="200"/>
              <a:t> </a:t>
            </a:r>
            <a:r>
              <a:rPr dirty="0" spc="65"/>
              <a:t>it</a:t>
            </a:r>
            <a:r>
              <a:rPr dirty="0" spc="204"/>
              <a:t> </a:t>
            </a:r>
            <a:r>
              <a:rPr dirty="0" spc="110"/>
              <a:t>is</a:t>
            </a:r>
            <a:r>
              <a:rPr dirty="0" spc="210"/>
              <a:t> </a:t>
            </a:r>
            <a:r>
              <a:rPr dirty="0" spc="185"/>
              <a:t>a</a:t>
            </a:r>
            <a:r>
              <a:rPr dirty="0" spc="200"/>
              <a:t> </a:t>
            </a:r>
            <a:r>
              <a:rPr dirty="0" spc="55"/>
              <a:t>level</a:t>
            </a:r>
            <a:r>
              <a:rPr dirty="0" spc="165"/>
              <a:t> </a:t>
            </a:r>
            <a:r>
              <a:rPr dirty="0" spc="105"/>
              <a:t>higher</a:t>
            </a:r>
            <a:r>
              <a:rPr dirty="0" spc="185"/>
              <a:t> </a:t>
            </a:r>
            <a:r>
              <a:rPr dirty="0" spc="145"/>
              <a:t>than </a:t>
            </a:r>
            <a:r>
              <a:rPr dirty="0" spc="185"/>
              <a:t>a</a:t>
            </a:r>
            <a:r>
              <a:rPr dirty="0" spc="210"/>
              <a:t> </a:t>
            </a:r>
            <a:r>
              <a:rPr dirty="0" spc="125"/>
              <a:t>functional</a:t>
            </a:r>
            <a:r>
              <a:rPr dirty="0" spc="210"/>
              <a:t> </a:t>
            </a:r>
            <a:r>
              <a:rPr dirty="0" spc="145"/>
              <a:t>language.</a:t>
            </a:r>
            <a:r>
              <a:rPr dirty="0" spc="180"/>
              <a:t> </a:t>
            </a:r>
            <a:r>
              <a:rPr dirty="0" spc="114"/>
              <a:t>This</a:t>
            </a:r>
            <a:r>
              <a:rPr dirty="0" spc="215"/>
              <a:t> </a:t>
            </a:r>
            <a:r>
              <a:rPr dirty="0" spc="165"/>
              <a:t>means</a:t>
            </a:r>
            <a:r>
              <a:rPr dirty="0" spc="185"/>
              <a:t> </a:t>
            </a:r>
            <a:r>
              <a:rPr dirty="0" spc="125"/>
              <a:t>that: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148588" y="3240405"/>
            <a:ext cx="9145905" cy="2586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5"/>
              </a:spcBef>
              <a:buClr>
                <a:srgbClr val="957D95"/>
              </a:buClr>
              <a:buSzPct val="85000"/>
              <a:buAutoNum type="arabicPeriod"/>
              <a:tabLst>
                <a:tab pos="469900" algn="l"/>
              </a:tabLst>
            </a:pPr>
            <a:r>
              <a:rPr dirty="0" sz="2000" spc="140">
                <a:latin typeface="Cambria"/>
                <a:cs typeface="Cambria"/>
              </a:rPr>
              <a:t>Query</a:t>
            </a:r>
            <a:r>
              <a:rPr dirty="0" sz="2000" spc="155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can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compiled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functional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program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60">
                <a:latin typeface="Cambria"/>
                <a:cs typeface="Cambria"/>
              </a:rPr>
              <a:t>many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ways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0"/>
              </a:spcBef>
              <a:buClr>
                <a:srgbClr val="957D95"/>
              </a:buClr>
              <a:buFont typeface="Cambria"/>
              <a:buAutoNum type="arabicPeriod"/>
            </a:pP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ts val="2285"/>
              </a:lnSpc>
              <a:spcBef>
                <a:spcPts val="5"/>
              </a:spcBef>
              <a:buClr>
                <a:srgbClr val="957D95"/>
              </a:buClr>
              <a:buSzPct val="85000"/>
              <a:buAutoNum type="arabicPeriod"/>
              <a:tabLst>
                <a:tab pos="469900" algn="l"/>
              </a:tabLst>
            </a:pPr>
            <a:r>
              <a:rPr dirty="0" sz="2000" spc="150">
                <a:latin typeface="Cambria"/>
                <a:cs typeface="Cambria"/>
              </a:rPr>
              <a:t>Since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240">
                <a:latin typeface="Cambria"/>
                <a:cs typeface="Cambria"/>
              </a:rPr>
              <a:t>SQL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is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95">
                <a:latin typeface="Cambria"/>
                <a:cs typeface="Cambria"/>
              </a:rPr>
              <a:t>an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implementation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relational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algebra,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more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properties</a:t>
            </a:r>
            <a:endParaRPr sz="2000">
              <a:latin typeface="Cambria"/>
              <a:cs typeface="Cambria"/>
            </a:endParaRPr>
          </a:p>
          <a:p>
            <a:pPr marL="469900">
              <a:lnSpc>
                <a:spcPts val="2285"/>
              </a:lnSpc>
            </a:pPr>
            <a:r>
              <a:rPr dirty="0" sz="2000" spc="125">
                <a:latin typeface="Cambria"/>
                <a:cs typeface="Cambria"/>
              </a:rPr>
              <a:t>could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use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besides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just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“crude”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β-</a:t>
            </a:r>
            <a:r>
              <a:rPr dirty="0" sz="2000" spc="100">
                <a:latin typeface="Cambria"/>
                <a:cs typeface="Cambria"/>
              </a:rPr>
              <a:t>reduction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64"/>
              </a:spcBef>
            </a:pP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ts val="2280"/>
              </a:lnSpc>
              <a:buClr>
                <a:srgbClr val="957D95"/>
              </a:buClr>
              <a:buSzPct val="85000"/>
              <a:buAutoNum type="arabicPeriod" startAt="3"/>
              <a:tabLst>
                <a:tab pos="469900" algn="l"/>
              </a:tabLst>
            </a:pPr>
            <a:r>
              <a:rPr dirty="0" sz="2000" spc="229">
                <a:latin typeface="Cambria"/>
                <a:cs typeface="Cambria"/>
              </a:rPr>
              <a:t>Such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properties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algebraic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properties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relational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algebra’s</a:t>
            </a:r>
            <a:endParaRPr sz="2000">
              <a:latin typeface="Cambria"/>
              <a:cs typeface="Cambria"/>
            </a:endParaRPr>
          </a:p>
          <a:p>
            <a:pPr marL="469900">
              <a:lnSpc>
                <a:spcPts val="2280"/>
              </a:lnSpc>
            </a:pPr>
            <a:r>
              <a:rPr dirty="0" sz="2000" spc="105">
                <a:latin typeface="Cambria"/>
                <a:cs typeface="Cambria"/>
              </a:rPr>
              <a:t>operations: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associativity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commutativity.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569700" y="6334455"/>
            <a:ext cx="1257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92" y="699516"/>
            <a:ext cx="8429866" cy="57569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7488" y="1366266"/>
            <a:ext cx="2273642" cy="57556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48588" y="2112391"/>
            <a:ext cx="3173095" cy="3308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80"/>
              <a:t>Not</a:t>
            </a:r>
            <a:r>
              <a:rPr dirty="0" spc="190"/>
              <a:t> </a:t>
            </a:r>
            <a:r>
              <a:rPr dirty="0" spc="110"/>
              <a:t>so</a:t>
            </a:r>
            <a:r>
              <a:rPr dirty="0" spc="215"/>
              <a:t> </a:t>
            </a:r>
            <a:r>
              <a:rPr dirty="0" spc="80"/>
              <a:t>formally</a:t>
            </a:r>
            <a:r>
              <a:rPr dirty="0" spc="185"/>
              <a:t> </a:t>
            </a:r>
            <a:r>
              <a:rPr dirty="0" spc="120"/>
              <a:t>speaking: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148588" y="2967050"/>
            <a:ext cx="9813925" cy="2860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5580" indent="-182880">
              <a:lnSpc>
                <a:spcPts val="2275"/>
              </a:lnSpc>
              <a:spcBef>
                <a:spcPts val="10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215">
                <a:latin typeface="Cambria"/>
                <a:cs typeface="Cambria"/>
              </a:rPr>
              <a:t>Joins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are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associative: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A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>
                <a:latin typeface="Cambria Math"/>
                <a:cs typeface="Cambria Math"/>
              </a:rPr>
              <a:t>⋈</a:t>
            </a:r>
            <a:r>
              <a:rPr dirty="0" sz="2000" spc="190">
                <a:latin typeface="Cambria Math"/>
                <a:cs typeface="Cambria Math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B</a:t>
            </a:r>
            <a:r>
              <a:rPr dirty="0" sz="2000" spc="200" b="1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A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>
                <a:latin typeface="Cambria Math"/>
                <a:cs typeface="Cambria Math"/>
              </a:rPr>
              <a:t>⋈</a:t>
            </a:r>
            <a:r>
              <a:rPr dirty="0" sz="2000" spc="200">
                <a:latin typeface="Cambria Math"/>
                <a:cs typeface="Cambria Math"/>
              </a:rPr>
              <a:t> </a:t>
            </a:r>
            <a:r>
              <a:rPr dirty="0" sz="2000" spc="330" b="1">
                <a:latin typeface="Cambria"/>
                <a:cs typeface="Cambria"/>
              </a:rPr>
              <a:t>C</a:t>
            </a:r>
            <a:r>
              <a:rPr dirty="0" sz="2000" spc="190" b="1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can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computed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50">
                <a:latin typeface="Cambria"/>
                <a:cs typeface="Cambria"/>
              </a:rPr>
              <a:t>any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order</a:t>
            </a:r>
            <a:endParaRPr sz="2000">
              <a:latin typeface="Cambria"/>
              <a:cs typeface="Cambria"/>
            </a:endParaRPr>
          </a:p>
          <a:p>
            <a:pPr marL="195580">
              <a:lnSpc>
                <a:spcPts val="2275"/>
              </a:lnSpc>
            </a:pPr>
            <a:r>
              <a:rPr dirty="0" sz="2000" spc="125">
                <a:solidFill>
                  <a:srgbClr val="7E7E7E"/>
                </a:solidFill>
                <a:latin typeface="Cambria"/>
                <a:cs typeface="Cambria"/>
              </a:rPr>
              <a:t>(assuming</a:t>
            </a:r>
            <a:r>
              <a:rPr dirty="0" sz="2000" spc="18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50">
                <a:solidFill>
                  <a:srgbClr val="7E7E7E"/>
                </a:solidFill>
                <a:latin typeface="Cambria"/>
                <a:cs typeface="Cambria"/>
              </a:rPr>
              <a:t>any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80">
                <a:solidFill>
                  <a:srgbClr val="7E7E7E"/>
                </a:solidFill>
                <a:latin typeface="Cambria"/>
                <a:cs typeface="Cambria"/>
              </a:rPr>
              <a:t>type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dirty="0" sz="2000" spc="22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05">
                <a:solidFill>
                  <a:srgbClr val="7E7E7E"/>
                </a:solidFill>
                <a:latin typeface="Cambria"/>
                <a:cs typeface="Cambria"/>
              </a:rPr>
              <a:t>inner</a:t>
            </a:r>
            <a:r>
              <a:rPr dirty="0" sz="2000" spc="19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55">
                <a:solidFill>
                  <a:srgbClr val="7E7E7E"/>
                </a:solidFill>
                <a:latin typeface="Cambria"/>
                <a:cs typeface="Cambria"/>
              </a:rPr>
              <a:t>or</a:t>
            </a:r>
            <a:r>
              <a:rPr dirty="0" sz="2000" spc="22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85">
                <a:solidFill>
                  <a:srgbClr val="7E7E7E"/>
                </a:solidFill>
                <a:latin typeface="Cambria"/>
                <a:cs typeface="Cambria"/>
              </a:rPr>
              <a:t>even</a:t>
            </a:r>
            <a:r>
              <a:rPr dirty="0" sz="2000" spc="17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dirty="0" sz="2000" spc="229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00">
                <a:solidFill>
                  <a:srgbClr val="7E7E7E"/>
                </a:solidFill>
                <a:latin typeface="Cambria"/>
                <a:cs typeface="Cambria"/>
              </a:rPr>
              <a:t>outer</a:t>
            </a:r>
            <a:r>
              <a:rPr dirty="0" sz="2000" spc="19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-10">
                <a:solidFill>
                  <a:srgbClr val="7E7E7E"/>
                </a:solidFill>
                <a:latin typeface="Cambria"/>
                <a:cs typeface="Cambria"/>
              </a:rPr>
              <a:t>join)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ts val="2285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10">
                <a:latin typeface="Cambria"/>
                <a:cs typeface="Cambria"/>
              </a:rPr>
              <a:t>Inner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joins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commutative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(in</a:t>
            </a:r>
            <a:r>
              <a:rPr dirty="0" sz="2000" spc="22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30">
                <a:solidFill>
                  <a:srgbClr val="7E7E7E"/>
                </a:solidFill>
                <a:latin typeface="Cambria"/>
                <a:cs typeface="Cambria"/>
              </a:rPr>
              <a:t>fact,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45">
                <a:solidFill>
                  <a:srgbClr val="7E7E7E"/>
                </a:solidFill>
                <a:latin typeface="Cambria"/>
                <a:cs typeface="Cambria"/>
              </a:rPr>
              <a:t>because</a:t>
            </a:r>
            <a:r>
              <a:rPr dirty="0" sz="2000" spc="18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85">
                <a:solidFill>
                  <a:srgbClr val="7E7E7E"/>
                </a:solidFill>
                <a:latin typeface="Cambria"/>
                <a:cs typeface="Cambria"/>
              </a:rPr>
              <a:t>formally</a:t>
            </a:r>
            <a:r>
              <a:rPr dirty="0" sz="2000" spc="19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00">
                <a:solidFill>
                  <a:srgbClr val="7E7E7E"/>
                </a:solidFill>
                <a:latin typeface="Cambria"/>
                <a:cs typeface="Cambria"/>
              </a:rPr>
              <a:t>they</a:t>
            </a:r>
            <a:r>
              <a:rPr dirty="0" sz="2000" spc="20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00">
                <a:solidFill>
                  <a:srgbClr val="7E7E7E"/>
                </a:solidFill>
                <a:latin typeface="Cambria"/>
                <a:cs typeface="Cambria"/>
              </a:rPr>
              <a:t>are</a:t>
            </a:r>
            <a:r>
              <a:rPr dirty="0" sz="2000" spc="20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not</a:t>
            </a:r>
            <a:r>
              <a:rPr dirty="0" sz="2000" spc="22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30">
                <a:solidFill>
                  <a:srgbClr val="7E7E7E"/>
                </a:solidFill>
                <a:latin typeface="Cambria"/>
                <a:cs typeface="Cambria"/>
              </a:rPr>
              <a:t>because</a:t>
            </a:r>
            <a:endParaRPr sz="2000">
              <a:latin typeface="Cambria"/>
              <a:cs typeface="Cambria"/>
            </a:endParaRPr>
          </a:p>
          <a:p>
            <a:pPr marL="195580">
              <a:lnSpc>
                <a:spcPts val="2285"/>
              </a:lnSpc>
            </a:pP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we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0">
                <a:solidFill>
                  <a:srgbClr val="7E7E7E"/>
                </a:solidFill>
                <a:latin typeface="Cambria"/>
                <a:cs typeface="Cambria"/>
              </a:rPr>
              <a:t>have</a:t>
            </a:r>
            <a:r>
              <a:rPr dirty="0" sz="2000" spc="19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60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dirty="0" sz="2000" spc="229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45">
                <a:solidFill>
                  <a:srgbClr val="7E7E7E"/>
                </a:solidFill>
                <a:latin typeface="Cambria"/>
                <a:cs typeface="Cambria"/>
              </a:rPr>
              <a:t>“revert”</a:t>
            </a:r>
            <a:r>
              <a:rPr dirty="0" sz="2000" spc="19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dirty="0" sz="2000" spc="22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55">
                <a:solidFill>
                  <a:srgbClr val="7E7E7E"/>
                </a:solidFill>
                <a:latin typeface="Cambria"/>
                <a:cs typeface="Cambria"/>
              </a:rPr>
              <a:t>θ-</a:t>
            </a:r>
            <a:r>
              <a:rPr dirty="0" sz="2000" spc="85">
                <a:solidFill>
                  <a:srgbClr val="7E7E7E"/>
                </a:solidFill>
                <a:latin typeface="Cambria"/>
                <a:cs typeface="Cambria"/>
              </a:rPr>
              <a:t>join</a:t>
            </a:r>
            <a:r>
              <a:rPr dirty="0" sz="2000" spc="22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60">
                <a:solidFill>
                  <a:srgbClr val="7E7E7E"/>
                </a:solidFill>
                <a:latin typeface="Cambria"/>
                <a:cs typeface="Cambria"/>
              </a:rPr>
              <a:t>predicate)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64"/>
              </a:spcBef>
            </a:pP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ts val="2280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25">
                <a:latin typeface="Cambria"/>
                <a:cs typeface="Cambria"/>
              </a:rPr>
              <a:t>Selections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associative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each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other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even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joins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75">
                <a:solidFill>
                  <a:srgbClr val="7E7E7E"/>
                </a:solidFill>
                <a:latin typeface="Cambria"/>
                <a:cs typeface="Cambria"/>
              </a:rPr>
              <a:t>(until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90">
                <a:solidFill>
                  <a:srgbClr val="7E7E7E"/>
                </a:solidFill>
                <a:latin typeface="Cambria"/>
                <a:cs typeface="Cambria"/>
              </a:rPr>
              <a:t>there</a:t>
            </a:r>
            <a:r>
              <a:rPr dirty="0" sz="2000" spc="18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75">
                <a:solidFill>
                  <a:srgbClr val="7E7E7E"/>
                </a:solidFill>
                <a:latin typeface="Cambria"/>
                <a:cs typeface="Cambria"/>
              </a:rPr>
              <a:t>are</a:t>
            </a:r>
            <a:endParaRPr sz="2000">
              <a:latin typeface="Cambria"/>
              <a:cs typeface="Cambria"/>
            </a:endParaRPr>
          </a:p>
          <a:p>
            <a:pPr marL="195580">
              <a:lnSpc>
                <a:spcPts val="2280"/>
              </a:lnSpc>
            </a:pPr>
            <a:r>
              <a:rPr dirty="0" sz="2000" spc="150">
                <a:solidFill>
                  <a:srgbClr val="7E7E7E"/>
                </a:solidFill>
                <a:latin typeface="Cambria"/>
                <a:cs typeface="Cambria"/>
              </a:rPr>
              <a:t>enough</a:t>
            </a:r>
            <a:r>
              <a:rPr dirty="0" sz="2000" spc="17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attributes</a:t>
            </a:r>
            <a:r>
              <a:rPr dirty="0" sz="2000" spc="17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5">
                <a:solidFill>
                  <a:srgbClr val="7E7E7E"/>
                </a:solidFill>
                <a:latin typeface="Cambria"/>
                <a:cs typeface="Cambria"/>
              </a:rPr>
              <a:t>on</a:t>
            </a:r>
            <a:r>
              <a:rPr dirty="0" sz="2000" spc="21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dirty="0" sz="2000" spc="19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0">
                <a:solidFill>
                  <a:srgbClr val="7E7E7E"/>
                </a:solidFill>
                <a:latin typeface="Cambria"/>
                <a:cs typeface="Cambria"/>
              </a:rPr>
              <a:t>particular</a:t>
            </a:r>
            <a:r>
              <a:rPr dirty="0" sz="2000" spc="18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stage</a:t>
            </a:r>
            <a:r>
              <a:rPr dirty="0" sz="2000" spc="19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60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apply</a:t>
            </a:r>
            <a:r>
              <a:rPr dirty="0" sz="2000" spc="17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dirty="0" sz="2000" spc="19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-10">
                <a:solidFill>
                  <a:srgbClr val="7E7E7E"/>
                </a:solidFill>
                <a:latin typeface="Cambria"/>
                <a:cs typeface="Cambria"/>
              </a:rPr>
              <a:t>filter)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48588" y="6350000"/>
            <a:ext cx="80162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25" b="1">
                <a:latin typeface="Cambria"/>
                <a:cs typeface="Cambria"/>
              </a:rPr>
              <a:t>Thus:</a:t>
            </a:r>
            <a:r>
              <a:rPr dirty="0" sz="2000" spc="185" b="1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there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multiple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variants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reorder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plan’s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elements.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569700" y="6334455"/>
            <a:ext cx="1257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Tahoma"/>
                <a:cs typeface="Tahoma"/>
              </a:rPr>
              <a:t>6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1709" y="1028700"/>
            <a:ext cx="9194985" cy="57569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2539111"/>
            <a:ext cx="9885045" cy="2586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4945" indent="-182245">
              <a:lnSpc>
                <a:spcPts val="2280"/>
              </a:lnSpc>
              <a:spcBef>
                <a:spcPts val="10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30" b="1">
                <a:latin typeface="Cambria"/>
                <a:cs typeface="Cambria"/>
              </a:rPr>
              <a:t>Goal:</a:t>
            </a:r>
            <a:r>
              <a:rPr dirty="0" sz="2000" spc="180" b="1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achieve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total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complexity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close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possible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final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cardinality</a:t>
            </a:r>
            <a:endParaRPr sz="2000">
              <a:latin typeface="Cambria"/>
              <a:cs typeface="Cambria"/>
            </a:endParaRPr>
          </a:p>
          <a:p>
            <a:pPr marL="195580">
              <a:lnSpc>
                <a:spcPts val="2280"/>
              </a:lnSpc>
            </a:pP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5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query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05" b="1">
                <a:latin typeface="Cambria"/>
                <a:cs typeface="Cambria"/>
              </a:rPr>
              <a:t>Sub-</a:t>
            </a:r>
            <a:r>
              <a:rPr dirty="0" sz="2000" spc="95" b="1">
                <a:latin typeface="Cambria"/>
                <a:cs typeface="Cambria"/>
              </a:rPr>
              <a:t>goal:</a:t>
            </a:r>
            <a:r>
              <a:rPr dirty="0" sz="2000" spc="210" b="1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keep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complexity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small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possible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50">
                <a:latin typeface="Cambria"/>
                <a:cs typeface="Cambria"/>
              </a:rPr>
              <a:t>each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stage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20" b="1">
                <a:latin typeface="Cambria"/>
                <a:cs typeface="Cambria"/>
              </a:rPr>
              <a:t>Rule:</a:t>
            </a:r>
            <a:r>
              <a:rPr dirty="0" sz="2000" spc="190" b="1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keep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cardinality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small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possible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50" b="1">
                <a:latin typeface="Cambria"/>
                <a:cs typeface="Cambria"/>
              </a:rPr>
              <a:t>Hint:</a:t>
            </a:r>
            <a:r>
              <a:rPr dirty="0" sz="2000" spc="215" b="1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place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filters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early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possible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(they</a:t>
            </a:r>
            <a:r>
              <a:rPr dirty="0" sz="2000" spc="22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05">
                <a:solidFill>
                  <a:srgbClr val="7E7E7E"/>
                </a:solidFill>
                <a:latin typeface="Cambria"/>
                <a:cs typeface="Cambria"/>
              </a:rPr>
              <a:t>always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reduce</a:t>
            </a:r>
            <a:r>
              <a:rPr dirty="0" sz="2000" spc="19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dirty="0" sz="2000" spc="22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75">
                <a:solidFill>
                  <a:srgbClr val="7E7E7E"/>
                </a:solidFill>
                <a:latin typeface="Cambria"/>
                <a:cs typeface="Cambria"/>
              </a:rPr>
              <a:t>cardinality)</a:t>
            </a:r>
            <a:endParaRPr sz="2000">
              <a:latin typeface="Cambria"/>
              <a:cs typeface="Cambria"/>
            </a:endParaRPr>
          </a:p>
          <a:p>
            <a:pPr marL="194310" marR="5080" indent="-182245">
              <a:lnSpc>
                <a:spcPts val="2160"/>
              </a:lnSpc>
              <a:spcBef>
                <a:spcPts val="123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150" b="1">
                <a:latin typeface="Cambria"/>
                <a:cs typeface="Cambria"/>
              </a:rPr>
              <a:t>Hint:</a:t>
            </a:r>
            <a:r>
              <a:rPr dirty="0" sz="2000" spc="215" b="1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place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joins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85">
                <a:solidFill>
                  <a:srgbClr val="7E7E7E"/>
                </a:solidFill>
                <a:latin typeface="Cambria"/>
                <a:cs typeface="Cambria"/>
              </a:rPr>
              <a:t>(and</a:t>
            </a:r>
            <a:r>
              <a:rPr dirty="0" sz="2000" spc="229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90">
                <a:solidFill>
                  <a:srgbClr val="7E7E7E"/>
                </a:solidFill>
                <a:latin typeface="Cambria"/>
                <a:cs typeface="Cambria"/>
              </a:rPr>
              <a:t>other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75">
                <a:solidFill>
                  <a:srgbClr val="7E7E7E"/>
                </a:solidFill>
                <a:latin typeface="Cambria"/>
                <a:cs typeface="Cambria"/>
              </a:rPr>
              <a:t>operations)</a:t>
            </a:r>
            <a:r>
              <a:rPr dirty="0" sz="2000" spc="19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lower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cardinality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early </a:t>
            </a:r>
            <a:r>
              <a:rPr dirty="0" sz="2000" spc="70">
                <a:latin typeface="Cambria"/>
                <a:cs typeface="Cambria"/>
              </a:rPr>
              <a:t>	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possible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569700" y="6334455"/>
            <a:ext cx="1257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Tahoma"/>
                <a:cs typeface="Tahoma"/>
              </a:rPr>
              <a:t>7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300" y="1028700"/>
            <a:ext cx="4080027" cy="583946"/>
          </a:xfrm>
          <a:prstGeom prst="rect">
            <a:avLst/>
          </a:prstGeom>
        </p:spPr>
      </p:pic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057402" y="1828673"/>
          <a:ext cx="10953115" cy="40741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0020"/>
                <a:gridCol w="2812414"/>
                <a:gridCol w="2812415"/>
              </a:tblGrid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7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Plan</a:t>
                      </a:r>
                      <a:r>
                        <a:rPr dirty="0" sz="1800" spc="9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(pseudo-</a:t>
                      </a:r>
                      <a:r>
                        <a:rPr dirty="0" sz="1800" spc="4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code)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12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Complexity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9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Cardinality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95">
                          <a:latin typeface="Cambria"/>
                          <a:cs typeface="Cambria"/>
                        </a:rPr>
                        <a:t>CATEGORY</a:t>
                      </a:r>
                      <a:r>
                        <a:rPr dirty="0" sz="1800" spc="1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FILTER</a:t>
                      </a: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50">
                          <a:latin typeface="Cambria"/>
                          <a:cs typeface="Cambria"/>
                        </a:rPr>
                        <a:t>c.CLASS='Raw</a:t>
                      </a:r>
                      <a:r>
                        <a:rPr dirty="0" sz="1800" spc="1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-10">
                          <a:latin typeface="Cambria"/>
                          <a:cs typeface="Cambria"/>
                        </a:rPr>
                        <a:t>food'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50">
                          <a:latin typeface="Cambria"/>
                          <a:cs typeface="Cambria"/>
                        </a:rPr>
                        <a:t>O(C)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50">
                          <a:latin typeface="Cambria"/>
                          <a:cs typeface="Cambria"/>
                        </a:rPr>
                        <a:t>C’</a:t>
                      </a:r>
                      <a:r>
                        <a:rPr dirty="0" sz="1800" spc="1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&lt;</a:t>
                      </a:r>
                      <a:r>
                        <a:rPr dirty="0" sz="1800" spc="1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60">
                          <a:latin typeface="Cambria"/>
                          <a:cs typeface="Cambria"/>
                        </a:rPr>
                        <a:t>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3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CROSS_PROD</a:t>
                      </a: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PRODUCT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-10">
                          <a:latin typeface="Cambria"/>
                          <a:cs typeface="Cambria"/>
                        </a:rPr>
                        <a:t>O(P*C’)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75">
                          <a:latin typeface="Cambria"/>
                          <a:cs typeface="Cambria"/>
                        </a:rPr>
                        <a:t>P*C’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FILTER</a:t>
                      </a:r>
                      <a:r>
                        <a:rPr dirty="0" sz="1800" spc="17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25">
                          <a:latin typeface="Cambria"/>
                          <a:cs typeface="Cambria"/>
                        </a:rPr>
                        <a:t>c.WARE=p.WARE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-10">
                          <a:latin typeface="Cambria"/>
                          <a:cs typeface="Cambria"/>
                        </a:rPr>
                        <a:t>O(P*C’)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00">
                          <a:latin typeface="Cambria"/>
                          <a:cs typeface="Cambria"/>
                        </a:rPr>
                        <a:t>~P*C’/C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&lt;</a:t>
                      </a:r>
                      <a:r>
                        <a:rPr dirty="0" sz="1800" spc="16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30">
                          <a:latin typeface="Cambria"/>
                          <a:cs typeface="Cambria"/>
                        </a:rPr>
                        <a:t>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3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CROSS_PROD</a:t>
                      </a: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60">
                          <a:latin typeface="Cambria"/>
                          <a:cs typeface="Cambria"/>
                        </a:rPr>
                        <a:t>MANUFACTURER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8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O(M*P*C’/C)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85">
                          <a:latin typeface="Cambria"/>
                          <a:cs typeface="Cambria"/>
                        </a:rPr>
                        <a:t>~M*P*C’/C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FILTER</a:t>
                      </a:r>
                      <a:r>
                        <a:rPr dirty="0" sz="1800" spc="17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60">
                          <a:latin typeface="Cambria"/>
                          <a:cs typeface="Cambria"/>
                        </a:rPr>
                        <a:t>m.RECIPE_ID=p.RECIPE_ID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85">
                          <a:latin typeface="Cambria"/>
                          <a:cs typeface="Cambria"/>
                        </a:rPr>
                        <a:t>O(M*P*C’/C)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90">
                          <a:latin typeface="Cambria"/>
                          <a:cs typeface="Cambria"/>
                        </a:rPr>
                        <a:t>~P*C’/C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2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9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SORT_BY</a:t>
                      </a:r>
                      <a:r>
                        <a:rPr dirty="0" sz="1800" spc="19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latin typeface="Cambria"/>
                          <a:cs typeface="Cambria"/>
                        </a:rPr>
                        <a:t>p.WARE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6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O(P*C’/C*log(P*C’/C))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85">
                          <a:latin typeface="Cambria"/>
                          <a:cs typeface="Cambria"/>
                        </a:rPr>
                        <a:t>~P*C’/C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2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4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MAP</a:t>
                      </a:r>
                      <a:r>
                        <a:rPr dirty="0" sz="1800" spc="1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0">
                          <a:latin typeface="Cambria"/>
                          <a:cs typeface="Cambria"/>
                        </a:rPr>
                        <a:t>(p.WARE,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latin typeface="Cambria"/>
                          <a:cs typeface="Cambria"/>
                        </a:rPr>
                        <a:t>m.COMPANY)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85">
                          <a:latin typeface="Cambria"/>
                          <a:cs typeface="Cambria"/>
                        </a:rPr>
                        <a:t>O(P*C’/C)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85">
                          <a:latin typeface="Cambria"/>
                          <a:cs typeface="Cambria"/>
                        </a:rPr>
                        <a:t>~P*C’/C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2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2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DISTINCT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6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O(P*C’/C*log(P*C’/C))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85">
                          <a:latin typeface="Cambria"/>
                          <a:cs typeface="Cambria"/>
                        </a:rPr>
                        <a:t>~P*C’/C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TAKE</a:t>
                      </a:r>
                      <a:r>
                        <a:rPr dirty="0" sz="1800" spc="19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800" spc="80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800" spc="80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800" spc="114" b="1">
                          <a:latin typeface="Cambria"/>
                          <a:cs typeface="Cambria"/>
                        </a:rPr>
                        <a:t>TOTAL: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800" spc="75" b="1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O(M*P*C’/C)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800" spc="85" b="1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1148588" y="6162852"/>
            <a:ext cx="960882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204">
                <a:latin typeface="Cambria"/>
                <a:cs typeface="Cambria"/>
              </a:rPr>
              <a:t>Much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better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complexity!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However,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it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terrible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yet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70">
                <a:solidFill>
                  <a:srgbClr val="7E7E7E"/>
                </a:solidFill>
                <a:latin typeface="Cambria"/>
                <a:cs typeface="Cambria"/>
              </a:rPr>
              <a:t>(any</a:t>
            </a:r>
            <a:r>
              <a:rPr dirty="0" sz="2000" spc="20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45">
                <a:solidFill>
                  <a:srgbClr val="7E7E7E"/>
                </a:solidFill>
                <a:latin typeface="Cambria"/>
                <a:cs typeface="Cambria"/>
              </a:rPr>
              <a:t>non-</a:t>
            </a:r>
            <a:r>
              <a:rPr dirty="0" sz="2000" spc="100">
                <a:solidFill>
                  <a:srgbClr val="7E7E7E"/>
                </a:solidFill>
                <a:latin typeface="Cambria"/>
                <a:cs typeface="Cambria"/>
              </a:rPr>
              <a:t>linear</a:t>
            </a:r>
            <a:r>
              <a:rPr dirty="0" sz="2000" spc="19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50">
                <a:solidFill>
                  <a:srgbClr val="7E7E7E"/>
                </a:solidFill>
                <a:latin typeface="Cambria"/>
                <a:cs typeface="Cambria"/>
              </a:rPr>
              <a:t>terrible)</a:t>
            </a:r>
            <a:r>
              <a:rPr dirty="0" sz="2000" spc="5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569700" y="6334455"/>
            <a:ext cx="1257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Tahoma"/>
                <a:cs typeface="Tahoma"/>
              </a:rPr>
              <a:t>8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570" y="1028700"/>
            <a:ext cx="7786662" cy="58394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2539111"/>
            <a:ext cx="9736455" cy="605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4945" indent="-182245">
              <a:lnSpc>
                <a:spcPts val="2280"/>
              </a:lnSpc>
              <a:spcBef>
                <a:spcPts val="10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80">
                <a:latin typeface="Cambria"/>
                <a:cs typeface="Cambria"/>
              </a:rPr>
              <a:t>There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multiple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algorithms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special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cases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join</a:t>
            </a:r>
            <a:r>
              <a:rPr dirty="0" sz="2000" spc="245"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(Cartesian</a:t>
            </a:r>
            <a:r>
              <a:rPr dirty="0" sz="2000" spc="20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05">
                <a:solidFill>
                  <a:srgbClr val="7E7E7E"/>
                </a:solidFill>
                <a:latin typeface="Cambria"/>
                <a:cs typeface="Cambria"/>
              </a:rPr>
              <a:t>product</a:t>
            </a:r>
            <a:endParaRPr sz="2000">
              <a:latin typeface="Cambria"/>
              <a:cs typeface="Cambria"/>
            </a:endParaRPr>
          </a:p>
          <a:p>
            <a:pPr marL="195580">
              <a:lnSpc>
                <a:spcPts val="2280"/>
              </a:lnSpc>
            </a:pPr>
            <a:r>
              <a:rPr dirty="0" sz="2000" spc="85">
                <a:solidFill>
                  <a:srgbClr val="7E7E7E"/>
                </a:solidFill>
                <a:latin typeface="Cambria"/>
                <a:cs typeface="Cambria"/>
              </a:rPr>
              <a:t>with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dirty="0" sz="2000" spc="21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55">
                <a:solidFill>
                  <a:srgbClr val="7E7E7E"/>
                </a:solidFill>
                <a:latin typeface="Cambria"/>
                <a:cs typeface="Cambria"/>
              </a:rPr>
              <a:t>filter</a:t>
            </a:r>
            <a:r>
              <a:rPr dirty="0" sz="2000" spc="18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dirty="0" sz="2000" spc="19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85">
                <a:solidFill>
                  <a:srgbClr val="7E7E7E"/>
                </a:solidFill>
                <a:latin typeface="Cambria"/>
                <a:cs typeface="Cambria"/>
              </a:rPr>
              <a:t>far</a:t>
            </a:r>
            <a:r>
              <a:rPr dirty="0" sz="2000" spc="19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80">
                <a:solidFill>
                  <a:srgbClr val="7E7E7E"/>
                </a:solidFill>
                <a:latin typeface="Cambria"/>
                <a:cs typeface="Cambria"/>
              </a:rPr>
              <a:t>from</a:t>
            </a:r>
            <a:r>
              <a:rPr dirty="0" sz="2000" spc="19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dirty="0" sz="2000" spc="19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50">
                <a:solidFill>
                  <a:srgbClr val="7E7E7E"/>
                </a:solidFill>
                <a:latin typeface="Cambria"/>
                <a:cs typeface="Cambria"/>
              </a:rPr>
              <a:t>best)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519407" y="6333410"/>
            <a:ext cx="226695" cy="2444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z="1400" spc="-70" b="1">
                <a:solidFill>
                  <a:srgbClr val="FFFFFF"/>
                </a:solidFill>
                <a:latin typeface="Tahoma"/>
                <a:cs typeface="Tahoma"/>
              </a:rPr>
              <a:t>10</a:t>
            </a:fld>
            <a:endParaRPr sz="1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48588" y="4093845"/>
            <a:ext cx="9633585" cy="1460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4945" indent="-182245">
              <a:lnSpc>
                <a:spcPts val="2280"/>
              </a:lnSpc>
              <a:spcBef>
                <a:spcPts val="10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80">
                <a:latin typeface="Cambria"/>
                <a:cs typeface="Cambria"/>
              </a:rPr>
              <a:t>There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better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algorithms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special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cases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selection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rather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than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L="195580">
              <a:lnSpc>
                <a:spcPts val="2280"/>
              </a:lnSpc>
            </a:pPr>
            <a:r>
              <a:rPr dirty="0" sz="2000" spc="125">
                <a:latin typeface="Cambria"/>
                <a:cs typeface="Cambria"/>
              </a:rPr>
              <a:t>crude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75" b="1">
                <a:latin typeface="Cambria"/>
                <a:cs typeface="Cambria"/>
              </a:rPr>
              <a:t>filter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89"/>
              </a:spcBef>
            </a:pP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95">
                <a:latin typeface="Cambria"/>
                <a:cs typeface="Cambria"/>
              </a:rPr>
              <a:t>Better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algorithms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require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specific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properties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data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organization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5344" y="1028700"/>
            <a:ext cx="2066556" cy="46558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5539" y="1682953"/>
            <a:ext cx="9504045" cy="880110"/>
          </a:xfrm>
          <a:prstGeom prst="rect"/>
        </p:spPr>
        <p:txBody>
          <a:bodyPr wrap="square" lIns="0" tIns="43815" rIns="0" bIns="0" rtlCol="0" vert="horz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5"/>
              </a:spcBef>
            </a:pPr>
            <a:r>
              <a:rPr dirty="0" spc="120"/>
              <a:t>In</a:t>
            </a:r>
            <a:r>
              <a:rPr dirty="0" spc="190"/>
              <a:t> </a:t>
            </a:r>
            <a:r>
              <a:rPr dirty="0" spc="114"/>
              <a:t>general,</a:t>
            </a:r>
            <a:r>
              <a:rPr dirty="0" spc="165"/>
              <a:t> </a:t>
            </a:r>
            <a:r>
              <a:rPr dirty="0" spc="120"/>
              <a:t>the</a:t>
            </a:r>
            <a:r>
              <a:rPr dirty="0" spc="204"/>
              <a:t> </a:t>
            </a:r>
            <a:r>
              <a:rPr dirty="0" spc="105" b="1">
                <a:latin typeface="Cambria"/>
                <a:cs typeface="Cambria"/>
              </a:rPr>
              <a:t>index</a:t>
            </a:r>
            <a:r>
              <a:rPr dirty="0" spc="220" b="1">
                <a:latin typeface="Cambria"/>
                <a:cs typeface="Cambria"/>
              </a:rPr>
              <a:t> </a:t>
            </a:r>
            <a:r>
              <a:rPr dirty="0" spc="110"/>
              <a:t>is</a:t>
            </a:r>
            <a:r>
              <a:rPr dirty="0" spc="165"/>
              <a:t> </a:t>
            </a:r>
            <a:r>
              <a:rPr dirty="0" spc="120"/>
              <a:t>the</a:t>
            </a:r>
            <a:r>
              <a:rPr dirty="0" spc="210"/>
              <a:t> </a:t>
            </a:r>
            <a:r>
              <a:rPr dirty="0" spc="110"/>
              <a:t>special</a:t>
            </a:r>
            <a:r>
              <a:rPr dirty="0" spc="165"/>
              <a:t> </a:t>
            </a:r>
            <a:r>
              <a:rPr dirty="0" spc="135"/>
              <a:t>data</a:t>
            </a:r>
            <a:r>
              <a:rPr dirty="0" spc="200"/>
              <a:t> </a:t>
            </a:r>
            <a:r>
              <a:rPr dirty="0" spc="130"/>
              <a:t>structure</a:t>
            </a:r>
            <a:r>
              <a:rPr dirty="0" spc="175"/>
              <a:t> </a:t>
            </a:r>
            <a:r>
              <a:rPr dirty="0" spc="140"/>
              <a:t>that</a:t>
            </a:r>
            <a:r>
              <a:rPr dirty="0" spc="215"/>
              <a:t> </a:t>
            </a:r>
            <a:r>
              <a:rPr dirty="0" spc="135"/>
              <a:t>contains</a:t>
            </a:r>
            <a:r>
              <a:rPr dirty="0" spc="200"/>
              <a:t> </a:t>
            </a:r>
            <a:r>
              <a:rPr dirty="0" spc="120"/>
              <a:t>the</a:t>
            </a:r>
            <a:r>
              <a:rPr dirty="0" spc="195"/>
              <a:t> </a:t>
            </a:r>
            <a:r>
              <a:rPr dirty="0" spc="85"/>
              <a:t>entries from</a:t>
            </a:r>
            <a:r>
              <a:rPr dirty="0" spc="195"/>
              <a:t> </a:t>
            </a:r>
            <a:r>
              <a:rPr dirty="0" spc="114"/>
              <a:t>the</a:t>
            </a:r>
            <a:r>
              <a:rPr dirty="0" spc="225"/>
              <a:t> </a:t>
            </a:r>
            <a:r>
              <a:rPr dirty="0" spc="85"/>
              <a:t>original</a:t>
            </a:r>
            <a:r>
              <a:rPr dirty="0" spc="190"/>
              <a:t> </a:t>
            </a:r>
            <a:r>
              <a:rPr dirty="0" spc="100"/>
              <a:t>table</a:t>
            </a:r>
            <a:r>
              <a:rPr dirty="0" spc="210"/>
              <a:t> </a:t>
            </a:r>
            <a:r>
              <a:rPr dirty="0" spc="100"/>
              <a:t>(but,</a:t>
            </a:r>
            <a:r>
              <a:rPr dirty="0" spc="185"/>
              <a:t> </a:t>
            </a:r>
            <a:r>
              <a:rPr dirty="0" spc="110"/>
              <a:t>probably,</a:t>
            </a:r>
            <a:r>
              <a:rPr dirty="0" spc="180"/>
              <a:t> </a:t>
            </a:r>
            <a:r>
              <a:rPr dirty="0" spc="110"/>
              <a:t>not</a:t>
            </a:r>
            <a:r>
              <a:rPr dirty="0" spc="220"/>
              <a:t> </a:t>
            </a:r>
            <a:r>
              <a:rPr dirty="0" spc="114"/>
              <a:t>the</a:t>
            </a:r>
            <a:r>
              <a:rPr dirty="0" spc="200"/>
              <a:t> </a:t>
            </a:r>
            <a:r>
              <a:rPr dirty="0" spc="80"/>
              <a:t>whole</a:t>
            </a:r>
            <a:r>
              <a:rPr dirty="0" spc="210"/>
              <a:t> </a:t>
            </a:r>
            <a:r>
              <a:rPr dirty="0" spc="80"/>
              <a:t>entries),</a:t>
            </a:r>
            <a:r>
              <a:rPr dirty="0" spc="180"/>
              <a:t> </a:t>
            </a:r>
            <a:r>
              <a:rPr dirty="0" spc="145"/>
              <a:t>that</a:t>
            </a:r>
            <a:r>
              <a:rPr dirty="0" spc="210"/>
              <a:t> </a:t>
            </a:r>
            <a:r>
              <a:rPr dirty="0" spc="125"/>
              <a:t>helps</a:t>
            </a:r>
            <a:r>
              <a:rPr dirty="0" spc="185"/>
              <a:t> </a:t>
            </a:r>
            <a:r>
              <a:rPr dirty="0" spc="65"/>
              <a:t>with </a:t>
            </a:r>
            <a:r>
              <a:rPr dirty="0" spc="130"/>
              <a:t>searching.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1519407" y="6333410"/>
            <a:ext cx="226695" cy="2444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z="1400" spc="-70" b="1">
                <a:solidFill>
                  <a:srgbClr val="FFFFFF"/>
                </a:solidFill>
                <a:latin typeface="Tahoma"/>
                <a:cs typeface="Tahoma"/>
              </a:rPr>
              <a:t>10</a:t>
            </a:fld>
            <a:endParaRPr sz="1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45539" y="3086811"/>
            <a:ext cx="9607550" cy="328739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 marR="5080">
              <a:lnSpc>
                <a:spcPct val="89900"/>
              </a:lnSpc>
              <a:spcBef>
                <a:spcPts val="345"/>
              </a:spcBef>
            </a:pPr>
            <a:r>
              <a:rPr dirty="0" sz="2000" spc="70" b="1">
                <a:latin typeface="Cambria"/>
                <a:cs typeface="Cambria"/>
              </a:rPr>
              <a:t>Tree</a:t>
            </a:r>
            <a:r>
              <a:rPr dirty="0" sz="2000" spc="245" b="1">
                <a:latin typeface="Cambria"/>
                <a:cs typeface="Cambria"/>
              </a:rPr>
              <a:t> </a:t>
            </a:r>
            <a:r>
              <a:rPr dirty="0" sz="2000" spc="105" b="1">
                <a:latin typeface="Cambria"/>
                <a:cs typeface="Cambria"/>
              </a:rPr>
              <a:t>index</a:t>
            </a:r>
            <a:r>
              <a:rPr dirty="0" sz="2000" spc="185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most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common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index,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implementing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multimap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25" b="1">
                <a:latin typeface="Cambria"/>
                <a:cs typeface="Cambria"/>
              </a:rPr>
              <a:t>index_attr</a:t>
            </a:r>
            <a:r>
              <a:rPr dirty="0" sz="2000" spc="215" b="1">
                <a:latin typeface="Cambria"/>
                <a:cs typeface="Cambria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↠ </a:t>
            </a:r>
            <a:r>
              <a:rPr dirty="0" sz="2000" spc="85" b="1">
                <a:latin typeface="Cambria"/>
                <a:cs typeface="Cambria"/>
              </a:rPr>
              <a:t>row_id</a:t>
            </a:r>
            <a:r>
              <a:rPr dirty="0" sz="2000" spc="245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(by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sort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balanced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tree,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usually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variant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200">
                <a:latin typeface="Cambria"/>
                <a:cs typeface="Cambria"/>
              </a:rPr>
              <a:t>B-</a:t>
            </a:r>
            <a:r>
              <a:rPr dirty="0" sz="2000">
                <a:latin typeface="Cambria"/>
                <a:cs typeface="Cambria"/>
              </a:rPr>
              <a:t>tree)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where </a:t>
            </a:r>
            <a:r>
              <a:rPr dirty="0" sz="2000" spc="125" b="1">
                <a:latin typeface="Cambria"/>
                <a:cs typeface="Cambria"/>
              </a:rPr>
              <a:t>index_attr</a:t>
            </a:r>
            <a:r>
              <a:rPr dirty="0" sz="2000" spc="195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attribute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choice,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80" b="1">
                <a:latin typeface="Cambria"/>
                <a:cs typeface="Cambria"/>
              </a:rPr>
              <a:t>row_id</a:t>
            </a:r>
            <a:r>
              <a:rPr dirty="0" sz="2000" spc="190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internal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254">
                <a:latin typeface="Cambria"/>
                <a:cs typeface="Cambria"/>
              </a:rPr>
              <a:t>DB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identifier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the </a:t>
            </a:r>
            <a:r>
              <a:rPr dirty="0" sz="2000">
                <a:latin typeface="Cambria"/>
                <a:cs typeface="Cambria"/>
              </a:rPr>
              <a:t>row</a:t>
            </a:r>
            <a:r>
              <a:rPr dirty="0" sz="2000" spc="27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(with</a:t>
            </a:r>
            <a:r>
              <a:rPr dirty="0" sz="2000" spc="27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8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lookup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complexity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70">
                <a:latin typeface="Cambria"/>
                <a:cs typeface="Cambria"/>
              </a:rPr>
              <a:t> </a:t>
            </a:r>
            <a:r>
              <a:rPr dirty="0" sz="2000" spc="-10" b="1">
                <a:latin typeface="Cambria"/>
                <a:cs typeface="Cambria"/>
              </a:rPr>
              <a:t>O(1)</a:t>
            </a:r>
            <a:r>
              <a:rPr dirty="0" sz="2000" spc="-10">
                <a:latin typeface="Cambria"/>
                <a:cs typeface="Cambria"/>
              </a:rPr>
              <a:t>).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80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2000" spc="95">
                <a:latin typeface="Cambria"/>
                <a:cs typeface="Cambria"/>
              </a:rPr>
              <a:t>The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tree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index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95">
                <a:latin typeface="Cambria"/>
                <a:cs typeface="Cambria"/>
              </a:rPr>
              <a:t>has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following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properties: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95">
                <a:latin typeface="Cambria"/>
                <a:cs typeface="Cambria"/>
              </a:rPr>
              <a:t>The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lookup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insertion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costs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O(log(N))</a:t>
            </a:r>
            <a:r>
              <a:rPr dirty="0" sz="2000" spc="145" b="1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per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element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00">
                <a:latin typeface="Cambria"/>
                <a:cs typeface="Cambria"/>
              </a:rPr>
              <a:t>The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iteration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cost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O(1)</a:t>
            </a:r>
            <a:r>
              <a:rPr dirty="0" sz="2000" spc="195" b="1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per</a:t>
            </a:r>
            <a:r>
              <a:rPr dirty="0" sz="2000" spc="15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element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75">
                <a:latin typeface="Cambria"/>
                <a:cs typeface="Cambria"/>
              </a:rPr>
              <a:t>All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entries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ordered</a:t>
            </a:r>
            <a:r>
              <a:rPr dirty="0" sz="2000" spc="15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by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4" b="1">
                <a:latin typeface="Cambria"/>
                <a:cs typeface="Cambria"/>
              </a:rPr>
              <a:t>index_attr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2603" y="1028700"/>
            <a:ext cx="4402061" cy="58394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2539111"/>
            <a:ext cx="3609340" cy="20396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00">
                <a:latin typeface="Cambria"/>
                <a:cs typeface="Cambria"/>
              </a:rPr>
              <a:t>Nested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loop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join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5"/>
              </a:spcBef>
              <a:buClr>
                <a:srgbClr val="957D95"/>
              </a:buClr>
              <a:buFont typeface="Wingdings"/>
              <a:buChar char=""/>
            </a:pP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95">
                <a:latin typeface="Cambria"/>
                <a:cs typeface="Cambria"/>
              </a:rPr>
              <a:t>Hash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join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85"/>
              </a:spcBef>
              <a:buClr>
                <a:srgbClr val="957D95"/>
              </a:buClr>
              <a:buFont typeface="Wingdings"/>
              <a:buChar char=""/>
            </a:pPr>
            <a:endParaRPr sz="2000">
              <a:latin typeface="Cambria"/>
              <a:cs typeface="Cambria"/>
            </a:endParaRPr>
          </a:p>
          <a:p>
            <a:pPr marL="195580" indent="-182880">
              <a:lnSpc>
                <a:spcPct val="100000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95">
                <a:latin typeface="Cambria"/>
                <a:cs typeface="Cambria"/>
              </a:rPr>
              <a:t>Merge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join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(sort-</a:t>
            </a:r>
            <a:r>
              <a:rPr dirty="0" sz="2000" spc="90">
                <a:latin typeface="Cambria"/>
                <a:cs typeface="Cambria"/>
              </a:rPr>
              <a:t>merge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join)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519407" y="6333410"/>
            <a:ext cx="226695" cy="2444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z="1400" spc="-70" b="1">
                <a:solidFill>
                  <a:srgbClr val="FFFFFF"/>
                </a:solidFill>
                <a:latin typeface="Tahoma"/>
                <a:cs typeface="Tahoma"/>
              </a:rPr>
              <a:t>10</a:t>
            </a:fld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92" y="1028700"/>
            <a:ext cx="4997818" cy="5839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100"/>
              <a:t>Nested</a:t>
            </a:r>
            <a:r>
              <a:rPr dirty="0" spc="160"/>
              <a:t> </a:t>
            </a:r>
            <a:r>
              <a:rPr dirty="0" spc="90"/>
              <a:t>loops</a:t>
            </a:r>
            <a:r>
              <a:rPr dirty="0" spc="190"/>
              <a:t> </a:t>
            </a:r>
            <a:r>
              <a:rPr dirty="0" spc="85"/>
              <a:t>join</a:t>
            </a:r>
            <a:r>
              <a:rPr dirty="0" spc="225"/>
              <a:t> </a:t>
            </a:r>
            <a:r>
              <a:rPr dirty="0"/>
              <a:t>of</a:t>
            </a:r>
            <a:r>
              <a:rPr dirty="0" spc="210"/>
              <a:t> </a:t>
            </a:r>
            <a:r>
              <a:rPr dirty="0" spc="135" b="1">
                <a:latin typeface="Cambria"/>
                <a:cs typeface="Cambria"/>
              </a:rPr>
              <a:t>TAB1</a:t>
            </a:r>
            <a:r>
              <a:rPr dirty="0" spc="190" b="1">
                <a:latin typeface="Cambria"/>
                <a:cs typeface="Cambria"/>
              </a:rPr>
              <a:t> </a:t>
            </a:r>
            <a:r>
              <a:rPr dirty="0" spc="165"/>
              <a:t>and</a:t>
            </a:r>
            <a:r>
              <a:rPr dirty="0" spc="215"/>
              <a:t> </a:t>
            </a:r>
            <a:r>
              <a:rPr dirty="0" spc="120" b="1">
                <a:latin typeface="Cambria"/>
                <a:cs typeface="Cambria"/>
              </a:rPr>
              <a:t>TAB2</a:t>
            </a:r>
            <a:r>
              <a:rPr dirty="0" spc="240" b="1">
                <a:latin typeface="Cambria"/>
                <a:cs typeface="Cambria"/>
              </a:rPr>
              <a:t> </a:t>
            </a:r>
            <a:r>
              <a:rPr dirty="0" spc="130"/>
              <a:t>on</a:t>
            </a:r>
            <a:r>
              <a:rPr dirty="0" spc="245"/>
              <a:t> </a:t>
            </a:r>
            <a:r>
              <a:rPr dirty="0" spc="95"/>
              <a:t>predicate</a:t>
            </a:r>
            <a:r>
              <a:rPr dirty="0" spc="215"/>
              <a:t> </a:t>
            </a:r>
            <a:r>
              <a:rPr dirty="0" spc="75" b="1">
                <a:latin typeface="Cambria"/>
                <a:cs typeface="Cambria"/>
              </a:rPr>
              <a:t>P: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145539" y="2110232"/>
            <a:ext cx="6697980" cy="145923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54635" marR="5080" indent="-242570">
              <a:lnSpc>
                <a:spcPts val="2160"/>
              </a:lnSpc>
              <a:spcBef>
                <a:spcPts val="375"/>
              </a:spcBef>
            </a:pPr>
            <a:r>
              <a:rPr dirty="0" sz="2000" spc="100">
                <a:latin typeface="Cambria"/>
                <a:cs typeface="Cambria"/>
              </a:rPr>
              <a:t>For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each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row1</a:t>
            </a:r>
            <a:r>
              <a:rPr dirty="0" sz="2000" spc="295" b="1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from</a:t>
            </a:r>
            <a:r>
              <a:rPr dirty="0" sz="2000" spc="250">
                <a:latin typeface="Cambria"/>
                <a:cs typeface="Cambria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TAB1</a:t>
            </a:r>
            <a:r>
              <a:rPr dirty="0" sz="2000" spc="140">
                <a:latin typeface="Cambria"/>
                <a:cs typeface="Cambria"/>
              </a:rPr>
              <a:t>,</a:t>
            </a:r>
            <a:r>
              <a:rPr dirty="0" sz="2000" spc="28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5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each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row2</a:t>
            </a:r>
            <a:r>
              <a:rPr dirty="0" sz="2000" spc="250" b="1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from</a:t>
            </a:r>
            <a:r>
              <a:rPr dirty="0" sz="2000" spc="254">
                <a:latin typeface="Cambria"/>
                <a:cs typeface="Cambria"/>
              </a:rPr>
              <a:t> </a:t>
            </a:r>
            <a:r>
              <a:rPr dirty="0" sz="2000" spc="95" b="1">
                <a:latin typeface="Cambria"/>
                <a:cs typeface="Cambria"/>
              </a:rPr>
              <a:t>TAB2</a:t>
            </a:r>
            <a:r>
              <a:rPr dirty="0" sz="2000" spc="95">
                <a:latin typeface="Cambria"/>
                <a:cs typeface="Cambria"/>
              </a:rPr>
              <a:t>: </a:t>
            </a:r>
            <a:r>
              <a:rPr dirty="0" sz="2000" spc="95" b="1">
                <a:latin typeface="Cambria"/>
                <a:cs typeface="Cambria"/>
              </a:rPr>
              <a:t>result</a:t>
            </a:r>
            <a:r>
              <a:rPr dirty="0" sz="2000" spc="254" b="1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+=</a:t>
            </a:r>
            <a:r>
              <a:rPr dirty="0" sz="2000" spc="25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(</a:t>
            </a:r>
            <a:r>
              <a:rPr dirty="0" sz="2000" b="1">
                <a:latin typeface="Cambria"/>
                <a:cs typeface="Cambria"/>
              </a:rPr>
              <a:t>row1</a:t>
            </a:r>
            <a:r>
              <a:rPr dirty="0" sz="2000">
                <a:latin typeface="Cambria"/>
                <a:cs typeface="Cambria"/>
              </a:rPr>
              <a:t>,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row2</a:t>
            </a:r>
            <a:r>
              <a:rPr dirty="0" sz="2000">
                <a:latin typeface="Cambria"/>
                <a:cs typeface="Cambria"/>
              </a:rPr>
              <a:t>)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when</a:t>
            </a:r>
            <a:r>
              <a:rPr dirty="0" sz="2000" spc="245">
                <a:latin typeface="Cambria"/>
                <a:cs typeface="Cambria"/>
              </a:rPr>
              <a:t> </a:t>
            </a:r>
            <a:r>
              <a:rPr dirty="0" sz="2000" spc="45" b="1">
                <a:latin typeface="Cambria"/>
                <a:cs typeface="Cambria"/>
              </a:rPr>
              <a:t>P(row1</a:t>
            </a:r>
            <a:r>
              <a:rPr dirty="0" sz="2000" spc="45">
                <a:latin typeface="Cambria"/>
                <a:cs typeface="Cambria"/>
              </a:rPr>
              <a:t>,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-10" b="1">
                <a:latin typeface="Cambria"/>
                <a:cs typeface="Cambria"/>
              </a:rPr>
              <a:t>row2)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2000" spc="160">
                <a:latin typeface="Cambria"/>
                <a:cs typeface="Cambria"/>
              </a:rPr>
              <a:t>Assuming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80" b="1">
                <a:latin typeface="Cambria"/>
                <a:cs typeface="Cambria"/>
              </a:rPr>
              <a:t>M</a:t>
            </a:r>
            <a:r>
              <a:rPr dirty="0" sz="2000" spc="80">
                <a:latin typeface="Cambria"/>
                <a:cs typeface="Cambria"/>
              </a:rPr>
              <a:t>=</a:t>
            </a:r>
            <a:r>
              <a:rPr dirty="0" sz="2000" spc="80" b="1">
                <a:latin typeface="Cambria"/>
                <a:cs typeface="Cambria"/>
              </a:rPr>
              <a:t>size</a:t>
            </a:r>
            <a:r>
              <a:rPr dirty="0" sz="2000" spc="80">
                <a:latin typeface="Cambria"/>
                <a:cs typeface="Cambria"/>
              </a:rPr>
              <a:t>(</a:t>
            </a:r>
            <a:r>
              <a:rPr dirty="0" sz="2000" spc="80" b="1">
                <a:latin typeface="Cambria"/>
                <a:cs typeface="Cambria"/>
              </a:rPr>
              <a:t>TAB1</a:t>
            </a:r>
            <a:r>
              <a:rPr dirty="0" sz="2000" spc="80">
                <a:latin typeface="Cambria"/>
                <a:cs typeface="Cambria"/>
              </a:rPr>
              <a:t>),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55" b="1">
                <a:latin typeface="Cambria"/>
                <a:cs typeface="Cambria"/>
              </a:rPr>
              <a:t>N</a:t>
            </a:r>
            <a:r>
              <a:rPr dirty="0" sz="2000" spc="55">
                <a:latin typeface="Cambria"/>
                <a:cs typeface="Cambria"/>
              </a:rPr>
              <a:t>=</a:t>
            </a:r>
            <a:r>
              <a:rPr dirty="0" sz="2000" spc="55" b="1">
                <a:latin typeface="Cambria"/>
                <a:cs typeface="Cambria"/>
              </a:rPr>
              <a:t>size</a:t>
            </a:r>
            <a:r>
              <a:rPr dirty="0" sz="2000" spc="55">
                <a:latin typeface="Cambria"/>
                <a:cs typeface="Cambria"/>
              </a:rPr>
              <a:t>(</a:t>
            </a:r>
            <a:r>
              <a:rPr dirty="0" sz="2000" spc="55" b="1">
                <a:latin typeface="Cambria"/>
                <a:cs typeface="Cambria"/>
              </a:rPr>
              <a:t>TAB2</a:t>
            </a:r>
            <a:r>
              <a:rPr dirty="0" sz="2000" spc="55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45539" y="3976090"/>
            <a:ext cx="5344795" cy="2581275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2000" spc="75" b="1">
                <a:latin typeface="Cambria"/>
                <a:cs typeface="Cambria"/>
              </a:rPr>
              <a:t>Pros: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4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20">
                <a:latin typeface="Cambria"/>
                <a:cs typeface="Cambria"/>
              </a:rPr>
              <a:t>Any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predicate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supported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80">
                <a:latin typeface="Cambria"/>
                <a:cs typeface="Cambria"/>
              </a:rPr>
              <a:t>No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prerequisites</a:t>
            </a:r>
            <a:r>
              <a:rPr dirty="0" sz="2000" spc="14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on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data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organization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80">
                <a:latin typeface="Cambria"/>
                <a:cs typeface="Cambria"/>
              </a:rPr>
              <a:t>Preserves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order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45">
                <a:latin typeface="Cambria"/>
                <a:cs typeface="Cambria"/>
              </a:rPr>
              <a:t> </a:t>
            </a:r>
            <a:r>
              <a:rPr dirty="0" sz="2000" spc="100" b="1">
                <a:latin typeface="Cambria"/>
                <a:cs typeface="Cambria"/>
              </a:rPr>
              <a:t>TAB1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2000" spc="150" b="1">
                <a:latin typeface="Cambria"/>
                <a:cs typeface="Cambria"/>
              </a:rPr>
              <a:t>Cons: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4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20">
                <a:latin typeface="Cambria"/>
                <a:cs typeface="Cambria"/>
              </a:rPr>
              <a:t>Complexity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mbria"/>
                <a:cs typeface="Cambria"/>
              </a:rPr>
              <a:t>O(M*N)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519407" y="6334455"/>
            <a:ext cx="2266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70" b="1">
                <a:solidFill>
                  <a:srgbClr val="FFFFFF"/>
                </a:solidFill>
                <a:latin typeface="Tahoma"/>
                <a:cs typeface="Tahoma"/>
              </a:rPr>
              <a:t>12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995" y="1028700"/>
            <a:ext cx="2595067" cy="58394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5539" y="1561303"/>
            <a:ext cx="8638540" cy="1581150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2000" spc="195">
                <a:latin typeface="Cambria"/>
                <a:cs typeface="Cambria"/>
              </a:rPr>
              <a:t>Hash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join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54">
                <a:latin typeface="Cambria"/>
                <a:cs typeface="Cambria"/>
              </a:rPr>
              <a:t> </a:t>
            </a:r>
            <a:r>
              <a:rPr dirty="0" sz="2000" spc="120" b="1">
                <a:latin typeface="Cambria"/>
                <a:cs typeface="Cambria"/>
              </a:rPr>
              <a:t>TAB1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245">
                <a:latin typeface="Cambria"/>
                <a:cs typeface="Cambria"/>
              </a:rPr>
              <a:t> </a:t>
            </a:r>
            <a:r>
              <a:rPr dirty="0" sz="2000" spc="120" b="1">
                <a:latin typeface="Cambria"/>
                <a:cs typeface="Cambria"/>
              </a:rPr>
              <a:t>TAB2</a:t>
            </a:r>
            <a:r>
              <a:rPr dirty="0" sz="2000" spc="270" b="1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on</a:t>
            </a:r>
            <a:r>
              <a:rPr dirty="0" sz="2000" spc="27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attributes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a1(TAB1)</a:t>
            </a:r>
            <a:r>
              <a:rPr dirty="0" sz="2000" spc="275" b="1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95" b="1">
                <a:latin typeface="Cambria"/>
                <a:cs typeface="Cambria"/>
              </a:rPr>
              <a:t>a2</a:t>
            </a:r>
            <a:r>
              <a:rPr dirty="0" sz="2000" spc="285" b="1">
                <a:latin typeface="Cambria"/>
                <a:cs typeface="Cambria"/>
              </a:rPr>
              <a:t> </a:t>
            </a:r>
            <a:r>
              <a:rPr dirty="0" sz="2000" spc="-10" b="1">
                <a:latin typeface="Cambria"/>
                <a:cs typeface="Cambria"/>
              </a:rPr>
              <a:t>(TAB2):</a:t>
            </a:r>
            <a:endParaRPr sz="2000">
              <a:latin typeface="Cambria"/>
              <a:cs typeface="Cambria"/>
            </a:endParaRPr>
          </a:p>
          <a:p>
            <a:pPr marL="12700" marR="1624965">
              <a:lnSpc>
                <a:spcPct val="140000"/>
              </a:lnSpc>
            </a:pPr>
            <a:r>
              <a:rPr dirty="0" sz="2000" spc="160">
                <a:latin typeface="Cambria"/>
                <a:cs typeface="Cambria"/>
              </a:rPr>
              <a:t>Assuming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14" b="1">
                <a:latin typeface="Cambria"/>
                <a:cs typeface="Cambria"/>
              </a:rPr>
              <a:t>IDX2</a:t>
            </a:r>
            <a:r>
              <a:rPr dirty="0" sz="2000" spc="114">
                <a:latin typeface="Cambria"/>
                <a:cs typeface="Cambria"/>
              </a:rPr>
              <a:t>=</a:t>
            </a:r>
            <a:r>
              <a:rPr dirty="0" sz="2000" spc="114" b="1">
                <a:latin typeface="Cambria"/>
                <a:cs typeface="Cambria"/>
              </a:rPr>
              <a:t>index</a:t>
            </a:r>
            <a:r>
              <a:rPr dirty="0" sz="2000" spc="114">
                <a:latin typeface="Cambria"/>
                <a:cs typeface="Cambria"/>
              </a:rPr>
              <a:t>(</a:t>
            </a:r>
            <a:r>
              <a:rPr dirty="0" sz="2000" spc="114" b="1">
                <a:latin typeface="Cambria"/>
                <a:cs typeface="Cambria"/>
              </a:rPr>
              <a:t>TAB2</a:t>
            </a:r>
            <a:r>
              <a:rPr dirty="0" sz="2000" spc="114">
                <a:latin typeface="Cambria"/>
                <a:cs typeface="Cambria"/>
              </a:rPr>
              <a:t>,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a2</a:t>
            </a:r>
            <a:r>
              <a:rPr dirty="0" sz="2000">
                <a:latin typeface="Cambria"/>
                <a:cs typeface="Cambria"/>
              </a:rPr>
              <a:t>)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solidFill>
                  <a:srgbClr val="7E7E7E"/>
                </a:solidFill>
                <a:latin typeface="Cambria"/>
                <a:cs typeface="Cambria"/>
              </a:rPr>
              <a:t>(hash-</a:t>
            </a:r>
            <a:r>
              <a:rPr dirty="0" sz="2000" spc="100">
                <a:solidFill>
                  <a:srgbClr val="7E7E7E"/>
                </a:solidFill>
                <a:latin typeface="Cambria"/>
                <a:cs typeface="Cambria"/>
              </a:rPr>
              <a:t>table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50">
                <a:solidFill>
                  <a:srgbClr val="7E7E7E"/>
                </a:solidFill>
                <a:latin typeface="Cambria"/>
                <a:cs typeface="Cambria"/>
              </a:rPr>
              <a:t>originally) </a:t>
            </a:r>
            <a:r>
              <a:rPr dirty="0" sz="2000" spc="100">
                <a:latin typeface="Cambria"/>
                <a:cs typeface="Cambria"/>
              </a:rPr>
              <a:t>For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each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row1</a:t>
            </a:r>
            <a:r>
              <a:rPr dirty="0" sz="2000" spc="260" b="1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from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20" b="1">
                <a:latin typeface="Cambria"/>
                <a:cs typeface="Cambria"/>
              </a:rPr>
              <a:t>TAB1</a:t>
            </a:r>
            <a:r>
              <a:rPr dirty="0" sz="2000" spc="245" b="1">
                <a:latin typeface="Cambria"/>
                <a:cs typeface="Cambria"/>
              </a:rPr>
              <a:t> </a:t>
            </a:r>
            <a:r>
              <a:rPr dirty="0" sz="2000" spc="70">
                <a:solidFill>
                  <a:srgbClr val="7E7E7E"/>
                </a:solidFill>
                <a:latin typeface="Cambria"/>
                <a:cs typeface="Cambria"/>
              </a:rPr>
              <a:t>(called</a:t>
            </a:r>
            <a:r>
              <a:rPr dirty="0" sz="2000" spc="19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dirty="0" sz="2000" spc="22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leading</a:t>
            </a:r>
            <a:r>
              <a:rPr dirty="0" sz="2000" spc="19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55">
                <a:solidFill>
                  <a:srgbClr val="7E7E7E"/>
                </a:solidFill>
                <a:latin typeface="Cambria"/>
                <a:cs typeface="Cambria"/>
              </a:rPr>
              <a:t>table)</a:t>
            </a:r>
            <a:r>
              <a:rPr dirty="0" sz="2000" spc="55" b="1">
                <a:latin typeface="Cambria"/>
                <a:cs typeface="Cambria"/>
              </a:rPr>
              <a:t>:</a:t>
            </a:r>
            <a:endParaRPr sz="2000">
              <a:latin typeface="Cambria"/>
              <a:cs typeface="Cambria"/>
            </a:endParaRPr>
          </a:p>
          <a:p>
            <a:pPr marL="269875">
              <a:lnSpc>
                <a:spcPts val="2160"/>
              </a:lnSpc>
            </a:pPr>
            <a:r>
              <a:rPr dirty="0" sz="2000" spc="95" b="1">
                <a:latin typeface="Cambria"/>
                <a:cs typeface="Cambria"/>
              </a:rPr>
              <a:t>result</a:t>
            </a:r>
            <a:r>
              <a:rPr dirty="0" sz="2000" spc="235" b="1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+=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-10" b="1">
                <a:latin typeface="Cambria"/>
                <a:cs typeface="Cambria"/>
              </a:rPr>
              <a:t>IDX2</a:t>
            </a:r>
            <a:r>
              <a:rPr dirty="0" sz="2000" spc="-10">
                <a:latin typeface="Cambria"/>
                <a:cs typeface="Cambria"/>
              </a:rPr>
              <a:t>[</a:t>
            </a:r>
            <a:r>
              <a:rPr dirty="0" sz="2000" spc="-10" b="1">
                <a:latin typeface="Cambria"/>
                <a:cs typeface="Cambria"/>
              </a:rPr>
              <a:t>a1</a:t>
            </a:r>
            <a:r>
              <a:rPr dirty="0" sz="2000" spc="-10">
                <a:latin typeface="Cambria"/>
                <a:cs typeface="Cambria"/>
              </a:rPr>
              <a:t>(</a:t>
            </a:r>
            <a:r>
              <a:rPr dirty="0" sz="2000" spc="-10" b="1">
                <a:latin typeface="Cambria"/>
                <a:cs typeface="Cambria"/>
              </a:rPr>
              <a:t>row1</a:t>
            </a:r>
            <a:r>
              <a:rPr dirty="0" sz="2000" spc="-10">
                <a:latin typeface="Cambria"/>
                <a:cs typeface="Cambria"/>
              </a:rPr>
              <a:t>)]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1145539" y="3549751"/>
            <a:ext cx="4879975" cy="172973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2000" spc="75" b="1">
                <a:latin typeface="Cambria"/>
                <a:cs typeface="Cambria"/>
              </a:rPr>
              <a:t>Pros: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3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20">
                <a:latin typeface="Cambria"/>
                <a:cs typeface="Cambria"/>
              </a:rPr>
              <a:t>Complexity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b="1">
                <a:solidFill>
                  <a:srgbClr val="7E7E7E"/>
                </a:solidFill>
                <a:latin typeface="Cambria"/>
                <a:cs typeface="Cambria"/>
              </a:rPr>
              <a:t>O(N*log(N))</a:t>
            </a:r>
            <a:r>
              <a:rPr dirty="0" sz="2000" spc="210" b="1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+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spc="-10" b="1">
                <a:latin typeface="Cambria"/>
                <a:cs typeface="Cambria"/>
              </a:rPr>
              <a:t>O(M*log(N))</a:t>
            </a:r>
            <a:endParaRPr sz="2000">
              <a:latin typeface="Cambria"/>
              <a:cs typeface="Cambria"/>
            </a:endParaRPr>
          </a:p>
          <a:p>
            <a:pPr marL="12700" marR="1193165" indent="182245">
              <a:lnSpc>
                <a:spcPts val="3379"/>
              </a:lnSpc>
              <a:spcBef>
                <a:spcPts val="9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80">
                <a:latin typeface="Cambria"/>
                <a:cs typeface="Cambria"/>
              </a:rPr>
              <a:t>Preserves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order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100" b="1">
                <a:latin typeface="Cambria"/>
                <a:cs typeface="Cambria"/>
              </a:rPr>
              <a:t>TAB1 </a:t>
            </a:r>
            <a:r>
              <a:rPr dirty="0" sz="2000" spc="150" b="1">
                <a:latin typeface="Cambria"/>
                <a:cs typeface="Cambria"/>
              </a:rPr>
              <a:t>Cons: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38696" y="4091685"/>
            <a:ext cx="50984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(no</a:t>
            </a:r>
            <a:r>
              <a:rPr dirty="0" sz="2000" spc="22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70">
                <a:solidFill>
                  <a:srgbClr val="7E7E7E"/>
                </a:solidFill>
                <a:latin typeface="Cambria"/>
                <a:cs typeface="Cambria"/>
              </a:rPr>
              <a:t>first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part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when</a:t>
            </a:r>
            <a:r>
              <a:rPr dirty="0" sz="2000" spc="20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dirty="0" sz="2000" spc="229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index</a:t>
            </a:r>
            <a:r>
              <a:rPr dirty="0" sz="2000" spc="19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dirty="0" sz="2000" spc="20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95">
                <a:solidFill>
                  <a:srgbClr val="7E7E7E"/>
                </a:solidFill>
                <a:latin typeface="Cambria"/>
                <a:cs typeface="Cambria"/>
              </a:rPr>
              <a:t>pre-</a:t>
            </a:r>
            <a:r>
              <a:rPr dirty="0" sz="2000" spc="55">
                <a:solidFill>
                  <a:srgbClr val="7E7E7E"/>
                </a:solidFill>
                <a:latin typeface="Cambria"/>
                <a:cs typeface="Cambria"/>
              </a:rPr>
              <a:t>built)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45539" y="5372201"/>
            <a:ext cx="9787890" cy="60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4945" indent="-182245">
              <a:lnSpc>
                <a:spcPts val="2280"/>
              </a:lnSpc>
              <a:spcBef>
                <a:spcPts val="10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95">
                <a:latin typeface="Cambria"/>
                <a:cs typeface="Cambria"/>
              </a:rPr>
              <a:t>Limited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predicates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supported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(=</a:t>
            </a:r>
            <a:r>
              <a:rPr dirty="0" sz="2000" spc="19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for</a:t>
            </a:r>
            <a:r>
              <a:rPr dirty="0" sz="2000" spc="22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00">
                <a:solidFill>
                  <a:srgbClr val="7E7E7E"/>
                </a:solidFill>
                <a:latin typeface="Cambria"/>
                <a:cs typeface="Cambria"/>
              </a:rPr>
              <a:t>traditional</a:t>
            </a:r>
            <a:r>
              <a:rPr dirty="0" sz="2000" spc="229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80">
                <a:solidFill>
                  <a:srgbClr val="7E7E7E"/>
                </a:solidFill>
                <a:latin typeface="Cambria"/>
                <a:cs typeface="Cambria"/>
              </a:rPr>
              <a:t>hash-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join,</a:t>
            </a:r>
            <a:r>
              <a:rPr dirty="0" sz="2000" spc="22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also</a:t>
            </a:r>
            <a:r>
              <a:rPr dirty="0" sz="2000" spc="21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5">
                <a:solidFill>
                  <a:srgbClr val="7E7E7E"/>
                </a:solidFill>
                <a:latin typeface="Cambria"/>
                <a:cs typeface="Cambria"/>
              </a:rPr>
              <a:t>&lt;,&gt;</a:t>
            </a:r>
            <a:r>
              <a:rPr dirty="0" sz="2000" spc="23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for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90">
                <a:solidFill>
                  <a:srgbClr val="7E7E7E"/>
                </a:solidFill>
                <a:latin typeface="Cambria"/>
                <a:cs typeface="Cambria"/>
              </a:rPr>
              <a:t>DB-</a:t>
            </a:r>
            <a:endParaRPr sz="2000">
              <a:latin typeface="Cambria"/>
              <a:cs typeface="Cambria"/>
            </a:endParaRPr>
          </a:p>
          <a:p>
            <a:pPr marL="195580">
              <a:lnSpc>
                <a:spcPts val="2280"/>
              </a:lnSpc>
            </a:pPr>
            <a:r>
              <a:rPr dirty="0" sz="2000" spc="40">
                <a:solidFill>
                  <a:srgbClr val="7E7E7E"/>
                </a:solidFill>
                <a:latin typeface="Cambria"/>
                <a:cs typeface="Cambria"/>
              </a:rPr>
              <a:t>version)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570" y="1028700"/>
            <a:ext cx="5554764" cy="583946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6834123" y="1028700"/>
            <a:ext cx="1510030" cy="584200"/>
            <a:chOff x="6834123" y="1028700"/>
            <a:chExt cx="1510030" cy="5842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34123" y="1286724"/>
              <a:ext cx="151206" cy="7560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11923" y="1028700"/>
              <a:ext cx="1331849" cy="583946"/>
            </a:xfrm>
            <a:prstGeom prst="rect">
              <a:avLst/>
            </a:prstGeom>
          </p:spPr>
        </p:pic>
      </p:grp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1096187" y="3898519"/>
          <a:ext cx="8216900" cy="1750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9545"/>
                <a:gridCol w="2709545"/>
                <a:gridCol w="2709544"/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8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Original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9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DB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95" b="1">
                          <a:latin typeface="Cambria"/>
                          <a:cs typeface="Cambria"/>
                        </a:rPr>
                        <a:t>Index</a:t>
                      </a:r>
                      <a:r>
                        <a:rPr dirty="0" sz="1800" spc="235" b="1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0" b="1">
                          <a:latin typeface="Cambria"/>
                          <a:cs typeface="Cambria"/>
                        </a:rPr>
                        <a:t>type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60">
                          <a:latin typeface="Cambria"/>
                          <a:cs typeface="Cambria"/>
                        </a:rPr>
                        <a:t>hash-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table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65">
                          <a:latin typeface="Cambria"/>
                          <a:cs typeface="Cambria"/>
                        </a:rPr>
                        <a:t>tree-</a:t>
                      </a:r>
                      <a:r>
                        <a:rPr dirty="0" sz="1800" spc="125">
                          <a:latin typeface="Cambria"/>
                          <a:cs typeface="Cambria"/>
                        </a:rPr>
                        <a:t>map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91440" marR="854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105" b="1">
                          <a:latin typeface="Cambria"/>
                          <a:cs typeface="Cambria"/>
                        </a:rPr>
                        <a:t>Recommended </a:t>
                      </a:r>
                      <a:r>
                        <a:rPr dirty="0" sz="1800" spc="80" b="1">
                          <a:latin typeface="Cambria"/>
                          <a:cs typeface="Cambria"/>
                        </a:rPr>
                        <a:t>leading</a:t>
                      </a:r>
                      <a:r>
                        <a:rPr dirty="0" sz="1800" spc="260" b="1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65" b="1">
                          <a:latin typeface="Cambria"/>
                          <a:cs typeface="Cambria"/>
                        </a:rPr>
                        <a:t>table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75">
                          <a:latin typeface="Cambria"/>
                          <a:cs typeface="Cambria"/>
                        </a:rPr>
                        <a:t>largest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00">
                          <a:latin typeface="Cambria"/>
                          <a:cs typeface="Cambria"/>
                        </a:rPr>
                        <a:t>smallest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85" b="1">
                          <a:latin typeface="Cambria"/>
                          <a:cs typeface="Cambria"/>
                        </a:rPr>
                        <a:t>Predicates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30">
                          <a:latin typeface="Cambria"/>
                          <a:cs typeface="Cambria"/>
                        </a:rPr>
                        <a:t>=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135">
                          <a:latin typeface="Cambria"/>
                          <a:cs typeface="Cambria"/>
                        </a:rPr>
                        <a:t>=,</a:t>
                      </a:r>
                      <a:r>
                        <a:rPr dirty="0" sz="1800" spc="1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5">
                          <a:latin typeface="Cambria"/>
                          <a:cs typeface="Cambria"/>
                        </a:rPr>
                        <a:t>&gt;,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30">
                          <a:latin typeface="Cambria"/>
                          <a:cs typeface="Cambria"/>
                        </a:rPr>
                        <a:t>&lt;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</a:tbl>
          </a:graphicData>
        </a:graphic>
      </p:graphicFrame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7" name="object 7" descr=""/>
          <p:cNvSpPr txBox="1"/>
          <p:nvPr/>
        </p:nvSpPr>
        <p:spPr>
          <a:xfrm>
            <a:off x="1181506" y="1802383"/>
            <a:ext cx="9559925" cy="145923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 marR="613410">
              <a:lnSpc>
                <a:spcPts val="2160"/>
              </a:lnSpc>
              <a:spcBef>
                <a:spcPts val="375"/>
              </a:spcBef>
            </a:pPr>
            <a:r>
              <a:rPr dirty="0" sz="2000" spc="180">
                <a:latin typeface="Cambria"/>
                <a:cs typeface="Cambria"/>
              </a:rPr>
              <a:t>Hash-</a:t>
            </a:r>
            <a:r>
              <a:rPr dirty="0" sz="2000" spc="85">
                <a:latin typeface="Cambria"/>
                <a:cs typeface="Cambria"/>
              </a:rPr>
              <a:t>join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50">
                <a:latin typeface="Cambria"/>
                <a:cs typeface="Cambria"/>
              </a:rPr>
              <a:t>usually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recommended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used </a:t>
            </a:r>
            <a:r>
              <a:rPr dirty="0" sz="2000" spc="120">
                <a:latin typeface="Cambria"/>
                <a:cs typeface="Cambria"/>
              </a:rPr>
              <a:t>when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at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least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one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table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is original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195">
                <a:latin typeface="Cambria"/>
                <a:cs typeface="Cambria"/>
              </a:rPr>
              <a:t> has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pre-</a:t>
            </a:r>
            <a:r>
              <a:rPr dirty="0" sz="2000" spc="114">
                <a:latin typeface="Cambria"/>
                <a:cs typeface="Cambria"/>
              </a:rPr>
              <a:t>built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index.</a:t>
            </a:r>
            <a:endParaRPr sz="2000">
              <a:latin typeface="Cambria"/>
              <a:cs typeface="Cambria"/>
            </a:endParaRPr>
          </a:p>
          <a:p>
            <a:pPr marL="12700" marR="5080">
              <a:lnSpc>
                <a:spcPts val="3360"/>
              </a:lnSpc>
              <a:spcBef>
                <a:spcPts val="70"/>
              </a:spcBef>
            </a:pPr>
            <a:r>
              <a:rPr dirty="0" sz="2000" spc="135">
                <a:latin typeface="Cambria"/>
                <a:cs typeface="Cambria"/>
              </a:rPr>
              <a:t>When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both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tables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have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indices,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smaller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one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preferred</a:t>
            </a:r>
            <a:r>
              <a:rPr dirty="0" sz="2000" spc="155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leading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one. </a:t>
            </a:r>
            <a:r>
              <a:rPr dirty="0" u="sng" sz="2000" spc="12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Complexity</a:t>
            </a:r>
            <a:r>
              <a:rPr dirty="0" u="sng" sz="2000" spc="18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2000" spc="11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is</a:t>
            </a:r>
            <a:r>
              <a:rPr dirty="0" u="sng" sz="2000" spc="24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2000" spc="12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asymmetrical</a:t>
            </a:r>
            <a:r>
              <a:rPr dirty="0" u="sng" sz="2000" spc="19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200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for</a:t>
            </a:r>
            <a:r>
              <a:rPr dirty="0" u="sng" sz="2000" spc="22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2000" spc="12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TAB1</a:t>
            </a:r>
            <a:r>
              <a:rPr dirty="0" u="sng" sz="2000" spc="22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2000" spc="16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and</a:t>
            </a:r>
            <a:r>
              <a:rPr dirty="0" u="sng" sz="2000" spc="22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2000" spc="12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TAB2</a:t>
            </a:r>
            <a:r>
              <a:rPr dirty="0" sz="2000" spc="125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7963" y="1048003"/>
            <a:ext cx="1885276" cy="564642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3139948" y="1028700"/>
            <a:ext cx="1227455" cy="584200"/>
            <a:chOff x="3139948" y="1028700"/>
            <a:chExt cx="1227455" cy="5842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39948" y="1286724"/>
              <a:ext cx="151206" cy="7560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17748" y="1028700"/>
              <a:ext cx="1049147" cy="583946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145539" y="1561303"/>
            <a:ext cx="8910320" cy="1306830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2000" spc="95">
                <a:latin typeface="Cambria"/>
                <a:cs typeface="Cambria"/>
              </a:rPr>
              <a:t>Merge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join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120" b="1">
                <a:latin typeface="Cambria"/>
                <a:cs typeface="Cambria"/>
              </a:rPr>
              <a:t>TAB1</a:t>
            </a:r>
            <a:r>
              <a:rPr dirty="0" sz="2000" spc="235" b="1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120" b="1">
                <a:latin typeface="Cambria"/>
                <a:cs typeface="Cambria"/>
              </a:rPr>
              <a:t>TAB2</a:t>
            </a:r>
            <a:r>
              <a:rPr dirty="0" sz="2000" spc="270" b="1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on</a:t>
            </a:r>
            <a:r>
              <a:rPr dirty="0" sz="2000" spc="28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attributes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a1(TAB1)</a:t>
            </a:r>
            <a:r>
              <a:rPr dirty="0" sz="2000" spc="260" b="1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245">
                <a:latin typeface="Cambria"/>
                <a:cs typeface="Cambria"/>
              </a:rPr>
              <a:t> </a:t>
            </a:r>
            <a:r>
              <a:rPr dirty="0" sz="2000" spc="95" b="1">
                <a:latin typeface="Cambria"/>
                <a:cs typeface="Cambria"/>
              </a:rPr>
              <a:t>a2</a:t>
            </a:r>
            <a:r>
              <a:rPr dirty="0" sz="2000" spc="270" b="1">
                <a:latin typeface="Cambria"/>
                <a:cs typeface="Cambria"/>
              </a:rPr>
              <a:t> </a:t>
            </a:r>
            <a:r>
              <a:rPr dirty="0" sz="2000" spc="-10" b="1">
                <a:latin typeface="Cambria"/>
                <a:cs typeface="Cambria"/>
              </a:rPr>
              <a:t>(TAB2):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000" spc="130">
                <a:latin typeface="Cambria"/>
                <a:cs typeface="Cambria"/>
              </a:rPr>
              <a:t>Sort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 b="1">
                <a:latin typeface="Cambria"/>
                <a:cs typeface="Cambria"/>
              </a:rPr>
              <a:t>TAB1</a:t>
            </a:r>
            <a:r>
              <a:rPr dirty="0" sz="2000" spc="195" b="1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30" b="1">
                <a:latin typeface="Cambria"/>
                <a:cs typeface="Cambria"/>
              </a:rPr>
              <a:t>TAB2</a:t>
            </a:r>
            <a:r>
              <a:rPr dirty="0" sz="2000" spc="13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000" spc="105">
                <a:latin typeface="Cambria"/>
                <a:cs typeface="Cambria"/>
              </a:rPr>
              <a:t>Next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use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algorithm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similar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merging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ordered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arrays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merge-sort.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7" name="object 7" descr=""/>
          <p:cNvSpPr txBox="1"/>
          <p:nvPr/>
        </p:nvSpPr>
        <p:spPr>
          <a:xfrm>
            <a:off x="1145539" y="3702151"/>
            <a:ext cx="6732905" cy="2428240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2000" spc="75" b="1">
                <a:latin typeface="Cambria"/>
                <a:cs typeface="Cambria"/>
              </a:rPr>
              <a:t>Pros: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ts val="2280"/>
              </a:lnSpc>
              <a:spcBef>
                <a:spcPts val="93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20">
                <a:latin typeface="Cambria"/>
                <a:cs typeface="Cambria"/>
              </a:rPr>
              <a:t>Complexity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b="1">
                <a:solidFill>
                  <a:srgbClr val="7E7E7E"/>
                </a:solidFill>
                <a:latin typeface="Cambria"/>
                <a:cs typeface="Cambria"/>
              </a:rPr>
              <a:t>O(M*log(M))</a:t>
            </a:r>
            <a:r>
              <a:rPr dirty="0" sz="2000" spc="229" b="1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b="1">
                <a:solidFill>
                  <a:srgbClr val="7E7E7E"/>
                </a:solidFill>
                <a:latin typeface="Cambria"/>
                <a:cs typeface="Cambria"/>
              </a:rPr>
              <a:t>+</a:t>
            </a:r>
            <a:r>
              <a:rPr dirty="0" sz="2000" spc="254" b="1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b="1">
                <a:solidFill>
                  <a:srgbClr val="7E7E7E"/>
                </a:solidFill>
                <a:latin typeface="Cambria"/>
                <a:cs typeface="Cambria"/>
              </a:rPr>
              <a:t>O(N*log(N))</a:t>
            </a:r>
            <a:r>
              <a:rPr dirty="0" sz="2000" spc="229" b="1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+</a:t>
            </a:r>
            <a:r>
              <a:rPr dirty="0" sz="2000" spc="260" b="1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O(M)</a:t>
            </a:r>
            <a:r>
              <a:rPr dirty="0" sz="2000" spc="245" b="1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+</a:t>
            </a:r>
            <a:r>
              <a:rPr dirty="0" sz="2000" spc="270" b="1">
                <a:latin typeface="Cambria"/>
                <a:cs typeface="Cambria"/>
              </a:rPr>
              <a:t> </a:t>
            </a:r>
            <a:r>
              <a:rPr dirty="0" sz="2000" spc="-20" b="1">
                <a:latin typeface="Cambria"/>
                <a:cs typeface="Cambria"/>
              </a:rPr>
              <a:t>O(N)</a:t>
            </a:r>
            <a:endParaRPr sz="2000">
              <a:latin typeface="Cambria"/>
              <a:cs typeface="Cambria"/>
            </a:endParaRPr>
          </a:p>
          <a:p>
            <a:pPr marL="195580">
              <a:lnSpc>
                <a:spcPts val="2280"/>
              </a:lnSpc>
            </a:pPr>
            <a:r>
              <a:rPr dirty="0" sz="2000" spc="125">
                <a:solidFill>
                  <a:srgbClr val="7E7E7E"/>
                </a:solidFill>
                <a:latin typeface="Cambria"/>
                <a:cs typeface="Cambria"/>
              </a:rPr>
              <a:t>TAB2</a:t>
            </a:r>
            <a:r>
              <a:rPr dirty="0" sz="2000" spc="19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85">
                <a:solidFill>
                  <a:srgbClr val="7E7E7E"/>
                </a:solidFill>
                <a:latin typeface="Cambria"/>
                <a:cs typeface="Cambria"/>
              </a:rPr>
              <a:t>either</a:t>
            </a:r>
            <a:r>
              <a:rPr dirty="0" sz="2000" spc="18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95">
                <a:solidFill>
                  <a:srgbClr val="7E7E7E"/>
                </a:solidFill>
                <a:latin typeface="Cambria"/>
                <a:cs typeface="Cambria"/>
              </a:rPr>
              <a:t>pre-</a:t>
            </a:r>
            <a:r>
              <a:rPr dirty="0" sz="2000" spc="80">
                <a:solidFill>
                  <a:srgbClr val="7E7E7E"/>
                </a:solidFill>
                <a:latin typeface="Cambria"/>
                <a:cs typeface="Cambria"/>
              </a:rPr>
              <a:t>sorted</a:t>
            </a:r>
            <a:r>
              <a:rPr dirty="0" sz="2000" spc="15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55">
                <a:solidFill>
                  <a:srgbClr val="7E7E7E"/>
                </a:solidFill>
                <a:latin typeface="Cambria"/>
                <a:cs typeface="Cambria"/>
              </a:rPr>
              <a:t>or</a:t>
            </a:r>
            <a:r>
              <a:rPr dirty="0" sz="2000" spc="21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have</a:t>
            </a:r>
            <a:r>
              <a:rPr dirty="0" sz="2000" spc="19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70">
                <a:solidFill>
                  <a:srgbClr val="7E7E7E"/>
                </a:solidFill>
                <a:latin typeface="Cambria"/>
                <a:cs typeface="Cambria"/>
              </a:rPr>
              <a:t>indices)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95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result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sorted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2000" spc="150" b="1">
                <a:latin typeface="Cambria"/>
                <a:cs typeface="Cambria"/>
              </a:rPr>
              <a:t>Cons:</a:t>
            </a:r>
            <a:endParaRPr sz="2000">
              <a:latin typeface="Cambria"/>
              <a:cs typeface="Cambria"/>
            </a:endParaRPr>
          </a:p>
          <a:p>
            <a:pPr marL="195580" indent="-182880">
              <a:lnSpc>
                <a:spcPct val="100000"/>
              </a:lnSpc>
              <a:spcBef>
                <a:spcPts val="93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100">
                <a:latin typeface="Cambria"/>
                <a:cs typeface="Cambria"/>
              </a:rPr>
              <a:t>Limited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predicates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are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supported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(=,</a:t>
            </a:r>
            <a:r>
              <a:rPr dirty="0" sz="2000" spc="18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60">
                <a:solidFill>
                  <a:srgbClr val="7E7E7E"/>
                </a:solidFill>
                <a:latin typeface="Cambria"/>
                <a:cs typeface="Cambria"/>
              </a:rPr>
              <a:t>&lt;,</a:t>
            </a:r>
            <a:r>
              <a:rPr dirty="0" sz="2000" spc="22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-25">
                <a:solidFill>
                  <a:srgbClr val="7E7E7E"/>
                </a:solidFill>
                <a:latin typeface="Cambria"/>
                <a:cs typeface="Cambria"/>
              </a:rPr>
              <a:t>&gt;)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106536" y="4244085"/>
            <a:ext cx="36410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(no</a:t>
            </a:r>
            <a:r>
              <a:rPr dirty="0" sz="2000" spc="22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70">
                <a:solidFill>
                  <a:srgbClr val="7E7E7E"/>
                </a:solidFill>
                <a:latin typeface="Cambria"/>
                <a:cs typeface="Cambria"/>
              </a:rPr>
              <a:t>first</a:t>
            </a:r>
            <a:r>
              <a:rPr dirty="0" sz="2000" spc="21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part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when</a:t>
            </a:r>
            <a:r>
              <a:rPr dirty="0" sz="2000" spc="21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5">
                <a:solidFill>
                  <a:srgbClr val="7E7E7E"/>
                </a:solidFill>
                <a:latin typeface="Cambria"/>
                <a:cs typeface="Cambria"/>
              </a:rPr>
              <a:t>TAB1</a:t>
            </a:r>
            <a:r>
              <a:rPr dirty="0" sz="2000" spc="20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4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995" y="1037082"/>
            <a:ext cx="1691589" cy="457200"/>
          </a:xfrm>
          <a:prstGeom prst="rect">
            <a:avLst/>
          </a:prstGeom>
        </p:spPr>
      </p:pic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057402" y="2087626"/>
          <a:ext cx="10953115" cy="3602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0020"/>
                <a:gridCol w="2812414"/>
                <a:gridCol w="2812415"/>
              </a:tblGrid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7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Plan</a:t>
                      </a:r>
                      <a:r>
                        <a:rPr dirty="0" sz="1800" spc="9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(pseudo-</a:t>
                      </a:r>
                      <a:r>
                        <a:rPr dirty="0" sz="1800" spc="4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code)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12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Complexity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9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Cardinality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95">
                          <a:latin typeface="Cambria"/>
                          <a:cs typeface="Cambria"/>
                        </a:rPr>
                        <a:t>CATEGORY</a:t>
                      </a:r>
                      <a:r>
                        <a:rPr dirty="0" sz="1800" spc="1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FILTER</a:t>
                      </a: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50">
                          <a:latin typeface="Cambria"/>
                          <a:cs typeface="Cambria"/>
                        </a:rPr>
                        <a:t>c.CLASS='Raw</a:t>
                      </a:r>
                      <a:r>
                        <a:rPr dirty="0" sz="1800" spc="1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-10">
                          <a:latin typeface="Cambria"/>
                          <a:cs typeface="Cambria"/>
                        </a:rPr>
                        <a:t>food'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50">
                          <a:latin typeface="Cambria"/>
                          <a:cs typeface="Cambria"/>
                        </a:rPr>
                        <a:t>O(C)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50">
                          <a:latin typeface="Cambria"/>
                          <a:cs typeface="Cambria"/>
                        </a:rPr>
                        <a:t>C’</a:t>
                      </a:r>
                      <a:r>
                        <a:rPr dirty="0" sz="1800" spc="1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&lt;</a:t>
                      </a:r>
                      <a:r>
                        <a:rPr dirty="0" sz="1800" spc="1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60">
                          <a:latin typeface="Cambria"/>
                          <a:cs typeface="Cambria"/>
                        </a:rPr>
                        <a:t>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9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NL_JOIN</a:t>
                      </a:r>
                      <a:r>
                        <a:rPr dirty="0" sz="1800" spc="17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90">
                          <a:latin typeface="Cambria"/>
                          <a:cs typeface="Cambria"/>
                        </a:rPr>
                        <a:t>PRODUCT</a:t>
                      </a:r>
                      <a:r>
                        <a:rPr dirty="0" sz="1800" spc="1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r>
                        <a:rPr dirty="0" sz="1800" spc="19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25">
                          <a:latin typeface="Cambria"/>
                          <a:cs typeface="Cambria"/>
                        </a:rPr>
                        <a:t>c.WARE=p.WARE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50">
                          <a:latin typeface="Cambria"/>
                          <a:cs typeface="Cambria"/>
                        </a:rPr>
                        <a:t>O(P*C)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00">
                          <a:latin typeface="Cambria"/>
                          <a:cs typeface="Cambria"/>
                        </a:rPr>
                        <a:t>~P*C’/C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&lt;</a:t>
                      </a:r>
                      <a:r>
                        <a:rPr dirty="0" sz="1800" spc="16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30">
                          <a:latin typeface="Cambria"/>
                          <a:cs typeface="Cambria"/>
                        </a:rPr>
                        <a:t>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9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NL_JOIN</a:t>
                      </a:r>
                      <a:r>
                        <a:rPr dirty="0" sz="1800" spc="17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60">
                          <a:latin typeface="Cambria"/>
                          <a:cs typeface="Cambria"/>
                        </a:rPr>
                        <a:t>MANUFACTURER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384175">
                        <a:lnSpc>
                          <a:spcPct val="100000"/>
                        </a:lnSpc>
                      </a:pP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 </a:t>
                      </a:r>
                      <a:r>
                        <a:rPr dirty="0" sz="1800" spc="160">
                          <a:latin typeface="Cambria"/>
                          <a:cs typeface="Cambria"/>
                        </a:rPr>
                        <a:t>m.RECIPE_ID=p.RECIPE_ID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85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O(M*P*C’/C)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90">
                          <a:latin typeface="Cambria"/>
                          <a:cs typeface="Cambria"/>
                        </a:rPr>
                        <a:t>~P*C’/C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8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SORT_BY</a:t>
                      </a:r>
                      <a:r>
                        <a:rPr dirty="0" sz="1800" spc="20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latin typeface="Cambria"/>
                          <a:cs typeface="Cambria"/>
                        </a:rPr>
                        <a:t>p.WARE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70">
                          <a:latin typeface="Cambria"/>
                          <a:cs typeface="Cambria"/>
                        </a:rPr>
                        <a:t>O(P*C’/C*log(P*C’/C))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90">
                          <a:latin typeface="Cambria"/>
                          <a:cs typeface="Cambria"/>
                        </a:rPr>
                        <a:t>~P*C’/C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4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MAP</a:t>
                      </a:r>
                      <a:r>
                        <a:rPr dirty="0" sz="1800" spc="1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0">
                          <a:latin typeface="Cambria"/>
                          <a:cs typeface="Cambria"/>
                        </a:rPr>
                        <a:t>(p.WARE,</a:t>
                      </a:r>
                      <a:r>
                        <a:rPr dirty="0" sz="1800" spc="1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latin typeface="Cambria"/>
                          <a:cs typeface="Cambria"/>
                        </a:rPr>
                        <a:t>m.COMPANY)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80">
                          <a:latin typeface="Cambria"/>
                          <a:cs typeface="Cambria"/>
                        </a:rPr>
                        <a:t>O(P*C’/C)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90">
                          <a:latin typeface="Cambria"/>
                          <a:cs typeface="Cambria"/>
                        </a:rPr>
                        <a:t>~P*C’/C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12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2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DISTINCT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70">
                          <a:latin typeface="Cambria"/>
                          <a:cs typeface="Cambria"/>
                        </a:rPr>
                        <a:t>O(P*C’/C*log(P*C’/C))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 spc="90">
                          <a:latin typeface="Cambria"/>
                          <a:cs typeface="Cambria"/>
                        </a:rPr>
                        <a:t>~P*C’/C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TAKE</a:t>
                      </a:r>
                      <a:r>
                        <a:rPr dirty="0" sz="1800" spc="19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 spc="80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 spc="80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114" b="1">
                          <a:latin typeface="Cambria"/>
                          <a:cs typeface="Cambria"/>
                        </a:rPr>
                        <a:t>TOTAL: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75" b="1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O(M*P*C’/C)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85" b="1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1148588" y="6177658"/>
            <a:ext cx="6583045" cy="325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90"/>
              </a:lnSpc>
            </a:pPr>
            <a:r>
              <a:rPr dirty="0" sz="2000" spc="100">
                <a:latin typeface="Cambria"/>
                <a:cs typeface="Cambria"/>
              </a:rPr>
              <a:t>The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same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plan,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just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re-</a:t>
            </a:r>
            <a:r>
              <a:rPr dirty="0" sz="2000" spc="75">
                <a:latin typeface="Cambria"/>
                <a:cs typeface="Cambria"/>
              </a:rPr>
              <a:t>written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nested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loops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join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995" y="1037082"/>
            <a:ext cx="1695526" cy="459866"/>
          </a:xfrm>
          <a:prstGeom prst="rect">
            <a:avLst/>
          </a:prstGeom>
        </p:spPr>
      </p:pic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057402" y="2087626"/>
          <a:ext cx="10953115" cy="4142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7360"/>
                <a:gridCol w="2718435"/>
                <a:gridCol w="2597150"/>
              </a:tblGrid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7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Plan</a:t>
                      </a:r>
                      <a:r>
                        <a:rPr dirty="0" sz="1800" spc="9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(pseudo-</a:t>
                      </a:r>
                      <a:r>
                        <a:rPr dirty="0" sz="1800" spc="4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code)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12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Complexity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9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Cardinality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95">
                          <a:latin typeface="Cambria"/>
                          <a:cs typeface="Cambria"/>
                        </a:rPr>
                        <a:t>CATEGORY</a:t>
                      </a:r>
                      <a:r>
                        <a:rPr dirty="0" sz="1800" spc="1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FILTER</a:t>
                      </a: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50">
                          <a:latin typeface="Cambria"/>
                          <a:cs typeface="Cambria"/>
                        </a:rPr>
                        <a:t>c.CLASS='Raw</a:t>
                      </a:r>
                      <a:r>
                        <a:rPr dirty="0" sz="1800" spc="1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-10">
                          <a:latin typeface="Cambria"/>
                          <a:cs typeface="Cambria"/>
                        </a:rPr>
                        <a:t>food'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50">
                          <a:latin typeface="Cambria"/>
                          <a:cs typeface="Cambria"/>
                        </a:rPr>
                        <a:t>O(C)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50">
                          <a:latin typeface="Cambria"/>
                          <a:cs typeface="Cambria"/>
                        </a:rPr>
                        <a:t>C’</a:t>
                      </a:r>
                      <a:r>
                        <a:rPr dirty="0" sz="1800" spc="1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&lt;</a:t>
                      </a:r>
                      <a:r>
                        <a:rPr dirty="0" sz="1800" spc="1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60">
                          <a:latin typeface="Cambria"/>
                          <a:cs typeface="Cambria"/>
                        </a:rPr>
                        <a:t>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384175" marR="560070" indent="-293370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1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HASH_JOIN</a:t>
                      </a:r>
                      <a:r>
                        <a:rPr dirty="0" sz="1800" spc="15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90">
                          <a:latin typeface="Cambria"/>
                          <a:cs typeface="Cambria"/>
                        </a:rPr>
                        <a:t>PRODUCT </a:t>
                      </a:r>
                      <a:r>
                        <a:rPr dirty="0" sz="1800" spc="1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INDEX</a:t>
                      </a: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6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BY</a:t>
                      </a:r>
                      <a:r>
                        <a:rPr dirty="0" sz="1800" spc="19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20">
                          <a:latin typeface="Cambria"/>
                          <a:cs typeface="Cambria"/>
                        </a:rPr>
                        <a:t>WARE </a:t>
                      </a: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 </a:t>
                      </a:r>
                      <a:r>
                        <a:rPr dirty="0" sz="1800" spc="125">
                          <a:latin typeface="Cambria"/>
                          <a:cs typeface="Cambria"/>
                        </a:rPr>
                        <a:t>c.WARE=p.WARE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80">
                          <a:latin typeface="Cambria"/>
                          <a:cs typeface="Cambria"/>
                        </a:rPr>
                        <a:t>O(P*C’/C)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00">
                          <a:latin typeface="Cambria"/>
                          <a:cs typeface="Cambria"/>
                        </a:rPr>
                        <a:t>~P*C’/C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&lt;</a:t>
                      </a:r>
                      <a:r>
                        <a:rPr dirty="0" sz="1800" spc="16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30">
                          <a:latin typeface="Cambria"/>
                          <a:cs typeface="Cambria"/>
                        </a:rPr>
                        <a:t>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384175" marR="236854" indent="-293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1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HASH_JOIN</a:t>
                      </a:r>
                      <a:r>
                        <a:rPr dirty="0" sz="1800" spc="15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70">
                          <a:latin typeface="Cambria"/>
                          <a:cs typeface="Cambria"/>
                        </a:rPr>
                        <a:t>MANUFACTURER</a:t>
                      </a:r>
                      <a:r>
                        <a:rPr dirty="0" sz="1800" spc="2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INDEX </a:t>
                      </a:r>
                      <a:r>
                        <a:rPr dirty="0" sz="1800" spc="14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BY 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RECIPE_ID</a:t>
                      </a:r>
                      <a:r>
                        <a:rPr dirty="0" sz="1800" spc="1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r>
                        <a:rPr dirty="0" sz="1800" spc="19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60">
                          <a:latin typeface="Cambria"/>
                          <a:cs typeface="Cambria"/>
                        </a:rPr>
                        <a:t>m.RECIPE_ID=p.RECIPE_ID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85">
                          <a:latin typeface="Cambria"/>
                          <a:cs typeface="Cambria"/>
                        </a:rPr>
                        <a:t>O(P*C’/C)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90">
                          <a:latin typeface="Cambria"/>
                          <a:cs typeface="Cambria"/>
                        </a:rPr>
                        <a:t>~P*C’/C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8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SORT_BY</a:t>
                      </a:r>
                      <a:r>
                        <a:rPr dirty="0" sz="1800" spc="20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latin typeface="Cambria"/>
                          <a:cs typeface="Cambria"/>
                        </a:rPr>
                        <a:t>p.WARE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70">
                          <a:latin typeface="Cambria"/>
                          <a:cs typeface="Cambria"/>
                        </a:rPr>
                        <a:t>O(P*C’/C*log(P*C’/C))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90">
                          <a:latin typeface="Cambria"/>
                          <a:cs typeface="Cambria"/>
                        </a:rPr>
                        <a:t>~P*C’/C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4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MAP</a:t>
                      </a:r>
                      <a:r>
                        <a:rPr dirty="0" sz="1800" spc="1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0">
                          <a:latin typeface="Cambria"/>
                          <a:cs typeface="Cambria"/>
                        </a:rPr>
                        <a:t>(p.WARE,</a:t>
                      </a:r>
                      <a:r>
                        <a:rPr dirty="0" sz="1800" spc="1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latin typeface="Cambria"/>
                          <a:cs typeface="Cambria"/>
                        </a:rPr>
                        <a:t>m.COMPANY)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80">
                          <a:latin typeface="Cambria"/>
                          <a:cs typeface="Cambria"/>
                        </a:rPr>
                        <a:t>O(P*C’/C)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 spc="90">
                          <a:latin typeface="Cambria"/>
                          <a:cs typeface="Cambria"/>
                        </a:rPr>
                        <a:t>~P*C’/C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12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2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DISTINCT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7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O(P*C’/C*log(P*C’/C))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 spc="90">
                          <a:latin typeface="Cambria"/>
                          <a:cs typeface="Cambria"/>
                        </a:rPr>
                        <a:t>~P*C’/C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800" spc="12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TAKE</a:t>
                      </a:r>
                      <a:r>
                        <a:rPr dirty="0" sz="1800" spc="18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800" spc="80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800" spc="80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800" spc="120" b="1">
                          <a:latin typeface="Cambria"/>
                          <a:cs typeface="Cambria"/>
                        </a:rPr>
                        <a:t>TOTAL: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800" spc="80" b="1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O(P*C’/C*log(P*C’/C)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50" b="1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800" spc="85" b="1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1148588" y="6177658"/>
            <a:ext cx="6008370" cy="325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90"/>
              </a:lnSpc>
            </a:pPr>
            <a:r>
              <a:rPr dirty="0" sz="2000" spc="195">
                <a:latin typeface="Cambria"/>
                <a:cs typeface="Cambria"/>
              </a:rPr>
              <a:t>Same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80">
                <a:latin typeface="Cambria"/>
                <a:cs typeface="Cambria"/>
              </a:rPr>
              <a:t>as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plan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2,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60">
                <a:latin typeface="Cambria"/>
                <a:cs typeface="Cambria"/>
              </a:rPr>
              <a:t>but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better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join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algorithm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570" y="1028700"/>
            <a:ext cx="5067846" cy="57569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114"/>
              <a:t>Why</a:t>
            </a:r>
            <a:r>
              <a:rPr dirty="0" spc="220"/>
              <a:t> </a:t>
            </a:r>
            <a:r>
              <a:rPr dirty="0" spc="140"/>
              <a:t>shall</a:t>
            </a:r>
            <a:r>
              <a:rPr dirty="0" spc="200"/>
              <a:t> </a:t>
            </a:r>
            <a:r>
              <a:rPr dirty="0"/>
              <a:t>we</a:t>
            </a:r>
            <a:r>
              <a:rPr dirty="0" spc="220"/>
              <a:t> </a:t>
            </a:r>
            <a:r>
              <a:rPr dirty="0" spc="110"/>
              <a:t>process</a:t>
            </a:r>
            <a:r>
              <a:rPr dirty="0" spc="185"/>
              <a:t> </a:t>
            </a:r>
            <a:r>
              <a:rPr dirty="0" spc="120"/>
              <a:t>the</a:t>
            </a:r>
            <a:r>
              <a:rPr dirty="0" spc="229"/>
              <a:t> </a:t>
            </a:r>
            <a:r>
              <a:rPr dirty="0" spc="80"/>
              <a:t>entire</a:t>
            </a:r>
            <a:r>
              <a:rPr dirty="0" spc="195"/>
              <a:t> </a:t>
            </a:r>
            <a:r>
              <a:rPr dirty="0" spc="114"/>
              <a:t>result</a:t>
            </a:r>
            <a:r>
              <a:rPr dirty="0" spc="190"/>
              <a:t> </a:t>
            </a:r>
            <a:r>
              <a:rPr dirty="0"/>
              <a:t>if</a:t>
            </a:r>
            <a:r>
              <a:rPr dirty="0" spc="220"/>
              <a:t> </a:t>
            </a:r>
            <a:r>
              <a:rPr dirty="0"/>
              <a:t>we</a:t>
            </a:r>
            <a:r>
              <a:rPr dirty="0" spc="225"/>
              <a:t> </a:t>
            </a:r>
            <a:r>
              <a:rPr dirty="0" spc="114"/>
              <a:t>need</a:t>
            </a:r>
            <a:r>
              <a:rPr dirty="0" spc="180"/>
              <a:t> </a:t>
            </a:r>
            <a:r>
              <a:rPr dirty="0" spc="85"/>
              <a:t>only</a:t>
            </a:r>
            <a:r>
              <a:rPr dirty="0" spc="220"/>
              <a:t> </a:t>
            </a:r>
            <a:r>
              <a:rPr dirty="0" spc="185"/>
              <a:t>a</a:t>
            </a:r>
            <a:r>
              <a:rPr dirty="0" spc="229"/>
              <a:t> </a:t>
            </a:r>
            <a:r>
              <a:rPr dirty="0"/>
              <a:t>few</a:t>
            </a:r>
            <a:r>
              <a:rPr dirty="0" spc="210"/>
              <a:t> </a:t>
            </a:r>
            <a:r>
              <a:rPr dirty="0" spc="80"/>
              <a:t>top</a:t>
            </a:r>
            <a:r>
              <a:rPr dirty="0" spc="220"/>
              <a:t> </a:t>
            </a:r>
            <a:r>
              <a:rPr dirty="0" spc="85"/>
              <a:t>rows?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pc="135"/>
              <a:t>Which</a:t>
            </a:r>
            <a:r>
              <a:rPr dirty="0" spc="220"/>
              <a:t> </a:t>
            </a:r>
            <a:r>
              <a:rPr dirty="0"/>
              <a:t>of</a:t>
            </a:r>
            <a:r>
              <a:rPr dirty="0" spc="215"/>
              <a:t> </a:t>
            </a:r>
            <a:r>
              <a:rPr dirty="0" spc="114"/>
              <a:t>the</a:t>
            </a:r>
            <a:r>
              <a:rPr dirty="0" spc="210"/>
              <a:t> </a:t>
            </a:r>
            <a:r>
              <a:rPr dirty="0" spc="65"/>
              <a:t>following</a:t>
            </a:r>
            <a:r>
              <a:rPr dirty="0" spc="225"/>
              <a:t> </a:t>
            </a:r>
            <a:r>
              <a:rPr dirty="0" spc="100"/>
              <a:t>operations</a:t>
            </a:r>
            <a:r>
              <a:rPr dirty="0" spc="195"/>
              <a:t> </a:t>
            </a:r>
            <a:r>
              <a:rPr dirty="0" spc="125"/>
              <a:t>could</a:t>
            </a:r>
            <a:r>
              <a:rPr dirty="0" spc="195"/>
              <a:t> </a:t>
            </a:r>
            <a:r>
              <a:rPr dirty="0" spc="95"/>
              <a:t>be</a:t>
            </a:r>
            <a:r>
              <a:rPr dirty="0" spc="190"/>
              <a:t> </a:t>
            </a:r>
            <a:r>
              <a:rPr dirty="0" spc="105"/>
              <a:t>lazy?</a:t>
            </a: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pc="100"/>
              <a:t>Nested</a:t>
            </a:r>
            <a:r>
              <a:rPr dirty="0" spc="160"/>
              <a:t> </a:t>
            </a:r>
            <a:r>
              <a:rPr dirty="0" spc="90"/>
              <a:t>loops</a:t>
            </a:r>
            <a:r>
              <a:rPr dirty="0" spc="195"/>
              <a:t> </a:t>
            </a:r>
            <a:r>
              <a:rPr dirty="0" spc="60"/>
              <a:t>join</a:t>
            </a: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pc="195"/>
              <a:t>Hash</a:t>
            </a:r>
            <a:r>
              <a:rPr dirty="0" spc="180"/>
              <a:t> </a:t>
            </a:r>
            <a:r>
              <a:rPr dirty="0" spc="60"/>
              <a:t>join</a:t>
            </a: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pc="90"/>
              <a:t>Merge</a:t>
            </a:r>
            <a:r>
              <a:rPr dirty="0" spc="170"/>
              <a:t> </a:t>
            </a:r>
            <a:r>
              <a:rPr dirty="0" spc="60"/>
              <a:t>join</a:t>
            </a: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pc="90"/>
              <a:t>Selection/filter</a:t>
            </a:r>
          </a:p>
          <a:p>
            <a:pPr marL="194945" indent="-182245">
              <a:lnSpc>
                <a:spcPct val="100000"/>
              </a:lnSpc>
              <a:spcBef>
                <a:spcPts val="96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pc="75"/>
              <a:t>Projection</a:t>
            </a: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pc="100"/>
              <a:t>Ordering</a:t>
            </a: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pc="120"/>
              <a:t>Distinct</a:t>
            </a: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pc="170"/>
              <a:t>Count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1519407" y="6334455"/>
            <a:ext cx="2266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70" b="1">
                <a:solidFill>
                  <a:srgbClr val="FFFFFF"/>
                </a:solidFill>
                <a:latin typeface="Tahoma"/>
                <a:cs typeface="Tahoma"/>
              </a:rPr>
              <a:t>18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995" y="1028700"/>
            <a:ext cx="5482285" cy="468249"/>
          </a:xfrm>
          <a:prstGeom prst="rect">
            <a:avLst/>
          </a:prstGeom>
        </p:spPr>
      </p:pic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057402" y="1796288"/>
          <a:ext cx="10953115" cy="38728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7540"/>
                <a:gridCol w="2775585"/>
                <a:gridCol w="2371090"/>
              </a:tblGrid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7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Plan</a:t>
                      </a:r>
                      <a:r>
                        <a:rPr dirty="0" sz="1800" spc="9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(pseudo-</a:t>
                      </a:r>
                      <a:r>
                        <a:rPr dirty="0" sz="1800" spc="4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code)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12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Complexity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9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Cardinality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95">
                          <a:latin typeface="Cambria"/>
                          <a:cs typeface="Cambria"/>
                        </a:rPr>
                        <a:t>CATEGORY</a:t>
                      </a:r>
                      <a:r>
                        <a:rPr dirty="0" sz="1800" spc="1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FILTER</a:t>
                      </a: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50">
                          <a:latin typeface="Cambria"/>
                          <a:cs typeface="Cambria"/>
                        </a:rPr>
                        <a:t>c.CLASS='Raw</a:t>
                      </a:r>
                      <a:r>
                        <a:rPr dirty="0" sz="1800" spc="1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-10">
                          <a:latin typeface="Cambria"/>
                          <a:cs typeface="Cambria"/>
                        </a:rPr>
                        <a:t>food'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50">
                          <a:latin typeface="Cambria"/>
                          <a:cs typeface="Cambria"/>
                        </a:rPr>
                        <a:t>O(C)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50">
                          <a:latin typeface="Cambria"/>
                          <a:cs typeface="Cambria"/>
                        </a:rPr>
                        <a:t>C’</a:t>
                      </a:r>
                      <a:r>
                        <a:rPr dirty="0" sz="1800" spc="1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&lt;</a:t>
                      </a:r>
                      <a:r>
                        <a:rPr dirty="0" sz="1800" spc="1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60">
                          <a:latin typeface="Cambria"/>
                          <a:cs typeface="Cambria"/>
                        </a:rPr>
                        <a:t>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384175" marR="730250" indent="-293370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1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HASH_JOIN</a:t>
                      </a:r>
                      <a:r>
                        <a:rPr dirty="0" sz="1800" spc="15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90">
                          <a:latin typeface="Cambria"/>
                          <a:cs typeface="Cambria"/>
                        </a:rPr>
                        <a:t>PRODUCT </a:t>
                      </a:r>
                      <a:r>
                        <a:rPr dirty="0" sz="1800" spc="1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INDEX</a:t>
                      </a: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6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BY</a:t>
                      </a:r>
                      <a:r>
                        <a:rPr dirty="0" sz="1800" spc="19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20">
                          <a:latin typeface="Cambria"/>
                          <a:cs typeface="Cambria"/>
                        </a:rPr>
                        <a:t>WARE </a:t>
                      </a: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 </a:t>
                      </a:r>
                      <a:r>
                        <a:rPr dirty="0" sz="1800" spc="125">
                          <a:latin typeface="Cambria"/>
                          <a:cs typeface="Cambria"/>
                        </a:rPr>
                        <a:t>c.WARE=p.WARE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80">
                          <a:latin typeface="Cambria"/>
                          <a:cs typeface="Cambria"/>
                        </a:rPr>
                        <a:t>O(P*C’/C)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00">
                          <a:latin typeface="Cambria"/>
                          <a:cs typeface="Cambria"/>
                        </a:rPr>
                        <a:t>~P*C’/C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&lt;</a:t>
                      </a:r>
                      <a:r>
                        <a:rPr dirty="0" sz="1800" spc="16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30">
                          <a:latin typeface="Cambria"/>
                          <a:cs typeface="Cambria"/>
                        </a:rPr>
                        <a:t>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1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HASH_JOIN</a:t>
                      </a:r>
                      <a:r>
                        <a:rPr dirty="0" sz="1800" spc="15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70">
                          <a:latin typeface="Cambria"/>
                          <a:cs typeface="Cambria"/>
                        </a:rPr>
                        <a:t>MANUFACTURER</a:t>
                      </a:r>
                      <a:r>
                        <a:rPr dirty="0" sz="1800" spc="2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INDEX </a:t>
                      </a:r>
                      <a:r>
                        <a:rPr dirty="0" sz="1800" spc="14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BY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384175">
                        <a:lnSpc>
                          <a:spcPct val="100000"/>
                        </a:lnSpc>
                      </a:pPr>
                      <a:r>
                        <a:rPr dirty="0" sz="1800" spc="180">
                          <a:latin typeface="Cambria"/>
                          <a:cs typeface="Cambria"/>
                        </a:rPr>
                        <a:t>RECIPE_ID</a:t>
                      </a:r>
                      <a:r>
                        <a:rPr dirty="0" sz="1800" spc="1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r>
                        <a:rPr dirty="0" sz="1800" spc="20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60">
                          <a:latin typeface="Cambria"/>
                          <a:cs typeface="Cambria"/>
                        </a:rPr>
                        <a:t>m.RECIPE_ID=p.RECIPE_ID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85">
                          <a:latin typeface="Cambria"/>
                          <a:cs typeface="Cambria"/>
                        </a:rPr>
                        <a:t>O(P*C’/C)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90">
                          <a:latin typeface="Cambria"/>
                          <a:cs typeface="Cambria"/>
                        </a:rPr>
                        <a:t>~P*C’/C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75" b="1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SORT_BY</a:t>
                      </a:r>
                      <a:r>
                        <a:rPr dirty="0" sz="1800" spc="225" b="1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latin typeface="Cambria"/>
                          <a:cs typeface="Cambria"/>
                        </a:rPr>
                        <a:t>p.WARE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7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O(P*C’/C*log(P*C’/C))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90">
                          <a:latin typeface="Cambria"/>
                          <a:cs typeface="Cambria"/>
                        </a:rPr>
                        <a:t>~P*C’/C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4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MAP</a:t>
                      </a:r>
                      <a:r>
                        <a:rPr dirty="0" sz="1800" spc="1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0">
                          <a:latin typeface="Cambria"/>
                          <a:cs typeface="Cambria"/>
                        </a:rPr>
                        <a:t>(p.WARE,</a:t>
                      </a:r>
                      <a:r>
                        <a:rPr dirty="0" sz="1800" spc="1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latin typeface="Cambria"/>
                          <a:cs typeface="Cambria"/>
                        </a:rPr>
                        <a:t>m.COMPANY)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-25">
                          <a:latin typeface="Cambria"/>
                          <a:cs typeface="Cambria"/>
                        </a:rPr>
                        <a:t>~10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 spc="-25">
                          <a:latin typeface="Cambria"/>
                          <a:cs typeface="Cambria"/>
                        </a:rPr>
                        <a:t>~10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12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2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DISTINCT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-25">
                          <a:latin typeface="Cambria"/>
                          <a:cs typeface="Cambria"/>
                        </a:rPr>
                        <a:t>~30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 spc="80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800" spc="12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TAKE</a:t>
                      </a:r>
                      <a:r>
                        <a:rPr dirty="0" sz="1800" spc="18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800" spc="80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800" spc="80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120" b="1">
                          <a:latin typeface="Cambria"/>
                          <a:cs typeface="Cambria"/>
                        </a:rPr>
                        <a:t>TOTAL: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70" b="1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O(P*C’/C*log(P*C’/C))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85" b="1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1142491" y="5813247"/>
            <a:ext cx="54654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95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complexity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same,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non-</a:t>
            </a:r>
            <a:r>
              <a:rPr dirty="0" sz="2000" spc="100">
                <a:latin typeface="Cambria"/>
                <a:cs typeface="Cambria"/>
              </a:rPr>
              <a:t>linear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still.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42491" y="6209791"/>
            <a:ext cx="74942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95">
                <a:latin typeface="Cambria"/>
                <a:cs typeface="Cambria"/>
              </a:rPr>
              <a:t>The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sorting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instruction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breaks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laziness.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245">
                <a:latin typeface="Cambria"/>
                <a:cs typeface="Cambria"/>
              </a:rPr>
              <a:t>Can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we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fix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this?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519407" y="6334455"/>
            <a:ext cx="2266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70" b="1">
                <a:solidFill>
                  <a:srgbClr val="FFFFFF"/>
                </a:solidFill>
                <a:latin typeface="Tahoma"/>
                <a:cs typeface="Tahoma"/>
              </a:rPr>
              <a:t>19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995" y="1037082"/>
            <a:ext cx="1699336" cy="457200"/>
          </a:xfrm>
          <a:prstGeom prst="rect">
            <a:avLst/>
          </a:prstGeom>
        </p:spPr>
      </p:pic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057402" y="1796288"/>
          <a:ext cx="10953115" cy="3771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11850"/>
                <a:gridCol w="2468245"/>
                <a:gridCol w="2484120"/>
              </a:tblGrid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7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Plan</a:t>
                      </a:r>
                      <a:r>
                        <a:rPr dirty="0" sz="1800" spc="9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(pseudo-</a:t>
                      </a:r>
                      <a:r>
                        <a:rPr dirty="0" sz="1800" spc="4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code)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12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Complexity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9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Cardinality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95">
                          <a:latin typeface="Cambria"/>
                          <a:cs typeface="Cambria"/>
                        </a:rPr>
                        <a:t>CATEGORY</a:t>
                      </a:r>
                      <a:r>
                        <a:rPr dirty="0" sz="1800" spc="1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INDEX</a:t>
                      </a: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6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BY</a:t>
                      </a:r>
                      <a:r>
                        <a:rPr dirty="0" sz="1800" spc="20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40">
                          <a:latin typeface="Cambria"/>
                          <a:cs typeface="Cambria"/>
                        </a:rPr>
                        <a:t>WARE</a:t>
                      </a:r>
                      <a:r>
                        <a:rPr dirty="0" sz="1800" spc="2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2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FILTER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dirty="0" sz="1800" spc="150">
                          <a:latin typeface="Cambria"/>
                          <a:cs typeface="Cambria"/>
                        </a:rPr>
                        <a:t>c.CLASS='Raw</a:t>
                      </a:r>
                      <a:r>
                        <a:rPr dirty="0" sz="1800" spc="204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-10">
                          <a:latin typeface="Cambria"/>
                          <a:cs typeface="Cambria"/>
                        </a:rPr>
                        <a:t>food'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-25">
                          <a:latin typeface="Cambria"/>
                          <a:cs typeface="Cambria"/>
                        </a:rPr>
                        <a:t>~20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50">
                          <a:latin typeface="Cambria"/>
                          <a:cs typeface="Cambria"/>
                        </a:rPr>
                        <a:t>C’</a:t>
                      </a:r>
                      <a:r>
                        <a:rPr dirty="0" sz="1800" spc="1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&lt;</a:t>
                      </a:r>
                      <a:r>
                        <a:rPr dirty="0" sz="1800" spc="1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60">
                          <a:latin typeface="Cambria"/>
                          <a:cs typeface="Cambria"/>
                        </a:rPr>
                        <a:t>C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3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MERGE_JOIN</a:t>
                      </a:r>
                      <a:r>
                        <a:rPr dirty="0" sz="1800" spc="1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PRODUCT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38417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INDEX</a:t>
                      </a:r>
                      <a:r>
                        <a:rPr dirty="0" sz="1800" spc="17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BY</a:t>
                      </a:r>
                      <a:r>
                        <a:rPr dirty="0" sz="1800" spc="18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40">
                          <a:latin typeface="Cambria"/>
                          <a:cs typeface="Cambria"/>
                        </a:rPr>
                        <a:t>WARE</a:t>
                      </a:r>
                      <a:r>
                        <a:rPr dirty="0" sz="1800" spc="1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r>
                        <a:rPr dirty="0" sz="1800" spc="19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latin typeface="Cambria"/>
                          <a:cs typeface="Cambria"/>
                        </a:rPr>
                        <a:t>c.WARE=p.WARE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~100</a:t>
                      </a:r>
                      <a:r>
                        <a:rPr dirty="0" sz="1800" spc="22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=</a:t>
                      </a:r>
                      <a:r>
                        <a:rPr dirty="0" sz="1800" spc="2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~10*C/C’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-25">
                          <a:latin typeface="Cambria"/>
                          <a:cs typeface="Cambria"/>
                        </a:rPr>
                        <a:t>~10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384175" marR="601345" indent="-293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1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HASH_JOIN</a:t>
                      </a:r>
                      <a:r>
                        <a:rPr dirty="0" sz="1800" spc="15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70">
                          <a:latin typeface="Cambria"/>
                          <a:cs typeface="Cambria"/>
                        </a:rPr>
                        <a:t>MANUFACTURER</a:t>
                      </a:r>
                      <a:r>
                        <a:rPr dirty="0" sz="1800" spc="2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INDEX </a:t>
                      </a:r>
                      <a:r>
                        <a:rPr dirty="0" sz="1800" spc="14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BY </a:t>
                      </a:r>
                      <a:r>
                        <a:rPr dirty="0" sz="1800" spc="180">
                          <a:latin typeface="Cambria"/>
                          <a:cs typeface="Cambria"/>
                        </a:rPr>
                        <a:t>RECIPE_ID</a:t>
                      </a:r>
                      <a:r>
                        <a:rPr dirty="0" sz="1800" spc="1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8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r>
                        <a:rPr dirty="0" sz="1800" spc="19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60">
                          <a:latin typeface="Cambria"/>
                          <a:cs typeface="Cambria"/>
                        </a:rPr>
                        <a:t>m.RECIPE_ID=p.RECIPE_ID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-20">
                          <a:latin typeface="Cambria"/>
                          <a:cs typeface="Cambria"/>
                        </a:rPr>
                        <a:t>~100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-25">
                          <a:latin typeface="Cambria"/>
                          <a:cs typeface="Cambria"/>
                        </a:rPr>
                        <a:t>~10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4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MAP</a:t>
                      </a:r>
                      <a:r>
                        <a:rPr dirty="0" sz="1800" spc="17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0">
                          <a:latin typeface="Cambria"/>
                          <a:cs typeface="Cambria"/>
                        </a:rPr>
                        <a:t>(p.WARE,</a:t>
                      </a:r>
                      <a:r>
                        <a:rPr dirty="0" sz="1800" spc="1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latin typeface="Cambria"/>
                          <a:cs typeface="Cambria"/>
                        </a:rPr>
                        <a:t>m.COMPANY)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-25">
                          <a:latin typeface="Cambria"/>
                          <a:cs typeface="Cambria"/>
                        </a:rPr>
                        <a:t>~10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-25">
                          <a:latin typeface="Cambria"/>
                          <a:cs typeface="Cambria"/>
                        </a:rPr>
                        <a:t>~10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12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2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DISTINCT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-25">
                          <a:latin typeface="Cambria"/>
                          <a:cs typeface="Cambria"/>
                        </a:rPr>
                        <a:t>~30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800" spc="80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&gt;</a:t>
                      </a:r>
                      <a:r>
                        <a:rPr dirty="0" sz="1800" spc="1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TAKE</a:t>
                      </a:r>
                      <a:r>
                        <a:rPr dirty="0" sz="1800" spc="195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800" spc="80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800" spc="80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114" b="1">
                          <a:latin typeface="Cambria"/>
                          <a:cs typeface="Cambria"/>
                        </a:rPr>
                        <a:t>TOTAL: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40" b="1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~270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85" b="1"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1142491" y="6076594"/>
            <a:ext cx="720725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25">
                <a:latin typeface="Cambria"/>
                <a:cs typeface="Cambria"/>
              </a:rPr>
              <a:t>That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best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plan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I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have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now.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250">
                <a:latin typeface="Cambria"/>
                <a:cs typeface="Cambria"/>
              </a:rPr>
              <a:t>Can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you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do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it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better?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519407" y="6334455"/>
            <a:ext cx="2266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70" b="1">
                <a:solidFill>
                  <a:srgbClr val="FFFFFF"/>
                </a:solidFill>
                <a:latin typeface="Tahoma"/>
                <a:cs typeface="Tahoma"/>
              </a:rPr>
              <a:t>20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shadow</dc:creator>
  <dc:title>Declarative Programming:  Query Languages</dc:title>
  <dcterms:created xsi:type="dcterms:W3CDTF">2025-05-22T11:41:25Z</dcterms:created>
  <dcterms:modified xsi:type="dcterms:W3CDTF">2025-05-22T11:41:25Z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2025-05-22T00:00:00Z</vt:filetime>
  </property>
  <property fmtid="{D5CDD505-2E9C-101B-9397-08002B2CF9AE}" pid="5" name="Producer">
    <vt:lpwstr>Microsoft® PowerPoint® 2019</vt:lpwstr>
  </property>
</Properties>
</file>