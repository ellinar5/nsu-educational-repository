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1043" y="6230111"/>
            <a:ext cx="457200" cy="457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431523" y="6259067"/>
            <a:ext cx="398145" cy="399415"/>
          </a:xfrm>
          <a:custGeom>
            <a:avLst/>
            <a:gdLst/>
            <a:ahLst/>
            <a:cxnLst/>
            <a:rect l="l" t="t" r="r" b="b"/>
            <a:pathLst>
              <a:path w="398145" h="399415">
                <a:moveTo>
                  <a:pt x="0" y="199643"/>
                </a:moveTo>
                <a:lnTo>
                  <a:pt x="5251" y="153867"/>
                </a:lnTo>
                <a:lnTo>
                  <a:pt x="20211" y="111845"/>
                </a:lnTo>
                <a:lnTo>
                  <a:pt x="43687" y="74776"/>
                </a:lnTo>
                <a:lnTo>
                  <a:pt x="74484" y="43859"/>
                </a:lnTo>
                <a:lnTo>
                  <a:pt x="111411" y="20291"/>
                </a:lnTo>
                <a:lnTo>
                  <a:pt x="153275" y="5272"/>
                </a:lnTo>
                <a:lnTo>
                  <a:pt x="198881" y="0"/>
                </a:lnTo>
                <a:lnTo>
                  <a:pt x="244488" y="5272"/>
                </a:lnTo>
                <a:lnTo>
                  <a:pt x="286352" y="20291"/>
                </a:lnTo>
                <a:lnTo>
                  <a:pt x="323279" y="43859"/>
                </a:lnTo>
                <a:lnTo>
                  <a:pt x="354076" y="74776"/>
                </a:lnTo>
                <a:lnTo>
                  <a:pt x="377552" y="111845"/>
                </a:lnTo>
                <a:lnTo>
                  <a:pt x="392512" y="153867"/>
                </a:lnTo>
                <a:lnTo>
                  <a:pt x="397764" y="199643"/>
                </a:lnTo>
                <a:lnTo>
                  <a:pt x="392512" y="245420"/>
                </a:lnTo>
                <a:lnTo>
                  <a:pt x="377552" y="287442"/>
                </a:lnTo>
                <a:lnTo>
                  <a:pt x="354076" y="324511"/>
                </a:lnTo>
                <a:lnTo>
                  <a:pt x="323279" y="355428"/>
                </a:lnTo>
                <a:lnTo>
                  <a:pt x="286352" y="378996"/>
                </a:lnTo>
                <a:lnTo>
                  <a:pt x="244488" y="394015"/>
                </a:lnTo>
                <a:lnTo>
                  <a:pt x="198881" y="399287"/>
                </a:lnTo>
                <a:lnTo>
                  <a:pt x="153275" y="394015"/>
                </a:lnTo>
                <a:lnTo>
                  <a:pt x="111411" y="378996"/>
                </a:lnTo>
                <a:lnTo>
                  <a:pt x="74484" y="355428"/>
                </a:lnTo>
                <a:lnTo>
                  <a:pt x="43687" y="324511"/>
                </a:lnTo>
                <a:lnTo>
                  <a:pt x="20211" y="287442"/>
                </a:lnTo>
                <a:lnTo>
                  <a:pt x="5251" y="245420"/>
                </a:lnTo>
                <a:lnTo>
                  <a:pt x="0" y="199643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9570" y="1037082"/>
            <a:ext cx="4227487" cy="5673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01043" y="6230111"/>
            <a:ext cx="457200" cy="457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431523" y="6259067"/>
            <a:ext cx="398145" cy="399415"/>
          </a:xfrm>
          <a:custGeom>
            <a:avLst/>
            <a:gdLst/>
            <a:ahLst/>
            <a:cxnLst/>
            <a:rect l="l" t="t" r="r" b="b"/>
            <a:pathLst>
              <a:path w="398145" h="399415">
                <a:moveTo>
                  <a:pt x="0" y="199643"/>
                </a:moveTo>
                <a:lnTo>
                  <a:pt x="5251" y="153867"/>
                </a:lnTo>
                <a:lnTo>
                  <a:pt x="20211" y="111845"/>
                </a:lnTo>
                <a:lnTo>
                  <a:pt x="43687" y="74776"/>
                </a:lnTo>
                <a:lnTo>
                  <a:pt x="74484" y="43859"/>
                </a:lnTo>
                <a:lnTo>
                  <a:pt x="111411" y="20291"/>
                </a:lnTo>
                <a:lnTo>
                  <a:pt x="153275" y="5272"/>
                </a:lnTo>
                <a:lnTo>
                  <a:pt x="198881" y="0"/>
                </a:lnTo>
                <a:lnTo>
                  <a:pt x="244488" y="5272"/>
                </a:lnTo>
                <a:lnTo>
                  <a:pt x="286352" y="20291"/>
                </a:lnTo>
                <a:lnTo>
                  <a:pt x="323279" y="43859"/>
                </a:lnTo>
                <a:lnTo>
                  <a:pt x="354076" y="74776"/>
                </a:lnTo>
                <a:lnTo>
                  <a:pt x="377552" y="111845"/>
                </a:lnTo>
                <a:lnTo>
                  <a:pt x="392512" y="153867"/>
                </a:lnTo>
                <a:lnTo>
                  <a:pt x="397764" y="199643"/>
                </a:lnTo>
                <a:lnTo>
                  <a:pt x="392512" y="245420"/>
                </a:lnTo>
                <a:lnTo>
                  <a:pt x="377552" y="287442"/>
                </a:lnTo>
                <a:lnTo>
                  <a:pt x="354076" y="324511"/>
                </a:lnTo>
                <a:lnTo>
                  <a:pt x="323279" y="355428"/>
                </a:lnTo>
                <a:lnTo>
                  <a:pt x="286352" y="378996"/>
                </a:lnTo>
                <a:lnTo>
                  <a:pt x="244488" y="394015"/>
                </a:lnTo>
                <a:lnTo>
                  <a:pt x="198881" y="399287"/>
                </a:lnTo>
                <a:lnTo>
                  <a:pt x="153275" y="394015"/>
                </a:lnTo>
                <a:lnTo>
                  <a:pt x="111411" y="378996"/>
                </a:lnTo>
                <a:lnTo>
                  <a:pt x="74484" y="355428"/>
                </a:lnTo>
                <a:lnTo>
                  <a:pt x="43687" y="324511"/>
                </a:lnTo>
                <a:lnTo>
                  <a:pt x="20211" y="287442"/>
                </a:lnTo>
                <a:lnTo>
                  <a:pt x="5251" y="245420"/>
                </a:lnTo>
                <a:lnTo>
                  <a:pt x="0" y="199643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2491" y="1937004"/>
            <a:ext cx="9139936" cy="780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67001" y="2968625"/>
            <a:ext cx="8435975" cy="2290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496" y="1347216"/>
            <a:ext cx="10222992" cy="80772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20496" y="1484375"/>
            <a:ext cx="10223500" cy="3665220"/>
            <a:chOff x="920496" y="1484375"/>
            <a:chExt cx="10223500" cy="366522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496" y="4282440"/>
              <a:ext cx="10222992" cy="8077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0496" y="1484375"/>
              <a:ext cx="10222992" cy="366522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9757410" y="4178046"/>
              <a:ext cx="866140" cy="864235"/>
            </a:xfrm>
            <a:custGeom>
              <a:avLst/>
              <a:gdLst/>
              <a:ahLst/>
              <a:cxnLst/>
              <a:rect l="l" t="t" r="r" b="b"/>
              <a:pathLst>
                <a:path w="866140" h="864235">
                  <a:moveTo>
                    <a:pt x="0" y="432053"/>
                  </a:moveTo>
                  <a:lnTo>
                    <a:pt x="2540" y="384974"/>
                  </a:lnTo>
                  <a:lnTo>
                    <a:pt x="9983" y="339363"/>
                  </a:lnTo>
                  <a:lnTo>
                    <a:pt x="22067" y="295485"/>
                  </a:lnTo>
                  <a:lnTo>
                    <a:pt x="38526" y="253603"/>
                  </a:lnTo>
                  <a:lnTo>
                    <a:pt x="59097" y="213980"/>
                  </a:lnTo>
                  <a:lnTo>
                    <a:pt x="83515" y="176881"/>
                  </a:lnTo>
                  <a:lnTo>
                    <a:pt x="111516" y="142568"/>
                  </a:lnTo>
                  <a:lnTo>
                    <a:pt x="142836" y="111305"/>
                  </a:lnTo>
                  <a:lnTo>
                    <a:pt x="177210" y="83356"/>
                  </a:lnTo>
                  <a:lnTo>
                    <a:pt x="214376" y="58984"/>
                  </a:lnTo>
                  <a:lnTo>
                    <a:pt x="254067" y="38452"/>
                  </a:lnTo>
                  <a:lnTo>
                    <a:pt x="296021" y="22024"/>
                  </a:lnTo>
                  <a:lnTo>
                    <a:pt x="339973" y="9964"/>
                  </a:lnTo>
                  <a:lnTo>
                    <a:pt x="385660" y="2535"/>
                  </a:lnTo>
                  <a:lnTo>
                    <a:pt x="432816" y="0"/>
                  </a:lnTo>
                  <a:lnTo>
                    <a:pt x="479971" y="2535"/>
                  </a:lnTo>
                  <a:lnTo>
                    <a:pt x="525658" y="9964"/>
                  </a:lnTo>
                  <a:lnTo>
                    <a:pt x="569610" y="22024"/>
                  </a:lnTo>
                  <a:lnTo>
                    <a:pt x="611564" y="38452"/>
                  </a:lnTo>
                  <a:lnTo>
                    <a:pt x="651255" y="58984"/>
                  </a:lnTo>
                  <a:lnTo>
                    <a:pt x="688421" y="83356"/>
                  </a:lnTo>
                  <a:lnTo>
                    <a:pt x="722795" y="111305"/>
                  </a:lnTo>
                  <a:lnTo>
                    <a:pt x="754115" y="142568"/>
                  </a:lnTo>
                  <a:lnTo>
                    <a:pt x="782116" y="176881"/>
                  </a:lnTo>
                  <a:lnTo>
                    <a:pt x="806534" y="213980"/>
                  </a:lnTo>
                  <a:lnTo>
                    <a:pt x="827105" y="253603"/>
                  </a:lnTo>
                  <a:lnTo>
                    <a:pt x="843564" y="295485"/>
                  </a:lnTo>
                  <a:lnTo>
                    <a:pt x="855648" y="339363"/>
                  </a:lnTo>
                  <a:lnTo>
                    <a:pt x="863092" y="384974"/>
                  </a:lnTo>
                  <a:lnTo>
                    <a:pt x="865632" y="432053"/>
                  </a:lnTo>
                  <a:lnTo>
                    <a:pt x="863092" y="479133"/>
                  </a:lnTo>
                  <a:lnTo>
                    <a:pt x="855648" y="524744"/>
                  </a:lnTo>
                  <a:lnTo>
                    <a:pt x="843564" y="568622"/>
                  </a:lnTo>
                  <a:lnTo>
                    <a:pt x="827105" y="610504"/>
                  </a:lnTo>
                  <a:lnTo>
                    <a:pt x="806534" y="650127"/>
                  </a:lnTo>
                  <a:lnTo>
                    <a:pt x="782116" y="687226"/>
                  </a:lnTo>
                  <a:lnTo>
                    <a:pt x="754115" y="721539"/>
                  </a:lnTo>
                  <a:lnTo>
                    <a:pt x="722795" y="752802"/>
                  </a:lnTo>
                  <a:lnTo>
                    <a:pt x="688421" y="780751"/>
                  </a:lnTo>
                  <a:lnTo>
                    <a:pt x="651255" y="805123"/>
                  </a:lnTo>
                  <a:lnTo>
                    <a:pt x="611564" y="825655"/>
                  </a:lnTo>
                  <a:lnTo>
                    <a:pt x="569610" y="842083"/>
                  </a:lnTo>
                  <a:lnTo>
                    <a:pt x="525658" y="854143"/>
                  </a:lnTo>
                  <a:lnTo>
                    <a:pt x="479971" y="861572"/>
                  </a:lnTo>
                  <a:lnTo>
                    <a:pt x="432816" y="864107"/>
                  </a:lnTo>
                  <a:lnTo>
                    <a:pt x="385660" y="861572"/>
                  </a:lnTo>
                  <a:lnTo>
                    <a:pt x="339973" y="854143"/>
                  </a:lnTo>
                  <a:lnTo>
                    <a:pt x="296021" y="842083"/>
                  </a:lnTo>
                  <a:lnTo>
                    <a:pt x="254067" y="825655"/>
                  </a:lnTo>
                  <a:lnTo>
                    <a:pt x="214376" y="805123"/>
                  </a:lnTo>
                  <a:lnTo>
                    <a:pt x="177210" y="780751"/>
                  </a:lnTo>
                  <a:lnTo>
                    <a:pt x="142836" y="752802"/>
                  </a:lnTo>
                  <a:lnTo>
                    <a:pt x="111516" y="721539"/>
                  </a:lnTo>
                  <a:lnTo>
                    <a:pt x="83515" y="687226"/>
                  </a:lnTo>
                  <a:lnTo>
                    <a:pt x="59097" y="650127"/>
                  </a:lnTo>
                  <a:lnTo>
                    <a:pt x="38526" y="610504"/>
                  </a:lnTo>
                  <a:lnTo>
                    <a:pt x="22067" y="568622"/>
                  </a:lnTo>
                  <a:lnTo>
                    <a:pt x="9983" y="524744"/>
                  </a:lnTo>
                  <a:lnTo>
                    <a:pt x="2539" y="479133"/>
                  </a:lnTo>
                  <a:lnTo>
                    <a:pt x="0" y="43205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8450" y="2064638"/>
              <a:ext cx="7368400" cy="69837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0947" y="2997326"/>
              <a:ext cx="3977919" cy="698373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148588" y="4810505"/>
            <a:ext cx="20567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14" b="1">
                <a:solidFill>
                  <a:srgbClr val="715D71"/>
                </a:solidFill>
                <a:latin typeface="Cambria"/>
                <a:cs typeface="Cambria"/>
              </a:rPr>
              <a:t>Denis</a:t>
            </a:r>
            <a:r>
              <a:rPr dirty="0" sz="2000" spc="225" b="1">
                <a:solidFill>
                  <a:srgbClr val="715D71"/>
                </a:solidFill>
                <a:latin typeface="Cambria"/>
                <a:cs typeface="Cambria"/>
              </a:rPr>
              <a:t> </a:t>
            </a:r>
            <a:r>
              <a:rPr dirty="0" sz="2000" spc="125" b="1">
                <a:solidFill>
                  <a:srgbClr val="715D71"/>
                </a:solidFill>
                <a:latin typeface="Cambria"/>
                <a:cs typeface="Cambria"/>
              </a:rPr>
              <a:t>Miginsky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28700"/>
            <a:ext cx="5205082" cy="46558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1991080"/>
            <a:ext cx="9596120" cy="328739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000" spc="175">
                <a:latin typeface="Cambria"/>
                <a:cs typeface="Cambria"/>
              </a:rPr>
              <a:t>Data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inside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254">
                <a:latin typeface="Cambria"/>
                <a:cs typeface="Cambria"/>
              </a:rPr>
              <a:t>DB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usually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not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read-</a:t>
            </a:r>
            <a:r>
              <a:rPr dirty="0" sz="2000" spc="105">
                <a:latin typeface="Cambria"/>
                <a:cs typeface="Cambria"/>
              </a:rPr>
              <a:t>only.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960"/>
              </a:spcBef>
            </a:pPr>
            <a:r>
              <a:rPr dirty="0" sz="2000" spc="55">
                <a:latin typeface="Cambria"/>
                <a:cs typeface="Cambria"/>
              </a:rPr>
              <a:t>It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appended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(new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65">
                <a:solidFill>
                  <a:srgbClr val="7E7E7E"/>
                </a:solidFill>
                <a:latin typeface="Cambria"/>
                <a:cs typeface="Cambria"/>
              </a:rPr>
              <a:t>rows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can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solidFill>
                  <a:srgbClr val="7E7E7E"/>
                </a:solidFill>
                <a:latin typeface="Cambria"/>
                <a:cs typeface="Cambria"/>
              </a:rPr>
              <a:t>be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solidFill>
                  <a:srgbClr val="7E7E7E"/>
                </a:solidFill>
                <a:latin typeface="Cambria"/>
                <a:cs typeface="Cambria"/>
              </a:rPr>
              <a:t>inserted</a:t>
            </a:r>
            <a:r>
              <a:rPr dirty="0" sz="2000" spc="17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0">
                <a:solidFill>
                  <a:srgbClr val="7E7E7E"/>
                </a:solidFill>
                <a:latin typeface="Cambria"/>
                <a:cs typeface="Cambria"/>
              </a:rPr>
              <a:t>into</a:t>
            </a:r>
            <a:r>
              <a:rPr dirty="0" sz="2000" spc="229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45">
                <a:solidFill>
                  <a:srgbClr val="7E7E7E"/>
                </a:solidFill>
                <a:latin typeface="Cambria"/>
                <a:cs typeface="Cambria"/>
              </a:rPr>
              <a:t>DB)</a:t>
            </a:r>
            <a:r>
              <a:rPr dirty="0" sz="2000" spc="145">
                <a:latin typeface="Cambria"/>
                <a:cs typeface="Cambria"/>
              </a:rPr>
              <a:t>,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updated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65">
                <a:solidFill>
                  <a:srgbClr val="7E7E7E"/>
                </a:solidFill>
                <a:latin typeface="Cambria"/>
                <a:cs typeface="Cambria"/>
              </a:rPr>
              <a:t>(existing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</a:pPr>
            <a:r>
              <a:rPr dirty="0" sz="2000" spc="70">
                <a:solidFill>
                  <a:srgbClr val="7E7E7E"/>
                </a:solidFill>
                <a:latin typeface="Cambria"/>
                <a:cs typeface="Cambria"/>
              </a:rPr>
              <a:t>rows</a:t>
            </a:r>
            <a:r>
              <a:rPr dirty="0" sz="2000" spc="18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can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5">
                <a:solidFill>
                  <a:srgbClr val="7E7E7E"/>
                </a:solidFill>
                <a:latin typeface="Cambria"/>
                <a:cs typeface="Cambria"/>
              </a:rPr>
              <a:t>be</a:t>
            </a:r>
            <a:r>
              <a:rPr dirty="0" sz="2000" spc="18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75">
                <a:solidFill>
                  <a:srgbClr val="7E7E7E"/>
                </a:solidFill>
                <a:latin typeface="Cambria"/>
                <a:cs typeface="Cambria"/>
              </a:rPr>
              <a:t>modified)</a:t>
            </a:r>
            <a:r>
              <a:rPr dirty="0" sz="2000" spc="75">
                <a:latin typeface="Cambria"/>
                <a:cs typeface="Cambria"/>
              </a:rPr>
              <a:t>,</a:t>
            </a:r>
            <a:r>
              <a:rPr dirty="0" sz="2000" spc="15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removed.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114">
                <a:latin typeface="Cambria"/>
                <a:cs typeface="Cambria"/>
              </a:rPr>
              <a:t>In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245">
                <a:latin typeface="Cambria"/>
                <a:cs typeface="Cambria"/>
              </a:rPr>
              <a:t>SQL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75">
                <a:solidFill>
                  <a:srgbClr val="006FC0"/>
                </a:solidFill>
                <a:latin typeface="Cambria"/>
                <a:cs typeface="Cambria"/>
              </a:rPr>
              <a:t>INSERT</a:t>
            </a:r>
            <a:r>
              <a:rPr dirty="0" sz="2000" spc="175">
                <a:latin typeface="Cambria"/>
                <a:cs typeface="Cambria"/>
              </a:rPr>
              <a:t>, </a:t>
            </a:r>
            <a:r>
              <a:rPr dirty="0" sz="2000" spc="180">
                <a:solidFill>
                  <a:srgbClr val="006FC0"/>
                </a:solidFill>
                <a:latin typeface="Cambria"/>
                <a:cs typeface="Cambria"/>
              </a:rPr>
              <a:t>UPDATE</a:t>
            </a:r>
            <a:r>
              <a:rPr dirty="0" sz="2000" spc="180">
                <a:latin typeface="Cambria"/>
                <a:cs typeface="Cambria"/>
              </a:rPr>
              <a:t>,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254">
                <a:solidFill>
                  <a:srgbClr val="006FC0"/>
                </a:solidFill>
                <a:latin typeface="Cambria"/>
                <a:cs typeface="Cambria"/>
              </a:rPr>
              <a:t>MERGE</a:t>
            </a:r>
            <a:r>
              <a:rPr dirty="0" sz="2000" spc="254">
                <a:latin typeface="Cambria"/>
                <a:cs typeface="Cambria"/>
              </a:rPr>
              <a:t>,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204">
                <a:solidFill>
                  <a:srgbClr val="006FC0"/>
                </a:solidFill>
                <a:latin typeface="Cambria"/>
                <a:cs typeface="Cambria"/>
              </a:rPr>
              <a:t>DELETE </a:t>
            </a:r>
            <a:r>
              <a:rPr dirty="0" sz="2000" spc="95">
                <a:latin typeface="Cambria"/>
                <a:cs typeface="Cambria"/>
              </a:rPr>
              <a:t>queries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do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this.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000" spc="130" b="1">
                <a:latin typeface="Cambria"/>
                <a:cs typeface="Cambria"/>
              </a:rPr>
              <a:t>The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75" b="1">
                <a:latin typeface="Cambria"/>
                <a:cs typeface="Cambria"/>
              </a:rPr>
              <a:t>new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75" b="1">
                <a:latin typeface="Cambria"/>
                <a:cs typeface="Cambria"/>
              </a:rPr>
              <a:t>problems: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4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85">
                <a:latin typeface="Cambria"/>
                <a:cs typeface="Cambria"/>
              </a:rPr>
              <a:t>How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keep</a:t>
            </a:r>
            <a:r>
              <a:rPr dirty="0" sz="2000" spc="15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data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consistent</a:t>
            </a:r>
            <a:r>
              <a:rPr dirty="0" sz="2000" spc="170" b="1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state?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85">
                <a:latin typeface="Cambria"/>
                <a:cs typeface="Cambria"/>
              </a:rPr>
              <a:t>How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organize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data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on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disk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drive?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81" y="1028700"/>
            <a:ext cx="3563139" cy="5756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5539" y="1673453"/>
            <a:ext cx="9147810" cy="4409440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2000" spc="75" b="1">
                <a:latin typeface="Cambria"/>
                <a:cs typeface="Cambria"/>
              </a:rPr>
              <a:t>Low-</a:t>
            </a:r>
            <a:r>
              <a:rPr dirty="0" sz="2000" spc="85" b="1">
                <a:latin typeface="Cambria"/>
                <a:cs typeface="Cambria"/>
              </a:rPr>
              <a:t>level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130" b="1">
                <a:latin typeface="Cambria"/>
                <a:cs typeface="Cambria"/>
              </a:rPr>
              <a:t>consistency: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75">
                <a:latin typeface="Cambria"/>
                <a:cs typeface="Cambria"/>
              </a:rPr>
              <a:t>All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values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correspond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their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types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(INT,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65">
                <a:solidFill>
                  <a:srgbClr val="7E7E7E"/>
                </a:solidFill>
                <a:latin typeface="Cambria"/>
                <a:cs typeface="Cambria"/>
              </a:rPr>
              <a:t>TEXT,</a:t>
            </a:r>
            <a:r>
              <a:rPr dirty="0" sz="2000" spc="24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55">
                <a:solidFill>
                  <a:srgbClr val="7E7E7E"/>
                </a:solidFill>
                <a:latin typeface="Cambria"/>
                <a:cs typeface="Cambria"/>
              </a:rPr>
              <a:t>etc.)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ts val="228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75">
                <a:latin typeface="Cambria"/>
                <a:cs typeface="Cambria"/>
              </a:rPr>
              <a:t>All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low-</a:t>
            </a:r>
            <a:r>
              <a:rPr dirty="0" sz="2000" spc="55">
                <a:latin typeface="Cambria"/>
                <a:cs typeface="Cambria"/>
              </a:rPr>
              <a:t>level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data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representation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requirements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met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(like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75">
                <a:solidFill>
                  <a:srgbClr val="7E7E7E"/>
                </a:solidFill>
                <a:latin typeface="Cambria"/>
                <a:cs typeface="Cambria"/>
              </a:rPr>
              <a:t>low/big-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dirty="0" sz="2000" spc="150">
                <a:solidFill>
                  <a:srgbClr val="7E7E7E"/>
                </a:solidFill>
                <a:latin typeface="Cambria"/>
                <a:cs typeface="Cambria"/>
              </a:rPr>
              <a:t>endian,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5">
                <a:solidFill>
                  <a:srgbClr val="7E7E7E"/>
                </a:solidFill>
                <a:latin typeface="Cambria"/>
                <a:cs typeface="Cambria"/>
              </a:rPr>
              <a:t>encoding,</a:t>
            </a:r>
            <a:r>
              <a:rPr dirty="0" sz="2000" spc="16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50">
                <a:solidFill>
                  <a:srgbClr val="7E7E7E"/>
                </a:solidFill>
                <a:latin typeface="Cambria"/>
                <a:cs typeface="Cambria"/>
              </a:rPr>
              <a:t>etc.)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75">
                <a:latin typeface="Cambria"/>
                <a:cs typeface="Cambria"/>
              </a:rPr>
              <a:t>All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references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should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point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to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existing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objects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00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000" spc="120" b="1">
                <a:latin typeface="Cambria"/>
                <a:cs typeface="Cambria"/>
              </a:rPr>
              <a:t>High-</a:t>
            </a:r>
            <a:r>
              <a:rPr dirty="0" sz="2000" spc="85" b="1">
                <a:latin typeface="Cambria"/>
                <a:cs typeface="Cambria"/>
              </a:rPr>
              <a:t>level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 spc="130" b="1">
                <a:latin typeface="Cambria"/>
                <a:cs typeface="Cambria"/>
              </a:rPr>
              <a:t>consistency: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4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75">
                <a:latin typeface="Cambria"/>
                <a:cs typeface="Cambria"/>
              </a:rPr>
              <a:t>All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PKs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unique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75">
                <a:latin typeface="Cambria"/>
                <a:cs typeface="Cambria"/>
              </a:rPr>
              <a:t>All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other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254">
                <a:latin typeface="Cambria"/>
                <a:cs typeface="Cambria"/>
              </a:rPr>
              <a:t>DB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constraints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met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7E7E7E"/>
                </a:solidFill>
                <a:latin typeface="Cambria"/>
                <a:cs typeface="Cambria"/>
              </a:rPr>
              <a:t>(unique,</a:t>
            </a:r>
            <a:r>
              <a:rPr dirty="0" sz="2000" spc="18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45">
                <a:solidFill>
                  <a:srgbClr val="7E7E7E"/>
                </a:solidFill>
                <a:latin typeface="Cambria"/>
                <a:cs typeface="Cambria"/>
              </a:rPr>
              <a:t>non-</a:t>
            </a:r>
            <a:r>
              <a:rPr dirty="0" sz="2000" spc="160">
                <a:solidFill>
                  <a:srgbClr val="7E7E7E"/>
                </a:solidFill>
                <a:latin typeface="Cambria"/>
                <a:cs typeface="Cambria"/>
              </a:rPr>
              <a:t>null,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FK,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55">
                <a:solidFill>
                  <a:srgbClr val="7E7E7E"/>
                </a:solidFill>
                <a:latin typeface="Cambria"/>
                <a:cs typeface="Cambria"/>
              </a:rPr>
              <a:t>etc.)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ts val="228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75">
                <a:latin typeface="Cambria"/>
                <a:cs typeface="Cambria"/>
              </a:rPr>
              <a:t>All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other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domain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constraints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are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met,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even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if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they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cannot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directly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dirty="0" sz="2000" spc="110">
                <a:latin typeface="Cambria"/>
                <a:cs typeface="Cambria"/>
              </a:rPr>
              <a:t>supported</a:t>
            </a:r>
            <a:r>
              <a:rPr dirty="0" sz="2000" spc="15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by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9">
                <a:latin typeface="Cambria"/>
                <a:cs typeface="Cambria"/>
              </a:rPr>
              <a:t> DB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28700"/>
            <a:ext cx="2712072" cy="5756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3011" rIns="0" bIns="0" rtlCol="0" vert="horz">
            <a:spAutoFit/>
          </a:bodyPr>
          <a:lstStyle/>
          <a:p>
            <a:pPr marL="18415" marR="5080">
              <a:lnSpc>
                <a:spcPts val="2160"/>
              </a:lnSpc>
              <a:spcBef>
                <a:spcPts val="375"/>
              </a:spcBef>
            </a:pPr>
            <a:r>
              <a:rPr dirty="0" spc="90" b="1">
                <a:latin typeface="Cambria"/>
                <a:cs typeface="Cambria"/>
              </a:rPr>
              <a:t>Durability</a:t>
            </a:r>
            <a:r>
              <a:rPr dirty="0" spc="210" b="1">
                <a:latin typeface="Cambria"/>
                <a:cs typeface="Cambria"/>
              </a:rPr>
              <a:t> </a:t>
            </a:r>
            <a:r>
              <a:rPr dirty="0"/>
              <a:t>(or</a:t>
            </a:r>
            <a:r>
              <a:rPr dirty="0" spc="210"/>
              <a:t> </a:t>
            </a:r>
            <a:r>
              <a:rPr dirty="0" spc="90"/>
              <a:t>object</a:t>
            </a:r>
            <a:r>
              <a:rPr dirty="0" spc="170"/>
              <a:t> </a:t>
            </a:r>
            <a:r>
              <a:rPr dirty="0" spc="80"/>
              <a:t>persistence)</a:t>
            </a:r>
            <a:r>
              <a:rPr dirty="0" spc="175"/>
              <a:t> </a:t>
            </a:r>
            <a:r>
              <a:rPr dirty="0"/>
              <a:t>–</a:t>
            </a:r>
            <a:r>
              <a:rPr dirty="0" spc="215"/>
              <a:t> </a:t>
            </a:r>
            <a:r>
              <a:rPr dirty="0" spc="114"/>
              <a:t>the</a:t>
            </a:r>
            <a:r>
              <a:rPr dirty="0" spc="204"/>
              <a:t> </a:t>
            </a:r>
            <a:r>
              <a:rPr dirty="0" spc="75"/>
              <a:t>property</a:t>
            </a:r>
            <a:r>
              <a:rPr dirty="0" spc="170"/>
              <a:t> </a:t>
            </a:r>
            <a:r>
              <a:rPr dirty="0"/>
              <a:t>of</a:t>
            </a:r>
            <a:r>
              <a:rPr dirty="0" spc="215"/>
              <a:t> </a:t>
            </a:r>
            <a:r>
              <a:rPr dirty="0" spc="110"/>
              <a:t>the</a:t>
            </a:r>
            <a:r>
              <a:rPr dirty="0" spc="204"/>
              <a:t> </a:t>
            </a:r>
            <a:r>
              <a:rPr dirty="0" spc="140"/>
              <a:t>data</a:t>
            </a:r>
            <a:r>
              <a:rPr dirty="0" spc="200"/>
              <a:t> </a:t>
            </a:r>
            <a:r>
              <a:rPr dirty="0" spc="65"/>
              <a:t>to</a:t>
            </a:r>
            <a:r>
              <a:rPr dirty="0" spc="215"/>
              <a:t> </a:t>
            </a:r>
            <a:r>
              <a:rPr dirty="0" spc="90"/>
              <a:t>survive</a:t>
            </a:r>
            <a:r>
              <a:rPr dirty="0" spc="215"/>
              <a:t> </a:t>
            </a:r>
            <a:r>
              <a:rPr dirty="0" spc="85"/>
              <a:t>the </a:t>
            </a:r>
            <a:r>
              <a:rPr dirty="0" spc="95"/>
              <a:t>restart</a:t>
            </a:r>
            <a:r>
              <a:rPr dirty="0" spc="204"/>
              <a:t> </a:t>
            </a:r>
            <a:r>
              <a:rPr dirty="0"/>
              <a:t>of</a:t>
            </a:r>
            <a:r>
              <a:rPr dirty="0" spc="235"/>
              <a:t> </a:t>
            </a:r>
            <a:r>
              <a:rPr dirty="0" spc="110"/>
              <a:t>the</a:t>
            </a:r>
            <a:r>
              <a:rPr dirty="0" spc="225"/>
              <a:t> </a:t>
            </a:r>
            <a:r>
              <a:rPr dirty="0" spc="75"/>
              <a:t>software</a:t>
            </a:r>
            <a:r>
              <a:rPr dirty="0" spc="220"/>
              <a:t> </a:t>
            </a:r>
            <a:r>
              <a:rPr dirty="0" spc="150"/>
              <a:t>managing</a:t>
            </a:r>
            <a:r>
              <a:rPr dirty="0" spc="215"/>
              <a:t> </a:t>
            </a:r>
            <a:r>
              <a:rPr dirty="0" spc="114"/>
              <a:t>the</a:t>
            </a:r>
            <a:r>
              <a:rPr dirty="0" spc="240"/>
              <a:t> </a:t>
            </a:r>
            <a:r>
              <a:rPr dirty="0" spc="145"/>
              <a:t>data.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48588" y="3125190"/>
            <a:ext cx="9793605" cy="2551430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2000" spc="80" b="1">
                <a:latin typeface="Cambria"/>
                <a:cs typeface="Cambria"/>
              </a:rPr>
              <a:t>Problems:</a:t>
            </a:r>
            <a:endParaRPr sz="2000">
              <a:latin typeface="Cambria"/>
              <a:cs typeface="Cambria"/>
            </a:endParaRPr>
          </a:p>
          <a:p>
            <a:pPr marL="194310" marR="987425" indent="-182245">
              <a:lnSpc>
                <a:spcPts val="2160"/>
              </a:lnSpc>
              <a:spcBef>
                <a:spcPts val="120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75">
                <a:latin typeface="Cambria"/>
                <a:cs typeface="Cambria"/>
              </a:rPr>
              <a:t>Data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could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210">
                <a:latin typeface="Cambria"/>
                <a:cs typeface="Cambria"/>
              </a:rPr>
              <a:t>much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larger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than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RAM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size,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durability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80">
                <a:latin typeface="Cambria"/>
                <a:cs typeface="Cambria"/>
              </a:rPr>
              <a:t>must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be </a:t>
            </a:r>
            <a:r>
              <a:rPr dirty="0" sz="2000" spc="75">
                <a:latin typeface="Cambria"/>
                <a:cs typeface="Cambria"/>
              </a:rPr>
              <a:t>	</a:t>
            </a:r>
            <a:r>
              <a:rPr dirty="0" sz="2000" spc="110">
                <a:latin typeface="Cambria"/>
                <a:cs typeface="Cambria"/>
              </a:rPr>
              <a:t>applicable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fragments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data.</a:t>
            </a:r>
            <a:endParaRPr sz="2000">
              <a:latin typeface="Cambria"/>
              <a:cs typeface="Cambria"/>
            </a:endParaRPr>
          </a:p>
          <a:p>
            <a:pPr marL="195580" indent="-182880">
              <a:lnSpc>
                <a:spcPts val="2280"/>
              </a:lnSpc>
              <a:spcBef>
                <a:spcPts val="93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70">
                <a:latin typeface="Cambria"/>
                <a:cs typeface="Cambria"/>
              </a:rPr>
              <a:t>Data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fragments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80">
                <a:latin typeface="Cambria"/>
                <a:cs typeface="Cambria"/>
              </a:rPr>
              <a:t>must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accessible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separately</a:t>
            </a:r>
            <a:r>
              <a:rPr dirty="0" sz="2000" spc="15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from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each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other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on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disk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dirty="0" sz="2000" spc="90">
                <a:latin typeface="Cambria"/>
                <a:cs typeface="Cambria"/>
              </a:rPr>
              <a:t>drive,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O(1)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complexity</a:t>
            </a:r>
            <a:endParaRPr sz="2000">
              <a:latin typeface="Cambria"/>
              <a:cs typeface="Cambria"/>
            </a:endParaRPr>
          </a:p>
          <a:p>
            <a:pPr marL="194310" marR="5080" indent="-182245">
              <a:lnSpc>
                <a:spcPts val="2170"/>
              </a:lnSpc>
              <a:spcBef>
                <a:spcPts val="122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disk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space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consumption</a:t>
            </a:r>
            <a:r>
              <a:rPr dirty="0" sz="2000" spc="180">
                <a:latin typeface="Cambria"/>
                <a:cs typeface="Cambria"/>
              </a:rPr>
              <a:t> must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close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possible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to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original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data </a:t>
            </a:r>
            <a:r>
              <a:rPr dirty="0" sz="2000" spc="120">
                <a:latin typeface="Cambria"/>
                <a:cs typeface="Cambria"/>
              </a:rPr>
              <a:t>	</a:t>
            </a:r>
            <a:r>
              <a:rPr dirty="0" sz="2000" spc="60">
                <a:latin typeface="Cambria"/>
                <a:cs typeface="Cambria"/>
              </a:rPr>
              <a:t>size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73340" y="3489959"/>
            <a:ext cx="472440" cy="1071880"/>
          </a:xfrm>
          <a:custGeom>
            <a:avLst/>
            <a:gdLst/>
            <a:ahLst/>
            <a:cxnLst/>
            <a:rect l="l" t="t" r="r" b="b"/>
            <a:pathLst>
              <a:path w="472440" h="1071879">
                <a:moveTo>
                  <a:pt x="354329" y="0"/>
                </a:moveTo>
                <a:lnTo>
                  <a:pt x="354329" y="835151"/>
                </a:lnTo>
                <a:lnTo>
                  <a:pt x="472439" y="835151"/>
                </a:lnTo>
                <a:lnTo>
                  <a:pt x="236219" y="1071371"/>
                </a:lnTo>
                <a:lnTo>
                  <a:pt x="0" y="835151"/>
                </a:lnTo>
                <a:lnTo>
                  <a:pt x="118109" y="835151"/>
                </a:lnTo>
                <a:lnTo>
                  <a:pt x="118109" y="0"/>
                </a:lnTo>
                <a:lnTo>
                  <a:pt x="354329" y="0"/>
                </a:lnTo>
                <a:close/>
              </a:path>
            </a:pathLst>
          </a:custGeom>
          <a:ln w="12700">
            <a:solidFill>
              <a:srgbClr val="A44D7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287" y="1048003"/>
            <a:ext cx="1090968" cy="44627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9660" y="1286724"/>
            <a:ext cx="151206" cy="7560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95498" y="1028700"/>
            <a:ext cx="6745732" cy="583946"/>
          </a:xfrm>
          <a:prstGeom prst="rect">
            <a:avLst/>
          </a:prstGeom>
        </p:spPr>
      </p:pic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057402" y="1702561"/>
          <a:ext cx="3347720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9410"/>
                <a:gridCol w="1629410"/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10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19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CLASS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00">
                          <a:latin typeface="Cambria"/>
                          <a:cs typeface="Cambria"/>
                        </a:rPr>
                        <a:t>Meat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70">
                          <a:latin typeface="Cambria"/>
                          <a:cs typeface="Cambria"/>
                        </a:rPr>
                        <a:t>Food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00">
                          <a:latin typeface="Cambria"/>
                          <a:cs typeface="Cambria"/>
                        </a:rPr>
                        <a:t>Meat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Raw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35">
                          <a:latin typeface="Cambria"/>
                          <a:cs typeface="Cambria"/>
                        </a:rPr>
                        <a:t>food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40">
                          <a:latin typeface="Cambria"/>
                          <a:cs typeface="Cambria"/>
                        </a:rPr>
                        <a:t>Steak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70">
                          <a:latin typeface="Cambria"/>
                          <a:cs typeface="Cambria"/>
                        </a:rPr>
                        <a:t>Food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40">
                          <a:latin typeface="Cambria"/>
                          <a:cs typeface="Cambria"/>
                        </a:rPr>
                        <a:t>Steak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Ready</a:t>
                      </a:r>
                      <a:r>
                        <a:rPr dirty="0" sz="1800" spc="1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35">
                          <a:latin typeface="Cambria"/>
                          <a:cs typeface="Cambria"/>
                        </a:rPr>
                        <a:t>food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5256276" y="1898142"/>
          <a:ext cx="5856605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715"/>
                <a:gridCol w="320040"/>
                <a:gridCol w="320040"/>
                <a:gridCol w="320040"/>
                <a:gridCol w="320039"/>
                <a:gridCol w="320039"/>
                <a:gridCol w="320039"/>
                <a:gridCol w="320039"/>
                <a:gridCol w="320039"/>
                <a:gridCol w="320039"/>
                <a:gridCol w="320039"/>
                <a:gridCol w="320039"/>
                <a:gridCol w="320039"/>
                <a:gridCol w="320039"/>
                <a:gridCol w="320039"/>
                <a:gridCol w="320039"/>
                <a:gridCol w="320039"/>
              </a:tblGrid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200" spc="60" b="1">
                          <a:latin typeface="Cambria"/>
                          <a:cs typeface="Cambria"/>
                        </a:rPr>
                        <a:t>0x00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40">
                          <a:latin typeface="Cambria"/>
                          <a:cs typeface="Cambria"/>
                        </a:rPr>
                        <a:t>M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>
                          <a:latin typeface="Cambria"/>
                          <a:cs typeface="Cambria"/>
                        </a:rPr>
                        <a:t>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4">
                          <a:latin typeface="Cambria"/>
                          <a:cs typeface="Cambria"/>
                        </a:rPr>
                        <a:t>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5">
                          <a:latin typeface="Cambria"/>
                          <a:cs typeface="Cambria"/>
                        </a:rPr>
                        <a:t>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800" spc="45">
                          <a:latin typeface="Cambria"/>
                          <a:cs typeface="Cambria"/>
                        </a:rPr>
                        <a:t>\0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127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30">
                          <a:latin typeface="Cambria"/>
                          <a:cs typeface="Cambria"/>
                        </a:rPr>
                        <a:t>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5">
                          <a:latin typeface="Cambria"/>
                          <a:cs typeface="Cambria"/>
                        </a:rPr>
                        <a:t>o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5">
                          <a:latin typeface="Cambria"/>
                          <a:cs typeface="Cambria"/>
                        </a:rPr>
                        <a:t>o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60">
                          <a:latin typeface="Cambria"/>
                          <a:cs typeface="Cambria"/>
                        </a:rPr>
                        <a:t>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800" spc="45">
                          <a:latin typeface="Cambria"/>
                          <a:cs typeface="Cambria"/>
                        </a:rPr>
                        <a:t>\0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127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40">
                          <a:latin typeface="Cambria"/>
                          <a:cs typeface="Cambria"/>
                        </a:rPr>
                        <a:t>M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>
                          <a:latin typeface="Cambria"/>
                          <a:cs typeface="Cambria"/>
                        </a:rPr>
                        <a:t>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4">
                          <a:latin typeface="Cambria"/>
                          <a:cs typeface="Cambria"/>
                        </a:rPr>
                        <a:t>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5">
                          <a:latin typeface="Cambria"/>
                          <a:cs typeface="Cambria"/>
                        </a:rPr>
                        <a:t>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800" spc="45">
                          <a:latin typeface="Cambria"/>
                          <a:cs typeface="Cambria"/>
                        </a:rPr>
                        <a:t>\0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127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25">
                          <a:latin typeface="Cambria"/>
                          <a:cs typeface="Cambria"/>
                        </a:rPr>
                        <a:t>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200" spc="60" b="1">
                          <a:latin typeface="Cambria"/>
                          <a:cs typeface="Cambria"/>
                        </a:rPr>
                        <a:t>0x10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4">
                          <a:latin typeface="Cambria"/>
                          <a:cs typeface="Cambria"/>
                        </a:rPr>
                        <a:t>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-50">
                          <a:latin typeface="Cambria"/>
                          <a:cs typeface="Cambria"/>
                        </a:rPr>
                        <a:t>w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80">
                          <a:latin typeface="Cambria"/>
                          <a:cs typeface="Cambria"/>
                        </a:rPr>
                        <a:t>_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-50">
                          <a:latin typeface="Cambria"/>
                          <a:cs typeface="Cambria"/>
                        </a:rPr>
                        <a:t>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5">
                          <a:latin typeface="Cambria"/>
                          <a:cs typeface="Cambria"/>
                        </a:rPr>
                        <a:t>o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5">
                          <a:latin typeface="Cambria"/>
                          <a:cs typeface="Cambria"/>
                        </a:rPr>
                        <a:t>o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60">
                          <a:latin typeface="Cambria"/>
                          <a:cs typeface="Cambria"/>
                        </a:rPr>
                        <a:t>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800" spc="45">
                          <a:latin typeface="Cambria"/>
                          <a:cs typeface="Cambria"/>
                        </a:rPr>
                        <a:t>\0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127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240">
                          <a:latin typeface="Cambria"/>
                          <a:cs typeface="Cambria"/>
                        </a:rPr>
                        <a:t>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5">
                          <a:latin typeface="Cambria"/>
                          <a:cs typeface="Cambria"/>
                        </a:rPr>
                        <a:t>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>
                          <a:latin typeface="Cambria"/>
                          <a:cs typeface="Cambria"/>
                        </a:rPr>
                        <a:t>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4">
                          <a:latin typeface="Cambria"/>
                          <a:cs typeface="Cambria"/>
                        </a:rPr>
                        <a:t>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k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800" spc="45">
                          <a:latin typeface="Cambria"/>
                          <a:cs typeface="Cambria"/>
                        </a:rPr>
                        <a:t>\0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127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30">
                          <a:latin typeface="Cambria"/>
                          <a:cs typeface="Cambria"/>
                        </a:rPr>
                        <a:t>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5">
                          <a:latin typeface="Cambria"/>
                          <a:cs typeface="Cambria"/>
                        </a:rPr>
                        <a:t>o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200" spc="60" b="1">
                          <a:latin typeface="Cambria"/>
                          <a:cs typeface="Cambria"/>
                        </a:rPr>
                        <a:t>0x20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5">
                          <a:latin typeface="Cambria"/>
                          <a:cs typeface="Cambria"/>
                        </a:rPr>
                        <a:t>o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60">
                          <a:latin typeface="Cambria"/>
                          <a:cs typeface="Cambria"/>
                        </a:rPr>
                        <a:t>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800" spc="45">
                          <a:latin typeface="Cambria"/>
                          <a:cs typeface="Cambria"/>
                        </a:rPr>
                        <a:t>\0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127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250">
                          <a:latin typeface="Cambria"/>
                          <a:cs typeface="Cambria"/>
                        </a:rPr>
                        <a:t>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5">
                          <a:latin typeface="Cambria"/>
                          <a:cs typeface="Cambria"/>
                        </a:rPr>
                        <a:t>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0">
                          <a:latin typeface="Cambria"/>
                          <a:cs typeface="Cambria"/>
                        </a:rPr>
                        <a:t>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4">
                          <a:latin typeface="Cambria"/>
                          <a:cs typeface="Cambria"/>
                        </a:rPr>
                        <a:t>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k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800" spc="45">
                          <a:latin typeface="Cambria"/>
                          <a:cs typeface="Cambria"/>
                        </a:rPr>
                        <a:t>\0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127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25">
                          <a:latin typeface="Cambria"/>
                          <a:cs typeface="Cambria"/>
                        </a:rPr>
                        <a:t>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4">
                          <a:latin typeface="Cambria"/>
                          <a:cs typeface="Cambria"/>
                        </a:rPr>
                        <a:t>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-50">
                          <a:latin typeface="Cambria"/>
                          <a:cs typeface="Cambria"/>
                        </a:rPr>
                        <a:t>w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85">
                          <a:latin typeface="Cambria"/>
                          <a:cs typeface="Cambria"/>
                        </a:rPr>
                        <a:t>_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-50">
                          <a:latin typeface="Cambria"/>
                          <a:cs typeface="Cambria"/>
                        </a:rPr>
                        <a:t>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5">
                          <a:latin typeface="Cambria"/>
                          <a:cs typeface="Cambria"/>
                        </a:rPr>
                        <a:t>o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5">
                          <a:latin typeface="Cambria"/>
                          <a:cs typeface="Cambria"/>
                        </a:rPr>
                        <a:t>o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60" b="1">
                          <a:latin typeface="Cambria"/>
                          <a:cs typeface="Cambria"/>
                        </a:rPr>
                        <a:t>0x30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60">
                          <a:latin typeface="Cambria"/>
                          <a:cs typeface="Cambria"/>
                        </a:rPr>
                        <a:t>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45">
                          <a:latin typeface="Cambria"/>
                          <a:cs typeface="Cambria"/>
                        </a:rPr>
                        <a:t>\0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127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</a:tr>
            </a:tbl>
          </a:graphicData>
        </a:graphic>
      </p:graphicFrame>
      <p:sp>
        <p:nvSpPr>
          <p:cNvPr id="8" name="object 8" descr=""/>
          <p:cNvSpPr/>
          <p:nvPr/>
        </p:nvSpPr>
        <p:spPr>
          <a:xfrm>
            <a:off x="5164835" y="3544823"/>
            <a:ext cx="6096000" cy="646430"/>
          </a:xfrm>
          <a:custGeom>
            <a:avLst/>
            <a:gdLst/>
            <a:ahLst/>
            <a:cxnLst/>
            <a:rect l="l" t="t" r="r" b="b"/>
            <a:pathLst>
              <a:path w="6096000" h="646429">
                <a:moveTo>
                  <a:pt x="6096000" y="0"/>
                </a:moveTo>
                <a:lnTo>
                  <a:pt x="0" y="0"/>
                </a:lnTo>
                <a:lnTo>
                  <a:pt x="0" y="646176"/>
                </a:lnTo>
                <a:lnTo>
                  <a:pt x="6096000" y="646176"/>
                </a:lnTo>
                <a:lnTo>
                  <a:pt x="6096000" y="0"/>
                </a:lnTo>
                <a:close/>
              </a:path>
            </a:pathLst>
          </a:custGeom>
          <a:solidFill>
            <a:srgbClr val="FFFFFF">
              <a:alpha val="7411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244210" y="3555872"/>
            <a:ext cx="47720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6FC0"/>
                </a:solidFill>
                <a:latin typeface="Courier New"/>
                <a:cs typeface="Courier New"/>
              </a:rPr>
              <a:t>UPDATE</a:t>
            </a:r>
            <a:r>
              <a:rPr dirty="0" sz="1800" spc="-8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latin typeface="Courier New"/>
                <a:cs typeface="Courier New"/>
              </a:rPr>
              <a:t>CATEGORY</a:t>
            </a:r>
            <a:r>
              <a:rPr dirty="0" sz="1800" spc="-85"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006FC0"/>
                </a:solidFill>
                <a:latin typeface="Courier New"/>
                <a:cs typeface="Courier New"/>
              </a:rPr>
              <a:t>SET</a:t>
            </a:r>
            <a:r>
              <a:rPr dirty="0" sz="1800" spc="-5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latin typeface="Courier New"/>
                <a:cs typeface="Courier New"/>
              </a:rPr>
              <a:t>CLASS=</a:t>
            </a:r>
            <a:r>
              <a:rPr dirty="0" sz="1800">
                <a:latin typeface="Cambria"/>
                <a:cs typeface="Cambria"/>
              </a:rPr>
              <a:t>'</a:t>
            </a:r>
            <a:r>
              <a:rPr dirty="0" sz="1800">
                <a:latin typeface="Courier New"/>
                <a:cs typeface="Courier New"/>
              </a:rPr>
              <a:t>Any</a:t>
            </a:r>
            <a:r>
              <a:rPr dirty="0" sz="1800" spc="-85">
                <a:latin typeface="Courier New"/>
                <a:cs typeface="Courier New"/>
              </a:rPr>
              <a:t> </a:t>
            </a:r>
            <a:r>
              <a:rPr dirty="0" sz="1800" spc="-10">
                <a:latin typeface="Courier New"/>
                <a:cs typeface="Courier New"/>
              </a:rPr>
              <a:t>food</a:t>
            </a:r>
            <a:r>
              <a:rPr dirty="0" sz="1800" spc="-10">
                <a:latin typeface="Cambria"/>
                <a:cs typeface="Cambria"/>
              </a:rPr>
              <a:t>' </a:t>
            </a:r>
            <a:r>
              <a:rPr dirty="0" sz="18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1800" spc="-6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latin typeface="Courier New"/>
                <a:cs typeface="Courier New"/>
              </a:rPr>
              <a:t>CLASS=</a:t>
            </a:r>
            <a:r>
              <a:rPr dirty="0" sz="1800" spc="-10">
                <a:latin typeface="Cambria"/>
                <a:cs typeface="Cambria"/>
              </a:rPr>
              <a:t>'</a:t>
            </a:r>
            <a:r>
              <a:rPr dirty="0" sz="1800" spc="-10">
                <a:latin typeface="Courier New"/>
                <a:cs typeface="Courier New"/>
              </a:rPr>
              <a:t>Food</a:t>
            </a:r>
            <a:r>
              <a:rPr dirty="0" sz="1800" spc="-10">
                <a:latin typeface="Cambria"/>
                <a:cs typeface="Cambria"/>
              </a:rPr>
              <a:t>'</a:t>
            </a:r>
            <a:endParaRPr sz="1800">
              <a:latin typeface="Cambria"/>
              <a:cs typeface="Cambria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5256276" y="4675632"/>
          <a:ext cx="5856605" cy="1462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715"/>
                <a:gridCol w="320040"/>
                <a:gridCol w="320040"/>
                <a:gridCol w="320040"/>
                <a:gridCol w="320039"/>
                <a:gridCol w="320039"/>
                <a:gridCol w="320039"/>
                <a:gridCol w="320039"/>
                <a:gridCol w="320039"/>
                <a:gridCol w="320039"/>
                <a:gridCol w="320039"/>
                <a:gridCol w="320039"/>
                <a:gridCol w="320039"/>
                <a:gridCol w="320039"/>
                <a:gridCol w="320039"/>
                <a:gridCol w="320039"/>
                <a:gridCol w="320039"/>
              </a:tblGrid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200" spc="60" b="1">
                          <a:latin typeface="Cambria"/>
                          <a:cs typeface="Cambria"/>
                        </a:rPr>
                        <a:t>0x00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40">
                          <a:latin typeface="Cambria"/>
                          <a:cs typeface="Cambria"/>
                        </a:rPr>
                        <a:t>M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latin typeface="Cambria"/>
                          <a:cs typeface="Cambria"/>
                        </a:rPr>
                        <a:t>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4">
                          <a:latin typeface="Cambria"/>
                          <a:cs typeface="Cambria"/>
                        </a:rPr>
                        <a:t>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5">
                          <a:latin typeface="Cambria"/>
                          <a:cs typeface="Cambria"/>
                        </a:rPr>
                        <a:t>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800" spc="45">
                          <a:latin typeface="Cambria"/>
                          <a:cs typeface="Cambria"/>
                        </a:rPr>
                        <a:t>\0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190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A44D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A44D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A44D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A44D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A44D7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40">
                          <a:latin typeface="Cambria"/>
                          <a:cs typeface="Cambria"/>
                        </a:rPr>
                        <a:t>M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latin typeface="Cambria"/>
                          <a:cs typeface="Cambria"/>
                        </a:rPr>
                        <a:t>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4">
                          <a:latin typeface="Cambria"/>
                          <a:cs typeface="Cambria"/>
                        </a:rPr>
                        <a:t>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5">
                          <a:latin typeface="Cambria"/>
                          <a:cs typeface="Cambria"/>
                        </a:rPr>
                        <a:t>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800" spc="45">
                          <a:latin typeface="Cambria"/>
                          <a:cs typeface="Cambria"/>
                        </a:rPr>
                        <a:t>\0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190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25">
                          <a:latin typeface="Cambria"/>
                          <a:cs typeface="Cambria"/>
                        </a:rPr>
                        <a:t>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200" spc="60" b="1">
                          <a:latin typeface="Cambria"/>
                          <a:cs typeface="Cambria"/>
                        </a:rPr>
                        <a:t>0x10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4">
                          <a:latin typeface="Cambria"/>
                          <a:cs typeface="Cambria"/>
                        </a:rPr>
                        <a:t>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50">
                          <a:latin typeface="Cambria"/>
                          <a:cs typeface="Cambria"/>
                        </a:rPr>
                        <a:t>w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80">
                          <a:latin typeface="Cambria"/>
                          <a:cs typeface="Cambria"/>
                        </a:rPr>
                        <a:t>_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50">
                          <a:latin typeface="Cambria"/>
                          <a:cs typeface="Cambria"/>
                        </a:rPr>
                        <a:t>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5">
                          <a:latin typeface="Cambria"/>
                          <a:cs typeface="Cambria"/>
                        </a:rPr>
                        <a:t>o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5">
                          <a:latin typeface="Cambria"/>
                          <a:cs typeface="Cambria"/>
                        </a:rPr>
                        <a:t>o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60">
                          <a:latin typeface="Cambria"/>
                          <a:cs typeface="Cambria"/>
                        </a:rPr>
                        <a:t>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800" spc="45">
                          <a:latin typeface="Cambria"/>
                          <a:cs typeface="Cambria"/>
                        </a:rPr>
                        <a:t>\0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190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240">
                          <a:latin typeface="Cambria"/>
                          <a:cs typeface="Cambria"/>
                        </a:rPr>
                        <a:t>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5">
                          <a:latin typeface="Cambria"/>
                          <a:cs typeface="Cambria"/>
                        </a:rPr>
                        <a:t>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latin typeface="Cambria"/>
                          <a:cs typeface="Cambria"/>
                        </a:rPr>
                        <a:t>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4">
                          <a:latin typeface="Cambria"/>
                          <a:cs typeface="Cambria"/>
                        </a:rPr>
                        <a:t>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k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800" spc="45">
                          <a:latin typeface="Cambria"/>
                          <a:cs typeface="Cambria"/>
                        </a:rPr>
                        <a:t>\0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190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A44D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A44D7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60" b="1">
                          <a:latin typeface="Cambria"/>
                          <a:cs typeface="Cambria"/>
                        </a:rPr>
                        <a:t>0x20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A44D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A44D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A44D7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240">
                          <a:latin typeface="Cambria"/>
                          <a:cs typeface="Cambria"/>
                        </a:rPr>
                        <a:t>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5">
                          <a:latin typeface="Cambria"/>
                          <a:cs typeface="Cambria"/>
                        </a:rPr>
                        <a:t>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latin typeface="Cambria"/>
                          <a:cs typeface="Cambria"/>
                        </a:rPr>
                        <a:t>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4">
                          <a:latin typeface="Cambria"/>
                          <a:cs typeface="Cambria"/>
                        </a:rPr>
                        <a:t>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k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800" spc="45">
                          <a:latin typeface="Cambria"/>
                          <a:cs typeface="Cambria"/>
                        </a:rPr>
                        <a:t>\0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190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25">
                          <a:latin typeface="Cambria"/>
                          <a:cs typeface="Cambria"/>
                        </a:rPr>
                        <a:t>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4">
                          <a:latin typeface="Cambria"/>
                          <a:cs typeface="Cambria"/>
                        </a:rPr>
                        <a:t>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50">
                          <a:latin typeface="Cambria"/>
                          <a:cs typeface="Cambria"/>
                        </a:rPr>
                        <a:t>w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80">
                          <a:latin typeface="Cambria"/>
                          <a:cs typeface="Cambria"/>
                        </a:rPr>
                        <a:t>_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50">
                          <a:latin typeface="Cambria"/>
                          <a:cs typeface="Cambria"/>
                        </a:rPr>
                        <a:t>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5">
                          <a:latin typeface="Cambria"/>
                          <a:cs typeface="Cambria"/>
                        </a:rPr>
                        <a:t>o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5">
                          <a:latin typeface="Cambria"/>
                          <a:cs typeface="Cambria"/>
                        </a:rPr>
                        <a:t>o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EBEBDC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60" b="1">
                          <a:latin typeface="Cambria"/>
                          <a:cs typeface="Cambria"/>
                        </a:rPr>
                        <a:t>0x30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60">
                          <a:latin typeface="Cambria"/>
                          <a:cs typeface="Cambria"/>
                        </a:rPr>
                        <a:t>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800" spc="45">
                          <a:latin typeface="Cambria"/>
                          <a:cs typeface="Cambria"/>
                        </a:rPr>
                        <a:t>\0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1905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792"/>
                      </a:solidFill>
                      <a:prstDash val="solid"/>
                    </a:lnL>
                    <a:lnR w="12700">
                      <a:solidFill>
                        <a:srgbClr val="CCC792"/>
                      </a:solidFill>
                      <a:prstDash val="solid"/>
                    </a:lnR>
                    <a:lnT w="12700">
                      <a:solidFill>
                        <a:srgbClr val="CCC792"/>
                      </a:solidFill>
                      <a:prstDash val="solid"/>
                    </a:lnT>
                    <a:lnB w="12700">
                      <a:solidFill>
                        <a:srgbClr val="CCC792"/>
                      </a:solidFill>
                      <a:prstDash val="solid"/>
                    </a:lnB>
                    <a:solidFill>
                      <a:srgbClr val="F6F5ED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10148316" y="3829811"/>
            <a:ext cx="1562100" cy="323215"/>
          </a:xfrm>
          <a:prstGeom prst="rect">
            <a:avLst/>
          </a:prstGeom>
          <a:solidFill>
            <a:srgbClr val="A44D74"/>
          </a:solidFill>
          <a:ln w="12700">
            <a:solidFill>
              <a:srgbClr val="783652"/>
            </a:solidFill>
          </a:ln>
        </p:spPr>
        <p:txBody>
          <a:bodyPr wrap="square" lIns="0" tIns="15875" rIns="0" bIns="0" rtlCol="0" vert="horz">
            <a:spAutoFit/>
          </a:bodyPr>
          <a:lstStyle/>
          <a:p>
            <a:pPr marL="294640">
              <a:lnSpc>
                <a:spcPct val="100000"/>
              </a:lnSpc>
              <a:spcBef>
                <a:spcPts val="125"/>
              </a:spcBef>
            </a:pPr>
            <a:r>
              <a:rPr dirty="0" sz="1800" spc="105">
                <a:solidFill>
                  <a:srgbClr val="FFFFFF"/>
                </a:solidFill>
                <a:latin typeface="Cambria"/>
                <a:cs typeface="Cambria"/>
              </a:rPr>
              <a:t>Any</a:t>
            </a:r>
            <a:r>
              <a:rPr dirty="0" sz="18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35">
                <a:solidFill>
                  <a:srgbClr val="FFFFFF"/>
                </a:solidFill>
                <a:latin typeface="Cambria"/>
                <a:cs typeface="Cambria"/>
              </a:rPr>
              <a:t>food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8146542" y="3974083"/>
            <a:ext cx="3295650" cy="1246505"/>
          </a:xfrm>
          <a:custGeom>
            <a:avLst/>
            <a:gdLst/>
            <a:ahLst/>
            <a:cxnLst/>
            <a:rect l="l" t="t" r="r" b="b"/>
            <a:pathLst>
              <a:path w="3295650" h="1246504">
                <a:moveTo>
                  <a:pt x="2008759" y="36068"/>
                </a:moveTo>
                <a:lnTo>
                  <a:pt x="1996440" y="0"/>
                </a:lnTo>
                <a:lnTo>
                  <a:pt x="101815" y="653681"/>
                </a:lnTo>
                <a:lnTo>
                  <a:pt x="89408" y="617728"/>
                </a:lnTo>
                <a:lnTo>
                  <a:pt x="0" y="709041"/>
                </a:lnTo>
                <a:lnTo>
                  <a:pt x="126746" y="725805"/>
                </a:lnTo>
                <a:lnTo>
                  <a:pt x="116433" y="695960"/>
                </a:lnTo>
                <a:lnTo>
                  <a:pt x="114274" y="689749"/>
                </a:lnTo>
                <a:lnTo>
                  <a:pt x="2008759" y="36068"/>
                </a:lnTo>
                <a:close/>
              </a:path>
              <a:path w="3295650" h="1246504">
                <a:moveTo>
                  <a:pt x="3295650" y="186182"/>
                </a:moveTo>
                <a:lnTo>
                  <a:pt x="3259836" y="172974"/>
                </a:lnTo>
                <a:lnTo>
                  <a:pt x="2906522" y="1132535"/>
                </a:lnTo>
                <a:lnTo>
                  <a:pt x="2870835" y="1119378"/>
                </a:lnTo>
                <a:lnTo>
                  <a:pt x="2884932" y="1246378"/>
                </a:lnTo>
                <a:lnTo>
                  <a:pt x="2973019" y="1163574"/>
                </a:lnTo>
                <a:lnTo>
                  <a:pt x="2978023" y="1158875"/>
                </a:lnTo>
                <a:lnTo>
                  <a:pt x="2942298" y="1145717"/>
                </a:lnTo>
                <a:lnTo>
                  <a:pt x="3295650" y="186182"/>
                </a:lnTo>
                <a:close/>
              </a:path>
            </a:pathLst>
          </a:custGeom>
          <a:solidFill>
            <a:srgbClr val="A44D7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457700" y="2394204"/>
            <a:ext cx="707390" cy="472440"/>
          </a:xfrm>
          <a:custGeom>
            <a:avLst/>
            <a:gdLst/>
            <a:ahLst/>
            <a:cxnLst/>
            <a:rect l="l" t="t" r="r" b="b"/>
            <a:pathLst>
              <a:path w="707389" h="472439">
                <a:moveTo>
                  <a:pt x="0" y="118110"/>
                </a:moveTo>
                <a:lnTo>
                  <a:pt x="470915" y="118110"/>
                </a:lnTo>
                <a:lnTo>
                  <a:pt x="470915" y="0"/>
                </a:lnTo>
                <a:lnTo>
                  <a:pt x="707136" y="236220"/>
                </a:lnTo>
                <a:lnTo>
                  <a:pt x="470915" y="472440"/>
                </a:lnTo>
                <a:lnTo>
                  <a:pt x="470915" y="354330"/>
                </a:lnTo>
                <a:lnTo>
                  <a:pt x="0" y="354330"/>
                </a:lnTo>
                <a:lnTo>
                  <a:pt x="0" y="118110"/>
                </a:lnTo>
                <a:close/>
              </a:path>
            </a:pathLst>
          </a:custGeom>
          <a:ln w="12700">
            <a:solidFill>
              <a:srgbClr val="A44D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312216" y="4408373"/>
            <a:ext cx="3815715" cy="1461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 sz="2000" spc="165" b="1">
                <a:latin typeface="Cambria"/>
                <a:cs typeface="Cambria"/>
              </a:rPr>
              <a:t>Q: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How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to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organize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data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</a:pPr>
            <a:r>
              <a:rPr dirty="0" sz="2000" spc="105">
                <a:latin typeface="Cambria"/>
                <a:cs typeface="Cambria"/>
              </a:rPr>
              <a:t>memory?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80" b="1">
                <a:latin typeface="Cambria"/>
                <a:cs typeface="Cambria"/>
              </a:rPr>
              <a:t>Problem: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fragmentation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2000" spc="80" b="1">
                <a:latin typeface="Cambria"/>
                <a:cs typeface="Cambria"/>
              </a:rPr>
              <a:t>Problem:</a:t>
            </a:r>
            <a:r>
              <a:rPr dirty="0" sz="2000" spc="200" b="1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access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complexity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7963" y="1028700"/>
            <a:ext cx="6409143" cy="5756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112391"/>
            <a:ext cx="9766935" cy="3867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 sz="2000" spc="145">
                <a:latin typeface="Cambria"/>
                <a:cs typeface="Cambria"/>
              </a:rPr>
              <a:t>Even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original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data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204">
                <a:latin typeface="Cambria"/>
                <a:cs typeface="Cambria"/>
              </a:rPr>
              <a:t>much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larger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than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RAM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size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cannot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fit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it.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</a:pPr>
            <a:r>
              <a:rPr dirty="0" sz="2000" spc="145">
                <a:latin typeface="Cambria"/>
                <a:cs typeface="Cambria"/>
              </a:rPr>
              <a:t>And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additional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indices,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intermediate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results,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etc.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445">
                <a:latin typeface="Cambria"/>
                <a:cs typeface="Cambria"/>
              </a:rPr>
              <a:t>…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960"/>
              </a:spcBef>
            </a:pPr>
            <a:r>
              <a:rPr dirty="0" sz="2000" spc="240">
                <a:latin typeface="Cambria"/>
                <a:cs typeface="Cambria"/>
              </a:rPr>
              <a:t>On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other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hand,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RAM</a:t>
            </a:r>
            <a:r>
              <a:rPr dirty="0" sz="2000" spc="180">
                <a:latin typeface="Cambria"/>
                <a:cs typeface="Cambria"/>
              </a:rPr>
              <a:t> must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be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used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80">
                <a:latin typeface="Cambria"/>
                <a:cs typeface="Cambria"/>
              </a:rPr>
              <a:t>as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204">
                <a:latin typeface="Cambria"/>
                <a:cs typeface="Cambria"/>
              </a:rPr>
              <a:t>much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80">
                <a:latin typeface="Cambria"/>
                <a:cs typeface="Cambria"/>
              </a:rPr>
              <a:t>as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possible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due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to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</a:pPr>
            <a:r>
              <a:rPr dirty="0" sz="2000" spc="105">
                <a:latin typeface="Cambria"/>
                <a:cs typeface="Cambria"/>
              </a:rPr>
              <a:t>significantly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higher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performance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comparison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disk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drive.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0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85" b="1">
                <a:latin typeface="Cambria"/>
                <a:cs typeface="Cambria"/>
              </a:rPr>
              <a:t>Problem:</a:t>
            </a:r>
            <a:r>
              <a:rPr dirty="0" sz="2000" spc="190" b="1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what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shall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put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into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memory?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000" spc="120" b="1">
                <a:latin typeface="Cambria"/>
                <a:cs typeface="Cambria"/>
              </a:rPr>
              <a:t>Solutions: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20">
                <a:latin typeface="Cambria"/>
                <a:cs typeface="Cambria"/>
              </a:rPr>
              <a:t>Laziness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intermediate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results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where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possible</a:t>
            </a:r>
            <a:endParaRPr sz="2000">
              <a:latin typeface="Cambria"/>
              <a:cs typeface="Cambria"/>
            </a:endParaRPr>
          </a:p>
          <a:p>
            <a:pPr marL="195580" indent="-182880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95">
                <a:latin typeface="Cambria"/>
                <a:cs typeface="Cambria"/>
              </a:rPr>
              <a:t>Different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caching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strategies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initial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other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durable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data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81" y="1037082"/>
            <a:ext cx="3843555" cy="567308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638928" y="2310129"/>
          <a:ext cx="2262505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6485"/>
                <a:gridCol w="1086485"/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0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9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CLASS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00">
                          <a:latin typeface="Cambria"/>
                          <a:cs typeface="Cambria"/>
                        </a:rPr>
                        <a:t>Meat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70">
                          <a:latin typeface="Cambria"/>
                          <a:cs typeface="Cambria"/>
                        </a:rPr>
                        <a:t>Food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40">
                          <a:latin typeface="Cambria"/>
                          <a:cs typeface="Cambria"/>
                        </a:rPr>
                        <a:t>Steak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70">
                          <a:latin typeface="Cambria"/>
                          <a:cs typeface="Cambria"/>
                        </a:rPr>
                        <a:t>Food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063752" y="1909572"/>
            <a:ext cx="1836420" cy="573405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54659" marR="410209" indent="-38100">
              <a:lnSpc>
                <a:spcPct val="100600"/>
              </a:lnSpc>
            </a:pPr>
            <a:r>
              <a:rPr dirty="0" sz="1800" spc="90">
                <a:solidFill>
                  <a:srgbClr val="FFFFFF"/>
                </a:solidFill>
                <a:latin typeface="Cambria"/>
                <a:cs typeface="Cambria"/>
              </a:rPr>
              <a:t>Thread1: </a:t>
            </a:r>
            <a:r>
              <a:rPr dirty="0" sz="1800" spc="195">
                <a:solidFill>
                  <a:srgbClr val="FFFFFF"/>
                </a:solidFill>
                <a:latin typeface="Cambria"/>
                <a:cs typeface="Cambria"/>
              </a:rPr>
              <a:t>SELECT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77300" y="1909572"/>
            <a:ext cx="1836420" cy="573405"/>
          </a:xfrm>
          <a:prstGeom prst="rect"/>
          <a:solidFill>
            <a:srgbClr val="A44D74"/>
          </a:solidFill>
          <a:ln w="12700">
            <a:solidFill>
              <a:srgbClr val="78365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37515" marR="372745" indent="-56515">
              <a:lnSpc>
                <a:spcPct val="100600"/>
              </a:lnSpc>
            </a:pPr>
            <a:r>
              <a:rPr dirty="0" sz="1800" spc="100">
                <a:solidFill>
                  <a:srgbClr val="FFFFFF"/>
                </a:solidFill>
              </a:rPr>
              <a:t>Thread</a:t>
            </a:r>
            <a:r>
              <a:rPr dirty="0" sz="1800" spc="185">
                <a:solidFill>
                  <a:srgbClr val="FFFFFF"/>
                </a:solidFill>
              </a:rPr>
              <a:t> </a:t>
            </a:r>
            <a:r>
              <a:rPr dirty="0" sz="1800" spc="75">
                <a:solidFill>
                  <a:srgbClr val="FFFFFF"/>
                </a:solidFill>
              </a:rPr>
              <a:t>2: </a:t>
            </a:r>
            <a:r>
              <a:rPr dirty="0" sz="1800" spc="145">
                <a:solidFill>
                  <a:srgbClr val="FFFFFF"/>
                </a:solidFill>
              </a:rPr>
              <a:t>UPDATE</a:t>
            </a:r>
            <a:endParaRPr sz="1800"/>
          </a:p>
        </p:txBody>
      </p:sp>
      <p:sp>
        <p:nvSpPr>
          <p:cNvPr id="6" name="object 6" descr=""/>
          <p:cNvSpPr/>
          <p:nvPr/>
        </p:nvSpPr>
        <p:spPr>
          <a:xfrm>
            <a:off x="1983485" y="2483357"/>
            <a:ext cx="0" cy="2956560"/>
          </a:xfrm>
          <a:custGeom>
            <a:avLst/>
            <a:gdLst/>
            <a:ahLst/>
            <a:cxnLst/>
            <a:rect l="l" t="t" r="r" b="b"/>
            <a:pathLst>
              <a:path w="0" h="2956560">
                <a:moveTo>
                  <a:pt x="0" y="0"/>
                </a:moveTo>
                <a:lnTo>
                  <a:pt x="0" y="2956432"/>
                </a:lnTo>
              </a:path>
            </a:pathLst>
          </a:custGeom>
          <a:ln w="25400">
            <a:solidFill>
              <a:srgbClr val="6E818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4638928" y="4040251"/>
          <a:ext cx="237744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9500"/>
                <a:gridCol w="1209039"/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14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4D7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204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CLASS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4D74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05">
                          <a:latin typeface="Cambria"/>
                          <a:cs typeface="Cambria"/>
                        </a:rPr>
                        <a:t>Meat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D0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05">
                          <a:latin typeface="Cambria"/>
                          <a:cs typeface="Cambria"/>
                        </a:rPr>
                        <a:t>Any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35">
                          <a:latin typeface="Cambria"/>
                          <a:cs typeface="Cambria"/>
                        </a:rPr>
                        <a:t>food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D0D5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40">
                          <a:latin typeface="Cambria"/>
                          <a:cs typeface="Cambria"/>
                        </a:rPr>
                        <a:t>Steak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9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05">
                          <a:latin typeface="Cambria"/>
                          <a:cs typeface="Cambria"/>
                        </a:rPr>
                        <a:t>Any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35">
                          <a:latin typeface="Cambria"/>
                          <a:cs typeface="Cambria"/>
                        </a:rPr>
                        <a:t>food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9EB"/>
                    </a:solidFill>
                  </a:tcPr>
                </a:tc>
              </a:tr>
            </a:tbl>
          </a:graphicData>
        </a:graphic>
      </p:graphicFrame>
      <p:grpSp>
        <p:nvGrpSpPr>
          <p:cNvPr id="8" name="object 8" descr=""/>
          <p:cNvGrpSpPr/>
          <p:nvPr/>
        </p:nvGrpSpPr>
        <p:grpSpPr>
          <a:xfrm>
            <a:off x="6819138" y="2470657"/>
            <a:ext cx="3020060" cy="3604260"/>
            <a:chOff x="6819138" y="2470657"/>
            <a:chExt cx="3020060" cy="3604260"/>
          </a:xfrm>
        </p:grpSpPr>
        <p:sp>
          <p:nvSpPr>
            <p:cNvPr id="9" name="object 9" descr=""/>
            <p:cNvSpPr/>
            <p:nvPr/>
          </p:nvSpPr>
          <p:spPr>
            <a:xfrm>
              <a:off x="9818370" y="2483357"/>
              <a:ext cx="8255" cy="3578860"/>
            </a:xfrm>
            <a:custGeom>
              <a:avLst/>
              <a:gdLst/>
              <a:ahLst/>
              <a:cxnLst/>
              <a:rect l="l" t="t" r="r" b="b"/>
              <a:pathLst>
                <a:path w="8254" h="3578860">
                  <a:moveTo>
                    <a:pt x="7747" y="0"/>
                  </a:moveTo>
                  <a:lnTo>
                    <a:pt x="0" y="3578542"/>
                  </a:lnTo>
                </a:path>
              </a:pathLst>
            </a:custGeom>
            <a:ln w="2540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819138" y="3062477"/>
              <a:ext cx="3007360" cy="76200"/>
            </a:xfrm>
            <a:custGeom>
              <a:avLst/>
              <a:gdLst/>
              <a:ahLst/>
              <a:cxnLst/>
              <a:rect l="l" t="t" r="r" b="b"/>
              <a:pathLst>
                <a:path w="300735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3007359" h="7620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3007359" h="76200">
                  <a:moveTo>
                    <a:pt x="3006979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3006979" y="50800"/>
                  </a:lnTo>
                  <a:lnTo>
                    <a:pt x="3006979" y="2540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/>
          <p:nvPr/>
        </p:nvSpPr>
        <p:spPr>
          <a:xfrm>
            <a:off x="6163817" y="3429761"/>
            <a:ext cx="76200" cy="617855"/>
          </a:xfrm>
          <a:custGeom>
            <a:avLst/>
            <a:gdLst/>
            <a:ahLst/>
            <a:cxnLst/>
            <a:rect l="l" t="t" r="r" b="b"/>
            <a:pathLst>
              <a:path w="76200" h="617854">
                <a:moveTo>
                  <a:pt x="25400" y="541401"/>
                </a:moveTo>
                <a:lnTo>
                  <a:pt x="0" y="541401"/>
                </a:lnTo>
                <a:lnTo>
                  <a:pt x="38100" y="617601"/>
                </a:lnTo>
                <a:lnTo>
                  <a:pt x="69850" y="554101"/>
                </a:lnTo>
                <a:lnTo>
                  <a:pt x="25400" y="554101"/>
                </a:lnTo>
                <a:lnTo>
                  <a:pt x="25400" y="541401"/>
                </a:lnTo>
                <a:close/>
              </a:path>
              <a:path w="76200" h="617854">
                <a:moveTo>
                  <a:pt x="50800" y="0"/>
                </a:moveTo>
                <a:lnTo>
                  <a:pt x="25400" y="0"/>
                </a:lnTo>
                <a:lnTo>
                  <a:pt x="25400" y="554101"/>
                </a:lnTo>
                <a:lnTo>
                  <a:pt x="50800" y="554101"/>
                </a:lnTo>
                <a:lnTo>
                  <a:pt x="50800" y="0"/>
                </a:lnTo>
                <a:close/>
              </a:path>
              <a:path w="76200" h="617854">
                <a:moveTo>
                  <a:pt x="76200" y="541401"/>
                </a:moveTo>
                <a:lnTo>
                  <a:pt x="50800" y="541401"/>
                </a:lnTo>
                <a:lnTo>
                  <a:pt x="50800" y="554101"/>
                </a:lnTo>
                <a:lnTo>
                  <a:pt x="69850" y="554101"/>
                </a:lnTo>
                <a:lnTo>
                  <a:pt x="76200" y="541401"/>
                </a:lnTo>
                <a:close/>
              </a:path>
            </a:pathLst>
          </a:custGeom>
          <a:solidFill>
            <a:srgbClr val="A44D7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905128" y="2844545"/>
            <a:ext cx="3749675" cy="3723004"/>
            <a:chOff x="905128" y="2844545"/>
            <a:chExt cx="3749675" cy="3723004"/>
          </a:xfrm>
        </p:grpSpPr>
        <p:sp>
          <p:nvSpPr>
            <p:cNvPr id="13" name="object 13" descr=""/>
            <p:cNvSpPr/>
            <p:nvPr/>
          </p:nvSpPr>
          <p:spPr>
            <a:xfrm>
              <a:off x="1983486" y="2844545"/>
              <a:ext cx="2670810" cy="2144395"/>
            </a:xfrm>
            <a:custGeom>
              <a:avLst/>
              <a:gdLst/>
              <a:ahLst/>
              <a:cxnLst/>
              <a:rect l="l" t="t" r="r" b="b"/>
              <a:pathLst>
                <a:path w="2670810" h="2144395">
                  <a:moveTo>
                    <a:pt x="2670810" y="2106168"/>
                  </a:moveTo>
                  <a:lnTo>
                    <a:pt x="2645410" y="2093468"/>
                  </a:lnTo>
                  <a:lnTo>
                    <a:pt x="2594610" y="2068068"/>
                  </a:lnTo>
                  <a:lnTo>
                    <a:pt x="2594610" y="2093468"/>
                  </a:lnTo>
                  <a:lnTo>
                    <a:pt x="0" y="2093468"/>
                  </a:lnTo>
                  <a:lnTo>
                    <a:pt x="0" y="2118868"/>
                  </a:lnTo>
                  <a:lnTo>
                    <a:pt x="2594610" y="2118868"/>
                  </a:lnTo>
                  <a:lnTo>
                    <a:pt x="2594610" y="2144268"/>
                  </a:lnTo>
                  <a:lnTo>
                    <a:pt x="2645410" y="2118868"/>
                  </a:lnTo>
                  <a:lnTo>
                    <a:pt x="2670810" y="2106168"/>
                  </a:lnTo>
                  <a:close/>
                </a:path>
                <a:path w="2670810" h="2144395">
                  <a:moveTo>
                    <a:pt x="2670810" y="38100"/>
                  </a:moveTo>
                  <a:lnTo>
                    <a:pt x="2645410" y="25400"/>
                  </a:lnTo>
                  <a:lnTo>
                    <a:pt x="2594610" y="0"/>
                  </a:lnTo>
                  <a:lnTo>
                    <a:pt x="2594610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2594610" y="50800"/>
                  </a:lnTo>
                  <a:lnTo>
                    <a:pt x="2594610" y="76200"/>
                  </a:lnTo>
                  <a:lnTo>
                    <a:pt x="2645410" y="50800"/>
                  </a:lnTo>
                  <a:lnTo>
                    <a:pt x="2670810" y="38100"/>
                  </a:lnTo>
                  <a:close/>
                </a:path>
              </a:pathLst>
            </a:custGeom>
            <a:solidFill>
              <a:srgbClr val="6E81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990725" y="5441950"/>
              <a:ext cx="0" cy="1125220"/>
            </a:xfrm>
            <a:custGeom>
              <a:avLst/>
              <a:gdLst/>
              <a:ahLst/>
              <a:cxnLst/>
              <a:rect l="l" t="t" r="r" b="b"/>
              <a:pathLst>
                <a:path w="0" h="1125220">
                  <a:moveTo>
                    <a:pt x="0" y="0"/>
                  </a:moveTo>
                  <a:lnTo>
                    <a:pt x="0" y="112522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05128" y="5819139"/>
              <a:ext cx="2301240" cy="0"/>
            </a:xfrm>
            <a:custGeom>
              <a:avLst/>
              <a:gdLst/>
              <a:ahLst/>
              <a:cxnLst/>
              <a:rect l="l" t="t" r="r" b="b"/>
              <a:pathLst>
                <a:path w="2301240" h="0">
                  <a:moveTo>
                    <a:pt x="0" y="0"/>
                  </a:moveTo>
                  <a:lnTo>
                    <a:pt x="2300986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05128" y="5441950"/>
              <a:ext cx="2301240" cy="1125220"/>
            </a:xfrm>
            <a:custGeom>
              <a:avLst/>
              <a:gdLst/>
              <a:ahLst/>
              <a:cxnLst/>
              <a:rect l="l" t="t" r="r" b="b"/>
              <a:pathLst>
                <a:path w="2301240" h="1125220">
                  <a:moveTo>
                    <a:pt x="0" y="748030"/>
                  </a:moveTo>
                  <a:lnTo>
                    <a:pt x="2300986" y="748030"/>
                  </a:lnTo>
                </a:path>
                <a:path w="2301240" h="1125220">
                  <a:moveTo>
                    <a:pt x="6350" y="0"/>
                  </a:moveTo>
                  <a:lnTo>
                    <a:pt x="6350" y="1125220"/>
                  </a:lnTo>
                </a:path>
                <a:path w="2301240" h="1125220">
                  <a:moveTo>
                    <a:pt x="2294636" y="0"/>
                  </a:moveTo>
                  <a:lnTo>
                    <a:pt x="2294636" y="1125220"/>
                  </a:lnTo>
                </a:path>
                <a:path w="2301240" h="1125220">
                  <a:moveTo>
                    <a:pt x="0" y="6350"/>
                  </a:moveTo>
                  <a:lnTo>
                    <a:pt x="2300986" y="6350"/>
                  </a:lnTo>
                </a:path>
                <a:path w="2301240" h="1125220">
                  <a:moveTo>
                    <a:pt x="0" y="1118870"/>
                  </a:moveTo>
                  <a:lnTo>
                    <a:pt x="2300986" y="111887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917828" y="5454650"/>
            <a:ext cx="1059815" cy="345440"/>
          </a:xfrm>
          <a:prstGeom prst="rect">
            <a:avLst/>
          </a:prstGeom>
          <a:solidFill>
            <a:srgbClr val="939C6B"/>
          </a:solidFill>
        </p:spPr>
        <p:txBody>
          <a:bodyPr wrap="square" lIns="0" tIns="33019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259"/>
              </a:spcBef>
            </a:pPr>
            <a:r>
              <a:rPr dirty="0" sz="1800" spc="100" b="1">
                <a:solidFill>
                  <a:srgbClr val="FFFFFF"/>
                </a:solidFill>
                <a:latin typeface="Cambria"/>
                <a:cs typeface="Cambria"/>
              </a:rPr>
              <a:t>WARE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989835" y="5454650"/>
            <a:ext cx="1203960" cy="345440"/>
          </a:xfrm>
          <a:prstGeom prst="rect">
            <a:avLst/>
          </a:prstGeom>
          <a:solidFill>
            <a:srgbClr val="939C6B"/>
          </a:solidFill>
        </p:spPr>
        <p:txBody>
          <a:bodyPr wrap="square" lIns="0" tIns="33019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dirty="0" sz="1800" spc="195" b="1">
                <a:solidFill>
                  <a:srgbClr val="FFFFFF"/>
                </a:solidFill>
                <a:latin typeface="Cambria"/>
                <a:cs typeface="Cambria"/>
              </a:rPr>
              <a:t>CLASS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17828" y="5838190"/>
            <a:ext cx="1059815" cy="345440"/>
          </a:xfrm>
          <a:prstGeom prst="rect">
            <a:avLst/>
          </a:prstGeom>
          <a:solidFill>
            <a:srgbClr val="DCDED3"/>
          </a:solidFill>
        </p:spPr>
        <p:txBody>
          <a:bodyPr wrap="square" lIns="0" tIns="1841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45"/>
              </a:spcBef>
            </a:pPr>
            <a:r>
              <a:rPr dirty="0" sz="1800" spc="100">
                <a:latin typeface="Cambria"/>
                <a:cs typeface="Cambria"/>
              </a:rPr>
              <a:t>Meat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989835" y="5838190"/>
            <a:ext cx="1203960" cy="345440"/>
          </a:xfrm>
          <a:prstGeom prst="rect">
            <a:avLst/>
          </a:prstGeom>
          <a:solidFill>
            <a:srgbClr val="DCDED3"/>
          </a:solidFill>
        </p:spPr>
        <p:txBody>
          <a:bodyPr wrap="square" lIns="0" tIns="1841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145"/>
              </a:spcBef>
            </a:pPr>
            <a:r>
              <a:rPr dirty="0" sz="1800" spc="70">
                <a:latin typeface="Cambria"/>
                <a:cs typeface="Cambria"/>
              </a:rPr>
              <a:t>Food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11478" y="6189979"/>
            <a:ext cx="1072515" cy="370840"/>
          </a:xfrm>
          <a:prstGeom prst="rect">
            <a:avLst/>
          </a:prstGeom>
          <a:solidFill>
            <a:srgbClr val="EEEEEB"/>
          </a:solidFill>
          <a:ln w="12700">
            <a:solidFill>
              <a:srgbClr val="FFFFFF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800" spc="140">
                <a:latin typeface="Cambria"/>
                <a:cs typeface="Cambria"/>
              </a:rPr>
              <a:t>Steak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983485" y="6189979"/>
            <a:ext cx="1216660" cy="370840"/>
          </a:xfrm>
          <a:prstGeom prst="rect">
            <a:avLst/>
          </a:prstGeom>
          <a:solidFill>
            <a:srgbClr val="EEEEEB"/>
          </a:solidFill>
          <a:ln w="12700">
            <a:solidFill>
              <a:srgbClr val="FFFFFF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300"/>
              </a:spcBef>
            </a:pPr>
            <a:r>
              <a:rPr dirty="0" sz="1800" spc="105">
                <a:latin typeface="Cambria"/>
                <a:cs typeface="Cambria"/>
              </a:rPr>
              <a:t>Any</a:t>
            </a:r>
            <a:r>
              <a:rPr dirty="0" sz="1800" spc="180">
                <a:latin typeface="Cambria"/>
                <a:cs typeface="Cambria"/>
              </a:rPr>
              <a:t> </a:t>
            </a:r>
            <a:r>
              <a:rPr dirty="0" sz="1800" spc="35">
                <a:latin typeface="Cambria"/>
                <a:cs typeface="Cambria"/>
              </a:rPr>
              <a:t>food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081273" y="2561082"/>
            <a:ext cx="12782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30">
                <a:latin typeface="Cambria"/>
                <a:cs typeface="Cambria"/>
              </a:rPr>
              <a:t>Read</a:t>
            </a:r>
            <a:r>
              <a:rPr dirty="0" sz="1800" spc="22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row</a:t>
            </a:r>
            <a:r>
              <a:rPr dirty="0" sz="1800" spc="21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110864" y="4618482"/>
            <a:ext cx="12782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30">
                <a:latin typeface="Cambria"/>
                <a:cs typeface="Cambria"/>
              </a:rPr>
              <a:t>Read</a:t>
            </a:r>
            <a:r>
              <a:rPr dirty="0" sz="1800" spc="220">
                <a:latin typeface="Cambria"/>
                <a:cs typeface="Cambria"/>
              </a:rPr>
              <a:t> </a:t>
            </a:r>
            <a:r>
              <a:rPr dirty="0" sz="1800">
                <a:latin typeface="Cambria"/>
                <a:cs typeface="Cambria"/>
              </a:rPr>
              <a:t>row</a:t>
            </a:r>
            <a:r>
              <a:rPr dirty="0" sz="1800" spc="21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590790" y="2799969"/>
            <a:ext cx="1168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25">
                <a:latin typeface="Cambria"/>
                <a:cs typeface="Cambria"/>
              </a:rPr>
              <a:t>Update</a:t>
            </a:r>
            <a:r>
              <a:rPr dirty="0" sz="1800" spc="195">
                <a:latin typeface="Cambria"/>
                <a:cs typeface="Cambria"/>
              </a:rPr>
              <a:t> </a:t>
            </a:r>
            <a:r>
              <a:rPr dirty="0" sz="1800" spc="60">
                <a:latin typeface="Cambria"/>
                <a:cs typeface="Cambria"/>
              </a:rPr>
              <a:t>all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252978" y="5983935"/>
            <a:ext cx="23729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14" b="1">
                <a:solidFill>
                  <a:srgbClr val="FF0000"/>
                </a:solidFill>
                <a:latin typeface="Cambria"/>
                <a:cs typeface="Cambria"/>
              </a:rPr>
              <a:t>Inconsistent</a:t>
            </a:r>
            <a:r>
              <a:rPr dirty="0" sz="1800" spc="275" b="1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65" b="1">
                <a:solidFill>
                  <a:srgbClr val="FF0000"/>
                </a:solidFill>
                <a:latin typeface="Cambria"/>
                <a:cs typeface="Cambria"/>
              </a:rPr>
              <a:t>result!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133" y="1028700"/>
            <a:ext cx="3603383" cy="46558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3011" rIns="0" bIns="0" rtlCol="0" vert="horz">
            <a:spAutoFit/>
          </a:bodyPr>
          <a:lstStyle/>
          <a:p>
            <a:pPr marL="18415" marR="5080">
              <a:lnSpc>
                <a:spcPts val="2160"/>
              </a:lnSpc>
              <a:spcBef>
                <a:spcPts val="375"/>
              </a:spcBef>
            </a:pPr>
            <a:r>
              <a:rPr dirty="0" spc="140" b="1">
                <a:latin typeface="Cambria"/>
                <a:cs typeface="Cambria"/>
              </a:rPr>
              <a:t>A</a:t>
            </a:r>
            <a:r>
              <a:rPr dirty="0" spc="240" b="1">
                <a:latin typeface="Cambria"/>
                <a:cs typeface="Cambria"/>
              </a:rPr>
              <a:t> </a:t>
            </a:r>
            <a:r>
              <a:rPr dirty="0" spc="120" b="1">
                <a:latin typeface="Cambria"/>
                <a:cs typeface="Cambria"/>
              </a:rPr>
              <a:t>transaction</a:t>
            </a:r>
            <a:r>
              <a:rPr dirty="0" spc="195" b="1">
                <a:latin typeface="Cambria"/>
                <a:cs typeface="Cambria"/>
              </a:rPr>
              <a:t> </a:t>
            </a:r>
            <a:r>
              <a:rPr dirty="0" spc="120"/>
              <a:t>in</a:t>
            </a:r>
            <a:r>
              <a:rPr dirty="0" spc="215"/>
              <a:t> </a:t>
            </a:r>
            <a:r>
              <a:rPr dirty="0" spc="100"/>
              <a:t>general</a:t>
            </a:r>
            <a:r>
              <a:rPr dirty="0" spc="190"/>
              <a:t> </a:t>
            </a:r>
            <a:r>
              <a:rPr dirty="0" spc="110"/>
              <a:t>is</a:t>
            </a:r>
            <a:r>
              <a:rPr dirty="0" spc="195"/>
              <a:t> </a:t>
            </a:r>
            <a:r>
              <a:rPr dirty="0" spc="185"/>
              <a:t>a</a:t>
            </a:r>
            <a:r>
              <a:rPr dirty="0" spc="220"/>
              <a:t> </a:t>
            </a:r>
            <a:r>
              <a:rPr dirty="0" spc="110"/>
              <a:t>group</a:t>
            </a:r>
            <a:r>
              <a:rPr dirty="0" spc="190"/>
              <a:t> </a:t>
            </a:r>
            <a:r>
              <a:rPr dirty="0"/>
              <a:t>of</a:t>
            </a:r>
            <a:r>
              <a:rPr dirty="0" spc="220"/>
              <a:t> </a:t>
            </a:r>
            <a:r>
              <a:rPr dirty="0" spc="100"/>
              <a:t>operations</a:t>
            </a:r>
            <a:r>
              <a:rPr dirty="0" spc="185"/>
              <a:t> </a:t>
            </a:r>
            <a:r>
              <a:rPr dirty="0" spc="135"/>
              <a:t>that</a:t>
            </a:r>
            <a:r>
              <a:rPr dirty="0" spc="220"/>
              <a:t> </a:t>
            </a:r>
            <a:r>
              <a:rPr dirty="0" spc="85"/>
              <a:t>either</a:t>
            </a:r>
            <a:r>
              <a:rPr dirty="0" spc="180"/>
              <a:t> </a:t>
            </a:r>
            <a:r>
              <a:rPr dirty="0" spc="135"/>
              <a:t>shall</a:t>
            </a:r>
            <a:r>
              <a:rPr dirty="0" spc="210"/>
              <a:t> </a:t>
            </a:r>
            <a:r>
              <a:rPr dirty="0" spc="75"/>
              <a:t>be </a:t>
            </a:r>
            <a:r>
              <a:rPr dirty="0" spc="95"/>
              <a:t>completed</a:t>
            </a:r>
            <a:r>
              <a:rPr dirty="0" spc="165"/>
              <a:t> </a:t>
            </a:r>
            <a:r>
              <a:rPr dirty="0" spc="75"/>
              <a:t>entirely</a:t>
            </a:r>
            <a:r>
              <a:rPr dirty="0" spc="185"/>
              <a:t> </a:t>
            </a:r>
            <a:r>
              <a:rPr dirty="0" spc="55"/>
              <a:t>or</a:t>
            </a:r>
            <a:r>
              <a:rPr dirty="0" spc="215"/>
              <a:t> </a:t>
            </a:r>
            <a:r>
              <a:rPr dirty="0" spc="125"/>
              <a:t>nothing</a:t>
            </a:r>
            <a:r>
              <a:rPr dirty="0" spc="220"/>
              <a:t> </a:t>
            </a:r>
            <a:r>
              <a:rPr dirty="0" spc="140"/>
              <a:t>shall</a:t>
            </a:r>
            <a:r>
              <a:rPr dirty="0" spc="215"/>
              <a:t> </a:t>
            </a:r>
            <a:r>
              <a:rPr dirty="0" spc="95"/>
              <a:t>be</a:t>
            </a:r>
            <a:r>
              <a:rPr dirty="0" spc="190"/>
              <a:t> </a:t>
            </a:r>
            <a:r>
              <a:rPr dirty="0" spc="95"/>
              <a:t>completed</a:t>
            </a:r>
            <a:r>
              <a:rPr dirty="0" spc="175"/>
              <a:t> </a:t>
            </a:r>
            <a:r>
              <a:rPr dirty="0" spc="130"/>
              <a:t>at</a:t>
            </a:r>
            <a:r>
              <a:rPr dirty="0" spc="210"/>
              <a:t> </a:t>
            </a:r>
            <a:r>
              <a:rPr dirty="0" spc="114"/>
              <a:t>all.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48588" y="3125190"/>
            <a:ext cx="9813290" cy="2976880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2000" spc="85" b="1">
                <a:latin typeface="Cambria"/>
                <a:cs typeface="Cambria"/>
              </a:rPr>
              <a:t>Properties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105" b="1">
                <a:latin typeface="Cambria"/>
                <a:cs typeface="Cambria"/>
              </a:rPr>
              <a:t>of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 spc="120" b="1">
                <a:latin typeface="Cambria"/>
                <a:cs typeface="Cambria"/>
              </a:rPr>
              <a:t>transactions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55" b="1">
                <a:latin typeface="Cambria"/>
                <a:cs typeface="Cambria"/>
              </a:rPr>
              <a:t>(ACID):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50" b="1">
                <a:latin typeface="Cambria"/>
                <a:cs typeface="Cambria"/>
              </a:rPr>
              <a:t>Atomicity</a:t>
            </a:r>
            <a:r>
              <a:rPr dirty="0" sz="2000" spc="21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all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operations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transaction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work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single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unit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ts val="228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55" b="1">
                <a:latin typeface="Cambria"/>
                <a:cs typeface="Cambria"/>
              </a:rPr>
              <a:t>Consistency</a:t>
            </a:r>
            <a:r>
              <a:rPr dirty="0" sz="2000" spc="20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transaction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shall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bring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system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one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consistent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state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dirty="0" sz="2000" spc="60">
                <a:latin typeface="Cambria"/>
                <a:cs typeface="Cambria"/>
              </a:rPr>
              <a:t>to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another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one</a:t>
            </a:r>
            <a:endParaRPr sz="2000">
              <a:latin typeface="Cambria"/>
              <a:cs typeface="Cambria"/>
            </a:endParaRPr>
          </a:p>
          <a:p>
            <a:pPr marL="194310" marR="80645" indent="-182245">
              <a:lnSpc>
                <a:spcPts val="2160"/>
              </a:lnSpc>
              <a:spcBef>
                <a:spcPts val="12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05" b="1">
                <a:latin typeface="Cambria"/>
                <a:cs typeface="Cambria"/>
              </a:rPr>
              <a:t>Isolation</a:t>
            </a:r>
            <a:r>
              <a:rPr dirty="0" sz="2000" spc="185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effect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some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4" b="1">
                <a:latin typeface="Cambria"/>
                <a:cs typeface="Cambria"/>
              </a:rPr>
              <a:t>concurrent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transactions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shall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equivalent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35">
                <a:latin typeface="Cambria"/>
                <a:cs typeface="Cambria"/>
              </a:rPr>
              <a:t>to </a:t>
            </a:r>
            <a:r>
              <a:rPr dirty="0" sz="2000" spc="35">
                <a:latin typeface="Cambria"/>
                <a:cs typeface="Cambria"/>
              </a:rPr>
              <a:t>	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application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them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sequential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way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(in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some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45">
                <a:latin typeface="Cambria"/>
                <a:cs typeface="Cambria"/>
              </a:rPr>
              <a:t>order).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ts val="2280"/>
              </a:lnSpc>
              <a:spcBef>
                <a:spcPts val="92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85" b="1">
                <a:latin typeface="Cambria"/>
                <a:cs typeface="Cambria"/>
              </a:rPr>
              <a:t>Durability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80">
                <a:latin typeface="Cambria"/>
                <a:cs typeface="Cambria"/>
              </a:rPr>
              <a:t>as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before.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This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property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essential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265">
                <a:latin typeface="Cambria"/>
                <a:cs typeface="Cambria"/>
              </a:rPr>
              <a:t>DB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transactions,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but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dirty="0" sz="2000" spc="100">
                <a:latin typeface="Cambria"/>
                <a:cs typeface="Cambria"/>
              </a:rPr>
              <a:t>optional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general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case.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1028700"/>
            <a:ext cx="3729812" cy="465582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130172" y="2087626"/>
          <a:ext cx="10382885" cy="3844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7175"/>
                <a:gridCol w="3676650"/>
                <a:gridCol w="3819525"/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4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Pros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2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Cons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8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Normalization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6225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13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Reduces</a:t>
                      </a:r>
                      <a:r>
                        <a:rPr dirty="0" sz="1800" spc="1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redundancy,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usually </a:t>
                      </a:r>
                      <a:r>
                        <a:rPr dirty="0" sz="1800" spc="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improves</a:t>
                      </a:r>
                      <a:r>
                        <a:rPr dirty="0" sz="1800" spc="15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performance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54940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12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Sometimes</a:t>
                      </a:r>
                      <a:r>
                        <a:rPr dirty="0" sz="1800" spc="1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reduces </a:t>
                      </a:r>
                      <a:r>
                        <a:rPr dirty="0" sz="1800" spc="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performance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</a:tr>
              <a:tr h="913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0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Indices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Improves</a:t>
                      </a:r>
                      <a:r>
                        <a:rPr dirty="0" sz="1800" spc="15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performance</a:t>
                      </a:r>
                      <a:r>
                        <a:rPr dirty="0" sz="1800" spc="16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2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800" spc="1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SELECTs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20395">
                        <a:lnSpc>
                          <a:spcPct val="100299"/>
                        </a:lnSpc>
                        <a:spcBef>
                          <a:spcPts val="275"/>
                        </a:spcBef>
                      </a:pPr>
                      <a:r>
                        <a:rPr dirty="0" sz="1800" spc="13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Reduces</a:t>
                      </a:r>
                      <a:r>
                        <a:rPr dirty="0" sz="1800" spc="17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800" spc="1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modification </a:t>
                      </a:r>
                      <a:r>
                        <a:rPr dirty="0" sz="1800" spc="10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performance,</a:t>
                      </a:r>
                      <a:r>
                        <a:rPr dirty="0" sz="1800" spc="17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more</a:t>
                      </a:r>
                      <a:r>
                        <a:rPr dirty="0" sz="1800" spc="17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complex </a:t>
                      </a:r>
                      <a:r>
                        <a:rPr dirty="0" sz="1800" spc="12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maintenance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0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Advanced</a:t>
                      </a:r>
                      <a:r>
                        <a:rPr dirty="0" sz="1800" spc="24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algorithms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Improves</a:t>
                      </a:r>
                      <a:r>
                        <a:rPr dirty="0" sz="1800" spc="14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performance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334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Limited</a:t>
                      </a:r>
                      <a:r>
                        <a:rPr dirty="0" sz="1800" spc="18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functionality,</a:t>
                      </a:r>
                      <a:r>
                        <a:rPr dirty="0" sz="1800" spc="21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5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makes</a:t>
                      </a:r>
                      <a:r>
                        <a:rPr dirty="0" sz="1800" spc="19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the </a:t>
                      </a:r>
                      <a:r>
                        <a:rPr dirty="0" sz="1800" spc="11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planner</a:t>
                      </a:r>
                      <a:r>
                        <a:rPr dirty="0" sz="1800" spc="17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5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AI</a:t>
                      </a:r>
                      <a:r>
                        <a:rPr dirty="0" sz="1800" spc="1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more</a:t>
                      </a:r>
                      <a:r>
                        <a:rPr dirty="0" sz="1800" spc="17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complex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Database</a:t>
                      </a:r>
                      <a:r>
                        <a:rPr dirty="0" sz="1800" spc="23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4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statistics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Helps</a:t>
                      </a:r>
                      <a:r>
                        <a:rPr dirty="0" sz="1800" spc="16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800" spc="2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query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planner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1087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14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Makes</a:t>
                      </a:r>
                      <a:r>
                        <a:rPr dirty="0" sz="1800" spc="17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800" spc="19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planner</a:t>
                      </a:r>
                      <a:r>
                        <a:rPr dirty="0" sz="1800" spc="17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5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AI</a:t>
                      </a:r>
                      <a:r>
                        <a:rPr dirty="0" sz="1800" spc="19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5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much </a:t>
                      </a:r>
                      <a:r>
                        <a:rPr dirty="0" sz="1800" spc="8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more</a:t>
                      </a:r>
                      <a:r>
                        <a:rPr dirty="0" sz="1800" spc="18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complex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 spc="9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Transactions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9591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1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Essential</a:t>
                      </a:r>
                      <a:r>
                        <a:rPr dirty="0" sz="1800" spc="24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dirty="0" sz="1800" spc="24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consistency</a:t>
                      </a:r>
                      <a:r>
                        <a:rPr dirty="0" sz="1800" spc="24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and </a:t>
                      </a:r>
                      <a:r>
                        <a:rPr dirty="0" sz="1800" spc="10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concurrency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4963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12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Complex</a:t>
                      </a:r>
                      <a:r>
                        <a:rPr dirty="0" sz="1800" spc="1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implementation, </a:t>
                      </a:r>
                      <a:r>
                        <a:rPr dirty="0" sz="1800" spc="114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reduces</a:t>
                      </a:r>
                      <a:r>
                        <a:rPr dirty="0" sz="1800" spc="17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performance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7550" y="3351352"/>
            <a:ext cx="9128760" cy="10318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 spc="240">
                <a:solidFill>
                  <a:srgbClr val="C00000"/>
                </a:solidFill>
              </a:rPr>
              <a:t>Artificial</a:t>
            </a:r>
            <a:r>
              <a:rPr dirty="0" sz="6600" spc="660">
                <a:solidFill>
                  <a:srgbClr val="C00000"/>
                </a:solidFill>
              </a:rPr>
              <a:t> </a:t>
            </a:r>
            <a:r>
              <a:rPr dirty="0" sz="6600" spc="240">
                <a:solidFill>
                  <a:srgbClr val="C00000"/>
                </a:solidFill>
              </a:rPr>
              <a:t>intelligence!!!</a:t>
            </a:r>
            <a:endParaRPr sz="6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019" y="1028700"/>
            <a:ext cx="7058025" cy="46558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427955"/>
            <a:ext cx="9895205" cy="3557270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2000" spc="130" b="1">
                <a:latin typeface="Cambria"/>
                <a:cs typeface="Cambria"/>
              </a:rPr>
              <a:t>The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60" b="1">
                <a:latin typeface="Cambria"/>
                <a:cs typeface="Cambria"/>
              </a:rPr>
              <a:t>most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95" b="1">
                <a:latin typeface="Cambria"/>
                <a:cs typeface="Cambria"/>
              </a:rPr>
              <a:t>notable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105" b="1">
                <a:latin typeface="Cambria"/>
                <a:cs typeface="Cambria"/>
              </a:rPr>
              <a:t>data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models: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4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05">
                <a:latin typeface="Cambria"/>
                <a:cs typeface="Cambria"/>
              </a:rPr>
              <a:t>Relational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10">
                <a:latin typeface="Cambria"/>
                <a:cs typeface="Cambria"/>
              </a:rPr>
              <a:t>Key-</a:t>
            </a:r>
            <a:r>
              <a:rPr dirty="0" sz="2000" spc="105">
                <a:latin typeface="Cambria"/>
                <a:cs typeface="Cambria"/>
              </a:rPr>
              <a:t>value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10">
                <a:latin typeface="Cambria"/>
                <a:cs typeface="Cambria"/>
              </a:rPr>
              <a:t>Hierarchical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75">
                <a:latin typeface="Cambria"/>
                <a:cs typeface="Cambria"/>
              </a:rPr>
              <a:t>Graph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sz="2000">
              <a:latin typeface="Cambria"/>
              <a:cs typeface="Cambria"/>
            </a:endParaRPr>
          </a:p>
          <a:p>
            <a:pPr marL="12700" marR="5080">
              <a:lnSpc>
                <a:spcPct val="90000"/>
              </a:lnSpc>
            </a:pPr>
            <a:r>
              <a:rPr dirty="0" sz="2000" spc="140" b="1">
                <a:latin typeface="Cambria"/>
                <a:cs typeface="Cambria"/>
              </a:rPr>
              <a:t>They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55" b="1">
                <a:latin typeface="Cambria"/>
                <a:cs typeface="Cambria"/>
              </a:rPr>
              <a:t>are</a:t>
            </a:r>
            <a:r>
              <a:rPr dirty="0" sz="2000" spc="254" b="1">
                <a:latin typeface="Cambria"/>
                <a:cs typeface="Cambria"/>
              </a:rPr>
              <a:t> </a:t>
            </a:r>
            <a:r>
              <a:rPr dirty="0" sz="2000" spc="105" b="1">
                <a:latin typeface="Cambria"/>
                <a:cs typeface="Cambria"/>
              </a:rPr>
              <a:t>equivalent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145" b="1">
                <a:latin typeface="Cambria"/>
                <a:cs typeface="Cambria"/>
              </a:rPr>
              <a:t>to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 spc="130" b="1">
                <a:latin typeface="Cambria"/>
                <a:cs typeface="Cambria"/>
              </a:rPr>
              <a:t>each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110" b="1">
                <a:latin typeface="Cambria"/>
                <a:cs typeface="Cambria"/>
              </a:rPr>
              <a:t>other:</a:t>
            </a:r>
            <a:r>
              <a:rPr dirty="0" sz="2000" spc="19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if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data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represented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one </a:t>
            </a:r>
            <a:r>
              <a:rPr dirty="0" sz="2000" spc="120">
                <a:latin typeface="Cambria"/>
                <a:cs typeface="Cambria"/>
              </a:rPr>
              <a:t>model,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be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converted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any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other.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However,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convenience,</a:t>
            </a:r>
            <a:r>
              <a:rPr dirty="0" sz="2000" spc="15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redundancy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efficiency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could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vary.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70" y="1037082"/>
            <a:ext cx="4402493" cy="45986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561945"/>
            <a:ext cx="9260840" cy="2278380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2000" spc="120" b="1">
                <a:latin typeface="Cambria"/>
                <a:cs typeface="Cambria"/>
              </a:rPr>
              <a:t>Main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130" b="1">
                <a:latin typeface="Cambria"/>
                <a:cs typeface="Cambria"/>
              </a:rPr>
              <a:t>DB</a:t>
            </a:r>
            <a:r>
              <a:rPr dirty="0" sz="2000" spc="250" b="1">
                <a:latin typeface="Cambria"/>
                <a:cs typeface="Cambria"/>
              </a:rPr>
              <a:t> </a:t>
            </a:r>
            <a:r>
              <a:rPr dirty="0" sz="2000" spc="105" b="1">
                <a:latin typeface="Cambria"/>
                <a:cs typeface="Cambria"/>
              </a:rPr>
              <a:t>usage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patterns:</a:t>
            </a:r>
            <a:endParaRPr sz="2000">
              <a:latin typeface="Cambria"/>
              <a:cs typeface="Cambria"/>
            </a:endParaRPr>
          </a:p>
          <a:p>
            <a:pPr marL="194310" marR="229235" indent="-182245">
              <a:lnSpc>
                <a:spcPts val="2160"/>
              </a:lnSpc>
              <a:spcBef>
                <a:spcPts val="120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50" b="1">
                <a:latin typeface="Cambria"/>
                <a:cs typeface="Cambria"/>
              </a:rPr>
              <a:t>OLAP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(On-</a:t>
            </a:r>
            <a:r>
              <a:rPr dirty="0" sz="2000" spc="105">
                <a:latin typeface="Cambria"/>
                <a:cs typeface="Cambria"/>
              </a:rPr>
              <a:t>Line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Analytical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Processing)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254">
                <a:latin typeface="Cambria"/>
                <a:cs typeface="Cambria"/>
              </a:rPr>
              <a:t>DB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almost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static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data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and </a:t>
            </a:r>
            <a:r>
              <a:rPr dirty="0" sz="2000" spc="140">
                <a:latin typeface="Cambria"/>
                <a:cs typeface="Cambria"/>
              </a:rPr>
              <a:t>	</a:t>
            </a:r>
            <a:r>
              <a:rPr dirty="0" sz="2000" spc="114">
                <a:latin typeface="Cambria"/>
                <a:cs typeface="Cambria"/>
              </a:rPr>
              <a:t>complex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read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queries.</a:t>
            </a:r>
            <a:endParaRPr sz="2000">
              <a:latin typeface="Cambria"/>
              <a:cs typeface="Cambria"/>
            </a:endParaRPr>
          </a:p>
          <a:p>
            <a:pPr marL="194310" marR="5080" indent="-182245">
              <a:lnSpc>
                <a:spcPts val="2160"/>
              </a:lnSpc>
              <a:spcBef>
                <a:spcPts val="120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50" b="1">
                <a:latin typeface="Cambria"/>
                <a:cs typeface="Cambria"/>
              </a:rPr>
              <a:t>OLTP</a:t>
            </a:r>
            <a:r>
              <a:rPr dirty="0" sz="2000" spc="190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(On-</a:t>
            </a:r>
            <a:r>
              <a:rPr dirty="0" sz="2000" spc="105">
                <a:latin typeface="Cambria"/>
                <a:cs typeface="Cambria"/>
              </a:rPr>
              <a:t>Line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Transaction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Processing)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254">
                <a:latin typeface="Cambria"/>
                <a:cs typeface="Cambria"/>
              </a:rPr>
              <a:t>DB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60">
                <a:latin typeface="Cambria"/>
                <a:cs typeface="Cambria"/>
              </a:rPr>
              <a:t>many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simple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read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and </a:t>
            </a:r>
            <a:r>
              <a:rPr dirty="0" sz="2000" spc="140">
                <a:latin typeface="Cambria"/>
                <a:cs typeface="Cambria"/>
              </a:rPr>
              <a:t>	</a:t>
            </a:r>
            <a:r>
              <a:rPr dirty="0" sz="2000">
                <a:latin typeface="Cambria"/>
                <a:cs typeface="Cambria"/>
              </a:rPr>
              <a:t>write</a:t>
            </a:r>
            <a:r>
              <a:rPr dirty="0" sz="2000" spc="409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queries.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5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70" b="1">
                <a:latin typeface="Cambria"/>
                <a:cs typeface="Cambria"/>
              </a:rPr>
              <a:t>Hybrid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28700"/>
            <a:ext cx="4254868" cy="46558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1790166"/>
            <a:ext cx="6985634" cy="343407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2000" spc="95" b="1">
                <a:latin typeface="Cambria"/>
                <a:cs typeface="Cambria"/>
              </a:rPr>
              <a:t>What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for?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90">
                <a:latin typeface="Cambria"/>
                <a:cs typeface="Cambria"/>
              </a:rPr>
              <a:t>Larger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space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14">
                <a:latin typeface="Cambria"/>
                <a:cs typeface="Cambria"/>
              </a:rPr>
              <a:t>Scalability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high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availability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95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000" spc="80" b="1">
                <a:latin typeface="Cambria"/>
                <a:cs typeface="Cambria"/>
              </a:rPr>
              <a:t>Problems:</a:t>
            </a:r>
            <a:endParaRPr sz="2000">
              <a:latin typeface="Cambria"/>
              <a:cs typeface="Cambria"/>
            </a:endParaRPr>
          </a:p>
          <a:p>
            <a:pPr marL="195580" indent="-182880">
              <a:lnSpc>
                <a:spcPct val="100000"/>
              </a:lnSpc>
              <a:spcBef>
                <a:spcPts val="94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85">
                <a:latin typeface="Cambria"/>
                <a:cs typeface="Cambria"/>
              </a:rPr>
              <a:t>How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to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distribute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data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across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nodes?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85">
                <a:latin typeface="Cambria"/>
                <a:cs typeface="Cambria"/>
              </a:rPr>
              <a:t>How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achieve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good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performance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on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complex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queries?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85">
                <a:latin typeface="Cambria"/>
                <a:cs typeface="Cambria"/>
              </a:rPr>
              <a:t>How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implement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ACID?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884" y="1048003"/>
            <a:ext cx="1065860" cy="55638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5276" y="1286724"/>
            <a:ext cx="151206" cy="7560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45333" y="1037082"/>
            <a:ext cx="1615186" cy="457200"/>
          </a:xfrm>
          <a:prstGeom prst="rect">
            <a:avLst/>
          </a:prstGeom>
        </p:spPr>
      </p:pic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705101" y="2968625"/>
          <a:ext cx="8435975" cy="2290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3845"/>
                <a:gridCol w="4252595"/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4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Pros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2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Cons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 marR="98806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800" spc="20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simples</a:t>
                      </a:r>
                      <a:r>
                        <a:rPr dirty="0" sz="1800" spc="17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model,</a:t>
                      </a:r>
                      <a:r>
                        <a:rPr dirty="0" sz="1800" spc="17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easy</a:t>
                      </a:r>
                      <a:r>
                        <a:rPr dirty="0" sz="1800" spc="1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to </a:t>
                      </a:r>
                      <a:r>
                        <a:rPr dirty="0" sz="1800" spc="10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implement</a:t>
                      </a:r>
                      <a:r>
                        <a:rPr dirty="0" sz="1800" spc="14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5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use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6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Bad</a:t>
                      </a:r>
                      <a:r>
                        <a:rPr dirty="0" sz="1800" spc="24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dirty="0" sz="1800" spc="22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OLAP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3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Good</a:t>
                      </a:r>
                      <a:r>
                        <a:rPr dirty="0" sz="1800" spc="21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dirty="0" sz="1800" spc="2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massive</a:t>
                      </a:r>
                      <a:r>
                        <a:rPr dirty="0" sz="1800" spc="21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OLTP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Its</a:t>
                      </a:r>
                      <a:r>
                        <a:rPr dirty="0" sz="1800" spc="17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tricky</a:t>
                      </a:r>
                      <a:r>
                        <a:rPr dirty="0" sz="1800" spc="19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6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dirty="0" sz="1800" spc="21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4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use</a:t>
                      </a:r>
                      <a:r>
                        <a:rPr dirty="0" sz="1800" spc="19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dirty="0" sz="1800" spc="2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data</a:t>
                      </a:r>
                      <a:r>
                        <a:rPr dirty="0" sz="1800" spc="21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with</a:t>
                      </a:r>
                      <a:r>
                        <a:rPr dirty="0" sz="1800" spc="1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800" spc="1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complex</a:t>
                      </a:r>
                      <a:r>
                        <a:rPr dirty="0" sz="1800" spc="19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structure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 marR="18986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800" spc="22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best</a:t>
                      </a:r>
                      <a:r>
                        <a:rPr dirty="0" sz="1800" spc="2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model</a:t>
                      </a:r>
                      <a:r>
                        <a:rPr dirty="0" sz="1800" spc="1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dirty="0" sz="1800" spc="21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800" spc="22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distributed </a:t>
                      </a:r>
                      <a:r>
                        <a:rPr dirty="0" sz="1800" spc="21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DB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4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275"/>
              <a:t>Just</a:t>
            </a:r>
            <a:r>
              <a:rPr dirty="0" spc="180"/>
              <a:t> </a:t>
            </a:r>
            <a:r>
              <a:rPr dirty="0" spc="185"/>
              <a:t>a</a:t>
            </a:r>
            <a:r>
              <a:rPr dirty="0" spc="190"/>
              <a:t> </a:t>
            </a:r>
            <a:r>
              <a:rPr dirty="0" spc="114" b="1">
                <a:latin typeface="Cambria"/>
                <a:cs typeface="Cambria"/>
              </a:rPr>
              <a:t>map</a:t>
            </a:r>
            <a:r>
              <a:rPr dirty="0" spc="175" b="1">
                <a:latin typeface="Cambria"/>
                <a:cs typeface="Cambria"/>
              </a:rPr>
              <a:t> </a:t>
            </a:r>
            <a:r>
              <a:rPr dirty="0"/>
              <a:t>(or</a:t>
            </a:r>
            <a:r>
              <a:rPr dirty="0" spc="175"/>
              <a:t> </a:t>
            </a:r>
            <a:r>
              <a:rPr dirty="0" spc="100"/>
              <a:t>multimap)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009294" y="5774842"/>
            <a:ext cx="8542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30" b="1">
                <a:latin typeface="Cambria"/>
                <a:cs typeface="Cambria"/>
              </a:rPr>
              <a:t>Implementations: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BerkleyDB,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Amazon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Dynamo,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Apache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Cassandra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1028700"/>
            <a:ext cx="3501847" cy="46558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5539" y="1686560"/>
            <a:ext cx="9325610" cy="1032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 sz="2000" spc="110">
                <a:latin typeface="Cambria"/>
                <a:cs typeface="Cambria"/>
              </a:rPr>
              <a:t>A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forest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(in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general)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possible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value(-</a:t>
            </a:r>
            <a:r>
              <a:rPr dirty="0" sz="2000">
                <a:latin typeface="Cambria"/>
                <a:cs typeface="Cambria"/>
              </a:rPr>
              <a:t>s)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each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tree’s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node.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Queries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can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</a:pPr>
            <a:r>
              <a:rPr dirty="0" sz="2000" spc="85">
                <a:latin typeface="Cambria"/>
                <a:cs typeface="Cambria"/>
              </a:rPr>
              <a:t>traverse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trees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90">
                <a:latin typeface="Cambria"/>
                <a:cs typeface="Cambria"/>
              </a:rPr>
              <a:t>up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down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extract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values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nodes.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100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important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subset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are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document-</a:t>
            </a:r>
            <a:r>
              <a:rPr dirty="0" sz="2000" spc="80">
                <a:latin typeface="Cambria"/>
                <a:cs typeface="Cambria"/>
              </a:rPr>
              <a:t>oriented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235">
                <a:latin typeface="Cambria"/>
                <a:cs typeface="Cambria"/>
              </a:rPr>
              <a:t>DBs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(for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210">
                <a:latin typeface="Cambria"/>
                <a:cs typeface="Cambria"/>
              </a:rPr>
              <a:t>XML,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305">
                <a:latin typeface="Cambria"/>
                <a:cs typeface="Cambria"/>
              </a:rPr>
              <a:t>JSON,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etc.).</a:t>
            </a:r>
            <a:endParaRPr sz="2000">
              <a:latin typeface="Cambria"/>
              <a:cs typeface="Cambria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724151" y="2901950"/>
          <a:ext cx="8435975" cy="2290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3845"/>
                <a:gridCol w="4252595"/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4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Pros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2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Cons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 marR="83121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More</a:t>
                      </a:r>
                      <a:r>
                        <a:rPr dirty="0" sz="1800" spc="1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complex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structure</a:t>
                      </a:r>
                      <a:r>
                        <a:rPr dirty="0" sz="1800" spc="1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and </a:t>
                      </a:r>
                      <a:r>
                        <a:rPr dirty="0" sz="1800" spc="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queries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supported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Still</a:t>
                      </a:r>
                      <a:r>
                        <a:rPr dirty="0" sz="1800" spc="22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bad</a:t>
                      </a:r>
                      <a:r>
                        <a:rPr dirty="0" sz="1800" spc="2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dirty="0" sz="1800" spc="21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OLAP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3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Good</a:t>
                      </a:r>
                      <a:r>
                        <a:rPr dirty="0" sz="1800" spc="22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dirty="0" sz="1800" spc="24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OLTP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9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Still</a:t>
                      </a:r>
                      <a:r>
                        <a:rPr dirty="0" sz="1800" spc="19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tricky</a:t>
                      </a:r>
                      <a:r>
                        <a:rPr dirty="0" sz="1800" spc="1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6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dirty="0" sz="1800" spc="204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4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use</a:t>
                      </a:r>
                      <a:r>
                        <a:rPr dirty="0" sz="1800" spc="19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dirty="0" sz="1800" spc="2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data</a:t>
                      </a:r>
                      <a:r>
                        <a:rPr dirty="0" sz="1800" spc="21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with</a:t>
                      </a:r>
                      <a:r>
                        <a:rPr dirty="0" sz="1800" spc="1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800" spc="10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complex</a:t>
                      </a:r>
                      <a:r>
                        <a:rPr dirty="0" sz="1800" spc="1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structure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 marR="32702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7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Not</a:t>
                      </a:r>
                      <a:r>
                        <a:rPr dirty="0" sz="1800" spc="229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bad</a:t>
                      </a:r>
                      <a:r>
                        <a:rPr dirty="0" sz="1800" spc="2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dirty="0" sz="1800" spc="21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distributed</a:t>
                      </a:r>
                      <a:r>
                        <a:rPr dirty="0" sz="1800" spc="1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1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DB </a:t>
                      </a:r>
                      <a:r>
                        <a:rPr dirty="0" sz="1800" spc="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(depends</a:t>
                      </a:r>
                      <a:r>
                        <a:rPr dirty="0" sz="1800" spc="15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r>
                        <a:rPr dirty="0" sz="1800" spc="1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800" spc="20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6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forest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structure)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953516" y="5453583"/>
            <a:ext cx="6374130" cy="878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dirty="0" sz="2000" spc="130" b="1">
                <a:latin typeface="Cambria"/>
                <a:cs typeface="Cambria"/>
              </a:rPr>
              <a:t>Implementations: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MongoDB,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60">
                <a:latin typeface="Cambria"/>
                <a:cs typeface="Cambria"/>
              </a:rPr>
              <a:t>OrientDB,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210">
                <a:latin typeface="Cambria"/>
                <a:cs typeface="Cambria"/>
              </a:rPr>
              <a:t>CouchDB </a:t>
            </a:r>
            <a:r>
              <a:rPr dirty="0" sz="2000" spc="120">
                <a:solidFill>
                  <a:srgbClr val="C00000"/>
                </a:solidFill>
                <a:latin typeface="Cambria"/>
                <a:cs typeface="Cambria"/>
              </a:rPr>
              <a:t>Any</a:t>
            </a:r>
            <a:r>
              <a:rPr dirty="0" sz="2000" spc="20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C00000"/>
                </a:solidFill>
                <a:latin typeface="Cambria"/>
                <a:cs typeface="Cambria"/>
              </a:rPr>
              <a:t>others?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642" y="551306"/>
            <a:ext cx="7303642" cy="5756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333500" y="1769364"/>
            <a:ext cx="1708785" cy="721360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7556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595"/>
              </a:spcBef>
            </a:pPr>
            <a:r>
              <a:rPr dirty="0" sz="1800" spc="120">
                <a:solidFill>
                  <a:srgbClr val="FFFFFF"/>
                </a:solidFill>
                <a:latin typeface="Cambria"/>
                <a:cs typeface="Cambria"/>
              </a:rPr>
              <a:t>WARE</a:t>
            </a:r>
            <a:endParaRPr sz="1800">
              <a:latin typeface="Cambria"/>
              <a:cs typeface="Cambria"/>
            </a:endParaRPr>
          </a:p>
          <a:p>
            <a:pPr marL="92075">
              <a:lnSpc>
                <a:spcPct val="100000"/>
              </a:lnSpc>
              <a:spcBef>
                <a:spcPts val="15"/>
              </a:spcBef>
            </a:pPr>
            <a:r>
              <a:rPr dirty="0" sz="1800" spc="140">
                <a:solidFill>
                  <a:srgbClr val="FFFFFF"/>
                </a:solidFill>
                <a:latin typeface="Cambria"/>
                <a:cs typeface="Cambria"/>
              </a:rPr>
              <a:t>name:</a:t>
            </a:r>
            <a:r>
              <a:rPr dirty="0" sz="18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Cambria"/>
                <a:cs typeface="Cambria"/>
              </a:rPr>
              <a:t>Water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795771" y="1769364"/>
            <a:ext cx="1706880" cy="721360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7556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595"/>
              </a:spcBef>
            </a:pPr>
            <a:r>
              <a:rPr dirty="0" sz="1800" spc="100">
                <a:solidFill>
                  <a:srgbClr val="FFFFFF"/>
                </a:solidFill>
                <a:latin typeface="Cambria"/>
                <a:cs typeface="Cambria"/>
              </a:rPr>
              <a:t>BILL</a:t>
            </a:r>
            <a:endParaRPr sz="1800">
              <a:latin typeface="Cambria"/>
              <a:cs typeface="Cambria"/>
            </a:endParaRPr>
          </a:p>
          <a:p>
            <a:pPr marL="90805">
              <a:lnSpc>
                <a:spcPct val="100000"/>
              </a:lnSpc>
              <a:spcBef>
                <a:spcPts val="15"/>
              </a:spcBef>
            </a:pPr>
            <a:r>
              <a:rPr dirty="0" sz="1800" spc="75">
                <a:solidFill>
                  <a:srgbClr val="FFFFFF"/>
                </a:solidFill>
                <a:latin typeface="Cambria"/>
                <a:cs typeface="Cambria"/>
              </a:rPr>
              <a:t>id:</a:t>
            </a:r>
            <a:r>
              <a:rPr dirty="0" sz="18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63567" y="4140708"/>
            <a:ext cx="2630805" cy="721360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768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605"/>
              </a:spcBef>
            </a:pPr>
            <a:r>
              <a:rPr dirty="0" sz="1800" spc="120">
                <a:solidFill>
                  <a:srgbClr val="FFFFFF"/>
                </a:solidFill>
                <a:latin typeface="Cambria"/>
                <a:cs typeface="Cambria"/>
              </a:rPr>
              <a:t>WARE</a:t>
            </a:r>
            <a:endParaRPr sz="1800">
              <a:latin typeface="Cambria"/>
              <a:cs typeface="Cambria"/>
            </a:endParaRPr>
          </a:p>
          <a:p>
            <a:pPr marL="91440">
              <a:lnSpc>
                <a:spcPct val="100000"/>
              </a:lnSpc>
              <a:spcBef>
                <a:spcPts val="10"/>
              </a:spcBef>
            </a:pPr>
            <a:r>
              <a:rPr dirty="0" sz="1800" spc="140">
                <a:solidFill>
                  <a:srgbClr val="FFFFFF"/>
                </a:solidFill>
                <a:latin typeface="Cambria"/>
                <a:cs typeface="Cambria"/>
              </a:rPr>
              <a:t>name:</a:t>
            </a:r>
            <a:r>
              <a:rPr dirty="0" sz="18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110">
                <a:solidFill>
                  <a:srgbClr val="FFFFFF"/>
                </a:solidFill>
                <a:latin typeface="Cambria"/>
                <a:cs typeface="Cambria"/>
              </a:rPr>
              <a:t>Drinking</a:t>
            </a:r>
            <a:r>
              <a:rPr dirty="0" sz="18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45">
                <a:solidFill>
                  <a:srgbClr val="FFFFFF"/>
                </a:solidFill>
                <a:latin typeface="Cambria"/>
                <a:cs typeface="Cambria"/>
              </a:rPr>
              <a:t>water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60347" y="4140708"/>
            <a:ext cx="1854835" cy="721360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768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605"/>
              </a:spcBef>
            </a:pPr>
            <a:r>
              <a:rPr dirty="0" sz="1800" spc="180">
                <a:solidFill>
                  <a:srgbClr val="FFFFFF"/>
                </a:solidFill>
                <a:latin typeface="Cambria"/>
                <a:cs typeface="Cambria"/>
              </a:rPr>
              <a:t>CATEGORY</a:t>
            </a:r>
            <a:endParaRPr sz="1800">
              <a:latin typeface="Cambria"/>
              <a:cs typeface="Cambria"/>
            </a:endParaRPr>
          </a:p>
          <a:p>
            <a:pPr marL="90805">
              <a:lnSpc>
                <a:spcPct val="100000"/>
              </a:lnSpc>
              <a:spcBef>
                <a:spcPts val="10"/>
              </a:spcBef>
            </a:pPr>
            <a:r>
              <a:rPr dirty="0" sz="1800" spc="140">
                <a:solidFill>
                  <a:srgbClr val="FFFFFF"/>
                </a:solidFill>
                <a:latin typeface="Cambria"/>
                <a:cs typeface="Cambria"/>
              </a:rPr>
              <a:t>name:</a:t>
            </a:r>
            <a:r>
              <a:rPr dirty="0" sz="18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90">
                <a:solidFill>
                  <a:srgbClr val="FFFFFF"/>
                </a:solidFill>
                <a:latin typeface="Cambria"/>
                <a:cs typeface="Cambria"/>
              </a:rPr>
              <a:t>Mineral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820914" y="1801114"/>
            <a:ext cx="1588770" cy="657860"/>
            <a:chOff x="7820914" y="1801114"/>
            <a:chExt cx="1588770" cy="657860"/>
          </a:xfrm>
        </p:grpSpPr>
        <p:sp>
          <p:nvSpPr>
            <p:cNvPr id="8" name="object 8" descr=""/>
            <p:cNvSpPr/>
            <p:nvPr/>
          </p:nvSpPr>
          <p:spPr>
            <a:xfrm>
              <a:off x="7827264" y="1807464"/>
              <a:ext cx="1576070" cy="645160"/>
            </a:xfrm>
            <a:custGeom>
              <a:avLst/>
              <a:gdLst/>
              <a:ahLst/>
              <a:cxnLst/>
              <a:rect l="l" t="t" r="r" b="b"/>
              <a:pathLst>
                <a:path w="1576070" h="645160">
                  <a:moveTo>
                    <a:pt x="787907" y="0"/>
                  </a:moveTo>
                  <a:lnTo>
                    <a:pt x="723293" y="1068"/>
                  </a:lnTo>
                  <a:lnTo>
                    <a:pt x="660116" y="4217"/>
                  </a:lnTo>
                  <a:lnTo>
                    <a:pt x="598580" y="9365"/>
                  </a:lnTo>
                  <a:lnTo>
                    <a:pt x="538886" y="16428"/>
                  </a:lnTo>
                  <a:lnTo>
                    <a:pt x="481238" y="25324"/>
                  </a:lnTo>
                  <a:lnTo>
                    <a:pt x="425839" y="35970"/>
                  </a:lnTo>
                  <a:lnTo>
                    <a:pt x="372892" y="48282"/>
                  </a:lnTo>
                  <a:lnTo>
                    <a:pt x="322600" y="62179"/>
                  </a:lnTo>
                  <a:lnTo>
                    <a:pt x="275165" y="77576"/>
                  </a:lnTo>
                  <a:lnTo>
                    <a:pt x="230790" y="94392"/>
                  </a:lnTo>
                  <a:lnTo>
                    <a:pt x="189679" y="112544"/>
                  </a:lnTo>
                  <a:lnTo>
                    <a:pt x="152034" y="131947"/>
                  </a:lnTo>
                  <a:lnTo>
                    <a:pt x="118058" y="152521"/>
                  </a:lnTo>
                  <a:lnTo>
                    <a:pt x="61924" y="196846"/>
                  </a:lnTo>
                  <a:lnTo>
                    <a:pt x="22901" y="244854"/>
                  </a:lnTo>
                  <a:lnTo>
                    <a:pt x="2612" y="295885"/>
                  </a:lnTo>
                  <a:lnTo>
                    <a:pt x="0" y="322325"/>
                  </a:lnTo>
                  <a:lnTo>
                    <a:pt x="2612" y="348766"/>
                  </a:lnTo>
                  <a:lnTo>
                    <a:pt x="22901" y="399797"/>
                  </a:lnTo>
                  <a:lnTo>
                    <a:pt x="61924" y="447805"/>
                  </a:lnTo>
                  <a:lnTo>
                    <a:pt x="118058" y="492130"/>
                  </a:lnTo>
                  <a:lnTo>
                    <a:pt x="152034" y="512704"/>
                  </a:lnTo>
                  <a:lnTo>
                    <a:pt x="189679" y="532107"/>
                  </a:lnTo>
                  <a:lnTo>
                    <a:pt x="230790" y="550259"/>
                  </a:lnTo>
                  <a:lnTo>
                    <a:pt x="275165" y="567075"/>
                  </a:lnTo>
                  <a:lnTo>
                    <a:pt x="322600" y="582472"/>
                  </a:lnTo>
                  <a:lnTo>
                    <a:pt x="372892" y="596369"/>
                  </a:lnTo>
                  <a:lnTo>
                    <a:pt x="425839" y="608681"/>
                  </a:lnTo>
                  <a:lnTo>
                    <a:pt x="481238" y="619327"/>
                  </a:lnTo>
                  <a:lnTo>
                    <a:pt x="538886" y="628223"/>
                  </a:lnTo>
                  <a:lnTo>
                    <a:pt x="598580" y="635286"/>
                  </a:lnTo>
                  <a:lnTo>
                    <a:pt x="660116" y="640434"/>
                  </a:lnTo>
                  <a:lnTo>
                    <a:pt x="723293" y="643583"/>
                  </a:lnTo>
                  <a:lnTo>
                    <a:pt x="787907" y="644651"/>
                  </a:lnTo>
                  <a:lnTo>
                    <a:pt x="852522" y="643583"/>
                  </a:lnTo>
                  <a:lnTo>
                    <a:pt x="915699" y="640434"/>
                  </a:lnTo>
                  <a:lnTo>
                    <a:pt x="977235" y="635286"/>
                  </a:lnTo>
                  <a:lnTo>
                    <a:pt x="1036929" y="628223"/>
                  </a:lnTo>
                  <a:lnTo>
                    <a:pt x="1094577" y="619327"/>
                  </a:lnTo>
                  <a:lnTo>
                    <a:pt x="1149976" y="608681"/>
                  </a:lnTo>
                  <a:lnTo>
                    <a:pt x="1202923" y="596369"/>
                  </a:lnTo>
                  <a:lnTo>
                    <a:pt x="1253215" y="582472"/>
                  </a:lnTo>
                  <a:lnTo>
                    <a:pt x="1300650" y="567075"/>
                  </a:lnTo>
                  <a:lnTo>
                    <a:pt x="1345025" y="550259"/>
                  </a:lnTo>
                  <a:lnTo>
                    <a:pt x="1386136" y="532107"/>
                  </a:lnTo>
                  <a:lnTo>
                    <a:pt x="1423781" y="512704"/>
                  </a:lnTo>
                  <a:lnTo>
                    <a:pt x="1457757" y="492130"/>
                  </a:lnTo>
                  <a:lnTo>
                    <a:pt x="1513891" y="447805"/>
                  </a:lnTo>
                  <a:lnTo>
                    <a:pt x="1552914" y="399797"/>
                  </a:lnTo>
                  <a:lnTo>
                    <a:pt x="1573203" y="348766"/>
                  </a:lnTo>
                  <a:lnTo>
                    <a:pt x="1575815" y="322325"/>
                  </a:lnTo>
                  <a:lnTo>
                    <a:pt x="1573203" y="295885"/>
                  </a:lnTo>
                  <a:lnTo>
                    <a:pt x="1552914" y="244854"/>
                  </a:lnTo>
                  <a:lnTo>
                    <a:pt x="1513891" y="196846"/>
                  </a:lnTo>
                  <a:lnTo>
                    <a:pt x="1457757" y="152521"/>
                  </a:lnTo>
                  <a:lnTo>
                    <a:pt x="1423781" y="131947"/>
                  </a:lnTo>
                  <a:lnTo>
                    <a:pt x="1386136" y="112544"/>
                  </a:lnTo>
                  <a:lnTo>
                    <a:pt x="1345025" y="94392"/>
                  </a:lnTo>
                  <a:lnTo>
                    <a:pt x="1300650" y="77576"/>
                  </a:lnTo>
                  <a:lnTo>
                    <a:pt x="1253215" y="62179"/>
                  </a:lnTo>
                  <a:lnTo>
                    <a:pt x="1202923" y="48282"/>
                  </a:lnTo>
                  <a:lnTo>
                    <a:pt x="1149976" y="35970"/>
                  </a:lnTo>
                  <a:lnTo>
                    <a:pt x="1094577" y="25324"/>
                  </a:lnTo>
                  <a:lnTo>
                    <a:pt x="1036929" y="16428"/>
                  </a:lnTo>
                  <a:lnTo>
                    <a:pt x="977235" y="9365"/>
                  </a:lnTo>
                  <a:lnTo>
                    <a:pt x="915699" y="4217"/>
                  </a:lnTo>
                  <a:lnTo>
                    <a:pt x="852522" y="1068"/>
                  </a:lnTo>
                  <a:lnTo>
                    <a:pt x="787907" y="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827264" y="1807464"/>
              <a:ext cx="1576070" cy="645160"/>
            </a:xfrm>
            <a:custGeom>
              <a:avLst/>
              <a:gdLst/>
              <a:ahLst/>
              <a:cxnLst/>
              <a:rect l="l" t="t" r="r" b="b"/>
              <a:pathLst>
                <a:path w="1576070" h="645160">
                  <a:moveTo>
                    <a:pt x="0" y="322325"/>
                  </a:moveTo>
                  <a:lnTo>
                    <a:pt x="10313" y="270033"/>
                  </a:lnTo>
                  <a:lnTo>
                    <a:pt x="40172" y="220431"/>
                  </a:lnTo>
                  <a:lnTo>
                    <a:pt x="87953" y="174181"/>
                  </a:lnTo>
                  <a:lnTo>
                    <a:pt x="152034" y="131947"/>
                  </a:lnTo>
                  <a:lnTo>
                    <a:pt x="189679" y="112544"/>
                  </a:lnTo>
                  <a:lnTo>
                    <a:pt x="230790" y="94392"/>
                  </a:lnTo>
                  <a:lnTo>
                    <a:pt x="275165" y="77576"/>
                  </a:lnTo>
                  <a:lnTo>
                    <a:pt x="322600" y="62179"/>
                  </a:lnTo>
                  <a:lnTo>
                    <a:pt x="372892" y="48282"/>
                  </a:lnTo>
                  <a:lnTo>
                    <a:pt x="425839" y="35970"/>
                  </a:lnTo>
                  <a:lnTo>
                    <a:pt x="481238" y="25324"/>
                  </a:lnTo>
                  <a:lnTo>
                    <a:pt x="538886" y="16428"/>
                  </a:lnTo>
                  <a:lnTo>
                    <a:pt x="598580" y="9365"/>
                  </a:lnTo>
                  <a:lnTo>
                    <a:pt x="660116" y="4217"/>
                  </a:lnTo>
                  <a:lnTo>
                    <a:pt x="723293" y="1068"/>
                  </a:lnTo>
                  <a:lnTo>
                    <a:pt x="787907" y="0"/>
                  </a:lnTo>
                  <a:lnTo>
                    <a:pt x="852522" y="1068"/>
                  </a:lnTo>
                  <a:lnTo>
                    <a:pt x="915699" y="4217"/>
                  </a:lnTo>
                  <a:lnTo>
                    <a:pt x="977235" y="9365"/>
                  </a:lnTo>
                  <a:lnTo>
                    <a:pt x="1036929" y="16428"/>
                  </a:lnTo>
                  <a:lnTo>
                    <a:pt x="1094577" y="25324"/>
                  </a:lnTo>
                  <a:lnTo>
                    <a:pt x="1149976" y="35970"/>
                  </a:lnTo>
                  <a:lnTo>
                    <a:pt x="1202923" y="48282"/>
                  </a:lnTo>
                  <a:lnTo>
                    <a:pt x="1253215" y="62179"/>
                  </a:lnTo>
                  <a:lnTo>
                    <a:pt x="1300650" y="77576"/>
                  </a:lnTo>
                  <a:lnTo>
                    <a:pt x="1345025" y="94392"/>
                  </a:lnTo>
                  <a:lnTo>
                    <a:pt x="1386136" y="112544"/>
                  </a:lnTo>
                  <a:lnTo>
                    <a:pt x="1423781" y="131947"/>
                  </a:lnTo>
                  <a:lnTo>
                    <a:pt x="1457757" y="152521"/>
                  </a:lnTo>
                  <a:lnTo>
                    <a:pt x="1513891" y="196846"/>
                  </a:lnTo>
                  <a:lnTo>
                    <a:pt x="1552914" y="244854"/>
                  </a:lnTo>
                  <a:lnTo>
                    <a:pt x="1573203" y="295885"/>
                  </a:lnTo>
                  <a:lnTo>
                    <a:pt x="1575815" y="322325"/>
                  </a:lnTo>
                  <a:lnTo>
                    <a:pt x="1573203" y="348766"/>
                  </a:lnTo>
                  <a:lnTo>
                    <a:pt x="1552914" y="399797"/>
                  </a:lnTo>
                  <a:lnTo>
                    <a:pt x="1513891" y="447805"/>
                  </a:lnTo>
                  <a:lnTo>
                    <a:pt x="1457757" y="492130"/>
                  </a:lnTo>
                  <a:lnTo>
                    <a:pt x="1423781" y="512704"/>
                  </a:lnTo>
                  <a:lnTo>
                    <a:pt x="1386136" y="532107"/>
                  </a:lnTo>
                  <a:lnTo>
                    <a:pt x="1345025" y="550259"/>
                  </a:lnTo>
                  <a:lnTo>
                    <a:pt x="1300650" y="567075"/>
                  </a:lnTo>
                  <a:lnTo>
                    <a:pt x="1253215" y="582472"/>
                  </a:lnTo>
                  <a:lnTo>
                    <a:pt x="1202923" y="596369"/>
                  </a:lnTo>
                  <a:lnTo>
                    <a:pt x="1149976" y="608681"/>
                  </a:lnTo>
                  <a:lnTo>
                    <a:pt x="1094577" y="619327"/>
                  </a:lnTo>
                  <a:lnTo>
                    <a:pt x="1036929" y="628223"/>
                  </a:lnTo>
                  <a:lnTo>
                    <a:pt x="977235" y="635286"/>
                  </a:lnTo>
                  <a:lnTo>
                    <a:pt x="915699" y="640434"/>
                  </a:lnTo>
                  <a:lnTo>
                    <a:pt x="852522" y="643583"/>
                  </a:lnTo>
                  <a:lnTo>
                    <a:pt x="787907" y="644651"/>
                  </a:lnTo>
                  <a:lnTo>
                    <a:pt x="723293" y="643583"/>
                  </a:lnTo>
                  <a:lnTo>
                    <a:pt x="660116" y="640434"/>
                  </a:lnTo>
                  <a:lnTo>
                    <a:pt x="598580" y="635286"/>
                  </a:lnTo>
                  <a:lnTo>
                    <a:pt x="538886" y="628223"/>
                  </a:lnTo>
                  <a:lnTo>
                    <a:pt x="481238" y="619327"/>
                  </a:lnTo>
                  <a:lnTo>
                    <a:pt x="425839" y="608681"/>
                  </a:lnTo>
                  <a:lnTo>
                    <a:pt x="372892" y="596369"/>
                  </a:lnTo>
                  <a:lnTo>
                    <a:pt x="322600" y="582472"/>
                  </a:lnTo>
                  <a:lnTo>
                    <a:pt x="275165" y="567075"/>
                  </a:lnTo>
                  <a:lnTo>
                    <a:pt x="230790" y="550259"/>
                  </a:lnTo>
                  <a:lnTo>
                    <a:pt x="189679" y="532107"/>
                  </a:lnTo>
                  <a:lnTo>
                    <a:pt x="152034" y="512704"/>
                  </a:lnTo>
                  <a:lnTo>
                    <a:pt x="118058" y="492130"/>
                  </a:lnTo>
                  <a:lnTo>
                    <a:pt x="61924" y="447805"/>
                  </a:lnTo>
                  <a:lnTo>
                    <a:pt x="22901" y="399797"/>
                  </a:lnTo>
                  <a:lnTo>
                    <a:pt x="2612" y="348766"/>
                  </a:lnTo>
                  <a:lnTo>
                    <a:pt x="0" y="322325"/>
                  </a:lnTo>
                  <a:close/>
                </a:path>
              </a:pathLst>
            </a:custGeom>
            <a:ln w="12700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151368" y="1971294"/>
            <a:ext cx="925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55">
                <a:solidFill>
                  <a:srgbClr val="FFFFFF"/>
                </a:solidFill>
                <a:latin typeface="Cambria"/>
                <a:cs typeface="Cambria"/>
              </a:rPr>
              <a:t>OWNER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382256" y="4140708"/>
            <a:ext cx="2464435" cy="721360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7683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05"/>
              </a:spcBef>
            </a:pPr>
            <a:r>
              <a:rPr dirty="0" sz="1800" spc="145">
                <a:solidFill>
                  <a:srgbClr val="FFFFFF"/>
                </a:solidFill>
                <a:latin typeface="Cambria"/>
                <a:cs typeface="Cambria"/>
              </a:rPr>
              <a:t>COMPANY</a:t>
            </a:r>
            <a:endParaRPr sz="1800">
              <a:latin typeface="Cambria"/>
              <a:cs typeface="Cambria"/>
            </a:endParaRPr>
          </a:p>
          <a:p>
            <a:pPr marL="92075">
              <a:lnSpc>
                <a:spcPct val="100000"/>
              </a:lnSpc>
              <a:spcBef>
                <a:spcPts val="10"/>
              </a:spcBef>
            </a:pPr>
            <a:r>
              <a:rPr dirty="0" sz="1800" spc="140">
                <a:solidFill>
                  <a:srgbClr val="FFFFFF"/>
                </a:solidFill>
                <a:latin typeface="Cambria"/>
                <a:cs typeface="Cambria"/>
              </a:rPr>
              <a:t>name:</a:t>
            </a:r>
            <a:r>
              <a:rPr dirty="0" sz="1800" spc="175">
                <a:solidFill>
                  <a:srgbClr val="FFFFFF"/>
                </a:solidFill>
                <a:latin typeface="Cambria"/>
                <a:cs typeface="Cambria"/>
              </a:rPr>
              <a:t> Dummy </a:t>
            </a:r>
            <a:r>
              <a:rPr dirty="0" sz="1800" spc="85">
                <a:solidFill>
                  <a:srgbClr val="FFFFFF"/>
                </a:solidFill>
                <a:latin typeface="Cambria"/>
                <a:cs typeface="Cambria"/>
              </a:rPr>
              <a:t>ltd.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503414" y="2117089"/>
            <a:ext cx="1150620" cy="2025650"/>
            <a:chOff x="7503414" y="2117089"/>
            <a:chExt cx="1150620" cy="2025650"/>
          </a:xfrm>
        </p:grpSpPr>
        <p:sp>
          <p:nvSpPr>
            <p:cNvPr id="13" name="object 13" descr=""/>
            <p:cNvSpPr/>
            <p:nvPr/>
          </p:nvSpPr>
          <p:spPr>
            <a:xfrm>
              <a:off x="7503414" y="2129789"/>
              <a:ext cx="324485" cy="0"/>
            </a:xfrm>
            <a:custGeom>
              <a:avLst/>
              <a:gdLst/>
              <a:ahLst/>
              <a:cxnLst/>
              <a:rect l="l" t="t" r="r" b="b"/>
              <a:pathLst>
                <a:path w="324484" h="0">
                  <a:moveTo>
                    <a:pt x="0" y="0"/>
                  </a:moveTo>
                  <a:lnTo>
                    <a:pt x="324230" y="0"/>
                  </a:lnTo>
                </a:path>
              </a:pathLst>
            </a:custGeom>
            <a:ln w="2540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577834" y="2452877"/>
              <a:ext cx="76200" cy="1689735"/>
            </a:xfrm>
            <a:custGeom>
              <a:avLst/>
              <a:gdLst/>
              <a:ahLst/>
              <a:cxnLst/>
              <a:rect l="l" t="t" r="r" b="b"/>
              <a:pathLst>
                <a:path w="76200" h="1689735">
                  <a:moveTo>
                    <a:pt x="25400" y="1613281"/>
                  </a:moveTo>
                  <a:lnTo>
                    <a:pt x="0" y="1613281"/>
                  </a:lnTo>
                  <a:lnTo>
                    <a:pt x="38100" y="1689481"/>
                  </a:lnTo>
                  <a:lnTo>
                    <a:pt x="69850" y="1625981"/>
                  </a:lnTo>
                  <a:lnTo>
                    <a:pt x="25400" y="1625981"/>
                  </a:lnTo>
                  <a:lnTo>
                    <a:pt x="25400" y="1613281"/>
                  </a:lnTo>
                  <a:close/>
                </a:path>
                <a:path w="76200" h="1689735">
                  <a:moveTo>
                    <a:pt x="50800" y="0"/>
                  </a:moveTo>
                  <a:lnTo>
                    <a:pt x="25400" y="0"/>
                  </a:lnTo>
                  <a:lnTo>
                    <a:pt x="25400" y="1625981"/>
                  </a:lnTo>
                  <a:lnTo>
                    <a:pt x="50800" y="1625981"/>
                  </a:lnTo>
                  <a:lnTo>
                    <a:pt x="50800" y="0"/>
                  </a:lnTo>
                  <a:close/>
                </a:path>
                <a:path w="76200" h="1689735">
                  <a:moveTo>
                    <a:pt x="76200" y="1613281"/>
                  </a:moveTo>
                  <a:lnTo>
                    <a:pt x="50800" y="1613281"/>
                  </a:lnTo>
                  <a:lnTo>
                    <a:pt x="50800" y="1625981"/>
                  </a:lnTo>
                  <a:lnTo>
                    <a:pt x="69850" y="1625981"/>
                  </a:lnTo>
                  <a:lnTo>
                    <a:pt x="76200" y="1613281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260347" y="5433059"/>
            <a:ext cx="1854835" cy="719455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7620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600"/>
              </a:spcBef>
            </a:pPr>
            <a:r>
              <a:rPr dirty="0" sz="1800" spc="180">
                <a:solidFill>
                  <a:srgbClr val="FFFFFF"/>
                </a:solidFill>
                <a:latin typeface="Cambria"/>
                <a:cs typeface="Cambria"/>
              </a:rPr>
              <a:t>CATEGORY</a:t>
            </a:r>
            <a:endParaRPr sz="1800">
              <a:latin typeface="Cambria"/>
              <a:cs typeface="Cambria"/>
            </a:endParaRPr>
          </a:p>
          <a:p>
            <a:pPr marL="90805">
              <a:lnSpc>
                <a:spcPct val="100000"/>
              </a:lnSpc>
              <a:spcBef>
                <a:spcPts val="10"/>
              </a:spcBef>
            </a:pPr>
            <a:r>
              <a:rPr dirty="0" sz="1800" spc="140">
                <a:solidFill>
                  <a:srgbClr val="FFFFFF"/>
                </a:solidFill>
                <a:latin typeface="Cambria"/>
                <a:cs typeface="Cambria"/>
              </a:rPr>
              <a:t>name:</a:t>
            </a:r>
            <a:r>
              <a:rPr dirty="0" sz="18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70">
                <a:solidFill>
                  <a:srgbClr val="FFFFFF"/>
                </a:solidFill>
                <a:latin typeface="Cambria"/>
                <a:cs typeface="Cambria"/>
              </a:rPr>
              <a:t>Food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786629" y="5489194"/>
            <a:ext cx="1384300" cy="593725"/>
            <a:chOff x="4786629" y="5489194"/>
            <a:chExt cx="1384300" cy="593725"/>
          </a:xfrm>
        </p:grpSpPr>
        <p:sp>
          <p:nvSpPr>
            <p:cNvPr id="17" name="object 17" descr=""/>
            <p:cNvSpPr/>
            <p:nvPr/>
          </p:nvSpPr>
          <p:spPr>
            <a:xfrm>
              <a:off x="4792979" y="5495544"/>
              <a:ext cx="1371600" cy="581025"/>
            </a:xfrm>
            <a:custGeom>
              <a:avLst/>
              <a:gdLst/>
              <a:ahLst/>
              <a:cxnLst/>
              <a:rect l="l" t="t" r="r" b="b"/>
              <a:pathLst>
                <a:path w="1371600" h="581025">
                  <a:moveTo>
                    <a:pt x="685800" y="0"/>
                  </a:moveTo>
                  <a:lnTo>
                    <a:pt x="619759" y="1329"/>
                  </a:lnTo>
                  <a:lnTo>
                    <a:pt x="555493" y="5235"/>
                  </a:lnTo>
                  <a:lnTo>
                    <a:pt x="493290" y="11596"/>
                  </a:lnTo>
                  <a:lnTo>
                    <a:pt x="433436" y="20291"/>
                  </a:lnTo>
                  <a:lnTo>
                    <a:pt x="376219" y="31198"/>
                  </a:lnTo>
                  <a:lnTo>
                    <a:pt x="321928" y="44195"/>
                  </a:lnTo>
                  <a:lnTo>
                    <a:pt x="270848" y="59160"/>
                  </a:lnTo>
                  <a:lnTo>
                    <a:pt x="223269" y="75973"/>
                  </a:lnTo>
                  <a:lnTo>
                    <a:pt x="179477" y="94511"/>
                  </a:lnTo>
                  <a:lnTo>
                    <a:pt x="139761" y="114652"/>
                  </a:lnTo>
                  <a:lnTo>
                    <a:pt x="104406" y="136276"/>
                  </a:lnTo>
                  <a:lnTo>
                    <a:pt x="73702" y="159259"/>
                  </a:lnTo>
                  <a:lnTo>
                    <a:pt x="27395" y="208820"/>
                  </a:lnTo>
                  <a:lnTo>
                    <a:pt x="3139" y="262362"/>
                  </a:lnTo>
                  <a:lnTo>
                    <a:pt x="0" y="290321"/>
                  </a:lnTo>
                  <a:lnTo>
                    <a:pt x="3139" y="318281"/>
                  </a:lnTo>
                  <a:lnTo>
                    <a:pt x="27395" y="371823"/>
                  </a:lnTo>
                  <a:lnTo>
                    <a:pt x="73702" y="421384"/>
                  </a:lnTo>
                  <a:lnTo>
                    <a:pt x="104406" y="444367"/>
                  </a:lnTo>
                  <a:lnTo>
                    <a:pt x="139761" y="465991"/>
                  </a:lnTo>
                  <a:lnTo>
                    <a:pt x="179477" y="486132"/>
                  </a:lnTo>
                  <a:lnTo>
                    <a:pt x="223269" y="504670"/>
                  </a:lnTo>
                  <a:lnTo>
                    <a:pt x="270848" y="521483"/>
                  </a:lnTo>
                  <a:lnTo>
                    <a:pt x="321928" y="536448"/>
                  </a:lnTo>
                  <a:lnTo>
                    <a:pt x="376219" y="549445"/>
                  </a:lnTo>
                  <a:lnTo>
                    <a:pt x="433436" y="560352"/>
                  </a:lnTo>
                  <a:lnTo>
                    <a:pt x="493290" y="569047"/>
                  </a:lnTo>
                  <a:lnTo>
                    <a:pt x="555493" y="575408"/>
                  </a:lnTo>
                  <a:lnTo>
                    <a:pt x="619759" y="579314"/>
                  </a:lnTo>
                  <a:lnTo>
                    <a:pt x="685800" y="580643"/>
                  </a:lnTo>
                  <a:lnTo>
                    <a:pt x="751840" y="579314"/>
                  </a:lnTo>
                  <a:lnTo>
                    <a:pt x="816106" y="575408"/>
                  </a:lnTo>
                  <a:lnTo>
                    <a:pt x="878309" y="569047"/>
                  </a:lnTo>
                  <a:lnTo>
                    <a:pt x="938163" y="560352"/>
                  </a:lnTo>
                  <a:lnTo>
                    <a:pt x="995380" y="549445"/>
                  </a:lnTo>
                  <a:lnTo>
                    <a:pt x="1049671" y="536448"/>
                  </a:lnTo>
                  <a:lnTo>
                    <a:pt x="1100751" y="521483"/>
                  </a:lnTo>
                  <a:lnTo>
                    <a:pt x="1148330" y="504670"/>
                  </a:lnTo>
                  <a:lnTo>
                    <a:pt x="1192122" y="486132"/>
                  </a:lnTo>
                  <a:lnTo>
                    <a:pt x="1231838" y="465991"/>
                  </a:lnTo>
                  <a:lnTo>
                    <a:pt x="1267193" y="444367"/>
                  </a:lnTo>
                  <a:lnTo>
                    <a:pt x="1297897" y="421384"/>
                  </a:lnTo>
                  <a:lnTo>
                    <a:pt x="1344204" y="371823"/>
                  </a:lnTo>
                  <a:lnTo>
                    <a:pt x="1368460" y="318281"/>
                  </a:lnTo>
                  <a:lnTo>
                    <a:pt x="1371600" y="290321"/>
                  </a:lnTo>
                  <a:lnTo>
                    <a:pt x="1368460" y="262362"/>
                  </a:lnTo>
                  <a:lnTo>
                    <a:pt x="1344204" y="208820"/>
                  </a:lnTo>
                  <a:lnTo>
                    <a:pt x="1297897" y="159259"/>
                  </a:lnTo>
                  <a:lnTo>
                    <a:pt x="1267193" y="136276"/>
                  </a:lnTo>
                  <a:lnTo>
                    <a:pt x="1231838" y="114652"/>
                  </a:lnTo>
                  <a:lnTo>
                    <a:pt x="1192122" y="94511"/>
                  </a:lnTo>
                  <a:lnTo>
                    <a:pt x="1148330" y="75973"/>
                  </a:lnTo>
                  <a:lnTo>
                    <a:pt x="1100751" y="59160"/>
                  </a:lnTo>
                  <a:lnTo>
                    <a:pt x="1049671" y="44195"/>
                  </a:lnTo>
                  <a:lnTo>
                    <a:pt x="995380" y="31198"/>
                  </a:lnTo>
                  <a:lnTo>
                    <a:pt x="938163" y="20291"/>
                  </a:lnTo>
                  <a:lnTo>
                    <a:pt x="878309" y="11596"/>
                  </a:lnTo>
                  <a:lnTo>
                    <a:pt x="816106" y="5235"/>
                  </a:lnTo>
                  <a:lnTo>
                    <a:pt x="751840" y="132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792979" y="5495544"/>
              <a:ext cx="1371600" cy="581025"/>
            </a:xfrm>
            <a:custGeom>
              <a:avLst/>
              <a:gdLst/>
              <a:ahLst/>
              <a:cxnLst/>
              <a:rect l="l" t="t" r="r" b="b"/>
              <a:pathLst>
                <a:path w="1371600" h="581025">
                  <a:moveTo>
                    <a:pt x="0" y="290321"/>
                  </a:moveTo>
                  <a:lnTo>
                    <a:pt x="12367" y="235154"/>
                  </a:lnTo>
                  <a:lnTo>
                    <a:pt x="47936" y="183481"/>
                  </a:lnTo>
                  <a:lnTo>
                    <a:pt x="104406" y="136276"/>
                  </a:lnTo>
                  <a:lnTo>
                    <a:pt x="139761" y="114652"/>
                  </a:lnTo>
                  <a:lnTo>
                    <a:pt x="179477" y="94511"/>
                  </a:lnTo>
                  <a:lnTo>
                    <a:pt x="223269" y="75973"/>
                  </a:lnTo>
                  <a:lnTo>
                    <a:pt x="270848" y="59160"/>
                  </a:lnTo>
                  <a:lnTo>
                    <a:pt x="321928" y="44195"/>
                  </a:lnTo>
                  <a:lnTo>
                    <a:pt x="376219" y="31198"/>
                  </a:lnTo>
                  <a:lnTo>
                    <a:pt x="433436" y="20291"/>
                  </a:lnTo>
                  <a:lnTo>
                    <a:pt x="493290" y="11596"/>
                  </a:lnTo>
                  <a:lnTo>
                    <a:pt x="555493" y="5235"/>
                  </a:lnTo>
                  <a:lnTo>
                    <a:pt x="619759" y="1329"/>
                  </a:lnTo>
                  <a:lnTo>
                    <a:pt x="685800" y="0"/>
                  </a:lnTo>
                  <a:lnTo>
                    <a:pt x="751840" y="1329"/>
                  </a:lnTo>
                  <a:lnTo>
                    <a:pt x="816106" y="5235"/>
                  </a:lnTo>
                  <a:lnTo>
                    <a:pt x="878309" y="11596"/>
                  </a:lnTo>
                  <a:lnTo>
                    <a:pt x="938163" y="20291"/>
                  </a:lnTo>
                  <a:lnTo>
                    <a:pt x="995380" y="31198"/>
                  </a:lnTo>
                  <a:lnTo>
                    <a:pt x="1049671" y="44195"/>
                  </a:lnTo>
                  <a:lnTo>
                    <a:pt x="1100751" y="59160"/>
                  </a:lnTo>
                  <a:lnTo>
                    <a:pt x="1148330" y="75973"/>
                  </a:lnTo>
                  <a:lnTo>
                    <a:pt x="1192122" y="94511"/>
                  </a:lnTo>
                  <a:lnTo>
                    <a:pt x="1231838" y="114652"/>
                  </a:lnTo>
                  <a:lnTo>
                    <a:pt x="1267193" y="136276"/>
                  </a:lnTo>
                  <a:lnTo>
                    <a:pt x="1297897" y="159259"/>
                  </a:lnTo>
                  <a:lnTo>
                    <a:pt x="1344204" y="208820"/>
                  </a:lnTo>
                  <a:lnTo>
                    <a:pt x="1368460" y="262362"/>
                  </a:lnTo>
                  <a:lnTo>
                    <a:pt x="1371600" y="290321"/>
                  </a:lnTo>
                  <a:lnTo>
                    <a:pt x="1368460" y="318281"/>
                  </a:lnTo>
                  <a:lnTo>
                    <a:pt x="1344204" y="371823"/>
                  </a:lnTo>
                  <a:lnTo>
                    <a:pt x="1297897" y="421384"/>
                  </a:lnTo>
                  <a:lnTo>
                    <a:pt x="1267193" y="444367"/>
                  </a:lnTo>
                  <a:lnTo>
                    <a:pt x="1231838" y="465991"/>
                  </a:lnTo>
                  <a:lnTo>
                    <a:pt x="1192122" y="486132"/>
                  </a:lnTo>
                  <a:lnTo>
                    <a:pt x="1148330" y="504670"/>
                  </a:lnTo>
                  <a:lnTo>
                    <a:pt x="1100751" y="521483"/>
                  </a:lnTo>
                  <a:lnTo>
                    <a:pt x="1049671" y="536448"/>
                  </a:lnTo>
                  <a:lnTo>
                    <a:pt x="995380" y="549445"/>
                  </a:lnTo>
                  <a:lnTo>
                    <a:pt x="938163" y="560352"/>
                  </a:lnTo>
                  <a:lnTo>
                    <a:pt x="878309" y="569047"/>
                  </a:lnTo>
                  <a:lnTo>
                    <a:pt x="816106" y="575408"/>
                  </a:lnTo>
                  <a:lnTo>
                    <a:pt x="751840" y="579314"/>
                  </a:lnTo>
                  <a:lnTo>
                    <a:pt x="685800" y="580643"/>
                  </a:lnTo>
                  <a:lnTo>
                    <a:pt x="619759" y="579314"/>
                  </a:lnTo>
                  <a:lnTo>
                    <a:pt x="555493" y="575408"/>
                  </a:lnTo>
                  <a:lnTo>
                    <a:pt x="493290" y="569047"/>
                  </a:lnTo>
                  <a:lnTo>
                    <a:pt x="433436" y="560352"/>
                  </a:lnTo>
                  <a:lnTo>
                    <a:pt x="376219" y="549445"/>
                  </a:lnTo>
                  <a:lnTo>
                    <a:pt x="321928" y="536448"/>
                  </a:lnTo>
                  <a:lnTo>
                    <a:pt x="270848" y="521483"/>
                  </a:lnTo>
                  <a:lnTo>
                    <a:pt x="223269" y="504670"/>
                  </a:lnTo>
                  <a:lnTo>
                    <a:pt x="179477" y="486132"/>
                  </a:lnTo>
                  <a:lnTo>
                    <a:pt x="139761" y="465991"/>
                  </a:lnTo>
                  <a:lnTo>
                    <a:pt x="104406" y="444367"/>
                  </a:lnTo>
                  <a:lnTo>
                    <a:pt x="73702" y="421384"/>
                  </a:lnTo>
                  <a:lnTo>
                    <a:pt x="27395" y="371823"/>
                  </a:lnTo>
                  <a:lnTo>
                    <a:pt x="3139" y="318281"/>
                  </a:lnTo>
                  <a:lnTo>
                    <a:pt x="0" y="290321"/>
                  </a:lnTo>
                  <a:close/>
                </a:path>
              </a:pathLst>
            </a:custGeom>
            <a:ln w="12700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084190" y="5627623"/>
            <a:ext cx="7893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04">
                <a:solidFill>
                  <a:srgbClr val="FFFFFF"/>
                </a:solidFill>
                <a:latin typeface="Cambria"/>
                <a:cs typeface="Cambria"/>
              </a:rPr>
              <a:t>CLASS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115817" y="4862321"/>
            <a:ext cx="2376805" cy="969010"/>
            <a:chOff x="3115817" y="4862321"/>
            <a:chExt cx="2376805" cy="969010"/>
          </a:xfrm>
        </p:grpSpPr>
        <p:sp>
          <p:nvSpPr>
            <p:cNvPr id="21" name="object 21" descr=""/>
            <p:cNvSpPr/>
            <p:nvPr/>
          </p:nvSpPr>
          <p:spPr>
            <a:xfrm>
              <a:off x="5479541" y="4862321"/>
              <a:ext cx="0" cy="633730"/>
            </a:xfrm>
            <a:custGeom>
              <a:avLst/>
              <a:gdLst/>
              <a:ahLst/>
              <a:cxnLst/>
              <a:rect l="l" t="t" r="r" b="b"/>
              <a:pathLst>
                <a:path w="0" h="633729">
                  <a:moveTo>
                    <a:pt x="0" y="0"/>
                  </a:moveTo>
                  <a:lnTo>
                    <a:pt x="0" y="633602"/>
                  </a:lnTo>
                </a:path>
              </a:pathLst>
            </a:custGeom>
            <a:ln w="2540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115817" y="5754661"/>
              <a:ext cx="1677670" cy="76200"/>
            </a:xfrm>
            <a:custGeom>
              <a:avLst/>
              <a:gdLst/>
              <a:ahLst/>
              <a:cxnLst/>
              <a:rect l="l" t="t" r="r" b="b"/>
              <a:pathLst>
                <a:path w="1677670" h="76200">
                  <a:moveTo>
                    <a:pt x="76073" y="0"/>
                  </a:moveTo>
                  <a:lnTo>
                    <a:pt x="0" y="38430"/>
                  </a:lnTo>
                  <a:lnTo>
                    <a:pt x="76326" y="76200"/>
                  </a:lnTo>
                  <a:lnTo>
                    <a:pt x="76242" y="50850"/>
                  </a:lnTo>
                  <a:lnTo>
                    <a:pt x="63500" y="50850"/>
                  </a:lnTo>
                  <a:lnTo>
                    <a:pt x="63500" y="25450"/>
                  </a:lnTo>
                  <a:lnTo>
                    <a:pt x="76157" y="25450"/>
                  </a:lnTo>
                  <a:lnTo>
                    <a:pt x="76073" y="0"/>
                  </a:lnTo>
                  <a:close/>
                </a:path>
                <a:path w="1677670" h="76200">
                  <a:moveTo>
                    <a:pt x="1677161" y="18503"/>
                  </a:moveTo>
                  <a:lnTo>
                    <a:pt x="63500" y="25450"/>
                  </a:lnTo>
                  <a:lnTo>
                    <a:pt x="63500" y="50850"/>
                  </a:lnTo>
                  <a:lnTo>
                    <a:pt x="76242" y="50850"/>
                  </a:lnTo>
                  <a:lnTo>
                    <a:pt x="76157" y="25450"/>
                  </a:lnTo>
                  <a:lnTo>
                    <a:pt x="1677161" y="25450"/>
                  </a:lnTo>
                  <a:lnTo>
                    <a:pt x="1677161" y="18503"/>
                  </a:lnTo>
                  <a:close/>
                </a:path>
                <a:path w="1677670" h="76200">
                  <a:moveTo>
                    <a:pt x="1677161" y="25450"/>
                  </a:moveTo>
                  <a:lnTo>
                    <a:pt x="76157" y="25450"/>
                  </a:lnTo>
                  <a:lnTo>
                    <a:pt x="76242" y="50850"/>
                  </a:lnTo>
                  <a:lnTo>
                    <a:pt x="63499" y="50850"/>
                  </a:lnTo>
                  <a:lnTo>
                    <a:pt x="1677161" y="43903"/>
                  </a:lnTo>
                  <a:lnTo>
                    <a:pt x="1677161" y="2545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1496313" y="2907538"/>
            <a:ext cx="1384300" cy="594995"/>
            <a:chOff x="1496313" y="2907538"/>
            <a:chExt cx="1384300" cy="594995"/>
          </a:xfrm>
        </p:grpSpPr>
        <p:sp>
          <p:nvSpPr>
            <p:cNvPr id="24" name="object 24" descr=""/>
            <p:cNvSpPr/>
            <p:nvPr/>
          </p:nvSpPr>
          <p:spPr>
            <a:xfrm>
              <a:off x="1502663" y="2913888"/>
              <a:ext cx="1371600" cy="582295"/>
            </a:xfrm>
            <a:custGeom>
              <a:avLst/>
              <a:gdLst/>
              <a:ahLst/>
              <a:cxnLst/>
              <a:rect l="l" t="t" r="r" b="b"/>
              <a:pathLst>
                <a:path w="1371600" h="582295">
                  <a:moveTo>
                    <a:pt x="685800" y="0"/>
                  </a:moveTo>
                  <a:lnTo>
                    <a:pt x="619759" y="1332"/>
                  </a:lnTo>
                  <a:lnTo>
                    <a:pt x="555493" y="5247"/>
                  </a:lnTo>
                  <a:lnTo>
                    <a:pt x="493290" y="11624"/>
                  </a:lnTo>
                  <a:lnTo>
                    <a:pt x="433436" y="20341"/>
                  </a:lnTo>
                  <a:lnTo>
                    <a:pt x="376219" y="31275"/>
                  </a:lnTo>
                  <a:lnTo>
                    <a:pt x="321928" y="44305"/>
                  </a:lnTo>
                  <a:lnTo>
                    <a:pt x="270848" y="59309"/>
                  </a:lnTo>
                  <a:lnTo>
                    <a:pt x="223269" y="76164"/>
                  </a:lnTo>
                  <a:lnTo>
                    <a:pt x="179477" y="94750"/>
                  </a:lnTo>
                  <a:lnTo>
                    <a:pt x="139761" y="114943"/>
                  </a:lnTo>
                  <a:lnTo>
                    <a:pt x="104406" y="136623"/>
                  </a:lnTo>
                  <a:lnTo>
                    <a:pt x="73702" y="159667"/>
                  </a:lnTo>
                  <a:lnTo>
                    <a:pt x="27395" y="209360"/>
                  </a:lnTo>
                  <a:lnTo>
                    <a:pt x="3139" y="263047"/>
                  </a:lnTo>
                  <a:lnTo>
                    <a:pt x="0" y="291084"/>
                  </a:lnTo>
                  <a:lnTo>
                    <a:pt x="3139" y="319120"/>
                  </a:lnTo>
                  <a:lnTo>
                    <a:pt x="27395" y="372807"/>
                  </a:lnTo>
                  <a:lnTo>
                    <a:pt x="73702" y="422500"/>
                  </a:lnTo>
                  <a:lnTo>
                    <a:pt x="104406" y="445544"/>
                  </a:lnTo>
                  <a:lnTo>
                    <a:pt x="139761" y="467224"/>
                  </a:lnTo>
                  <a:lnTo>
                    <a:pt x="179477" y="487417"/>
                  </a:lnTo>
                  <a:lnTo>
                    <a:pt x="223269" y="506003"/>
                  </a:lnTo>
                  <a:lnTo>
                    <a:pt x="270848" y="522858"/>
                  </a:lnTo>
                  <a:lnTo>
                    <a:pt x="321928" y="537862"/>
                  </a:lnTo>
                  <a:lnTo>
                    <a:pt x="376219" y="550892"/>
                  </a:lnTo>
                  <a:lnTo>
                    <a:pt x="433436" y="561826"/>
                  </a:lnTo>
                  <a:lnTo>
                    <a:pt x="493290" y="570543"/>
                  </a:lnTo>
                  <a:lnTo>
                    <a:pt x="555493" y="576920"/>
                  </a:lnTo>
                  <a:lnTo>
                    <a:pt x="619759" y="580835"/>
                  </a:lnTo>
                  <a:lnTo>
                    <a:pt x="685800" y="582167"/>
                  </a:lnTo>
                  <a:lnTo>
                    <a:pt x="751840" y="580835"/>
                  </a:lnTo>
                  <a:lnTo>
                    <a:pt x="816106" y="576920"/>
                  </a:lnTo>
                  <a:lnTo>
                    <a:pt x="878309" y="570543"/>
                  </a:lnTo>
                  <a:lnTo>
                    <a:pt x="938163" y="561826"/>
                  </a:lnTo>
                  <a:lnTo>
                    <a:pt x="995380" y="550892"/>
                  </a:lnTo>
                  <a:lnTo>
                    <a:pt x="1049671" y="537862"/>
                  </a:lnTo>
                  <a:lnTo>
                    <a:pt x="1100751" y="522858"/>
                  </a:lnTo>
                  <a:lnTo>
                    <a:pt x="1148330" y="506003"/>
                  </a:lnTo>
                  <a:lnTo>
                    <a:pt x="1192122" y="487417"/>
                  </a:lnTo>
                  <a:lnTo>
                    <a:pt x="1231838" y="467224"/>
                  </a:lnTo>
                  <a:lnTo>
                    <a:pt x="1267193" y="445544"/>
                  </a:lnTo>
                  <a:lnTo>
                    <a:pt x="1297897" y="422500"/>
                  </a:lnTo>
                  <a:lnTo>
                    <a:pt x="1344204" y="372807"/>
                  </a:lnTo>
                  <a:lnTo>
                    <a:pt x="1368460" y="319120"/>
                  </a:lnTo>
                  <a:lnTo>
                    <a:pt x="1371600" y="291084"/>
                  </a:lnTo>
                  <a:lnTo>
                    <a:pt x="1368460" y="263047"/>
                  </a:lnTo>
                  <a:lnTo>
                    <a:pt x="1344204" y="209360"/>
                  </a:lnTo>
                  <a:lnTo>
                    <a:pt x="1297897" y="159667"/>
                  </a:lnTo>
                  <a:lnTo>
                    <a:pt x="1267193" y="136623"/>
                  </a:lnTo>
                  <a:lnTo>
                    <a:pt x="1231838" y="114943"/>
                  </a:lnTo>
                  <a:lnTo>
                    <a:pt x="1192122" y="94750"/>
                  </a:lnTo>
                  <a:lnTo>
                    <a:pt x="1148330" y="76164"/>
                  </a:lnTo>
                  <a:lnTo>
                    <a:pt x="1100751" y="59309"/>
                  </a:lnTo>
                  <a:lnTo>
                    <a:pt x="1049671" y="44305"/>
                  </a:lnTo>
                  <a:lnTo>
                    <a:pt x="995380" y="31275"/>
                  </a:lnTo>
                  <a:lnTo>
                    <a:pt x="938163" y="20341"/>
                  </a:lnTo>
                  <a:lnTo>
                    <a:pt x="878309" y="11624"/>
                  </a:lnTo>
                  <a:lnTo>
                    <a:pt x="816106" y="5247"/>
                  </a:lnTo>
                  <a:lnTo>
                    <a:pt x="751840" y="133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502663" y="2913888"/>
              <a:ext cx="1371600" cy="582295"/>
            </a:xfrm>
            <a:custGeom>
              <a:avLst/>
              <a:gdLst/>
              <a:ahLst/>
              <a:cxnLst/>
              <a:rect l="l" t="t" r="r" b="b"/>
              <a:pathLst>
                <a:path w="1371600" h="582295">
                  <a:moveTo>
                    <a:pt x="0" y="291084"/>
                  </a:moveTo>
                  <a:lnTo>
                    <a:pt x="12367" y="235765"/>
                  </a:lnTo>
                  <a:lnTo>
                    <a:pt x="47936" y="183953"/>
                  </a:lnTo>
                  <a:lnTo>
                    <a:pt x="104406" y="136623"/>
                  </a:lnTo>
                  <a:lnTo>
                    <a:pt x="139761" y="114943"/>
                  </a:lnTo>
                  <a:lnTo>
                    <a:pt x="179477" y="94750"/>
                  </a:lnTo>
                  <a:lnTo>
                    <a:pt x="223269" y="76164"/>
                  </a:lnTo>
                  <a:lnTo>
                    <a:pt x="270848" y="59309"/>
                  </a:lnTo>
                  <a:lnTo>
                    <a:pt x="321928" y="44305"/>
                  </a:lnTo>
                  <a:lnTo>
                    <a:pt x="376219" y="31275"/>
                  </a:lnTo>
                  <a:lnTo>
                    <a:pt x="433436" y="20341"/>
                  </a:lnTo>
                  <a:lnTo>
                    <a:pt x="493290" y="11624"/>
                  </a:lnTo>
                  <a:lnTo>
                    <a:pt x="555493" y="5247"/>
                  </a:lnTo>
                  <a:lnTo>
                    <a:pt x="619759" y="1332"/>
                  </a:lnTo>
                  <a:lnTo>
                    <a:pt x="685800" y="0"/>
                  </a:lnTo>
                  <a:lnTo>
                    <a:pt x="751840" y="1332"/>
                  </a:lnTo>
                  <a:lnTo>
                    <a:pt x="816106" y="5247"/>
                  </a:lnTo>
                  <a:lnTo>
                    <a:pt x="878309" y="11624"/>
                  </a:lnTo>
                  <a:lnTo>
                    <a:pt x="938163" y="20341"/>
                  </a:lnTo>
                  <a:lnTo>
                    <a:pt x="995380" y="31275"/>
                  </a:lnTo>
                  <a:lnTo>
                    <a:pt x="1049671" y="44305"/>
                  </a:lnTo>
                  <a:lnTo>
                    <a:pt x="1100751" y="59309"/>
                  </a:lnTo>
                  <a:lnTo>
                    <a:pt x="1148330" y="76164"/>
                  </a:lnTo>
                  <a:lnTo>
                    <a:pt x="1192122" y="94750"/>
                  </a:lnTo>
                  <a:lnTo>
                    <a:pt x="1231838" y="114943"/>
                  </a:lnTo>
                  <a:lnTo>
                    <a:pt x="1267193" y="136623"/>
                  </a:lnTo>
                  <a:lnTo>
                    <a:pt x="1297897" y="159667"/>
                  </a:lnTo>
                  <a:lnTo>
                    <a:pt x="1344204" y="209360"/>
                  </a:lnTo>
                  <a:lnTo>
                    <a:pt x="1368460" y="263047"/>
                  </a:lnTo>
                  <a:lnTo>
                    <a:pt x="1371600" y="291084"/>
                  </a:lnTo>
                  <a:lnTo>
                    <a:pt x="1368460" y="319120"/>
                  </a:lnTo>
                  <a:lnTo>
                    <a:pt x="1344204" y="372807"/>
                  </a:lnTo>
                  <a:lnTo>
                    <a:pt x="1297897" y="422500"/>
                  </a:lnTo>
                  <a:lnTo>
                    <a:pt x="1267193" y="445544"/>
                  </a:lnTo>
                  <a:lnTo>
                    <a:pt x="1231838" y="467224"/>
                  </a:lnTo>
                  <a:lnTo>
                    <a:pt x="1192122" y="487417"/>
                  </a:lnTo>
                  <a:lnTo>
                    <a:pt x="1148330" y="506003"/>
                  </a:lnTo>
                  <a:lnTo>
                    <a:pt x="1100751" y="522858"/>
                  </a:lnTo>
                  <a:lnTo>
                    <a:pt x="1049671" y="537862"/>
                  </a:lnTo>
                  <a:lnTo>
                    <a:pt x="995380" y="550892"/>
                  </a:lnTo>
                  <a:lnTo>
                    <a:pt x="938163" y="561826"/>
                  </a:lnTo>
                  <a:lnTo>
                    <a:pt x="878309" y="570543"/>
                  </a:lnTo>
                  <a:lnTo>
                    <a:pt x="816106" y="576920"/>
                  </a:lnTo>
                  <a:lnTo>
                    <a:pt x="751840" y="580835"/>
                  </a:lnTo>
                  <a:lnTo>
                    <a:pt x="685800" y="582167"/>
                  </a:lnTo>
                  <a:lnTo>
                    <a:pt x="619759" y="580835"/>
                  </a:lnTo>
                  <a:lnTo>
                    <a:pt x="555493" y="576920"/>
                  </a:lnTo>
                  <a:lnTo>
                    <a:pt x="493290" y="570543"/>
                  </a:lnTo>
                  <a:lnTo>
                    <a:pt x="433436" y="561826"/>
                  </a:lnTo>
                  <a:lnTo>
                    <a:pt x="376219" y="550892"/>
                  </a:lnTo>
                  <a:lnTo>
                    <a:pt x="321928" y="537862"/>
                  </a:lnTo>
                  <a:lnTo>
                    <a:pt x="270848" y="522858"/>
                  </a:lnTo>
                  <a:lnTo>
                    <a:pt x="223269" y="506003"/>
                  </a:lnTo>
                  <a:lnTo>
                    <a:pt x="179477" y="487417"/>
                  </a:lnTo>
                  <a:lnTo>
                    <a:pt x="139761" y="467224"/>
                  </a:lnTo>
                  <a:lnTo>
                    <a:pt x="104406" y="445544"/>
                  </a:lnTo>
                  <a:lnTo>
                    <a:pt x="73702" y="422500"/>
                  </a:lnTo>
                  <a:lnTo>
                    <a:pt x="27395" y="372807"/>
                  </a:lnTo>
                  <a:lnTo>
                    <a:pt x="3139" y="319120"/>
                  </a:lnTo>
                  <a:lnTo>
                    <a:pt x="0" y="291084"/>
                  </a:lnTo>
                  <a:close/>
                </a:path>
              </a:pathLst>
            </a:custGeom>
            <a:ln w="12700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1792985" y="3046857"/>
            <a:ext cx="7893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04">
                <a:solidFill>
                  <a:srgbClr val="FFFFFF"/>
                </a:solidFill>
                <a:latin typeface="Cambria"/>
                <a:cs typeface="Cambria"/>
              </a:rPr>
              <a:t>CLASS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2151126" y="2490977"/>
            <a:ext cx="76200" cy="1651635"/>
            <a:chOff x="2151126" y="2490977"/>
            <a:chExt cx="76200" cy="1651635"/>
          </a:xfrm>
        </p:grpSpPr>
        <p:sp>
          <p:nvSpPr>
            <p:cNvPr id="28" name="object 28" descr=""/>
            <p:cNvSpPr/>
            <p:nvPr/>
          </p:nvSpPr>
          <p:spPr>
            <a:xfrm>
              <a:off x="2189226" y="2490977"/>
              <a:ext cx="0" cy="424815"/>
            </a:xfrm>
            <a:custGeom>
              <a:avLst/>
              <a:gdLst/>
              <a:ahLst/>
              <a:cxnLst/>
              <a:rect l="l" t="t" r="r" b="b"/>
              <a:pathLst>
                <a:path w="0" h="424814">
                  <a:moveTo>
                    <a:pt x="0" y="0"/>
                  </a:moveTo>
                  <a:lnTo>
                    <a:pt x="0" y="424688"/>
                  </a:lnTo>
                </a:path>
              </a:pathLst>
            </a:custGeom>
            <a:ln w="2540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151126" y="3496817"/>
              <a:ext cx="76200" cy="645795"/>
            </a:xfrm>
            <a:custGeom>
              <a:avLst/>
              <a:gdLst/>
              <a:ahLst/>
              <a:cxnLst/>
              <a:rect l="l" t="t" r="r" b="b"/>
              <a:pathLst>
                <a:path w="76200" h="645795">
                  <a:moveTo>
                    <a:pt x="25400" y="569468"/>
                  </a:moveTo>
                  <a:lnTo>
                    <a:pt x="0" y="569468"/>
                  </a:lnTo>
                  <a:lnTo>
                    <a:pt x="38100" y="645668"/>
                  </a:lnTo>
                  <a:lnTo>
                    <a:pt x="69850" y="582168"/>
                  </a:lnTo>
                  <a:lnTo>
                    <a:pt x="25400" y="582168"/>
                  </a:lnTo>
                  <a:lnTo>
                    <a:pt x="25400" y="569468"/>
                  </a:lnTo>
                  <a:close/>
                </a:path>
                <a:path w="76200" h="645795">
                  <a:moveTo>
                    <a:pt x="50800" y="0"/>
                  </a:moveTo>
                  <a:lnTo>
                    <a:pt x="25400" y="0"/>
                  </a:lnTo>
                  <a:lnTo>
                    <a:pt x="25400" y="582168"/>
                  </a:lnTo>
                  <a:lnTo>
                    <a:pt x="50800" y="582168"/>
                  </a:lnTo>
                  <a:lnTo>
                    <a:pt x="50800" y="0"/>
                  </a:lnTo>
                  <a:close/>
                </a:path>
                <a:path w="76200" h="645795">
                  <a:moveTo>
                    <a:pt x="76200" y="569468"/>
                  </a:moveTo>
                  <a:lnTo>
                    <a:pt x="50800" y="569468"/>
                  </a:lnTo>
                  <a:lnTo>
                    <a:pt x="50800" y="582168"/>
                  </a:lnTo>
                  <a:lnTo>
                    <a:pt x="69850" y="582168"/>
                  </a:lnTo>
                  <a:lnTo>
                    <a:pt x="76200" y="569468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3434841" y="1833117"/>
            <a:ext cx="2118995" cy="593725"/>
            <a:chOff x="3434841" y="1833117"/>
            <a:chExt cx="2118995" cy="593725"/>
          </a:xfrm>
        </p:grpSpPr>
        <p:sp>
          <p:nvSpPr>
            <p:cNvPr id="31" name="object 31" descr=""/>
            <p:cNvSpPr/>
            <p:nvPr/>
          </p:nvSpPr>
          <p:spPr>
            <a:xfrm>
              <a:off x="3441191" y="1839467"/>
              <a:ext cx="2106295" cy="581025"/>
            </a:xfrm>
            <a:custGeom>
              <a:avLst/>
              <a:gdLst/>
              <a:ahLst/>
              <a:cxnLst/>
              <a:rect l="l" t="t" r="r" b="b"/>
              <a:pathLst>
                <a:path w="2106295" h="581025">
                  <a:moveTo>
                    <a:pt x="1053084" y="0"/>
                  </a:moveTo>
                  <a:lnTo>
                    <a:pt x="980976" y="669"/>
                  </a:lnTo>
                  <a:lnTo>
                    <a:pt x="910174" y="2649"/>
                  </a:lnTo>
                  <a:lnTo>
                    <a:pt x="840834" y="5895"/>
                  </a:lnTo>
                  <a:lnTo>
                    <a:pt x="773112" y="10366"/>
                  </a:lnTo>
                  <a:lnTo>
                    <a:pt x="707166" y="16017"/>
                  </a:lnTo>
                  <a:lnTo>
                    <a:pt x="643151" y="22806"/>
                  </a:lnTo>
                  <a:lnTo>
                    <a:pt x="581226" y="30689"/>
                  </a:lnTo>
                  <a:lnTo>
                    <a:pt x="521546" y="39624"/>
                  </a:lnTo>
                  <a:lnTo>
                    <a:pt x="464269" y="49566"/>
                  </a:lnTo>
                  <a:lnTo>
                    <a:pt x="409551" y="60473"/>
                  </a:lnTo>
                  <a:lnTo>
                    <a:pt x="357548" y="72302"/>
                  </a:lnTo>
                  <a:lnTo>
                    <a:pt x="308419" y="85010"/>
                  </a:lnTo>
                  <a:lnTo>
                    <a:pt x="262319" y="98553"/>
                  </a:lnTo>
                  <a:lnTo>
                    <a:pt x="219405" y="112889"/>
                  </a:lnTo>
                  <a:lnTo>
                    <a:pt x="179834" y="127973"/>
                  </a:lnTo>
                  <a:lnTo>
                    <a:pt x="143764" y="143763"/>
                  </a:lnTo>
                  <a:lnTo>
                    <a:pt x="82748" y="177290"/>
                  </a:lnTo>
                  <a:lnTo>
                    <a:pt x="37613" y="213121"/>
                  </a:lnTo>
                  <a:lnTo>
                    <a:pt x="9612" y="250914"/>
                  </a:lnTo>
                  <a:lnTo>
                    <a:pt x="0" y="290322"/>
                  </a:lnTo>
                  <a:lnTo>
                    <a:pt x="2429" y="310206"/>
                  </a:lnTo>
                  <a:lnTo>
                    <a:pt x="21392" y="348849"/>
                  </a:lnTo>
                  <a:lnTo>
                    <a:pt x="58117" y="385704"/>
                  </a:lnTo>
                  <a:lnTo>
                    <a:pt x="111349" y="420426"/>
                  </a:lnTo>
                  <a:lnTo>
                    <a:pt x="179834" y="452670"/>
                  </a:lnTo>
                  <a:lnTo>
                    <a:pt x="219405" y="467754"/>
                  </a:lnTo>
                  <a:lnTo>
                    <a:pt x="262319" y="482090"/>
                  </a:lnTo>
                  <a:lnTo>
                    <a:pt x="308419" y="495633"/>
                  </a:lnTo>
                  <a:lnTo>
                    <a:pt x="357548" y="508341"/>
                  </a:lnTo>
                  <a:lnTo>
                    <a:pt x="409551" y="520170"/>
                  </a:lnTo>
                  <a:lnTo>
                    <a:pt x="464269" y="531077"/>
                  </a:lnTo>
                  <a:lnTo>
                    <a:pt x="521546" y="541020"/>
                  </a:lnTo>
                  <a:lnTo>
                    <a:pt x="581226" y="549954"/>
                  </a:lnTo>
                  <a:lnTo>
                    <a:pt x="643151" y="557837"/>
                  </a:lnTo>
                  <a:lnTo>
                    <a:pt x="707166" y="564626"/>
                  </a:lnTo>
                  <a:lnTo>
                    <a:pt x="773112" y="570277"/>
                  </a:lnTo>
                  <a:lnTo>
                    <a:pt x="840834" y="574748"/>
                  </a:lnTo>
                  <a:lnTo>
                    <a:pt x="910174" y="577994"/>
                  </a:lnTo>
                  <a:lnTo>
                    <a:pt x="980976" y="579974"/>
                  </a:lnTo>
                  <a:lnTo>
                    <a:pt x="1053084" y="580644"/>
                  </a:lnTo>
                  <a:lnTo>
                    <a:pt x="1125191" y="579974"/>
                  </a:lnTo>
                  <a:lnTo>
                    <a:pt x="1195993" y="577994"/>
                  </a:lnTo>
                  <a:lnTo>
                    <a:pt x="1265333" y="574748"/>
                  </a:lnTo>
                  <a:lnTo>
                    <a:pt x="1333055" y="570277"/>
                  </a:lnTo>
                  <a:lnTo>
                    <a:pt x="1399001" y="564626"/>
                  </a:lnTo>
                  <a:lnTo>
                    <a:pt x="1463016" y="557837"/>
                  </a:lnTo>
                  <a:lnTo>
                    <a:pt x="1524941" y="549954"/>
                  </a:lnTo>
                  <a:lnTo>
                    <a:pt x="1584621" y="541020"/>
                  </a:lnTo>
                  <a:lnTo>
                    <a:pt x="1641898" y="531077"/>
                  </a:lnTo>
                  <a:lnTo>
                    <a:pt x="1696616" y="520170"/>
                  </a:lnTo>
                  <a:lnTo>
                    <a:pt x="1748619" y="508341"/>
                  </a:lnTo>
                  <a:lnTo>
                    <a:pt x="1797748" y="495633"/>
                  </a:lnTo>
                  <a:lnTo>
                    <a:pt x="1843848" y="482090"/>
                  </a:lnTo>
                  <a:lnTo>
                    <a:pt x="1886762" y="467754"/>
                  </a:lnTo>
                  <a:lnTo>
                    <a:pt x="1926333" y="452670"/>
                  </a:lnTo>
                  <a:lnTo>
                    <a:pt x="1962403" y="436880"/>
                  </a:lnTo>
                  <a:lnTo>
                    <a:pt x="2023419" y="403353"/>
                  </a:lnTo>
                  <a:lnTo>
                    <a:pt x="2068554" y="367522"/>
                  </a:lnTo>
                  <a:lnTo>
                    <a:pt x="2096555" y="329729"/>
                  </a:lnTo>
                  <a:lnTo>
                    <a:pt x="2106168" y="290322"/>
                  </a:lnTo>
                  <a:lnTo>
                    <a:pt x="2103738" y="270437"/>
                  </a:lnTo>
                  <a:lnTo>
                    <a:pt x="2084775" y="231794"/>
                  </a:lnTo>
                  <a:lnTo>
                    <a:pt x="2048050" y="194939"/>
                  </a:lnTo>
                  <a:lnTo>
                    <a:pt x="1994818" y="160217"/>
                  </a:lnTo>
                  <a:lnTo>
                    <a:pt x="1926333" y="127973"/>
                  </a:lnTo>
                  <a:lnTo>
                    <a:pt x="1886762" y="112889"/>
                  </a:lnTo>
                  <a:lnTo>
                    <a:pt x="1843848" y="98553"/>
                  </a:lnTo>
                  <a:lnTo>
                    <a:pt x="1797748" y="85010"/>
                  </a:lnTo>
                  <a:lnTo>
                    <a:pt x="1748619" y="72302"/>
                  </a:lnTo>
                  <a:lnTo>
                    <a:pt x="1696616" y="60473"/>
                  </a:lnTo>
                  <a:lnTo>
                    <a:pt x="1641898" y="49566"/>
                  </a:lnTo>
                  <a:lnTo>
                    <a:pt x="1584621" y="39624"/>
                  </a:lnTo>
                  <a:lnTo>
                    <a:pt x="1524941" y="30689"/>
                  </a:lnTo>
                  <a:lnTo>
                    <a:pt x="1463016" y="22806"/>
                  </a:lnTo>
                  <a:lnTo>
                    <a:pt x="1399001" y="16017"/>
                  </a:lnTo>
                  <a:lnTo>
                    <a:pt x="1333055" y="10366"/>
                  </a:lnTo>
                  <a:lnTo>
                    <a:pt x="1265333" y="5895"/>
                  </a:lnTo>
                  <a:lnTo>
                    <a:pt x="1195993" y="2649"/>
                  </a:lnTo>
                  <a:lnTo>
                    <a:pt x="1125191" y="669"/>
                  </a:lnTo>
                  <a:lnTo>
                    <a:pt x="1053084" y="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441191" y="1839467"/>
              <a:ext cx="2106295" cy="581025"/>
            </a:xfrm>
            <a:custGeom>
              <a:avLst/>
              <a:gdLst/>
              <a:ahLst/>
              <a:cxnLst/>
              <a:rect l="l" t="t" r="r" b="b"/>
              <a:pathLst>
                <a:path w="2106295" h="581025">
                  <a:moveTo>
                    <a:pt x="0" y="290322"/>
                  </a:moveTo>
                  <a:lnTo>
                    <a:pt x="9612" y="250914"/>
                  </a:lnTo>
                  <a:lnTo>
                    <a:pt x="37613" y="213121"/>
                  </a:lnTo>
                  <a:lnTo>
                    <a:pt x="82748" y="177290"/>
                  </a:lnTo>
                  <a:lnTo>
                    <a:pt x="143764" y="143763"/>
                  </a:lnTo>
                  <a:lnTo>
                    <a:pt x="179834" y="127973"/>
                  </a:lnTo>
                  <a:lnTo>
                    <a:pt x="219405" y="112889"/>
                  </a:lnTo>
                  <a:lnTo>
                    <a:pt x="262319" y="98553"/>
                  </a:lnTo>
                  <a:lnTo>
                    <a:pt x="308419" y="85010"/>
                  </a:lnTo>
                  <a:lnTo>
                    <a:pt x="357548" y="72302"/>
                  </a:lnTo>
                  <a:lnTo>
                    <a:pt x="409551" y="60473"/>
                  </a:lnTo>
                  <a:lnTo>
                    <a:pt x="464269" y="49566"/>
                  </a:lnTo>
                  <a:lnTo>
                    <a:pt x="521546" y="39624"/>
                  </a:lnTo>
                  <a:lnTo>
                    <a:pt x="581226" y="30689"/>
                  </a:lnTo>
                  <a:lnTo>
                    <a:pt x="643151" y="22806"/>
                  </a:lnTo>
                  <a:lnTo>
                    <a:pt x="707166" y="16017"/>
                  </a:lnTo>
                  <a:lnTo>
                    <a:pt x="773112" y="10366"/>
                  </a:lnTo>
                  <a:lnTo>
                    <a:pt x="840834" y="5895"/>
                  </a:lnTo>
                  <a:lnTo>
                    <a:pt x="910174" y="2649"/>
                  </a:lnTo>
                  <a:lnTo>
                    <a:pt x="980976" y="669"/>
                  </a:lnTo>
                  <a:lnTo>
                    <a:pt x="1053084" y="0"/>
                  </a:lnTo>
                  <a:lnTo>
                    <a:pt x="1125191" y="669"/>
                  </a:lnTo>
                  <a:lnTo>
                    <a:pt x="1195993" y="2649"/>
                  </a:lnTo>
                  <a:lnTo>
                    <a:pt x="1265333" y="5895"/>
                  </a:lnTo>
                  <a:lnTo>
                    <a:pt x="1333055" y="10366"/>
                  </a:lnTo>
                  <a:lnTo>
                    <a:pt x="1399001" y="16017"/>
                  </a:lnTo>
                  <a:lnTo>
                    <a:pt x="1463016" y="22806"/>
                  </a:lnTo>
                  <a:lnTo>
                    <a:pt x="1524941" y="30689"/>
                  </a:lnTo>
                  <a:lnTo>
                    <a:pt x="1584621" y="39624"/>
                  </a:lnTo>
                  <a:lnTo>
                    <a:pt x="1641898" y="49566"/>
                  </a:lnTo>
                  <a:lnTo>
                    <a:pt x="1696616" y="60473"/>
                  </a:lnTo>
                  <a:lnTo>
                    <a:pt x="1748619" y="72302"/>
                  </a:lnTo>
                  <a:lnTo>
                    <a:pt x="1797748" y="85010"/>
                  </a:lnTo>
                  <a:lnTo>
                    <a:pt x="1843848" y="98553"/>
                  </a:lnTo>
                  <a:lnTo>
                    <a:pt x="1886762" y="112889"/>
                  </a:lnTo>
                  <a:lnTo>
                    <a:pt x="1926333" y="127973"/>
                  </a:lnTo>
                  <a:lnTo>
                    <a:pt x="1962404" y="143763"/>
                  </a:lnTo>
                  <a:lnTo>
                    <a:pt x="2023419" y="177290"/>
                  </a:lnTo>
                  <a:lnTo>
                    <a:pt x="2068554" y="213121"/>
                  </a:lnTo>
                  <a:lnTo>
                    <a:pt x="2096555" y="250914"/>
                  </a:lnTo>
                  <a:lnTo>
                    <a:pt x="2106168" y="290322"/>
                  </a:lnTo>
                  <a:lnTo>
                    <a:pt x="2103738" y="310206"/>
                  </a:lnTo>
                  <a:lnTo>
                    <a:pt x="2084775" y="348849"/>
                  </a:lnTo>
                  <a:lnTo>
                    <a:pt x="2048050" y="385704"/>
                  </a:lnTo>
                  <a:lnTo>
                    <a:pt x="1994818" y="420426"/>
                  </a:lnTo>
                  <a:lnTo>
                    <a:pt x="1926333" y="452670"/>
                  </a:lnTo>
                  <a:lnTo>
                    <a:pt x="1886762" y="467754"/>
                  </a:lnTo>
                  <a:lnTo>
                    <a:pt x="1843848" y="482090"/>
                  </a:lnTo>
                  <a:lnTo>
                    <a:pt x="1797748" y="495633"/>
                  </a:lnTo>
                  <a:lnTo>
                    <a:pt x="1748619" y="508341"/>
                  </a:lnTo>
                  <a:lnTo>
                    <a:pt x="1696616" y="520170"/>
                  </a:lnTo>
                  <a:lnTo>
                    <a:pt x="1641898" y="531077"/>
                  </a:lnTo>
                  <a:lnTo>
                    <a:pt x="1584621" y="541020"/>
                  </a:lnTo>
                  <a:lnTo>
                    <a:pt x="1524941" y="549954"/>
                  </a:lnTo>
                  <a:lnTo>
                    <a:pt x="1463016" y="557837"/>
                  </a:lnTo>
                  <a:lnTo>
                    <a:pt x="1399001" y="564626"/>
                  </a:lnTo>
                  <a:lnTo>
                    <a:pt x="1333055" y="570277"/>
                  </a:lnTo>
                  <a:lnTo>
                    <a:pt x="1265333" y="574748"/>
                  </a:lnTo>
                  <a:lnTo>
                    <a:pt x="1195993" y="577994"/>
                  </a:lnTo>
                  <a:lnTo>
                    <a:pt x="1125191" y="579974"/>
                  </a:lnTo>
                  <a:lnTo>
                    <a:pt x="1053084" y="580644"/>
                  </a:lnTo>
                  <a:lnTo>
                    <a:pt x="980976" y="579974"/>
                  </a:lnTo>
                  <a:lnTo>
                    <a:pt x="910174" y="577994"/>
                  </a:lnTo>
                  <a:lnTo>
                    <a:pt x="840834" y="574748"/>
                  </a:lnTo>
                  <a:lnTo>
                    <a:pt x="773112" y="570277"/>
                  </a:lnTo>
                  <a:lnTo>
                    <a:pt x="707166" y="564626"/>
                  </a:lnTo>
                  <a:lnTo>
                    <a:pt x="643151" y="557837"/>
                  </a:lnTo>
                  <a:lnTo>
                    <a:pt x="581226" y="549954"/>
                  </a:lnTo>
                  <a:lnTo>
                    <a:pt x="521546" y="541020"/>
                  </a:lnTo>
                  <a:lnTo>
                    <a:pt x="464269" y="531077"/>
                  </a:lnTo>
                  <a:lnTo>
                    <a:pt x="409551" y="520170"/>
                  </a:lnTo>
                  <a:lnTo>
                    <a:pt x="357548" y="508341"/>
                  </a:lnTo>
                  <a:lnTo>
                    <a:pt x="308419" y="495633"/>
                  </a:lnTo>
                  <a:lnTo>
                    <a:pt x="262319" y="482090"/>
                  </a:lnTo>
                  <a:lnTo>
                    <a:pt x="219405" y="467754"/>
                  </a:lnTo>
                  <a:lnTo>
                    <a:pt x="179834" y="452670"/>
                  </a:lnTo>
                  <a:lnTo>
                    <a:pt x="143763" y="436880"/>
                  </a:lnTo>
                  <a:lnTo>
                    <a:pt x="82748" y="403353"/>
                  </a:lnTo>
                  <a:lnTo>
                    <a:pt x="37613" y="367522"/>
                  </a:lnTo>
                  <a:lnTo>
                    <a:pt x="9612" y="329729"/>
                  </a:lnTo>
                  <a:lnTo>
                    <a:pt x="0" y="290322"/>
                  </a:lnTo>
                  <a:close/>
                </a:path>
              </a:pathLst>
            </a:custGeom>
            <a:ln w="12700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3877436" y="1971294"/>
            <a:ext cx="1233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10">
                <a:solidFill>
                  <a:srgbClr val="FFFFFF"/>
                </a:solidFill>
                <a:latin typeface="Cambria"/>
                <a:cs typeface="Cambria"/>
              </a:rPr>
              <a:t>MATERIAL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3042666" y="2091689"/>
            <a:ext cx="2753360" cy="76200"/>
            <a:chOff x="3042666" y="2091689"/>
            <a:chExt cx="2753360" cy="76200"/>
          </a:xfrm>
        </p:grpSpPr>
        <p:sp>
          <p:nvSpPr>
            <p:cNvPr id="35" name="object 35" descr=""/>
            <p:cNvSpPr/>
            <p:nvPr/>
          </p:nvSpPr>
          <p:spPr>
            <a:xfrm>
              <a:off x="5548122" y="2129789"/>
              <a:ext cx="247650" cy="0"/>
            </a:xfrm>
            <a:custGeom>
              <a:avLst/>
              <a:gdLst/>
              <a:ahLst/>
              <a:cxnLst/>
              <a:rect l="l" t="t" r="r" b="b"/>
              <a:pathLst>
                <a:path w="247650" h="0">
                  <a:moveTo>
                    <a:pt x="247395" y="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042666" y="2091689"/>
              <a:ext cx="399415" cy="76200"/>
            </a:xfrm>
            <a:custGeom>
              <a:avLst/>
              <a:gdLst/>
              <a:ahLst/>
              <a:cxnLst/>
              <a:rect l="l" t="t" r="r" b="b"/>
              <a:pathLst>
                <a:path w="399414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399414" h="7620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399414" h="76200">
                  <a:moveTo>
                    <a:pt x="399287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399287" y="50800"/>
                  </a:lnTo>
                  <a:lnTo>
                    <a:pt x="399287" y="2540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 descr=""/>
          <p:cNvGrpSpPr/>
          <p:nvPr/>
        </p:nvGrpSpPr>
        <p:grpSpPr>
          <a:xfrm>
            <a:off x="4500117" y="2787142"/>
            <a:ext cx="1955800" cy="1355725"/>
            <a:chOff x="4500117" y="2787142"/>
            <a:chExt cx="1955800" cy="1355725"/>
          </a:xfrm>
        </p:grpSpPr>
        <p:sp>
          <p:nvSpPr>
            <p:cNvPr id="38" name="object 38" descr=""/>
            <p:cNvSpPr/>
            <p:nvPr/>
          </p:nvSpPr>
          <p:spPr>
            <a:xfrm>
              <a:off x="4506468" y="2793491"/>
              <a:ext cx="1943100" cy="1349375"/>
            </a:xfrm>
            <a:custGeom>
              <a:avLst/>
              <a:gdLst/>
              <a:ahLst/>
              <a:cxnLst/>
              <a:rect l="l" t="t" r="r" b="b"/>
              <a:pathLst>
                <a:path w="1943100" h="1349375">
                  <a:moveTo>
                    <a:pt x="1011174" y="1273175"/>
                  </a:moveTo>
                  <a:lnTo>
                    <a:pt x="985774" y="1273175"/>
                  </a:lnTo>
                  <a:lnTo>
                    <a:pt x="985774" y="1066038"/>
                  </a:lnTo>
                  <a:lnTo>
                    <a:pt x="960374" y="1066038"/>
                  </a:lnTo>
                  <a:lnTo>
                    <a:pt x="960374" y="1273175"/>
                  </a:lnTo>
                  <a:lnTo>
                    <a:pt x="934974" y="1273175"/>
                  </a:lnTo>
                  <a:lnTo>
                    <a:pt x="973074" y="1349375"/>
                  </a:lnTo>
                  <a:lnTo>
                    <a:pt x="1004824" y="1285875"/>
                  </a:lnTo>
                  <a:lnTo>
                    <a:pt x="1011174" y="1273175"/>
                  </a:lnTo>
                  <a:close/>
                </a:path>
                <a:path w="1943100" h="1349375">
                  <a:moveTo>
                    <a:pt x="1943100" y="532638"/>
                  </a:moveTo>
                  <a:lnTo>
                    <a:pt x="1935518" y="465836"/>
                  </a:lnTo>
                  <a:lnTo>
                    <a:pt x="1913420" y="401510"/>
                  </a:lnTo>
                  <a:lnTo>
                    <a:pt x="1877695" y="340144"/>
                  </a:lnTo>
                  <a:lnTo>
                    <a:pt x="1829257" y="282270"/>
                  </a:lnTo>
                  <a:lnTo>
                    <a:pt x="1800567" y="254774"/>
                  </a:lnTo>
                  <a:lnTo>
                    <a:pt x="1769021" y="228358"/>
                  </a:lnTo>
                  <a:lnTo>
                    <a:pt x="1734769" y="203047"/>
                  </a:lnTo>
                  <a:lnTo>
                    <a:pt x="1697901" y="178917"/>
                  </a:lnTo>
                  <a:lnTo>
                    <a:pt x="1658531" y="156019"/>
                  </a:lnTo>
                  <a:lnTo>
                    <a:pt x="1616786" y="134442"/>
                  </a:lnTo>
                  <a:lnTo>
                    <a:pt x="1572780" y="114236"/>
                  </a:lnTo>
                  <a:lnTo>
                    <a:pt x="1526616" y="95453"/>
                  </a:lnTo>
                  <a:lnTo>
                    <a:pt x="1478407" y="78155"/>
                  </a:lnTo>
                  <a:lnTo>
                    <a:pt x="1428280" y="62420"/>
                  </a:lnTo>
                  <a:lnTo>
                    <a:pt x="1376337" y="48298"/>
                  </a:lnTo>
                  <a:lnTo>
                    <a:pt x="1322692" y="35864"/>
                  </a:lnTo>
                  <a:lnTo>
                    <a:pt x="1267460" y="25171"/>
                  </a:lnTo>
                  <a:lnTo>
                    <a:pt x="1210767" y="16281"/>
                  </a:lnTo>
                  <a:lnTo>
                    <a:pt x="1152715" y="9245"/>
                  </a:lnTo>
                  <a:lnTo>
                    <a:pt x="1093419" y="4152"/>
                  </a:lnTo>
                  <a:lnTo>
                    <a:pt x="1032992" y="1054"/>
                  </a:lnTo>
                  <a:lnTo>
                    <a:pt x="971550" y="0"/>
                  </a:lnTo>
                  <a:lnTo>
                    <a:pt x="910094" y="1054"/>
                  </a:lnTo>
                  <a:lnTo>
                    <a:pt x="849668" y="4152"/>
                  </a:lnTo>
                  <a:lnTo>
                    <a:pt x="790371" y="9245"/>
                  </a:lnTo>
                  <a:lnTo>
                    <a:pt x="732320" y="16281"/>
                  </a:lnTo>
                  <a:lnTo>
                    <a:pt x="675627" y="25171"/>
                  </a:lnTo>
                  <a:lnTo>
                    <a:pt x="620395" y="35864"/>
                  </a:lnTo>
                  <a:lnTo>
                    <a:pt x="566750" y="48298"/>
                  </a:lnTo>
                  <a:lnTo>
                    <a:pt x="514807" y="62420"/>
                  </a:lnTo>
                  <a:lnTo>
                    <a:pt x="464680" y="78155"/>
                  </a:lnTo>
                  <a:lnTo>
                    <a:pt x="416471" y="95453"/>
                  </a:lnTo>
                  <a:lnTo>
                    <a:pt x="370306" y="114236"/>
                  </a:lnTo>
                  <a:lnTo>
                    <a:pt x="326301" y="134442"/>
                  </a:lnTo>
                  <a:lnTo>
                    <a:pt x="284556" y="156019"/>
                  </a:lnTo>
                  <a:lnTo>
                    <a:pt x="245186" y="178917"/>
                  </a:lnTo>
                  <a:lnTo>
                    <a:pt x="208318" y="203047"/>
                  </a:lnTo>
                  <a:lnTo>
                    <a:pt x="174066" y="228358"/>
                  </a:lnTo>
                  <a:lnTo>
                    <a:pt x="142519" y="254774"/>
                  </a:lnTo>
                  <a:lnTo>
                    <a:pt x="113830" y="282270"/>
                  </a:lnTo>
                  <a:lnTo>
                    <a:pt x="88074" y="310743"/>
                  </a:lnTo>
                  <a:lnTo>
                    <a:pt x="45885" y="370420"/>
                  </a:lnTo>
                  <a:lnTo>
                    <a:pt x="16852" y="433336"/>
                  </a:lnTo>
                  <a:lnTo>
                    <a:pt x="1905" y="498957"/>
                  </a:lnTo>
                  <a:lnTo>
                    <a:pt x="0" y="532638"/>
                  </a:lnTo>
                  <a:lnTo>
                    <a:pt x="1905" y="566331"/>
                  </a:lnTo>
                  <a:lnTo>
                    <a:pt x="16852" y="631952"/>
                  </a:lnTo>
                  <a:lnTo>
                    <a:pt x="45885" y="694867"/>
                  </a:lnTo>
                  <a:lnTo>
                    <a:pt x="88074" y="754545"/>
                  </a:lnTo>
                  <a:lnTo>
                    <a:pt x="113830" y="783018"/>
                  </a:lnTo>
                  <a:lnTo>
                    <a:pt x="142519" y="810514"/>
                  </a:lnTo>
                  <a:lnTo>
                    <a:pt x="174066" y="836930"/>
                  </a:lnTo>
                  <a:lnTo>
                    <a:pt x="208318" y="862241"/>
                  </a:lnTo>
                  <a:lnTo>
                    <a:pt x="245186" y="886371"/>
                  </a:lnTo>
                  <a:lnTo>
                    <a:pt x="284556" y="909256"/>
                  </a:lnTo>
                  <a:lnTo>
                    <a:pt x="326301" y="930846"/>
                  </a:lnTo>
                  <a:lnTo>
                    <a:pt x="370306" y="951052"/>
                  </a:lnTo>
                  <a:lnTo>
                    <a:pt x="416471" y="969835"/>
                  </a:lnTo>
                  <a:lnTo>
                    <a:pt x="464680" y="987132"/>
                  </a:lnTo>
                  <a:lnTo>
                    <a:pt x="514807" y="1002868"/>
                  </a:lnTo>
                  <a:lnTo>
                    <a:pt x="566750" y="1016990"/>
                  </a:lnTo>
                  <a:lnTo>
                    <a:pt x="620395" y="1029423"/>
                  </a:lnTo>
                  <a:lnTo>
                    <a:pt x="675627" y="1040117"/>
                  </a:lnTo>
                  <a:lnTo>
                    <a:pt x="732320" y="1049007"/>
                  </a:lnTo>
                  <a:lnTo>
                    <a:pt x="790371" y="1056043"/>
                  </a:lnTo>
                  <a:lnTo>
                    <a:pt x="849668" y="1061135"/>
                  </a:lnTo>
                  <a:lnTo>
                    <a:pt x="910094" y="1064234"/>
                  </a:lnTo>
                  <a:lnTo>
                    <a:pt x="971550" y="1065276"/>
                  </a:lnTo>
                  <a:lnTo>
                    <a:pt x="1032992" y="1064234"/>
                  </a:lnTo>
                  <a:lnTo>
                    <a:pt x="1093419" y="1061135"/>
                  </a:lnTo>
                  <a:lnTo>
                    <a:pt x="1152715" y="1056043"/>
                  </a:lnTo>
                  <a:lnTo>
                    <a:pt x="1210767" y="1049007"/>
                  </a:lnTo>
                  <a:lnTo>
                    <a:pt x="1267460" y="1040117"/>
                  </a:lnTo>
                  <a:lnTo>
                    <a:pt x="1322692" y="1029423"/>
                  </a:lnTo>
                  <a:lnTo>
                    <a:pt x="1376337" y="1016990"/>
                  </a:lnTo>
                  <a:lnTo>
                    <a:pt x="1428280" y="1002868"/>
                  </a:lnTo>
                  <a:lnTo>
                    <a:pt x="1478407" y="987132"/>
                  </a:lnTo>
                  <a:lnTo>
                    <a:pt x="1526616" y="969835"/>
                  </a:lnTo>
                  <a:lnTo>
                    <a:pt x="1572780" y="951052"/>
                  </a:lnTo>
                  <a:lnTo>
                    <a:pt x="1616786" y="930846"/>
                  </a:lnTo>
                  <a:lnTo>
                    <a:pt x="1658531" y="909256"/>
                  </a:lnTo>
                  <a:lnTo>
                    <a:pt x="1697901" y="886371"/>
                  </a:lnTo>
                  <a:lnTo>
                    <a:pt x="1734769" y="862241"/>
                  </a:lnTo>
                  <a:lnTo>
                    <a:pt x="1769021" y="836930"/>
                  </a:lnTo>
                  <a:lnTo>
                    <a:pt x="1800567" y="810514"/>
                  </a:lnTo>
                  <a:lnTo>
                    <a:pt x="1829257" y="783018"/>
                  </a:lnTo>
                  <a:lnTo>
                    <a:pt x="1855012" y="754545"/>
                  </a:lnTo>
                  <a:lnTo>
                    <a:pt x="1897202" y="694867"/>
                  </a:lnTo>
                  <a:lnTo>
                    <a:pt x="1926234" y="631952"/>
                  </a:lnTo>
                  <a:lnTo>
                    <a:pt x="1941182" y="566331"/>
                  </a:lnTo>
                  <a:lnTo>
                    <a:pt x="1943100" y="532638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506467" y="2793492"/>
              <a:ext cx="1943100" cy="1065530"/>
            </a:xfrm>
            <a:custGeom>
              <a:avLst/>
              <a:gdLst/>
              <a:ahLst/>
              <a:cxnLst/>
              <a:rect l="l" t="t" r="r" b="b"/>
              <a:pathLst>
                <a:path w="1943100" h="1065529">
                  <a:moveTo>
                    <a:pt x="0" y="532638"/>
                  </a:moveTo>
                  <a:lnTo>
                    <a:pt x="7569" y="465832"/>
                  </a:lnTo>
                  <a:lnTo>
                    <a:pt x="29671" y="401500"/>
                  </a:lnTo>
                  <a:lnTo>
                    <a:pt x="65396" y="340142"/>
                  </a:lnTo>
                  <a:lnTo>
                    <a:pt x="113831" y="282258"/>
                  </a:lnTo>
                  <a:lnTo>
                    <a:pt x="142531" y="254774"/>
                  </a:lnTo>
                  <a:lnTo>
                    <a:pt x="174068" y="228346"/>
                  </a:lnTo>
                  <a:lnTo>
                    <a:pt x="208327" y="203035"/>
                  </a:lnTo>
                  <a:lnTo>
                    <a:pt x="245196" y="178906"/>
                  </a:lnTo>
                  <a:lnTo>
                    <a:pt x="284559" y="156019"/>
                  </a:lnTo>
                  <a:lnTo>
                    <a:pt x="326303" y="134438"/>
                  </a:lnTo>
                  <a:lnTo>
                    <a:pt x="370315" y="114224"/>
                  </a:lnTo>
                  <a:lnTo>
                    <a:pt x="416481" y="95440"/>
                  </a:lnTo>
                  <a:lnTo>
                    <a:pt x="464686" y="78149"/>
                  </a:lnTo>
                  <a:lnTo>
                    <a:pt x="514818" y="62413"/>
                  </a:lnTo>
                  <a:lnTo>
                    <a:pt x="566761" y="48295"/>
                  </a:lnTo>
                  <a:lnTo>
                    <a:pt x="620403" y="35857"/>
                  </a:lnTo>
                  <a:lnTo>
                    <a:pt x="675630" y="25160"/>
                  </a:lnTo>
                  <a:lnTo>
                    <a:pt x="732328" y="16269"/>
                  </a:lnTo>
                  <a:lnTo>
                    <a:pt x="790382" y="9245"/>
                  </a:lnTo>
                  <a:lnTo>
                    <a:pt x="849680" y="4150"/>
                  </a:lnTo>
                  <a:lnTo>
                    <a:pt x="910107" y="1048"/>
                  </a:lnTo>
                  <a:lnTo>
                    <a:pt x="971550" y="0"/>
                  </a:lnTo>
                  <a:lnTo>
                    <a:pt x="1032992" y="1048"/>
                  </a:lnTo>
                  <a:lnTo>
                    <a:pt x="1093419" y="4150"/>
                  </a:lnTo>
                  <a:lnTo>
                    <a:pt x="1152717" y="9245"/>
                  </a:lnTo>
                  <a:lnTo>
                    <a:pt x="1210771" y="16269"/>
                  </a:lnTo>
                  <a:lnTo>
                    <a:pt x="1267469" y="25160"/>
                  </a:lnTo>
                  <a:lnTo>
                    <a:pt x="1322696" y="35857"/>
                  </a:lnTo>
                  <a:lnTo>
                    <a:pt x="1376338" y="48295"/>
                  </a:lnTo>
                  <a:lnTo>
                    <a:pt x="1428281" y="62413"/>
                  </a:lnTo>
                  <a:lnTo>
                    <a:pt x="1478413" y="78149"/>
                  </a:lnTo>
                  <a:lnTo>
                    <a:pt x="1526618" y="95440"/>
                  </a:lnTo>
                  <a:lnTo>
                    <a:pt x="1572784" y="114224"/>
                  </a:lnTo>
                  <a:lnTo>
                    <a:pt x="1616796" y="134438"/>
                  </a:lnTo>
                  <a:lnTo>
                    <a:pt x="1658540" y="156019"/>
                  </a:lnTo>
                  <a:lnTo>
                    <a:pt x="1697903" y="178906"/>
                  </a:lnTo>
                  <a:lnTo>
                    <a:pt x="1734772" y="203035"/>
                  </a:lnTo>
                  <a:lnTo>
                    <a:pt x="1769031" y="228346"/>
                  </a:lnTo>
                  <a:lnTo>
                    <a:pt x="1800568" y="254774"/>
                  </a:lnTo>
                  <a:lnTo>
                    <a:pt x="1829268" y="282258"/>
                  </a:lnTo>
                  <a:lnTo>
                    <a:pt x="1855018" y="310734"/>
                  </a:lnTo>
                  <a:lnTo>
                    <a:pt x="1897211" y="370418"/>
                  </a:lnTo>
                  <a:lnTo>
                    <a:pt x="1926238" y="433325"/>
                  </a:lnTo>
                  <a:lnTo>
                    <a:pt x="1941188" y="498956"/>
                  </a:lnTo>
                  <a:lnTo>
                    <a:pt x="1943100" y="532638"/>
                  </a:lnTo>
                  <a:lnTo>
                    <a:pt x="1941188" y="566319"/>
                  </a:lnTo>
                  <a:lnTo>
                    <a:pt x="1926238" y="631950"/>
                  </a:lnTo>
                  <a:lnTo>
                    <a:pt x="1897211" y="694857"/>
                  </a:lnTo>
                  <a:lnTo>
                    <a:pt x="1855018" y="754541"/>
                  </a:lnTo>
                  <a:lnTo>
                    <a:pt x="1829268" y="783017"/>
                  </a:lnTo>
                  <a:lnTo>
                    <a:pt x="1800568" y="810501"/>
                  </a:lnTo>
                  <a:lnTo>
                    <a:pt x="1769031" y="836929"/>
                  </a:lnTo>
                  <a:lnTo>
                    <a:pt x="1734772" y="862240"/>
                  </a:lnTo>
                  <a:lnTo>
                    <a:pt x="1697903" y="886369"/>
                  </a:lnTo>
                  <a:lnTo>
                    <a:pt x="1658540" y="909256"/>
                  </a:lnTo>
                  <a:lnTo>
                    <a:pt x="1616796" y="930837"/>
                  </a:lnTo>
                  <a:lnTo>
                    <a:pt x="1572784" y="951051"/>
                  </a:lnTo>
                  <a:lnTo>
                    <a:pt x="1526618" y="969835"/>
                  </a:lnTo>
                  <a:lnTo>
                    <a:pt x="1478413" y="987126"/>
                  </a:lnTo>
                  <a:lnTo>
                    <a:pt x="1428281" y="1002862"/>
                  </a:lnTo>
                  <a:lnTo>
                    <a:pt x="1376338" y="1016980"/>
                  </a:lnTo>
                  <a:lnTo>
                    <a:pt x="1322696" y="1029418"/>
                  </a:lnTo>
                  <a:lnTo>
                    <a:pt x="1267469" y="1040115"/>
                  </a:lnTo>
                  <a:lnTo>
                    <a:pt x="1210771" y="1049006"/>
                  </a:lnTo>
                  <a:lnTo>
                    <a:pt x="1152717" y="1056030"/>
                  </a:lnTo>
                  <a:lnTo>
                    <a:pt x="1093419" y="1061125"/>
                  </a:lnTo>
                  <a:lnTo>
                    <a:pt x="1032992" y="1064227"/>
                  </a:lnTo>
                  <a:lnTo>
                    <a:pt x="971550" y="1065276"/>
                  </a:lnTo>
                  <a:lnTo>
                    <a:pt x="910107" y="1064227"/>
                  </a:lnTo>
                  <a:lnTo>
                    <a:pt x="849680" y="1061125"/>
                  </a:lnTo>
                  <a:lnTo>
                    <a:pt x="790382" y="1056030"/>
                  </a:lnTo>
                  <a:lnTo>
                    <a:pt x="732328" y="1049006"/>
                  </a:lnTo>
                  <a:lnTo>
                    <a:pt x="675630" y="1040115"/>
                  </a:lnTo>
                  <a:lnTo>
                    <a:pt x="620403" y="1029418"/>
                  </a:lnTo>
                  <a:lnTo>
                    <a:pt x="566761" y="1016980"/>
                  </a:lnTo>
                  <a:lnTo>
                    <a:pt x="514818" y="1002862"/>
                  </a:lnTo>
                  <a:lnTo>
                    <a:pt x="464686" y="987126"/>
                  </a:lnTo>
                  <a:lnTo>
                    <a:pt x="416481" y="969835"/>
                  </a:lnTo>
                  <a:lnTo>
                    <a:pt x="370315" y="951051"/>
                  </a:lnTo>
                  <a:lnTo>
                    <a:pt x="326303" y="930837"/>
                  </a:lnTo>
                  <a:lnTo>
                    <a:pt x="284559" y="909256"/>
                  </a:lnTo>
                  <a:lnTo>
                    <a:pt x="245196" y="886369"/>
                  </a:lnTo>
                  <a:lnTo>
                    <a:pt x="208327" y="862240"/>
                  </a:lnTo>
                  <a:lnTo>
                    <a:pt x="174068" y="836929"/>
                  </a:lnTo>
                  <a:lnTo>
                    <a:pt x="142531" y="810501"/>
                  </a:lnTo>
                  <a:lnTo>
                    <a:pt x="113831" y="783017"/>
                  </a:lnTo>
                  <a:lnTo>
                    <a:pt x="88081" y="754541"/>
                  </a:lnTo>
                  <a:lnTo>
                    <a:pt x="45888" y="694857"/>
                  </a:lnTo>
                  <a:lnTo>
                    <a:pt x="16861" y="631950"/>
                  </a:lnTo>
                  <a:lnTo>
                    <a:pt x="1911" y="566319"/>
                  </a:lnTo>
                  <a:lnTo>
                    <a:pt x="0" y="532638"/>
                  </a:lnTo>
                  <a:close/>
                </a:path>
              </a:pathLst>
            </a:custGeom>
            <a:ln w="12700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4871084" y="2892044"/>
            <a:ext cx="1196340" cy="850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80">
                <a:solidFill>
                  <a:srgbClr val="FFFFFF"/>
                </a:solidFill>
                <a:latin typeface="Cambria"/>
                <a:cs typeface="Cambria"/>
              </a:rPr>
              <a:t>PRODUCT</a:t>
            </a:r>
            <a:endParaRPr sz="1800">
              <a:latin typeface="Cambria"/>
              <a:cs typeface="Cambria"/>
            </a:endParaRPr>
          </a:p>
          <a:p>
            <a:pPr marL="12700" marR="5080">
              <a:lnSpc>
                <a:spcPts val="2170"/>
              </a:lnSpc>
              <a:spcBef>
                <a:spcPts val="65"/>
              </a:spcBef>
            </a:pPr>
            <a:r>
              <a:rPr dirty="0" sz="1800" spc="160">
                <a:solidFill>
                  <a:srgbClr val="FFFFFF"/>
                </a:solidFill>
                <a:latin typeface="Cambria"/>
                <a:cs typeface="Cambria"/>
              </a:rPr>
              <a:t>amount:… </a:t>
            </a:r>
            <a:r>
              <a:rPr dirty="0" sz="1800" spc="125">
                <a:solidFill>
                  <a:srgbClr val="FFFFFF"/>
                </a:solidFill>
                <a:latin typeface="Cambria"/>
                <a:cs typeface="Cambria"/>
              </a:rPr>
              <a:t>price:…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5479541" y="2490977"/>
            <a:ext cx="1170305" cy="304800"/>
          </a:xfrm>
          <a:custGeom>
            <a:avLst/>
            <a:gdLst/>
            <a:ahLst/>
            <a:cxnLst/>
            <a:rect l="l" t="t" r="r" b="b"/>
            <a:pathLst>
              <a:path w="1170304" h="304800">
                <a:moveTo>
                  <a:pt x="1170178" y="0"/>
                </a:moveTo>
                <a:lnTo>
                  <a:pt x="0" y="304292"/>
                </a:lnTo>
              </a:path>
            </a:pathLst>
          </a:custGeom>
          <a:ln w="25400">
            <a:solidFill>
              <a:srgbClr val="A44D7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1037082"/>
            <a:ext cx="5263972" cy="575563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524127" y="1917954"/>
          <a:ext cx="8435975" cy="2838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3845"/>
                <a:gridCol w="4252595"/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4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Pros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12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Cons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1440" marR="387350">
                        <a:lnSpc>
                          <a:spcPct val="100600"/>
                        </a:lnSpc>
                        <a:spcBef>
                          <a:spcPts val="265"/>
                        </a:spcBef>
                      </a:pP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General</a:t>
                      </a:r>
                      <a:r>
                        <a:rPr dirty="0" sz="1800" spc="17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purposes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4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DB</a:t>
                      </a:r>
                      <a:r>
                        <a:rPr dirty="0" sz="1800" spc="1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(in</a:t>
                      </a:r>
                      <a:r>
                        <a:rPr dirty="0" sz="1800" spc="1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3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theory) </a:t>
                      </a:r>
                      <a:r>
                        <a:rPr dirty="0" sz="1800" spc="16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as</a:t>
                      </a:r>
                      <a:r>
                        <a:rPr dirty="0" sz="1800" spc="229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well</a:t>
                      </a:r>
                      <a:r>
                        <a:rPr dirty="0" sz="1800" spc="1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6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as</a:t>
                      </a:r>
                      <a:r>
                        <a:rPr dirty="0" sz="1800" spc="21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relational</a:t>
                      </a:r>
                      <a:r>
                        <a:rPr dirty="0" sz="1800" spc="2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1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DB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19760">
                        <a:lnSpc>
                          <a:spcPct val="100600"/>
                        </a:lnSpc>
                        <a:spcBef>
                          <a:spcPts val="265"/>
                        </a:spcBef>
                      </a:pPr>
                      <a:r>
                        <a:rPr dirty="0" sz="1800" spc="16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Bad</a:t>
                      </a:r>
                      <a:r>
                        <a:rPr dirty="0" sz="1800" spc="22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dirty="0" sz="1800" spc="2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800" spc="22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distributed</a:t>
                      </a:r>
                      <a:r>
                        <a:rPr dirty="0" sz="1800" spc="19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4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DB</a:t>
                      </a:r>
                      <a:r>
                        <a:rPr dirty="0" sz="1800" spc="21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5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with </a:t>
                      </a:r>
                      <a:r>
                        <a:rPr dirty="0" sz="1800" spc="11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analytical</a:t>
                      </a:r>
                      <a:r>
                        <a:rPr dirty="0" sz="1800" spc="2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queries.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2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Complex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structure</a:t>
                      </a:r>
                      <a:r>
                        <a:rPr dirty="0" sz="1800" spc="1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that</a:t>
                      </a:r>
                      <a:r>
                        <a:rPr dirty="0" sz="1800" spc="1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usually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800" spc="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more</a:t>
                      </a:r>
                      <a:r>
                        <a:rPr dirty="0" sz="1800" spc="1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convenient</a:t>
                      </a:r>
                      <a:r>
                        <a:rPr dirty="0" sz="1800" spc="16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5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than</a:t>
                      </a:r>
                      <a:r>
                        <a:rPr dirty="0" sz="1800" spc="2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relational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9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dirty="0" sz="1800" spc="1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now</a:t>
                      </a:r>
                      <a:r>
                        <a:rPr dirty="0" sz="1800" spc="19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800" spc="19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performance</a:t>
                      </a:r>
                      <a:r>
                        <a:rPr dirty="0" sz="1800" spc="17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dirty="0" sz="1800" spc="18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4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worse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800" spc="15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than</a:t>
                      </a:r>
                      <a:r>
                        <a:rPr dirty="0" sz="1800" spc="19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dirty="0" sz="1800" spc="17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relational</a:t>
                      </a:r>
                      <a:r>
                        <a:rPr dirty="0" sz="1800" spc="19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DBs.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91440" marR="261620">
                        <a:lnSpc>
                          <a:spcPct val="100200"/>
                        </a:lnSpc>
                        <a:spcBef>
                          <a:spcPts val="275"/>
                        </a:spcBef>
                      </a:pPr>
                      <a:r>
                        <a:rPr dirty="0" sz="1800" spc="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Variety</a:t>
                      </a:r>
                      <a:r>
                        <a:rPr dirty="0" sz="1800" spc="2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dirty="0" sz="1800" spc="2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5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different </a:t>
                      </a:r>
                      <a:r>
                        <a:rPr dirty="0" sz="1800" spc="10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implementations</a:t>
                      </a:r>
                      <a:r>
                        <a:rPr dirty="0" sz="1800" spc="15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with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5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different </a:t>
                      </a:r>
                      <a:r>
                        <a:rPr dirty="0" sz="1800" spc="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query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languages</a:t>
                      </a:r>
                      <a:r>
                        <a:rPr dirty="0" sz="1800" spc="20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5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800" spc="1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either</a:t>
                      </a:r>
                      <a:r>
                        <a:rPr dirty="0" sz="1800" spc="17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static </a:t>
                      </a:r>
                      <a:r>
                        <a:rPr dirty="0" sz="18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or</a:t>
                      </a:r>
                      <a:r>
                        <a:rPr dirty="0" sz="1800" spc="2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dynamic</a:t>
                      </a:r>
                      <a:r>
                        <a:rPr dirty="0" sz="1800" spc="22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4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schemas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08279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7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No</a:t>
                      </a:r>
                      <a:r>
                        <a:rPr dirty="0" sz="1800" spc="22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formal</a:t>
                      </a:r>
                      <a:r>
                        <a:rPr dirty="0" sz="1800" spc="2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criteria</a:t>
                      </a:r>
                      <a:r>
                        <a:rPr dirty="0" sz="1800" spc="204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dirty="0" sz="1800" spc="21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normalization </a:t>
                      </a:r>
                      <a:r>
                        <a:rPr dirty="0" sz="1800" spc="3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yet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944067" y="5120081"/>
            <a:ext cx="6750684" cy="87947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000" spc="130" b="1">
                <a:latin typeface="Cambria"/>
                <a:cs typeface="Cambria"/>
              </a:rPr>
              <a:t>Implementations: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Neo4j,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DataStax,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Amazon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Neptune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105" b="1">
                <a:latin typeface="Cambria"/>
                <a:cs typeface="Cambria"/>
              </a:rPr>
              <a:t>Query</a:t>
            </a:r>
            <a:r>
              <a:rPr dirty="0" sz="2000" spc="250" b="1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languages: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Cypher,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Gremlin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37082"/>
            <a:ext cx="5048237" cy="56730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1765326"/>
            <a:ext cx="7341870" cy="405257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000" spc="180" b="1">
                <a:latin typeface="Cambria"/>
                <a:cs typeface="Cambria"/>
              </a:rPr>
              <a:t>SQL: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85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p.WARE,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</a:t>
            </a:r>
            <a:endParaRPr sz="2000">
              <a:latin typeface="Courier New"/>
              <a:cs typeface="Courier New"/>
            </a:endParaRPr>
          </a:p>
          <a:p>
            <a:pPr marL="12700" marR="5080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m,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PRODUCT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p,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CATEGORY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c</a:t>
            </a:r>
            <a:r>
              <a:rPr dirty="0" sz="2000" spc="50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c.CLASS='Raw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food'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m.BILL_ID=p.BILL_ID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13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c.WARE=p.WARE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89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2000" spc="125" b="1">
                <a:latin typeface="Cambria"/>
                <a:cs typeface="Cambria"/>
              </a:rPr>
              <a:t>Cypher: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92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MATCH</a:t>
            </a:r>
            <a:r>
              <a:rPr dirty="0" sz="2000" spc="17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(c:COMPANY)&lt;-[:OWNER]-(:BILL)-[:PRODUCT]-</a:t>
            </a:r>
            <a:r>
              <a:rPr dirty="0" sz="2000" spc="-50">
                <a:latin typeface="Courier New"/>
                <a:cs typeface="Courier New"/>
              </a:rPr>
              <a:t>&gt;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ts val="2160"/>
              </a:lnSpc>
            </a:pPr>
            <a:r>
              <a:rPr dirty="0" sz="2000" spc="-10">
                <a:latin typeface="Courier New"/>
                <a:cs typeface="Courier New"/>
              </a:rPr>
              <a:t>(p:WARE)-[:CLASS]-&gt;(ct:CATEGORY)</a:t>
            </a:r>
            <a:endParaRPr sz="2000">
              <a:latin typeface="Courier New"/>
              <a:cs typeface="Courier New"/>
            </a:endParaRPr>
          </a:p>
          <a:p>
            <a:pPr marL="12700" marR="3663315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ct.name='Raw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food'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RETURN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p,c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6952" y="1028700"/>
            <a:ext cx="9260547" cy="5839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49852" y="1937004"/>
            <a:ext cx="1091565" cy="390525"/>
          </a:xfrm>
          <a:prstGeom prst="rect"/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75"/>
              </a:spcBef>
            </a:pPr>
            <a:r>
              <a:rPr dirty="0" sz="1800" spc="105">
                <a:solidFill>
                  <a:srgbClr val="FFFFFF"/>
                </a:solidFill>
              </a:rPr>
              <a:t>BILL:b1</a:t>
            </a:r>
            <a:endParaRPr sz="1800"/>
          </a:p>
        </p:txBody>
      </p:sp>
      <p:sp>
        <p:nvSpPr>
          <p:cNvPr id="4" name="object 4" descr=""/>
          <p:cNvSpPr txBox="1"/>
          <p:nvPr/>
        </p:nvSpPr>
        <p:spPr>
          <a:xfrm>
            <a:off x="8252459" y="1937004"/>
            <a:ext cx="1694814" cy="390525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75"/>
              </a:spcBef>
            </a:pPr>
            <a:r>
              <a:rPr dirty="0" sz="1800" spc="135">
                <a:solidFill>
                  <a:srgbClr val="FFFFFF"/>
                </a:solidFill>
                <a:latin typeface="Cambria"/>
                <a:cs typeface="Cambria"/>
              </a:rPr>
              <a:t>COMPANY:c1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61959" y="3375659"/>
            <a:ext cx="2075814" cy="384175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65"/>
              </a:spcBef>
            </a:pPr>
            <a:r>
              <a:rPr dirty="0" sz="1800" spc="90">
                <a:solidFill>
                  <a:srgbClr val="FFFFFF"/>
                </a:solidFill>
                <a:latin typeface="Cambria"/>
                <a:cs typeface="Cambria"/>
              </a:rPr>
              <a:t>str:</a:t>
            </a:r>
            <a:r>
              <a:rPr dirty="0" sz="18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175">
                <a:solidFill>
                  <a:srgbClr val="FFFFFF"/>
                </a:solidFill>
                <a:latin typeface="Cambria"/>
                <a:cs typeface="Cambria"/>
              </a:rPr>
              <a:t>Dummy</a:t>
            </a:r>
            <a:r>
              <a:rPr dirty="0" sz="18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Cambria"/>
                <a:cs typeface="Cambria"/>
              </a:rPr>
              <a:t>ltd.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438133" y="2621026"/>
            <a:ext cx="1323340" cy="404495"/>
            <a:chOff x="8438133" y="2621026"/>
            <a:chExt cx="1323340" cy="404495"/>
          </a:xfrm>
        </p:grpSpPr>
        <p:sp>
          <p:nvSpPr>
            <p:cNvPr id="7" name="object 7" descr=""/>
            <p:cNvSpPr/>
            <p:nvPr/>
          </p:nvSpPr>
          <p:spPr>
            <a:xfrm>
              <a:off x="8444483" y="2627376"/>
              <a:ext cx="1310640" cy="391795"/>
            </a:xfrm>
            <a:custGeom>
              <a:avLst/>
              <a:gdLst/>
              <a:ahLst/>
              <a:cxnLst/>
              <a:rect l="l" t="t" r="r" b="b"/>
              <a:pathLst>
                <a:path w="1310640" h="391794">
                  <a:moveTo>
                    <a:pt x="655320" y="0"/>
                  </a:moveTo>
                  <a:lnTo>
                    <a:pt x="583911" y="1148"/>
                  </a:lnTo>
                  <a:lnTo>
                    <a:pt x="514730" y="4514"/>
                  </a:lnTo>
                  <a:lnTo>
                    <a:pt x="448177" y="9979"/>
                  </a:lnTo>
                  <a:lnTo>
                    <a:pt x="384653" y="17422"/>
                  </a:lnTo>
                  <a:lnTo>
                    <a:pt x="324555" y="26726"/>
                  </a:lnTo>
                  <a:lnTo>
                    <a:pt x="268284" y="37770"/>
                  </a:lnTo>
                  <a:lnTo>
                    <a:pt x="216240" y="50436"/>
                  </a:lnTo>
                  <a:lnTo>
                    <a:pt x="168823" y="64604"/>
                  </a:lnTo>
                  <a:lnTo>
                    <a:pt x="126431" y="80156"/>
                  </a:lnTo>
                  <a:lnTo>
                    <a:pt x="89464" y="96971"/>
                  </a:lnTo>
                  <a:lnTo>
                    <a:pt x="33406" y="133916"/>
                  </a:lnTo>
                  <a:lnTo>
                    <a:pt x="3844" y="174487"/>
                  </a:lnTo>
                  <a:lnTo>
                    <a:pt x="0" y="195834"/>
                  </a:lnTo>
                  <a:lnTo>
                    <a:pt x="3844" y="217180"/>
                  </a:lnTo>
                  <a:lnTo>
                    <a:pt x="33406" y="257751"/>
                  </a:lnTo>
                  <a:lnTo>
                    <a:pt x="89464" y="294696"/>
                  </a:lnTo>
                  <a:lnTo>
                    <a:pt x="126431" y="311511"/>
                  </a:lnTo>
                  <a:lnTo>
                    <a:pt x="168823" y="327063"/>
                  </a:lnTo>
                  <a:lnTo>
                    <a:pt x="216240" y="341231"/>
                  </a:lnTo>
                  <a:lnTo>
                    <a:pt x="268284" y="353897"/>
                  </a:lnTo>
                  <a:lnTo>
                    <a:pt x="324555" y="364941"/>
                  </a:lnTo>
                  <a:lnTo>
                    <a:pt x="384653" y="374245"/>
                  </a:lnTo>
                  <a:lnTo>
                    <a:pt x="448177" y="381688"/>
                  </a:lnTo>
                  <a:lnTo>
                    <a:pt x="514730" y="387153"/>
                  </a:lnTo>
                  <a:lnTo>
                    <a:pt x="583911" y="390519"/>
                  </a:lnTo>
                  <a:lnTo>
                    <a:pt x="655320" y="391668"/>
                  </a:lnTo>
                  <a:lnTo>
                    <a:pt x="726728" y="390519"/>
                  </a:lnTo>
                  <a:lnTo>
                    <a:pt x="795909" y="387153"/>
                  </a:lnTo>
                  <a:lnTo>
                    <a:pt x="862462" y="381688"/>
                  </a:lnTo>
                  <a:lnTo>
                    <a:pt x="925986" y="374245"/>
                  </a:lnTo>
                  <a:lnTo>
                    <a:pt x="986084" y="364941"/>
                  </a:lnTo>
                  <a:lnTo>
                    <a:pt x="1042355" y="353897"/>
                  </a:lnTo>
                  <a:lnTo>
                    <a:pt x="1094399" y="341231"/>
                  </a:lnTo>
                  <a:lnTo>
                    <a:pt x="1141816" y="327063"/>
                  </a:lnTo>
                  <a:lnTo>
                    <a:pt x="1184208" y="311511"/>
                  </a:lnTo>
                  <a:lnTo>
                    <a:pt x="1221175" y="294696"/>
                  </a:lnTo>
                  <a:lnTo>
                    <a:pt x="1277233" y="257751"/>
                  </a:lnTo>
                  <a:lnTo>
                    <a:pt x="1306795" y="217180"/>
                  </a:lnTo>
                  <a:lnTo>
                    <a:pt x="1310640" y="195834"/>
                  </a:lnTo>
                  <a:lnTo>
                    <a:pt x="1306795" y="174487"/>
                  </a:lnTo>
                  <a:lnTo>
                    <a:pt x="1277233" y="133916"/>
                  </a:lnTo>
                  <a:lnTo>
                    <a:pt x="1221175" y="96971"/>
                  </a:lnTo>
                  <a:lnTo>
                    <a:pt x="1184208" y="80156"/>
                  </a:lnTo>
                  <a:lnTo>
                    <a:pt x="1141816" y="64604"/>
                  </a:lnTo>
                  <a:lnTo>
                    <a:pt x="1094399" y="50436"/>
                  </a:lnTo>
                  <a:lnTo>
                    <a:pt x="1042355" y="37770"/>
                  </a:lnTo>
                  <a:lnTo>
                    <a:pt x="986084" y="26726"/>
                  </a:lnTo>
                  <a:lnTo>
                    <a:pt x="925986" y="17422"/>
                  </a:lnTo>
                  <a:lnTo>
                    <a:pt x="862462" y="9979"/>
                  </a:lnTo>
                  <a:lnTo>
                    <a:pt x="795909" y="4514"/>
                  </a:lnTo>
                  <a:lnTo>
                    <a:pt x="726728" y="1148"/>
                  </a:lnTo>
                  <a:lnTo>
                    <a:pt x="655320" y="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444483" y="2627376"/>
              <a:ext cx="1310640" cy="391795"/>
            </a:xfrm>
            <a:custGeom>
              <a:avLst/>
              <a:gdLst/>
              <a:ahLst/>
              <a:cxnLst/>
              <a:rect l="l" t="t" r="r" b="b"/>
              <a:pathLst>
                <a:path w="1310640" h="391794">
                  <a:moveTo>
                    <a:pt x="0" y="195834"/>
                  </a:moveTo>
                  <a:lnTo>
                    <a:pt x="15113" y="153808"/>
                  </a:lnTo>
                  <a:lnTo>
                    <a:pt x="58322" y="114931"/>
                  </a:lnTo>
                  <a:lnTo>
                    <a:pt x="126431" y="80156"/>
                  </a:lnTo>
                  <a:lnTo>
                    <a:pt x="168823" y="64604"/>
                  </a:lnTo>
                  <a:lnTo>
                    <a:pt x="216240" y="50436"/>
                  </a:lnTo>
                  <a:lnTo>
                    <a:pt x="268284" y="37770"/>
                  </a:lnTo>
                  <a:lnTo>
                    <a:pt x="324555" y="26726"/>
                  </a:lnTo>
                  <a:lnTo>
                    <a:pt x="384653" y="17422"/>
                  </a:lnTo>
                  <a:lnTo>
                    <a:pt x="448177" y="9979"/>
                  </a:lnTo>
                  <a:lnTo>
                    <a:pt x="514730" y="4514"/>
                  </a:lnTo>
                  <a:lnTo>
                    <a:pt x="583911" y="1148"/>
                  </a:lnTo>
                  <a:lnTo>
                    <a:pt x="655320" y="0"/>
                  </a:lnTo>
                  <a:lnTo>
                    <a:pt x="726728" y="1148"/>
                  </a:lnTo>
                  <a:lnTo>
                    <a:pt x="795909" y="4514"/>
                  </a:lnTo>
                  <a:lnTo>
                    <a:pt x="862462" y="9979"/>
                  </a:lnTo>
                  <a:lnTo>
                    <a:pt x="925986" y="17422"/>
                  </a:lnTo>
                  <a:lnTo>
                    <a:pt x="986084" y="26726"/>
                  </a:lnTo>
                  <a:lnTo>
                    <a:pt x="1042355" y="37770"/>
                  </a:lnTo>
                  <a:lnTo>
                    <a:pt x="1094399" y="50436"/>
                  </a:lnTo>
                  <a:lnTo>
                    <a:pt x="1141816" y="64604"/>
                  </a:lnTo>
                  <a:lnTo>
                    <a:pt x="1184208" y="80156"/>
                  </a:lnTo>
                  <a:lnTo>
                    <a:pt x="1221175" y="96971"/>
                  </a:lnTo>
                  <a:lnTo>
                    <a:pt x="1277233" y="133916"/>
                  </a:lnTo>
                  <a:lnTo>
                    <a:pt x="1306795" y="174487"/>
                  </a:lnTo>
                  <a:lnTo>
                    <a:pt x="1310640" y="195834"/>
                  </a:lnTo>
                  <a:lnTo>
                    <a:pt x="1306795" y="217180"/>
                  </a:lnTo>
                  <a:lnTo>
                    <a:pt x="1277233" y="257751"/>
                  </a:lnTo>
                  <a:lnTo>
                    <a:pt x="1221175" y="294696"/>
                  </a:lnTo>
                  <a:lnTo>
                    <a:pt x="1184208" y="311511"/>
                  </a:lnTo>
                  <a:lnTo>
                    <a:pt x="1141816" y="327063"/>
                  </a:lnTo>
                  <a:lnTo>
                    <a:pt x="1094399" y="341231"/>
                  </a:lnTo>
                  <a:lnTo>
                    <a:pt x="1042355" y="353897"/>
                  </a:lnTo>
                  <a:lnTo>
                    <a:pt x="986084" y="364941"/>
                  </a:lnTo>
                  <a:lnTo>
                    <a:pt x="925986" y="374245"/>
                  </a:lnTo>
                  <a:lnTo>
                    <a:pt x="862462" y="381688"/>
                  </a:lnTo>
                  <a:lnTo>
                    <a:pt x="795909" y="387153"/>
                  </a:lnTo>
                  <a:lnTo>
                    <a:pt x="726728" y="390519"/>
                  </a:lnTo>
                  <a:lnTo>
                    <a:pt x="655320" y="391668"/>
                  </a:lnTo>
                  <a:lnTo>
                    <a:pt x="583911" y="390519"/>
                  </a:lnTo>
                  <a:lnTo>
                    <a:pt x="514730" y="387153"/>
                  </a:lnTo>
                  <a:lnTo>
                    <a:pt x="448177" y="381688"/>
                  </a:lnTo>
                  <a:lnTo>
                    <a:pt x="384653" y="374245"/>
                  </a:lnTo>
                  <a:lnTo>
                    <a:pt x="324555" y="364941"/>
                  </a:lnTo>
                  <a:lnTo>
                    <a:pt x="268284" y="353897"/>
                  </a:lnTo>
                  <a:lnTo>
                    <a:pt x="216240" y="341231"/>
                  </a:lnTo>
                  <a:lnTo>
                    <a:pt x="168823" y="327063"/>
                  </a:lnTo>
                  <a:lnTo>
                    <a:pt x="126431" y="311511"/>
                  </a:lnTo>
                  <a:lnTo>
                    <a:pt x="89464" y="294696"/>
                  </a:lnTo>
                  <a:lnTo>
                    <a:pt x="33406" y="257751"/>
                  </a:lnTo>
                  <a:lnTo>
                    <a:pt x="3844" y="217180"/>
                  </a:lnTo>
                  <a:lnTo>
                    <a:pt x="0" y="195834"/>
                  </a:lnTo>
                  <a:close/>
                </a:path>
              </a:pathLst>
            </a:custGeom>
            <a:ln w="12700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779509" y="2664967"/>
            <a:ext cx="6432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25">
                <a:solidFill>
                  <a:srgbClr val="FFFFFF"/>
                </a:solidFill>
                <a:latin typeface="Cambria"/>
                <a:cs typeface="Cambria"/>
              </a:rPr>
              <a:t>name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15740" y="4706111"/>
            <a:ext cx="1361440" cy="391795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482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80"/>
              </a:spcBef>
            </a:pPr>
            <a:r>
              <a:rPr dirty="0" sz="1800" spc="100">
                <a:solidFill>
                  <a:srgbClr val="FFFFFF"/>
                </a:solidFill>
                <a:latin typeface="Cambria"/>
                <a:cs typeface="Cambria"/>
              </a:rPr>
              <a:t>WARE:w1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500628" y="6003035"/>
            <a:ext cx="2390140" cy="373380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dirty="0" sz="1800" spc="90">
                <a:solidFill>
                  <a:srgbClr val="FFFFFF"/>
                </a:solidFill>
                <a:latin typeface="Cambria"/>
                <a:cs typeface="Cambria"/>
              </a:rPr>
              <a:t>str:</a:t>
            </a:r>
            <a:r>
              <a:rPr dirty="0" sz="1800" spc="1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110">
                <a:solidFill>
                  <a:srgbClr val="FFFFFF"/>
                </a:solidFill>
                <a:latin typeface="Cambria"/>
                <a:cs typeface="Cambria"/>
              </a:rPr>
              <a:t>Drinking</a:t>
            </a:r>
            <a:r>
              <a:rPr dirty="0" sz="18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Cambria"/>
                <a:cs typeface="Cambria"/>
              </a:rPr>
              <a:t>water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651250" y="5272785"/>
            <a:ext cx="2090420" cy="535940"/>
            <a:chOff x="3651250" y="5272785"/>
            <a:chExt cx="2090420" cy="535940"/>
          </a:xfrm>
        </p:grpSpPr>
        <p:sp>
          <p:nvSpPr>
            <p:cNvPr id="13" name="object 13" descr=""/>
            <p:cNvSpPr/>
            <p:nvPr/>
          </p:nvSpPr>
          <p:spPr>
            <a:xfrm>
              <a:off x="3657600" y="5279135"/>
              <a:ext cx="2077720" cy="523240"/>
            </a:xfrm>
            <a:custGeom>
              <a:avLst/>
              <a:gdLst/>
              <a:ahLst/>
              <a:cxnLst/>
              <a:rect l="l" t="t" r="r" b="b"/>
              <a:pathLst>
                <a:path w="2077720" h="523239">
                  <a:moveTo>
                    <a:pt x="1038605" y="0"/>
                  </a:moveTo>
                  <a:lnTo>
                    <a:pt x="967490" y="602"/>
                  </a:lnTo>
                  <a:lnTo>
                    <a:pt x="897662" y="2384"/>
                  </a:lnTo>
                  <a:lnTo>
                    <a:pt x="829275" y="5307"/>
                  </a:lnTo>
                  <a:lnTo>
                    <a:pt x="762485" y="9332"/>
                  </a:lnTo>
                  <a:lnTo>
                    <a:pt x="697445" y="14420"/>
                  </a:lnTo>
                  <a:lnTo>
                    <a:pt x="634311" y="20532"/>
                  </a:lnTo>
                  <a:lnTo>
                    <a:pt x="573237" y="27629"/>
                  </a:lnTo>
                  <a:lnTo>
                    <a:pt x="514378" y="35672"/>
                  </a:lnTo>
                  <a:lnTo>
                    <a:pt x="457888" y="44623"/>
                  </a:lnTo>
                  <a:lnTo>
                    <a:pt x="403922" y="54443"/>
                  </a:lnTo>
                  <a:lnTo>
                    <a:pt x="352635" y="65092"/>
                  </a:lnTo>
                  <a:lnTo>
                    <a:pt x="304180" y="76533"/>
                  </a:lnTo>
                  <a:lnTo>
                    <a:pt x="258714" y="88725"/>
                  </a:lnTo>
                  <a:lnTo>
                    <a:pt x="216390" y="101631"/>
                  </a:lnTo>
                  <a:lnTo>
                    <a:pt x="177363" y="115211"/>
                  </a:lnTo>
                  <a:lnTo>
                    <a:pt x="141788" y="129427"/>
                  </a:lnTo>
                  <a:lnTo>
                    <a:pt x="81611" y="159609"/>
                  </a:lnTo>
                  <a:lnTo>
                    <a:pt x="37096" y="191867"/>
                  </a:lnTo>
                  <a:lnTo>
                    <a:pt x="9480" y="225889"/>
                  </a:lnTo>
                  <a:lnTo>
                    <a:pt x="0" y="261365"/>
                  </a:lnTo>
                  <a:lnTo>
                    <a:pt x="2395" y="279260"/>
                  </a:lnTo>
                  <a:lnTo>
                    <a:pt x="21098" y="314040"/>
                  </a:lnTo>
                  <a:lnTo>
                    <a:pt x="57318" y="347214"/>
                  </a:lnTo>
                  <a:lnTo>
                    <a:pt x="109819" y="378470"/>
                  </a:lnTo>
                  <a:lnTo>
                    <a:pt x="177363" y="407498"/>
                  </a:lnTo>
                  <a:lnTo>
                    <a:pt x="216390" y="421078"/>
                  </a:lnTo>
                  <a:lnTo>
                    <a:pt x="258714" y="433985"/>
                  </a:lnTo>
                  <a:lnTo>
                    <a:pt x="304180" y="446179"/>
                  </a:lnTo>
                  <a:lnTo>
                    <a:pt x="352635" y="457621"/>
                  </a:lnTo>
                  <a:lnTo>
                    <a:pt x="403922" y="468273"/>
                  </a:lnTo>
                  <a:lnTo>
                    <a:pt x="457888" y="478094"/>
                  </a:lnTo>
                  <a:lnTo>
                    <a:pt x="514378" y="487047"/>
                  </a:lnTo>
                  <a:lnTo>
                    <a:pt x="573237" y="495093"/>
                  </a:lnTo>
                  <a:lnTo>
                    <a:pt x="634311" y="502192"/>
                  </a:lnTo>
                  <a:lnTo>
                    <a:pt x="697445" y="508306"/>
                  </a:lnTo>
                  <a:lnTo>
                    <a:pt x="762485" y="513395"/>
                  </a:lnTo>
                  <a:lnTo>
                    <a:pt x="829275" y="517421"/>
                  </a:lnTo>
                  <a:lnTo>
                    <a:pt x="897662" y="520346"/>
                  </a:lnTo>
                  <a:lnTo>
                    <a:pt x="967490" y="522129"/>
                  </a:lnTo>
                  <a:lnTo>
                    <a:pt x="1038605" y="522731"/>
                  </a:lnTo>
                  <a:lnTo>
                    <a:pt x="1109721" y="522129"/>
                  </a:lnTo>
                  <a:lnTo>
                    <a:pt x="1179549" y="520346"/>
                  </a:lnTo>
                  <a:lnTo>
                    <a:pt x="1247936" y="517421"/>
                  </a:lnTo>
                  <a:lnTo>
                    <a:pt x="1314726" y="513395"/>
                  </a:lnTo>
                  <a:lnTo>
                    <a:pt x="1379766" y="508306"/>
                  </a:lnTo>
                  <a:lnTo>
                    <a:pt x="1442900" y="502192"/>
                  </a:lnTo>
                  <a:lnTo>
                    <a:pt x="1503974" y="495093"/>
                  </a:lnTo>
                  <a:lnTo>
                    <a:pt x="1562833" y="487047"/>
                  </a:lnTo>
                  <a:lnTo>
                    <a:pt x="1619323" y="478094"/>
                  </a:lnTo>
                  <a:lnTo>
                    <a:pt x="1673289" y="468273"/>
                  </a:lnTo>
                  <a:lnTo>
                    <a:pt x="1724576" y="457621"/>
                  </a:lnTo>
                  <a:lnTo>
                    <a:pt x="1773031" y="446179"/>
                  </a:lnTo>
                  <a:lnTo>
                    <a:pt x="1818497" y="433985"/>
                  </a:lnTo>
                  <a:lnTo>
                    <a:pt x="1860821" y="421078"/>
                  </a:lnTo>
                  <a:lnTo>
                    <a:pt x="1899848" y="407498"/>
                  </a:lnTo>
                  <a:lnTo>
                    <a:pt x="1935423" y="393282"/>
                  </a:lnTo>
                  <a:lnTo>
                    <a:pt x="1995600" y="363101"/>
                  </a:lnTo>
                  <a:lnTo>
                    <a:pt x="2040115" y="330847"/>
                  </a:lnTo>
                  <a:lnTo>
                    <a:pt x="2067731" y="296831"/>
                  </a:lnTo>
                  <a:lnTo>
                    <a:pt x="2077212" y="261365"/>
                  </a:lnTo>
                  <a:lnTo>
                    <a:pt x="2074816" y="243465"/>
                  </a:lnTo>
                  <a:lnTo>
                    <a:pt x="2056113" y="208677"/>
                  </a:lnTo>
                  <a:lnTo>
                    <a:pt x="2019893" y="175498"/>
                  </a:lnTo>
                  <a:lnTo>
                    <a:pt x="1967392" y="144239"/>
                  </a:lnTo>
                  <a:lnTo>
                    <a:pt x="1899848" y="115211"/>
                  </a:lnTo>
                  <a:lnTo>
                    <a:pt x="1860821" y="101631"/>
                  </a:lnTo>
                  <a:lnTo>
                    <a:pt x="1818497" y="88725"/>
                  </a:lnTo>
                  <a:lnTo>
                    <a:pt x="1773031" y="76533"/>
                  </a:lnTo>
                  <a:lnTo>
                    <a:pt x="1724576" y="65092"/>
                  </a:lnTo>
                  <a:lnTo>
                    <a:pt x="1673289" y="54443"/>
                  </a:lnTo>
                  <a:lnTo>
                    <a:pt x="1619323" y="44623"/>
                  </a:lnTo>
                  <a:lnTo>
                    <a:pt x="1562833" y="35672"/>
                  </a:lnTo>
                  <a:lnTo>
                    <a:pt x="1503974" y="27629"/>
                  </a:lnTo>
                  <a:lnTo>
                    <a:pt x="1442900" y="20532"/>
                  </a:lnTo>
                  <a:lnTo>
                    <a:pt x="1379766" y="14420"/>
                  </a:lnTo>
                  <a:lnTo>
                    <a:pt x="1314726" y="9332"/>
                  </a:lnTo>
                  <a:lnTo>
                    <a:pt x="1247936" y="5307"/>
                  </a:lnTo>
                  <a:lnTo>
                    <a:pt x="1179549" y="2384"/>
                  </a:lnTo>
                  <a:lnTo>
                    <a:pt x="1109721" y="602"/>
                  </a:lnTo>
                  <a:lnTo>
                    <a:pt x="1038605" y="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657600" y="5279135"/>
              <a:ext cx="2077720" cy="523240"/>
            </a:xfrm>
            <a:custGeom>
              <a:avLst/>
              <a:gdLst/>
              <a:ahLst/>
              <a:cxnLst/>
              <a:rect l="l" t="t" r="r" b="b"/>
              <a:pathLst>
                <a:path w="2077720" h="523239">
                  <a:moveTo>
                    <a:pt x="0" y="261365"/>
                  </a:moveTo>
                  <a:lnTo>
                    <a:pt x="21098" y="208677"/>
                  </a:lnTo>
                  <a:lnTo>
                    <a:pt x="57318" y="175498"/>
                  </a:lnTo>
                  <a:lnTo>
                    <a:pt x="109819" y="144239"/>
                  </a:lnTo>
                  <a:lnTo>
                    <a:pt x="177363" y="115211"/>
                  </a:lnTo>
                  <a:lnTo>
                    <a:pt x="216390" y="101631"/>
                  </a:lnTo>
                  <a:lnTo>
                    <a:pt x="258714" y="88725"/>
                  </a:lnTo>
                  <a:lnTo>
                    <a:pt x="304180" y="76533"/>
                  </a:lnTo>
                  <a:lnTo>
                    <a:pt x="352635" y="65092"/>
                  </a:lnTo>
                  <a:lnTo>
                    <a:pt x="403922" y="54443"/>
                  </a:lnTo>
                  <a:lnTo>
                    <a:pt x="457888" y="44623"/>
                  </a:lnTo>
                  <a:lnTo>
                    <a:pt x="514378" y="35672"/>
                  </a:lnTo>
                  <a:lnTo>
                    <a:pt x="573237" y="27629"/>
                  </a:lnTo>
                  <a:lnTo>
                    <a:pt x="634311" y="20532"/>
                  </a:lnTo>
                  <a:lnTo>
                    <a:pt x="697445" y="14420"/>
                  </a:lnTo>
                  <a:lnTo>
                    <a:pt x="762485" y="9332"/>
                  </a:lnTo>
                  <a:lnTo>
                    <a:pt x="829275" y="5307"/>
                  </a:lnTo>
                  <a:lnTo>
                    <a:pt x="897662" y="2384"/>
                  </a:lnTo>
                  <a:lnTo>
                    <a:pt x="967490" y="602"/>
                  </a:lnTo>
                  <a:lnTo>
                    <a:pt x="1038605" y="0"/>
                  </a:lnTo>
                  <a:lnTo>
                    <a:pt x="1109721" y="602"/>
                  </a:lnTo>
                  <a:lnTo>
                    <a:pt x="1179549" y="2384"/>
                  </a:lnTo>
                  <a:lnTo>
                    <a:pt x="1247936" y="5307"/>
                  </a:lnTo>
                  <a:lnTo>
                    <a:pt x="1314726" y="9332"/>
                  </a:lnTo>
                  <a:lnTo>
                    <a:pt x="1379766" y="14420"/>
                  </a:lnTo>
                  <a:lnTo>
                    <a:pt x="1442900" y="20532"/>
                  </a:lnTo>
                  <a:lnTo>
                    <a:pt x="1503974" y="27629"/>
                  </a:lnTo>
                  <a:lnTo>
                    <a:pt x="1562833" y="35672"/>
                  </a:lnTo>
                  <a:lnTo>
                    <a:pt x="1619323" y="44623"/>
                  </a:lnTo>
                  <a:lnTo>
                    <a:pt x="1673289" y="54443"/>
                  </a:lnTo>
                  <a:lnTo>
                    <a:pt x="1724576" y="65092"/>
                  </a:lnTo>
                  <a:lnTo>
                    <a:pt x="1773031" y="76533"/>
                  </a:lnTo>
                  <a:lnTo>
                    <a:pt x="1818497" y="88725"/>
                  </a:lnTo>
                  <a:lnTo>
                    <a:pt x="1860821" y="101631"/>
                  </a:lnTo>
                  <a:lnTo>
                    <a:pt x="1899848" y="115211"/>
                  </a:lnTo>
                  <a:lnTo>
                    <a:pt x="1935423" y="129427"/>
                  </a:lnTo>
                  <a:lnTo>
                    <a:pt x="1995600" y="159609"/>
                  </a:lnTo>
                  <a:lnTo>
                    <a:pt x="2040115" y="191867"/>
                  </a:lnTo>
                  <a:lnTo>
                    <a:pt x="2067731" y="225889"/>
                  </a:lnTo>
                  <a:lnTo>
                    <a:pt x="2077212" y="261365"/>
                  </a:lnTo>
                  <a:lnTo>
                    <a:pt x="2074816" y="279260"/>
                  </a:lnTo>
                  <a:lnTo>
                    <a:pt x="2056113" y="314040"/>
                  </a:lnTo>
                  <a:lnTo>
                    <a:pt x="2019893" y="347214"/>
                  </a:lnTo>
                  <a:lnTo>
                    <a:pt x="1967392" y="378470"/>
                  </a:lnTo>
                  <a:lnTo>
                    <a:pt x="1899848" y="407498"/>
                  </a:lnTo>
                  <a:lnTo>
                    <a:pt x="1860821" y="421078"/>
                  </a:lnTo>
                  <a:lnTo>
                    <a:pt x="1818497" y="433985"/>
                  </a:lnTo>
                  <a:lnTo>
                    <a:pt x="1773031" y="446179"/>
                  </a:lnTo>
                  <a:lnTo>
                    <a:pt x="1724576" y="457621"/>
                  </a:lnTo>
                  <a:lnTo>
                    <a:pt x="1673289" y="468273"/>
                  </a:lnTo>
                  <a:lnTo>
                    <a:pt x="1619323" y="478094"/>
                  </a:lnTo>
                  <a:lnTo>
                    <a:pt x="1562833" y="487047"/>
                  </a:lnTo>
                  <a:lnTo>
                    <a:pt x="1503974" y="495093"/>
                  </a:lnTo>
                  <a:lnTo>
                    <a:pt x="1442900" y="502192"/>
                  </a:lnTo>
                  <a:lnTo>
                    <a:pt x="1379766" y="508306"/>
                  </a:lnTo>
                  <a:lnTo>
                    <a:pt x="1314726" y="513395"/>
                  </a:lnTo>
                  <a:lnTo>
                    <a:pt x="1247936" y="517421"/>
                  </a:lnTo>
                  <a:lnTo>
                    <a:pt x="1179549" y="520346"/>
                  </a:lnTo>
                  <a:lnTo>
                    <a:pt x="1109721" y="522129"/>
                  </a:lnTo>
                  <a:lnTo>
                    <a:pt x="1038605" y="522731"/>
                  </a:lnTo>
                  <a:lnTo>
                    <a:pt x="967490" y="522129"/>
                  </a:lnTo>
                  <a:lnTo>
                    <a:pt x="897662" y="520346"/>
                  </a:lnTo>
                  <a:lnTo>
                    <a:pt x="829275" y="517421"/>
                  </a:lnTo>
                  <a:lnTo>
                    <a:pt x="762485" y="513395"/>
                  </a:lnTo>
                  <a:lnTo>
                    <a:pt x="697445" y="508306"/>
                  </a:lnTo>
                  <a:lnTo>
                    <a:pt x="634311" y="502192"/>
                  </a:lnTo>
                  <a:lnTo>
                    <a:pt x="573237" y="495093"/>
                  </a:lnTo>
                  <a:lnTo>
                    <a:pt x="514378" y="487047"/>
                  </a:lnTo>
                  <a:lnTo>
                    <a:pt x="457888" y="478094"/>
                  </a:lnTo>
                  <a:lnTo>
                    <a:pt x="403922" y="468273"/>
                  </a:lnTo>
                  <a:lnTo>
                    <a:pt x="352635" y="457621"/>
                  </a:lnTo>
                  <a:lnTo>
                    <a:pt x="304180" y="446179"/>
                  </a:lnTo>
                  <a:lnTo>
                    <a:pt x="258714" y="433985"/>
                  </a:lnTo>
                  <a:lnTo>
                    <a:pt x="216390" y="421078"/>
                  </a:lnTo>
                  <a:lnTo>
                    <a:pt x="177363" y="407498"/>
                  </a:lnTo>
                  <a:lnTo>
                    <a:pt x="141788" y="393282"/>
                  </a:lnTo>
                  <a:lnTo>
                    <a:pt x="81611" y="363101"/>
                  </a:lnTo>
                  <a:lnTo>
                    <a:pt x="37096" y="330847"/>
                  </a:lnTo>
                  <a:lnTo>
                    <a:pt x="9480" y="296831"/>
                  </a:lnTo>
                  <a:lnTo>
                    <a:pt x="0" y="261365"/>
                  </a:lnTo>
                  <a:close/>
                </a:path>
              </a:pathLst>
            </a:custGeom>
            <a:ln w="12700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050538" y="5383174"/>
            <a:ext cx="12890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10">
                <a:solidFill>
                  <a:srgbClr val="FFFFFF"/>
                </a:solidFill>
                <a:latin typeface="Cambria"/>
                <a:cs typeface="Cambria"/>
              </a:rPr>
              <a:t>ware_name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9062466" y="2327910"/>
            <a:ext cx="76200" cy="1049655"/>
            <a:chOff x="9062466" y="2327910"/>
            <a:chExt cx="76200" cy="1049655"/>
          </a:xfrm>
        </p:grpSpPr>
        <p:sp>
          <p:nvSpPr>
            <p:cNvPr id="17" name="object 17" descr=""/>
            <p:cNvSpPr/>
            <p:nvPr/>
          </p:nvSpPr>
          <p:spPr>
            <a:xfrm>
              <a:off x="9062466" y="3019806"/>
              <a:ext cx="76200" cy="357505"/>
            </a:xfrm>
            <a:custGeom>
              <a:avLst/>
              <a:gdLst/>
              <a:ahLst/>
              <a:cxnLst/>
              <a:rect l="l" t="t" r="r" b="b"/>
              <a:pathLst>
                <a:path w="76200" h="357504">
                  <a:moveTo>
                    <a:pt x="25400" y="281305"/>
                  </a:moveTo>
                  <a:lnTo>
                    <a:pt x="0" y="281305"/>
                  </a:lnTo>
                  <a:lnTo>
                    <a:pt x="38100" y="357505"/>
                  </a:lnTo>
                  <a:lnTo>
                    <a:pt x="69850" y="294005"/>
                  </a:lnTo>
                  <a:lnTo>
                    <a:pt x="25400" y="294005"/>
                  </a:lnTo>
                  <a:lnTo>
                    <a:pt x="25400" y="281305"/>
                  </a:lnTo>
                  <a:close/>
                </a:path>
                <a:path w="76200" h="357504">
                  <a:moveTo>
                    <a:pt x="50800" y="0"/>
                  </a:moveTo>
                  <a:lnTo>
                    <a:pt x="25400" y="0"/>
                  </a:lnTo>
                  <a:lnTo>
                    <a:pt x="25400" y="294005"/>
                  </a:lnTo>
                  <a:lnTo>
                    <a:pt x="50800" y="294005"/>
                  </a:lnTo>
                  <a:lnTo>
                    <a:pt x="50800" y="0"/>
                  </a:lnTo>
                  <a:close/>
                </a:path>
                <a:path w="76200" h="357504">
                  <a:moveTo>
                    <a:pt x="76200" y="281305"/>
                  </a:moveTo>
                  <a:lnTo>
                    <a:pt x="50800" y="281305"/>
                  </a:lnTo>
                  <a:lnTo>
                    <a:pt x="50800" y="294005"/>
                  </a:lnTo>
                  <a:lnTo>
                    <a:pt x="69850" y="294005"/>
                  </a:lnTo>
                  <a:lnTo>
                    <a:pt x="76200" y="281305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100566" y="2327910"/>
              <a:ext cx="0" cy="300355"/>
            </a:xfrm>
            <a:custGeom>
              <a:avLst/>
              <a:gdLst/>
              <a:ahLst/>
              <a:cxnLst/>
              <a:rect l="l" t="t" r="r" b="b"/>
              <a:pathLst>
                <a:path w="0" h="300355">
                  <a:moveTo>
                    <a:pt x="0" y="0"/>
                  </a:moveTo>
                  <a:lnTo>
                    <a:pt x="0" y="300354"/>
                  </a:lnTo>
                </a:path>
              </a:pathLst>
            </a:custGeom>
            <a:ln w="2540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3898138" y="2621026"/>
            <a:ext cx="1596390" cy="535940"/>
            <a:chOff x="3898138" y="2621026"/>
            <a:chExt cx="1596390" cy="535940"/>
          </a:xfrm>
        </p:grpSpPr>
        <p:sp>
          <p:nvSpPr>
            <p:cNvPr id="20" name="object 20" descr=""/>
            <p:cNvSpPr/>
            <p:nvPr/>
          </p:nvSpPr>
          <p:spPr>
            <a:xfrm>
              <a:off x="3904488" y="2627376"/>
              <a:ext cx="1583690" cy="523240"/>
            </a:xfrm>
            <a:custGeom>
              <a:avLst/>
              <a:gdLst/>
              <a:ahLst/>
              <a:cxnLst/>
              <a:rect l="l" t="t" r="r" b="b"/>
              <a:pathLst>
                <a:path w="1583689" h="523239">
                  <a:moveTo>
                    <a:pt x="791717" y="0"/>
                  </a:moveTo>
                  <a:lnTo>
                    <a:pt x="723404" y="958"/>
                  </a:lnTo>
                  <a:lnTo>
                    <a:pt x="656704" y="3783"/>
                  </a:lnTo>
                  <a:lnTo>
                    <a:pt x="591856" y="8395"/>
                  </a:lnTo>
                  <a:lnTo>
                    <a:pt x="529097" y="14716"/>
                  </a:lnTo>
                  <a:lnTo>
                    <a:pt x="468665" y="22668"/>
                  </a:lnTo>
                  <a:lnTo>
                    <a:pt x="410797" y="32173"/>
                  </a:lnTo>
                  <a:lnTo>
                    <a:pt x="355732" y="43151"/>
                  </a:lnTo>
                  <a:lnTo>
                    <a:pt x="303706" y="55526"/>
                  </a:lnTo>
                  <a:lnTo>
                    <a:pt x="254957" y="69217"/>
                  </a:lnTo>
                  <a:lnTo>
                    <a:pt x="209723" y="84148"/>
                  </a:lnTo>
                  <a:lnTo>
                    <a:pt x="168242" y="100240"/>
                  </a:lnTo>
                  <a:lnTo>
                    <a:pt x="130751" y="117414"/>
                  </a:lnTo>
                  <a:lnTo>
                    <a:pt x="68689" y="154697"/>
                  </a:lnTo>
                  <a:lnTo>
                    <a:pt x="25441" y="195370"/>
                  </a:lnTo>
                  <a:lnTo>
                    <a:pt x="2906" y="238807"/>
                  </a:lnTo>
                  <a:lnTo>
                    <a:pt x="0" y="261365"/>
                  </a:lnTo>
                  <a:lnTo>
                    <a:pt x="2906" y="283924"/>
                  </a:lnTo>
                  <a:lnTo>
                    <a:pt x="25441" y="327361"/>
                  </a:lnTo>
                  <a:lnTo>
                    <a:pt x="68689" y="368034"/>
                  </a:lnTo>
                  <a:lnTo>
                    <a:pt x="130751" y="405317"/>
                  </a:lnTo>
                  <a:lnTo>
                    <a:pt x="168242" y="422491"/>
                  </a:lnTo>
                  <a:lnTo>
                    <a:pt x="209723" y="438583"/>
                  </a:lnTo>
                  <a:lnTo>
                    <a:pt x="254957" y="453514"/>
                  </a:lnTo>
                  <a:lnTo>
                    <a:pt x="303706" y="467205"/>
                  </a:lnTo>
                  <a:lnTo>
                    <a:pt x="355732" y="479580"/>
                  </a:lnTo>
                  <a:lnTo>
                    <a:pt x="410797" y="490558"/>
                  </a:lnTo>
                  <a:lnTo>
                    <a:pt x="468665" y="500063"/>
                  </a:lnTo>
                  <a:lnTo>
                    <a:pt x="529097" y="508015"/>
                  </a:lnTo>
                  <a:lnTo>
                    <a:pt x="591856" y="514336"/>
                  </a:lnTo>
                  <a:lnTo>
                    <a:pt x="656704" y="518948"/>
                  </a:lnTo>
                  <a:lnTo>
                    <a:pt x="723404" y="521773"/>
                  </a:lnTo>
                  <a:lnTo>
                    <a:pt x="791717" y="522732"/>
                  </a:lnTo>
                  <a:lnTo>
                    <a:pt x="860031" y="521773"/>
                  </a:lnTo>
                  <a:lnTo>
                    <a:pt x="926731" y="518948"/>
                  </a:lnTo>
                  <a:lnTo>
                    <a:pt x="991579" y="514336"/>
                  </a:lnTo>
                  <a:lnTo>
                    <a:pt x="1054338" y="508015"/>
                  </a:lnTo>
                  <a:lnTo>
                    <a:pt x="1114770" y="500063"/>
                  </a:lnTo>
                  <a:lnTo>
                    <a:pt x="1172638" y="490558"/>
                  </a:lnTo>
                  <a:lnTo>
                    <a:pt x="1227703" y="479580"/>
                  </a:lnTo>
                  <a:lnTo>
                    <a:pt x="1279729" y="467205"/>
                  </a:lnTo>
                  <a:lnTo>
                    <a:pt x="1328478" y="453514"/>
                  </a:lnTo>
                  <a:lnTo>
                    <a:pt x="1373712" y="438583"/>
                  </a:lnTo>
                  <a:lnTo>
                    <a:pt x="1415193" y="422491"/>
                  </a:lnTo>
                  <a:lnTo>
                    <a:pt x="1452684" y="405317"/>
                  </a:lnTo>
                  <a:lnTo>
                    <a:pt x="1514746" y="368034"/>
                  </a:lnTo>
                  <a:lnTo>
                    <a:pt x="1557994" y="327361"/>
                  </a:lnTo>
                  <a:lnTo>
                    <a:pt x="1580529" y="283924"/>
                  </a:lnTo>
                  <a:lnTo>
                    <a:pt x="1583436" y="261365"/>
                  </a:lnTo>
                  <a:lnTo>
                    <a:pt x="1580529" y="238807"/>
                  </a:lnTo>
                  <a:lnTo>
                    <a:pt x="1557994" y="195370"/>
                  </a:lnTo>
                  <a:lnTo>
                    <a:pt x="1514746" y="154697"/>
                  </a:lnTo>
                  <a:lnTo>
                    <a:pt x="1452684" y="117414"/>
                  </a:lnTo>
                  <a:lnTo>
                    <a:pt x="1415193" y="100240"/>
                  </a:lnTo>
                  <a:lnTo>
                    <a:pt x="1373712" y="84148"/>
                  </a:lnTo>
                  <a:lnTo>
                    <a:pt x="1328478" y="69217"/>
                  </a:lnTo>
                  <a:lnTo>
                    <a:pt x="1279729" y="55526"/>
                  </a:lnTo>
                  <a:lnTo>
                    <a:pt x="1227703" y="43151"/>
                  </a:lnTo>
                  <a:lnTo>
                    <a:pt x="1172638" y="32173"/>
                  </a:lnTo>
                  <a:lnTo>
                    <a:pt x="1114770" y="22668"/>
                  </a:lnTo>
                  <a:lnTo>
                    <a:pt x="1054338" y="14716"/>
                  </a:lnTo>
                  <a:lnTo>
                    <a:pt x="991579" y="8395"/>
                  </a:lnTo>
                  <a:lnTo>
                    <a:pt x="926731" y="3783"/>
                  </a:lnTo>
                  <a:lnTo>
                    <a:pt x="860031" y="958"/>
                  </a:lnTo>
                  <a:lnTo>
                    <a:pt x="791717" y="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904488" y="2627376"/>
              <a:ext cx="1583690" cy="523240"/>
            </a:xfrm>
            <a:custGeom>
              <a:avLst/>
              <a:gdLst/>
              <a:ahLst/>
              <a:cxnLst/>
              <a:rect l="l" t="t" r="r" b="b"/>
              <a:pathLst>
                <a:path w="1583689" h="523239">
                  <a:moveTo>
                    <a:pt x="0" y="261365"/>
                  </a:moveTo>
                  <a:lnTo>
                    <a:pt x="11465" y="216782"/>
                  </a:lnTo>
                  <a:lnTo>
                    <a:pt x="44595" y="174649"/>
                  </a:lnTo>
                  <a:lnTo>
                    <a:pt x="97487" y="135593"/>
                  </a:lnTo>
                  <a:lnTo>
                    <a:pt x="168242" y="100240"/>
                  </a:lnTo>
                  <a:lnTo>
                    <a:pt x="209723" y="84148"/>
                  </a:lnTo>
                  <a:lnTo>
                    <a:pt x="254957" y="69217"/>
                  </a:lnTo>
                  <a:lnTo>
                    <a:pt x="303706" y="55526"/>
                  </a:lnTo>
                  <a:lnTo>
                    <a:pt x="355732" y="43151"/>
                  </a:lnTo>
                  <a:lnTo>
                    <a:pt x="410797" y="32173"/>
                  </a:lnTo>
                  <a:lnTo>
                    <a:pt x="468665" y="22668"/>
                  </a:lnTo>
                  <a:lnTo>
                    <a:pt x="529097" y="14716"/>
                  </a:lnTo>
                  <a:lnTo>
                    <a:pt x="591856" y="8395"/>
                  </a:lnTo>
                  <a:lnTo>
                    <a:pt x="656704" y="3783"/>
                  </a:lnTo>
                  <a:lnTo>
                    <a:pt x="723404" y="958"/>
                  </a:lnTo>
                  <a:lnTo>
                    <a:pt x="791717" y="0"/>
                  </a:lnTo>
                  <a:lnTo>
                    <a:pt x="860031" y="958"/>
                  </a:lnTo>
                  <a:lnTo>
                    <a:pt x="926731" y="3783"/>
                  </a:lnTo>
                  <a:lnTo>
                    <a:pt x="991579" y="8395"/>
                  </a:lnTo>
                  <a:lnTo>
                    <a:pt x="1054338" y="14716"/>
                  </a:lnTo>
                  <a:lnTo>
                    <a:pt x="1114770" y="22668"/>
                  </a:lnTo>
                  <a:lnTo>
                    <a:pt x="1172638" y="32173"/>
                  </a:lnTo>
                  <a:lnTo>
                    <a:pt x="1227703" y="43151"/>
                  </a:lnTo>
                  <a:lnTo>
                    <a:pt x="1279729" y="55526"/>
                  </a:lnTo>
                  <a:lnTo>
                    <a:pt x="1328478" y="69217"/>
                  </a:lnTo>
                  <a:lnTo>
                    <a:pt x="1373712" y="84148"/>
                  </a:lnTo>
                  <a:lnTo>
                    <a:pt x="1415193" y="100240"/>
                  </a:lnTo>
                  <a:lnTo>
                    <a:pt x="1452684" y="117414"/>
                  </a:lnTo>
                  <a:lnTo>
                    <a:pt x="1514746" y="154697"/>
                  </a:lnTo>
                  <a:lnTo>
                    <a:pt x="1557994" y="195370"/>
                  </a:lnTo>
                  <a:lnTo>
                    <a:pt x="1580529" y="238807"/>
                  </a:lnTo>
                  <a:lnTo>
                    <a:pt x="1583436" y="261365"/>
                  </a:lnTo>
                  <a:lnTo>
                    <a:pt x="1580529" y="283924"/>
                  </a:lnTo>
                  <a:lnTo>
                    <a:pt x="1557994" y="327361"/>
                  </a:lnTo>
                  <a:lnTo>
                    <a:pt x="1514746" y="368034"/>
                  </a:lnTo>
                  <a:lnTo>
                    <a:pt x="1452684" y="405317"/>
                  </a:lnTo>
                  <a:lnTo>
                    <a:pt x="1415193" y="422491"/>
                  </a:lnTo>
                  <a:lnTo>
                    <a:pt x="1373712" y="438583"/>
                  </a:lnTo>
                  <a:lnTo>
                    <a:pt x="1328478" y="453514"/>
                  </a:lnTo>
                  <a:lnTo>
                    <a:pt x="1279729" y="467205"/>
                  </a:lnTo>
                  <a:lnTo>
                    <a:pt x="1227703" y="479580"/>
                  </a:lnTo>
                  <a:lnTo>
                    <a:pt x="1172638" y="490558"/>
                  </a:lnTo>
                  <a:lnTo>
                    <a:pt x="1114770" y="500063"/>
                  </a:lnTo>
                  <a:lnTo>
                    <a:pt x="1054338" y="508015"/>
                  </a:lnTo>
                  <a:lnTo>
                    <a:pt x="991579" y="514336"/>
                  </a:lnTo>
                  <a:lnTo>
                    <a:pt x="926731" y="518948"/>
                  </a:lnTo>
                  <a:lnTo>
                    <a:pt x="860031" y="521773"/>
                  </a:lnTo>
                  <a:lnTo>
                    <a:pt x="791717" y="522732"/>
                  </a:lnTo>
                  <a:lnTo>
                    <a:pt x="723404" y="521773"/>
                  </a:lnTo>
                  <a:lnTo>
                    <a:pt x="656704" y="518948"/>
                  </a:lnTo>
                  <a:lnTo>
                    <a:pt x="591856" y="514336"/>
                  </a:lnTo>
                  <a:lnTo>
                    <a:pt x="529097" y="508015"/>
                  </a:lnTo>
                  <a:lnTo>
                    <a:pt x="468665" y="500063"/>
                  </a:lnTo>
                  <a:lnTo>
                    <a:pt x="410797" y="490558"/>
                  </a:lnTo>
                  <a:lnTo>
                    <a:pt x="355732" y="479580"/>
                  </a:lnTo>
                  <a:lnTo>
                    <a:pt x="303706" y="467205"/>
                  </a:lnTo>
                  <a:lnTo>
                    <a:pt x="254957" y="453514"/>
                  </a:lnTo>
                  <a:lnTo>
                    <a:pt x="209723" y="438583"/>
                  </a:lnTo>
                  <a:lnTo>
                    <a:pt x="168242" y="422491"/>
                  </a:lnTo>
                  <a:lnTo>
                    <a:pt x="130751" y="405317"/>
                  </a:lnTo>
                  <a:lnTo>
                    <a:pt x="68689" y="368034"/>
                  </a:lnTo>
                  <a:lnTo>
                    <a:pt x="25441" y="327361"/>
                  </a:lnTo>
                  <a:lnTo>
                    <a:pt x="2906" y="283924"/>
                  </a:lnTo>
                  <a:lnTo>
                    <a:pt x="0" y="261365"/>
                  </a:lnTo>
                  <a:close/>
                </a:path>
              </a:pathLst>
            </a:custGeom>
            <a:ln w="12700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247515" y="2730753"/>
            <a:ext cx="899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90">
                <a:solidFill>
                  <a:srgbClr val="FFFFFF"/>
                </a:solidFill>
                <a:latin typeface="Cambria"/>
                <a:cs typeface="Cambria"/>
              </a:rPr>
              <a:t>product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825240" y="3401567"/>
            <a:ext cx="1740535" cy="390525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4826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80"/>
              </a:spcBef>
            </a:pPr>
            <a:r>
              <a:rPr dirty="0" sz="1800" spc="155">
                <a:solidFill>
                  <a:srgbClr val="FFFFFF"/>
                </a:solidFill>
                <a:latin typeface="Cambria"/>
                <a:cs typeface="Cambria"/>
              </a:rPr>
              <a:t>PRODUCT:p1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3651250" y="3986529"/>
            <a:ext cx="2090420" cy="535940"/>
            <a:chOff x="3651250" y="3986529"/>
            <a:chExt cx="2090420" cy="535940"/>
          </a:xfrm>
        </p:grpSpPr>
        <p:sp>
          <p:nvSpPr>
            <p:cNvPr id="25" name="object 25" descr=""/>
            <p:cNvSpPr/>
            <p:nvPr/>
          </p:nvSpPr>
          <p:spPr>
            <a:xfrm>
              <a:off x="3657600" y="3992879"/>
              <a:ext cx="2077720" cy="523240"/>
            </a:xfrm>
            <a:custGeom>
              <a:avLst/>
              <a:gdLst/>
              <a:ahLst/>
              <a:cxnLst/>
              <a:rect l="l" t="t" r="r" b="b"/>
              <a:pathLst>
                <a:path w="2077720" h="523239">
                  <a:moveTo>
                    <a:pt x="1038605" y="0"/>
                  </a:moveTo>
                  <a:lnTo>
                    <a:pt x="967490" y="602"/>
                  </a:lnTo>
                  <a:lnTo>
                    <a:pt x="897662" y="2384"/>
                  </a:lnTo>
                  <a:lnTo>
                    <a:pt x="829275" y="5307"/>
                  </a:lnTo>
                  <a:lnTo>
                    <a:pt x="762485" y="9332"/>
                  </a:lnTo>
                  <a:lnTo>
                    <a:pt x="697445" y="14420"/>
                  </a:lnTo>
                  <a:lnTo>
                    <a:pt x="634311" y="20532"/>
                  </a:lnTo>
                  <a:lnTo>
                    <a:pt x="573237" y="27629"/>
                  </a:lnTo>
                  <a:lnTo>
                    <a:pt x="514378" y="35672"/>
                  </a:lnTo>
                  <a:lnTo>
                    <a:pt x="457888" y="44623"/>
                  </a:lnTo>
                  <a:lnTo>
                    <a:pt x="403922" y="54443"/>
                  </a:lnTo>
                  <a:lnTo>
                    <a:pt x="352635" y="65092"/>
                  </a:lnTo>
                  <a:lnTo>
                    <a:pt x="304180" y="76533"/>
                  </a:lnTo>
                  <a:lnTo>
                    <a:pt x="258714" y="88725"/>
                  </a:lnTo>
                  <a:lnTo>
                    <a:pt x="216390" y="101631"/>
                  </a:lnTo>
                  <a:lnTo>
                    <a:pt x="177363" y="115211"/>
                  </a:lnTo>
                  <a:lnTo>
                    <a:pt x="141788" y="129427"/>
                  </a:lnTo>
                  <a:lnTo>
                    <a:pt x="81611" y="159609"/>
                  </a:lnTo>
                  <a:lnTo>
                    <a:pt x="37096" y="191867"/>
                  </a:lnTo>
                  <a:lnTo>
                    <a:pt x="9480" y="225889"/>
                  </a:lnTo>
                  <a:lnTo>
                    <a:pt x="0" y="261366"/>
                  </a:lnTo>
                  <a:lnTo>
                    <a:pt x="2395" y="279266"/>
                  </a:lnTo>
                  <a:lnTo>
                    <a:pt x="21098" y="314054"/>
                  </a:lnTo>
                  <a:lnTo>
                    <a:pt x="57318" y="347233"/>
                  </a:lnTo>
                  <a:lnTo>
                    <a:pt x="109819" y="378492"/>
                  </a:lnTo>
                  <a:lnTo>
                    <a:pt x="177363" y="407520"/>
                  </a:lnTo>
                  <a:lnTo>
                    <a:pt x="216390" y="421100"/>
                  </a:lnTo>
                  <a:lnTo>
                    <a:pt x="258714" y="434006"/>
                  </a:lnTo>
                  <a:lnTo>
                    <a:pt x="304180" y="446198"/>
                  </a:lnTo>
                  <a:lnTo>
                    <a:pt x="352635" y="457639"/>
                  </a:lnTo>
                  <a:lnTo>
                    <a:pt x="403922" y="468288"/>
                  </a:lnTo>
                  <a:lnTo>
                    <a:pt x="457888" y="478108"/>
                  </a:lnTo>
                  <a:lnTo>
                    <a:pt x="514378" y="487059"/>
                  </a:lnTo>
                  <a:lnTo>
                    <a:pt x="573237" y="495102"/>
                  </a:lnTo>
                  <a:lnTo>
                    <a:pt x="634311" y="502199"/>
                  </a:lnTo>
                  <a:lnTo>
                    <a:pt x="697445" y="508311"/>
                  </a:lnTo>
                  <a:lnTo>
                    <a:pt x="762485" y="513399"/>
                  </a:lnTo>
                  <a:lnTo>
                    <a:pt x="829275" y="517424"/>
                  </a:lnTo>
                  <a:lnTo>
                    <a:pt x="897662" y="520347"/>
                  </a:lnTo>
                  <a:lnTo>
                    <a:pt x="967490" y="522129"/>
                  </a:lnTo>
                  <a:lnTo>
                    <a:pt x="1038605" y="522732"/>
                  </a:lnTo>
                  <a:lnTo>
                    <a:pt x="1109721" y="522129"/>
                  </a:lnTo>
                  <a:lnTo>
                    <a:pt x="1179549" y="520347"/>
                  </a:lnTo>
                  <a:lnTo>
                    <a:pt x="1247936" y="517424"/>
                  </a:lnTo>
                  <a:lnTo>
                    <a:pt x="1314726" y="513399"/>
                  </a:lnTo>
                  <a:lnTo>
                    <a:pt x="1379766" y="508311"/>
                  </a:lnTo>
                  <a:lnTo>
                    <a:pt x="1442900" y="502199"/>
                  </a:lnTo>
                  <a:lnTo>
                    <a:pt x="1503974" y="495102"/>
                  </a:lnTo>
                  <a:lnTo>
                    <a:pt x="1562833" y="487059"/>
                  </a:lnTo>
                  <a:lnTo>
                    <a:pt x="1619323" y="478108"/>
                  </a:lnTo>
                  <a:lnTo>
                    <a:pt x="1673289" y="468288"/>
                  </a:lnTo>
                  <a:lnTo>
                    <a:pt x="1724576" y="457639"/>
                  </a:lnTo>
                  <a:lnTo>
                    <a:pt x="1773031" y="446198"/>
                  </a:lnTo>
                  <a:lnTo>
                    <a:pt x="1818497" y="434006"/>
                  </a:lnTo>
                  <a:lnTo>
                    <a:pt x="1860821" y="421100"/>
                  </a:lnTo>
                  <a:lnTo>
                    <a:pt x="1899848" y="407520"/>
                  </a:lnTo>
                  <a:lnTo>
                    <a:pt x="1935423" y="393304"/>
                  </a:lnTo>
                  <a:lnTo>
                    <a:pt x="1995600" y="363122"/>
                  </a:lnTo>
                  <a:lnTo>
                    <a:pt x="2040115" y="330864"/>
                  </a:lnTo>
                  <a:lnTo>
                    <a:pt x="2067731" y="296842"/>
                  </a:lnTo>
                  <a:lnTo>
                    <a:pt x="2077212" y="261366"/>
                  </a:lnTo>
                  <a:lnTo>
                    <a:pt x="2074816" y="243465"/>
                  </a:lnTo>
                  <a:lnTo>
                    <a:pt x="2056113" y="208677"/>
                  </a:lnTo>
                  <a:lnTo>
                    <a:pt x="2019893" y="175498"/>
                  </a:lnTo>
                  <a:lnTo>
                    <a:pt x="1967392" y="144239"/>
                  </a:lnTo>
                  <a:lnTo>
                    <a:pt x="1899848" y="115211"/>
                  </a:lnTo>
                  <a:lnTo>
                    <a:pt x="1860821" y="101631"/>
                  </a:lnTo>
                  <a:lnTo>
                    <a:pt x="1818497" y="88725"/>
                  </a:lnTo>
                  <a:lnTo>
                    <a:pt x="1773031" y="76533"/>
                  </a:lnTo>
                  <a:lnTo>
                    <a:pt x="1724576" y="65092"/>
                  </a:lnTo>
                  <a:lnTo>
                    <a:pt x="1673289" y="54443"/>
                  </a:lnTo>
                  <a:lnTo>
                    <a:pt x="1619323" y="44623"/>
                  </a:lnTo>
                  <a:lnTo>
                    <a:pt x="1562833" y="35672"/>
                  </a:lnTo>
                  <a:lnTo>
                    <a:pt x="1503974" y="27629"/>
                  </a:lnTo>
                  <a:lnTo>
                    <a:pt x="1442900" y="20532"/>
                  </a:lnTo>
                  <a:lnTo>
                    <a:pt x="1379766" y="14420"/>
                  </a:lnTo>
                  <a:lnTo>
                    <a:pt x="1314726" y="9332"/>
                  </a:lnTo>
                  <a:lnTo>
                    <a:pt x="1247936" y="5307"/>
                  </a:lnTo>
                  <a:lnTo>
                    <a:pt x="1179549" y="2384"/>
                  </a:lnTo>
                  <a:lnTo>
                    <a:pt x="1109721" y="602"/>
                  </a:lnTo>
                  <a:lnTo>
                    <a:pt x="1038605" y="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657600" y="3992879"/>
              <a:ext cx="2077720" cy="523240"/>
            </a:xfrm>
            <a:custGeom>
              <a:avLst/>
              <a:gdLst/>
              <a:ahLst/>
              <a:cxnLst/>
              <a:rect l="l" t="t" r="r" b="b"/>
              <a:pathLst>
                <a:path w="2077720" h="523239">
                  <a:moveTo>
                    <a:pt x="0" y="261366"/>
                  </a:moveTo>
                  <a:lnTo>
                    <a:pt x="21098" y="208677"/>
                  </a:lnTo>
                  <a:lnTo>
                    <a:pt x="57318" y="175498"/>
                  </a:lnTo>
                  <a:lnTo>
                    <a:pt x="109819" y="144239"/>
                  </a:lnTo>
                  <a:lnTo>
                    <a:pt x="177363" y="115211"/>
                  </a:lnTo>
                  <a:lnTo>
                    <a:pt x="216390" y="101631"/>
                  </a:lnTo>
                  <a:lnTo>
                    <a:pt x="258714" y="88725"/>
                  </a:lnTo>
                  <a:lnTo>
                    <a:pt x="304180" y="76533"/>
                  </a:lnTo>
                  <a:lnTo>
                    <a:pt x="352635" y="65092"/>
                  </a:lnTo>
                  <a:lnTo>
                    <a:pt x="403922" y="54443"/>
                  </a:lnTo>
                  <a:lnTo>
                    <a:pt x="457888" y="44623"/>
                  </a:lnTo>
                  <a:lnTo>
                    <a:pt x="514378" y="35672"/>
                  </a:lnTo>
                  <a:lnTo>
                    <a:pt x="573237" y="27629"/>
                  </a:lnTo>
                  <a:lnTo>
                    <a:pt x="634311" y="20532"/>
                  </a:lnTo>
                  <a:lnTo>
                    <a:pt x="697445" y="14420"/>
                  </a:lnTo>
                  <a:lnTo>
                    <a:pt x="762485" y="9332"/>
                  </a:lnTo>
                  <a:lnTo>
                    <a:pt x="829275" y="5307"/>
                  </a:lnTo>
                  <a:lnTo>
                    <a:pt x="897662" y="2384"/>
                  </a:lnTo>
                  <a:lnTo>
                    <a:pt x="967490" y="602"/>
                  </a:lnTo>
                  <a:lnTo>
                    <a:pt x="1038605" y="0"/>
                  </a:lnTo>
                  <a:lnTo>
                    <a:pt x="1109721" y="602"/>
                  </a:lnTo>
                  <a:lnTo>
                    <a:pt x="1179549" y="2384"/>
                  </a:lnTo>
                  <a:lnTo>
                    <a:pt x="1247936" y="5307"/>
                  </a:lnTo>
                  <a:lnTo>
                    <a:pt x="1314726" y="9332"/>
                  </a:lnTo>
                  <a:lnTo>
                    <a:pt x="1379766" y="14420"/>
                  </a:lnTo>
                  <a:lnTo>
                    <a:pt x="1442900" y="20532"/>
                  </a:lnTo>
                  <a:lnTo>
                    <a:pt x="1503974" y="27629"/>
                  </a:lnTo>
                  <a:lnTo>
                    <a:pt x="1562833" y="35672"/>
                  </a:lnTo>
                  <a:lnTo>
                    <a:pt x="1619323" y="44623"/>
                  </a:lnTo>
                  <a:lnTo>
                    <a:pt x="1673289" y="54443"/>
                  </a:lnTo>
                  <a:lnTo>
                    <a:pt x="1724576" y="65092"/>
                  </a:lnTo>
                  <a:lnTo>
                    <a:pt x="1773031" y="76533"/>
                  </a:lnTo>
                  <a:lnTo>
                    <a:pt x="1818497" y="88725"/>
                  </a:lnTo>
                  <a:lnTo>
                    <a:pt x="1860821" y="101631"/>
                  </a:lnTo>
                  <a:lnTo>
                    <a:pt x="1899848" y="115211"/>
                  </a:lnTo>
                  <a:lnTo>
                    <a:pt x="1935423" y="129427"/>
                  </a:lnTo>
                  <a:lnTo>
                    <a:pt x="1995600" y="159609"/>
                  </a:lnTo>
                  <a:lnTo>
                    <a:pt x="2040115" y="191867"/>
                  </a:lnTo>
                  <a:lnTo>
                    <a:pt x="2067731" y="225889"/>
                  </a:lnTo>
                  <a:lnTo>
                    <a:pt x="2077212" y="261366"/>
                  </a:lnTo>
                  <a:lnTo>
                    <a:pt x="2074816" y="279266"/>
                  </a:lnTo>
                  <a:lnTo>
                    <a:pt x="2056113" y="314054"/>
                  </a:lnTo>
                  <a:lnTo>
                    <a:pt x="2019893" y="347233"/>
                  </a:lnTo>
                  <a:lnTo>
                    <a:pt x="1967392" y="378492"/>
                  </a:lnTo>
                  <a:lnTo>
                    <a:pt x="1899848" y="407520"/>
                  </a:lnTo>
                  <a:lnTo>
                    <a:pt x="1860821" y="421100"/>
                  </a:lnTo>
                  <a:lnTo>
                    <a:pt x="1818497" y="434006"/>
                  </a:lnTo>
                  <a:lnTo>
                    <a:pt x="1773031" y="446198"/>
                  </a:lnTo>
                  <a:lnTo>
                    <a:pt x="1724576" y="457639"/>
                  </a:lnTo>
                  <a:lnTo>
                    <a:pt x="1673289" y="468288"/>
                  </a:lnTo>
                  <a:lnTo>
                    <a:pt x="1619323" y="478108"/>
                  </a:lnTo>
                  <a:lnTo>
                    <a:pt x="1562833" y="487059"/>
                  </a:lnTo>
                  <a:lnTo>
                    <a:pt x="1503974" y="495102"/>
                  </a:lnTo>
                  <a:lnTo>
                    <a:pt x="1442900" y="502199"/>
                  </a:lnTo>
                  <a:lnTo>
                    <a:pt x="1379766" y="508311"/>
                  </a:lnTo>
                  <a:lnTo>
                    <a:pt x="1314726" y="513399"/>
                  </a:lnTo>
                  <a:lnTo>
                    <a:pt x="1247936" y="517424"/>
                  </a:lnTo>
                  <a:lnTo>
                    <a:pt x="1179549" y="520347"/>
                  </a:lnTo>
                  <a:lnTo>
                    <a:pt x="1109721" y="522129"/>
                  </a:lnTo>
                  <a:lnTo>
                    <a:pt x="1038605" y="522732"/>
                  </a:lnTo>
                  <a:lnTo>
                    <a:pt x="967490" y="522129"/>
                  </a:lnTo>
                  <a:lnTo>
                    <a:pt x="897662" y="520347"/>
                  </a:lnTo>
                  <a:lnTo>
                    <a:pt x="829275" y="517424"/>
                  </a:lnTo>
                  <a:lnTo>
                    <a:pt x="762485" y="513399"/>
                  </a:lnTo>
                  <a:lnTo>
                    <a:pt x="697445" y="508311"/>
                  </a:lnTo>
                  <a:lnTo>
                    <a:pt x="634311" y="502199"/>
                  </a:lnTo>
                  <a:lnTo>
                    <a:pt x="573237" y="495102"/>
                  </a:lnTo>
                  <a:lnTo>
                    <a:pt x="514378" y="487059"/>
                  </a:lnTo>
                  <a:lnTo>
                    <a:pt x="457888" y="478108"/>
                  </a:lnTo>
                  <a:lnTo>
                    <a:pt x="403922" y="468288"/>
                  </a:lnTo>
                  <a:lnTo>
                    <a:pt x="352635" y="457639"/>
                  </a:lnTo>
                  <a:lnTo>
                    <a:pt x="304180" y="446198"/>
                  </a:lnTo>
                  <a:lnTo>
                    <a:pt x="258714" y="434006"/>
                  </a:lnTo>
                  <a:lnTo>
                    <a:pt x="216390" y="421100"/>
                  </a:lnTo>
                  <a:lnTo>
                    <a:pt x="177363" y="407520"/>
                  </a:lnTo>
                  <a:lnTo>
                    <a:pt x="141788" y="393304"/>
                  </a:lnTo>
                  <a:lnTo>
                    <a:pt x="81611" y="363122"/>
                  </a:lnTo>
                  <a:lnTo>
                    <a:pt x="37096" y="330864"/>
                  </a:lnTo>
                  <a:lnTo>
                    <a:pt x="9480" y="296842"/>
                  </a:lnTo>
                  <a:lnTo>
                    <a:pt x="0" y="261366"/>
                  </a:lnTo>
                  <a:close/>
                </a:path>
              </a:pathLst>
            </a:custGeom>
            <a:ln w="12700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4289805" y="4095750"/>
            <a:ext cx="8121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90">
                <a:solidFill>
                  <a:srgbClr val="FFFFFF"/>
                </a:solidFill>
                <a:latin typeface="Cambria"/>
                <a:cs typeface="Cambria"/>
              </a:rPr>
              <a:t>p_ware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4658105" y="2327910"/>
            <a:ext cx="76200" cy="1073785"/>
            <a:chOff x="4658105" y="2327910"/>
            <a:chExt cx="76200" cy="1073785"/>
          </a:xfrm>
        </p:grpSpPr>
        <p:sp>
          <p:nvSpPr>
            <p:cNvPr id="29" name="object 29" descr=""/>
            <p:cNvSpPr/>
            <p:nvPr/>
          </p:nvSpPr>
          <p:spPr>
            <a:xfrm>
              <a:off x="4696205" y="2327910"/>
              <a:ext cx="0" cy="300355"/>
            </a:xfrm>
            <a:custGeom>
              <a:avLst/>
              <a:gdLst/>
              <a:ahLst/>
              <a:cxnLst/>
              <a:rect l="l" t="t" r="r" b="b"/>
              <a:pathLst>
                <a:path w="0" h="300355">
                  <a:moveTo>
                    <a:pt x="0" y="0"/>
                  </a:moveTo>
                  <a:lnTo>
                    <a:pt x="0" y="300354"/>
                  </a:lnTo>
                </a:path>
              </a:pathLst>
            </a:custGeom>
            <a:ln w="2540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58105" y="3150870"/>
              <a:ext cx="76200" cy="250825"/>
            </a:xfrm>
            <a:prstGeom prst="rect">
              <a:avLst/>
            </a:prstGeom>
          </p:spPr>
        </p:pic>
      </p:grpSp>
      <p:grpSp>
        <p:nvGrpSpPr>
          <p:cNvPr id="31" name="object 31" descr=""/>
          <p:cNvGrpSpPr/>
          <p:nvPr/>
        </p:nvGrpSpPr>
        <p:grpSpPr>
          <a:xfrm>
            <a:off x="4658105" y="5098541"/>
            <a:ext cx="76200" cy="904240"/>
            <a:chOff x="4658105" y="5098541"/>
            <a:chExt cx="76200" cy="904240"/>
          </a:xfrm>
        </p:grpSpPr>
        <p:sp>
          <p:nvSpPr>
            <p:cNvPr id="32" name="object 32" descr=""/>
            <p:cNvSpPr/>
            <p:nvPr/>
          </p:nvSpPr>
          <p:spPr>
            <a:xfrm>
              <a:off x="4696205" y="5098541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79">
                  <a:moveTo>
                    <a:pt x="0" y="0"/>
                  </a:moveTo>
                  <a:lnTo>
                    <a:pt x="0" y="182371"/>
                  </a:lnTo>
                </a:path>
              </a:pathLst>
            </a:custGeom>
            <a:ln w="2540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58105" y="5802629"/>
              <a:ext cx="76200" cy="200113"/>
            </a:xfrm>
            <a:prstGeom prst="rect">
              <a:avLst/>
            </a:prstGeom>
          </p:spPr>
        </p:pic>
      </p:grpSp>
      <p:grpSp>
        <p:nvGrpSpPr>
          <p:cNvPr id="34" name="object 34" descr=""/>
          <p:cNvGrpSpPr/>
          <p:nvPr/>
        </p:nvGrpSpPr>
        <p:grpSpPr>
          <a:xfrm>
            <a:off x="5883909" y="1930654"/>
            <a:ext cx="1638935" cy="403225"/>
            <a:chOff x="5883909" y="1930654"/>
            <a:chExt cx="1638935" cy="403225"/>
          </a:xfrm>
        </p:grpSpPr>
        <p:sp>
          <p:nvSpPr>
            <p:cNvPr id="35" name="object 35" descr=""/>
            <p:cNvSpPr/>
            <p:nvPr/>
          </p:nvSpPr>
          <p:spPr>
            <a:xfrm>
              <a:off x="5890259" y="1937004"/>
              <a:ext cx="1626235" cy="390525"/>
            </a:xfrm>
            <a:custGeom>
              <a:avLst/>
              <a:gdLst/>
              <a:ahLst/>
              <a:cxnLst/>
              <a:rect l="l" t="t" r="r" b="b"/>
              <a:pathLst>
                <a:path w="1626234" h="390525">
                  <a:moveTo>
                    <a:pt x="813054" y="0"/>
                  </a:moveTo>
                  <a:lnTo>
                    <a:pt x="739044" y="797"/>
                  </a:lnTo>
                  <a:lnTo>
                    <a:pt x="666897" y="3144"/>
                  </a:lnTo>
                  <a:lnTo>
                    <a:pt x="596900" y="6970"/>
                  </a:lnTo>
                  <a:lnTo>
                    <a:pt x="529339" y="12208"/>
                  </a:lnTo>
                  <a:lnTo>
                    <a:pt x="464501" y="18788"/>
                  </a:lnTo>
                  <a:lnTo>
                    <a:pt x="402674" y="26641"/>
                  </a:lnTo>
                  <a:lnTo>
                    <a:pt x="344144" y="35699"/>
                  </a:lnTo>
                  <a:lnTo>
                    <a:pt x="289199" y="45891"/>
                  </a:lnTo>
                  <a:lnTo>
                    <a:pt x="238125" y="57149"/>
                  </a:lnTo>
                  <a:lnTo>
                    <a:pt x="191208" y="69405"/>
                  </a:lnTo>
                  <a:lnTo>
                    <a:pt x="148737" y="82589"/>
                  </a:lnTo>
                  <a:lnTo>
                    <a:pt x="110998" y="96632"/>
                  </a:lnTo>
                  <a:lnTo>
                    <a:pt x="50862" y="127020"/>
                  </a:lnTo>
                  <a:lnTo>
                    <a:pt x="13098" y="160017"/>
                  </a:lnTo>
                  <a:lnTo>
                    <a:pt x="0" y="195072"/>
                  </a:lnTo>
                  <a:lnTo>
                    <a:pt x="3322" y="212821"/>
                  </a:lnTo>
                  <a:lnTo>
                    <a:pt x="29040" y="246916"/>
                  </a:lnTo>
                  <a:lnTo>
                    <a:pt x="78277" y="278677"/>
                  </a:lnTo>
                  <a:lnTo>
                    <a:pt x="148737" y="307554"/>
                  </a:lnTo>
                  <a:lnTo>
                    <a:pt x="191208" y="320738"/>
                  </a:lnTo>
                  <a:lnTo>
                    <a:pt x="238124" y="332994"/>
                  </a:lnTo>
                  <a:lnTo>
                    <a:pt x="289199" y="344252"/>
                  </a:lnTo>
                  <a:lnTo>
                    <a:pt x="344144" y="354444"/>
                  </a:lnTo>
                  <a:lnTo>
                    <a:pt x="402674" y="363502"/>
                  </a:lnTo>
                  <a:lnTo>
                    <a:pt x="464501" y="371355"/>
                  </a:lnTo>
                  <a:lnTo>
                    <a:pt x="529339" y="377935"/>
                  </a:lnTo>
                  <a:lnTo>
                    <a:pt x="596899" y="383173"/>
                  </a:lnTo>
                  <a:lnTo>
                    <a:pt x="666897" y="386999"/>
                  </a:lnTo>
                  <a:lnTo>
                    <a:pt x="739044" y="389346"/>
                  </a:lnTo>
                  <a:lnTo>
                    <a:pt x="813054" y="390144"/>
                  </a:lnTo>
                  <a:lnTo>
                    <a:pt x="887063" y="389346"/>
                  </a:lnTo>
                  <a:lnTo>
                    <a:pt x="959210" y="386999"/>
                  </a:lnTo>
                  <a:lnTo>
                    <a:pt x="1029208" y="383173"/>
                  </a:lnTo>
                  <a:lnTo>
                    <a:pt x="1096768" y="377935"/>
                  </a:lnTo>
                  <a:lnTo>
                    <a:pt x="1161606" y="371355"/>
                  </a:lnTo>
                  <a:lnTo>
                    <a:pt x="1223433" y="363502"/>
                  </a:lnTo>
                  <a:lnTo>
                    <a:pt x="1281963" y="354444"/>
                  </a:lnTo>
                  <a:lnTo>
                    <a:pt x="1336908" y="344252"/>
                  </a:lnTo>
                  <a:lnTo>
                    <a:pt x="1387982" y="332994"/>
                  </a:lnTo>
                  <a:lnTo>
                    <a:pt x="1434899" y="320738"/>
                  </a:lnTo>
                  <a:lnTo>
                    <a:pt x="1477370" y="307554"/>
                  </a:lnTo>
                  <a:lnTo>
                    <a:pt x="1515110" y="293511"/>
                  </a:lnTo>
                  <a:lnTo>
                    <a:pt x="1575245" y="263123"/>
                  </a:lnTo>
                  <a:lnTo>
                    <a:pt x="1613009" y="230126"/>
                  </a:lnTo>
                  <a:lnTo>
                    <a:pt x="1626108" y="195072"/>
                  </a:lnTo>
                  <a:lnTo>
                    <a:pt x="1622785" y="177322"/>
                  </a:lnTo>
                  <a:lnTo>
                    <a:pt x="1597067" y="143227"/>
                  </a:lnTo>
                  <a:lnTo>
                    <a:pt x="1547830" y="111466"/>
                  </a:lnTo>
                  <a:lnTo>
                    <a:pt x="1477370" y="82589"/>
                  </a:lnTo>
                  <a:lnTo>
                    <a:pt x="1434899" y="69405"/>
                  </a:lnTo>
                  <a:lnTo>
                    <a:pt x="1387982" y="57150"/>
                  </a:lnTo>
                  <a:lnTo>
                    <a:pt x="1336908" y="45891"/>
                  </a:lnTo>
                  <a:lnTo>
                    <a:pt x="1281963" y="35699"/>
                  </a:lnTo>
                  <a:lnTo>
                    <a:pt x="1223433" y="26641"/>
                  </a:lnTo>
                  <a:lnTo>
                    <a:pt x="1161606" y="18788"/>
                  </a:lnTo>
                  <a:lnTo>
                    <a:pt x="1096768" y="12208"/>
                  </a:lnTo>
                  <a:lnTo>
                    <a:pt x="1029208" y="6970"/>
                  </a:lnTo>
                  <a:lnTo>
                    <a:pt x="959210" y="3144"/>
                  </a:lnTo>
                  <a:lnTo>
                    <a:pt x="887063" y="797"/>
                  </a:lnTo>
                  <a:lnTo>
                    <a:pt x="813054" y="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890259" y="1937004"/>
              <a:ext cx="1626235" cy="390525"/>
            </a:xfrm>
            <a:custGeom>
              <a:avLst/>
              <a:gdLst/>
              <a:ahLst/>
              <a:cxnLst/>
              <a:rect l="l" t="t" r="r" b="b"/>
              <a:pathLst>
                <a:path w="1626234" h="390525">
                  <a:moveTo>
                    <a:pt x="0" y="195072"/>
                  </a:moveTo>
                  <a:lnTo>
                    <a:pt x="29040" y="143227"/>
                  </a:lnTo>
                  <a:lnTo>
                    <a:pt x="78277" y="111466"/>
                  </a:lnTo>
                  <a:lnTo>
                    <a:pt x="148737" y="82589"/>
                  </a:lnTo>
                  <a:lnTo>
                    <a:pt x="191208" y="69405"/>
                  </a:lnTo>
                  <a:lnTo>
                    <a:pt x="238125" y="57149"/>
                  </a:lnTo>
                  <a:lnTo>
                    <a:pt x="289199" y="45891"/>
                  </a:lnTo>
                  <a:lnTo>
                    <a:pt x="344144" y="35699"/>
                  </a:lnTo>
                  <a:lnTo>
                    <a:pt x="402674" y="26641"/>
                  </a:lnTo>
                  <a:lnTo>
                    <a:pt x="464501" y="18788"/>
                  </a:lnTo>
                  <a:lnTo>
                    <a:pt x="529339" y="12208"/>
                  </a:lnTo>
                  <a:lnTo>
                    <a:pt x="596900" y="6970"/>
                  </a:lnTo>
                  <a:lnTo>
                    <a:pt x="666897" y="3144"/>
                  </a:lnTo>
                  <a:lnTo>
                    <a:pt x="739044" y="797"/>
                  </a:lnTo>
                  <a:lnTo>
                    <a:pt x="813054" y="0"/>
                  </a:lnTo>
                  <a:lnTo>
                    <a:pt x="887063" y="797"/>
                  </a:lnTo>
                  <a:lnTo>
                    <a:pt x="959210" y="3144"/>
                  </a:lnTo>
                  <a:lnTo>
                    <a:pt x="1029208" y="6970"/>
                  </a:lnTo>
                  <a:lnTo>
                    <a:pt x="1096768" y="12208"/>
                  </a:lnTo>
                  <a:lnTo>
                    <a:pt x="1161606" y="18788"/>
                  </a:lnTo>
                  <a:lnTo>
                    <a:pt x="1223433" y="26641"/>
                  </a:lnTo>
                  <a:lnTo>
                    <a:pt x="1281963" y="35699"/>
                  </a:lnTo>
                  <a:lnTo>
                    <a:pt x="1336908" y="45891"/>
                  </a:lnTo>
                  <a:lnTo>
                    <a:pt x="1387982" y="57150"/>
                  </a:lnTo>
                  <a:lnTo>
                    <a:pt x="1434899" y="69405"/>
                  </a:lnTo>
                  <a:lnTo>
                    <a:pt x="1477370" y="82589"/>
                  </a:lnTo>
                  <a:lnTo>
                    <a:pt x="1515110" y="96632"/>
                  </a:lnTo>
                  <a:lnTo>
                    <a:pt x="1575245" y="127020"/>
                  </a:lnTo>
                  <a:lnTo>
                    <a:pt x="1613009" y="160017"/>
                  </a:lnTo>
                  <a:lnTo>
                    <a:pt x="1626108" y="195072"/>
                  </a:lnTo>
                  <a:lnTo>
                    <a:pt x="1622785" y="212821"/>
                  </a:lnTo>
                  <a:lnTo>
                    <a:pt x="1597067" y="246916"/>
                  </a:lnTo>
                  <a:lnTo>
                    <a:pt x="1547830" y="278677"/>
                  </a:lnTo>
                  <a:lnTo>
                    <a:pt x="1477370" y="307554"/>
                  </a:lnTo>
                  <a:lnTo>
                    <a:pt x="1434899" y="320738"/>
                  </a:lnTo>
                  <a:lnTo>
                    <a:pt x="1387982" y="332994"/>
                  </a:lnTo>
                  <a:lnTo>
                    <a:pt x="1336908" y="344252"/>
                  </a:lnTo>
                  <a:lnTo>
                    <a:pt x="1281963" y="354444"/>
                  </a:lnTo>
                  <a:lnTo>
                    <a:pt x="1223433" y="363502"/>
                  </a:lnTo>
                  <a:lnTo>
                    <a:pt x="1161606" y="371355"/>
                  </a:lnTo>
                  <a:lnTo>
                    <a:pt x="1096768" y="377935"/>
                  </a:lnTo>
                  <a:lnTo>
                    <a:pt x="1029208" y="383173"/>
                  </a:lnTo>
                  <a:lnTo>
                    <a:pt x="959210" y="386999"/>
                  </a:lnTo>
                  <a:lnTo>
                    <a:pt x="887063" y="389346"/>
                  </a:lnTo>
                  <a:lnTo>
                    <a:pt x="813054" y="390144"/>
                  </a:lnTo>
                  <a:lnTo>
                    <a:pt x="739044" y="389346"/>
                  </a:lnTo>
                  <a:lnTo>
                    <a:pt x="666897" y="386999"/>
                  </a:lnTo>
                  <a:lnTo>
                    <a:pt x="596899" y="383173"/>
                  </a:lnTo>
                  <a:lnTo>
                    <a:pt x="529339" y="377935"/>
                  </a:lnTo>
                  <a:lnTo>
                    <a:pt x="464501" y="371355"/>
                  </a:lnTo>
                  <a:lnTo>
                    <a:pt x="402674" y="363502"/>
                  </a:lnTo>
                  <a:lnTo>
                    <a:pt x="344144" y="354444"/>
                  </a:lnTo>
                  <a:lnTo>
                    <a:pt x="289199" y="344252"/>
                  </a:lnTo>
                  <a:lnTo>
                    <a:pt x="238124" y="332994"/>
                  </a:lnTo>
                  <a:lnTo>
                    <a:pt x="191208" y="320738"/>
                  </a:lnTo>
                  <a:lnTo>
                    <a:pt x="148737" y="307554"/>
                  </a:lnTo>
                  <a:lnTo>
                    <a:pt x="110997" y="293511"/>
                  </a:lnTo>
                  <a:lnTo>
                    <a:pt x="50862" y="263123"/>
                  </a:lnTo>
                  <a:lnTo>
                    <a:pt x="13098" y="230126"/>
                  </a:lnTo>
                  <a:lnTo>
                    <a:pt x="0" y="195072"/>
                  </a:lnTo>
                  <a:close/>
                </a:path>
              </a:pathLst>
            </a:custGeom>
            <a:ln w="12700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 descr=""/>
          <p:cNvGrpSpPr/>
          <p:nvPr/>
        </p:nvGrpSpPr>
        <p:grpSpPr>
          <a:xfrm>
            <a:off x="4658105" y="3329685"/>
            <a:ext cx="2890520" cy="1377950"/>
            <a:chOff x="4658105" y="3329685"/>
            <a:chExt cx="2890520" cy="1377950"/>
          </a:xfrm>
        </p:grpSpPr>
        <p:sp>
          <p:nvSpPr>
            <p:cNvPr id="38" name="object 38" descr=""/>
            <p:cNvSpPr/>
            <p:nvPr/>
          </p:nvSpPr>
          <p:spPr>
            <a:xfrm>
              <a:off x="4696205" y="3792473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w="0" h="200660">
                  <a:moveTo>
                    <a:pt x="0" y="0"/>
                  </a:moveTo>
                  <a:lnTo>
                    <a:pt x="0" y="200151"/>
                  </a:lnTo>
                </a:path>
              </a:pathLst>
            </a:custGeom>
            <a:ln w="2540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8105" y="4516373"/>
              <a:ext cx="76200" cy="191262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5958839" y="3336035"/>
              <a:ext cx="1583690" cy="523240"/>
            </a:xfrm>
            <a:custGeom>
              <a:avLst/>
              <a:gdLst/>
              <a:ahLst/>
              <a:cxnLst/>
              <a:rect l="l" t="t" r="r" b="b"/>
              <a:pathLst>
                <a:path w="1583690" h="523239">
                  <a:moveTo>
                    <a:pt x="791717" y="0"/>
                  </a:moveTo>
                  <a:lnTo>
                    <a:pt x="723404" y="958"/>
                  </a:lnTo>
                  <a:lnTo>
                    <a:pt x="656704" y="3783"/>
                  </a:lnTo>
                  <a:lnTo>
                    <a:pt x="591856" y="8395"/>
                  </a:lnTo>
                  <a:lnTo>
                    <a:pt x="529097" y="14716"/>
                  </a:lnTo>
                  <a:lnTo>
                    <a:pt x="468665" y="22668"/>
                  </a:lnTo>
                  <a:lnTo>
                    <a:pt x="410797" y="32173"/>
                  </a:lnTo>
                  <a:lnTo>
                    <a:pt x="355732" y="43151"/>
                  </a:lnTo>
                  <a:lnTo>
                    <a:pt x="303706" y="55526"/>
                  </a:lnTo>
                  <a:lnTo>
                    <a:pt x="254957" y="69217"/>
                  </a:lnTo>
                  <a:lnTo>
                    <a:pt x="209723" y="84148"/>
                  </a:lnTo>
                  <a:lnTo>
                    <a:pt x="168242" y="100240"/>
                  </a:lnTo>
                  <a:lnTo>
                    <a:pt x="130751" y="117414"/>
                  </a:lnTo>
                  <a:lnTo>
                    <a:pt x="68689" y="154697"/>
                  </a:lnTo>
                  <a:lnTo>
                    <a:pt x="25441" y="195370"/>
                  </a:lnTo>
                  <a:lnTo>
                    <a:pt x="2906" y="238807"/>
                  </a:lnTo>
                  <a:lnTo>
                    <a:pt x="0" y="261365"/>
                  </a:lnTo>
                  <a:lnTo>
                    <a:pt x="2906" y="283924"/>
                  </a:lnTo>
                  <a:lnTo>
                    <a:pt x="25441" y="327361"/>
                  </a:lnTo>
                  <a:lnTo>
                    <a:pt x="68689" y="368034"/>
                  </a:lnTo>
                  <a:lnTo>
                    <a:pt x="130751" y="405317"/>
                  </a:lnTo>
                  <a:lnTo>
                    <a:pt x="168242" y="422491"/>
                  </a:lnTo>
                  <a:lnTo>
                    <a:pt x="209723" y="438583"/>
                  </a:lnTo>
                  <a:lnTo>
                    <a:pt x="254957" y="453514"/>
                  </a:lnTo>
                  <a:lnTo>
                    <a:pt x="303706" y="467205"/>
                  </a:lnTo>
                  <a:lnTo>
                    <a:pt x="355732" y="479580"/>
                  </a:lnTo>
                  <a:lnTo>
                    <a:pt x="410797" y="490558"/>
                  </a:lnTo>
                  <a:lnTo>
                    <a:pt x="468665" y="500063"/>
                  </a:lnTo>
                  <a:lnTo>
                    <a:pt x="529097" y="508015"/>
                  </a:lnTo>
                  <a:lnTo>
                    <a:pt x="591856" y="514336"/>
                  </a:lnTo>
                  <a:lnTo>
                    <a:pt x="656704" y="518948"/>
                  </a:lnTo>
                  <a:lnTo>
                    <a:pt x="723404" y="521773"/>
                  </a:lnTo>
                  <a:lnTo>
                    <a:pt x="791717" y="522731"/>
                  </a:lnTo>
                  <a:lnTo>
                    <a:pt x="860031" y="521773"/>
                  </a:lnTo>
                  <a:lnTo>
                    <a:pt x="926731" y="518948"/>
                  </a:lnTo>
                  <a:lnTo>
                    <a:pt x="991579" y="514336"/>
                  </a:lnTo>
                  <a:lnTo>
                    <a:pt x="1054338" y="508015"/>
                  </a:lnTo>
                  <a:lnTo>
                    <a:pt x="1114770" y="500063"/>
                  </a:lnTo>
                  <a:lnTo>
                    <a:pt x="1172638" y="490558"/>
                  </a:lnTo>
                  <a:lnTo>
                    <a:pt x="1227703" y="479580"/>
                  </a:lnTo>
                  <a:lnTo>
                    <a:pt x="1279729" y="467205"/>
                  </a:lnTo>
                  <a:lnTo>
                    <a:pt x="1328478" y="453514"/>
                  </a:lnTo>
                  <a:lnTo>
                    <a:pt x="1373712" y="438583"/>
                  </a:lnTo>
                  <a:lnTo>
                    <a:pt x="1415193" y="422491"/>
                  </a:lnTo>
                  <a:lnTo>
                    <a:pt x="1452684" y="405317"/>
                  </a:lnTo>
                  <a:lnTo>
                    <a:pt x="1514746" y="368034"/>
                  </a:lnTo>
                  <a:lnTo>
                    <a:pt x="1557994" y="327361"/>
                  </a:lnTo>
                  <a:lnTo>
                    <a:pt x="1580529" y="283924"/>
                  </a:lnTo>
                  <a:lnTo>
                    <a:pt x="1583436" y="261365"/>
                  </a:lnTo>
                  <a:lnTo>
                    <a:pt x="1580529" y="238807"/>
                  </a:lnTo>
                  <a:lnTo>
                    <a:pt x="1557994" y="195370"/>
                  </a:lnTo>
                  <a:lnTo>
                    <a:pt x="1514746" y="154697"/>
                  </a:lnTo>
                  <a:lnTo>
                    <a:pt x="1452684" y="117414"/>
                  </a:lnTo>
                  <a:lnTo>
                    <a:pt x="1415193" y="100240"/>
                  </a:lnTo>
                  <a:lnTo>
                    <a:pt x="1373712" y="84148"/>
                  </a:lnTo>
                  <a:lnTo>
                    <a:pt x="1328478" y="69217"/>
                  </a:lnTo>
                  <a:lnTo>
                    <a:pt x="1279729" y="55526"/>
                  </a:lnTo>
                  <a:lnTo>
                    <a:pt x="1227703" y="43151"/>
                  </a:lnTo>
                  <a:lnTo>
                    <a:pt x="1172638" y="32173"/>
                  </a:lnTo>
                  <a:lnTo>
                    <a:pt x="1114770" y="22668"/>
                  </a:lnTo>
                  <a:lnTo>
                    <a:pt x="1054338" y="14716"/>
                  </a:lnTo>
                  <a:lnTo>
                    <a:pt x="991579" y="8395"/>
                  </a:lnTo>
                  <a:lnTo>
                    <a:pt x="926731" y="3783"/>
                  </a:lnTo>
                  <a:lnTo>
                    <a:pt x="860031" y="958"/>
                  </a:lnTo>
                  <a:lnTo>
                    <a:pt x="791717" y="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958839" y="3336035"/>
              <a:ext cx="1583690" cy="523240"/>
            </a:xfrm>
            <a:custGeom>
              <a:avLst/>
              <a:gdLst/>
              <a:ahLst/>
              <a:cxnLst/>
              <a:rect l="l" t="t" r="r" b="b"/>
              <a:pathLst>
                <a:path w="1583690" h="523239">
                  <a:moveTo>
                    <a:pt x="0" y="261365"/>
                  </a:moveTo>
                  <a:lnTo>
                    <a:pt x="11465" y="216782"/>
                  </a:lnTo>
                  <a:lnTo>
                    <a:pt x="44595" y="174649"/>
                  </a:lnTo>
                  <a:lnTo>
                    <a:pt x="97487" y="135593"/>
                  </a:lnTo>
                  <a:lnTo>
                    <a:pt x="168242" y="100240"/>
                  </a:lnTo>
                  <a:lnTo>
                    <a:pt x="209723" y="84148"/>
                  </a:lnTo>
                  <a:lnTo>
                    <a:pt x="254957" y="69217"/>
                  </a:lnTo>
                  <a:lnTo>
                    <a:pt x="303706" y="55526"/>
                  </a:lnTo>
                  <a:lnTo>
                    <a:pt x="355732" y="43151"/>
                  </a:lnTo>
                  <a:lnTo>
                    <a:pt x="410797" y="32173"/>
                  </a:lnTo>
                  <a:lnTo>
                    <a:pt x="468665" y="22668"/>
                  </a:lnTo>
                  <a:lnTo>
                    <a:pt x="529097" y="14716"/>
                  </a:lnTo>
                  <a:lnTo>
                    <a:pt x="591856" y="8395"/>
                  </a:lnTo>
                  <a:lnTo>
                    <a:pt x="656704" y="3783"/>
                  </a:lnTo>
                  <a:lnTo>
                    <a:pt x="723404" y="958"/>
                  </a:lnTo>
                  <a:lnTo>
                    <a:pt x="791717" y="0"/>
                  </a:lnTo>
                  <a:lnTo>
                    <a:pt x="860031" y="958"/>
                  </a:lnTo>
                  <a:lnTo>
                    <a:pt x="926731" y="3783"/>
                  </a:lnTo>
                  <a:lnTo>
                    <a:pt x="991579" y="8395"/>
                  </a:lnTo>
                  <a:lnTo>
                    <a:pt x="1054338" y="14716"/>
                  </a:lnTo>
                  <a:lnTo>
                    <a:pt x="1114770" y="22668"/>
                  </a:lnTo>
                  <a:lnTo>
                    <a:pt x="1172638" y="32173"/>
                  </a:lnTo>
                  <a:lnTo>
                    <a:pt x="1227703" y="43151"/>
                  </a:lnTo>
                  <a:lnTo>
                    <a:pt x="1279729" y="55526"/>
                  </a:lnTo>
                  <a:lnTo>
                    <a:pt x="1328478" y="69217"/>
                  </a:lnTo>
                  <a:lnTo>
                    <a:pt x="1373712" y="84148"/>
                  </a:lnTo>
                  <a:lnTo>
                    <a:pt x="1415193" y="100240"/>
                  </a:lnTo>
                  <a:lnTo>
                    <a:pt x="1452684" y="117414"/>
                  </a:lnTo>
                  <a:lnTo>
                    <a:pt x="1514746" y="154697"/>
                  </a:lnTo>
                  <a:lnTo>
                    <a:pt x="1557994" y="195370"/>
                  </a:lnTo>
                  <a:lnTo>
                    <a:pt x="1580529" y="238807"/>
                  </a:lnTo>
                  <a:lnTo>
                    <a:pt x="1583436" y="261365"/>
                  </a:lnTo>
                  <a:lnTo>
                    <a:pt x="1580529" y="283924"/>
                  </a:lnTo>
                  <a:lnTo>
                    <a:pt x="1557994" y="327361"/>
                  </a:lnTo>
                  <a:lnTo>
                    <a:pt x="1514746" y="368034"/>
                  </a:lnTo>
                  <a:lnTo>
                    <a:pt x="1452684" y="405317"/>
                  </a:lnTo>
                  <a:lnTo>
                    <a:pt x="1415193" y="422491"/>
                  </a:lnTo>
                  <a:lnTo>
                    <a:pt x="1373712" y="438583"/>
                  </a:lnTo>
                  <a:lnTo>
                    <a:pt x="1328478" y="453514"/>
                  </a:lnTo>
                  <a:lnTo>
                    <a:pt x="1279729" y="467205"/>
                  </a:lnTo>
                  <a:lnTo>
                    <a:pt x="1227703" y="479580"/>
                  </a:lnTo>
                  <a:lnTo>
                    <a:pt x="1172638" y="490558"/>
                  </a:lnTo>
                  <a:lnTo>
                    <a:pt x="1114770" y="500063"/>
                  </a:lnTo>
                  <a:lnTo>
                    <a:pt x="1054338" y="508015"/>
                  </a:lnTo>
                  <a:lnTo>
                    <a:pt x="991579" y="514336"/>
                  </a:lnTo>
                  <a:lnTo>
                    <a:pt x="926731" y="518948"/>
                  </a:lnTo>
                  <a:lnTo>
                    <a:pt x="860031" y="521773"/>
                  </a:lnTo>
                  <a:lnTo>
                    <a:pt x="791717" y="522731"/>
                  </a:lnTo>
                  <a:lnTo>
                    <a:pt x="723404" y="521773"/>
                  </a:lnTo>
                  <a:lnTo>
                    <a:pt x="656704" y="518948"/>
                  </a:lnTo>
                  <a:lnTo>
                    <a:pt x="591856" y="514336"/>
                  </a:lnTo>
                  <a:lnTo>
                    <a:pt x="529097" y="508015"/>
                  </a:lnTo>
                  <a:lnTo>
                    <a:pt x="468665" y="500063"/>
                  </a:lnTo>
                  <a:lnTo>
                    <a:pt x="410797" y="490558"/>
                  </a:lnTo>
                  <a:lnTo>
                    <a:pt x="355732" y="479580"/>
                  </a:lnTo>
                  <a:lnTo>
                    <a:pt x="303706" y="467205"/>
                  </a:lnTo>
                  <a:lnTo>
                    <a:pt x="254957" y="453514"/>
                  </a:lnTo>
                  <a:lnTo>
                    <a:pt x="209723" y="438583"/>
                  </a:lnTo>
                  <a:lnTo>
                    <a:pt x="168242" y="422491"/>
                  </a:lnTo>
                  <a:lnTo>
                    <a:pt x="130751" y="405317"/>
                  </a:lnTo>
                  <a:lnTo>
                    <a:pt x="68689" y="368034"/>
                  </a:lnTo>
                  <a:lnTo>
                    <a:pt x="25441" y="327361"/>
                  </a:lnTo>
                  <a:lnTo>
                    <a:pt x="2906" y="283924"/>
                  </a:lnTo>
                  <a:lnTo>
                    <a:pt x="0" y="261365"/>
                  </a:lnTo>
                  <a:close/>
                </a:path>
              </a:pathLst>
            </a:custGeom>
            <a:ln w="12700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6352413" y="1973326"/>
            <a:ext cx="703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5">
                <a:solidFill>
                  <a:srgbClr val="FFFFFF"/>
                </a:solidFill>
                <a:latin typeface="Cambria"/>
                <a:cs typeface="Cambria"/>
              </a:rPr>
              <a:t>owner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5241797" y="2094738"/>
            <a:ext cx="3011805" cy="76200"/>
            <a:chOff x="5241797" y="2094738"/>
            <a:chExt cx="3011805" cy="76200"/>
          </a:xfrm>
        </p:grpSpPr>
        <p:sp>
          <p:nvSpPr>
            <p:cNvPr id="44" name="object 44" descr=""/>
            <p:cNvSpPr/>
            <p:nvPr/>
          </p:nvSpPr>
          <p:spPr>
            <a:xfrm>
              <a:off x="5241797" y="2132838"/>
              <a:ext cx="649605" cy="0"/>
            </a:xfrm>
            <a:custGeom>
              <a:avLst/>
              <a:gdLst/>
              <a:ahLst/>
              <a:cxnLst/>
              <a:rect l="l" t="t" r="r" b="b"/>
              <a:pathLst>
                <a:path w="649604" h="0">
                  <a:moveTo>
                    <a:pt x="0" y="0"/>
                  </a:moveTo>
                  <a:lnTo>
                    <a:pt x="649351" y="0"/>
                  </a:lnTo>
                </a:path>
              </a:pathLst>
            </a:custGeom>
            <a:ln w="2540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517129" y="2094738"/>
              <a:ext cx="736600" cy="76200"/>
            </a:xfrm>
            <a:custGeom>
              <a:avLst/>
              <a:gdLst/>
              <a:ahLst/>
              <a:cxnLst/>
              <a:rect l="l" t="t" r="r" b="b"/>
              <a:pathLst>
                <a:path w="736600" h="76200">
                  <a:moveTo>
                    <a:pt x="659892" y="0"/>
                  </a:moveTo>
                  <a:lnTo>
                    <a:pt x="659892" y="76200"/>
                  </a:lnTo>
                  <a:lnTo>
                    <a:pt x="710692" y="50800"/>
                  </a:lnTo>
                  <a:lnTo>
                    <a:pt x="672592" y="50800"/>
                  </a:lnTo>
                  <a:lnTo>
                    <a:pt x="672592" y="25400"/>
                  </a:lnTo>
                  <a:lnTo>
                    <a:pt x="710692" y="25400"/>
                  </a:lnTo>
                  <a:lnTo>
                    <a:pt x="659892" y="0"/>
                  </a:lnTo>
                  <a:close/>
                </a:path>
                <a:path w="736600" h="76200">
                  <a:moveTo>
                    <a:pt x="659892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659892" y="50800"/>
                  </a:lnTo>
                  <a:lnTo>
                    <a:pt x="659892" y="25400"/>
                  </a:lnTo>
                  <a:close/>
                </a:path>
                <a:path w="736600" h="76200">
                  <a:moveTo>
                    <a:pt x="710692" y="25400"/>
                  </a:moveTo>
                  <a:lnTo>
                    <a:pt x="672592" y="25400"/>
                  </a:lnTo>
                  <a:lnTo>
                    <a:pt x="672592" y="50800"/>
                  </a:lnTo>
                  <a:lnTo>
                    <a:pt x="710692" y="50800"/>
                  </a:lnTo>
                  <a:lnTo>
                    <a:pt x="736092" y="38100"/>
                  </a:lnTo>
                  <a:lnTo>
                    <a:pt x="710692" y="2540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 descr=""/>
          <p:cNvGrpSpPr/>
          <p:nvPr/>
        </p:nvGrpSpPr>
        <p:grpSpPr>
          <a:xfrm>
            <a:off x="6274053" y="5918961"/>
            <a:ext cx="1572260" cy="535940"/>
            <a:chOff x="6274053" y="5918961"/>
            <a:chExt cx="1572260" cy="535940"/>
          </a:xfrm>
        </p:grpSpPr>
        <p:sp>
          <p:nvSpPr>
            <p:cNvPr id="47" name="object 47" descr=""/>
            <p:cNvSpPr/>
            <p:nvPr/>
          </p:nvSpPr>
          <p:spPr>
            <a:xfrm>
              <a:off x="6280403" y="5925311"/>
              <a:ext cx="1559560" cy="523240"/>
            </a:xfrm>
            <a:custGeom>
              <a:avLst/>
              <a:gdLst/>
              <a:ahLst/>
              <a:cxnLst/>
              <a:rect l="l" t="t" r="r" b="b"/>
              <a:pathLst>
                <a:path w="1559559" h="523239">
                  <a:moveTo>
                    <a:pt x="779526" y="0"/>
                  </a:moveTo>
                  <a:lnTo>
                    <a:pt x="712264" y="959"/>
                  </a:lnTo>
                  <a:lnTo>
                    <a:pt x="646591" y="3785"/>
                  </a:lnTo>
                  <a:lnTo>
                    <a:pt x="582741" y="8398"/>
                  </a:lnTo>
                  <a:lnTo>
                    <a:pt x="520949" y="14722"/>
                  </a:lnTo>
                  <a:lnTo>
                    <a:pt x="461447" y="22676"/>
                  </a:lnTo>
                  <a:lnTo>
                    <a:pt x="404470" y="32183"/>
                  </a:lnTo>
                  <a:lnTo>
                    <a:pt x="350252" y="43164"/>
                  </a:lnTo>
                  <a:lnTo>
                    <a:pt x="299028" y="55541"/>
                  </a:lnTo>
                  <a:lnTo>
                    <a:pt x="251030" y="69235"/>
                  </a:lnTo>
                  <a:lnTo>
                    <a:pt x="206492" y="84168"/>
                  </a:lnTo>
                  <a:lnTo>
                    <a:pt x="165650" y="100262"/>
                  </a:lnTo>
                  <a:lnTo>
                    <a:pt x="128736" y="117437"/>
                  </a:lnTo>
                  <a:lnTo>
                    <a:pt x="67631" y="154719"/>
                  </a:lnTo>
                  <a:lnTo>
                    <a:pt x="25049" y="195387"/>
                  </a:lnTo>
                  <a:lnTo>
                    <a:pt x="2861" y="238814"/>
                  </a:lnTo>
                  <a:lnTo>
                    <a:pt x="0" y="261365"/>
                  </a:lnTo>
                  <a:lnTo>
                    <a:pt x="2861" y="283917"/>
                  </a:lnTo>
                  <a:lnTo>
                    <a:pt x="25049" y="327344"/>
                  </a:lnTo>
                  <a:lnTo>
                    <a:pt x="67631" y="368012"/>
                  </a:lnTo>
                  <a:lnTo>
                    <a:pt x="128736" y="405294"/>
                  </a:lnTo>
                  <a:lnTo>
                    <a:pt x="165650" y="422469"/>
                  </a:lnTo>
                  <a:lnTo>
                    <a:pt x="206492" y="438563"/>
                  </a:lnTo>
                  <a:lnTo>
                    <a:pt x="251030" y="453496"/>
                  </a:lnTo>
                  <a:lnTo>
                    <a:pt x="299028" y="467190"/>
                  </a:lnTo>
                  <a:lnTo>
                    <a:pt x="350252" y="479567"/>
                  </a:lnTo>
                  <a:lnTo>
                    <a:pt x="404470" y="490548"/>
                  </a:lnTo>
                  <a:lnTo>
                    <a:pt x="461447" y="500055"/>
                  </a:lnTo>
                  <a:lnTo>
                    <a:pt x="520949" y="508009"/>
                  </a:lnTo>
                  <a:lnTo>
                    <a:pt x="582741" y="514333"/>
                  </a:lnTo>
                  <a:lnTo>
                    <a:pt x="646591" y="518946"/>
                  </a:lnTo>
                  <a:lnTo>
                    <a:pt x="712264" y="521772"/>
                  </a:lnTo>
                  <a:lnTo>
                    <a:pt x="779526" y="522731"/>
                  </a:lnTo>
                  <a:lnTo>
                    <a:pt x="846787" y="521772"/>
                  </a:lnTo>
                  <a:lnTo>
                    <a:pt x="912460" y="518946"/>
                  </a:lnTo>
                  <a:lnTo>
                    <a:pt x="976310" y="514333"/>
                  </a:lnTo>
                  <a:lnTo>
                    <a:pt x="1038102" y="508009"/>
                  </a:lnTo>
                  <a:lnTo>
                    <a:pt x="1097604" y="500055"/>
                  </a:lnTo>
                  <a:lnTo>
                    <a:pt x="1154581" y="490548"/>
                  </a:lnTo>
                  <a:lnTo>
                    <a:pt x="1208799" y="479567"/>
                  </a:lnTo>
                  <a:lnTo>
                    <a:pt x="1260023" y="467190"/>
                  </a:lnTo>
                  <a:lnTo>
                    <a:pt x="1308021" y="453496"/>
                  </a:lnTo>
                  <a:lnTo>
                    <a:pt x="1352559" y="438563"/>
                  </a:lnTo>
                  <a:lnTo>
                    <a:pt x="1393401" y="422469"/>
                  </a:lnTo>
                  <a:lnTo>
                    <a:pt x="1430315" y="405294"/>
                  </a:lnTo>
                  <a:lnTo>
                    <a:pt x="1491420" y="368012"/>
                  </a:lnTo>
                  <a:lnTo>
                    <a:pt x="1534002" y="327344"/>
                  </a:lnTo>
                  <a:lnTo>
                    <a:pt x="1556190" y="283917"/>
                  </a:lnTo>
                  <a:lnTo>
                    <a:pt x="1559052" y="261365"/>
                  </a:lnTo>
                  <a:lnTo>
                    <a:pt x="1556190" y="238814"/>
                  </a:lnTo>
                  <a:lnTo>
                    <a:pt x="1534002" y="195387"/>
                  </a:lnTo>
                  <a:lnTo>
                    <a:pt x="1491420" y="154719"/>
                  </a:lnTo>
                  <a:lnTo>
                    <a:pt x="1430315" y="117437"/>
                  </a:lnTo>
                  <a:lnTo>
                    <a:pt x="1393401" y="100262"/>
                  </a:lnTo>
                  <a:lnTo>
                    <a:pt x="1352559" y="84168"/>
                  </a:lnTo>
                  <a:lnTo>
                    <a:pt x="1308021" y="69235"/>
                  </a:lnTo>
                  <a:lnTo>
                    <a:pt x="1260023" y="55541"/>
                  </a:lnTo>
                  <a:lnTo>
                    <a:pt x="1208799" y="43164"/>
                  </a:lnTo>
                  <a:lnTo>
                    <a:pt x="1154581" y="32183"/>
                  </a:lnTo>
                  <a:lnTo>
                    <a:pt x="1097604" y="22676"/>
                  </a:lnTo>
                  <a:lnTo>
                    <a:pt x="1038102" y="14722"/>
                  </a:lnTo>
                  <a:lnTo>
                    <a:pt x="976310" y="8398"/>
                  </a:lnTo>
                  <a:lnTo>
                    <a:pt x="912460" y="3785"/>
                  </a:lnTo>
                  <a:lnTo>
                    <a:pt x="846787" y="959"/>
                  </a:lnTo>
                  <a:lnTo>
                    <a:pt x="779526" y="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280403" y="5925311"/>
              <a:ext cx="1559560" cy="523240"/>
            </a:xfrm>
            <a:custGeom>
              <a:avLst/>
              <a:gdLst/>
              <a:ahLst/>
              <a:cxnLst/>
              <a:rect l="l" t="t" r="r" b="b"/>
              <a:pathLst>
                <a:path w="1559559" h="523239">
                  <a:moveTo>
                    <a:pt x="0" y="261365"/>
                  </a:moveTo>
                  <a:lnTo>
                    <a:pt x="11289" y="216795"/>
                  </a:lnTo>
                  <a:lnTo>
                    <a:pt x="43908" y="174669"/>
                  </a:lnTo>
                  <a:lnTo>
                    <a:pt x="95986" y="135615"/>
                  </a:lnTo>
                  <a:lnTo>
                    <a:pt x="165650" y="100262"/>
                  </a:lnTo>
                  <a:lnTo>
                    <a:pt x="206492" y="84168"/>
                  </a:lnTo>
                  <a:lnTo>
                    <a:pt x="251030" y="69235"/>
                  </a:lnTo>
                  <a:lnTo>
                    <a:pt x="299028" y="55541"/>
                  </a:lnTo>
                  <a:lnTo>
                    <a:pt x="350252" y="43164"/>
                  </a:lnTo>
                  <a:lnTo>
                    <a:pt x="404470" y="32183"/>
                  </a:lnTo>
                  <a:lnTo>
                    <a:pt x="461447" y="22676"/>
                  </a:lnTo>
                  <a:lnTo>
                    <a:pt x="520949" y="14722"/>
                  </a:lnTo>
                  <a:lnTo>
                    <a:pt x="582741" y="8398"/>
                  </a:lnTo>
                  <a:lnTo>
                    <a:pt x="646591" y="3785"/>
                  </a:lnTo>
                  <a:lnTo>
                    <a:pt x="712264" y="959"/>
                  </a:lnTo>
                  <a:lnTo>
                    <a:pt x="779526" y="0"/>
                  </a:lnTo>
                  <a:lnTo>
                    <a:pt x="846787" y="959"/>
                  </a:lnTo>
                  <a:lnTo>
                    <a:pt x="912460" y="3785"/>
                  </a:lnTo>
                  <a:lnTo>
                    <a:pt x="976310" y="8398"/>
                  </a:lnTo>
                  <a:lnTo>
                    <a:pt x="1038102" y="14722"/>
                  </a:lnTo>
                  <a:lnTo>
                    <a:pt x="1097604" y="22676"/>
                  </a:lnTo>
                  <a:lnTo>
                    <a:pt x="1154581" y="32183"/>
                  </a:lnTo>
                  <a:lnTo>
                    <a:pt x="1208799" y="43164"/>
                  </a:lnTo>
                  <a:lnTo>
                    <a:pt x="1260023" y="55541"/>
                  </a:lnTo>
                  <a:lnTo>
                    <a:pt x="1308021" y="69235"/>
                  </a:lnTo>
                  <a:lnTo>
                    <a:pt x="1352559" y="84168"/>
                  </a:lnTo>
                  <a:lnTo>
                    <a:pt x="1393401" y="100262"/>
                  </a:lnTo>
                  <a:lnTo>
                    <a:pt x="1430315" y="117437"/>
                  </a:lnTo>
                  <a:lnTo>
                    <a:pt x="1491420" y="154719"/>
                  </a:lnTo>
                  <a:lnTo>
                    <a:pt x="1534002" y="195387"/>
                  </a:lnTo>
                  <a:lnTo>
                    <a:pt x="1556190" y="238814"/>
                  </a:lnTo>
                  <a:lnTo>
                    <a:pt x="1559052" y="261365"/>
                  </a:lnTo>
                  <a:lnTo>
                    <a:pt x="1556190" y="283917"/>
                  </a:lnTo>
                  <a:lnTo>
                    <a:pt x="1534002" y="327344"/>
                  </a:lnTo>
                  <a:lnTo>
                    <a:pt x="1491420" y="368012"/>
                  </a:lnTo>
                  <a:lnTo>
                    <a:pt x="1430315" y="405294"/>
                  </a:lnTo>
                  <a:lnTo>
                    <a:pt x="1393401" y="422469"/>
                  </a:lnTo>
                  <a:lnTo>
                    <a:pt x="1352559" y="438563"/>
                  </a:lnTo>
                  <a:lnTo>
                    <a:pt x="1308021" y="453496"/>
                  </a:lnTo>
                  <a:lnTo>
                    <a:pt x="1260023" y="467190"/>
                  </a:lnTo>
                  <a:lnTo>
                    <a:pt x="1208799" y="479567"/>
                  </a:lnTo>
                  <a:lnTo>
                    <a:pt x="1154581" y="490548"/>
                  </a:lnTo>
                  <a:lnTo>
                    <a:pt x="1097604" y="500055"/>
                  </a:lnTo>
                  <a:lnTo>
                    <a:pt x="1038102" y="508009"/>
                  </a:lnTo>
                  <a:lnTo>
                    <a:pt x="976310" y="514333"/>
                  </a:lnTo>
                  <a:lnTo>
                    <a:pt x="912460" y="518946"/>
                  </a:lnTo>
                  <a:lnTo>
                    <a:pt x="846787" y="521772"/>
                  </a:lnTo>
                  <a:lnTo>
                    <a:pt x="779526" y="522731"/>
                  </a:lnTo>
                  <a:lnTo>
                    <a:pt x="712264" y="521772"/>
                  </a:lnTo>
                  <a:lnTo>
                    <a:pt x="646591" y="518946"/>
                  </a:lnTo>
                  <a:lnTo>
                    <a:pt x="582741" y="514333"/>
                  </a:lnTo>
                  <a:lnTo>
                    <a:pt x="520949" y="508009"/>
                  </a:lnTo>
                  <a:lnTo>
                    <a:pt x="461447" y="500055"/>
                  </a:lnTo>
                  <a:lnTo>
                    <a:pt x="404470" y="490548"/>
                  </a:lnTo>
                  <a:lnTo>
                    <a:pt x="350252" y="479567"/>
                  </a:lnTo>
                  <a:lnTo>
                    <a:pt x="299028" y="467190"/>
                  </a:lnTo>
                  <a:lnTo>
                    <a:pt x="251030" y="453496"/>
                  </a:lnTo>
                  <a:lnTo>
                    <a:pt x="206492" y="438563"/>
                  </a:lnTo>
                  <a:lnTo>
                    <a:pt x="165650" y="422469"/>
                  </a:lnTo>
                  <a:lnTo>
                    <a:pt x="128736" y="405294"/>
                  </a:lnTo>
                  <a:lnTo>
                    <a:pt x="67631" y="368012"/>
                  </a:lnTo>
                  <a:lnTo>
                    <a:pt x="25049" y="327344"/>
                  </a:lnTo>
                  <a:lnTo>
                    <a:pt x="2861" y="283917"/>
                  </a:lnTo>
                  <a:lnTo>
                    <a:pt x="0" y="261365"/>
                  </a:lnTo>
                  <a:close/>
                </a:path>
              </a:pathLst>
            </a:custGeom>
            <a:ln w="12700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6769100" y="6029045"/>
            <a:ext cx="583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20">
                <a:solidFill>
                  <a:srgbClr val="FFFFFF"/>
                </a:solidFill>
                <a:latin typeface="Cambria"/>
                <a:cs typeface="Cambria"/>
              </a:rPr>
              <a:t>class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8186928" y="5998464"/>
            <a:ext cx="2077720" cy="373380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30"/>
              </a:spcBef>
            </a:pPr>
            <a:r>
              <a:rPr dirty="0" sz="1800" spc="155">
                <a:solidFill>
                  <a:srgbClr val="FFFFFF"/>
                </a:solidFill>
                <a:latin typeface="Cambria"/>
                <a:cs typeface="Cambria"/>
              </a:rPr>
              <a:t>CATEGORY:c2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5878321" y="6148755"/>
            <a:ext cx="2310765" cy="76200"/>
            <a:chOff x="5878321" y="6148755"/>
            <a:chExt cx="2310765" cy="76200"/>
          </a:xfrm>
        </p:grpSpPr>
        <p:sp>
          <p:nvSpPr>
            <p:cNvPr id="52" name="object 52" descr=""/>
            <p:cNvSpPr/>
            <p:nvPr/>
          </p:nvSpPr>
          <p:spPr>
            <a:xfrm>
              <a:off x="5891021" y="6186677"/>
              <a:ext cx="389890" cy="2540"/>
            </a:xfrm>
            <a:custGeom>
              <a:avLst/>
              <a:gdLst/>
              <a:ahLst/>
              <a:cxnLst/>
              <a:rect l="l" t="t" r="r" b="b"/>
              <a:pathLst>
                <a:path w="389889" h="2539">
                  <a:moveTo>
                    <a:pt x="0" y="2476"/>
                  </a:moveTo>
                  <a:lnTo>
                    <a:pt x="389636" y="0"/>
                  </a:lnTo>
                </a:path>
              </a:pathLst>
            </a:custGeom>
            <a:ln w="2540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840217" y="6148755"/>
              <a:ext cx="348615" cy="76200"/>
            </a:xfrm>
            <a:custGeom>
              <a:avLst/>
              <a:gdLst/>
              <a:ahLst/>
              <a:cxnLst/>
              <a:rect l="l" t="t" r="r" b="b"/>
              <a:pathLst>
                <a:path w="348615" h="76200">
                  <a:moveTo>
                    <a:pt x="272033" y="0"/>
                  </a:moveTo>
                  <a:lnTo>
                    <a:pt x="272118" y="25405"/>
                  </a:lnTo>
                  <a:lnTo>
                    <a:pt x="272203" y="50805"/>
                  </a:lnTo>
                  <a:lnTo>
                    <a:pt x="272287" y="76200"/>
                  </a:lnTo>
                  <a:lnTo>
                    <a:pt x="322757" y="50805"/>
                  </a:lnTo>
                  <a:lnTo>
                    <a:pt x="284860" y="50805"/>
                  </a:lnTo>
                  <a:lnTo>
                    <a:pt x="284860" y="25405"/>
                  </a:lnTo>
                  <a:lnTo>
                    <a:pt x="323167" y="25405"/>
                  </a:lnTo>
                  <a:lnTo>
                    <a:pt x="272033" y="0"/>
                  </a:lnTo>
                  <a:close/>
                </a:path>
                <a:path w="348615" h="76200">
                  <a:moveTo>
                    <a:pt x="272118" y="25405"/>
                  </a:moveTo>
                  <a:lnTo>
                    <a:pt x="0" y="26060"/>
                  </a:lnTo>
                  <a:lnTo>
                    <a:pt x="0" y="51460"/>
                  </a:lnTo>
                  <a:lnTo>
                    <a:pt x="272203" y="50805"/>
                  </a:lnTo>
                  <a:lnTo>
                    <a:pt x="272118" y="25405"/>
                  </a:lnTo>
                  <a:close/>
                </a:path>
                <a:path w="348615" h="76200">
                  <a:moveTo>
                    <a:pt x="323167" y="25405"/>
                  </a:moveTo>
                  <a:lnTo>
                    <a:pt x="284860" y="25405"/>
                  </a:lnTo>
                  <a:lnTo>
                    <a:pt x="284860" y="50805"/>
                  </a:lnTo>
                  <a:lnTo>
                    <a:pt x="322757" y="50805"/>
                  </a:lnTo>
                  <a:lnTo>
                    <a:pt x="348360" y="37922"/>
                  </a:lnTo>
                  <a:lnTo>
                    <a:pt x="323167" y="25405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8377428" y="4777740"/>
            <a:ext cx="1696720" cy="390525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4826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80"/>
              </a:spcBef>
            </a:pPr>
            <a:r>
              <a:rPr dirty="0" sz="1800" spc="135">
                <a:solidFill>
                  <a:srgbClr val="FFFFFF"/>
                </a:solidFill>
                <a:latin typeface="Cambria"/>
                <a:cs typeface="Cambria"/>
              </a:rPr>
              <a:t>COMPANY:c1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8564626" y="5380990"/>
            <a:ext cx="1323340" cy="404495"/>
            <a:chOff x="8564626" y="5380990"/>
            <a:chExt cx="1323340" cy="404495"/>
          </a:xfrm>
        </p:grpSpPr>
        <p:sp>
          <p:nvSpPr>
            <p:cNvPr id="56" name="object 56" descr=""/>
            <p:cNvSpPr/>
            <p:nvPr/>
          </p:nvSpPr>
          <p:spPr>
            <a:xfrm>
              <a:off x="8570976" y="5387340"/>
              <a:ext cx="1310640" cy="391795"/>
            </a:xfrm>
            <a:custGeom>
              <a:avLst/>
              <a:gdLst/>
              <a:ahLst/>
              <a:cxnLst/>
              <a:rect l="l" t="t" r="r" b="b"/>
              <a:pathLst>
                <a:path w="1310640" h="391795">
                  <a:moveTo>
                    <a:pt x="655320" y="0"/>
                  </a:moveTo>
                  <a:lnTo>
                    <a:pt x="583911" y="1148"/>
                  </a:lnTo>
                  <a:lnTo>
                    <a:pt x="514730" y="4514"/>
                  </a:lnTo>
                  <a:lnTo>
                    <a:pt x="448177" y="9979"/>
                  </a:lnTo>
                  <a:lnTo>
                    <a:pt x="384653" y="17422"/>
                  </a:lnTo>
                  <a:lnTo>
                    <a:pt x="324555" y="26726"/>
                  </a:lnTo>
                  <a:lnTo>
                    <a:pt x="268284" y="37770"/>
                  </a:lnTo>
                  <a:lnTo>
                    <a:pt x="216240" y="50436"/>
                  </a:lnTo>
                  <a:lnTo>
                    <a:pt x="168823" y="64604"/>
                  </a:lnTo>
                  <a:lnTo>
                    <a:pt x="126431" y="80156"/>
                  </a:lnTo>
                  <a:lnTo>
                    <a:pt x="89464" y="96971"/>
                  </a:lnTo>
                  <a:lnTo>
                    <a:pt x="33406" y="133916"/>
                  </a:lnTo>
                  <a:lnTo>
                    <a:pt x="3844" y="174487"/>
                  </a:lnTo>
                  <a:lnTo>
                    <a:pt x="0" y="195834"/>
                  </a:lnTo>
                  <a:lnTo>
                    <a:pt x="3844" y="217171"/>
                  </a:lnTo>
                  <a:lnTo>
                    <a:pt x="33406" y="257731"/>
                  </a:lnTo>
                  <a:lnTo>
                    <a:pt x="89464" y="294673"/>
                  </a:lnTo>
                  <a:lnTo>
                    <a:pt x="126431" y="311489"/>
                  </a:lnTo>
                  <a:lnTo>
                    <a:pt x="168823" y="327042"/>
                  </a:lnTo>
                  <a:lnTo>
                    <a:pt x="216240" y="341213"/>
                  </a:lnTo>
                  <a:lnTo>
                    <a:pt x="268284" y="353882"/>
                  </a:lnTo>
                  <a:lnTo>
                    <a:pt x="324555" y="364930"/>
                  </a:lnTo>
                  <a:lnTo>
                    <a:pt x="384653" y="374237"/>
                  </a:lnTo>
                  <a:lnTo>
                    <a:pt x="448177" y="381683"/>
                  </a:lnTo>
                  <a:lnTo>
                    <a:pt x="514730" y="387150"/>
                  </a:lnTo>
                  <a:lnTo>
                    <a:pt x="583911" y="390518"/>
                  </a:lnTo>
                  <a:lnTo>
                    <a:pt x="655320" y="391668"/>
                  </a:lnTo>
                  <a:lnTo>
                    <a:pt x="726728" y="390518"/>
                  </a:lnTo>
                  <a:lnTo>
                    <a:pt x="795909" y="387150"/>
                  </a:lnTo>
                  <a:lnTo>
                    <a:pt x="862462" y="381683"/>
                  </a:lnTo>
                  <a:lnTo>
                    <a:pt x="925986" y="374237"/>
                  </a:lnTo>
                  <a:lnTo>
                    <a:pt x="986084" y="364930"/>
                  </a:lnTo>
                  <a:lnTo>
                    <a:pt x="1042355" y="353882"/>
                  </a:lnTo>
                  <a:lnTo>
                    <a:pt x="1094399" y="341213"/>
                  </a:lnTo>
                  <a:lnTo>
                    <a:pt x="1141816" y="327042"/>
                  </a:lnTo>
                  <a:lnTo>
                    <a:pt x="1184208" y="311489"/>
                  </a:lnTo>
                  <a:lnTo>
                    <a:pt x="1221175" y="294673"/>
                  </a:lnTo>
                  <a:lnTo>
                    <a:pt x="1277233" y="257731"/>
                  </a:lnTo>
                  <a:lnTo>
                    <a:pt x="1306795" y="217171"/>
                  </a:lnTo>
                  <a:lnTo>
                    <a:pt x="1310640" y="195834"/>
                  </a:lnTo>
                  <a:lnTo>
                    <a:pt x="1306795" y="174487"/>
                  </a:lnTo>
                  <a:lnTo>
                    <a:pt x="1277233" y="133916"/>
                  </a:lnTo>
                  <a:lnTo>
                    <a:pt x="1221175" y="96971"/>
                  </a:lnTo>
                  <a:lnTo>
                    <a:pt x="1184208" y="80156"/>
                  </a:lnTo>
                  <a:lnTo>
                    <a:pt x="1141816" y="64604"/>
                  </a:lnTo>
                  <a:lnTo>
                    <a:pt x="1094399" y="50436"/>
                  </a:lnTo>
                  <a:lnTo>
                    <a:pt x="1042355" y="37770"/>
                  </a:lnTo>
                  <a:lnTo>
                    <a:pt x="986084" y="26726"/>
                  </a:lnTo>
                  <a:lnTo>
                    <a:pt x="925986" y="17422"/>
                  </a:lnTo>
                  <a:lnTo>
                    <a:pt x="862462" y="9979"/>
                  </a:lnTo>
                  <a:lnTo>
                    <a:pt x="795909" y="4514"/>
                  </a:lnTo>
                  <a:lnTo>
                    <a:pt x="726728" y="1148"/>
                  </a:lnTo>
                  <a:lnTo>
                    <a:pt x="655320" y="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8570976" y="5387340"/>
              <a:ext cx="1310640" cy="391795"/>
            </a:xfrm>
            <a:custGeom>
              <a:avLst/>
              <a:gdLst/>
              <a:ahLst/>
              <a:cxnLst/>
              <a:rect l="l" t="t" r="r" b="b"/>
              <a:pathLst>
                <a:path w="1310640" h="391795">
                  <a:moveTo>
                    <a:pt x="0" y="195834"/>
                  </a:moveTo>
                  <a:lnTo>
                    <a:pt x="15113" y="153808"/>
                  </a:lnTo>
                  <a:lnTo>
                    <a:pt x="58322" y="114931"/>
                  </a:lnTo>
                  <a:lnTo>
                    <a:pt x="126431" y="80156"/>
                  </a:lnTo>
                  <a:lnTo>
                    <a:pt x="168823" y="64604"/>
                  </a:lnTo>
                  <a:lnTo>
                    <a:pt x="216240" y="50436"/>
                  </a:lnTo>
                  <a:lnTo>
                    <a:pt x="268284" y="37770"/>
                  </a:lnTo>
                  <a:lnTo>
                    <a:pt x="324555" y="26726"/>
                  </a:lnTo>
                  <a:lnTo>
                    <a:pt x="384653" y="17422"/>
                  </a:lnTo>
                  <a:lnTo>
                    <a:pt x="448177" y="9979"/>
                  </a:lnTo>
                  <a:lnTo>
                    <a:pt x="514730" y="4514"/>
                  </a:lnTo>
                  <a:lnTo>
                    <a:pt x="583911" y="1148"/>
                  </a:lnTo>
                  <a:lnTo>
                    <a:pt x="655320" y="0"/>
                  </a:lnTo>
                  <a:lnTo>
                    <a:pt x="726728" y="1148"/>
                  </a:lnTo>
                  <a:lnTo>
                    <a:pt x="795909" y="4514"/>
                  </a:lnTo>
                  <a:lnTo>
                    <a:pt x="862462" y="9979"/>
                  </a:lnTo>
                  <a:lnTo>
                    <a:pt x="925986" y="17422"/>
                  </a:lnTo>
                  <a:lnTo>
                    <a:pt x="986084" y="26726"/>
                  </a:lnTo>
                  <a:lnTo>
                    <a:pt x="1042355" y="37770"/>
                  </a:lnTo>
                  <a:lnTo>
                    <a:pt x="1094399" y="50436"/>
                  </a:lnTo>
                  <a:lnTo>
                    <a:pt x="1141816" y="64604"/>
                  </a:lnTo>
                  <a:lnTo>
                    <a:pt x="1184208" y="80156"/>
                  </a:lnTo>
                  <a:lnTo>
                    <a:pt x="1221175" y="96971"/>
                  </a:lnTo>
                  <a:lnTo>
                    <a:pt x="1277233" y="133916"/>
                  </a:lnTo>
                  <a:lnTo>
                    <a:pt x="1306795" y="174487"/>
                  </a:lnTo>
                  <a:lnTo>
                    <a:pt x="1310640" y="195834"/>
                  </a:lnTo>
                  <a:lnTo>
                    <a:pt x="1306795" y="217171"/>
                  </a:lnTo>
                  <a:lnTo>
                    <a:pt x="1277233" y="257731"/>
                  </a:lnTo>
                  <a:lnTo>
                    <a:pt x="1221175" y="294673"/>
                  </a:lnTo>
                  <a:lnTo>
                    <a:pt x="1184208" y="311489"/>
                  </a:lnTo>
                  <a:lnTo>
                    <a:pt x="1141816" y="327042"/>
                  </a:lnTo>
                  <a:lnTo>
                    <a:pt x="1094399" y="341213"/>
                  </a:lnTo>
                  <a:lnTo>
                    <a:pt x="1042355" y="353882"/>
                  </a:lnTo>
                  <a:lnTo>
                    <a:pt x="986084" y="364930"/>
                  </a:lnTo>
                  <a:lnTo>
                    <a:pt x="925986" y="374237"/>
                  </a:lnTo>
                  <a:lnTo>
                    <a:pt x="862462" y="381683"/>
                  </a:lnTo>
                  <a:lnTo>
                    <a:pt x="795909" y="387150"/>
                  </a:lnTo>
                  <a:lnTo>
                    <a:pt x="726728" y="390518"/>
                  </a:lnTo>
                  <a:lnTo>
                    <a:pt x="655320" y="391668"/>
                  </a:lnTo>
                  <a:lnTo>
                    <a:pt x="583911" y="390518"/>
                  </a:lnTo>
                  <a:lnTo>
                    <a:pt x="514730" y="387150"/>
                  </a:lnTo>
                  <a:lnTo>
                    <a:pt x="448177" y="381683"/>
                  </a:lnTo>
                  <a:lnTo>
                    <a:pt x="384653" y="374237"/>
                  </a:lnTo>
                  <a:lnTo>
                    <a:pt x="324555" y="364930"/>
                  </a:lnTo>
                  <a:lnTo>
                    <a:pt x="268284" y="353882"/>
                  </a:lnTo>
                  <a:lnTo>
                    <a:pt x="216240" y="341213"/>
                  </a:lnTo>
                  <a:lnTo>
                    <a:pt x="168823" y="327042"/>
                  </a:lnTo>
                  <a:lnTo>
                    <a:pt x="126431" y="311489"/>
                  </a:lnTo>
                  <a:lnTo>
                    <a:pt x="89464" y="294673"/>
                  </a:lnTo>
                  <a:lnTo>
                    <a:pt x="33406" y="257731"/>
                  </a:lnTo>
                  <a:lnTo>
                    <a:pt x="3844" y="217171"/>
                  </a:lnTo>
                  <a:lnTo>
                    <a:pt x="0" y="195834"/>
                  </a:lnTo>
                  <a:close/>
                </a:path>
              </a:pathLst>
            </a:custGeom>
            <a:ln w="12700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8905113" y="5425846"/>
            <a:ext cx="6432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25">
                <a:solidFill>
                  <a:srgbClr val="FFFFFF"/>
                </a:solidFill>
                <a:latin typeface="Cambria"/>
                <a:cs typeface="Cambria"/>
              </a:rPr>
              <a:t>name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9188957" y="5168646"/>
            <a:ext cx="76200" cy="831215"/>
            <a:chOff x="9188957" y="5168646"/>
            <a:chExt cx="76200" cy="831215"/>
          </a:xfrm>
        </p:grpSpPr>
        <p:sp>
          <p:nvSpPr>
            <p:cNvPr id="60" name="object 60" descr=""/>
            <p:cNvSpPr/>
            <p:nvPr/>
          </p:nvSpPr>
          <p:spPr>
            <a:xfrm>
              <a:off x="9227057" y="5779770"/>
              <a:ext cx="0" cy="220345"/>
            </a:xfrm>
            <a:custGeom>
              <a:avLst/>
              <a:gdLst/>
              <a:ahLst/>
              <a:cxnLst/>
              <a:rect l="l" t="t" r="r" b="b"/>
              <a:pathLst>
                <a:path w="0" h="220345">
                  <a:moveTo>
                    <a:pt x="0" y="22004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88957" y="5168646"/>
              <a:ext cx="76200" cy="220091"/>
            </a:xfrm>
            <a:prstGeom prst="rect">
              <a:avLst/>
            </a:prstGeom>
          </p:spPr>
        </p:pic>
      </p:grpSp>
      <p:grpSp>
        <p:nvGrpSpPr>
          <p:cNvPr id="62" name="object 62" descr=""/>
          <p:cNvGrpSpPr/>
          <p:nvPr/>
        </p:nvGrpSpPr>
        <p:grpSpPr>
          <a:xfrm>
            <a:off x="2171445" y="1863598"/>
            <a:ext cx="1596390" cy="535940"/>
            <a:chOff x="2171445" y="1863598"/>
            <a:chExt cx="1596390" cy="535940"/>
          </a:xfrm>
        </p:grpSpPr>
        <p:sp>
          <p:nvSpPr>
            <p:cNvPr id="63" name="object 63" descr=""/>
            <p:cNvSpPr/>
            <p:nvPr/>
          </p:nvSpPr>
          <p:spPr>
            <a:xfrm>
              <a:off x="2177795" y="1869948"/>
              <a:ext cx="1583690" cy="523240"/>
            </a:xfrm>
            <a:custGeom>
              <a:avLst/>
              <a:gdLst/>
              <a:ahLst/>
              <a:cxnLst/>
              <a:rect l="l" t="t" r="r" b="b"/>
              <a:pathLst>
                <a:path w="1583689" h="523239">
                  <a:moveTo>
                    <a:pt x="791718" y="0"/>
                  </a:moveTo>
                  <a:lnTo>
                    <a:pt x="723404" y="958"/>
                  </a:lnTo>
                  <a:lnTo>
                    <a:pt x="656704" y="3783"/>
                  </a:lnTo>
                  <a:lnTo>
                    <a:pt x="591856" y="8395"/>
                  </a:lnTo>
                  <a:lnTo>
                    <a:pt x="529097" y="14716"/>
                  </a:lnTo>
                  <a:lnTo>
                    <a:pt x="468665" y="22668"/>
                  </a:lnTo>
                  <a:lnTo>
                    <a:pt x="410797" y="32173"/>
                  </a:lnTo>
                  <a:lnTo>
                    <a:pt x="355732" y="43151"/>
                  </a:lnTo>
                  <a:lnTo>
                    <a:pt x="303706" y="55526"/>
                  </a:lnTo>
                  <a:lnTo>
                    <a:pt x="254957" y="69217"/>
                  </a:lnTo>
                  <a:lnTo>
                    <a:pt x="209723" y="84148"/>
                  </a:lnTo>
                  <a:lnTo>
                    <a:pt x="168242" y="100240"/>
                  </a:lnTo>
                  <a:lnTo>
                    <a:pt x="130751" y="117414"/>
                  </a:lnTo>
                  <a:lnTo>
                    <a:pt x="68689" y="154697"/>
                  </a:lnTo>
                  <a:lnTo>
                    <a:pt x="25441" y="195370"/>
                  </a:lnTo>
                  <a:lnTo>
                    <a:pt x="2906" y="238807"/>
                  </a:lnTo>
                  <a:lnTo>
                    <a:pt x="0" y="261365"/>
                  </a:lnTo>
                  <a:lnTo>
                    <a:pt x="2906" y="283924"/>
                  </a:lnTo>
                  <a:lnTo>
                    <a:pt x="25441" y="327361"/>
                  </a:lnTo>
                  <a:lnTo>
                    <a:pt x="68689" y="368034"/>
                  </a:lnTo>
                  <a:lnTo>
                    <a:pt x="130751" y="405317"/>
                  </a:lnTo>
                  <a:lnTo>
                    <a:pt x="168242" y="422491"/>
                  </a:lnTo>
                  <a:lnTo>
                    <a:pt x="209723" y="438583"/>
                  </a:lnTo>
                  <a:lnTo>
                    <a:pt x="254957" y="453514"/>
                  </a:lnTo>
                  <a:lnTo>
                    <a:pt x="303706" y="467205"/>
                  </a:lnTo>
                  <a:lnTo>
                    <a:pt x="355732" y="479580"/>
                  </a:lnTo>
                  <a:lnTo>
                    <a:pt x="410797" y="490558"/>
                  </a:lnTo>
                  <a:lnTo>
                    <a:pt x="468665" y="500063"/>
                  </a:lnTo>
                  <a:lnTo>
                    <a:pt x="529097" y="508015"/>
                  </a:lnTo>
                  <a:lnTo>
                    <a:pt x="591856" y="514336"/>
                  </a:lnTo>
                  <a:lnTo>
                    <a:pt x="656704" y="518948"/>
                  </a:lnTo>
                  <a:lnTo>
                    <a:pt x="723404" y="521773"/>
                  </a:lnTo>
                  <a:lnTo>
                    <a:pt x="791718" y="522731"/>
                  </a:lnTo>
                  <a:lnTo>
                    <a:pt x="860031" y="521773"/>
                  </a:lnTo>
                  <a:lnTo>
                    <a:pt x="926731" y="518948"/>
                  </a:lnTo>
                  <a:lnTo>
                    <a:pt x="991579" y="514336"/>
                  </a:lnTo>
                  <a:lnTo>
                    <a:pt x="1054338" y="508015"/>
                  </a:lnTo>
                  <a:lnTo>
                    <a:pt x="1114770" y="500063"/>
                  </a:lnTo>
                  <a:lnTo>
                    <a:pt x="1172638" y="490558"/>
                  </a:lnTo>
                  <a:lnTo>
                    <a:pt x="1227703" y="479580"/>
                  </a:lnTo>
                  <a:lnTo>
                    <a:pt x="1279729" y="467205"/>
                  </a:lnTo>
                  <a:lnTo>
                    <a:pt x="1328478" y="453514"/>
                  </a:lnTo>
                  <a:lnTo>
                    <a:pt x="1373712" y="438583"/>
                  </a:lnTo>
                  <a:lnTo>
                    <a:pt x="1415193" y="422491"/>
                  </a:lnTo>
                  <a:lnTo>
                    <a:pt x="1452684" y="405317"/>
                  </a:lnTo>
                  <a:lnTo>
                    <a:pt x="1514746" y="368034"/>
                  </a:lnTo>
                  <a:lnTo>
                    <a:pt x="1557994" y="327361"/>
                  </a:lnTo>
                  <a:lnTo>
                    <a:pt x="1580529" y="283924"/>
                  </a:lnTo>
                  <a:lnTo>
                    <a:pt x="1583436" y="261365"/>
                  </a:lnTo>
                  <a:lnTo>
                    <a:pt x="1580529" y="238807"/>
                  </a:lnTo>
                  <a:lnTo>
                    <a:pt x="1557994" y="195370"/>
                  </a:lnTo>
                  <a:lnTo>
                    <a:pt x="1514746" y="154697"/>
                  </a:lnTo>
                  <a:lnTo>
                    <a:pt x="1452684" y="117414"/>
                  </a:lnTo>
                  <a:lnTo>
                    <a:pt x="1415193" y="100240"/>
                  </a:lnTo>
                  <a:lnTo>
                    <a:pt x="1373712" y="84148"/>
                  </a:lnTo>
                  <a:lnTo>
                    <a:pt x="1328478" y="69217"/>
                  </a:lnTo>
                  <a:lnTo>
                    <a:pt x="1279729" y="55526"/>
                  </a:lnTo>
                  <a:lnTo>
                    <a:pt x="1227703" y="43151"/>
                  </a:lnTo>
                  <a:lnTo>
                    <a:pt x="1172638" y="32173"/>
                  </a:lnTo>
                  <a:lnTo>
                    <a:pt x="1114770" y="22668"/>
                  </a:lnTo>
                  <a:lnTo>
                    <a:pt x="1054338" y="14716"/>
                  </a:lnTo>
                  <a:lnTo>
                    <a:pt x="991579" y="8395"/>
                  </a:lnTo>
                  <a:lnTo>
                    <a:pt x="926731" y="3783"/>
                  </a:lnTo>
                  <a:lnTo>
                    <a:pt x="860031" y="958"/>
                  </a:lnTo>
                  <a:lnTo>
                    <a:pt x="791718" y="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177795" y="1869948"/>
              <a:ext cx="1583690" cy="523240"/>
            </a:xfrm>
            <a:custGeom>
              <a:avLst/>
              <a:gdLst/>
              <a:ahLst/>
              <a:cxnLst/>
              <a:rect l="l" t="t" r="r" b="b"/>
              <a:pathLst>
                <a:path w="1583689" h="523239">
                  <a:moveTo>
                    <a:pt x="0" y="261365"/>
                  </a:moveTo>
                  <a:lnTo>
                    <a:pt x="11465" y="216782"/>
                  </a:lnTo>
                  <a:lnTo>
                    <a:pt x="44595" y="174649"/>
                  </a:lnTo>
                  <a:lnTo>
                    <a:pt x="97487" y="135593"/>
                  </a:lnTo>
                  <a:lnTo>
                    <a:pt x="168242" y="100240"/>
                  </a:lnTo>
                  <a:lnTo>
                    <a:pt x="209723" y="84148"/>
                  </a:lnTo>
                  <a:lnTo>
                    <a:pt x="254957" y="69217"/>
                  </a:lnTo>
                  <a:lnTo>
                    <a:pt x="303706" y="55526"/>
                  </a:lnTo>
                  <a:lnTo>
                    <a:pt x="355732" y="43151"/>
                  </a:lnTo>
                  <a:lnTo>
                    <a:pt x="410797" y="32173"/>
                  </a:lnTo>
                  <a:lnTo>
                    <a:pt x="468665" y="22668"/>
                  </a:lnTo>
                  <a:lnTo>
                    <a:pt x="529097" y="14716"/>
                  </a:lnTo>
                  <a:lnTo>
                    <a:pt x="591856" y="8395"/>
                  </a:lnTo>
                  <a:lnTo>
                    <a:pt x="656704" y="3783"/>
                  </a:lnTo>
                  <a:lnTo>
                    <a:pt x="723404" y="958"/>
                  </a:lnTo>
                  <a:lnTo>
                    <a:pt x="791718" y="0"/>
                  </a:lnTo>
                  <a:lnTo>
                    <a:pt x="860031" y="958"/>
                  </a:lnTo>
                  <a:lnTo>
                    <a:pt x="926731" y="3783"/>
                  </a:lnTo>
                  <a:lnTo>
                    <a:pt x="991579" y="8395"/>
                  </a:lnTo>
                  <a:lnTo>
                    <a:pt x="1054338" y="14716"/>
                  </a:lnTo>
                  <a:lnTo>
                    <a:pt x="1114770" y="22668"/>
                  </a:lnTo>
                  <a:lnTo>
                    <a:pt x="1172638" y="32173"/>
                  </a:lnTo>
                  <a:lnTo>
                    <a:pt x="1227703" y="43151"/>
                  </a:lnTo>
                  <a:lnTo>
                    <a:pt x="1279729" y="55526"/>
                  </a:lnTo>
                  <a:lnTo>
                    <a:pt x="1328478" y="69217"/>
                  </a:lnTo>
                  <a:lnTo>
                    <a:pt x="1373712" y="84148"/>
                  </a:lnTo>
                  <a:lnTo>
                    <a:pt x="1415193" y="100240"/>
                  </a:lnTo>
                  <a:lnTo>
                    <a:pt x="1452684" y="117414"/>
                  </a:lnTo>
                  <a:lnTo>
                    <a:pt x="1514746" y="154697"/>
                  </a:lnTo>
                  <a:lnTo>
                    <a:pt x="1557994" y="195370"/>
                  </a:lnTo>
                  <a:lnTo>
                    <a:pt x="1580529" y="238807"/>
                  </a:lnTo>
                  <a:lnTo>
                    <a:pt x="1583436" y="261365"/>
                  </a:lnTo>
                  <a:lnTo>
                    <a:pt x="1580529" y="283924"/>
                  </a:lnTo>
                  <a:lnTo>
                    <a:pt x="1557994" y="327361"/>
                  </a:lnTo>
                  <a:lnTo>
                    <a:pt x="1514746" y="368034"/>
                  </a:lnTo>
                  <a:lnTo>
                    <a:pt x="1452684" y="405317"/>
                  </a:lnTo>
                  <a:lnTo>
                    <a:pt x="1415193" y="422491"/>
                  </a:lnTo>
                  <a:lnTo>
                    <a:pt x="1373712" y="438583"/>
                  </a:lnTo>
                  <a:lnTo>
                    <a:pt x="1328478" y="453514"/>
                  </a:lnTo>
                  <a:lnTo>
                    <a:pt x="1279729" y="467205"/>
                  </a:lnTo>
                  <a:lnTo>
                    <a:pt x="1227703" y="479580"/>
                  </a:lnTo>
                  <a:lnTo>
                    <a:pt x="1172638" y="490558"/>
                  </a:lnTo>
                  <a:lnTo>
                    <a:pt x="1114770" y="500063"/>
                  </a:lnTo>
                  <a:lnTo>
                    <a:pt x="1054338" y="508015"/>
                  </a:lnTo>
                  <a:lnTo>
                    <a:pt x="991579" y="514336"/>
                  </a:lnTo>
                  <a:lnTo>
                    <a:pt x="926731" y="518948"/>
                  </a:lnTo>
                  <a:lnTo>
                    <a:pt x="860031" y="521773"/>
                  </a:lnTo>
                  <a:lnTo>
                    <a:pt x="791718" y="522731"/>
                  </a:lnTo>
                  <a:lnTo>
                    <a:pt x="723404" y="521773"/>
                  </a:lnTo>
                  <a:lnTo>
                    <a:pt x="656704" y="518948"/>
                  </a:lnTo>
                  <a:lnTo>
                    <a:pt x="591856" y="514336"/>
                  </a:lnTo>
                  <a:lnTo>
                    <a:pt x="529097" y="508015"/>
                  </a:lnTo>
                  <a:lnTo>
                    <a:pt x="468665" y="500063"/>
                  </a:lnTo>
                  <a:lnTo>
                    <a:pt x="410797" y="490558"/>
                  </a:lnTo>
                  <a:lnTo>
                    <a:pt x="355732" y="479580"/>
                  </a:lnTo>
                  <a:lnTo>
                    <a:pt x="303706" y="467205"/>
                  </a:lnTo>
                  <a:lnTo>
                    <a:pt x="254957" y="453514"/>
                  </a:lnTo>
                  <a:lnTo>
                    <a:pt x="209723" y="438583"/>
                  </a:lnTo>
                  <a:lnTo>
                    <a:pt x="168242" y="422491"/>
                  </a:lnTo>
                  <a:lnTo>
                    <a:pt x="130751" y="405317"/>
                  </a:lnTo>
                  <a:lnTo>
                    <a:pt x="68689" y="368034"/>
                  </a:lnTo>
                  <a:lnTo>
                    <a:pt x="25441" y="327361"/>
                  </a:lnTo>
                  <a:lnTo>
                    <a:pt x="2906" y="283924"/>
                  </a:lnTo>
                  <a:lnTo>
                    <a:pt x="0" y="261365"/>
                  </a:lnTo>
                  <a:close/>
                </a:path>
              </a:pathLst>
            </a:custGeom>
            <a:ln w="12699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2494914" y="1973326"/>
            <a:ext cx="95059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85">
                <a:solidFill>
                  <a:srgbClr val="FFFFFF"/>
                </a:solidFill>
                <a:latin typeface="Cambria"/>
                <a:cs typeface="Cambria"/>
              </a:rPr>
              <a:t>material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6" name="object 66" descr=""/>
          <p:cNvSpPr/>
          <p:nvPr/>
        </p:nvSpPr>
        <p:spPr>
          <a:xfrm>
            <a:off x="3761994" y="2132838"/>
            <a:ext cx="388620" cy="0"/>
          </a:xfrm>
          <a:custGeom>
            <a:avLst/>
            <a:gdLst/>
            <a:ahLst/>
            <a:cxnLst/>
            <a:rect l="l" t="t" r="r" b="b"/>
            <a:pathLst>
              <a:path w="388620" h="0">
                <a:moveTo>
                  <a:pt x="388492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A44D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 txBox="1"/>
          <p:nvPr/>
        </p:nvSpPr>
        <p:spPr>
          <a:xfrm>
            <a:off x="640080" y="2627376"/>
            <a:ext cx="1957070" cy="391795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4889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84"/>
              </a:spcBef>
            </a:pPr>
            <a:r>
              <a:rPr dirty="0" sz="1800" spc="110">
                <a:solidFill>
                  <a:srgbClr val="FFFFFF"/>
                </a:solidFill>
                <a:latin typeface="Cambria"/>
                <a:cs typeface="Cambria"/>
              </a:rPr>
              <a:t>MATERIAL:m1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819658" y="3463797"/>
            <a:ext cx="1596390" cy="535940"/>
            <a:chOff x="819658" y="3463797"/>
            <a:chExt cx="1596390" cy="535940"/>
          </a:xfrm>
        </p:grpSpPr>
        <p:sp>
          <p:nvSpPr>
            <p:cNvPr id="69" name="object 69" descr=""/>
            <p:cNvSpPr/>
            <p:nvPr/>
          </p:nvSpPr>
          <p:spPr>
            <a:xfrm>
              <a:off x="826008" y="3470147"/>
              <a:ext cx="1583690" cy="523240"/>
            </a:xfrm>
            <a:custGeom>
              <a:avLst/>
              <a:gdLst/>
              <a:ahLst/>
              <a:cxnLst/>
              <a:rect l="l" t="t" r="r" b="b"/>
              <a:pathLst>
                <a:path w="1583689" h="523239">
                  <a:moveTo>
                    <a:pt x="791717" y="0"/>
                  </a:moveTo>
                  <a:lnTo>
                    <a:pt x="723406" y="958"/>
                  </a:lnTo>
                  <a:lnTo>
                    <a:pt x="656708" y="3783"/>
                  </a:lnTo>
                  <a:lnTo>
                    <a:pt x="591861" y="8395"/>
                  </a:lnTo>
                  <a:lnTo>
                    <a:pt x="529102" y="14716"/>
                  </a:lnTo>
                  <a:lnTo>
                    <a:pt x="468671" y="22668"/>
                  </a:lnTo>
                  <a:lnTo>
                    <a:pt x="410803" y="32173"/>
                  </a:lnTo>
                  <a:lnTo>
                    <a:pt x="355737" y="43151"/>
                  </a:lnTo>
                  <a:lnTo>
                    <a:pt x="303711" y="55526"/>
                  </a:lnTo>
                  <a:lnTo>
                    <a:pt x="254962" y="69217"/>
                  </a:lnTo>
                  <a:lnTo>
                    <a:pt x="209727" y="84148"/>
                  </a:lnTo>
                  <a:lnTo>
                    <a:pt x="168246" y="100240"/>
                  </a:lnTo>
                  <a:lnTo>
                    <a:pt x="130754" y="117414"/>
                  </a:lnTo>
                  <a:lnTo>
                    <a:pt x="68691" y="154697"/>
                  </a:lnTo>
                  <a:lnTo>
                    <a:pt x="25442" y="195370"/>
                  </a:lnTo>
                  <a:lnTo>
                    <a:pt x="2906" y="238807"/>
                  </a:lnTo>
                  <a:lnTo>
                    <a:pt x="0" y="261365"/>
                  </a:lnTo>
                  <a:lnTo>
                    <a:pt x="2906" y="283924"/>
                  </a:lnTo>
                  <a:lnTo>
                    <a:pt x="25442" y="327361"/>
                  </a:lnTo>
                  <a:lnTo>
                    <a:pt x="68691" y="368034"/>
                  </a:lnTo>
                  <a:lnTo>
                    <a:pt x="130754" y="405317"/>
                  </a:lnTo>
                  <a:lnTo>
                    <a:pt x="168246" y="422491"/>
                  </a:lnTo>
                  <a:lnTo>
                    <a:pt x="209727" y="438583"/>
                  </a:lnTo>
                  <a:lnTo>
                    <a:pt x="254962" y="453514"/>
                  </a:lnTo>
                  <a:lnTo>
                    <a:pt x="303711" y="467205"/>
                  </a:lnTo>
                  <a:lnTo>
                    <a:pt x="355737" y="479580"/>
                  </a:lnTo>
                  <a:lnTo>
                    <a:pt x="410803" y="490558"/>
                  </a:lnTo>
                  <a:lnTo>
                    <a:pt x="468671" y="500063"/>
                  </a:lnTo>
                  <a:lnTo>
                    <a:pt x="529102" y="508015"/>
                  </a:lnTo>
                  <a:lnTo>
                    <a:pt x="591861" y="514336"/>
                  </a:lnTo>
                  <a:lnTo>
                    <a:pt x="656708" y="518948"/>
                  </a:lnTo>
                  <a:lnTo>
                    <a:pt x="723406" y="521773"/>
                  </a:lnTo>
                  <a:lnTo>
                    <a:pt x="791717" y="522731"/>
                  </a:lnTo>
                  <a:lnTo>
                    <a:pt x="860031" y="521773"/>
                  </a:lnTo>
                  <a:lnTo>
                    <a:pt x="926731" y="518948"/>
                  </a:lnTo>
                  <a:lnTo>
                    <a:pt x="991579" y="514336"/>
                  </a:lnTo>
                  <a:lnTo>
                    <a:pt x="1054338" y="508015"/>
                  </a:lnTo>
                  <a:lnTo>
                    <a:pt x="1114770" y="500063"/>
                  </a:lnTo>
                  <a:lnTo>
                    <a:pt x="1172638" y="490558"/>
                  </a:lnTo>
                  <a:lnTo>
                    <a:pt x="1227703" y="479580"/>
                  </a:lnTo>
                  <a:lnTo>
                    <a:pt x="1279729" y="467205"/>
                  </a:lnTo>
                  <a:lnTo>
                    <a:pt x="1328478" y="453514"/>
                  </a:lnTo>
                  <a:lnTo>
                    <a:pt x="1373712" y="438583"/>
                  </a:lnTo>
                  <a:lnTo>
                    <a:pt x="1415193" y="422491"/>
                  </a:lnTo>
                  <a:lnTo>
                    <a:pt x="1452684" y="405317"/>
                  </a:lnTo>
                  <a:lnTo>
                    <a:pt x="1514746" y="368034"/>
                  </a:lnTo>
                  <a:lnTo>
                    <a:pt x="1557994" y="327361"/>
                  </a:lnTo>
                  <a:lnTo>
                    <a:pt x="1580529" y="283924"/>
                  </a:lnTo>
                  <a:lnTo>
                    <a:pt x="1583436" y="261365"/>
                  </a:lnTo>
                  <a:lnTo>
                    <a:pt x="1580529" y="238807"/>
                  </a:lnTo>
                  <a:lnTo>
                    <a:pt x="1557994" y="195370"/>
                  </a:lnTo>
                  <a:lnTo>
                    <a:pt x="1514746" y="154697"/>
                  </a:lnTo>
                  <a:lnTo>
                    <a:pt x="1452684" y="117414"/>
                  </a:lnTo>
                  <a:lnTo>
                    <a:pt x="1415193" y="100240"/>
                  </a:lnTo>
                  <a:lnTo>
                    <a:pt x="1373712" y="84148"/>
                  </a:lnTo>
                  <a:lnTo>
                    <a:pt x="1328478" y="69217"/>
                  </a:lnTo>
                  <a:lnTo>
                    <a:pt x="1279729" y="55526"/>
                  </a:lnTo>
                  <a:lnTo>
                    <a:pt x="1227703" y="43151"/>
                  </a:lnTo>
                  <a:lnTo>
                    <a:pt x="1172638" y="32173"/>
                  </a:lnTo>
                  <a:lnTo>
                    <a:pt x="1114770" y="22668"/>
                  </a:lnTo>
                  <a:lnTo>
                    <a:pt x="1054338" y="14716"/>
                  </a:lnTo>
                  <a:lnTo>
                    <a:pt x="991579" y="8395"/>
                  </a:lnTo>
                  <a:lnTo>
                    <a:pt x="926731" y="3783"/>
                  </a:lnTo>
                  <a:lnTo>
                    <a:pt x="860031" y="958"/>
                  </a:lnTo>
                  <a:lnTo>
                    <a:pt x="791717" y="0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826008" y="3470147"/>
              <a:ext cx="1583690" cy="523240"/>
            </a:xfrm>
            <a:custGeom>
              <a:avLst/>
              <a:gdLst/>
              <a:ahLst/>
              <a:cxnLst/>
              <a:rect l="l" t="t" r="r" b="b"/>
              <a:pathLst>
                <a:path w="1583689" h="523239">
                  <a:moveTo>
                    <a:pt x="0" y="261365"/>
                  </a:moveTo>
                  <a:lnTo>
                    <a:pt x="11466" y="216782"/>
                  </a:lnTo>
                  <a:lnTo>
                    <a:pt x="44596" y="174649"/>
                  </a:lnTo>
                  <a:lnTo>
                    <a:pt x="97490" y="135593"/>
                  </a:lnTo>
                  <a:lnTo>
                    <a:pt x="168246" y="100240"/>
                  </a:lnTo>
                  <a:lnTo>
                    <a:pt x="209727" y="84148"/>
                  </a:lnTo>
                  <a:lnTo>
                    <a:pt x="254962" y="69217"/>
                  </a:lnTo>
                  <a:lnTo>
                    <a:pt x="303711" y="55526"/>
                  </a:lnTo>
                  <a:lnTo>
                    <a:pt x="355737" y="43151"/>
                  </a:lnTo>
                  <a:lnTo>
                    <a:pt x="410803" y="32173"/>
                  </a:lnTo>
                  <a:lnTo>
                    <a:pt x="468671" y="22668"/>
                  </a:lnTo>
                  <a:lnTo>
                    <a:pt x="529102" y="14716"/>
                  </a:lnTo>
                  <a:lnTo>
                    <a:pt x="591861" y="8395"/>
                  </a:lnTo>
                  <a:lnTo>
                    <a:pt x="656708" y="3783"/>
                  </a:lnTo>
                  <a:lnTo>
                    <a:pt x="723406" y="958"/>
                  </a:lnTo>
                  <a:lnTo>
                    <a:pt x="791717" y="0"/>
                  </a:lnTo>
                  <a:lnTo>
                    <a:pt x="860031" y="958"/>
                  </a:lnTo>
                  <a:lnTo>
                    <a:pt x="926731" y="3783"/>
                  </a:lnTo>
                  <a:lnTo>
                    <a:pt x="991579" y="8395"/>
                  </a:lnTo>
                  <a:lnTo>
                    <a:pt x="1054338" y="14716"/>
                  </a:lnTo>
                  <a:lnTo>
                    <a:pt x="1114770" y="22668"/>
                  </a:lnTo>
                  <a:lnTo>
                    <a:pt x="1172638" y="32173"/>
                  </a:lnTo>
                  <a:lnTo>
                    <a:pt x="1227703" y="43151"/>
                  </a:lnTo>
                  <a:lnTo>
                    <a:pt x="1279729" y="55526"/>
                  </a:lnTo>
                  <a:lnTo>
                    <a:pt x="1328478" y="69217"/>
                  </a:lnTo>
                  <a:lnTo>
                    <a:pt x="1373712" y="84148"/>
                  </a:lnTo>
                  <a:lnTo>
                    <a:pt x="1415193" y="100240"/>
                  </a:lnTo>
                  <a:lnTo>
                    <a:pt x="1452684" y="117414"/>
                  </a:lnTo>
                  <a:lnTo>
                    <a:pt x="1514746" y="154697"/>
                  </a:lnTo>
                  <a:lnTo>
                    <a:pt x="1557994" y="195370"/>
                  </a:lnTo>
                  <a:lnTo>
                    <a:pt x="1580529" y="238807"/>
                  </a:lnTo>
                  <a:lnTo>
                    <a:pt x="1583436" y="261365"/>
                  </a:lnTo>
                  <a:lnTo>
                    <a:pt x="1580529" y="283924"/>
                  </a:lnTo>
                  <a:lnTo>
                    <a:pt x="1557994" y="327361"/>
                  </a:lnTo>
                  <a:lnTo>
                    <a:pt x="1514746" y="368034"/>
                  </a:lnTo>
                  <a:lnTo>
                    <a:pt x="1452684" y="405317"/>
                  </a:lnTo>
                  <a:lnTo>
                    <a:pt x="1415193" y="422491"/>
                  </a:lnTo>
                  <a:lnTo>
                    <a:pt x="1373712" y="438583"/>
                  </a:lnTo>
                  <a:lnTo>
                    <a:pt x="1328478" y="453514"/>
                  </a:lnTo>
                  <a:lnTo>
                    <a:pt x="1279729" y="467205"/>
                  </a:lnTo>
                  <a:lnTo>
                    <a:pt x="1227703" y="479580"/>
                  </a:lnTo>
                  <a:lnTo>
                    <a:pt x="1172638" y="490558"/>
                  </a:lnTo>
                  <a:lnTo>
                    <a:pt x="1114770" y="500063"/>
                  </a:lnTo>
                  <a:lnTo>
                    <a:pt x="1054338" y="508015"/>
                  </a:lnTo>
                  <a:lnTo>
                    <a:pt x="991579" y="514336"/>
                  </a:lnTo>
                  <a:lnTo>
                    <a:pt x="926731" y="518948"/>
                  </a:lnTo>
                  <a:lnTo>
                    <a:pt x="860031" y="521773"/>
                  </a:lnTo>
                  <a:lnTo>
                    <a:pt x="791717" y="522731"/>
                  </a:lnTo>
                  <a:lnTo>
                    <a:pt x="723406" y="521773"/>
                  </a:lnTo>
                  <a:lnTo>
                    <a:pt x="656708" y="518948"/>
                  </a:lnTo>
                  <a:lnTo>
                    <a:pt x="591861" y="514336"/>
                  </a:lnTo>
                  <a:lnTo>
                    <a:pt x="529102" y="508015"/>
                  </a:lnTo>
                  <a:lnTo>
                    <a:pt x="468671" y="500063"/>
                  </a:lnTo>
                  <a:lnTo>
                    <a:pt x="410803" y="490558"/>
                  </a:lnTo>
                  <a:lnTo>
                    <a:pt x="355737" y="479580"/>
                  </a:lnTo>
                  <a:lnTo>
                    <a:pt x="303711" y="467205"/>
                  </a:lnTo>
                  <a:lnTo>
                    <a:pt x="254962" y="453514"/>
                  </a:lnTo>
                  <a:lnTo>
                    <a:pt x="209727" y="438583"/>
                  </a:lnTo>
                  <a:lnTo>
                    <a:pt x="168246" y="422491"/>
                  </a:lnTo>
                  <a:lnTo>
                    <a:pt x="130754" y="405317"/>
                  </a:lnTo>
                  <a:lnTo>
                    <a:pt x="68691" y="368034"/>
                  </a:lnTo>
                  <a:lnTo>
                    <a:pt x="25442" y="327361"/>
                  </a:lnTo>
                  <a:lnTo>
                    <a:pt x="2906" y="283924"/>
                  </a:lnTo>
                  <a:lnTo>
                    <a:pt x="0" y="261365"/>
                  </a:lnTo>
                  <a:close/>
                </a:path>
              </a:pathLst>
            </a:custGeom>
            <a:ln w="12699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 txBox="1"/>
          <p:nvPr/>
        </p:nvSpPr>
        <p:spPr>
          <a:xfrm>
            <a:off x="1490599" y="3572332"/>
            <a:ext cx="2546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95">
                <a:solidFill>
                  <a:srgbClr val="FFFFFF"/>
                </a:solidFill>
                <a:latin typeface="Cambria"/>
                <a:cs typeface="Cambria"/>
              </a:rPr>
              <a:t>…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2" name="object 72" descr=""/>
          <p:cNvSpPr/>
          <p:nvPr/>
        </p:nvSpPr>
        <p:spPr>
          <a:xfrm>
            <a:off x="1581340" y="3019805"/>
            <a:ext cx="76200" cy="450850"/>
          </a:xfrm>
          <a:custGeom>
            <a:avLst/>
            <a:gdLst/>
            <a:ahLst/>
            <a:cxnLst/>
            <a:rect l="l" t="t" r="r" b="b"/>
            <a:pathLst>
              <a:path w="76200" h="450850">
                <a:moveTo>
                  <a:pt x="25361" y="374777"/>
                </a:moveTo>
                <a:lnTo>
                  <a:pt x="0" y="374777"/>
                </a:lnTo>
                <a:lnTo>
                  <a:pt x="37909" y="450850"/>
                </a:lnTo>
                <a:lnTo>
                  <a:pt x="69754" y="387477"/>
                </a:lnTo>
                <a:lnTo>
                  <a:pt x="50736" y="387477"/>
                </a:lnTo>
                <a:lnTo>
                  <a:pt x="25336" y="387350"/>
                </a:lnTo>
                <a:lnTo>
                  <a:pt x="25361" y="374777"/>
                </a:lnTo>
                <a:close/>
              </a:path>
              <a:path w="76200" h="450850">
                <a:moveTo>
                  <a:pt x="51498" y="0"/>
                </a:moveTo>
                <a:lnTo>
                  <a:pt x="26098" y="0"/>
                </a:lnTo>
                <a:lnTo>
                  <a:pt x="25361" y="374777"/>
                </a:lnTo>
                <a:lnTo>
                  <a:pt x="25336" y="387350"/>
                </a:lnTo>
                <a:lnTo>
                  <a:pt x="50736" y="387477"/>
                </a:lnTo>
                <a:lnTo>
                  <a:pt x="51498" y="0"/>
                </a:lnTo>
                <a:close/>
              </a:path>
              <a:path w="76200" h="450850">
                <a:moveTo>
                  <a:pt x="76136" y="374777"/>
                </a:moveTo>
                <a:lnTo>
                  <a:pt x="50761" y="374777"/>
                </a:lnTo>
                <a:lnTo>
                  <a:pt x="50736" y="387477"/>
                </a:lnTo>
                <a:lnTo>
                  <a:pt x="69754" y="387477"/>
                </a:lnTo>
                <a:lnTo>
                  <a:pt x="76136" y="374777"/>
                </a:lnTo>
                <a:close/>
              </a:path>
            </a:pathLst>
          </a:custGeom>
          <a:solidFill>
            <a:srgbClr val="A44D7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2597657" y="2393442"/>
            <a:ext cx="372110" cy="430530"/>
          </a:xfrm>
          <a:custGeom>
            <a:avLst/>
            <a:gdLst/>
            <a:ahLst/>
            <a:cxnLst/>
            <a:rect l="l" t="t" r="r" b="b"/>
            <a:pathLst>
              <a:path w="372110" h="430530">
                <a:moveTo>
                  <a:pt x="372110" y="0"/>
                </a:moveTo>
                <a:lnTo>
                  <a:pt x="0" y="430022"/>
                </a:lnTo>
              </a:path>
            </a:pathLst>
          </a:custGeom>
          <a:ln w="25400">
            <a:solidFill>
              <a:srgbClr val="A44D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/>
          <p:nvPr/>
        </p:nvSpPr>
        <p:spPr>
          <a:xfrm>
            <a:off x="6304026" y="3438525"/>
            <a:ext cx="8947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35">
                <a:solidFill>
                  <a:srgbClr val="FFFFFF"/>
                </a:solidFill>
                <a:latin typeface="Cambria"/>
                <a:cs typeface="Cambria"/>
              </a:rPr>
              <a:t>amount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75" name="object 75" descr=""/>
          <p:cNvGrpSpPr/>
          <p:nvPr/>
        </p:nvGrpSpPr>
        <p:grpSpPr>
          <a:xfrm>
            <a:off x="5553709" y="2963417"/>
            <a:ext cx="1993900" cy="1869439"/>
            <a:chOff x="5553709" y="2963417"/>
            <a:chExt cx="1993900" cy="1869439"/>
          </a:xfrm>
        </p:grpSpPr>
        <p:sp>
          <p:nvSpPr>
            <p:cNvPr id="76" name="object 76" descr=""/>
            <p:cNvSpPr/>
            <p:nvPr/>
          </p:nvSpPr>
          <p:spPr>
            <a:xfrm>
              <a:off x="5566409" y="3597401"/>
              <a:ext cx="393065" cy="0"/>
            </a:xfrm>
            <a:custGeom>
              <a:avLst/>
              <a:gdLst/>
              <a:ahLst/>
              <a:cxnLst/>
              <a:rect l="l" t="t" r="r" b="b"/>
              <a:pathLst>
                <a:path w="393064" h="0">
                  <a:moveTo>
                    <a:pt x="0" y="0"/>
                  </a:moveTo>
                  <a:lnTo>
                    <a:pt x="392556" y="0"/>
                  </a:lnTo>
                </a:path>
              </a:pathLst>
            </a:custGeom>
            <a:ln w="2540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5957316" y="2963417"/>
              <a:ext cx="1583690" cy="1863089"/>
            </a:xfrm>
            <a:custGeom>
              <a:avLst/>
              <a:gdLst/>
              <a:ahLst/>
              <a:cxnLst/>
              <a:rect l="l" t="t" r="r" b="b"/>
              <a:pathLst>
                <a:path w="1583690" h="1863089">
                  <a:moveTo>
                    <a:pt x="832866" y="76200"/>
                  </a:moveTo>
                  <a:lnTo>
                    <a:pt x="826516" y="63500"/>
                  </a:lnTo>
                  <a:lnTo>
                    <a:pt x="794766" y="0"/>
                  </a:lnTo>
                  <a:lnTo>
                    <a:pt x="756666" y="76200"/>
                  </a:lnTo>
                  <a:lnTo>
                    <a:pt x="782066" y="76200"/>
                  </a:lnTo>
                  <a:lnTo>
                    <a:pt x="782066" y="373253"/>
                  </a:lnTo>
                  <a:lnTo>
                    <a:pt x="807466" y="373253"/>
                  </a:lnTo>
                  <a:lnTo>
                    <a:pt x="807466" y="76200"/>
                  </a:lnTo>
                  <a:lnTo>
                    <a:pt x="832866" y="76200"/>
                  </a:lnTo>
                  <a:close/>
                </a:path>
                <a:path w="1583690" h="1863089">
                  <a:moveTo>
                    <a:pt x="1583436" y="1601724"/>
                  </a:moveTo>
                  <a:lnTo>
                    <a:pt x="1571967" y="1557147"/>
                  </a:lnTo>
                  <a:lnTo>
                    <a:pt x="1538833" y="1515008"/>
                  </a:lnTo>
                  <a:lnTo>
                    <a:pt x="1485938" y="1475955"/>
                  </a:lnTo>
                  <a:lnTo>
                    <a:pt x="1415186" y="1440599"/>
                  </a:lnTo>
                  <a:lnTo>
                    <a:pt x="1373708" y="1424508"/>
                  </a:lnTo>
                  <a:lnTo>
                    <a:pt x="1328470" y="1409585"/>
                  </a:lnTo>
                  <a:lnTo>
                    <a:pt x="1279728" y="1395895"/>
                  </a:lnTo>
                  <a:lnTo>
                    <a:pt x="1227696" y="1383512"/>
                  </a:lnTo>
                  <a:lnTo>
                    <a:pt x="1172629" y="1372539"/>
                  </a:lnTo>
                  <a:lnTo>
                    <a:pt x="1114767" y="1363027"/>
                  </a:lnTo>
                  <a:lnTo>
                    <a:pt x="1054328" y="1355077"/>
                  </a:lnTo>
                  <a:lnTo>
                    <a:pt x="991577" y="1348765"/>
                  </a:lnTo>
                  <a:lnTo>
                    <a:pt x="926719" y="1344142"/>
                  </a:lnTo>
                  <a:lnTo>
                    <a:pt x="860031" y="1341323"/>
                  </a:lnTo>
                  <a:lnTo>
                    <a:pt x="791718" y="1340358"/>
                  </a:lnTo>
                  <a:lnTo>
                    <a:pt x="723392" y="1341323"/>
                  </a:lnTo>
                  <a:lnTo>
                    <a:pt x="656704" y="1344142"/>
                  </a:lnTo>
                  <a:lnTo>
                    <a:pt x="591845" y="1348765"/>
                  </a:lnTo>
                  <a:lnTo>
                    <a:pt x="529094" y="1355077"/>
                  </a:lnTo>
                  <a:lnTo>
                    <a:pt x="468655" y="1363027"/>
                  </a:lnTo>
                  <a:lnTo>
                    <a:pt x="410794" y="1372539"/>
                  </a:lnTo>
                  <a:lnTo>
                    <a:pt x="355727" y="1383512"/>
                  </a:lnTo>
                  <a:lnTo>
                    <a:pt x="303695" y="1395895"/>
                  </a:lnTo>
                  <a:lnTo>
                    <a:pt x="254952" y="1409585"/>
                  </a:lnTo>
                  <a:lnTo>
                    <a:pt x="209715" y="1424508"/>
                  </a:lnTo>
                  <a:lnTo>
                    <a:pt x="168236" y="1440599"/>
                  </a:lnTo>
                  <a:lnTo>
                    <a:pt x="130746" y="1457782"/>
                  </a:lnTo>
                  <a:lnTo>
                    <a:pt x="68681" y="1495056"/>
                  </a:lnTo>
                  <a:lnTo>
                    <a:pt x="25438" y="1535734"/>
                  </a:lnTo>
                  <a:lnTo>
                    <a:pt x="2895" y="1579168"/>
                  </a:lnTo>
                  <a:lnTo>
                    <a:pt x="0" y="1601724"/>
                  </a:lnTo>
                  <a:lnTo>
                    <a:pt x="2895" y="1624291"/>
                  </a:lnTo>
                  <a:lnTo>
                    <a:pt x="25438" y="1667725"/>
                  </a:lnTo>
                  <a:lnTo>
                    <a:pt x="68681" y="1708404"/>
                  </a:lnTo>
                  <a:lnTo>
                    <a:pt x="130746" y="1745678"/>
                  </a:lnTo>
                  <a:lnTo>
                    <a:pt x="168236" y="1762861"/>
                  </a:lnTo>
                  <a:lnTo>
                    <a:pt x="209715" y="1778952"/>
                  </a:lnTo>
                  <a:lnTo>
                    <a:pt x="254952" y="1793875"/>
                  </a:lnTo>
                  <a:lnTo>
                    <a:pt x="303695" y="1807565"/>
                  </a:lnTo>
                  <a:lnTo>
                    <a:pt x="355727" y="1819948"/>
                  </a:lnTo>
                  <a:lnTo>
                    <a:pt x="410794" y="1830920"/>
                  </a:lnTo>
                  <a:lnTo>
                    <a:pt x="468655" y="1840433"/>
                  </a:lnTo>
                  <a:lnTo>
                    <a:pt x="529094" y="1848383"/>
                  </a:lnTo>
                  <a:lnTo>
                    <a:pt x="591845" y="1854695"/>
                  </a:lnTo>
                  <a:lnTo>
                    <a:pt x="656704" y="1859318"/>
                  </a:lnTo>
                  <a:lnTo>
                    <a:pt x="723392" y="1862137"/>
                  </a:lnTo>
                  <a:lnTo>
                    <a:pt x="791718" y="1863090"/>
                  </a:lnTo>
                  <a:lnTo>
                    <a:pt x="860031" y="1862137"/>
                  </a:lnTo>
                  <a:lnTo>
                    <a:pt x="926719" y="1859318"/>
                  </a:lnTo>
                  <a:lnTo>
                    <a:pt x="991577" y="1854695"/>
                  </a:lnTo>
                  <a:lnTo>
                    <a:pt x="1054328" y="1848383"/>
                  </a:lnTo>
                  <a:lnTo>
                    <a:pt x="1114767" y="1840433"/>
                  </a:lnTo>
                  <a:lnTo>
                    <a:pt x="1172629" y="1830920"/>
                  </a:lnTo>
                  <a:lnTo>
                    <a:pt x="1227696" y="1819948"/>
                  </a:lnTo>
                  <a:lnTo>
                    <a:pt x="1279728" y="1807565"/>
                  </a:lnTo>
                  <a:lnTo>
                    <a:pt x="1328470" y="1793875"/>
                  </a:lnTo>
                  <a:lnTo>
                    <a:pt x="1373708" y="1778952"/>
                  </a:lnTo>
                  <a:lnTo>
                    <a:pt x="1415186" y="1762861"/>
                  </a:lnTo>
                  <a:lnTo>
                    <a:pt x="1452676" y="1745678"/>
                  </a:lnTo>
                  <a:lnTo>
                    <a:pt x="1514741" y="1708404"/>
                  </a:lnTo>
                  <a:lnTo>
                    <a:pt x="1557985" y="1667725"/>
                  </a:lnTo>
                  <a:lnTo>
                    <a:pt x="1580527" y="1624291"/>
                  </a:lnTo>
                  <a:lnTo>
                    <a:pt x="1583436" y="1601724"/>
                  </a:lnTo>
                  <a:close/>
                </a:path>
              </a:pathLst>
            </a:custGeom>
            <a:solidFill>
              <a:srgbClr val="A44D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5957315" y="4303775"/>
              <a:ext cx="1583690" cy="523240"/>
            </a:xfrm>
            <a:custGeom>
              <a:avLst/>
              <a:gdLst/>
              <a:ahLst/>
              <a:cxnLst/>
              <a:rect l="l" t="t" r="r" b="b"/>
              <a:pathLst>
                <a:path w="1583690" h="523239">
                  <a:moveTo>
                    <a:pt x="0" y="261366"/>
                  </a:moveTo>
                  <a:lnTo>
                    <a:pt x="11465" y="216782"/>
                  </a:lnTo>
                  <a:lnTo>
                    <a:pt x="44595" y="174649"/>
                  </a:lnTo>
                  <a:lnTo>
                    <a:pt x="97487" y="135593"/>
                  </a:lnTo>
                  <a:lnTo>
                    <a:pt x="168242" y="100240"/>
                  </a:lnTo>
                  <a:lnTo>
                    <a:pt x="209723" y="84148"/>
                  </a:lnTo>
                  <a:lnTo>
                    <a:pt x="254957" y="69217"/>
                  </a:lnTo>
                  <a:lnTo>
                    <a:pt x="303706" y="55526"/>
                  </a:lnTo>
                  <a:lnTo>
                    <a:pt x="355732" y="43151"/>
                  </a:lnTo>
                  <a:lnTo>
                    <a:pt x="410797" y="32173"/>
                  </a:lnTo>
                  <a:lnTo>
                    <a:pt x="468665" y="22668"/>
                  </a:lnTo>
                  <a:lnTo>
                    <a:pt x="529097" y="14716"/>
                  </a:lnTo>
                  <a:lnTo>
                    <a:pt x="591856" y="8395"/>
                  </a:lnTo>
                  <a:lnTo>
                    <a:pt x="656704" y="3783"/>
                  </a:lnTo>
                  <a:lnTo>
                    <a:pt x="723404" y="958"/>
                  </a:lnTo>
                  <a:lnTo>
                    <a:pt x="791717" y="0"/>
                  </a:lnTo>
                  <a:lnTo>
                    <a:pt x="860031" y="958"/>
                  </a:lnTo>
                  <a:lnTo>
                    <a:pt x="926731" y="3783"/>
                  </a:lnTo>
                  <a:lnTo>
                    <a:pt x="991579" y="8395"/>
                  </a:lnTo>
                  <a:lnTo>
                    <a:pt x="1054338" y="14716"/>
                  </a:lnTo>
                  <a:lnTo>
                    <a:pt x="1114770" y="22668"/>
                  </a:lnTo>
                  <a:lnTo>
                    <a:pt x="1172638" y="32173"/>
                  </a:lnTo>
                  <a:lnTo>
                    <a:pt x="1227703" y="43151"/>
                  </a:lnTo>
                  <a:lnTo>
                    <a:pt x="1279729" y="55526"/>
                  </a:lnTo>
                  <a:lnTo>
                    <a:pt x="1328478" y="69217"/>
                  </a:lnTo>
                  <a:lnTo>
                    <a:pt x="1373712" y="84148"/>
                  </a:lnTo>
                  <a:lnTo>
                    <a:pt x="1415193" y="100240"/>
                  </a:lnTo>
                  <a:lnTo>
                    <a:pt x="1452684" y="117414"/>
                  </a:lnTo>
                  <a:lnTo>
                    <a:pt x="1514746" y="154697"/>
                  </a:lnTo>
                  <a:lnTo>
                    <a:pt x="1557994" y="195370"/>
                  </a:lnTo>
                  <a:lnTo>
                    <a:pt x="1580529" y="238807"/>
                  </a:lnTo>
                  <a:lnTo>
                    <a:pt x="1583436" y="261366"/>
                  </a:lnTo>
                  <a:lnTo>
                    <a:pt x="1580529" y="283924"/>
                  </a:lnTo>
                  <a:lnTo>
                    <a:pt x="1557994" y="327361"/>
                  </a:lnTo>
                  <a:lnTo>
                    <a:pt x="1514746" y="368034"/>
                  </a:lnTo>
                  <a:lnTo>
                    <a:pt x="1452684" y="405317"/>
                  </a:lnTo>
                  <a:lnTo>
                    <a:pt x="1415193" y="422491"/>
                  </a:lnTo>
                  <a:lnTo>
                    <a:pt x="1373712" y="438583"/>
                  </a:lnTo>
                  <a:lnTo>
                    <a:pt x="1328478" y="453514"/>
                  </a:lnTo>
                  <a:lnTo>
                    <a:pt x="1279729" y="467205"/>
                  </a:lnTo>
                  <a:lnTo>
                    <a:pt x="1227703" y="479580"/>
                  </a:lnTo>
                  <a:lnTo>
                    <a:pt x="1172638" y="490558"/>
                  </a:lnTo>
                  <a:lnTo>
                    <a:pt x="1114770" y="500063"/>
                  </a:lnTo>
                  <a:lnTo>
                    <a:pt x="1054338" y="508015"/>
                  </a:lnTo>
                  <a:lnTo>
                    <a:pt x="991579" y="514336"/>
                  </a:lnTo>
                  <a:lnTo>
                    <a:pt x="926731" y="518948"/>
                  </a:lnTo>
                  <a:lnTo>
                    <a:pt x="860031" y="521773"/>
                  </a:lnTo>
                  <a:lnTo>
                    <a:pt x="791717" y="522731"/>
                  </a:lnTo>
                  <a:lnTo>
                    <a:pt x="723404" y="521773"/>
                  </a:lnTo>
                  <a:lnTo>
                    <a:pt x="656704" y="518948"/>
                  </a:lnTo>
                  <a:lnTo>
                    <a:pt x="591856" y="514336"/>
                  </a:lnTo>
                  <a:lnTo>
                    <a:pt x="529097" y="508015"/>
                  </a:lnTo>
                  <a:lnTo>
                    <a:pt x="468665" y="500063"/>
                  </a:lnTo>
                  <a:lnTo>
                    <a:pt x="410797" y="490558"/>
                  </a:lnTo>
                  <a:lnTo>
                    <a:pt x="355732" y="479580"/>
                  </a:lnTo>
                  <a:lnTo>
                    <a:pt x="303706" y="467205"/>
                  </a:lnTo>
                  <a:lnTo>
                    <a:pt x="254957" y="453514"/>
                  </a:lnTo>
                  <a:lnTo>
                    <a:pt x="209723" y="438583"/>
                  </a:lnTo>
                  <a:lnTo>
                    <a:pt x="168242" y="422491"/>
                  </a:lnTo>
                  <a:lnTo>
                    <a:pt x="130751" y="405317"/>
                  </a:lnTo>
                  <a:lnTo>
                    <a:pt x="68689" y="368034"/>
                  </a:lnTo>
                  <a:lnTo>
                    <a:pt x="25441" y="327361"/>
                  </a:lnTo>
                  <a:lnTo>
                    <a:pt x="2906" y="283924"/>
                  </a:lnTo>
                  <a:lnTo>
                    <a:pt x="0" y="261366"/>
                  </a:lnTo>
                  <a:close/>
                </a:path>
              </a:pathLst>
            </a:custGeom>
            <a:ln w="12700">
              <a:solidFill>
                <a:srgbClr val="7836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6320028" y="2570988"/>
            <a:ext cx="862965" cy="391795"/>
          </a:xfrm>
          <a:prstGeom prst="rect">
            <a:avLst/>
          </a:prstGeom>
          <a:solidFill>
            <a:srgbClr val="939C6B"/>
          </a:solidFill>
          <a:ln w="12700">
            <a:solidFill>
              <a:srgbClr val="6B704D"/>
            </a:solidFill>
          </a:ln>
        </p:spPr>
        <p:txBody>
          <a:bodyPr wrap="square" lIns="0" tIns="4826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80"/>
              </a:spcBef>
            </a:pPr>
            <a:r>
              <a:rPr dirty="0" sz="1800" spc="85">
                <a:solidFill>
                  <a:srgbClr val="FFFFFF"/>
                </a:solidFill>
                <a:latin typeface="Cambria"/>
                <a:cs typeface="Cambria"/>
              </a:rPr>
              <a:t>int:2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6622160" y="4407534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95">
                <a:solidFill>
                  <a:srgbClr val="FFFFFF"/>
                </a:solidFill>
                <a:latin typeface="Cambria"/>
                <a:cs typeface="Cambria"/>
              </a:rPr>
              <a:t>…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1" name="object 81" descr=""/>
          <p:cNvSpPr/>
          <p:nvPr/>
        </p:nvSpPr>
        <p:spPr>
          <a:xfrm>
            <a:off x="5566409" y="3597402"/>
            <a:ext cx="1183005" cy="707390"/>
          </a:xfrm>
          <a:custGeom>
            <a:avLst/>
            <a:gdLst/>
            <a:ahLst/>
            <a:cxnLst/>
            <a:rect l="l" t="t" r="r" b="b"/>
            <a:pathLst>
              <a:path w="1183004" h="707389">
                <a:moveTo>
                  <a:pt x="0" y="0"/>
                </a:moveTo>
                <a:lnTo>
                  <a:pt x="1182496" y="707390"/>
                </a:lnTo>
              </a:path>
            </a:pathLst>
          </a:custGeom>
          <a:ln w="25400">
            <a:solidFill>
              <a:srgbClr val="A44D7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133" y="1028700"/>
            <a:ext cx="3102114" cy="575690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590802" y="2337054"/>
          <a:ext cx="8435975" cy="20154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3845"/>
                <a:gridCol w="4252595"/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4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Pros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12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Cons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Regular</a:t>
                      </a:r>
                      <a:r>
                        <a:rPr dirty="0" sz="1800" spc="2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5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800" spc="2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very</a:t>
                      </a:r>
                      <a:r>
                        <a:rPr dirty="0" sz="1800" spc="21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compact</a:t>
                      </a:r>
                      <a:r>
                        <a:rPr dirty="0" sz="1800" spc="22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model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9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Performance</a:t>
                      </a:r>
                      <a:r>
                        <a:rPr dirty="0" sz="1800" spc="17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dirty="0" sz="1800" spc="17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5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worse</a:t>
                      </a:r>
                      <a:r>
                        <a:rPr dirty="0" sz="1800" spc="18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5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than</a:t>
                      </a:r>
                      <a:r>
                        <a:rPr dirty="0" sz="1800" spc="19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2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800" spc="6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property</a:t>
                      </a:r>
                      <a:r>
                        <a:rPr dirty="0" sz="1800" spc="19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graphs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Flexible</a:t>
                      </a:r>
                      <a:r>
                        <a:rPr dirty="0" sz="1800" spc="15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dynamic</a:t>
                      </a:r>
                      <a:r>
                        <a:rPr dirty="0" sz="1800" spc="1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4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schema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 marR="55499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13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Good</a:t>
                      </a:r>
                      <a:r>
                        <a:rPr dirty="0" sz="1800" spc="20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for</a:t>
                      </a:r>
                      <a:r>
                        <a:rPr dirty="0" sz="1800" spc="21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formal</a:t>
                      </a:r>
                      <a:r>
                        <a:rPr dirty="0" sz="1800" spc="21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ontologies</a:t>
                      </a:r>
                      <a:r>
                        <a:rPr dirty="0" sz="1800" spc="21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and </a:t>
                      </a:r>
                      <a:r>
                        <a:rPr dirty="0" sz="1800" spc="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reasoning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148588" y="4853381"/>
            <a:ext cx="8899525" cy="87947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000" spc="125" b="1">
                <a:latin typeface="Cambria"/>
                <a:cs typeface="Cambria"/>
              </a:rPr>
              <a:t>Implementations: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OpenLink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Virtuoso,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AlegroGraph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225">
                <a:latin typeface="Cambria"/>
                <a:cs typeface="Cambria"/>
              </a:rPr>
              <a:t>,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Amazon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Neptune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114" b="1">
                <a:latin typeface="Cambria"/>
                <a:cs typeface="Cambria"/>
              </a:rPr>
              <a:t>Query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languages:</a:t>
            </a:r>
            <a:r>
              <a:rPr dirty="0" sz="2000" spc="195" b="1">
                <a:latin typeface="Cambria"/>
                <a:cs typeface="Cambria"/>
              </a:rPr>
              <a:t> </a:t>
            </a:r>
            <a:r>
              <a:rPr dirty="0" sz="2000" spc="180">
                <a:latin typeface="Cambria"/>
                <a:cs typeface="Cambria"/>
              </a:rPr>
              <a:t>SPARQL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856" y="552450"/>
            <a:ext cx="4628984" cy="4572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98829" y="1599641"/>
            <a:ext cx="9937115" cy="42646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0345" indent="-182245">
              <a:lnSpc>
                <a:spcPts val="2280"/>
              </a:lnSpc>
              <a:spcBef>
                <a:spcPts val="10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20345" algn="l"/>
              </a:tabLst>
            </a:pPr>
            <a:r>
              <a:rPr dirty="0" sz="2000" spc="125" b="1">
                <a:latin typeface="Cambria"/>
                <a:cs typeface="Cambria"/>
              </a:rPr>
              <a:t>Introduction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145" b="1">
                <a:latin typeface="Cambria"/>
                <a:cs typeface="Cambria"/>
              </a:rPr>
              <a:t>to</a:t>
            </a:r>
            <a:r>
              <a:rPr dirty="0" sz="2000" spc="275" b="1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artificial</a:t>
            </a:r>
            <a:r>
              <a:rPr dirty="0" sz="2000" spc="275" b="1">
                <a:latin typeface="Cambria"/>
                <a:cs typeface="Cambria"/>
              </a:rPr>
              <a:t> </a:t>
            </a:r>
            <a:r>
              <a:rPr dirty="0" sz="2000" spc="114" b="1">
                <a:latin typeface="Cambria"/>
                <a:cs typeface="Cambria"/>
              </a:rPr>
              <a:t>intelligence</a:t>
            </a:r>
            <a:r>
              <a:rPr dirty="0" sz="2000" spc="254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(3</a:t>
            </a:r>
            <a:r>
              <a:rPr dirty="0" baseline="25641" sz="1950">
                <a:latin typeface="Cambria"/>
                <a:cs typeface="Cambria"/>
              </a:rPr>
              <a:t>rd</a:t>
            </a:r>
            <a:r>
              <a:rPr dirty="0" baseline="25641" sz="1950" spc="55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sem.)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how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to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write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your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own</a:t>
            </a:r>
            <a:endParaRPr sz="2000">
              <a:latin typeface="Cambria"/>
              <a:cs typeface="Cambria"/>
            </a:endParaRPr>
          </a:p>
          <a:p>
            <a:pPr marL="220979">
              <a:lnSpc>
                <a:spcPts val="2280"/>
              </a:lnSpc>
            </a:pPr>
            <a:r>
              <a:rPr dirty="0" sz="2000" spc="125">
                <a:latin typeface="Cambria"/>
                <a:cs typeface="Cambria"/>
              </a:rPr>
              <a:t>planner?</a:t>
            </a:r>
            <a:endParaRPr sz="2000">
              <a:latin typeface="Cambria"/>
              <a:cs typeface="Cambria"/>
            </a:endParaRPr>
          </a:p>
          <a:p>
            <a:pPr marL="220979" marR="30480" indent="-182880">
              <a:lnSpc>
                <a:spcPts val="2160"/>
              </a:lnSpc>
              <a:spcBef>
                <a:spcPts val="123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20979" algn="l"/>
              </a:tabLst>
            </a:pPr>
            <a:r>
              <a:rPr dirty="0" sz="2000" spc="110" b="1">
                <a:latin typeface="Cambria"/>
                <a:cs typeface="Cambria"/>
              </a:rPr>
              <a:t>Operating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150" b="1">
                <a:latin typeface="Cambria"/>
                <a:cs typeface="Cambria"/>
              </a:rPr>
              <a:t>systems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(3</a:t>
            </a:r>
            <a:r>
              <a:rPr dirty="0" baseline="25641" sz="1950">
                <a:latin typeface="Cambria"/>
                <a:cs typeface="Cambria"/>
              </a:rPr>
              <a:t>rd</a:t>
            </a:r>
            <a:r>
              <a:rPr dirty="0" baseline="25641" sz="1950" spc="532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sem.)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low-</a:t>
            </a:r>
            <a:r>
              <a:rPr dirty="0" sz="2000" spc="55">
                <a:latin typeface="Cambria"/>
                <a:cs typeface="Cambria"/>
              </a:rPr>
              <a:t>level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concurrency,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resource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management, </a:t>
            </a:r>
            <a:r>
              <a:rPr dirty="0" sz="2000">
                <a:latin typeface="Cambria"/>
                <a:cs typeface="Cambria"/>
              </a:rPr>
              <a:t>file</a:t>
            </a:r>
            <a:r>
              <a:rPr dirty="0" sz="2000" spc="38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systems.</a:t>
            </a:r>
            <a:endParaRPr sz="2000">
              <a:latin typeface="Cambria"/>
              <a:cs typeface="Cambria"/>
            </a:endParaRPr>
          </a:p>
          <a:p>
            <a:pPr marL="220345" indent="-182245">
              <a:lnSpc>
                <a:spcPct val="100000"/>
              </a:lnSpc>
              <a:spcBef>
                <a:spcPts val="93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20345" algn="l"/>
              </a:tabLst>
            </a:pPr>
            <a:r>
              <a:rPr dirty="0" sz="2000" spc="125" b="1">
                <a:latin typeface="Cambria"/>
                <a:cs typeface="Cambria"/>
              </a:rPr>
              <a:t>Team</a:t>
            </a:r>
            <a:r>
              <a:rPr dirty="0" sz="2000" spc="275" b="1">
                <a:latin typeface="Cambria"/>
                <a:cs typeface="Cambria"/>
              </a:rPr>
              <a:t> </a:t>
            </a:r>
            <a:r>
              <a:rPr dirty="0" sz="2000" spc="110" b="1">
                <a:latin typeface="Cambria"/>
                <a:cs typeface="Cambria"/>
              </a:rPr>
              <a:t>project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(2</a:t>
            </a:r>
            <a:r>
              <a:rPr dirty="0" baseline="25641" sz="1950">
                <a:latin typeface="Cambria"/>
                <a:cs typeface="Cambria"/>
              </a:rPr>
              <a:t>nd</a:t>
            </a:r>
            <a:r>
              <a:rPr dirty="0" baseline="25641" sz="1950" spc="6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year)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5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practice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75">
                <a:solidFill>
                  <a:srgbClr val="7E7E7E"/>
                </a:solidFill>
                <a:latin typeface="Cambria"/>
                <a:cs typeface="Cambria"/>
              </a:rPr>
              <a:t>(possibly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85">
                <a:solidFill>
                  <a:srgbClr val="7E7E7E"/>
                </a:solidFill>
                <a:latin typeface="Cambria"/>
                <a:cs typeface="Cambria"/>
              </a:rPr>
              <a:t>with</a:t>
            </a:r>
            <a:r>
              <a:rPr dirty="0" sz="2000" spc="26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DBs)</a:t>
            </a:r>
            <a:endParaRPr sz="2000">
              <a:latin typeface="Cambria"/>
              <a:cs typeface="Cambria"/>
            </a:endParaRPr>
          </a:p>
          <a:p>
            <a:pPr marL="2203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20345" algn="l"/>
              </a:tabLst>
            </a:pPr>
            <a:r>
              <a:rPr dirty="0" sz="2000" spc="135" b="1">
                <a:latin typeface="Cambria"/>
                <a:cs typeface="Cambria"/>
              </a:rPr>
              <a:t>Concurrency</a:t>
            </a:r>
            <a:r>
              <a:rPr dirty="0" sz="2000" spc="25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(4</a:t>
            </a:r>
            <a:r>
              <a:rPr dirty="0" baseline="25641" sz="1950">
                <a:latin typeface="Cambria"/>
                <a:cs typeface="Cambria"/>
              </a:rPr>
              <a:t>th</a:t>
            </a:r>
            <a:r>
              <a:rPr dirty="0" baseline="25641" sz="1950" spc="532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sem.)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math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models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concurrency.</a:t>
            </a:r>
            <a:endParaRPr sz="2000">
              <a:latin typeface="Cambria"/>
              <a:cs typeface="Cambria"/>
            </a:endParaRPr>
          </a:p>
          <a:p>
            <a:pPr marL="220979" marR="1301115" indent="-182880">
              <a:lnSpc>
                <a:spcPts val="2160"/>
              </a:lnSpc>
              <a:spcBef>
                <a:spcPts val="12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20979" algn="l"/>
              </a:tabLst>
            </a:pPr>
            <a:r>
              <a:rPr dirty="0" sz="2000" spc="120" b="1">
                <a:latin typeface="Cambria"/>
                <a:cs typeface="Cambria"/>
              </a:rPr>
              <a:t>Introduction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145" b="1">
                <a:latin typeface="Cambria"/>
                <a:cs typeface="Cambria"/>
              </a:rPr>
              <a:t>to</a:t>
            </a:r>
            <a:r>
              <a:rPr dirty="0" sz="2000" spc="275" b="1">
                <a:latin typeface="Cambria"/>
                <a:cs typeface="Cambria"/>
              </a:rPr>
              <a:t> </a:t>
            </a:r>
            <a:r>
              <a:rPr dirty="0" sz="2000" spc="95" b="1">
                <a:latin typeface="Cambria"/>
                <a:cs typeface="Cambria"/>
              </a:rPr>
              <a:t>networking</a:t>
            </a:r>
            <a:r>
              <a:rPr dirty="0" sz="2000" spc="26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(4</a:t>
            </a:r>
            <a:r>
              <a:rPr dirty="0" baseline="25641" sz="1950">
                <a:latin typeface="Cambria"/>
                <a:cs typeface="Cambria"/>
              </a:rPr>
              <a:t>th</a:t>
            </a:r>
            <a:r>
              <a:rPr dirty="0" baseline="25641" sz="1950" spc="577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sem.)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interactions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distributed </a:t>
            </a:r>
            <a:r>
              <a:rPr dirty="0" sz="2000" spc="114">
                <a:latin typeface="Cambria"/>
                <a:cs typeface="Cambria"/>
              </a:rPr>
              <a:t>applications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30">
                <a:solidFill>
                  <a:srgbClr val="7E7E7E"/>
                </a:solidFill>
                <a:latin typeface="Cambria"/>
                <a:cs typeface="Cambria"/>
              </a:rPr>
              <a:t>(DBs: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55">
                <a:solidFill>
                  <a:srgbClr val="7E7E7E"/>
                </a:solidFill>
                <a:latin typeface="Cambria"/>
                <a:cs typeface="Cambria"/>
              </a:rPr>
              <a:t>main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45">
                <a:solidFill>
                  <a:srgbClr val="7E7E7E"/>
                </a:solidFill>
                <a:latin typeface="Cambria"/>
                <a:cs typeface="Cambria"/>
              </a:rPr>
              <a:t>app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–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245">
                <a:solidFill>
                  <a:srgbClr val="7E7E7E"/>
                </a:solidFill>
                <a:latin typeface="Cambria"/>
                <a:cs typeface="Cambria"/>
              </a:rPr>
              <a:t>DB,</a:t>
            </a:r>
            <a:r>
              <a:rPr dirty="0" sz="2000" spc="18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5">
                <a:solidFill>
                  <a:srgbClr val="7E7E7E"/>
                </a:solidFill>
                <a:latin typeface="Cambria"/>
                <a:cs typeface="Cambria"/>
              </a:rPr>
              <a:t>distributed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85">
                <a:solidFill>
                  <a:srgbClr val="7E7E7E"/>
                </a:solidFill>
                <a:latin typeface="Cambria"/>
                <a:cs typeface="Cambria"/>
              </a:rPr>
              <a:t>DB)</a:t>
            </a:r>
            <a:endParaRPr sz="2000">
              <a:latin typeface="Cambria"/>
              <a:cs typeface="Cambria"/>
            </a:endParaRPr>
          </a:p>
          <a:p>
            <a:pPr marL="220979" marR="91440" indent="-182880">
              <a:lnSpc>
                <a:spcPts val="2160"/>
              </a:lnSpc>
              <a:spcBef>
                <a:spcPts val="120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20979" algn="l"/>
              </a:tabLst>
            </a:pPr>
            <a:r>
              <a:rPr dirty="0" sz="2000" spc="120" b="1">
                <a:latin typeface="Cambria"/>
                <a:cs typeface="Cambria"/>
              </a:rPr>
              <a:t>Data</a:t>
            </a:r>
            <a:r>
              <a:rPr dirty="0" sz="2000" spc="265" b="1">
                <a:latin typeface="Cambria"/>
                <a:cs typeface="Cambria"/>
              </a:rPr>
              <a:t> </a:t>
            </a:r>
            <a:r>
              <a:rPr dirty="0" sz="2000" spc="105" b="1">
                <a:latin typeface="Cambria"/>
                <a:cs typeface="Cambria"/>
              </a:rPr>
              <a:t>processing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 spc="95" b="1">
                <a:latin typeface="Cambria"/>
                <a:cs typeface="Cambria"/>
              </a:rPr>
              <a:t>and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 spc="95" b="1">
                <a:latin typeface="Cambria"/>
                <a:cs typeface="Cambria"/>
              </a:rPr>
              <a:t>storage</a:t>
            </a:r>
            <a:r>
              <a:rPr dirty="0" sz="2000" spc="27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(3</a:t>
            </a:r>
            <a:r>
              <a:rPr dirty="0" baseline="25641" sz="1950">
                <a:latin typeface="Cambria"/>
                <a:cs typeface="Cambria"/>
              </a:rPr>
              <a:t>rd</a:t>
            </a:r>
            <a:r>
              <a:rPr dirty="0" baseline="25641" sz="1950" spc="562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year)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various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topics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about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225">
                <a:latin typeface="Cambria"/>
                <a:cs typeface="Cambria"/>
              </a:rPr>
              <a:t>DBs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high- </a:t>
            </a:r>
            <a:r>
              <a:rPr dirty="0" sz="2000" spc="55">
                <a:latin typeface="Cambria"/>
                <a:cs typeface="Cambria"/>
              </a:rPr>
              <a:t>level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concurrency</a:t>
            </a:r>
            <a:endParaRPr sz="2000">
              <a:latin typeface="Cambria"/>
              <a:cs typeface="Cambria"/>
            </a:endParaRPr>
          </a:p>
          <a:p>
            <a:pPr marL="220345" indent="-182245">
              <a:lnSpc>
                <a:spcPts val="2280"/>
              </a:lnSpc>
              <a:spcBef>
                <a:spcPts val="93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20345" algn="l"/>
              </a:tabLst>
            </a:pPr>
            <a:r>
              <a:rPr dirty="0" sz="2000" spc="110" b="1">
                <a:latin typeface="Cambria"/>
                <a:cs typeface="Cambria"/>
              </a:rPr>
              <a:t>Software</a:t>
            </a:r>
            <a:r>
              <a:rPr dirty="0" sz="2000" spc="265" b="1">
                <a:latin typeface="Cambria"/>
                <a:cs typeface="Cambria"/>
              </a:rPr>
              <a:t> </a:t>
            </a:r>
            <a:r>
              <a:rPr dirty="0" sz="2000" spc="105" b="1">
                <a:latin typeface="Cambria"/>
                <a:cs typeface="Cambria"/>
              </a:rPr>
              <a:t>design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(3</a:t>
            </a:r>
            <a:r>
              <a:rPr dirty="0" baseline="25641" sz="1950">
                <a:latin typeface="Cambria"/>
                <a:cs typeface="Cambria"/>
              </a:rPr>
              <a:t>rd</a:t>
            </a:r>
            <a:r>
              <a:rPr dirty="0" baseline="25641" sz="1950" spc="569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year)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application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design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development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60">
                <a:solidFill>
                  <a:srgbClr val="7E7E7E"/>
                </a:solidFill>
                <a:latin typeface="Cambria"/>
                <a:cs typeface="Cambria"/>
              </a:rPr>
              <a:t>(possibly</a:t>
            </a:r>
            <a:endParaRPr sz="2000">
              <a:latin typeface="Cambria"/>
              <a:cs typeface="Cambria"/>
            </a:endParaRPr>
          </a:p>
          <a:p>
            <a:pPr marL="220979">
              <a:lnSpc>
                <a:spcPts val="2280"/>
              </a:lnSpc>
            </a:pPr>
            <a:r>
              <a:rPr dirty="0" sz="2000" spc="85">
                <a:solidFill>
                  <a:srgbClr val="7E7E7E"/>
                </a:solidFill>
                <a:latin typeface="Cambria"/>
                <a:cs typeface="Cambria"/>
              </a:rPr>
              <a:t>with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DBs)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shadow</dc:creator>
  <dc:title>Declarative Programming:  Query Languages</dc:title>
  <dcterms:created xsi:type="dcterms:W3CDTF">2025-05-22T11:41:52Z</dcterms:created>
  <dcterms:modified xsi:type="dcterms:W3CDTF">2025-05-22T11:41:52Z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2025-05-22T00:00:00Z</vt:filetime>
  </property>
  <property fmtid="{D5CDD505-2E9C-101B-9397-08002B2CF9AE}" pid="5" name="Producer">
    <vt:lpwstr>Microsoft® PowerPoint® 2019</vt:lpwstr>
  </property>
</Properties>
</file>