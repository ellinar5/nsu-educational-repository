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133" y="1028700"/>
            <a:ext cx="6847471" cy="5756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8588" y="3392804"/>
            <a:ext cx="8161655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38" y="1346923"/>
            <a:ext cx="10222992" cy="8068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20838" y="1484757"/>
            <a:ext cx="10223500" cy="3665220"/>
            <a:chOff x="920838" y="1484757"/>
            <a:chExt cx="10223500" cy="366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38" y="4282782"/>
              <a:ext cx="10222992" cy="8068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838" y="1484757"/>
              <a:ext cx="10222992" cy="366509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757283" y="4177030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0" y="432308"/>
                  </a:moveTo>
                  <a:lnTo>
                    <a:pt x="2536" y="385202"/>
                  </a:lnTo>
                  <a:lnTo>
                    <a:pt x="9971" y="339566"/>
                  </a:lnTo>
                  <a:lnTo>
                    <a:pt x="22040" y="295664"/>
                  </a:lnTo>
                  <a:lnTo>
                    <a:pt x="38479" y="253758"/>
                  </a:lnTo>
                  <a:lnTo>
                    <a:pt x="59026" y="214112"/>
                  </a:lnTo>
                  <a:lnTo>
                    <a:pt x="83417" y="176991"/>
                  </a:lnTo>
                  <a:lnTo>
                    <a:pt x="111388" y="142657"/>
                  </a:lnTo>
                  <a:lnTo>
                    <a:pt x="142677" y="111376"/>
                  </a:lnTo>
                  <a:lnTo>
                    <a:pt x="177018" y="83409"/>
                  </a:lnTo>
                  <a:lnTo>
                    <a:pt x="214150" y="59022"/>
                  </a:lnTo>
                  <a:lnTo>
                    <a:pt x="253808" y="38477"/>
                  </a:lnTo>
                  <a:lnTo>
                    <a:pt x="295729" y="22039"/>
                  </a:lnTo>
                  <a:lnTo>
                    <a:pt x="339649" y="9970"/>
                  </a:lnTo>
                  <a:lnTo>
                    <a:pt x="385306" y="2536"/>
                  </a:lnTo>
                  <a:lnTo>
                    <a:pt x="432435" y="0"/>
                  </a:lnTo>
                  <a:lnTo>
                    <a:pt x="479540" y="2536"/>
                  </a:lnTo>
                  <a:lnTo>
                    <a:pt x="525176" y="9970"/>
                  </a:lnTo>
                  <a:lnTo>
                    <a:pt x="569078" y="22039"/>
                  </a:lnTo>
                  <a:lnTo>
                    <a:pt x="610984" y="38477"/>
                  </a:lnTo>
                  <a:lnTo>
                    <a:pt x="650630" y="59022"/>
                  </a:lnTo>
                  <a:lnTo>
                    <a:pt x="687751" y="83409"/>
                  </a:lnTo>
                  <a:lnTo>
                    <a:pt x="722085" y="111376"/>
                  </a:lnTo>
                  <a:lnTo>
                    <a:pt x="753366" y="142657"/>
                  </a:lnTo>
                  <a:lnTo>
                    <a:pt x="781333" y="176991"/>
                  </a:lnTo>
                  <a:lnTo>
                    <a:pt x="805720" y="214112"/>
                  </a:lnTo>
                  <a:lnTo>
                    <a:pt x="826265" y="253758"/>
                  </a:lnTo>
                  <a:lnTo>
                    <a:pt x="842703" y="295664"/>
                  </a:lnTo>
                  <a:lnTo>
                    <a:pt x="854772" y="339566"/>
                  </a:lnTo>
                  <a:lnTo>
                    <a:pt x="862206" y="385202"/>
                  </a:lnTo>
                  <a:lnTo>
                    <a:pt x="864743" y="432308"/>
                  </a:lnTo>
                  <a:lnTo>
                    <a:pt x="862206" y="479414"/>
                  </a:lnTo>
                  <a:lnTo>
                    <a:pt x="854772" y="525055"/>
                  </a:lnTo>
                  <a:lnTo>
                    <a:pt x="842703" y="568965"/>
                  </a:lnTo>
                  <a:lnTo>
                    <a:pt x="826265" y="610880"/>
                  </a:lnTo>
                  <a:lnTo>
                    <a:pt x="805720" y="650536"/>
                  </a:lnTo>
                  <a:lnTo>
                    <a:pt x="781333" y="687669"/>
                  </a:lnTo>
                  <a:lnTo>
                    <a:pt x="753366" y="722015"/>
                  </a:lnTo>
                  <a:lnTo>
                    <a:pt x="722085" y="753309"/>
                  </a:lnTo>
                  <a:lnTo>
                    <a:pt x="687751" y="781288"/>
                  </a:lnTo>
                  <a:lnTo>
                    <a:pt x="650630" y="805688"/>
                  </a:lnTo>
                  <a:lnTo>
                    <a:pt x="610984" y="826243"/>
                  </a:lnTo>
                  <a:lnTo>
                    <a:pt x="569078" y="842690"/>
                  </a:lnTo>
                  <a:lnTo>
                    <a:pt x="525176" y="854765"/>
                  </a:lnTo>
                  <a:lnTo>
                    <a:pt x="479540" y="862204"/>
                  </a:lnTo>
                  <a:lnTo>
                    <a:pt x="432435" y="864743"/>
                  </a:lnTo>
                  <a:lnTo>
                    <a:pt x="385306" y="862204"/>
                  </a:lnTo>
                  <a:lnTo>
                    <a:pt x="339649" y="854765"/>
                  </a:lnTo>
                  <a:lnTo>
                    <a:pt x="295729" y="842690"/>
                  </a:lnTo>
                  <a:lnTo>
                    <a:pt x="253808" y="826243"/>
                  </a:lnTo>
                  <a:lnTo>
                    <a:pt x="214150" y="805688"/>
                  </a:lnTo>
                  <a:lnTo>
                    <a:pt x="177018" y="781288"/>
                  </a:lnTo>
                  <a:lnTo>
                    <a:pt x="142677" y="753309"/>
                  </a:lnTo>
                  <a:lnTo>
                    <a:pt x="111388" y="722015"/>
                  </a:lnTo>
                  <a:lnTo>
                    <a:pt x="83417" y="687669"/>
                  </a:lnTo>
                  <a:lnTo>
                    <a:pt x="59026" y="650536"/>
                  </a:lnTo>
                  <a:lnTo>
                    <a:pt x="38479" y="610880"/>
                  </a:lnTo>
                  <a:lnTo>
                    <a:pt x="22040" y="568965"/>
                  </a:lnTo>
                  <a:lnTo>
                    <a:pt x="9971" y="525055"/>
                  </a:lnTo>
                  <a:lnTo>
                    <a:pt x="2536" y="479414"/>
                  </a:lnTo>
                  <a:lnTo>
                    <a:pt x="0" y="4323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5098" y="2530983"/>
              <a:ext cx="5517896" cy="87604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 b="1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dirty="0" sz="2000" spc="225" b="1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dirty="0" sz="2000" spc="125" b="1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90"/>
              <a:t>How</a:t>
            </a:r>
            <a:r>
              <a:rPr dirty="0" spc="210"/>
              <a:t> </a:t>
            </a:r>
            <a:r>
              <a:rPr dirty="0" spc="160"/>
              <a:t>many</a:t>
            </a:r>
            <a:r>
              <a:rPr dirty="0" spc="229"/>
              <a:t> </a:t>
            </a:r>
            <a:r>
              <a:rPr dirty="0" spc="75"/>
              <a:t>different</a:t>
            </a:r>
            <a:r>
              <a:rPr dirty="0" spc="185"/>
              <a:t> </a:t>
            </a:r>
            <a:r>
              <a:rPr dirty="0" spc="110"/>
              <a:t>material</a:t>
            </a:r>
            <a:r>
              <a:rPr dirty="0" spc="195"/>
              <a:t> </a:t>
            </a:r>
            <a:r>
              <a:rPr dirty="0" spc="100"/>
              <a:t>types</a:t>
            </a:r>
            <a:r>
              <a:rPr dirty="0" spc="185"/>
              <a:t> </a:t>
            </a:r>
            <a:r>
              <a:rPr dirty="0" spc="100"/>
              <a:t>are</a:t>
            </a:r>
            <a:r>
              <a:rPr dirty="0" spc="220"/>
              <a:t> </a:t>
            </a:r>
            <a:r>
              <a:rPr dirty="0" spc="85"/>
              <a:t>required</a:t>
            </a:r>
            <a:r>
              <a:rPr dirty="0" spc="180"/>
              <a:t> </a:t>
            </a:r>
            <a:r>
              <a:rPr dirty="0"/>
              <a:t>for</a:t>
            </a:r>
            <a:r>
              <a:rPr dirty="0" spc="220"/>
              <a:t> </a:t>
            </a:r>
            <a:r>
              <a:rPr dirty="0" spc="155"/>
              <a:t>each</a:t>
            </a:r>
            <a:r>
              <a:rPr dirty="0" spc="195"/>
              <a:t> </a:t>
            </a:r>
            <a:r>
              <a:rPr dirty="0" spc="120"/>
              <a:t>product?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709" y="1037082"/>
            <a:ext cx="2964238" cy="4598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34997"/>
            <a:ext cx="5360035" cy="366712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CLASS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CLASS;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dirty="0" sz="2000">
                <a:latin typeface="Courier New"/>
                <a:cs typeface="Courier New"/>
              </a:rPr>
              <a:t>&gt;&gt;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 spc="-20">
                <a:latin typeface="Courier New"/>
                <a:cs typeface="Courier New"/>
              </a:rPr>
              <a:t>Fuel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160"/>
              </a:lnSpc>
            </a:pPr>
            <a:r>
              <a:rPr dirty="0" sz="2000" spc="-10">
                <a:latin typeface="Courier New"/>
                <a:cs typeface="Courier New"/>
              </a:rPr>
              <a:t>Mineral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280"/>
              </a:lnSpc>
            </a:pPr>
            <a:r>
              <a:rPr dirty="0" sz="2000" spc="-5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105">
                <a:latin typeface="Cambria"/>
                <a:cs typeface="Cambria"/>
              </a:rPr>
              <a:t>Works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same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CLASS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000" spc="114">
                <a:latin typeface="Cambria"/>
                <a:cs typeface="Cambria"/>
              </a:rPr>
              <a:t>Looks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very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useful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yet…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709" y="1037082"/>
            <a:ext cx="6426131" cy="5673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34997"/>
            <a:ext cx="3378835" cy="140017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CLASS,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COUNT(*)</a:t>
            </a:r>
            <a:endParaRPr sz="2000">
              <a:latin typeface="Courier New"/>
              <a:cs typeface="Courier New"/>
            </a:endParaRPr>
          </a:p>
          <a:p>
            <a:pPr marL="12700" marR="107188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CATEGORY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CLASS;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930777"/>
            <a:ext cx="1550035" cy="1032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dirty="0" sz="2000">
                <a:latin typeface="Courier New"/>
                <a:cs typeface="Courier New"/>
              </a:rPr>
              <a:t>&gt;&gt;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 spc="-20">
                <a:latin typeface="Courier New"/>
                <a:cs typeface="Courier New"/>
              </a:rPr>
              <a:t>Fuel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280"/>
              </a:lnSpc>
            </a:pPr>
            <a:r>
              <a:rPr dirty="0" sz="2000" spc="-10">
                <a:latin typeface="Courier New"/>
                <a:cs typeface="Courier New"/>
              </a:rPr>
              <a:t>Mineral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965"/>
              </a:spcBef>
            </a:pPr>
            <a:r>
              <a:rPr dirty="0" sz="2000" spc="-5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82188" y="3930777"/>
            <a:ext cx="179070" cy="60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dirty="0" sz="2000" spc="-5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 spc="-5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6918947" cy="468249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90193" y="3079750"/>
          <a:ext cx="2591435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1585"/>
                <a:gridCol w="1251585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5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Mineral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Water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Grain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Mineral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Gold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5">
                          <a:latin typeface="Cambria"/>
                          <a:cs typeface="Cambria"/>
                        </a:rPr>
                        <a:t>ore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808473" y="3079750"/>
          <a:ext cx="2591435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1585"/>
                <a:gridCol w="1251585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10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05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3702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Grain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Mineral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70">
                          <a:latin typeface="Cambria"/>
                          <a:cs typeface="Cambria"/>
                        </a:rPr>
                        <a:t>Water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</a:tr>
              <a:tr h="3702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Gold</a:t>
                      </a:r>
                      <a:r>
                        <a:rPr dirty="0" sz="1800" spc="1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25">
                          <a:latin typeface="Cambria"/>
                          <a:cs typeface="Cambria"/>
                        </a:rPr>
                        <a:t>ore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399028" y="3975100"/>
            <a:ext cx="1416050" cy="76200"/>
          </a:xfrm>
          <a:custGeom>
            <a:avLst/>
            <a:gdLst/>
            <a:ahLst/>
            <a:cxnLst/>
            <a:rect l="l" t="t" r="r" b="b"/>
            <a:pathLst>
              <a:path w="1416050" h="76200">
                <a:moveTo>
                  <a:pt x="1339596" y="0"/>
                </a:moveTo>
                <a:lnTo>
                  <a:pt x="1339596" y="76200"/>
                </a:lnTo>
                <a:lnTo>
                  <a:pt x="1390396" y="50800"/>
                </a:lnTo>
                <a:lnTo>
                  <a:pt x="1352296" y="50800"/>
                </a:lnTo>
                <a:lnTo>
                  <a:pt x="1352296" y="25400"/>
                </a:lnTo>
                <a:lnTo>
                  <a:pt x="1390396" y="25400"/>
                </a:lnTo>
                <a:lnTo>
                  <a:pt x="1339596" y="0"/>
                </a:lnTo>
                <a:close/>
              </a:path>
              <a:path w="1416050" h="76200">
                <a:moveTo>
                  <a:pt x="1339596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339596" y="50800"/>
                </a:lnTo>
                <a:lnTo>
                  <a:pt x="1339596" y="25400"/>
                </a:lnTo>
                <a:close/>
              </a:path>
              <a:path w="1416050" h="76200">
                <a:moveTo>
                  <a:pt x="1390396" y="25400"/>
                </a:moveTo>
                <a:lnTo>
                  <a:pt x="1352296" y="25400"/>
                </a:lnTo>
                <a:lnTo>
                  <a:pt x="1352296" y="50800"/>
                </a:lnTo>
                <a:lnTo>
                  <a:pt x="1390396" y="50800"/>
                </a:lnTo>
                <a:lnTo>
                  <a:pt x="1415796" y="38100"/>
                </a:lnTo>
                <a:lnTo>
                  <a:pt x="1390396" y="25400"/>
                </a:lnTo>
                <a:close/>
              </a:path>
            </a:pathLst>
          </a:custGeom>
          <a:solidFill>
            <a:srgbClr val="6E8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478148" y="3538220"/>
            <a:ext cx="11969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30">
                <a:solidFill>
                  <a:srgbClr val="006FC0"/>
                </a:solidFill>
                <a:latin typeface="Cambria"/>
                <a:cs typeface="Cambria"/>
              </a:rPr>
              <a:t>Grouping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65801" y="2675001"/>
            <a:ext cx="1615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C00000"/>
                </a:solidFill>
                <a:latin typeface="Cambria"/>
                <a:cs typeface="Cambria"/>
              </a:rPr>
              <a:t>Not</a:t>
            </a:r>
            <a:r>
              <a:rPr dirty="0" sz="1800" spc="195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800" spc="165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dirty="0" sz="1800" spc="18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dirty="0" sz="1800" spc="65">
                <a:solidFill>
                  <a:srgbClr val="C00000"/>
                </a:solidFill>
                <a:latin typeface="Cambria"/>
                <a:cs typeface="Cambria"/>
              </a:rPr>
              <a:t>relation!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9100693" y="3450590"/>
          <a:ext cx="2591435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1585"/>
                <a:gridCol w="1251585"/>
              </a:tblGrid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204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5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COUNT()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80">
                          <a:latin typeface="Cambria"/>
                          <a:cs typeface="Cambria"/>
                        </a:rPr>
                        <a:t>Food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Mineral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7317358" y="3975100"/>
            <a:ext cx="1790064" cy="76200"/>
          </a:xfrm>
          <a:custGeom>
            <a:avLst/>
            <a:gdLst/>
            <a:ahLst/>
            <a:cxnLst/>
            <a:rect l="l" t="t" r="r" b="b"/>
            <a:pathLst>
              <a:path w="1790065" h="76200">
                <a:moveTo>
                  <a:pt x="1713484" y="0"/>
                </a:moveTo>
                <a:lnTo>
                  <a:pt x="1713484" y="76200"/>
                </a:lnTo>
                <a:lnTo>
                  <a:pt x="1764284" y="50800"/>
                </a:lnTo>
                <a:lnTo>
                  <a:pt x="1726184" y="50800"/>
                </a:lnTo>
                <a:lnTo>
                  <a:pt x="1726184" y="25400"/>
                </a:lnTo>
                <a:lnTo>
                  <a:pt x="1764284" y="25400"/>
                </a:lnTo>
                <a:lnTo>
                  <a:pt x="1713484" y="0"/>
                </a:lnTo>
                <a:close/>
              </a:path>
              <a:path w="1790065" h="76200">
                <a:moveTo>
                  <a:pt x="171348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713484" y="50800"/>
                </a:lnTo>
                <a:lnTo>
                  <a:pt x="1713484" y="25400"/>
                </a:lnTo>
                <a:close/>
              </a:path>
              <a:path w="1790065" h="76200">
                <a:moveTo>
                  <a:pt x="1764284" y="25400"/>
                </a:moveTo>
                <a:lnTo>
                  <a:pt x="1726184" y="25400"/>
                </a:lnTo>
                <a:lnTo>
                  <a:pt x="1726184" y="50800"/>
                </a:lnTo>
                <a:lnTo>
                  <a:pt x="1764284" y="50800"/>
                </a:lnTo>
                <a:lnTo>
                  <a:pt x="1789684" y="38100"/>
                </a:lnTo>
                <a:lnTo>
                  <a:pt x="1764284" y="25400"/>
                </a:lnTo>
                <a:close/>
              </a:path>
            </a:pathLst>
          </a:custGeom>
          <a:solidFill>
            <a:srgbClr val="6E81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467981" y="3251073"/>
            <a:ext cx="1545590" cy="637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85">
                <a:solidFill>
                  <a:srgbClr val="006FC0"/>
                </a:solidFill>
                <a:latin typeface="Cambria"/>
                <a:cs typeface="Cambria"/>
              </a:rPr>
              <a:t>Projection</a:t>
            </a:r>
            <a:r>
              <a:rPr dirty="0" sz="2000" spc="19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&amp;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000" spc="85">
                <a:solidFill>
                  <a:srgbClr val="006FC0"/>
                </a:solidFill>
                <a:latin typeface="Cambria"/>
                <a:cs typeface="Cambria"/>
              </a:rPr>
              <a:t>aggregation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6991172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088006"/>
            <a:ext cx="9663430" cy="393636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95580" marR="342900" indent="-183515">
              <a:lnSpc>
                <a:spcPct val="80000"/>
              </a:lnSpc>
              <a:spcBef>
                <a:spcPts val="550"/>
              </a:spcBef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dirty="0" sz="1900" spc="140">
                <a:latin typeface="Cambria"/>
                <a:cs typeface="Cambria"/>
              </a:rPr>
              <a:t>Using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aggregation</a:t>
            </a:r>
            <a:r>
              <a:rPr dirty="0" sz="1900" spc="229">
                <a:latin typeface="Cambria"/>
                <a:cs typeface="Cambria"/>
              </a:rPr>
              <a:t> </a:t>
            </a:r>
            <a:r>
              <a:rPr dirty="0" sz="1900" spc="120">
                <a:latin typeface="Cambria"/>
                <a:cs typeface="Cambria"/>
              </a:rPr>
              <a:t>functions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40">
                <a:latin typeface="Cambria"/>
                <a:cs typeface="Cambria"/>
              </a:rPr>
              <a:t>(COUNT,</a:t>
            </a:r>
            <a:r>
              <a:rPr dirty="0" sz="1900" spc="240">
                <a:latin typeface="Cambria"/>
                <a:cs typeface="Cambria"/>
              </a:rPr>
              <a:t> </a:t>
            </a:r>
            <a:r>
              <a:rPr dirty="0" sz="1900" spc="70">
                <a:latin typeface="Cambria"/>
                <a:cs typeface="Cambria"/>
              </a:rPr>
              <a:t>etc.)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95" b="1">
                <a:latin typeface="Cambria"/>
                <a:cs typeface="Cambria"/>
              </a:rPr>
              <a:t>without</a:t>
            </a:r>
            <a:r>
              <a:rPr dirty="0" sz="1900" spc="225" b="1">
                <a:latin typeface="Cambria"/>
                <a:cs typeface="Cambria"/>
              </a:rPr>
              <a:t> </a:t>
            </a:r>
            <a:r>
              <a:rPr dirty="0" sz="1900" spc="229">
                <a:latin typeface="Cambria"/>
                <a:cs typeface="Cambria"/>
              </a:rPr>
              <a:t>GROUP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75">
                <a:latin typeface="Cambria"/>
                <a:cs typeface="Cambria"/>
              </a:rPr>
              <a:t>BY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is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14">
                <a:latin typeface="Cambria"/>
                <a:cs typeface="Cambria"/>
              </a:rPr>
              <a:t>turning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the aggregation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00">
                <a:latin typeface="Cambria"/>
                <a:cs typeface="Cambria"/>
              </a:rPr>
              <a:t>mode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on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150">
                <a:latin typeface="Cambria"/>
                <a:cs typeface="Cambria"/>
              </a:rPr>
              <a:t>and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160">
                <a:latin typeface="Cambria"/>
                <a:cs typeface="Cambria"/>
              </a:rPr>
              <a:t>causes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10">
                <a:latin typeface="Cambria"/>
                <a:cs typeface="Cambria"/>
              </a:rPr>
              <a:t>the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80">
                <a:latin typeface="Cambria"/>
                <a:cs typeface="Cambria"/>
              </a:rPr>
              <a:t>query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60">
                <a:latin typeface="Cambria"/>
                <a:cs typeface="Cambria"/>
              </a:rPr>
              <a:t>to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00">
                <a:latin typeface="Cambria"/>
                <a:cs typeface="Cambria"/>
              </a:rPr>
              <a:t>produce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10">
                <a:latin typeface="Cambria"/>
                <a:cs typeface="Cambria"/>
              </a:rPr>
              <a:t>the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single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group.</a:t>
            </a:r>
            <a:endParaRPr sz="1900">
              <a:latin typeface="Cambria"/>
              <a:cs typeface="Cambria"/>
            </a:endParaRPr>
          </a:p>
          <a:p>
            <a:pPr marL="195580">
              <a:lnSpc>
                <a:spcPts val="1595"/>
              </a:lnSpc>
            </a:pPr>
            <a:r>
              <a:rPr dirty="0" sz="1900" spc="105">
                <a:latin typeface="Cambria"/>
                <a:cs typeface="Cambria"/>
              </a:rPr>
              <a:t>This</a:t>
            </a:r>
            <a:r>
              <a:rPr dirty="0" sz="1900" spc="235">
                <a:latin typeface="Cambria"/>
                <a:cs typeface="Cambria"/>
              </a:rPr>
              <a:t> </a:t>
            </a:r>
            <a:r>
              <a:rPr dirty="0" sz="1900" spc="95">
                <a:latin typeface="Cambria"/>
                <a:cs typeface="Cambria"/>
              </a:rPr>
              <a:t>group</a:t>
            </a:r>
            <a:r>
              <a:rPr dirty="0" sz="1900" spc="240">
                <a:latin typeface="Cambria"/>
                <a:cs typeface="Cambria"/>
              </a:rPr>
              <a:t> </a:t>
            </a:r>
            <a:r>
              <a:rPr dirty="0" sz="1900">
                <a:latin typeface="Cambria"/>
                <a:cs typeface="Cambria"/>
              </a:rPr>
              <a:t>will</a:t>
            </a:r>
            <a:r>
              <a:rPr dirty="0" sz="1900" spc="254">
                <a:latin typeface="Cambria"/>
                <a:cs typeface="Cambria"/>
              </a:rPr>
              <a:t> </a:t>
            </a:r>
            <a:r>
              <a:rPr dirty="0" sz="1900" spc="100">
                <a:latin typeface="Cambria"/>
                <a:cs typeface="Cambria"/>
              </a:rPr>
              <a:t>produce</a:t>
            </a:r>
            <a:r>
              <a:rPr dirty="0" sz="1900" spc="240">
                <a:latin typeface="Cambria"/>
                <a:cs typeface="Cambria"/>
              </a:rPr>
              <a:t> </a:t>
            </a:r>
            <a:r>
              <a:rPr dirty="0" sz="1900" spc="110">
                <a:latin typeface="Cambria"/>
                <a:cs typeface="Cambria"/>
              </a:rPr>
              <a:t>the</a:t>
            </a:r>
            <a:r>
              <a:rPr dirty="0" sz="1900" spc="229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single</a:t>
            </a:r>
            <a:r>
              <a:rPr dirty="0" sz="1900" spc="250">
                <a:latin typeface="Cambria"/>
                <a:cs typeface="Cambria"/>
              </a:rPr>
              <a:t> </a:t>
            </a:r>
            <a:r>
              <a:rPr dirty="0" sz="1900">
                <a:latin typeface="Cambria"/>
                <a:cs typeface="Cambria"/>
              </a:rPr>
              <a:t>row</a:t>
            </a:r>
            <a:r>
              <a:rPr dirty="0" sz="1900" spc="235">
                <a:latin typeface="Cambria"/>
                <a:cs typeface="Cambria"/>
              </a:rPr>
              <a:t> </a:t>
            </a:r>
            <a:r>
              <a:rPr dirty="0" sz="1900" spc="75">
                <a:latin typeface="Cambria"/>
                <a:cs typeface="Cambria"/>
              </a:rPr>
              <a:t>after</a:t>
            </a:r>
            <a:r>
              <a:rPr dirty="0" sz="1900" spc="245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aggregation.</a:t>
            </a:r>
            <a:endParaRPr sz="1900">
              <a:latin typeface="Cambria"/>
              <a:cs typeface="Cambria"/>
            </a:endParaRPr>
          </a:p>
          <a:p>
            <a:pPr marL="195580">
              <a:lnSpc>
                <a:spcPts val="1825"/>
              </a:lnSpc>
            </a:pPr>
            <a:r>
              <a:rPr dirty="0" sz="1900" spc="95">
                <a:latin typeface="Cambria"/>
                <a:cs typeface="Cambria"/>
              </a:rPr>
              <a:t>The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40">
                <a:latin typeface="Cambria"/>
                <a:cs typeface="Cambria"/>
              </a:rPr>
              <a:t>usage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>
                <a:latin typeface="Cambria"/>
                <a:cs typeface="Cambria"/>
              </a:rPr>
              <a:t>of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30">
                <a:latin typeface="Cambria"/>
                <a:cs typeface="Cambria"/>
              </a:rPr>
              <a:t>any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attributes</a:t>
            </a:r>
            <a:r>
              <a:rPr dirty="0" sz="1900" spc="240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without</a:t>
            </a:r>
            <a:r>
              <a:rPr dirty="0" sz="1900" spc="245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aggregation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20">
                <a:latin typeface="Cambria"/>
                <a:cs typeface="Cambria"/>
              </a:rPr>
              <a:t>functions</a:t>
            </a:r>
            <a:r>
              <a:rPr dirty="0" sz="1900" spc="229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is</a:t>
            </a:r>
            <a:r>
              <a:rPr dirty="0" sz="1900" spc="229">
                <a:latin typeface="Cambria"/>
                <a:cs typeface="Cambria"/>
              </a:rPr>
              <a:t> </a:t>
            </a:r>
            <a:r>
              <a:rPr dirty="0" sz="1900" spc="80">
                <a:latin typeface="Cambria"/>
                <a:cs typeface="Cambria"/>
              </a:rPr>
              <a:t>prohibited</a:t>
            </a:r>
            <a:r>
              <a:rPr dirty="0" sz="1900" spc="235">
                <a:latin typeface="Cambria"/>
                <a:cs typeface="Cambria"/>
              </a:rPr>
              <a:t> </a:t>
            </a:r>
            <a:r>
              <a:rPr dirty="0" sz="1900" spc="80">
                <a:latin typeface="Cambria"/>
                <a:cs typeface="Cambria"/>
              </a:rPr>
              <a:t>in</a:t>
            </a:r>
            <a:endParaRPr sz="1900">
              <a:latin typeface="Cambria"/>
              <a:cs typeface="Cambria"/>
            </a:endParaRPr>
          </a:p>
          <a:p>
            <a:pPr marL="195580">
              <a:lnSpc>
                <a:spcPts val="2050"/>
              </a:lnSpc>
            </a:pPr>
            <a:r>
              <a:rPr dirty="0" sz="1900" spc="80">
                <a:latin typeface="Cambria"/>
                <a:cs typeface="Cambria"/>
              </a:rPr>
              <a:t>projection.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1900">
              <a:latin typeface="Cambria"/>
              <a:cs typeface="Cambria"/>
            </a:endParaRPr>
          </a:p>
          <a:p>
            <a:pPr marL="195580" marR="656590" indent="-183515">
              <a:lnSpc>
                <a:spcPts val="1820"/>
              </a:lnSpc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dirty="0" sz="1900" spc="140">
                <a:latin typeface="Cambria"/>
                <a:cs typeface="Cambria"/>
              </a:rPr>
              <a:t>Using</a:t>
            </a:r>
            <a:r>
              <a:rPr dirty="0" sz="1900" spc="254">
                <a:latin typeface="Cambria"/>
                <a:cs typeface="Cambria"/>
              </a:rPr>
              <a:t> </a:t>
            </a:r>
            <a:r>
              <a:rPr dirty="0" sz="1900" spc="160" b="1">
                <a:latin typeface="Cambria"/>
                <a:cs typeface="Cambria"/>
              </a:rPr>
              <a:t>GROUP</a:t>
            </a:r>
            <a:r>
              <a:rPr dirty="0" sz="1900" spc="254" b="1">
                <a:latin typeface="Cambria"/>
                <a:cs typeface="Cambria"/>
              </a:rPr>
              <a:t> </a:t>
            </a:r>
            <a:r>
              <a:rPr dirty="0" sz="1900" spc="140" b="1">
                <a:latin typeface="Cambria"/>
                <a:cs typeface="Cambria"/>
              </a:rPr>
              <a:t>BY</a:t>
            </a:r>
            <a:r>
              <a:rPr dirty="0" sz="1900" spc="200" b="1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is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114">
                <a:latin typeface="Cambria"/>
                <a:cs typeface="Cambria"/>
              </a:rPr>
              <a:t>turning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on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10">
                <a:latin typeface="Cambria"/>
                <a:cs typeface="Cambria"/>
              </a:rPr>
              <a:t>the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regular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aggregation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00">
                <a:latin typeface="Cambria"/>
                <a:cs typeface="Cambria"/>
              </a:rPr>
              <a:t>mode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55">
                <a:latin typeface="Cambria"/>
                <a:cs typeface="Cambria"/>
              </a:rPr>
              <a:t>and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multiple </a:t>
            </a:r>
            <a:r>
              <a:rPr dirty="0" sz="1900" spc="110">
                <a:latin typeface="Cambria"/>
                <a:cs typeface="Cambria"/>
              </a:rPr>
              <a:t>groups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165">
                <a:latin typeface="Cambria"/>
                <a:cs typeface="Cambria"/>
              </a:rPr>
              <a:t>can</a:t>
            </a:r>
            <a:r>
              <a:rPr dirty="0" sz="1900" spc="195">
                <a:latin typeface="Cambria"/>
                <a:cs typeface="Cambria"/>
              </a:rPr>
              <a:t> </a:t>
            </a:r>
            <a:r>
              <a:rPr dirty="0" sz="1900" spc="95">
                <a:latin typeface="Cambria"/>
                <a:cs typeface="Cambria"/>
              </a:rPr>
              <a:t>be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produced.</a:t>
            </a:r>
            <a:endParaRPr sz="1900">
              <a:latin typeface="Cambria"/>
              <a:cs typeface="Cambria"/>
            </a:endParaRPr>
          </a:p>
          <a:p>
            <a:pPr marL="195580" marR="786765">
              <a:lnSpc>
                <a:spcPct val="80100"/>
              </a:lnSpc>
              <a:spcBef>
                <a:spcPts val="20"/>
              </a:spcBef>
            </a:pPr>
            <a:r>
              <a:rPr dirty="0" sz="1900" spc="110">
                <a:latin typeface="Cambria"/>
                <a:cs typeface="Cambria"/>
              </a:rPr>
              <a:t>In</a:t>
            </a:r>
            <a:r>
              <a:rPr dirty="0" sz="1900" spc="180">
                <a:latin typeface="Cambria"/>
                <a:cs typeface="Cambria"/>
              </a:rPr>
              <a:t> </a:t>
            </a:r>
            <a:r>
              <a:rPr dirty="0" sz="1900" spc="75">
                <a:latin typeface="Cambria"/>
                <a:cs typeface="Cambria"/>
              </a:rPr>
              <a:t>projection</a:t>
            </a:r>
            <a:r>
              <a:rPr dirty="0" sz="1900" spc="240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the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attributes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25">
                <a:latin typeface="Cambria"/>
                <a:cs typeface="Cambria"/>
              </a:rPr>
              <a:t>under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229">
                <a:latin typeface="Cambria"/>
                <a:cs typeface="Cambria"/>
              </a:rPr>
              <a:t>GROUP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75">
                <a:latin typeface="Cambria"/>
                <a:cs typeface="Cambria"/>
              </a:rPr>
              <a:t>BY</a:t>
            </a:r>
            <a:r>
              <a:rPr dirty="0" sz="1900" spc="180">
                <a:latin typeface="Cambria"/>
                <a:cs typeface="Cambria"/>
              </a:rPr>
              <a:t> </a:t>
            </a:r>
            <a:r>
              <a:rPr dirty="0" sz="1900" spc="165">
                <a:latin typeface="Cambria"/>
                <a:cs typeface="Cambria"/>
              </a:rPr>
              <a:t>can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95">
                <a:latin typeface="Cambria"/>
                <a:cs typeface="Cambria"/>
              </a:rPr>
              <a:t>be</a:t>
            </a:r>
            <a:r>
              <a:rPr dirty="0" sz="1900" spc="195">
                <a:latin typeface="Cambria"/>
                <a:cs typeface="Cambria"/>
              </a:rPr>
              <a:t> </a:t>
            </a:r>
            <a:r>
              <a:rPr dirty="0" sz="1900" spc="140">
                <a:latin typeface="Cambria"/>
                <a:cs typeface="Cambria"/>
              </a:rPr>
              <a:t>used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00" b="1">
                <a:latin typeface="Cambria"/>
                <a:cs typeface="Cambria"/>
              </a:rPr>
              <a:t>without</a:t>
            </a:r>
            <a:r>
              <a:rPr dirty="0" sz="1900" spc="210" b="1">
                <a:latin typeface="Cambria"/>
                <a:cs typeface="Cambria"/>
              </a:rPr>
              <a:t> </a:t>
            </a:r>
            <a:r>
              <a:rPr dirty="0" sz="1900" spc="80">
                <a:latin typeface="Cambria"/>
                <a:cs typeface="Cambria"/>
              </a:rPr>
              <a:t>the </a:t>
            </a:r>
            <a:r>
              <a:rPr dirty="0" sz="1900" spc="85">
                <a:latin typeface="Cambria"/>
                <a:cs typeface="Cambria"/>
              </a:rPr>
              <a:t>aggregation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20">
                <a:latin typeface="Cambria"/>
                <a:cs typeface="Cambria"/>
              </a:rPr>
              <a:t>functions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55">
                <a:latin typeface="Cambria"/>
                <a:cs typeface="Cambria"/>
              </a:rPr>
              <a:t>and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all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75">
                <a:latin typeface="Cambria"/>
                <a:cs typeface="Cambria"/>
              </a:rPr>
              <a:t>other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attributes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65">
                <a:latin typeface="Cambria"/>
                <a:cs typeface="Cambria"/>
              </a:rPr>
              <a:t>can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80">
                <a:latin typeface="Cambria"/>
                <a:cs typeface="Cambria"/>
              </a:rPr>
              <a:t>only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95">
                <a:latin typeface="Cambria"/>
                <a:cs typeface="Cambria"/>
              </a:rPr>
              <a:t>be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140">
                <a:latin typeface="Cambria"/>
                <a:cs typeface="Cambria"/>
              </a:rPr>
              <a:t>used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95">
                <a:latin typeface="Cambria"/>
                <a:cs typeface="Cambria"/>
              </a:rPr>
              <a:t>inside</a:t>
            </a:r>
            <a:r>
              <a:rPr dirty="0" sz="1900" spc="229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the aggregation</a:t>
            </a:r>
            <a:r>
              <a:rPr dirty="0" sz="1900" spc="260">
                <a:latin typeface="Cambria"/>
                <a:cs typeface="Cambria"/>
              </a:rPr>
              <a:t> </a:t>
            </a:r>
            <a:r>
              <a:rPr dirty="0" sz="1900" spc="114">
                <a:latin typeface="Cambria"/>
                <a:cs typeface="Cambria"/>
              </a:rPr>
              <a:t>functions.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900">
              <a:latin typeface="Cambria"/>
              <a:cs typeface="Cambria"/>
            </a:endParaRPr>
          </a:p>
          <a:p>
            <a:pPr marL="195580" indent="-182880">
              <a:lnSpc>
                <a:spcPts val="2050"/>
              </a:lnSpc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dirty="0" sz="1900" spc="145" b="1">
                <a:latin typeface="Cambria"/>
                <a:cs typeface="Cambria"/>
              </a:rPr>
              <a:t>DISTINCT</a:t>
            </a:r>
            <a:r>
              <a:rPr dirty="0" sz="1900" spc="210" b="1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is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25">
                <a:latin typeface="Cambria"/>
                <a:cs typeface="Cambria"/>
              </a:rPr>
              <a:t>useless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in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75">
                <a:latin typeface="Cambria"/>
                <a:cs typeface="Cambria"/>
              </a:rPr>
              <a:t>projection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when</a:t>
            </a:r>
            <a:r>
              <a:rPr dirty="0" sz="1900" spc="204">
                <a:latin typeface="Cambria"/>
                <a:cs typeface="Cambria"/>
              </a:rPr>
              <a:t> </a:t>
            </a:r>
            <a:r>
              <a:rPr dirty="0" sz="1900" spc="229">
                <a:latin typeface="Cambria"/>
                <a:cs typeface="Cambria"/>
              </a:rPr>
              <a:t>GROUP</a:t>
            </a:r>
            <a:r>
              <a:rPr dirty="0" sz="1900" spc="225">
                <a:latin typeface="Cambria"/>
                <a:cs typeface="Cambria"/>
              </a:rPr>
              <a:t> </a:t>
            </a:r>
            <a:r>
              <a:rPr dirty="0" sz="1900" spc="175">
                <a:latin typeface="Cambria"/>
                <a:cs typeface="Cambria"/>
              </a:rPr>
              <a:t>BY</a:t>
            </a:r>
            <a:r>
              <a:rPr dirty="0" sz="1900" spc="185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is</a:t>
            </a:r>
            <a:r>
              <a:rPr dirty="0" sz="1900" spc="215">
                <a:latin typeface="Cambria"/>
                <a:cs typeface="Cambria"/>
              </a:rPr>
              <a:t> </a:t>
            </a:r>
            <a:r>
              <a:rPr dirty="0" sz="1900" spc="105">
                <a:latin typeface="Cambria"/>
                <a:cs typeface="Cambria"/>
              </a:rPr>
              <a:t>in</a:t>
            </a:r>
            <a:r>
              <a:rPr dirty="0" sz="1900" spc="200">
                <a:latin typeface="Cambria"/>
                <a:cs typeface="Cambria"/>
              </a:rPr>
              <a:t> </a:t>
            </a:r>
            <a:r>
              <a:rPr dirty="0" sz="1900" spc="165">
                <a:latin typeface="Cambria"/>
                <a:cs typeface="Cambria"/>
              </a:rPr>
              <a:t>use.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75">
                <a:latin typeface="Cambria"/>
                <a:cs typeface="Cambria"/>
              </a:rPr>
              <a:t>However,</a:t>
            </a:r>
            <a:r>
              <a:rPr dirty="0" sz="1900" spc="235">
                <a:latin typeface="Cambria"/>
                <a:cs typeface="Cambria"/>
              </a:rPr>
              <a:t> </a:t>
            </a:r>
            <a:r>
              <a:rPr dirty="0" sz="1900" spc="55">
                <a:latin typeface="Cambria"/>
                <a:cs typeface="Cambria"/>
              </a:rPr>
              <a:t>it</a:t>
            </a:r>
            <a:r>
              <a:rPr dirty="0" sz="1900" spc="235">
                <a:latin typeface="Cambria"/>
                <a:cs typeface="Cambria"/>
              </a:rPr>
              <a:t> </a:t>
            </a:r>
            <a:r>
              <a:rPr dirty="0" sz="1900" spc="85">
                <a:latin typeface="Cambria"/>
                <a:cs typeface="Cambria"/>
              </a:rPr>
              <a:t>coluld</a:t>
            </a:r>
            <a:endParaRPr sz="1900">
              <a:latin typeface="Cambria"/>
              <a:cs typeface="Cambria"/>
            </a:endParaRPr>
          </a:p>
          <a:p>
            <a:pPr marL="195580">
              <a:lnSpc>
                <a:spcPts val="2050"/>
              </a:lnSpc>
            </a:pPr>
            <a:r>
              <a:rPr dirty="0" sz="1900" spc="95">
                <a:latin typeface="Cambria"/>
                <a:cs typeface="Cambria"/>
              </a:rPr>
              <a:t>be</a:t>
            </a:r>
            <a:r>
              <a:rPr dirty="0" sz="1900" spc="190">
                <a:latin typeface="Cambria"/>
                <a:cs typeface="Cambria"/>
              </a:rPr>
              <a:t> </a:t>
            </a:r>
            <a:r>
              <a:rPr dirty="0" sz="1900" spc="125">
                <a:latin typeface="Cambria"/>
                <a:cs typeface="Cambria"/>
              </a:rPr>
              <a:t>useful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125">
                <a:latin typeface="Cambria"/>
                <a:cs typeface="Cambria"/>
              </a:rPr>
              <a:t>under</a:t>
            </a:r>
            <a:r>
              <a:rPr dirty="0" sz="1900" spc="210">
                <a:latin typeface="Cambria"/>
                <a:cs typeface="Cambria"/>
              </a:rPr>
              <a:t> </a:t>
            </a:r>
            <a:r>
              <a:rPr dirty="0" sz="1900" spc="90">
                <a:latin typeface="Cambria"/>
                <a:cs typeface="Cambria"/>
              </a:rPr>
              <a:t>aggregation</a:t>
            </a:r>
            <a:r>
              <a:rPr dirty="0" sz="1900" spc="220">
                <a:latin typeface="Cambria"/>
                <a:cs typeface="Cambria"/>
              </a:rPr>
              <a:t> </a:t>
            </a:r>
            <a:r>
              <a:rPr dirty="0" sz="1900" spc="110">
                <a:latin typeface="Cambria"/>
                <a:cs typeface="Cambria"/>
              </a:rPr>
              <a:t>functions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6582448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28443"/>
            <a:ext cx="5664835" cy="25615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79500" marR="5080" indent="-1067435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PRODUCT, </a:t>
            </a:r>
            <a:r>
              <a:rPr dirty="0" sz="2000">
                <a:latin typeface="Courier New"/>
                <a:cs typeface="Courier New"/>
              </a:rPr>
              <a:t>COUNT(m.WARE)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MATERIALS_NUM</a:t>
            </a:r>
            <a:endParaRPr sz="2000">
              <a:latin typeface="Courier New"/>
              <a:cs typeface="Courier New"/>
            </a:endParaRPr>
          </a:p>
          <a:p>
            <a:pPr marL="12700" marR="3357879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12700" marR="168148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p.RECIPE_ID=m.RECIPE_ID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p.WARE;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100">
                <a:solidFill>
                  <a:srgbClr val="001F5F"/>
                </a:solidFill>
                <a:latin typeface="Cambria"/>
                <a:cs typeface="Cambria"/>
              </a:rPr>
              <a:t>Is</a:t>
            </a:r>
            <a:r>
              <a:rPr dirty="0" sz="2000" spc="175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001F5F"/>
                </a:solidFill>
                <a:latin typeface="Cambria"/>
                <a:cs typeface="Cambria"/>
              </a:rPr>
              <a:t>it</a:t>
            </a:r>
            <a:r>
              <a:rPr dirty="0" sz="2000" spc="200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001F5F"/>
                </a:solidFill>
                <a:latin typeface="Cambria"/>
                <a:cs typeface="Cambria"/>
              </a:rPr>
              <a:t>correct?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699516"/>
            <a:ext cx="7539012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974" y="1357883"/>
            <a:ext cx="3858514" cy="58394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539111"/>
            <a:ext cx="9758680" cy="2312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0">
                <a:latin typeface="Cambria"/>
                <a:cs typeface="Cambria"/>
              </a:rPr>
              <a:t>Is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answer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correct?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fix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errors?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0">
                <a:latin typeface="Cambria"/>
                <a:cs typeface="Cambria"/>
              </a:rPr>
              <a:t>Is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itself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225">
                <a:latin typeface="Cambria"/>
                <a:cs typeface="Cambria"/>
              </a:rPr>
              <a:t>OK?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Is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answer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itself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useful?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ts val="228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35">
                <a:latin typeface="Cambria"/>
                <a:cs typeface="Cambria"/>
              </a:rPr>
              <a:t>What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want</a:t>
            </a:r>
            <a:r>
              <a:rPr dirty="0" sz="2000" spc="26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answer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35" b="1">
                <a:latin typeface="Cambria"/>
                <a:cs typeface="Cambria"/>
              </a:rPr>
              <a:t>Food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category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products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only?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will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95">
                <a:latin typeface="Cambria"/>
                <a:cs typeface="Cambria"/>
              </a:rPr>
              <a:t>selection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work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aggregation?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8119097" cy="4682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1991080"/>
            <a:ext cx="5621020" cy="3013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60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469900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40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r>
              <a:rPr dirty="0" sz="2000" spc="240">
                <a:latin typeface="Cambria"/>
                <a:cs typeface="Cambria"/>
              </a:rPr>
              <a:t>s</a:t>
            </a:r>
            <a:r>
              <a:rPr dirty="0" sz="2000" spc="15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conditions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(</a:t>
            </a:r>
            <a:r>
              <a:rPr dirty="0" sz="2000" spc="-20">
                <a:solidFill>
                  <a:srgbClr val="006FC0"/>
                </a:solidFill>
                <a:latin typeface="Cambria"/>
                <a:cs typeface="Cambria"/>
              </a:rPr>
              <a:t>ON</a:t>
            </a:r>
            <a:r>
              <a:rPr dirty="0" sz="2000" spc="-2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14">
                <a:latin typeface="Cambria"/>
                <a:cs typeface="Cambria"/>
              </a:rPr>
              <a:t>Selection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(</a:t>
            </a:r>
            <a:r>
              <a:rPr dirty="0" sz="2000" spc="90">
                <a:solidFill>
                  <a:srgbClr val="006FC0"/>
                </a:solidFill>
                <a:latin typeface="Cambria"/>
                <a:cs typeface="Cambria"/>
              </a:rPr>
              <a:t>WHERE</a:t>
            </a:r>
            <a:r>
              <a:rPr dirty="0" sz="2000" spc="9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45">
                <a:latin typeface="Cambria"/>
                <a:cs typeface="Cambria"/>
              </a:rPr>
              <a:t>Grouping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(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GROUP </a:t>
            </a:r>
            <a:r>
              <a:rPr dirty="0" sz="2000" spc="50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dirty="0" sz="2000" spc="5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85">
                <a:latin typeface="Cambria"/>
                <a:cs typeface="Cambria"/>
              </a:rPr>
              <a:t>Projection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(</a:t>
            </a:r>
            <a:r>
              <a:rPr dirty="0" sz="2000" spc="120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dirty="0" sz="2000" spc="12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60">
                <a:latin typeface="Cambria"/>
                <a:cs typeface="Cambria"/>
              </a:rPr>
              <a:t>Set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operations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(</a:t>
            </a:r>
            <a:r>
              <a:rPr dirty="0" sz="2000" spc="120">
                <a:solidFill>
                  <a:srgbClr val="006FC0"/>
                </a:solidFill>
                <a:latin typeface="Cambria"/>
                <a:cs typeface="Cambria"/>
              </a:rPr>
              <a:t>UNION</a:t>
            </a:r>
            <a:r>
              <a:rPr dirty="0" sz="2000" spc="120">
                <a:latin typeface="Cambria"/>
                <a:cs typeface="Cambria"/>
              </a:rPr>
              <a:t>,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INTERSECT</a:t>
            </a:r>
            <a:r>
              <a:rPr dirty="0" sz="2000" spc="185">
                <a:latin typeface="Cambria"/>
                <a:cs typeface="Cambria"/>
              </a:rPr>
              <a:t>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etc.)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14">
                <a:latin typeface="Cambria"/>
                <a:cs typeface="Cambria"/>
              </a:rPr>
              <a:t>Ordering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(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ORDER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dirty="0" sz="2000" spc="5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14">
                <a:latin typeface="Cambria"/>
                <a:cs typeface="Cambria"/>
              </a:rPr>
              <a:t>Paging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(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OFFSET</a:t>
            </a:r>
            <a:r>
              <a:rPr dirty="0" sz="2000" spc="170">
                <a:latin typeface="Cambria"/>
                <a:cs typeface="Cambria"/>
              </a:rPr>
              <a:t>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mbria"/>
                <a:cs typeface="Cambria"/>
              </a:rPr>
              <a:t>LIMIT</a:t>
            </a:r>
            <a:r>
              <a:rPr dirty="0" sz="2000" spc="-1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4684788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28443"/>
            <a:ext cx="7494270" cy="2526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PRODUCT,</a:t>
            </a:r>
            <a:endParaRPr sz="2000">
              <a:latin typeface="Courier New"/>
              <a:cs typeface="Courier New"/>
            </a:endParaRPr>
          </a:p>
          <a:p>
            <a:pPr marL="12700" marR="5080" indent="106680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latin typeface="Courier New"/>
                <a:cs typeface="Courier New"/>
              </a:rPr>
              <a:t>GROUP_CONCAT(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6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m.WARE)</a:t>
            </a:r>
            <a:r>
              <a:rPr dirty="0" sz="2000" spc="-5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MATERIALS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PRODUCT</a:t>
            </a:r>
            <a:r>
              <a:rPr dirty="0" sz="2000" spc="-25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001F5F"/>
                </a:solidFill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LEFT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MATERIAL</a:t>
            </a:r>
            <a:r>
              <a:rPr dirty="0" sz="2000" spc="-25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001F5F"/>
                </a:solidFill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12700" marR="351155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p.RECIPE_ID=m.RECIPE_ID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CATEGORY</a:t>
            </a:r>
            <a:r>
              <a:rPr dirty="0" sz="2000" spc="-3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001F5F"/>
                </a:solidFill>
                <a:latin typeface="Courier New"/>
                <a:cs typeface="Courier New"/>
              </a:rPr>
              <a:t>pc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pc.WARE=p.WARE</a:t>
            </a:r>
            <a:endParaRPr sz="2000">
              <a:latin typeface="Courier New"/>
              <a:cs typeface="Courier New"/>
            </a:endParaRPr>
          </a:p>
          <a:p>
            <a:pPr marL="12700" marR="4272915">
              <a:lnSpc>
                <a:spcPts val="2160"/>
              </a:lnSpc>
              <a:spcBef>
                <a:spcPts val="1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pc.CLASS='Food’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p.WARE;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1028700"/>
            <a:ext cx="7297420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3392804"/>
            <a:ext cx="8782050" cy="1184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70">
                <a:latin typeface="Cambria"/>
                <a:cs typeface="Cambria"/>
              </a:rPr>
              <a:t>We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only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interested</a:t>
            </a:r>
            <a:r>
              <a:rPr dirty="0" sz="2000" spc="15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products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multiple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materials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(2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more).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240">
                <a:latin typeface="Cambria"/>
                <a:cs typeface="Cambria"/>
              </a:rPr>
              <a:t>Can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200">
                <a:solidFill>
                  <a:srgbClr val="006FC0"/>
                </a:solidFill>
                <a:latin typeface="Cambria"/>
                <a:cs typeface="Cambria"/>
              </a:rPr>
              <a:t>WHERE</a:t>
            </a:r>
            <a:r>
              <a:rPr dirty="0" sz="2000" spc="200">
                <a:latin typeface="Cambria"/>
                <a:cs typeface="Cambria"/>
              </a:rPr>
              <a:t>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185" y="1037082"/>
            <a:ext cx="5674004" cy="4572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28443"/>
            <a:ext cx="7494270" cy="2526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PRODUCT,</a:t>
            </a:r>
            <a:endParaRPr sz="2000">
              <a:latin typeface="Courier New"/>
              <a:cs typeface="Courier New"/>
            </a:endParaRPr>
          </a:p>
          <a:p>
            <a:pPr marL="12700" marR="5080" indent="106680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latin typeface="Courier New"/>
                <a:cs typeface="Courier New"/>
              </a:rPr>
              <a:t>GROUP_CONCAT(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6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m.WARE)</a:t>
            </a:r>
            <a:r>
              <a:rPr dirty="0" sz="2000" spc="-5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MATERIALS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PRODUCT</a:t>
            </a:r>
            <a:r>
              <a:rPr dirty="0" sz="2000" spc="-25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001F5F"/>
                </a:solidFill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MATERIAL</a:t>
            </a:r>
            <a:r>
              <a:rPr dirty="0" sz="2000" spc="-3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solidFill>
                  <a:srgbClr val="001F5F"/>
                </a:solidFill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12700" marR="412115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p.BILL_ID=m.BILL_ID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CATEGORY</a:t>
            </a:r>
            <a:r>
              <a:rPr dirty="0" sz="2000" spc="-3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001F5F"/>
                </a:solidFill>
                <a:latin typeface="Courier New"/>
                <a:cs typeface="Courier New"/>
              </a:rPr>
              <a:t>pc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pc.WARE=p.WARE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p.WARE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HAVING</a:t>
            </a:r>
            <a:r>
              <a:rPr dirty="0" sz="2000" spc="-5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1F5F"/>
                </a:solidFill>
                <a:latin typeface="Courier New"/>
                <a:cs typeface="Courier New"/>
              </a:rPr>
              <a:t>COUNT(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1F5F"/>
                </a:solidFill>
                <a:latin typeface="Courier New"/>
                <a:cs typeface="Courier New"/>
              </a:rPr>
              <a:t>m.WARE)&gt;1;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74" y="1357883"/>
            <a:ext cx="2956305" cy="58394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3492" y="699516"/>
            <a:ext cx="8119097" cy="4682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192248"/>
            <a:ext cx="5621020" cy="343979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60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469900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40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r>
              <a:rPr dirty="0" sz="2000" spc="240">
                <a:latin typeface="Cambria"/>
                <a:cs typeface="Cambria"/>
              </a:rPr>
              <a:t>s</a:t>
            </a:r>
            <a:r>
              <a:rPr dirty="0" sz="2000" spc="15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conditions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(</a:t>
            </a:r>
            <a:r>
              <a:rPr dirty="0" sz="2000" spc="-20">
                <a:solidFill>
                  <a:srgbClr val="006FC0"/>
                </a:solidFill>
                <a:latin typeface="Cambria"/>
                <a:cs typeface="Cambria"/>
              </a:rPr>
              <a:t>ON</a:t>
            </a:r>
            <a:r>
              <a:rPr dirty="0" sz="2000" spc="-2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14">
                <a:latin typeface="Cambria"/>
                <a:cs typeface="Cambria"/>
              </a:rPr>
              <a:t>Selection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(</a:t>
            </a:r>
            <a:r>
              <a:rPr dirty="0" sz="2000" spc="90">
                <a:solidFill>
                  <a:srgbClr val="006FC0"/>
                </a:solidFill>
                <a:latin typeface="Cambria"/>
                <a:cs typeface="Cambria"/>
              </a:rPr>
              <a:t>WHERE</a:t>
            </a:r>
            <a:r>
              <a:rPr dirty="0" sz="2000" spc="9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40">
                <a:latin typeface="Cambria"/>
                <a:cs typeface="Cambria"/>
              </a:rPr>
              <a:t>Grouping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(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GROUP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dirty="0" sz="2000" spc="5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8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90" b="1">
                <a:latin typeface="Cambria"/>
                <a:cs typeface="Cambria"/>
              </a:rPr>
              <a:t>After-</a:t>
            </a:r>
            <a:r>
              <a:rPr dirty="0" sz="2000" spc="85" b="1">
                <a:latin typeface="Cambria"/>
                <a:cs typeface="Cambria"/>
              </a:rPr>
              <a:t>grouping</a:t>
            </a:r>
            <a:r>
              <a:rPr dirty="0" sz="2000" spc="275" b="1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selection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60" b="1">
                <a:latin typeface="Cambria"/>
                <a:cs typeface="Cambria"/>
              </a:rPr>
              <a:t>(</a:t>
            </a:r>
            <a:r>
              <a:rPr dirty="0" sz="2000" spc="60" b="1">
                <a:solidFill>
                  <a:srgbClr val="006FC0"/>
                </a:solidFill>
                <a:latin typeface="Cambria"/>
                <a:cs typeface="Cambria"/>
              </a:rPr>
              <a:t>HAVING</a:t>
            </a:r>
            <a:r>
              <a:rPr dirty="0" sz="2000" spc="60" b="1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85">
                <a:latin typeface="Cambria"/>
                <a:cs typeface="Cambria"/>
              </a:rPr>
              <a:t>Projection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(</a:t>
            </a:r>
            <a:r>
              <a:rPr dirty="0" sz="2000" spc="120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dirty="0" sz="2000" spc="12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60">
                <a:latin typeface="Cambria"/>
                <a:cs typeface="Cambria"/>
              </a:rPr>
              <a:t>Set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operations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(</a:t>
            </a:r>
            <a:r>
              <a:rPr dirty="0" sz="2000" spc="120">
                <a:solidFill>
                  <a:srgbClr val="006FC0"/>
                </a:solidFill>
                <a:latin typeface="Cambria"/>
                <a:cs typeface="Cambria"/>
              </a:rPr>
              <a:t>UNION</a:t>
            </a:r>
            <a:r>
              <a:rPr dirty="0" sz="2000" spc="120">
                <a:latin typeface="Cambria"/>
                <a:cs typeface="Cambria"/>
              </a:rPr>
              <a:t>,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INTERSECT</a:t>
            </a:r>
            <a:r>
              <a:rPr dirty="0" sz="2000" spc="185">
                <a:latin typeface="Cambria"/>
                <a:cs typeface="Cambria"/>
              </a:rPr>
              <a:t>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etc.)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10">
                <a:latin typeface="Cambria"/>
                <a:cs typeface="Cambria"/>
              </a:rPr>
              <a:t>Ordering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(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ORDER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dirty="0" sz="2000" spc="5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14">
                <a:latin typeface="Cambria"/>
                <a:cs typeface="Cambria"/>
              </a:rPr>
              <a:t>Paging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(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OFFSET</a:t>
            </a:r>
            <a:r>
              <a:rPr dirty="0" sz="2000" spc="170">
                <a:latin typeface="Cambria"/>
                <a:cs typeface="Cambria"/>
              </a:rPr>
              <a:t>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ambria"/>
                <a:cs typeface="Cambria"/>
              </a:rPr>
              <a:t>LIMIT</a:t>
            </a:r>
            <a:r>
              <a:rPr dirty="0" sz="2000" spc="-1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1028700"/>
            <a:ext cx="7981569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112391"/>
            <a:ext cx="9806305" cy="313563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94310" marR="825500" indent="-182245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14">
                <a:latin typeface="Cambria"/>
                <a:cs typeface="Cambria"/>
              </a:rPr>
              <a:t>In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sections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0" b="1">
                <a:latin typeface="Cambria"/>
                <a:cs typeface="Cambria"/>
              </a:rPr>
              <a:t>before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GROUP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60" b="1">
                <a:latin typeface="Cambria"/>
                <a:cs typeface="Cambria"/>
              </a:rPr>
              <a:t>BY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available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by </a:t>
            </a:r>
            <a:r>
              <a:rPr dirty="0" sz="2000" spc="75">
                <a:latin typeface="Cambria"/>
                <a:cs typeface="Cambria"/>
              </a:rPr>
              <a:t>	</a:t>
            </a:r>
            <a:r>
              <a:rPr dirty="0" sz="2000" spc="105">
                <a:latin typeface="Cambria"/>
                <a:cs typeface="Cambria"/>
              </a:rPr>
              <a:t>themselves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without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aggregation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310" marR="49530" indent="-182245">
              <a:lnSpc>
                <a:spcPts val="216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14">
                <a:latin typeface="Cambria"/>
                <a:cs typeface="Cambria"/>
              </a:rPr>
              <a:t>In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sections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after</a:t>
            </a:r>
            <a:r>
              <a:rPr dirty="0" sz="2000" spc="265" b="1">
                <a:latin typeface="Cambria"/>
                <a:cs typeface="Cambria"/>
              </a:rPr>
              <a:t> </a:t>
            </a:r>
            <a:r>
              <a:rPr dirty="0" sz="2000" spc="185" b="1">
                <a:latin typeface="Cambria"/>
                <a:cs typeface="Cambria"/>
              </a:rPr>
              <a:t>GROUP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60" b="1">
                <a:latin typeface="Cambria"/>
                <a:cs typeface="Cambria"/>
              </a:rPr>
              <a:t>BY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used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grouping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are </a:t>
            </a:r>
            <a:r>
              <a:rPr dirty="0" sz="2000" spc="75">
                <a:latin typeface="Cambria"/>
                <a:cs typeface="Cambria"/>
              </a:rPr>
              <a:t>	</a:t>
            </a:r>
            <a:r>
              <a:rPr dirty="0" sz="2000" spc="95">
                <a:latin typeface="Cambria"/>
                <a:cs typeface="Cambria"/>
              </a:rPr>
              <a:t>available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themselves.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Other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available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aggregation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only.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80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5580" marR="5080" indent="-183515">
              <a:lnSpc>
                <a:spcPct val="90100"/>
              </a:lnSpc>
              <a:spcBef>
                <a:spcPts val="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20" b="1">
                <a:latin typeface="Cambria"/>
                <a:cs typeface="Cambria"/>
              </a:rPr>
              <a:t>Rule: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you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planning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attribute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projection,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006FC0"/>
                </a:solidFill>
                <a:latin typeface="Cambria"/>
                <a:cs typeface="Cambria"/>
              </a:rPr>
              <a:t>HAVING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section,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etc., </a:t>
            </a:r>
            <a:r>
              <a:rPr dirty="0" sz="2000" spc="120">
                <a:latin typeface="Cambria"/>
                <a:cs typeface="Cambria"/>
              </a:rPr>
              <a:t>you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must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place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under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245">
                <a:solidFill>
                  <a:srgbClr val="006FC0"/>
                </a:solidFill>
                <a:latin typeface="Cambria"/>
                <a:cs typeface="Cambria"/>
              </a:rPr>
              <a:t>GROUP</a:t>
            </a:r>
            <a:r>
              <a:rPr dirty="0" sz="2000" spc="18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204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dirty="0" sz="2000" spc="204">
                <a:latin typeface="Cambria"/>
                <a:cs typeface="Cambria"/>
              </a:rPr>
              <a:t>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even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case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depends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only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 </a:t>
            </a:r>
            <a:r>
              <a:rPr dirty="0" sz="2000" spc="105">
                <a:latin typeface="Cambria"/>
                <a:cs typeface="Cambria"/>
              </a:rPr>
              <a:t>grouping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attributes.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shadow</dc:creator>
  <dc:title>Declarative Programming:  Query Languages</dc:title>
  <dcterms:created xsi:type="dcterms:W3CDTF">2025-05-22T11:38:55Z</dcterms:created>
  <dcterms:modified xsi:type="dcterms:W3CDTF">2025-05-22T11:38:55Z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2025-05-22T00:00:00Z</vt:filetime>
  </property>
  <property fmtid="{D5CDD505-2E9C-101B-9397-08002B2CF9AE}" pid="5" name="Producer">
    <vt:lpwstr>Microsoft® PowerPoint® 2019</vt:lpwstr>
  </property>
</Properties>
</file>