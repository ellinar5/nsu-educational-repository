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1679" y="6229680"/>
            <a:ext cx="457200" cy="4572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430889" y="6258877"/>
            <a:ext cx="398780" cy="399415"/>
          </a:xfrm>
          <a:custGeom>
            <a:avLst/>
            <a:gdLst/>
            <a:ahLst/>
            <a:cxnLst/>
            <a:rect l="l" t="t" r="r" b="b"/>
            <a:pathLst>
              <a:path w="398779" h="399415">
                <a:moveTo>
                  <a:pt x="0" y="199402"/>
                </a:moveTo>
                <a:lnTo>
                  <a:pt x="5266" y="153679"/>
                </a:lnTo>
                <a:lnTo>
                  <a:pt x="20268" y="111707"/>
                </a:lnTo>
                <a:lnTo>
                  <a:pt x="43807" y="74683"/>
                </a:lnTo>
                <a:lnTo>
                  <a:pt x="74686" y="43804"/>
                </a:lnTo>
                <a:lnTo>
                  <a:pt x="111708" y="20266"/>
                </a:lnTo>
                <a:lnTo>
                  <a:pt x="153675" y="5265"/>
                </a:lnTo>
                <a:lnTo>
                  <a:pt x="199389" y="0"/>
                </a:lnTo>
                <a:lnTo>
                  <a:pt x="245144" y="5265"/>
                </a:lnTo>
                <a:lnTo>
                  <a:pt x="287127" y="20266"/>
                </a:lnTo>
                <a:lnTo>
                  <a:pt x="324146" y="43804"/>
                </a:lnTo>
                <a:lnTo>
                  <a:pt x="355012" y="74683"/>
                </a:lnTo>
                <a:lnTo>
                  <a:pt x="378534" y="111707"/>
                </a:lnTo>
                <a:lnTo>
                  <a:pt x="393520" y="153679"/>
                </a:lnTo>
                <a:lnTo>
                  <a:pt x="398779" y="199402"/>
                </a:lnTo>
                <a:lnTo>
                  <a:pt x="393520" y="245126"/>
                </a:lnTo>
                <a:lnTo>
                  <a:pt x="378534" y="287098"/>
                </a:lnTo>
                <a:lnTo>
                  <a:pt x="355012" y="324121"/>
                </a:lnTo>
                <a:lnTo>
                  <a:pt x="324146" y="355001"/>
                </a:lnTo>
                <a:lnTo>
                  <a:pt x="287127" y="378539"/>
                </a:lnTo>
                <a:lnTo>
                  <a:pt x="245144" y="393539"/>
                </a:lnTo>
                <a:lnTo>
                  <a:pt x="199389" y="398805"/>
                </a:lnTo>
                <a:lnTo>
                  <a:pt x="153675" y="393539"/>
                </a:lnTo>
                <a:lnTo>
                  <a:pt x="111708" y="378539"/>
                </a:lnTo>
                <a:lnTo>
                  <a:pt x="74686" y="355001"/>
                </a:lnTo>
                <a:lnTo>
                  <a:pt x="43807" y="324121"/>
                </a:lnTo>
                <a:lnTo>
                  <a:pt x="20268" y="287098"/>
                </a:lnTo>
                <a:lnTo>
                  <a:pt x="5266" y="245126"/>
                </a:lnTo>
                <a:lnTo>
                  <a:pt x="0" y="19940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1592" y="1028700"/>
            <a:ext cx="7528674" cy="58394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42491" y="2249551"/>
            <a:ext cx="4141470" cy="3806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01679" y="6229680"/>
            <a:ext cx="457200" cy="4572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430889" y="6258877"/>
            <a:ext cx="398780" cy="399415"/>
          </a:xfrm>
          <a:custGeom>
            <a:avLst/>
            <a:gdLst/>
            <a:ahLst/>
            <a:cxnLst/>
            <a:rect l="l" t="t" r="r" b="b"/>
            <a:pathLst>
              <a:path w="398779" h="399415">
                <a:moveTo>
                  <a:pt x="0" y="199402"/>
                </a:moveTo>
                <a:lnTo>
                  <a:pt x="5266" y="153679"/>
                </a:lnTo>
                <a:lnTo>
                  <a:pt x="20268" y="111707"/>
                </a:lnTo>
                <a:lnTo>
                  <a:pt x="43807" y="74683"/>
                </a:lnTo>
                <a:lnTo>
                  <a:pt x="74686" y="43804"/>
                </a:lnTo>
                <a:lnTo>
                  <a:pt x="111708" y="20266"/>
                </a:lnTo>
                <a:lnTo>
                  <a:pt x="153675" y="5265"/>
                </a:lnTo>
                <a:lnTo>
                  <a:pt x="199389" y="0"/>
                </a:lnTo>
                <a:lnTo>
                  <a:pt x="245144" y="5265"/>
                </a:lnTo>
                <a:lnTo>
                  <a:pt x="287127" y="20266"/>
                </a:lnTo>
                <a:lnTo>
                  <a:pt x="324146" y="43804"/>
                </a:lnTo>
                <a:lnTo>
                  <a:pt x="355012" y="74683"/>
                </a:lnTo>
                <a:lnTo>
                  <a:pt x="378534" y="111707"/>
                </a:lnTo>
                <a:lnTo>
                  <a:pt x="393520" y="153679"/>
                </a:lnTo>
                <a:lnTo>
                  <a:pt x="398779" y="199402"/>
                </a:lnTo>
                <a:lnTo>
                  <a:pt x="393520" y="245126"/>
                </a:lnTo>
                <a:lnTo>
                  <a:pt x="378534" y="287098"/>
                </a:lnTo>
                <a:lnTo>
                  <a:pt x="355012" y="324121"/>
                </a:lnTo>
                <a:lnTo>
                  <a:pt x="324146" y="355001"/>
                </a:lnTo>
                <a:lnTo>
                  <a:pt x="287127" y="378539"/>
                </a:lnTo>
                <a:lnTo>
                  <a:pt x="245144" y="393539"/>
                </a:lnTo>
                <a:lnTo>
                  <a:pt x="199389" y="398805"/>
                </a:lnTo>
                <a:lnTo>
                  <a:pt x="153675" y="393539"/>
                </a:lnTo>
                <a:lnTo>
                  <a:pt x="111708" y="378539"/>
                </a:lnTo>
                <a:lnTo>
                  <a:pt x="74686" y="355001"/>
                </a:lnTo>
                <a:lnTo>
                  <a:pt x="43807" y="324121"/>
                </a:lnTo>
                <a:lnTo>
                  <a:pt x="20268" y="287098"/>
                </a:lnTo>
                <a:lnTo>
                  <a:pt x="5266" y="245126"/>
                </a:lnTo>
                <a:lnTo>
                  <a:pt x="0" y="19940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8588" y="3819525"/>
            <a:ext cx="7091680" cy="330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23188" y="2114768"/>
            <a:ext cx="10044430" cy="3984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94007" y="6333410"/>
            <a:ext cx="29019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838" y="1346923"/>
            <a:ext cx="10222992" cy="8068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20838" y="1484757"/>
            <a:ext cx="10223500" cy="3665220"/>
            <a:chOff x="920838" y="1484757"/>
            <a:chExt cx="10223500" cy="366522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0838" y="4282782"/>
              <a:ext cx="10222992" cy="806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0838" y="1484757"/>
              <a:ext cx="10222992" cy="366509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57283" y="4177030"/>
              <a:ext cx="864869" cy="864869"/>
            </a:xfrm>
            <a:custGeom>
              <a:avLst/>
              <a:gdLst/>
              <a:ahLst/>
              <a:cxnLst/>
              <a:rect l="l" t="t" r="r" b="b"/>
              <a:pathLst>
                <a:path w="864870" h="864870">
                  <a:moveTo>
                    <a:pt x="0" y="432308"/>
                  </a:moveTo>
                  <a:lnTo>
                    <a:pt x="2536" y="385202"/>
                  </a:lnTo>
                  <a:lnTo>
                    <a:pt x="9971" y="339566"/>
                  </a:lnTo>
                  <a:lnTo>
                    <a:pt x="22040" y="295664"/>
                  </a:lnTo>
                  <a:lnTo>
                    <a:pt x="38479" y="253758"/>
                  </a:lnTo>
                  <a:lnTo>
                    <a:pt x="59026" y="214112"/>
                  </a:lnTo>
                  <a:lnTo>
                    <a:pt x="83417" y="176991"/>
                  </a:lnTo>
                  <a:lnTo>
                    <a:pt x="111388" y="142657"/>
                  </a:lnTo>
                  <a:lnTo>
                    <a:pt x="142677" y="111376"/>
                  </a:lnTo>
                  <a:lnTo>
                    <a:pt x="177018" y="83409"/>
                  </a:lnTo>
                  <a:lnTo>
                    <a:pt x="214150" y="59022"/>
                  </a:lnTo>
                  <a:lnTo>
                    <a:pt x="253808" y="38477"/>
                  </a:lnTo>
                  <a:lnTo>
                    <a:pt x="295729" y="22039"/>
                  </a:lnTo>
                  <a:lnTo>
                    <a:pt x="339649" y="9970"/>
                  </a:lnTo>
                  <a:lnTo>
                    <a:pt x="385306" y="2536"/>
                  </a:lnTo>
                  <a:lnTo>
                    <a:pt x="432435" y="0"/>
                  </a:lnTo>
                  <a:lnTo>
                    <a:pt x="479540" y="2536"/>
                  </a:lnTo>
                  <a:lnTo>
                    <a:pt x="525176" y="9970"/>
                  </a:lnTo>
                  <a:lnTo>
                    <a:pt x="569078" y="22039"/>
                  </a:lnTo>
                  <a:lnTo>
                    <a:pt x="610984" y="38477"/>
                  </a:lnTo>
                  <a:lnTo>
                    <a:pt x="650630" y="59022"/>
                  </a:lnTo>
                  <a:lnTo>
                    <a:pt x="687751" y="83409"/>
                  </a:lnTo>
                  <a:lnTo>
                    <a:pt x="722085" y="111376"/>
                  </a:lnTo>
                  <a:lnTo>
                    <a:pt x="753366" y="142657"/>
                  </a:lnTo>
                  <a:lnTo>
                    <a:pt x="781333" y="176991"/>
                  </a:lnTo>
                  <a:lnTo>
                    <a:pt x="805720" y="214112"/>
                  </a:lnTo>
                  <a:lnTo>
                    <a:pt x="826265" y="253758"/>
                  </a:lnTo>
                  <a:lnTo>
                    <a:pt x="842703" y="295664"/>
                  </a:lnTo>
                  <a:lnTo>
                    <a:pt x="854772" y="339566"/>
                  </a:lnTo>
                  <a:lnTo>
                    <a:pt x="862206" y="385202"/>
                  </a:lnTo>
                  <a:lnTo>
                    <a:pt x="864743" y="432308"/>
                  </a:lnTo>
                  <a:lnTo>
                    <a:pt x="862206" y="479414"/>
                  </a:lnTo>
                  <a:lnTo>
                    <a:pt x="854772" y="525055"/>
                  </a:lnTo>
                  <a:lnTo>
                    <a:pt x="842703" y="568965"/>
                  </a:lnTo>
                  <a:lnTo>
                    <a:pt x="826265" y="610880"/>
                  </a:lnTo>
                  <a:lnTo>
                    <a:pt x="805720" y="650536"/>
                  </a:lnTo>
                  <a:lnTo>
                    <a:pt x="781333" y="687669"/>
                  </a:lnTo>
                  <a:lnTo>
                    <a:pt x="753366" y="722015"/>
                  </a:lnTo>
                  <a:lnTo>
                    <a:pt x="722085" y="753309"/>
                  </a:lnTo>
                  <a:lnTo>
                    <a:pt x="687751" y="781288"/>
                  </a:lnTo>
                  <a:lnTo>
                    <a:pt x="650630" y="805688"/>
                  </a:lnTo>
                  <a:lnTo>
                    <a:pt x="610984" y="826243"/>
                  </a:lnTo>
                  <a:lnTo>
                    <a:pt x="569078" y="842690"/>
                  </a:lnTo>
                  <a:lnTo>
                    <a:pt x="525176" y="854765"/>
                  </a:lnTo>
                  <a:lnTo>
                    <a:pt x="479540" y="862204"/>
                  </a:lnTo>
                  <a:lnTo>
                    <a:pt x="432435" y="864743"/>
                  </a:lnTo>
                  <a:lnTo>
                    <a:pt x="385306" y="862204"/>
                  </a:lnTo>
                  <a:lnTo>
                    <a:pt x="339649" y="854765"/>
                  </a:lnTo>
                  <a:lnTo>
                    <a:pt x="295729" y="842690"/>
                  </a:lnTo>
                  <a:lnTo>
                    <a:pt x="253808" y="826243"/>
                  </a:lnTo>
                  <a:lnTo>
                    <a:pt x="214150" y="805688"/>
                  </a:lnTo>
                  <a:lnTo>
                    <a:pt x="177018" y="781288"/>
                  </a:lnTo>
                  <a:lnTo>
                    <a:pt x="142677" y="753309"/>
                  </a:lnTo>
                  <a:lnTo>
                    <a:pt x="111388" y="722015"/>
                  </a:lnTo>
                  <a:lnTo>
                    <a:pt x="83417" y="687669"/>
                  </a:lnTo>
                  <a:lnTo>
                    <a:pt x="59026" y="650536"/>
                  </a:lnTo>
                  <a:lnTo>
                    <a:pt x="38479" y="610880"/>
                  </a:lnTo>
                  <a:lnTo>
                    <a:pt x="22040" y="568965"/>
                  </a:lnTo>
                  <a:lnTo>
                    <a:pt x="9971" y="525055"/>
                  </a:lnTo>
                  <a:lnTo>
                    <a:pt x="2536" y="479414"/>
                  </a:lnTo>
                  <a:lnTo>
                    <a:pt x="0" y="43230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26489" y="2530983"/>
              <a:ext cx="8011490" cy="87604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48588" y="4810505"/>
            <a:ext cx="205676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114" dirty="0">
                <a:solidFill>
                  <a:srgbClr val="715D71"/>
                </a:solidFill>
                <a:latin typeface="Cambria"/>
                <a:cs typeface="Cambria"/>
              </a:rPr>
              <a:t>Denis</a:t>
            </a:r>
            <a:r>
              <a:rPr sz="2000" b="1" spc="225" dirty="0">
                <a:solidFill>
                  <a:srgbClr val="715D71"/>
                </a:solidFill>
                <a:latin typeface="Cambria"/>
                <a:cs typeface="Cambria"/>
              </a:rPr>
              <a:t> </a:t>
            </a:r>
            <a:r>
              <a:rPr sz="2000" b="1" spc="125" dirty="0">
                <a:solidFill>
                  <a:srgbClr val="715D71"/>
                </a:solidFill>
                <a:latin typeface="Cambria"/>
                <a:cs typeface="Cambria"/>
              </a:rPr>
              <a:t>Miginsky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D4F2A8-5367-9337-E5B0-CA446B0B1371}"/>
              </a:ext>
            </a:extLst>
          </p:cNvPr>
          <p:cNvSpPr txBox="1"/>
          <p:nvPr/>
        </p:nvSpPr>
        <p:spPr>
          <a:xfrm>
            <a:off x="1148588" y="32795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Реляционная алгебра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133" y="1028700"/>
            <a:ext cx="6847471" cy="57569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8588" y="3819525"/>
            <a:ext cx="845261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dirty="0">
                <a:effectLst/>
              </a:rPr>
              <a:t>Какие материалы требуются для изготовления каждого изделия?</a:t>
            </a:r>
            <a:endParaRPr spc="90" dirty="0"/>
          </a:p>
        </p:txBody>
      </p:sp>
      <p:sp>
        <p:nvSpPr>
          <p:cNvPr id="4" name="object 4"/>
          <p:cNvSpPr txBox="1"/>
          <p:nvPr/>
        </p:nvSpPr>
        <p:spPr>
          <a:xfrm>
            <a:off x="11519407" y="6333410"/>
            <a:ext cx="226695" cy="2444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2</a:t>
            </a:fld>
            <a:endParaRPr sz="1400">
              <a:latin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CFB2B2-343E-AEE7-C911-02D5A237C051}"/>
              </a:ext>
            </a:extLst>
          </p:cNvPr>
          <p:cNvSpPr txBox="1"/>
          <p:nvPr/>
        </p:nvSpPr>
        <p:spPr>
          <a:xfrm>
            <a:off x="1148588" y="16043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Вопрос дня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5201" y="2424874"/>
            <a:ext cx="10425430" cy="3602354"/>
            <a:chOff x="897089" y="2859913"/>
            <a:chExt cx="10425430" cy="3602354"/>
          </a:xfrm>
        </p:grpSpPr>
        <p:sp>
          <p:nvSpPr>
            <p:cNvPr id="3" name="object 3"/>
            <p:cNvSpPr/>
            <p:nvPr/>
          </p:nvSpPr>
          <p:spPr>
            <a:xfrm>
              <a:off x="922489" y="3280574"/>
              <a:ext cx="10374630" cy="3169285"/>
            </a:xfrm>
            <a:custGeom>
              <a:avLst/>
              <a:gdLst/>
              <a:ahLst/>
              <a:cxnLst/>
              <a:rect l="l" t="t" r="r" b="b"/>
              <a:pathLst>
                <a:path w="10374630" h="3169285">
                  <a:moveTo>
                    <a:pt x="3317748" y="0"/>
                  </a:moveTo>
                  <a:lnTo>
                    <a:pt x="0" y="0"/>
                  </a:lnTo>
                  <a:lnTo>
                    <a:pt x="0" y="3168777"/>
                  </a:lnTo>
                  <a:lnTo>
                    <a:pt x="3317748" y="3168777"/>
                  </a:lnTo>
                  <a:lnTo>
                    <a:pt x="3317748" y="0"/>
                  </a:lnTo>
                  <a:close/>
                </a:path>
                <a:path w="10374630" h="3169285">
                  <a:moveTo>
                    <a:pt x="10374033" y="0"/>
                  </a:moveTo>
                  <a:lnTo>
                    <a:pt x="6967258" y="0"/>
                  </a:lnTo>
                  <a:lnTo>
                    <a:pt x="3317786" y="0"/>
                  </a:lnTo>
                  <a:lnTo>
                    <a:pt x="3317786" y="3168777"/>
                  </a:lnTo>
                  <a:lnTo>
                    <a:pt x="6967258" y="3168777"/>
                  </a:lnTo>
                  <a:lnTo>
                    <a:pt x="10374033" y="3168777"/>
                  </a:lnTo>
                  <a:lnTo>
                    <a:pt x="10374033" y="0"/>
                  </a:lnTo>
                  <a:close/>
                </a:path>
              </a:pathLst>
            </a:custGeom>
            <a:solidFill>
              <a:srgbClr val="DDD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40276" y="2866263"/>
              <a:ext cx="3649979" cy="3589654"/>
            </a:xfrm>
            <a:custGeom>
              <a:avLst/>
              <a:gdLst/>
              <a:ahLst/>
              <a:cxnLst/>
              <a:rect l="l" t="t" r="r" b="b"/>
              <a:pathLst>
                <a:path w="3649979" h="3589654">
                  <a:moveTo>
                    <a:pt x="0" y="0"/>
                  </a:moveTo>
                  <a:lnTo>
                    <a:pt x="0" y="3589439"/>
                  </a:lnTo>
                </a:path>
                <a:path w="3649979" h="3589654">
                  <a:moveTo>
                    <a:pt x="3649472" y="0"/>
                  </a:moveTo>
                  <a:lnTo>
                    <a:pt x="3649472" y="35894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6139" y="3280537"/>
              <a:ext cx="10387330" cy="0"/>
            </a:xfrm>
            <a:custGeom>
              <a:avLst/>
              <a:gdLst/>
              <a:ahLst/>
              <a:cxnLst/>
              <a:rect l="l" t="t" r="r" b="b"/>
              <a:pathLst>
                <a:path w="10387330">
                  <a:moveTo>
                    <a:pt x="0" y="0"/>
                  </a:moveTo>
                  <a:lnTo>
                    <a:pt x="1038673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6139" y="2866263"/>
              <a:ext cx="10387330" cy="3589654"/>
            </a:xfrm>
            <a:custGeom>
              <a:avLst/>
              <a:gdLst/>
              <a:ahLst/>
              <a:cxnLst/>
              <a:rect l="l" t="t" r="r" b="b"/>
              <a:pathLst>
                <a:path w="10387330" h="3589654">
                  <a:moveTo>
                    <a:pt x="6350" y="0"/>
                  </a:moveTo>
                  <a:lnTo>
                    <a:pt x="6350" y="3589439"/>
                  </a:lnTo>
                </a:path>
                <a:path w="10387330" h="3589654">
                  <a:moveTo>
                    <a:pt x="10380383" y="0"/>
                  </a:moveTo>
                  <a:lnTo>
                    <a:pt x="10380383" y="3589439"/>
                  </a:lnTo>
                </a:path>
                <a:path w="10387330" h="3589654">
                  <a:moveTo>
                    <a:pt x="0" y="6350"/>
                  </a:moveTo>
                  <a:lnTo>
                    <a:pt x="10386733" y="6350"/>
                  </a:lnTo>
                </a:path>
                <a:path w="10387330" h="3589654">
                  <a:moveTo>
                    <a:pt x="0" y="3583089"/>
                  </a:moveTo>
                  <a:lnTo>
                    <a:pt x="10386733" y="358308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28839" y="2878963"/>
            <a:ext cx="3305175" cy="309699"/>
          </a:xfrm>
          <a:prstGeom prst="rect">
            <a:avLst/>
          </a:prstGeom>
          <a:solidFill>
            <a:srgbClr val="957D95"/>
          </a:solidFill>
        </p:spPr>
        <p:txBody>
          <a:bodyPr vert="horz" wrap="square" lIns="0" tIns="32384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54"/>
              </a:spcBef>
            </a:pPr>
            <a:r>
              <a:rPr lang="ru-RU" sz="1800" b="1" spc="140" dirty="0">
                <a:solidFill>
                  <a:srgbClr val="FFFFFF"/>
                </a:solidFill>
                <a:latin typeface="Cambria"/>
                <a:cs typeface="Cambria"/>
              </a:rPr>
              <a:t>ТАБЛИЦА МАТЕРИАЛОВ</a:t>
            </a:r>
            <a:endParaRPr lang="en-US" sz="18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46626" y="2878963"/>
            <a:ext cx="3637279" cy="586698"/>
          </a:xfrm>
          <a:prstGeom prst="rect">
            <a:avLst/>
          </a:prstGeom>
          <a:solidFill>
            <a:srgbClr val="957D95"/>
          </a:solidFill>
        </p:spPr>
        <p:txBody>
          <a:bodyPr vert="horz" wrap="square" lIns="0" tIns="32384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54"/>
              </a:spcBef>
            </a:pPr>
            <a:r>
              <a:rPr lang="ru-RU" sz="1800" b="1" spc="165" dirty="0">
                <a:solidFill>
                  <a:srgbClr val="FFFFFF"/>
                </a:solidFill>
                <a:latin typeface="Cambria"/>
                <a:cs typeface="Cambria"/>
              </a:rPr>
              <a:t>Таблица ПРОИЗВОДИТЕЛЕЙ</a:t>
            </a:r>
            <a:endParaRPr lang="en-US" sz="18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96097" y="2878963"/>
            <a:ext cx="3394075" cy="309699"/>
          </a:xfrm>
          <a:prstGeom prst="rect">
            <a:avLst/>
          </a:prstGeom>
          <a:solidFill>
            <a:srgbClr val="957D95"/>
          </a:solidFill>
        </p:spPr>
        <p:txBody>
          <a:bodyPr vert="horz" wrap="square" lIns="0" tIns="32384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54"/>
              </a:spcBef>
            </a:pPr>
            <a:r>
              <a:rPr lang="ru-RU" sz="1800" b="1" spc="155" dirty="0">
                <a:solidFill>
                  <a:srgbClr val="FFFFFF"/>
                </a:solidFill>
                <a:latin typeface="Cambria"/>
                <a:cs typeface="Cambria"/>
              </a:rPr>
              <a:t>Таблица ПРОДУКТОВ</a:t>
            </a:r>
            <a:endParaRPr lang="en-US" sz="1800" dirty="0">
              <a:latin typeface="Cambria"/>
              <a:cs typeface="Cambr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775" y="1028700"/>
            <a:ext cx="8700820" cy="57569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61560" y="4521276"/>
            <a:ext cx="3394583" cy="33177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61560" y="4521276"/>
            <a:ext cx="3394710" cy="332105"/>
          </a:xfrm>
          <a:prstGeom prst="rect">
            <a:avLst/>
          </a:prstGeom>
          <a:ln w="6350">
            <a:solidFill>
              <a:srgbClr val="957D95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160"/>
              </a:spcBef>
            </a:pPr>
            <a:r>
              <a:rPr sz="1800" spc="195" dirty="0">
                <a:latin typeface="Cambria"/>
                <a:cs typeface="Cambria"/>
              </a:rPr>
              <a:t>RECIPE_ID:…,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175" dirty="0">
                <a:latin typeface="Cambria"/>
                <a:cs typeface="Cambria"/>
              </a:rPr>
              <a:t>COMPANY:…</a:t>
            </a:r>
            <a:endParaRPr sz="1800" dirty="0">
              <a:latin typeface="Cambria"/>
              <a:cs typeface="Cambri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577" y="3728288"/>
            <a:ext cx="1805813" cy="33177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576577" y="3728288"/>
            <a:ext cx="1805939" cy="297517"/>
          </a:xfrm>
          <a:prstGeom prst="rect">
            <a:avLst/>
          </a:prstGeom>
          <a:ln w="6350">
            <a:solidFill>
              <a:srgbClr val="CCC792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160"/>
              </a:spcBef>
            </a:pPr>
            <a:r>
              <a:rPr lang="ru-RU" sz="1800" spc="140" dirty="0">
                <a:latin typeface="Cambria"/>
                <a:cs typeface="Cambria"/>
              </a:rPr>
              <a:t>Зерно</a:t>
            </a:r>
            <a:endParaRPr sz="1800" dirty="0">
              <a:latin typeface="Cambria"/>
              <a:cs typeface="Cambri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76577" y="4521276"/>
            <a:ext cx="1805813" cy="33177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576577" y="4521276"/>
            <a:ext cx="1805939" cy="297517"/>
          </a:xfrm>
          <a:prstGeom prst="rect">
            <a:avLst/>
          </a:prstGeom>
          <a:ln w="6350">
            <a:solidFill>
              <a:srgbClr val="CCC792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160"/>
              </a:spcBef>
            </a:pPr>
            <a:r>
              <a:rPr lang="ru-RU" spc="135" dirty="0">
                <a:latin typeface="Cambria"/>
                <a:cs typeface="Cambria"/>
              </a:rPr>
              <a:t>Вода</a:t>
            </a:r>
            <a:endParaRPr sz="1800" dirty="0">
              <a:latin typeface="Cambria"/>
              <a:cs typeface="Cambri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76577" y="5316156"/>
            <a:ext cx="1805813" cy="33177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22729" y="5280007"/>
            <a:ext cx="2166011" cy="298159"/>
          </a:xfrm>
          <a:prstGeom prst="rect">
            <a:avLst/>
          </a:prstGeom>
          <a:ln w="6350">
            <a:solidFill>
              <a:srgbClr val="CCC792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363220">
              <a:lnSpc>
                <a:spcPct val="100000"/>
              </a:lnSpc>
              <a:spcBef>
                <a:spcPts val="165"/>
              </a:spcBef>
            </a:pPr>
            <a:r>
              <a:rPr lang="ru-RU" spc="140" dirty="0">
                <a:latin typeface="Cambria"/>
                <a:cs typeface="Cambria"/>
              </a:rPr>
              <a:t>Др. продукты</a:t>
            </a:r>
            <a:endParaRPr sz="1800" dirty="0">
              <a:latin typeface="Cambria"/>
              <a:cs typeface="Cambri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42528" y="3894277"/>
            <a:ext cx="2268474" cy="33177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8542528" y="3894277"/>
            <a:ext cx="2268855" cy="297517"/>
          </a:xfrm>
          <a:prstGeom prst="rect">
            <a:avLst/>
          </a:prstGeom>
          <a:ln w="6350">
            <a:solidFill>
              <a:srgbClr val="6E8183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160"/>
              </a:spcBef>
            </a:pPr>
            <a:r>
              <a:rPr lang="ru-RU" sz="1800" spc="140" dirty="0">
                <a:latin typeface="Cambria"/>
                <a:cs typeface="Cambria"/>
              </a:rPr>
              <a:t>Мясо</a:t>
            </a:r>
            <a:endParaRPr sz="1800" dirty="0">
              <a:latin typeface="Cambria"/>
              <a:cs typeface="Cambri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42528" y="4973269"/>
            <a:ext cx="2268474" cy="33177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8542528" y="4973269"/>
            <a:ext cx="2268855" cy="298159"/>
          </a:xfrm>
          <a:prstGeom prst="rect">
            <a:avLst/>
          </a:prstGeom>
          <a:ln w="6350">
            <a:solidFill>
              <a:srgbClr val="6E8183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363220">
              <a:lnSpc>
                <a:spcPct val="100000"/>
              </a:lnSpc>
              <a:spcBef>
                <a:spcPts val="165"/>
              </a:spcBef>
            </a:pPr>
            <a:r>
              <a:rPr lang="ru-RU" spc="140" dirty="0">
                <a:latin typeface="Cambria"/>
                <a:cs typeface="Cambria"/>
              </a:rPr>
              <a:t>Др. продукты</a:t>
            </a:r>
            <a:endParaRPr lang="ru-RU" sz="1800" dirty="0">
              <a:latin typeface="Cambria"/>
              <a:cs typeface="Cambr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378453" y="3889247"/>
            <a:ext cx="5164455" cy="1597660"/>
            <a:chOff x="3378453" y="3889247"/>
            <a:chExt cx="5164455" cy="1597660"/>
          </a:xfrm>
        </p:grpSpPr>
        <p:sp>
          <p:nvSpPr>
            <p:cNvPr id="24" name="object 24"/>
            <p:cNvSpPr/>
            <p:nvPr/>
          </p:nvSpPr>
          <p:spPr>
            <a:xfrm>
              <a:off x="3378454" y="3889247"/>
              <a:ext cx="983615" cy="1597660"/>
            </a:xfrm>
            <a:custGeom>
              <a:avLst/>
              <a:gdLst/>
              <a:ahLst/>
              <a:cxnLst/>
              <a:rect l="l" t="t" r="r" b="b"/>
              <a:pathLst>
                <a:path w="983614" h="1597660">
                  <a:moveTo>
                    <a:pt x="983107" y="797941"/>
                  </a:moveTo>
                  <a:lnTo>
                    <a:pt x="967206" y="762889"/>
                  </a:lnTo>
                  <a:lnTo>
                    <a:pt x="947928" y="720344"/>
                  </a:lnTo>
                  <a:lnTo>
                    <a:pt x="927912" y="745020"/>
                  </a:lnTo>
                  <a:lnTo>
                    <a:pt x="8001" y="0"/>
                  </a:lnTo>
                  <a:lnTo>
                    <a:pt x="0" y="9906"/>
                  </a:lnTo>
                  <a:lnTo>
                    <a:pt x="919899" y="754900"/>
                  </a:lnTo>
                  <a:lnTo>
                    <a:pt x="913295" y="763041"/>
                  </a:lnTo>
                  <a:lnTo>
                    <a:pt x="906907" y="759841"/>
                  </a:lnTo>
                  <a:lnTo>
                    <a:pt x="906907" y="770928"/>
                  </a:lnTo>
                  <a:lnTo>
                    <a:pt x="899922" y="779526"/>
                  </a:lnTo>
                  <a:lnTo>
                    <a:pt x="906907" y="781075"/>
                  </a:lnTo>
                  <a:lnTo>
                    <a:pt x="906907" y="791591"/>
                  </a:lnTo>
                  <a:lnTo>
                    <a:pt x="4064" y="791591"/>
                  </a:lnTo>
                  <a:lnTo>
                    <a:pt x="4064" y="804291"/>
                  </a:lnTo>
                  <a:lnTo>
                    <a:pt x="906907" y="804291"/>
                  </a:lnTo>
                  <a:lnTo>
                    <a:pt x="906907" y="814819"/>
                  </a:lnTo>
                  <a:lnTo>
                    <a:pt x="899922" y="816356"/>
                  </a:lnTo>
                  <a:lnTo>
                    <a:pt x="906907" y="824953"/>
                  </a:lnTo>
                  <a:lnTo>
                    <a:pt x="906907" y="836041"/>
                  </a:lnTo>
                  <a:lnTo>
                    <a:pt x="913307" y="832840"/>
                  </a:lnTo>
                  <a:lnTo>
                    <a:pt x="919988" y="841044"/>
                  </a:lnTo>
                  <a:lnTo>
                    <a:pt x="0" y="1587881"/>
                  </a:lnTo>
                  <a:lnTo>
                    <a:pt x="8001" y="1597660"/>
                  </a:lnTo>
                  <a:lnTo>
                    <a:pt x="928014" y="850912"/>
                  </a:lnTo>
                  <a:lnTo>
                    <a:pt x="948055" y="875538"/>
                  </a:lnTo>
                  <a:lnTo>
                    <a:pt x="967270" y="832993"/>
                  </a:lnTo>
                  <a:lnTo>
                    <a:pt x="983107" y="797941"/>
                  </a:lnTo>
                  <a:close/>
                </a:path>
              </a:pathLst>
            </a:custGeom>
            <a:solidFill>
              <a:srgbClr val="939C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748270" y="4060062"/>
              <a:ext cx="794385" cy="1079500"/>
            </a:xfrm>
            <a:custGeom>
              <a:avLst/>
              <a:gdLst/>
              <a:ahLst/>
              <a:cxnLst/>
              <a:rect l="l" t="t" r="r" b="b"/>
              <a:pathLst>
                <a:path w="794384" h="1079500">
                  <a:moveTo>
                    <a:pt x="794258" y="0"/>
                  </a:moveTo>
                  <a:lnTo>
                    <a:pt x="710819" y="17526"/>
                  </a:lnTo>
                  <a:lnTo>
                    <a:pt x="730580" y="42443"/>
                  </a:lnTo>
                  <a:lnTo>
                    <a:pt x="0" y="622173"/>
                  </a:lnTo>
                  <a:lnTo>
                    <a:pt x="6248" y="630047"/>
                  </a:lnTo>
                  <a:lnTo>
                    <a:pt x="4826" y="632587"/>
                  </a:lnTo>
                  <a:lnTo>
                    <a:pt x="724979" y="1046657"/>
                  </a:lnTo>
                  <a:lnTo>
                    <a:pt x="709168" y="1074166"/>
                  </a:lnTo>
                  <a:lnTo>
                    <a:pt x="794258" y="1079119"/>
                  </a:lnTo>
                  <a:lnTo>
                    <a:pt x="776884" y="1052957"/>
                  </a:lnTo>
                  <a:lnTo>
                    <a:pt x="747141" y="1008126"/>
                  </a:lnTo>
                  <a:lnTo>
                    <a:pt x="731342" y="1035608"/>
                  </a:lnTo>
                  <a:lnTo>
                    <a:pt x="16903" y="624916"/>
                  </a:lnTo>
                  <a:lnTo>
                    <a:pt x="738454" y="52362"/>
                  </a:lnTo>
                  <a:lnTo>
                    <a:pt x="758190" y="77216"/>
                  </a:lnTo>
                  <a:lnTo>
                    <a:pt x="778116" y="34544"/>
                  </a:lnTo>
                  <a:lnTo>
                    <a:pt x="794258" y="0"/>
                  </a:lnTo>
                  <a:close/>
                </a:path>
              </a:pathLst>
            </a:custGeom>
            <a:solidFill>
              <a:srgbClr val="6E81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001369" y="1826132"/>
            <a:ext cx="9245600" cy="612347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lang="ru-RU" b="1" spc="80" dirty="0"/>
              <a:t>Проблема</a:t>
            </a:r>
            <a:r>
              <a:rPr b="1" spc="80" dirty="0">
                <a:latin typeface="Cambria"/>
                <a:cs typeface="Cambria"/>
              </a:rPr>
              <a:t>:</a:t>
            </a:r>
            <a:r>
              <a:rPr b="1" spc="185" dirty="0">
                <a:latin typeface="Cambria"/>
                <a:cs typeface="Cambria"/>
              </a:rPr>
              <a:t> </a:t>
            </a:r>
            <a:r>
              <a:rPr lang="ru-RU" dirty="0">
                <a:effectLst/>
              </a:rPr>
              <a:t>чтобы разобраться в рецептах, производственных цепочках и т.д. необходимо запрашивать несколько таблиц одновременно.</a:t>
            </a:r>
            <a:endParaRPr spc="130" dirty="0"/>
          </a:p>
        </p:txBody>
      </p:sp>
      <p:sp>
        <p:nvSpPr>
          <p:cNvPr id="27" name="object 27"/>
          <p:cNvSpPr txBox="1"/>
          <p:nvPr/>
        </p:nvSpPr>
        <p:spPr>
          <a:xfrm>
            <a:off x="11519407" y="6333410"/>
            <a:ext cx="226695" cy="2444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3</a:t>
            </a:fld>
            <a:endParaRPr sz="1400">
              <a:latin typeface="Tahoma"/>
              <a:cs typeface="Tahom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735799-CC82-2F5A-3507-10BF4CBF6C6F}"/>
              </a:ext>
            </a:extLst>
          </p:cNvPr>
          <p:cNvSpPr txBox="1"/>
          <p:nvPr/>
        </p:nvSpPr>
        <p:spPr>
          <a:xfrm>
            <a:off x="908899" y="6826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Структура рецепта в базе данных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300" y="1028700"/>
            <a:ext cx="8969019" cy="58394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2400" y="2178753"/>
            <a:ext cx="12039600" cy="38241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2892425">
              <a:lnSpc>
                <a:spcPct val="140000"/>
              </a:lnSpc>
              <a:spcBef>
                <a:spcPts val="100"/>
              </a:spcBef>
            </a:pPr>
            <a:r>
              <a:rPr sz="2000" b="1" spc="90" dirty="0">
                <a:latin typeface="Cambria"/>
                <a:cs typeface="Cambria"/>
              </a:rPr>
              <a:t>n-</a:t>
            </a:r>
            <a:r>
              <a:rPr lang="ru-RU" sz="2000" b="1" spc="105" dirty="0">
                <a:latin typeface="Cambria"/>
                <a:cs typeface="Cambria"/>
              </a:rPr>
              <a:t>кортеж</a:t>
            </a:r>
            <a:r>
              <a:rPr sz="2000" b="1" spc="25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(</a:t>
            </a:r>
            <a:r>
              <a:rPr lang="ru-RU" sz="2000" b="1" dirty="0">
                <a:latin typeface="Cambria"/>
                <a:cs typeface="Cambria"/>
              </a:rPr>
              <a:t>кортеж</a:t>
            </a:r>
            <a:r>
              <a:rPr sz="2000" b="1" dirty="0">
                <a:latin typeface="Cambria"/>
                <a:cs typeface="Cambria"/>
              </a:rPr>
              <a:t>)</a:t>
            </a:r>
            <a:r>
              <a:rPr sz="2000" b="1" spc="2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235" dirty="0">
                <a:latin typeface="Cambria"/>
                <a:cs typeface="Cambria"/>
              </a:rPr>
              <a:t> </a:t>
            </a:r>
            <a:r>
              <a:rPr lang="ru-RU" sz="2000" spc="125" dirty="0">
                <a:latin typeface="Cambria"/>
                <a:cs typeface="Cambria"/>
              </a:rPr>
              <a:t> последовательность из </a:t>
            </a:r>
            <a:r>
              <a:rPr sz="2000" b="1" spc="145" dirty="0">
                <a:latin typeface="Cambria"/>
                <a:cs typeface="Cambria"/>
              </a:rPr>
              <a:t>n</a:t>
            </a:r>
            <a:r>
              <a:rPr sz="2000" b="1" spc="240" dirty="0">
                <a:latin typeface="Cambria"/>
                <a:cs typeface="Cambria"/>
              </a:rPr>
              <a:t> </a:t>
            </a:r>
            <a:r>
              <a:rPr lang="ru-RU" sz="2000" spc="110" dirty="0">
                <a:latin typeface="Cambria"/>
                <a:cs typeface="Cambria"/>
              </a:rPr>
              <a:t>элементов</a:t>
            </a:r>
            <a:r>
              <a:rPr sz="2000" spc="110" dirty="0">
                <a:latin typeface="Cambria"/>
                <a:cs typeface="Cambria"/>
              </a:rPr>
              <a:t>: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b="1" spc="70" dirty="0">
                <a:latin typeface="Cambria"/>
                <a:cs typeface="Cambria"/>
              </a:rPr>
              <a:t>(x</a:t>
            </a:r>
            <a:r>
              <a:rPr sz="1950" b="1" spc="104" baseline="-21367" dirty="0">
                <a:latin typeface="Cambria"/>
                <a:cs typeface="Cambria"/>
              </a:rPr>
              <a:t>1</a:t>
            </a:r>
            <a:r>
              <a:rPr sz="2000" b="1" spc="70" dirty="0">
                <a:latin typeface="Cambria"/>
                <a:cs typeface="Cambria"/>
              </a:rPr>
              <a:t>,</a:t>
            </a:r>
            <a:r>
              <a:rPr sz="2000" b="1" spc="235" dirty="0">
                <a:latin typeface="Cambria"/>
                <a:cs typeface="Cambria"/>
              </a:rPr>
              <a:t> </a:t>
            </a:r>
            <a:r>
              <a:rPr sz="2000" b="1" spc="155" dirty="0">
                <a:latin typeface="Cambria"/>
                <a:cs typeface="Cambria"/>
              </a:rPr>
              <a:t>x</a:t>
            </a:r>
            <a:r>
              <a:rPr sz="1950" b="1" spc="232" baseline="-21367" dirty="0">
                <a:latin typeface="Cambria"/>
                <a:cs typeface="Cambria"/>
              </a:rPr>
              <a:t>2</a:t>
            </a:r>
            <a:r>
              <a:rPr sz="2000" b="1" spc="155" dirty="0">
                <a:latin typeface="Cambria"/>
                <a:cs typeface="Cambria"/>
              </a:rPr>
              <a:t>,</a:t>
            </a:r>
            <a:r>
              <a:rPr lang="ru-RU" sz="2000" b="1" spc="235" dirty="0">
                <a:latin typeface="Cambria"/>
                <a:cs typeface="Cambria"/>
              </a:rPr>
              <a:t> </a:t>
            </a:r>
            <a:r>
              <a:rPr sz="2000" b="1" spc="330" dirty="0">
                <a:latin typeface="Cambria"/>
                <a:cs typeface="Cambria"/>
              </a:rPr>
              <a:t>…,</a:t>
            </a:r>
            <a:r>
              <a:rPr sz="2000" b="1" spc="254" dirty="0">
                <a:latin typeface="Cambria"/>
                <a:cs typeface="Cambria"/>
              </a:rPr>
              <a:t> </a:t>
            </a:r>
            <a:r>
              <a:rPr sz="2000" b="1" spc="-25" dirty="0">
                <a:latin typeface="Cambria"/>
                <a:cs typeface="Cambria"/>
              </a:rPr>
              <a:t>x</a:t>
            </a:r>
            <a:r>
              <a:rPr sz="1950" b="1" spc="-37" baseline="-21367" dirty="0">
                <a:latin typeface="Cambria"/>
                <a:cs typeface="Cambria"/>
              </a:rPr>
              <a:t>n</a:t>
            </a:r>
            <a:r>
              <a:rPr sz="2000" b="1" spc="-25" dirty="0">
                <a:latin typeface="Cambria"/>
                <a:cs typeface="Cambria"/>
              </a:rPr>
              <a:t>) </a:t>
            </a:r>
            <a:r>
              <a:rPr lang="ru-RU" sz="2000" b="1" spc="114" dirty="0">
                <a:latin typeface="Cambria"/>
                <a:cs typeface="Cambria"/>
              </a:rPr>
              <a:t>Тип</a:t>
            </a:r>
            <a:r>
              <a:rPr sz="2000" b="1" spc="114" dirty="0">
                <a:latin typeface="Cambria"/>
                <a:cs typeface="Cambria"/>
              </a:rPr>
              <a:t>:</a:t>
            </a:r>
            <a:r>
              <a:rPr sz="2000" b="1" spc="225" dirty="0">
                <a:latin typeface="Cambria"/>
                <a:cs typeface="Cambria"/>
              </a:rPr>
              <a:t> </a:t>
            </a:r>
            <a:r>
              <a:rPr sz="2000" b="1" spc="145" dirty="0">
                <a:latin typeface="Cambria"/>
                <a:cs typeface="Cambria"/>
              </a:rPr>
              <a:t>x</a:t>
            </a:r>
            <a:r>
              <a:rPr sz="2000" b="1" spc="225" dirty="0">
                <a:latin typeface="Cambria"/>
                <a:cs typeface="Cambria"/>
              </a:rPr>
              <a:t> </a:t>
            </a:r>
            <a:r>
              <a:rPr lang="ru-RU" sz="2000" spc="110" dirty="0">
                <a:latin typeface="Cambria"/>
                <a:cs typeface="Cambria"/>
              </a:rPr>
              <a:t>относится к типу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b="1" spc="125" dirty="0">
                <a:latin typeface="Cambria"/>
                <a:cs typeface="Cambria"/>
              </a:rPr>
              <a:t>T</a:t>
            </a:r>
            <a:r>
              <a:rPr sz="2000" b="1" spc="225" dirty="0">
                <a:latin typeface="Cambria"/>
                <a:cs typeface="Cambria"/>
              </a:rPr>
              <a:t> </a:t>
            </a:r>
            <a:r>
              <a:rPr lang="ru-RU" sz="2000" b="1" spc="225" dirty="0">
                <a:latin typeface="Cambria"/>
                <a:cs typeface="Cambria"/>
              </a:rPr>
              <a:t>если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b="1" spc="145" dirty="0">
                <a:latin typeface="Cambria"/>
                <a:cs typeface="Cambria"/>
              </a:rPr>
              <a:t>x</a:t>
            </a:r>
            <a:r>
              <a:rPr sz="2000" b="1" spc="245" dirty="0">
                <a:latin typeface="Cambria"/>
                <a:cs typeface="Cambria"/>
              </a:rPr>
              <a:t> </a:t>
            </a:r>
            <a:r>
              <a:rPr sz="2000" dirty="0">
                <a:latin typeface="Cambria Math"/>
                <a:cs typeface="Cambria Math"/>
              </a:rPr>
              <a:t>∈</a:t>
            </a:r>
            <a:r>
              <a:rPr sz="2000" spc="265" dirty="0">
                <a:latin typeface="Cambria Math"/>
                <a:cs typeface="Cambria Math"/>
              </a:rPr>
              <a:t> </a:t>
            </a:r>
            <a:r>
              <a:rPr sz="2000" b="1" spc="75" dirty="0">
                <a:latin typeface="Cambria"/>
                <a:cs typeface="Cambria"/>
              </a:rPr>
              <a:t>T</a:t>
            </a:r>
            <a:endParaRPr sz="2000" dirty="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960"/>
              </a:spcBef>
            </a:pPr>
            <a:r>
              <a:rPr lang="ru-RU" sz="2000" b="1" spc="120" dirty="0">
                <a:latin typeface="Cambria"/>
                <a:cs typeface="Cambria"/>
              </a:rPr>
              <a:t>Тип кортежа</a:t>
            </a:r>
            <a:r>
              <a:rPr sz="2000" spc="110" dirty="0">
                <a:latin typeface="Cambria"/>
                <a:cs typeface="Cambria"/>
              </a:rPr>
              <a:t>: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lang="ru-RU" sz="2000" spc="204" dirty="0">
                <a:latin typeface="Cambria"/>
                <a:cs typeface="Cambria"/>
              </a:rPr>
              <a:t>если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b="1" spc="120" dirty="0">
                <a:latin typeface="Cambria"/>
                <a:cs typeface="Cambria"/>
              </a:rPr>
              <a:t>x</a:t>
            </a:r>
            <a:r>
              <a:rPr sz="1950" b="1" spc="179" baseline="-21367" dirty="0">
                <a:latin typeface="Cambria"/>
                <a:cs typeface="Cambria"/>
              </a:rPr>
              <a:t>i</a:t>
            </a:r>
            <a:r>
              <a:rPr lang="ru-RU" sz="1950" b="1" spc="502" baseline="-21367" dirty="0">
                <a:latin typeface="Cambria"/>
                <a:cs typeface="Cambria"/>
              </a:rPr>
              <a:t> </a:t>
            </a:r>
            <a:r>
              <a:rPr lang="ru-RU" sz="2000" spc="210" dirty="0">
                <a:latin typeface="Cambria"/>
                <a:cs typeface="Cambria"/>
              </a:rPr>
              <a:t>имеет тип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b="1" spc="135" dirty="0">
                <a:latin typeface="Cambria"/>
                <a:cs typeface="Cambria"/>
              </a:rPr>
              <a:t>T</a:t>
            </a:r>
            <a:r>
              <a:rPr sz="1950" b="1" spc="202" baseline="-21367" dirty="0">
                <a:latin typeface="Cambria"/>
                <a:cs typeface="Cambria"/>
              </a:rPr>
              <a:t>i</a:t>
            </a:r>
            <a:r>
              <a:rPr sz="2000" spc="135" dirty="0">
                <a:latin typeface="Cambria"/>
                <a:cs typeface="Cambria"/>
              </a:rPr>
              <a:t>,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lang="ru-RU" sz="2000" spc="140" dirty="0">
                <a:latin typeface="Cambria"/>
                <a:cs typeface="Cambria"/>
              </a:rPr>
              <a:t>то весь кортеж имеет тип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b="1" spc="100" dirty="0">
                <a:latin typeface="Cambria"/>
                <a:cs typeface="Cambria"/>
              </a:rPr>
              <a:t>T</a:t>
            </a:r>
            <a:r>
              <a:rPr sz="1950" b="1" spc="150" baseline="-21367" dirty="0">
                <a:latin typeface="Cambria"/>
                <a:cs typeface="Cambria"/>
              </a:rPr>
              <a:t>1</a:t>
            </a:r>
            <a:r>
              <a:rPr sz="2000" b="1" spc="100" dirty="0">
                <a:latin typeface="Cambria"/>
                <a:cs typeface="Cambria"/>
              </a:rPr>
              <a:t>×T</a:t>
            </a:r>
            <a:r>
              <a:rPr sz="1950" b="1" spc="150" baseline="-21367" dirty="0">
                <a:latin typeface="Cambria"/>
                <a:cs typeface="Cambria"/>
              </a:rPr>
              <a:t>2</a:t>
            </a:r>
            <a:r>
              <a:rPr sz="2000" b="1" spc="100" dirty="0">
                <a:latin typeface="Cambria"/>
                <a:cs typeface="Cambria"/>
              </a:rPr>
              <a:t>×…×T</a:t>
            </a:r>
            <a:r>
              <a:rPr sz="1950" b="1" spc="150" baseline="-21367" dirty="0">
                <a:latin typeface="Cambria"/>
                <a:cs typeface="Cambria"/>
              </a:rPr>
              <a:t>n</a:t>
            </a:r>
            <a:endParaRPr sz="1950" baseline="-21367" dirty="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960"/>
              </a:spcBef>
            </a:pPr>
            <a:r>
              <a:rPr lang="ru-RU" sz="2000" b="1" spc="110" dirty="0">
                <a:latin typeface="Cambria"/>
                <a:cs typeface="Cambria"/>
              </a:rPr>
              <a:t>Запись </a:t>
            </a:r>
            <a:r>
              <a:rPr lang="ru-RU" sz="2000" spc="55" dirty="0">
                <a:latin typeface="Cambria"/>
              </a:rPr>
              <a:t>это </a:t>
            </a:r>
            <a:r>
              <a:rPr lang="ru-RU" sz="2000" b="1" spc="55" dirty="0">
                <a:latin typeface="Cambria"/>
              </a:rPr>
              <a:t>кортеж </a:t>
            </a:r>
            <a:r>
              <a:rPr lang="ru-RU" sz="2000" spc="55" dirty="0">
                <a:latin typeface="Cambria"/>
              </a:rPr>
              <a:t>с именованными атрибутами</a:t>
            </a:r>
            <a:r>
              <a:rPr sz="2000" spc="55" dirty="0">
                <a:latin typeface="Cambria"/>
              </a:rPr>
              <a:t>. </a:t>
            </a:r>
            <a:r>
              <a:rPr lang="ru-RU" sz="2000" spc="55" dirty="0">
                <a:latin typeface="Cambria"/>
                <a:cs typeface="Cambria"/>
              </a:rPr>
              <a:t>Оба термина будут использоваться взаимозаменяемо</a:t>
            </a:r>
            <a:r>
              <a:rPr sz="2000" spc="110" dirty="0">
                <a:latin typeface="Cambria"/>
                <a:cs typeface="Cambria"/>
              </a:rPr>
              <a:t>.</a:t>
            </a:r>
            <a:endParaRPr sz="2000" dirty="0">
              <a:latin typeface="Cambria"/>
              <a:cs typeface="Cambria"/>
            </a:endParaRPr>
          </a:p>
          <a:p>
            <a:pPr marL="50800" marR="221615">
              <a:lnSpc>
                <a:spcPts val="2160"/>
              </a:lnSpc>
              <a:spcBef>
                <a:spcPts val="1230"/>
              </a:spcBef>
            </a:pPr>
            <a:r>
              <a:rPr lang="en-US" sz="2000" b="1" spc="90" dirty="0">
                <a:latin typeface="Cambria"/>
                <a:cs typeface="Cambria"/>
              </a:rPr>
              <a:t>n</a:t>
            </a:r>
            <a:r>
              <a:rPr lang="ru-RU" sz="2000" b="1" spc="90" dirty="0">
                <a:latin typeface="Cambria"/>
                <a:cs typeface="Cambria"/>
              </a:rPr>
              <a:t> отношение</a:t>
            </a:r>
            <a:r>
              <a:rPr sz="2000" b="1" spc="204" dirty="0">
                <a:latin typeface="Cambria"/>
                <a:cs typeface="Cambria"/>
              </a:rPr>
              <a:t> </a:t>
            </a:r>
            <a:r>
              <a:rPr lang="ru-RU" sz="2000" spc="50" dirty="0">
                <a:latin typeface="Cambria"/>
                <a:cs typeface="Cambria"/>
              </a:rPr>
              <a:t>над множеством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b="1" spc="120" dirty="0">
                <a:latin typeface="Cambria"/>
                <a:cs typeface="Cambria"/>
              </a:rPr>
              <a:t>T</a:t>
            </a:r>
            <a:r>
              <a:rPr sz="1950" b="1" spc="179" baseline="-21367" dirty="0">
                <a:latin typeface="Cambria"/>
                <a:cs typeface="Cambria"/>
              </a:rPr>
              <a:t>1,</a:t>
            </a:r>
            <a:r>
              <a:rPr sz="1950" b="1" spc="247" baseline="-21367" dirty="0">
                <a:latin typeface="Cambria"/>
                <a:cs typeface="Cambria"/>
              </a:rPr>
              <a:t> </a:t>
            </a:r>
            <a:r>
              <a:rPr sz="2000" b="1" spc="185" dirty="0">
                <a:latin typeface="Cambria"/>
                <a:cs typeface="Cambria"/>
              </a:rPr>
              <a:t>T</a:t>
            </a:r>
            <a:r>
              <a:rPr sz="1950" b="1" spc="277" baseline="-21367" dirty="0">
                <a:latin typeface="Cambria"/>
                <a:cs typeface="Cambria"/>
              </a:rPr>
              <a:t>2</a:t>
            </a:r>
            <a:r>
              <a:rPr sz="2000" b="1" spc="185" dirty="0">
                <a:latin typeface="Cambria"/>
                <a:cs typeface="Cambria"/>
              </a:rPr>
              <a:t>,…T</a:t>
            </a:r>
            <a:r>
              <a:rPr sz="1950" b="1" spc="277" baseline="-21367" dirty="0">
                <a:latin typeface="Cambria"/>
                <a:cs typeface="Cambria"/>
              </a:rPr>
              <a:t>n</a:t>
            </a:r>
            <a:r>
              <a:rPr sz="1950" b="1" spc="217" baseline="-21367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lang="ru-RU" sz="2000" b="1" spc="185" dirty="0">
                <a:latin typeface="Cambria"/>
                <a:cs typeface="Cambria"/>
              </a:rPr>
              <a:t>подмножество</a:t>
            </a:r>
            <a:r>
              <a:rPr sz="2000" b="1" spc="215" dirty="0">
                <a:latin typeface="Cambria"/>
                <a:cs typeface="Cambria"/>
              </a:rPr>
              <a:t> </a:t>
            </a:r>
            <a:r>
              <a:rPr sz="2000" b="1" spc="125" dirty="0">
                <a:latin typeface="Cambria"/>
                <a:cs typeface="Cambria"/>
              </a:rPr>
              <a:t>T</a:t>
            </a:r>
            <a:r>
              <a:rPr sz="1950" b="1" spc="187" baseline="-21367" dirty="0">
                <a:latin typeface="Cambria"/>
                <a:cs typeface="Cambria"/>
              </a:rPr>
              <a:t>1</a:t>
            </a:r>
            <a:r>
              <a:rPr sz="2000" b="1" spc="125" dirty="0">
                <a:latin typeface="Cambria"/>
                <a:cs typeface="Cambria"/>
              </a:rPr>
              <a:t>×T</a:t>
            </a:r>
            <a:r>
              <a:rPr sz="1950" b="1" spc="187" baseline="-21367" dirty="0">
                <a:latin typeface="Cambria"/>
                <a:cs typeface="Cambria"/>
              </a:rPr>
              <a:t>2</a:t>
            </a:r>
            <a:r>
              <a:rPr sz="2000" b="1" spc="125" dirty="0">
                <a:latin typeface="Cambria"/>
                <a:cs typeface="Cambria"/>
              </a:rPr>
              <a:t>×…×T</a:t>
            </a:r>
            <a:r>
              <a:rPr sz="1950" b="1" spc="187" baseline="-21367" dirty="0">
                <a:latin typeface="Cambria"/>
                <a:cs typeface="Cambria"/>
              </a:rPr>
              <a:t>n</a:t>
            </a:r>
            <a:r>
              <a:rPr sz="2000" spc="125" dirty="0">
                <a:latin typeface="Cambria"/>
                <a:cs typeface="Cambria"/>
              </a:rPr>
              <a:t>,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(</a:t>
            </a:r>
            <a:r>
              <a:rPr lang="ru-RU" sz="2000" spc="105" dirty="0">
                <a:latin typeface="Cambria"/>
                <a:cs typeface="Cambria"/>
              </a:rPr>
              <a:t>декартовое произведение или перекрестное произведение</a:t>
            </a:r>
            <a:r>
              <a:rPr sz="2000" spc="85" dirty="0">
                <a:latin typeface="Cambria"/>
                <a:cs typeface="Cambria"/>
              </a:rPr>
              <a:t>)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lang="ru-RU" sz="2000" spc="140" dirty="0">
                <a:latin typeface="Cambria"/>
                <a:cs typeface="Cambria"/>
              </a:rPr>
              <a:t>т.е. набор кортежей такого типа</a:t>
            </a:r>
          </a:p>
          <a:p>
            <a:pPr marL="50800" marR="221615">
              <a:lnSpc>
                <a:spcPts val="2160"/>
              </a:lnSpc>
              <a:spcBef>
                <a:spcPts val="1230"/>
              </a:spcBef>
            </a:pPr>
            <a:endParaRPr sz="2000" dirty="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lang="ru-RU" sz="2000" b="1" spc="65" dirty="0">
                <a:latin typeface="Cambria"/>
                <a:cs typeface="Cambria"/>
              </a:rPr>
              <a:t>Таблица </a:t>
            </a:r>
            <a:r>
              <a:rPr lang="ru-RU" sz="2000" spc="65" dirty="0">
                <a:latin typeface="Cambria"/>
                <a:cs typeface="Cambria"/>
              </a:rPr>
              <a:t>(мультимножество) в </a:t>
            </a:r>
            <a:r>
              <a:rPr lang="en-US" sz="2000" spc="235" dirty="0">
                <a:latin typeface="Cambria"/>
                <a:cs typeface="Cambria"/>
              </a:rPr>
              <a:t>RDB</a:t>
            </a:r>
            <a:r>
              <a:rPr lang="en-US" sz="2000" spc="195" dirty="0">
                <a:latin typeface="Cambria"/>
                <a:cs typeface="Cambria"/>
              </a:rPr>
              <a:t> </a:t>
            </a:r>
            <a:r>
              <a:rPr lang="ru-RU" sz="2000" spc="165" dirty="0">
                <a:latin typeface="Cambria"/>
                <a:cs typeface="Cambria"/>
              </a:rPr>
              <a:t>и </a:t>
            </a:r>
            <a:r>
              <a:rPr lang="ru-RU" sz="2000" b="1" spc="165" dirty="0">
                <a:latin typeface="Cambria"/>
                <a:cs typeface="Cambria"/>
              </a:rPr>
              <a:t>отношение</a:t>
            </a:r>
            <a:r>
              <a:rPr lang="ru-RU" sz="2000" spc="165" dirty="0">
                <a:latin typeface="Cambria"/>
                <a:cs typeface="Cambria"/>
              </a:rPr>
              <a:t> (набор) в математике - это почти одно и то же.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19407" y="6333410"/>
            <a:ext cx="226695" cy="2444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4</a:t>
            </a:fld>
            <a:endParaRPr sz="1400">
              <a:latin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80C935-BC69-9BEE-3614-3132386B198E}"/>
              </a:ext>
            </a:extLst>
          </p:cNvPr>
          <p:cNvSpPr txBox="1"/>
          <p:nvPr/>
        </p:nvSpPr>
        <p:spPr>
          <a:xfrm>
            <a:off x="1091438" y="1579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Основные термины (немного более формальные)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70" y="1028700"/>
            <a:ext cx="9318536" cy="58394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8588" y="2088006"/>
            <a:ext cx="4914265" cy="466281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95580" marR="5080" indent="-183515">
              <a:lnSpc>
                <a:spcPts val="1820"/>
              </a:lnSpc>
              <a:spcBef>
                <a:spcPts val="540"/>
              </a:spcBef>
              <a:buClr>
                <a:srgbClr val="957D95"/>
              </a:buClr>
              <a:buSzPct val="84210"/>
              <a:buFont typeface="Wingdings"/>
              <a:buChar char=""/>
              <a:tabLst>
                <a:tab pos="195580" algn="l"/>
              </a:tabLst>
            </a:pPr>
            <a:r>
              <a:rPr lang="ru-RU" sz="1900" b="1" spc="95" dirty="0">
                <a:latin typeface="Cambria"/>
                <a:cs typeface="Cambria"/>
              </a:rPr>
              <a:t>Проекция - </a:t>
            </a:r>
            <a:r>
              <a:rPr lang="ru-RU" sz="1900" spc="95" dirty="0">
                <a:latin typeface="Cambria"/>
                <a:cs typeface="Cambria"/>
              </a:rPr>
              <a:t>берет подмножество атрибутов из каждого кортежа. </a:t>
            </a:r>
            <a:r>
              <a:rPr lang="ru-RU" sz="1900" spc="140" dirty="0">
                <a:solidFill>
                  <a:srgbClr val="7E7E7E"/>
                </a:solidFill>
                <a:latin typeface="Cambria"/>
                <a:cs typeface="Cambria"/>
              </a:rPr>
              <a:t>Действует как уникальная проекция в SQL без производных столбцов.</a:t>
            </a:r>
            <a:endParaRPr sz="1900" dirty="0">
              <a:latin typeface="Cambria"/>
              <a:cs typeface="Cambria"/>
            </a:endParaRPr>
          </a:p>
          <a:p>
            <a:pPr marL="195580" marR="553720" indent="-183515">
              <a:lnSpc>
                <a:spcPct val="80000"/>
              </a:lnSpc>
              <a:spcBef>
                <a:spcPts val="1230"/>
              </a:spcBef>
              <a:buClr>
                <a:srgbClr val="957D95"/>
              </a:buClr>
              <a:buSzPct val="84210"/>
              <a:buFont typeface="Wingdings"/>
              <a:buChar char=""/>
              <a:tabLst>
                <a:tab pos="195580" algn="l"/>
              </a:tabLst>
            </a:pPr>
            <a:r>
              <a:rPr lang="ru-RU" sz="1900" b="1" spc="125" dirty="0">
                <a:latin typeface="Cambria"/>
                <a:cs typeface="Cambria"/>
              </a:rPr>
              <a:t>Расширенная проекция</a:t>
            </a:r>
            <a:r>
              <a:rPr lang="ru-RU" sz="1900" spc="125" dirty="0">
                <a:latin typeface="Cambria"/>
                <a:cs typeface="Cambria"/>
              </a:rPr>
              <a:t> - подобная уникальной проекции в SQL</a:t>
            </a:r>
            <a:r>
              <a:rPr lang="ru-RU" sz="1900" b="1" spc="125" dirty="0">
                <a:latin typeface="Cambria"/>
                <a:cs typeface="Cambria"/>
              </a:rPr>
              <a:t>.</a:t>
            </a:r>
            <a:r>
              <a:rPr lang="ru-RU" sz="1900" spc="150" dirty="0">
                <a:solidFill>
                  <a:srgbClr val="7E7E7E"/>
                </a:solidFill>
                <a:latin typeface="Cambria"/>
                <a:cs typeface="Cambria"/>
              </a:rPr>
              <a:t> Может включать производные столбцы.</a:t>
            </a:r>
          </a:p>
          <a:p>
            <a:pPr marL="195580" marR="553720" indent="-183515">
              <a:lnSpc>
                <a:spcPct val="80000"/>
              </a:lnSpc>
              <a:spcBef>
                <a:spcPts val="1230"/>
              </a:spcBef>
              <a:buClr>
                <a:srgbClr val="957D95"/>
              </a:buClr>
              <a:buSzPct val="84210"/>
              <a:buFont typeface="Wingdings"/>
              <a:buChar char=""/>
              <a:tabLst>
                <a:tab pos="195580" algn="l"/>
              </a:tabLst>
            </a:pPr>
            <a:r>
              <a:rPr lang="ru-RU" sz="1900" b="1" spc="125" dirty="0">
                <a:latin typeface="Cambria"/>
                <a:cs typeface="Cambria"/>
              </a:rPr>
              <a:t>Выборка - </a:t>
            </a:r>
            <a:r>
              <a:rPr lang="ru-RU" sz="1900" spc="125" dirty="0">
                <a:latin typeface="Cambria"/>
                <a:cs typeface="Cambria"/>
              </a:rPr>
              <a:t>подмножество кортежей, которое проходит предусмотренный фильтр, записанное в виде пропозициональной формулы</a:t>
            </a:r>
            <a:r>
              <a:rPr lang="ru-RU" sz="1900" b="1" spc="125" dirty="0">
                <a:latin typeface="Cambria"/>
                <a:cs typeface="Cambria"/>
              </a:rPr>
              <a:t>. </a:t>
            </a:r>
            <a:r>
              <a:rPr lang="ru-RU" sz="1900" b="1" spc="95" dirty="0">
                <a:solidFill>
                  <a:srgbClr val="7E7E7E"/>
                </a:solidFill>
                <a:latin typeface="Cambria"/>
                <a:cs typeface="Cambria"/>
              </a:rPr>
              <a:t>Тоже самое и в </a:t>
            </a:r>
            <a:r>
              <a:rPr lang="en-US" sz="1900" spc="204" dirty="0">
                <a:solidFill>
                  <a:srgbClr val="7E7E7E"/>
                </a:solidFill>
                <a:latin typeface="Cambria"/>
                <a:cs typeface="Cambria"/>
              </a:rPr>
              <a:t>SQL.</a:t>
            </a:r>
            <a:endParaRPr lang="en-US" sz="1900" dirty="0">
              <a:latin typeface="Cambria"/>
              <a:cs typeface="Cambria"/>
            </a:endParaRPr>
          </a:p>
          <a:p>
            <a:pPr marL="195580" indent="-182880">
              <a:lnSpc>
                <a:spcPct val="100000"/>
              </a:lnSpc>
              <a:spcBef>
                <a:spcPts val="755"/>
              </a:spcBef>
              <a:buClr>
                <a:srgbClr val="957D95"/>
              </a:buClr>
              <a:buSzPct val="84210"/>
              <a:buFont typeface="Wingdings"/>
              <a:buChar char=""/>
              <a:tabLst>
                <a:tab pos="195580" algn="l"/>
              </a:tabLst>
            </a:pPr>
            <a:r>
              <a:rPr lang="ru-RU" sz="1900" b="1" spc="114" dirty="0">
                <a:solidFill>
                  <a:srgbClr val="006FC0"/>
                </a:solidFill>
                <a:latin typeface="Cambria"/>
                <a:cs typeface="Cambria"/>
              </a:rPr>
              <a:t>Переименовать</a:t>
            </a:r>
            <a:endParaRPr sz="1900" dirty="0">
              <a:latin typeface="Cambria"/>
              <a:cs typeface="Cambria"/>
            </a:endParaRPr>
          </a:p>
          <a:p>
            <a:pPr marL="195580" indent="-182880">
              <a:lnSpc>
                <a:spcPts val="2050"/>
              </a:lnSpc>
              <a:spcBef>
                <a:spcPts val="730"/>
              </a:spcBef>
              <a:buClr>
                <a:srgbClr val="957D95"/>
              </a:buClr>
              <a:buSzPct val="84210"/>
              <a:buFont typeface="Wingdings"/>
              <a:buChar char=""/>
              <a:tabLst>
                <a:tab pos="195580" algn="l"/>
              </a:tabLst>
            </a:pPr>
            <a:r>
              <a:rPr lang="en-US" sz="1900" b="1" spc="170" dirty="0" err="1">
                <a:latin typeface="Cambria"/>
                <a:cs typeface="Cambria"/>
              </a:rPr>
              <a:t>Задайте</a:t>
            </a:r>
            <a:r>
              <a:rPr lang="en-US" sz="1900" b="1" spc="170" dirty="0">
                <a:latin typeface="Cambria"/>
                <a:cs typeface="Cambria"/>
              </a:rPr>
              <a:t> </a:t>
            </a:r>
            <a:r>
              <a:rPr lang="en-US" sz="1900" b="1" spc="170" dirty="0" err="1">
                <a:latin typeface="Cambria"/>
                <a:cs typeface="Cambria"/>
              </a:rPr>
              <a:t>операции</a:t>
            </a:r>
            <a:r>
              <a:rPr lang="en-US" sz="1900" b="1" spc="90" dirty="0">
                <a:latin typeface="Cambria"/>
                <a:cs typeface="Cambria"/>
              </a:rPr>
              <a:t>:</a:t>
            </a:r>
            <a:r>
              <a:rPr lang="en-US" sz="1900" b="1" spc="235" dirty="0">
                <a:latin typeface="Cambria"/>
                <a:cs typeface="Cambria"/>
              </a:rPr>
              <a:t> </a:t>
            </a:r>
            <a:r>
              <a:rPr lang="ru-RU" sz="1900" spc="145" dirty="0">
                <a:latin typeface="Cambria"/>
                <a:cs typeface="Cambria"/>
              </a:rPr>
              <a:t>объединение, пересечение, разность</a:t>
            </a:r>
            <a:endParaRPr lang="en-US" sz="19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19407" y="6333410"/>
            <a:ext cx="226695" cy="2444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5</a:t>
            </a:fld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18223" y="2082528"/>
            <a:ext cx="5127879" cy="262379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34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lang="ru-RU" sz="2000" b="1" spc="229" dirty="0">
                <a:solidFill>
                  <a:srgbClr val="006FC0"/>
                </a:solidFill>
                <a:latin typeface="Cambria"/>
                <a:cs typeface="Cambria"/>
              </a:rPr>
              <a:t>Присоединить</a:t>
            </a:r>
            <a:r>
              <a:rPr sz="2000" b="1" spc="32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6FC0"/>
                </a:solidFill>
                <a:latin typeface="Cambria"/>
                <a:cs typeface="Cambria"/>
              </a:rPr>
              <a:t>(</a:t>
            </a:r>
            <a:r>
              <a:rPr lang="ru-RU" sz="2000" dirty="0">
                <a:solidFill>
                  <a:srgbClr val="006FC0"/>
                </a:solidFill>
                <a:latin typeface="Cambria"/>
                <a:cs typeface="Cambria"/>
              </a:rPr>
              <a:t>нравится продукт</a:t>
            </a:r>
            <a:r>
              <a:rPr sz="2000" spc="75" dirty="0">
                <a:solidFill>
                  <a:srgbClr val="006FC0"/>
                </a:solidFill>
                <a:latin typeface="Cambria"/>
                <a:cs typeface="Cambria"/>
              </a:rPr>
              <a:t>)</a:t>
            </a:r>
            <a:endParaRPr sz="2000" dirty="0">
              <a:latin typeface="Cambria"/>
              <a:cs typeface="Cambria"/>
            </a:endParaRPr>
          </a:p>
          <a:p>
            <a:pPr marL="469265" lvl="1" indent="-182245">
              <a:lnSpc>
                <a:spcPct val="100000"/>
              </a:lnSpc>
              <a:spcBef>
                <a:spcPts val="210"/>
              </a:spcBef>
              <a:buClr>
                <a:srgbClr val="957D95"/>
              </a:buClr>
              <a:buSzPct val="83333"/>
              <a:buFont typeface="Wingdings"/>
              <a:buChar char=""/>
              <a:tabLst>
                <a:tab pos="469265" algn="l"/>
              </a:tabLst>
            </a:pPr>
            <a:r>
              <a:rPr lang="ru-RU" b="1" spc="100" dirty="0">
                <a:solidFill>
                  <a:srgbClr val="006FC0"/>
                </a:solidFill>
                <a:latin typeface="Cambria"/>
                <a:cs typeface="Cambria"/>
              </a:rPr>
              <a:t>Перекрестное значение</a:t>
            </a:r>
            <a:endParaRPr sz="1800" dirty="0">
              <a:latin typeface="Cambria"/>
              <a:cs typeface="Cambria"/>
            </a:endParaRPr>
          </a:p>
          <a:p>
            <a:pPr marL="469265" lvl="1" indent="-182245">
              <a:lnSpc>
                <a:spcPct val="100000"/>
              </a:lnSpc>
              <a:spcBef>
                <a:spcPts val="385"/>
              </a:spcBef>
              <a:buClr>
                <a:srgbClr val="957D95"/>
              </a:buClr>
              <a:buSzPct val="83333"/>
              <a:buFont typeface="Wingdings"/>
              <a:buChar char=""/>
              <a:tabLst>
                <a:tab pos="469265" algn="l"/>
              </a:tabLst>
            </a:pPr>
            <a:r>
              <a:rPr lang="ru-RU" b="1" spc="80" dirty="0">
                <a:solidFill>
                  <a:srgbClr val="006FC0"/>
                </a:solidFill>
                <a:latin typeface="Cambria"/>
                <a:cs typeface="Cambria"/>
              </a:rPr>
              <a:t>Естественное соединение</a:t>
            </a:r>
            <a:endParaRPr sz="1800" dirty="0">
              <a:latin typeface="Cambria"/>
              <a:cs typeface="Cambria"/>
            </a:endParaRPr>
          </a:p>
          <a:p>
            <a:pPr marL="469265" lvl="1" indent="-182245">
              <a:lnSpc>
                <a:spcPct val="100000"/>
              </a:lnSpc>
              <a:spcBef>
                <a:spcPts val="385"/>
              </a:spcBef>
              <a:buClr>
                <a:srgbClr val="957D95"/>
              </a:buClr>
              <a:buSzPct val="83333"/>
              <a:buFont typeface="Wingdings"/>
              <a:buChar char=""/>
              <a:tabLst>
                <a:tab pos="469265" algn="l"/>
              </a:tabLst>
            </a:pPr>
            <a:r>
              <a:rPr lang="ru-RU" b="1" spc="85" dirty="0">
                <a:solidFill>
                  <a:srgbClr val="006FC0"/>
                </a:solidFill>
                <a:latin typeface="Cambria"/>
                <a:cs typeface="Cambria"/>
              </a:rPr>
              <a:t>Равноудаленные</a:t>
            </a:r>
            <a:endParaRPr sz="1800" dirty="0">
              <a:latin typeface="Cambria"/>
              <a:cs typeface="Cambria"/>
            </a:endParaRPr>
          </a:p>
          <a:p>
            <a:pPr marL="469265" lvl="1" indent="-182245">
              <a:lnSpc>
                <a:spcPct val="100000"/>
              </a:lnSpc>
              <a:spcBef>
                <a:spcPts val="385"/>
              </a:spcBef>
              <a:buClr>
                <a:srgbClr val="957D95"/>
              </a:buClr>
              <a:buSzPct val="83333"/>
              <a:buFont typeface="Wingdings"/>
              <a:buChar char=""/>
              <a:tabLst>
                <a:tab pos="469265" algn="l"/>
              </a:tabLst>
            </a:pPr>
            <a:r>
              <a:rPr lang="ru-RU" b="1" spc="100" dirty="0">
                <a:solidFill>
                  <a:srgbClr val="006FC0"/>
                </a:solidFill>
                <a:latin typeface="Cambria"/>
                <a:cs typeface="Cambria"/>
              </a:rPr>
              <a:t>Внешние соединения </a:t>
            </a:r>
            <a:endParaRPr sz="1800" dirty="0">
              <a:latin typeface="Cambria"/>
              <a:cs typeface="Cambria"/>
            </a:endParaRPr>
          </a:p>
          <a:p>
            <a:pPr marL="469265" lvl="1" indent="-182245">
              <a:lnSpc>
                <a:spcPct val="100000"/>
              </a:lnSpc>
              <a:spcBef>
                <a:spcPts val="384"/>
              </a:spcBef>
              <a:buClr>
                <a:srgbClr val="957D95"/>
              </a:buClr>
              <a:buSzPct val="83333"/>
              <a:buFont typeface="Wingdings"/>
              <a:buChar char=""/>
              <a:tabLst>
                <a:tab pos="469265" algn="l"/>
              </a:tabLst>
            </a:pPr>
            <a:r>
              <a:rPr sz="1800" b="1" dirty="0">
                <a:solidFill>
                  <a:srgbClr val="006FC0"/>
                </a:solidFill>
                <a:latin typeface="Cambria"/>
                <a:cs typeface="Cambria"/>
              </a:rPr>
              <a:t>θ-</a:t>
            </a:r>
            <a:r>
              <a:rPr lang="ru-RU" b="1" spc="60" dirty="0">
                <a:solidFill>
                  <a:srgbClr val="006FC0"/>
                </a:solidFill>
                <a:latin typeface="Cambria"/>
                <a:cs typeface="Cambria"/>
              </a:rPr>
              <a:t>присоединение</a:t>
            </a:r>
            <a:endParaRPr sz="1800" dirty="0">
              <a:latin typeface="Cambria"/>
              <a:cs typeface="Cambria"/>
            </a:endParaRPr>
          </a:p>
          <a:p>
            <a:pPr marL="469265" lvl="1" indent="-182245">
              <a:lnSpc>
                <a:spcPct val="100000"/>
              </a:lnSpc>
              <a:spcBef>
                <a:spcPts val="380"/>
              </a:spcBef>
              <a:buClr>
                <a:srgbClr val="957D95"/>
              </a:buClr>
              <a:buSzPct val="83333"/>
              <a:buFont typeface="Wingdings"/>
              <a:buChar char=""/>
              <a:tabLst>
                <a:tab pos="469265" algn="l"/>
              </a:tabLst>
            </a:pPr>
            <a:r>
              <a:rPr lang="ru-RU" sz="1800" b="1" spc="110" dirty="0">
                <a:solidFill>
                  <a:srgbClr val="C00000"/>
                </a:solidFill>
                <a:latin typeface="Cambria"/>
                <a:cs typeface="Cambria"/>
              </a:rPr>
              <a:t>Полусоединение</a:t>
            </a:r>
            <a:endParaRPr sz="1800" dirty="0">
              <a:latin typeface="Cambria"/>
              <a:cs typeface="Cambria"/>
            </a:endParaRPr>
          </a:p>
          <a:p>
            <a:pPr marL="469265" lvl="1" indent="-182245">
              <a:lnSpc>
                <a:spcPct val="100000"/>
              </a:lnSpc>
              <a:spcBef>
                <a:spcPts val="385"/>
              </a:spcBef>
              <a:buClr>
                <a:srgbClr val="957D95"/>
              </a:buClr>
              <a:buSzPct val="83333"/>
              <a:buFont typeface="Wingdings"/>
              <a:buChar char=""/>
              <a:tabLst>
                <a:tab pos="469265" algn="l"/>
              </a:tabLst>
            </a:pPr>
            <a:r>
              <a:rPr lang="ru-RU" b="1" spc="90" dirty="0">
                <a:solidFill>
                  <a:srgbClr val="C00000"/>
                </a:solidFill>
                <a:latin typeface="Cambria"/>
                <a:cs typeface="Cambria"/>
              </a:rPr>
              <a:t>Антисоединение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18222" y="5127497"/>
            <a:ext cx="183997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lang="ru-RU" sz="2000" b="1" spc="95" dirty="0">
                <a:solidFill>
                  <a:srgbClr val="C00000"/>
                </a:solidFill>
                <a:latin typeface="Cambria"/>
                <a:cs typeface="Cambria"/>
              </a:rPr>
              <a:t>Деление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FF011A-8CA1-6F7C-13CD-31C341F9A471}"/>
              </a:ext>
            </a:extLst>
          </p:cNvPr>
          <p:cNvSpPr txBox="1"/>
          <p:nvPr/>
        </p:nvSpPr>
        <p:spPr>
          <a:xfrm>
            <a:off x="1139063" y="6593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Операции в реляционной алгебре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6952" y="1048003"/>
            <a:ext cx="2394927" cy="44627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23188" y="2115438"/>
            <a:ext cx="10622914" cy="91114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ts val="2270"/>
              </a:lnSpc>
              <a:spcBef>
                <a:spcPts val="105"/>
              </a:spcBef>
            </a:pPr>
            <a:r>
              <a:rPr lang="ru-RU" sz="2000" b="1" spc="114" dirty="0">
                <a:latin typeface="Cambria"/>
                <a:cs typeface="Cambria"/>
              </a:rPr>
              <a:t>Реляционная алгебра:</a:t>
            </a:r>
          </a:p>
          <a:p>
            <a:pPr marL="38100">
              <a:lnSpc>
                <a:spcPts val="2270"/>
              </a:lnSpc>
              <a:spcBef>
                <a:spcPts val="105"/>
              </a:spcBef>
            </a:pPr>
            <a:r>
              <a:rPr lang="en-US" sz="2000" b="1" dirty="0" err="1">
                <a:latin typeface="Times New Roman"/>
                <a:cs typeface="Times New Roman"/>
              </a:rPr>
              <a:t>ρ</a:t>
            </a:r>
            <a:r>
              <a:rPr lang="en-US" sz="1950" b="1" baseline="-21367" dirty="0" err="1">
                <a:latin typeface="Times New Roman"/>
                <a:cs typeface="Times New Roman"/>
              </a:rPr>
              <a:t>y</a:t>
            </a:r>
            <a:r>
              <a:rPr lang="en-US" sz="1950" b="1" baseline="-21367" dirty="0">
                <a:latin typeface="Times New Roman"/>
                <a:cs typeface="Times New Roman"/>
              </a:rPr>
              <a:t>/x</a:t>
            </a:r>
            <a:r>
              <a:rPr lang="en-US" sz="2000" b="1" dirty="0">
                <a:latin typeface="Cambria"/>
                <a:cs typeface="Cambria"/>
              </a:rPr>
              <a:t>(R)</a:t>
            </a:r>
            <a:r>
              <a:rPr lang="en-US" sz="2000" dirty="0">
                <a:latin typeface="Cambria"/>
                <a:cs typeface="Cambria"/>
              </a:rPr>
              <a:t>,</a:t>
            </a:r>
            <a:r>
              <a:rPr lang="en-US" sz="2000" spc="190" dirty="0">
                <a:latin typeface="Cambria"/>
                <a:cs typeface="Cambria"/>
              </a:rPr>
              <a:t> </a:t>
            </a:r>
            <a:r>
              <a:rPr lang="ru-RU" sz="2000" spc="114" dirty="0">
                <a:latin typeface="Cambria"/>
                <a:cs typeface="Cambria"/>
              </a:rPr>
              <a:t>результат тот же, что и R, за исключением элемента с именем </a:t>
            </a:r>
            <a:r>
              <a:rPr lang="ru-RU" sz="2000" b="1" spc="114" dirty="0">
                <a:latin typeface="Cambria"/>
                <a:cs typeface="Cambria"/>
              </a:rPr>
              <a:t>x</a:t>
            </a:r>
            <a:r>
              <a:rPr lang="ru-RU" sz="2000" spc="114" dirty="0">
                <a:latin typeface="Cambria"/>
                <a:cs typeface="Cambria"/>
              </a:rPr>
              <a:t>, переименованного в </a:t>
            </a:r>
            <a:r>
              <a:rPr lang="ru-RU" sz="2000" b="1" spc="114" dirty="0">
                <a:latin typeface="Cambria"/>
                <a:cs typeface="Cambria"/>
              </a:rPr>
              <a:t>y</a:t>
            </a:r>
            <a:endParaRPr lang="en-US" sz="2000" b="1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8588" y="3562578"/>
            <a:ext cx="4750435" cy="155321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2000" b="1" spc="180" dirty="0">
                <a:latin typeface="Cambria"/>
                <a:cs typeface="Cambria"/>
              </a:rPr>
              <a:t>SQL:</a:t>
            </a:r>
            <a:endParaRPr sz="2000" dirty="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  <a:spcBef>
                <a:spcPts val="850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WARE_NAME,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CLASS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CATEGORY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  <a:tabLst>
                <a:tab pos="2145665" algn="l"/>
              </a:tabLst>
            </a:pPr>
            <a:r>
              <a:rPr sz="2000" dirty="0">
                <a:latin typeface="Courier New"/>
                <a:cs typeface="Courier New"/>
              </a:rPr>
              <a:t>&gt;&gt;</a:t>
            </a:r>
            <a:r>
              <a:rPr sz="2000" spc="-10" dirty="0">
                <a:latin typeface="Courier New"/>
                <a:cs typeface="Courier New"/>
              </a:rPr>
              <a:t> WARE_NAME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CLASS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18741" y="5254227"/>
            <a:ext cx="2438400" cy="0"/>
          </a:xfrm>
          <a:custGeom>
            <a:avLst/>
            <a:gdLst/>
            <a:ahLst/>
            <a:cxnLst/>
            <a:rect l="l" t="t" r="r" b="b"/>
            <a:pathLst>
              <a:path w="2438400">
                <a:moveTo>
                  <a:pt x="0" y="0"/>
                </a:moveTo>
                <a:lnTo>
                  <a:pt x="2438400" y="0"/>
                </a:lnTo>
              </a:path>
            </a:pathLst>
          </a:custGeom>
          <a:ln w="1501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06041" y="5333187"/>
            <a:ext cx="1244600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0"/>
              </a:spcBef>
            </a:pPr>
            <a:r>
              <a:rPr sz="2000" spc="-10" dirty="0">
                <a:latin typeface="Courier New"/>
                <a:cs typeface="Courier New"/>
              </a:rPr>
              <a:t>Charcoal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sz="2000" spc="-10" dirty="0">
                <a:latin typeface="Courier New"/>
                <a:cs typeface="Courier New"/>
              </a:rPr>
              <a:t>Water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spc="-50" dirty="0">
                <a:latin typeface="Courier New"/>
                <a:cs typeface="Courier New"/>
              </a:rPr>
              <a:t>…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19407" y="6333410"/>
            <a:ext cx="226695" cy="2444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6</a:t>
            </a:fld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2441" y="5333187"/>
            <a:ext cx="1092200" cy="60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0"/>
              </a:spcBef>
            </a:pPr>
            <a:r>
              <a:rPr sz="2000" spc="-20" dirty="0">
                <a:latin typeface="Courier New"/>
                <a:cs typeface="Courier New"/>
              </a:rPr>
              <a:t>Fuel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spc="-10" dirty="0">
                <a:latin typeface="Courier New"/>
                <a:cs typeface="Courier New"/>
              </a:rPr>
              <a:t>Mineral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37C82E-BC6B-69C2-A68F-6301A8F2DB97}"/>
              </a:ext>
            </a:extLst>
          </p:cNvPr>
          <p:cNvSpPr txBox="1"/>
          <p:nvPr/>
        </p:nvSpPr>
        <p:spPr>
          <a:xfrm>
            <a:off x="1113663" y="7248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Переименовать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81" y="1028700"/>
            <a:ext cx="2761261" cy="58394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97788" y="1960245"/>
            <a:ext cx="7443470" cy="38588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0">
              <a:lnSpc>
                <a:spcPts val="2270"/>
              </a:lnSpc>
              <a:spcBef>
                <a:spcPts val="105"/>
              </a:spcBef>
            </a:pPr>
            <a:r>
              <a:rPr sz="2000" b="1" spc="114" dirty="0">
                <a:latin typeface="Cambria"/>
                <a:cs typeface="Cambria"/>
              </a:rPr>
              <a:t>Relational</a:t>
            </a:r>
            <a:r>
              <a:rPr sz="2000" b="1" spc="225" dirty="0">
                <a:latin typeface="Cambria"/>
                <a:cs typeface="Cambria"/>
              </a:rPr>
              <a:t> </a:t>
            </a:r>
            <a:r>
              <a:rPr sz="2000" b="1" spc="55" dirty="0">
                <a:latin typeface="Cambria"/>
                <a:cs typeface="Cambria"/>
              </a:rPr>
              <a:t>algebra:</a:t>
            </a:r>
            <a:endParaRPr sz="2000">
              <a:latin typeface="Cambria"/>
              <a:cs typeface="Cambria"/>
            </a:endParaRPr>
          </a:p>
          <a:p>
            <a:pPr marL="63500">
              <a:lnSpc>
                <a:spcPts val="2270"/>
              </a:lnSpc>
            </a:pP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1</a:t>
            </a:r>
            <a:r>
              <a:rPr sz="1950" b="1" spc="637" baseline="-21367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×</a:t>
            </a:r>
            <a:r>
              <a:rPr sz="2000" b="1" spc="285" dirty="0">
                <a:latin typeface="Cambria"/>
                <a:cs typeface="Cambria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2</a:t>
            </a:r>
            <a:r>
              <a:rPr sz="1950" b="1" spc="637" baseline="-21367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cartesian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product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two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relations,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140" dirty="0">
                <a:latin typeface="Cambria"/>
                <a:cs typeface="Cambria"/>
              </a:rPr>
              <a:t>i.e.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two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sets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2000">
              <a:latin typeface="Cambria"/>
              <a:cs typeface="Cambria"/>
            </a:endParaRPr>
          </a:p>
          <a:p>
            <a:pPr marL="63500">
              <a:lnSpc>
                <a:spcPct val="100000"/>
              </a:lnSpc>
            </a:pPr>
            <a:r>
              <a:rPr sz="2000" b="1" spc="200" dirty="0">
                <a:latin typeface="Cambria"/>
                <a:cs typeface="Cambria"/>
              </a:rPr>
              <a:t>SQL: </a:t>
            </a:r>
            <a:r>
              <a:rPr sz="2000" spc="80" dirty="0">
                <a:latin typeface="Cambria"/>
                <a:cs typeface="Cambria"/>
              </a:rPr>
              <a:t>get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95" dirty="0">
                <a:latin typeface="Cambria"/>
                <a:cs typeface="Cambria"/>
              </a:rPr>
              <a:t>an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answer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for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question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23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the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145" dirty="0">
                <a:latin typeface="Cambria"/>
                <a:cs typeface="Cambria"/>
              </a:rPr>
              <a:t>day,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24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first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try</a:t>
            </a:r>
            <a:endParaRPr sz="2000">
              <a:latin typeface="Cambria"/>
              <a:cs typeface="Cambria"/>
            </a:endParaRPr>
          </a:p>
          <a:p>
            <a:pPr marL="63500">
              <a:lnSpc>
                <a:spcPts val="2280"/>
              </a:lnSpc>
              <a:spcBef>
                <a:spcPts val="87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*</a:t>
            </a:r>
            <a:endParaRPr sz="2000">
              <a:latin typeface="Courier New"/>
              <a:cs typeface="Courier New"/>
            </a:endParaRPr>
          </a:p>
          <a:p>
            <a:pPr marL="63500">
              <a:lnSpc>
                <a:spcPts val="228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MATERIAL,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PRODUCT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55"/>
              </a:spcBef>
            </a:pPr>
            <a:endParaRPr sz="2000">
              <a:latin typeface="Courier New"/>
              <a:cs typeface="Courier New"/>
            </a:endParaRPr>
          </a:p>
          <a:p>
            <a:pPr marR="6761480" algn="r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&gt;&gt;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…</a:t>
            </a:r>
            <a:endParaRPr sz="2000">
              <a:latin typeface="Courier New"/>
              <a:cs typeface="Courier New"/>
            </a:endParaRPr>
          </a:p>
          <a:p>
            <a:pPr marR="6761480" algn="r">
              <a:lnSpc>
                <a:spcPct val="100000"/>
              </a:lnSpc>
              <a:spcBef>
                <a:spcPts val="960"/>
              </a:spcBef>
            </a:pPr>
            <a:r>
              <a:rPr sz="2000" spc="-50" dirty="0">
                <a:latin typeface="Courier New"/>
                <a:cs typeface="Courier New"/>
              </a:rPr>
              <a:t>…</a:t>
            </a:r>
            <a:endParaRPr sz="2000">
              <a:latin typeface="Courier New"/>
              <a:cs typeface="Courier New"/>
            </a:endParaRPr>
          </a:p>
          <a:p>
            <a:pPr marL="520700">
              <a:lnSpc>
                <a:spcPct val="100000"/>
              </a:lnSpc>
              <a:spcBef>
                <a:spcPts val="994"/>
              </a:spcBef>
            </a:pPr>
            <a:r>
              <a:rPr sz="2000" spc="-10" dirty="0">
                <a:latin typeface="Courier New"/>
                <a:cs typeface="Courier New"/>
              </a:rPr>
              <a:t>PROFIT?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19407" y="6333410"/>
            <a:ext cx="226695" cy="2444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7</a:t>
            </a:fld>
            <a:endParaRPr sz="1400">
              <a:latin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ED40E4-26F6-7B37-6CCC-FBC085E4FB50}"/>
              </a:ext>
            </a:extLst>
          </p:cNvPr>
          <p:cNvSpPr txBox="1"/>
          <p:nvPr/>
        </p:nvSpPr>
        <p:spPr>
          <a:xfrm>
            <a:off x="1069213" y="6498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Перекрестное соединение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92" y="1028700"/>
            <a:ext cx="6631546" cy="58394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8588" y="2477770"/>
            <a:ext cx="1310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35" dirty="0">
                <a:latin typeface="Cambria"/>
                <a:cs typeface="Cambria"/>
              </a:rPr>
              <a:t>MATERIAL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20433" y="2477770"/>
            <a:ext cx="1214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45" dirty="0">
                <a:latin typeface="Cambria"/>
                <a:cs typeface="Cambria"/>
              </a:rPr>
              <a:t>PRODUCT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23714" y="3429000"/>
            <a:ext cx="1617345" cy="1582420"/>
          </a:xfrm>
          <a:custGeom>
            <a:avLst/>
            <a:gdLst/>
            <a:ahLst/>
            <a:cxnLst/>
            <a:rect l="l" t="t" r="r" b="b"/>
            <a:pathLst>
              <a:path w="1617345" h="1582420">
                <a:moveTo>
                  <a:pt x="0" y="0"/>
                </a:moveTo>
                <a:lnTo>
                  <a:pt x="1617090" y="398525"/>
                </a:lnTo>
              </a:path>
              <a:path w="1617345" h="1582420">
                <a:moveTo>
                  <a:pt x="0" y="0"/>
                </a:moveTo>
                <a:lnTo>
                  <a:pt x="1617090" y="821308"/>
                </a:lnTo>
              </a:path>
              <a:path w="1617345" h="1582420">
                <a:moveTo>
                  <a:pt x="0" y="0"/>
                </a:moveTo>
                <a:lnTo>
                  <a:pt x="1617090" y="1190117"/>
                </a:lnTo>
              </a:path>
              <a:path w="1617345" h="1582420">
                <a:moveTo>
                  <a:pt x="0" y="0"/>
                </a:moveTo>
                <a:lnTo>
                  <a:pt x="1617090" y="1582166"/>
                </a:lnTo>
              </a:path>
              <a:path w="1617345" h="1582420">
                <a:moveTo>
                  <a:pt x="0" y="410718"/>
                </a:moveTo>
                <a:lnTo>
                  <a:pt x="1617090" y="0"/>
                </a:lnTo>
              </a:path>
              <a:path w="1617345" h="1582420">
                <a:moveTo>
                  <a:pt x="0" y="410718"/>
                </a:moveTo>
                <a:lnTo>
                  <a:pt x="1617090" y="821308"/>
                </a:lnTo>
              </a:path>
              <a:path w="1617345" h="1582420">
                <a:moveTo>
                  <a:pt x="0" y="410718"/>
                </a:moveTo>
                <a:lnTo>
                  <a:pt x="1617090" y="1190117"/>
                </a:lnTo>
              </a:path>
              <a:path w="1617345" h="1582420">
                <a:moveTo>
                  <a:pt x="0" y="410718"/>
                </a:moveTo>
                <a:lnTo>
                  <a:pt x="1617090" y="1582166"/>
                </a:lnTo>
              </a:path>
            </a:pathLst>
          </a:custGeom>
          <a:ln w="6350">
            <a:solidFill>
              <a:srgbClr val="6E81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63497" y="2908935"/>
          <a:ext cx="9126853" cy="22218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2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7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25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70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1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RECIPE_ID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10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WARE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3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…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6350">
                      <a:solidFill>
                        <a:srgbClr val="6E818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1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RECIPE_ID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10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WARE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3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…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60" dirty="0"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120" dirty="0">
                          <a:latin typeface="Cambria"/>
                          <a:cs typeface="Cambria"/>
                        </a:rPr>
                        <a:t>Meat</a:t>
                      </a:r>
                      <a:r>
                        <a:rPr sz="18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35" dirty="0">
                          <a:latin typeface="Cambria"/>
                          <a:cs typeface="Cambria"/>
                        </a:rPr>
                        <a:t>cow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6350">
                      <a:solidFill>
                        <a:srgbClr val="6E8183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60" dirty="0"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100" dirty="0">
                          <a:latin typeface="Cambria"/>
                          <a:cs typeface="Cambria"/>
                        </a:rPr>
                        <a:t>Meat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32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6E8183"/>
                      </a:solidFill>
                      <a:prstDash val="solid"/>
                    </a:lnT>
                    <a:lnB w="6350">
                      <a:solidFill>
                        <a:srgbClr val="6E8183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245"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60" dirty="0">
                          <a:latin typeface="Cambria"/>
                          <a:cs typeface="Cambria"/>
                        </a:rPr>
                        <a:t>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70" dirty="0">
                          <a:latin typeface="Cambria"/>
                          <a:cs typeface="Cambria"/>
                        </a:rPr>
                        <a:t>Water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6E8183"/>
                      </a:solidFill>
                      <a:prstDash val="solid"/>
                    </a:lnT>
                    <a:lnB w="6350">
                      <a:solidFill>
                        <a:srgbClr val="6E8183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60" dirty="0"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85" dirty="0">
                          <a:latin typeface="Cambria"/>
                          <a:cs typeface="Cambria"/>
                        </a:rPr>
                        <a:t>Leather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1" spc="350" dirty="0">
                          <a:latin typeface="Cambria"/>
                          <a:cs typeface="Cambria"/>
                        </a:rPr>
                        <a:t>…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6E8183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60" dirty="0">
                          <a:latin typeface="Cambria"/>
                          <a:cs typeface="Cambria"/>
                        </a:rPr>
                        <a:t>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135" dirty="0">
                          <a:latin typeface="Cambria"/>
                          <a:cs typeface="Cambria"/>
                        </a:rPr>
                        <a:t>Grain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6E818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60" dirty="0">
                          <a:latin typeface="Cambria"/>
                          <a:cs typeface="Cambria"/>
                        </a:rPr>
                        <a:t>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120" dirty="0">
                          <a:latin typeface="Cambria"/>
                          <a:cs typeface="Cambria"/>
                        </a:rPr>
                        <a:t>Meat</a:t>
                      </a:r>
                      <a:r>
                        <a:rPr sz="18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35" dirty="0">
                          <a:latin typeface="Cambria"/>
                          <a:cs typeface="Cambria"/>
                        </a:rPr>
                        <a:t>cow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60" dirty="0">
                          <a:latin typeface="Cambria"/>
                          <a:cs typeface="Cambria"/>
                        </a:rPr>
                        <a:t>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135" dirty="0">
                          <a:latin typeface="Cambria"/>
                          <a:cs typeface="Cambria"/>
                        </a:rPr>
                        <a:t>Gold</a:t>
                      </a:r>
                      <a:r>
                        <a:rPr sz="1800" spc="1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25" dirty="0">
                          <a:latin typeface="Cambria"/>
                          <a:cs typeface="Cambria"/>
                        </a:rPr>
                        <a:t>ore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6E818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60" dirty="0">
                          <a:latin typeface="Cambria"/>
                          <a:cs typeface="Cambria"/>
                        </a:rPr>
                        <a:t>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114" dirty="0">
                          <a:latin typeface="Cambria"/>
                          <a:cs typeface="Cambria"/>
                        </a:rPr>
                        <a:t>Gold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395" dirty="0">
                          <a:latin typeface="Cambria"/>
                          <a:cs typeface="Cambria"/>
                        </a:rPr>
                        <a:t>…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395" dirty="0">
                          <a:latin typeface="Cambria"/>
                          <a:cs typeface="Cambria"/>
                        </a:rPr>
                        <a:t>…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6E818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395" dirty="0">
                          <a:latin typeface="Cambria"/>
                          <a:cs typeface="Cambria"/>
                        </a:rPr>
                        <a:t>…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395" dirty="0">
                          <a:latin typeface="Cambria"/>
                          <a:cs typeface="Cambria"/>
                        </a:rPr>
                        <a:t>…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1519407" y="6333410"/>
            <a:ext cx="226695" cy="2444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8</a:t>
            </a:fld>
            <a:endParaRPr sz="1400">
              <a:latin typeface="Tahoma"/>
              <a:cs typeface="Tahom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FB017A-B816-E42B-67F7-6CC9258AE0FE}"/>
              </a:ext>
            </a:extLst>
          </p:cNvPr>
          <p:cNvSpPr txBox="1"/>
          <p:nvPr/>
        </p:nvSpPr>
        <p:spPr>
          <a:xfrm>
            <a:off x="1173492" y="7246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Семантика перекрестного соединения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92" y="1028700"/>
            <a:ext cx="3289414" cy="58394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97788" y="1960245"/>
            <a:ext cx="9900920" cy="3553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0">
              <a:lnSpc>
                <a:spcPts val="2275"/>
              </a:lnSpc>
              <a:spcBef>
                <a:spcPts val="105"/>
              </a:spcBef>
            </a:pPr>
            <a:r>
              <a:rPr sz="2000" b="1" spc="114" dirty="0">
                <a:latin typeface="Cambria"/>
                <a:cs typeface="Cambria"/>
              </a:rPr>
              <a:t>Relational</a:t>
            </a:r>
            <a:r>
              <a:rPr sz="2000" b="1" spc="225" dirty="0">
                <a:latin typeface="Cambria"/>
                <a:cs typeface="Cambria"/>
              </a:rPr>
              <a:t> </a:t>
            </a:r>
            <a:r>
              <a:rPr sz="2000" b="1" spc="55" dirty="0">
                <a:latin typeface="Cambria"/>
                <a:cs typeface="Cambria"/>
              </a:rPr>
              <a:t>algebra:</a:t>
            </a:r>
            <a:endParaRPr sz="2000">
              <a:latin typeface="Cambria"/>
              <a:cs typeface="Cambria"/>
            </a:endParaRPr>
          </a:p>
          <a:p>
            <a:pPr marL="63500">
              <a:lnSpc>
                <a:spcPts val="2150"/>
              </a:lnSpc>
            </a:pP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1</a:t>
            </a:r>
            <a:r>
              <a:rPr sz="1950" b="1" spc="592" baseline="-21367" dirty="0">
                <a:latin typeface="Cambria"/>
                <a:cs typeface="Cambria"/>
              </a:rPr>
              <a:t> </a:t>
            </a:r>
            <a:r>
              <a:rPr sz="2000" dirty="0">
                <a:latin typeface="Cambria Math"/>
                <a:cs typeface="Cambria Math"/>
              </a:rPr>
              <a:t>⋈</a:t>
            </a:r>
            <a:r>
              <a:rPr sz="2000" spc="215" dirty="0">
                <a:latin typeface="Cambria Math"/>
                <a:cs typeface="Cambria Math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2</a:t>
            </a:r>
            <a:r>
              <a:rPr sz="1950" b="1" spc="270" baseline="-21367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all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the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combinations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tuples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from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1</a:t>
            </a:r>
            <a:r>
              <a:rPr sz="1950" b="1" spc="547" baseline="-21367" dirty="0">
                <a:latin typeface="Cambria"/>
                <a:cs typeface="Cambria"/>
              </a:rPr>
              <a:t> </a:t>
            </a:r>
            <a:r>
              <a:rPr sz="2000" spc="165" dirty="0">
                <a:latin typeface="Cambria"/>
                <a:cs typeface="Cambria"/>
              </a:rPr>
              <a:t>and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2</a:t>
            </a:r>
            <a:r>
              <a:rPr sz="1950" b="1" spc="209" baseline="-21367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equal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on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attributes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with</a:t>
            </a:r>
            <a:endParaRPr sz="2000">
              <a:latin typeface="Cambria"/>
              <a:cs typeface="Cambria"/>
            </a:endParaRPr>
          </a:p>
          <a:p>
            <a:pPr marL="63500">
              <a:lnSpc>
                <a:spcPts val="2275"/>
              </a:lnSpc>
            </a:pPr>
            <a:r>
              <a:rPr sz="2000" spc="120" dirty="0">
                <a:latin typeface="Cambria"/>
                <a:cs typeface="Cambria"/>
              </a:rPr>
              <a:t>the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55" dirty="0">
                <a:latin typeface="Cambria"/>
                <a:cs typeface="Cambria"/>
              </a:rPr>
              <a:t>same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65" dirty="0">
                <a:latin typeface="Cambria"/>
                <a:cs typeface="Cambria"/>
              </a:rPr>
              <a:t>names.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2000">
              <a:latin typeface="Cambria"/>
              <a:cs typeface="Cambria"/>
            </a:endParaRPr>
          </a:p>
          <a:p>
            <a:pPr marL="63500">
              <a:lnSpc>
                <a:spcPct val="100000"/>
              </a:lnSpc>
            </a:pPr>
            <a:r>
              <a:rPr sz="2000" b="1" spc="200" dirty="0">
                <a:latin typeface="Cambria"/>
                <a:cs typeface="Cambria"/>
              </a:rPr>
              <a:t>SQL:</a:t>
            </a:r>
            <a:r>
              <a:rPr sz="2000" b="1" spc="21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second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try</a:t>
            </a:r>
            <a:endParaRPr sz="2000">
              <a:latin typeface="Cambria"/>
              <a:cs typeface="Cambria"/>
            </a:endParaRPr>
          </a:p>
          <a:p>
            <a:pPr marL="63500">
              <a:lnSpc>
                <a:spcPts val="2280"/>
              </a:lnSpc>
              <a:spcBef>
                <a:spcPts val="87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*</a:t>
            </a:r>
            <a:endParaRPr sz="2000">
              <a:latin typeface="Courier New"/>
              <a:cs typeface="Courier New"/>
            </a:endParaRPr>
          </a:p>
          <a:p>
            <a:pPr marL="63500">
              <a:lnSpc>
                <a:spcPts val="218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MATERIAL,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PRODUCT</a:t>
            </a:r>
            <a:endParaRPr sz="2000">
              <a:latin typeface="Courier New"/>
              <a:cs typeface="Courier New"/>
            </a:endParaRPr>
          </a:p>
          <a:p>
            <a:pPr marL="63500">
              <a:lnSpc>
                <a:spcPts val="2300"/>
              </a:lnSpc>
            </a:pPr>
            <a:r>
              <a:rPr sz="2000" dirty="0">
                <a:latin typeface="Courier New"/>
                <a:cs typeface="Courier New"/>
              </a:rPr>
              <a:t>&lt;MAGICAL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RITUAL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TO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MAKE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DB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TO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PERFORM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⋈</a:t>
            </a:r>
            <a:r>
              <a:rPr sz="2000" spc="-25" dirty="0">
                <a:latin typeface="Courier New"/>
                <a:cs typeface="Courier New"/>
              </a:rPr>
              <a:t>&gt;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55"/>
              </a:spcBef>
            </a:pPr>
            <a:endParaRPr sz="2000">
              <a:latin typeface="Courier New"/>
              <a:cs typeface="Courier New"/>
            </a:endParaRPr>
          </a:p>
          <a:p>
            <a:pPr marL="635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&gt;&gt;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NULL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NULL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NULL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NULL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19407" y="6333410"/>
            <a:ext cx="226695" cy="2444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9</a:t>
            </a:fld>
            <a:endParaRPr sz="1400">
              <a:latin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87EC62-0F21-BEE6-D205-617A815DC4CD}"/>
              </a:ext>
            </a:extLst>
          </p:cNvPr>
          <p:cNvSpPr txBox="1"/>
          <p:nvPr/>
        </p:nvSpPr>
        <p:spPr>
          <a:xfrm>
            <a:off x="1097788" y="6307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Естественное соединение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92" y="699516"/>
            <a:ext cx="8694407" cy="5839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8974" y="1357883"/>
            <a:ext cx="3369310" cy="58394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48588" y="2800350"/>
            <a:ext cx="6426835" cy="311023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079500" marR="2443480" indent="-1067435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MATERIAL.RECIPE_ID, MATERIAL.WARE, MATERIAL.AMOUNT, PRODUCT.PRICE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01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MATERIAL,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PRODUCT</a:t>
            </a:r>
            <a:endParaRPr sz="2000">
              <a:latin typeface="Courier New"/>
              <a:cs typeface="Courier New"/>
            </a:endParaRPr>
          </a:p>
          <a:p>
            <a:pPr marL="317500" marR="5080" indent="-305435">
              <a:lnSpc>
                <a:spcPts val="2160"/>
              </a:lnSpc>
              <a:spcBef>
                <a:spcPts val="150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sz="2000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MATERIAL.RECIPE_ID=PRODUCT.RECIPE_ID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sz="2000" spc="-1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MATERIAL.WARE=PRODUCT.WARE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ts val="213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sz="2000" spc="-1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MATERIAL.AMOUNT=PRODUCT.AMOUNT;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95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&gt;&gt;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NULL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NULL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NULL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NULL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19407" y="6333410"/>
            <a:ext cx="226695" cy="2444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10</a:t>
            </a:fld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92" y="680719"/>
            <a:ext cx="2204326" cy="5840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35888" y="1814576"/>
            <a:ext cx="9891395" cy="6038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ts val="2275"/>
              </a:lnSpc>
              <a:spcBef>
                <a:spcPts val="105"/>
              </a:spcBef>
            </a:pPr>
            <a:r>
              <a:rPr b="1" spc="114" dirty="0">
                <a:latin typeface="Cambria"/>
                <a:cs typeface="Cambria"/>
              </a:rPr>
              <a:t>Relational</a:t>
            </a:r>
            <a:r>
              <a:rPr b="1" spc="225" dirty="0">
                <a:latin typeface="Cambria"/>
                <a:cs typeface="Cambria"/>
              </a:rPr>
              <a:t> </a:t>
            </a:r>
            <a:r>
              <a:rPr b="1" spc="55" dirty="0">
                <a:latin typeface="Cambria"/>
                <a:cs typeface="Cambria"/>
              </a:rPr>
              <a:t>algebra:</a:t>
            </a:r>
          </a:p>
          <a:p>
            <a:pPr marL="25400">
              <a:lnSpc>
                <a:spcPts val="2275"/>
              </a:lnSpc>
            </a:pPr>
            <a:r>
              <a:rPr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1</a:t>
            </a:r>
            <a:r>
              <a:rPr sz="1950" b="1" spc="592" baseline="-21367" dirty="0">
                <a:latin typeface="Cambria"/>
                <a:cs typeface="Cambria"/>
              </a:rPr>
              <a:t> </a:t>
            </a:r>
            <a:r>
              <a:rPr sz="2000" dirty="0">
                <a:latin typeface="Cambria Math"/>
                <a:cs typeface="Cambria Math"/>
              </a:rPr>
              <a:t>⋈</a:t>
            </a:r>
            <a:r>
              <a:rPr sz="2000" spc="210" dirty="0">
                <a:latin typeface="Cambria Math"/>
                <a:cs typeface="Cambria Math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2</a:t>
            </a:r>
            <a:r>
              <a:rPr sz="1950" b="1" spc="262" baseline="-21367" dirty="0">
                <a:latin typeface="Cambria"/>
                <a:cs typeface="Cambria"/>
              </a:rPr>
              <a:t> </a:t>
            </a:r>
            <a:r>
              <a:rPr sz="2000" spc="100" dirty="0"/>
              <a:t>all</a:t>
            </a:r>
            <a:r>
              <a:rPr sz="2000" spc="215" dirty="0"/>
              <a:t> </a:t>
            </a:r>
            <a:r>
              <a:rPr sz="2000" spc="110" dirty="0"/>
              <a:t>the</a:t>
            </a:r>
            <a:r>
              <a:rPr sz="2000" spc="204" dirty="0"/>
              <a:t> </a:t>
            </a:r>
            <a:r>
              <a:rPr sz="2000" spc="125" dirty="0"/>
              <a:t>combinations</a:t>
            </a:r>
            <a:r>
              <a:rPr sz="2000" spc="185" dirty="0"/>
              <a:t> </a:t>
            </a:r>
            <a:r>
              <a:rPr sz="2000" dirty="0"/>
              <a:t>of</a:t>
            </a:r>
            <a:r>
              <a:rPr sz="2000" spc="215" dirty="0"/>
              <a:t> </a:t>
            </a:r>
            <a:r>
              <a:rPr sz="2000" spc="110" dirty="0"/>
              <a:t>tuple</a:t>
            </a:r>
            <a:r>
              <a:rPr sz="2000" spc="195" dirty="0"/>
              <a:t> </a:t>
            </a:r>
            <a:r>
              <a:rPr sz="2000" spc="85" dirty="0"/>
              <a:t>from</a:t>
            </a:r>
            <a:r>
              <a:rPr sz="2000" spc="215" dirty="0"/>
              <a:t> </a:t>
            </a: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1</a:t>
            </a:r>
            <a:r>
              <a:rPr sz="1950" b="1" spc="555" baseline="-21367" dirty="0">
                <a:latin typeface="Cambria"/>
                <a:cs typeface="Cambria"/>
              </a:rPr>
              <a:t> </a:t>
            </a:r>
            <a:r>
              <a:rPr sz="2000" spc="165" dirty="0"/>
              <a:t>and</a:t>
            </a:r>
            <a:r>
              <a:rPr sz="2000" spc="200" dirty="0"/>
              <a:t> </a:t>
            </a:r>
            <a:r>
              <a:rPr sz="2000" b="1" spc="114" dirty="0">
                <a:latin typeface="Cambria"/>
                <a:cs typeface="Cambria"/>
              </a:rPr>
              <a:t>R</a:t>
            </a:r>
            <a:r>
              <a:rPr sz="1950" b="1" spc="172" baseline="-21367" dirty="0">
                <a:latin typeface="Cambria"/>
                <a:cs typeface="Cambria"/>
              </a:rPr>
              <a:t>2</a:t>
            </a:r>
            <a:r>
              <a:rPr sz="2000" spc="114" dirty="0"/>
              <a:t>,where</a:t>
            </a:r>
            <a:r>
              <a:rPr sz="2000" spc="195" dirty="0"/>
              <a:t> </a:t>
            </a:r>
            <a:r>
              <a:rPr sz="2000" b="1" spc="85" dirty="0">
                <a:latin typeface="Cambria"/>
                <a:cs typeface="Cambria"/>
              </a:rPr>
              <a:t>a</a:t>
            </a:r>
            <a:r>
              <a:rPr sz="2000" b="1" spc="210" dirty="0">
                <a:latin typeface="Cambria"/>
                <a:cs typeface="Cambria"/>
              </a:rPr>
              <a:t> </a:t>
            </a:r>
            <a:r>
              <a:rPr sz="2000" spc="110" dirty="0"/>
              <a:t>is</a:t>
            </a:r>
            <a:r>
              <a:rPr sz="2000" spc="215" dirty="0"/>
              <a:t> </a:t>
            </a:r>
            <a:r>
              <a:rPr sz="2000" spc="125" dirty="0"/>
              <a:t>some</a:t>
            </a:r>
            <a:r>
              <a:rPr sz="2000" spc="215" dirty="0"/>
              <a:t> </a:t>
            </a:r>
            <a:r>
              <a:rPr sz="2000" spc="95" dirty="0"/>
              <a:t>attribute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5888" y="2372055"/>
            <a:ext cx="9847580" cy="28784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9885">
              <a:lnSpc>
                <a:spcPts val="1550"/>
              </a:lnSpc>
              <a:spcBef>
                <a:spcPts val="105"/>
              </a:spcBef>
            </a:pPr>
            <a:r>
              <a:rPr sz="1400" spc="65" dirty="0">
                <a:latin typeface="Cambria"/>
                <a:cs typeface="Cambria"/>
              </a:rPr>
              <a:t>a=b</a:t>
            </a:r>
            <a:endParaRPr sz="1400">
              <a:latin typeface="Cambria"/>
              <a:cs typeface="Cambria"/>
            </a:endParaRPr>
          </a:p>
          <a:p>
            <a:pPr marL="25400">
              <a:lnSpc>
                <a:spcPts val="2150"/>
              </a:lnSpc>
            </a:pPr>
            <a:r>
              <a:rPr sz="2000" dirty="0">
                <a:latin typeface="Cambria"/>
                <a:cs typeface="Cambria"/>
              </a:rPr>
              <a:t>of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b="1" spc="180" dirty="0">
                <a:latin typeface="Cambria"/>
                <a:cs typeface="Cambria"/>
              </a:rPr>
              <a:t>R</a:t>
            </a:r>
            <a:r>
              <a:rPr sz="1950" b="1" spc="270" baseline="-21367" dirty="0">
                <a:latin typeface="Cambria"/>
                <a:cs typeface="Cambria"/>
              </a:rPr>
              <a:t>1</a:t>
            </a:r>
            <a:r>
              <a:rPr sz="2000" spc="180" dirty="0">
                <a:latin typeface="Cambria"/>
                <a:cs typeface="Cambria"/>
              </a:rPr>
              <a:t>,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b</a:t>
            </a:r>
            <a:r>
              <a:rPr sz="2000" b="1" spc="21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is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attribute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2</a:t>
            </a:r>
            <a:r>
              <a:rPr sz="1950" b="1" spc="607" baseline="-21367" dirty="0">
                <a:latin typeface="Cambria"/>
                <a:cs typeface="Cambria"/>
              </a:rPr>
              <a:t> </a:t>
            </a:r>
            <a:r>
              <a:rPr sz="2000" spc="165" dirty="0">
                <a:latin typeface="Cambria"/>
                <a:cs typeface="Cambria"/>
              </a:rPr>
              <a:t>and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b="1" spc="85" dirty="0">
                <a:latin typeface="Cambria"/>
                <a:cs typeface="Cambria"/>
              </a:rPr>
              <a:t>a</a:t>
            </a:r>
            <a:r>
              <a:rPr sz="2000" b="1" spc="220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equals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to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b="1" spc="90" dirty="0">
                <a:latin typeface="Cambria"/>
                <a:cs typeface="Cambria"/>
              </a:rPr>
              <a:t>b</a:t>
            </a:r>
            <a:r>
              <a:rPr sz="2000" spc="90" dirty="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25400" marR="17780">
              <a:lnSpc>
                <a:spcPts val="2160"/>
              </a:lnSpc>
              <a:spcBef>
                <a:spcPts val="150"/>
              </a:spcBef>
            </a:pPr>
            <a:r>
              <a:rPr sz="2000" spc="114" dirty="0">
                <a:latin typeface="Cambria"/>
                <a:cs typeface="Cambria"/>
              </a:rPr>
              <a:t>In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extended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form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(implemented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by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45" dirty="0">
                <a:latin typeface="Cambria"/>
                <a:cs typeface="Cambria"/>
              </a:rPr>
              <a:t>SQL)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multiple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attributes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from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both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relations </a:t>
            </a:r>
            <a:r>
              <a:rPr sz="2000" spc="175" dirty="0">
                <a:latin typeface="Cambria"/>
                <a:cs typeface="Cambria"/>
              </a:rPr>
              <a:t>can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be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60" dirty="0">
                <a:latin typeface="Cambria"/>
                <a:cs typeface="Cambria"/>
              </a:rPr>
              <a:t>used.</a:t>
            </a:r>
            <a:endParaRPr sz="2000">
              <a:latin typeface="Cambria"/>
              <a:cs typeface="Cambria"/>
            </a:endParaRPr>
          </a:p>
          <a:p>
            <a:pPr marL="25400">
              <a:lnSpc>
                <a:spcPct val="100000"/>
              </a:lnSpc>
              <a:spcBef>
                <a:spcPts val="930"/>
              </a:spcBef>
            </a:pPr>
            <a:r>
              <a:rPr sz="2000" b="1" spc="200" dirty="0">
                <a:latin typeface="Cambria"/>
                <a:cs typeface="Cambria"/>
              </a:rPr>
              <a:t>SQL:</a:t>
            </a:r>
            <a:r>
              <a:rPr sz="2000" b="1" spc="21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third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try</a:t>
            </a:r>
            <a:endParaRPr sz="2000">
              <a:latin typeface="Cambria"/>
              <a:cs typeface="Cambria"/>
            </a:endParaRPr>
          </a:p>
          <a:p>
            <a:pPr marL="25400" marR="4632325">
              <a:lnSpc>
                <a:spcPts val="2160"/>
              </a:lnSpc>
              <a:spcBef>
                <a:spcPts val="1150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6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MATERIAL.WARE,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PRODUCT.WARE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MATERIAL,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PRODUCT</a:t>
            </a:r>
            <a:endParaRPr sz="2000">
              <a:latin typeface="Courier New"/>
              <a:cs typeface="Courier New"/>
            </a:endParaRPr>
          </a:p>
          <a:p>
            <a:pPr marL="25400">
              <a:lnSpc>
                <a:spcPts val="213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sz="2000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MATERIAL.RECIPE_ID=PRODUCT.RECIPE_ID;</a:t>
            </a:r>
            <a:endParaRPr sz="2000">
              <a:latin typeface="Courier New"/>
              <a:cs typeface="Courier New"/>
            </a:endParaRPr>
          </a:p>
          <a:p>
            <a:pPr marL="25400">
              <a:lnSpc>
                <a:spcPct val="100000"/>
              </a:lnSpc>
              <a:spcBef>
                <a:spcPts val="960"/>
              </a:spcBef>
              <a:tabLst>
                <a:tab pos="2159000" algn="l"/>
              </a:tabLst>
            </a:pPr>
            <a:r>
              <a:rPr sz="2000" dirty="0">
                <a:latin typeface="Courier New"/>
                <a:cs typeface="Courier New"/>
              </a:rPr>
              <a:t>&gt;&gt;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WARE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WARE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18741" y="5389482"/>
            <a:ext cx="2438400" cy="0"/>
          </a:xfrm>
          <a:custGeom>
            <a:avLst/>
            <a:gdLst/>
            <a:ahLst/>
            <a:cxnLst/>
            <a:rect l="l" t="t" r="r" b="b"/>
            <a:pathLst>
              <a:path w="2438400">
                <a:moveTo>
                  <a:pt x="0" y="0"/>
                </a:moveTo>
                <a:lnTo>
                  <a:pt x="2438400" y="0"/>
                </a:lnTo>
              </a:path>
            </a:pathLst>
          </a:custGeom>
          <a:ln w="1501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06041" y="5468518"/>
            <a:ext cx="1244600" cy="11588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spc="-10" dirty="0">
                <a:latin typeface="Courier New"/>
                <a:cs typeface="Courier New"/>
              </a:rPr>
              <a:t>Charcoal Grain Charcoal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5"/>
              </a:lnSpc>
            </a:pPr>
            <a:r>
              <a:rPr sz="2000" spc="-50" dirty="0">
                <a:latin typeface="Courier New"/>
                <a:cs typeface="Courier New"/>
              </a:rPr>
              <a:t>…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2441" y="5468518"/>
            <a:ext cx="2159000" cy="8794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Courier New"/>
                <a:cs typeface="Courier New"/>
              </a:rPr>
              <a:t>Drinking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water </a:t>
            </a:r>
            <a:r>
              <a:rPr sz="2000" dirty="0">
                <a:latin typeface="Courier New"/>
                <a:cs typeface="Courier New"/>
              </a:rPr>
              <a:t>Meat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cow </a:t>
            </a:r>
            <a:r>
              <a:rPr sz="2000" dirty="0">
                <a:latin typeface="Courier New"/>
                <a:cs typeface="Courier New"/>
              </a:rPr>
              <a:t>Drinking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water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19407" y="6334455"/>
            <a:ext cx="2266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11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92" y="1028700"/>
            <a:ext cx="6252070" cy="58394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977895" y="3286125"/>
            <a:ext cx="1845945" cy="370840"/>
          </a:xfrm>
          <a:custGeom>
            <a:avLst/>
            <a:gdLst/>
            <a:ahLst/>
            <a:cxnLst/>
            <a:rect l="l" t="t" r="r" b="b"/>
            <a:pathLst>
              <a:path w="1845945" h="370839">
                <a:moveTo>
                  <a:pt x="1845818" y="0"/>
                </a:moveTo>
                <a:lnTo>
                  <a:pt x="0" y="0"/>
                </a:lnTo>
                <a:lnTo>
                  <a:pt x="0" y="370839"/>
                </a:lnTo>
                <a:lnTo>
                  <a:pt x="1845818" y="370839"/>
                </a:lnTo>
                <a:lnTo>
                  <a:pt x="1845818" y="0"/>
                </a:lnTo>
                <a:close/>
              </a:path>
            </a:pathLst>
          </a:custGeom>
          <a:solidFill>
            <a:srgbClr val="D4D7D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977895" y="3286125"/>
            <a:ext cx="5219700" cy="1483360"/>
            <a:chOff x="2977895" y="3286125"/>
            <a:chExt cx="5219700" cy="1483360"/>
          </a:xfrm>
        </p:grpSpPr>
        <p:sp>
          <p:nvSpPr>
            <p:cNvPr id="5" name="object 5"/>
            <p:cNvSpPr/>
            <p:nvPr/>
          </p:nvSpPr>
          <p:spPr>
            <a:xfrm>
              <a:off x="2977895" y="4027805"/>
              <a:ext cx="1845945" cy="370840"/>
            </a:xfrm>
            <a:custGeom>
              <a:avLst/>
              <a:gdLst/>
              <a:ahLst/>
              <a:cxnLst/>
              <a:rect l="l" t="t" r="r" b="b"/>
              <a:pathLst>
                <a:path w="1845945" h="370839">
                  <a:moveTo>
                    <a:pt x="1845818" y="0"/>
                  </a:moveTo>
                  <a:lnTo>
                    <a:pt x="0" y="0"/>
                  </a:lnTo>
                  <a:lnTo>
                    <a:pt x="0" y="370840"/>
                  </a:lnTo>
                  <a:lnTo>
                    <a:pt x="1845818" y="370840"/>
                  </a:lnTo>
                  <a:lnTo>
                    <a:pt x="1845818" y="0"/>
                  </a:lnTo>
                  <a:close/>
                </a:path>
              </a:pathLst>
            </a:custGeom>
            <a:solidFill>
              <a:srgbClr val="D4D7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77895" y="4398644"/>
              <a:ext cx="1845945" cy="370840"/>
            </a:xfrm>
            <a:custGeom>
              <a:avLst/>
              <a:gdLst/>
              <a:ahLst/>
              <a:cxnLst/>
              <a:rect l="l" t="t" r="r" b="b"/>
              <a:pathLst>
                <a:path w="1845945" h="370839">
                  <a:moveTo>
                    <a:pt x="1845818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845818" y="370839"/>
                  </a:lnTo>
                  <a:lnTo>
                    <a:pt x="1845818" y="0"/>
                  </a:lnTo>
                  <a:close/>
                </a:path>
              </a:pathLst>
            </a:custGeom>
            <a:solidFill>
              <a:srgbClr val="EB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40805" y="3286125"/>
              <a:ext cx="1756410" cy="370840"/>
            </a:xfrm>
            <a:custGeom>
              <a:avLst/>
              <a:gdLst/>
              <a:ahLst/>
              <a:cxnLst/>
              <a:rect l="l" t="t" r="r" b="b"/>
              <a:pathLst>
                <a:path w="1756409" h="370839">
                  <a:moveTo>
                    <a:pt x="1756410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756410" y="370839"/>
                  </a:lnTo>
                  <a:lnTo>
                    <a:pt x="1756410" y="0"/>
                  </a:lnTo>
                  <a:close/>
                </a:path>
              </a:pathLst>
            </a:custGeom>
            <a:solidFill>
              <a:srgbClr val="DDD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48588" y="2477770"/>
            <a:ext cx="1310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35" dirty="0">
                <a:latin typeface="Cambria"/>
                <a:cs typeface="Cambria"/>
              </a:rPr>
              <a:t>MATERIAL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20433" y="2477770"/>
            <a:ext cx="1214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45" dirty="0">
                <a:latin typeface="Cambria"/>
                <a:cs typeface="Cambria"/>
              </a:rPr>
              <a:t>PRODUCT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457446" y="3294253"/>
            <a:ext cx="2327275" cy="1468755"/>
            <a:chOff x="4457446" y="3294253"/>
            <a:chExt cx="2327275" cy="1468755"/>
          </a:xfrm>
        </p:grpSpPr>
        <p:sp>
          <p:nvSpPr>
            <p:cNvPr id="11" name="object 11"/>
            <p:cNvSpPr/>
            <p:nvPr/>
          </p:nvSpPr>
          <p:spPr>
            <a:xfrm>
              <a:off x="4492625" y="3306953"/>
              <a:ext cx="331470" cy="328295"/>
            </a:xfrm>
            <a:custGeom>
              <a:avLst/>
              <a:gdLst/>
              <a:ahLst/>
              <a:cxnLst/>
              <a:rect l="l" t="t" r="r" b="b"/>
              <a:pathLst>
                <a:path w="331470" h="328295">
                  <a:moveTo>
                    <a:pt x="0" y="163957"/>
                  </a:moveTo>
                  <a:lnTo>
                    <a:pt x="5916" y="120370"/>
                  </a:lnTo>
                  <a:lnTo>
                    <a:pt x="22610" y="81204"/>
                  </a:lnTo>
                  <a:lnTo>
                    <a:pt x="48498" y="48021"/>
                  </a:lnTo>
                  <a:lnTo>
                    <a:pt x="81994" y="22384"/>
                  </a:lnTo>
                  <a:lnTo>
                    <a:pt x="121517" y="5856"/>
                  </a:lnTo>
                  <a:lnTo>
                    <a:pt x="165480" y="0"/>
                  </a:lnTo>
                  <a:lnTo>
                    <a:pt x="209498" y="5856"/>
                  </a:lnTo>
                  <a:lnTo>
                    <a:pt x="249056" y="22384"/>
                  </a:lnTo>
                  <a:lnTo>
                    <a:pt x="282575" y="48021"/>
                  </a:lnTo>
                  <a:lnTo>
                    <a:pt x="308473" y="81204"/>
                  </a:lnTo>
                  <a:lnTo>
                    <a:pt x="325171" y="120370"/>
                  </a:lnTo>
                  <a:lnTo>
                    <a:pt x="331088" y="163957"/>
                  </a:lnTo>
                  <a:lnTo>
                    <a:pt x="325171" y="207489"/>
                  </a:lnTo>
                  <a:lnTo>
                    <a:pt x="308473" y="246619"/>
                  </a:lnTo>
                  <a:lnTo>
                    <a:pt x="282574" y="279781"/>
                  </a:lnTo>
                  <a:lnTo>
                    <a:pt x="249056" y="305406"/>
                  </a:lnTo>
                  <a:lnTo>
                    <a:pt x="209498" y="321930"/>
                  </a:lnTo>
                  <a:lnTo>
                    <a:pt x="165480" y="327787"/>
                  </a:lnTo>
                  <a:lnTo>
                    <a:pt x="121517" y="321930"/>
                  </a:lnTo>
                  <a:lnTo>
                    <a:pt x="81994" y="305406"/>
                  </a:lnTo>
                  <a:lnTo>
                    <a:pt x="48498" y="279781"/>
                  </a:lnTo>
                  <a:lnTo>
                    <a:pt x="22610" y="246619"/>
                  </a:lnTo>
                  <a:lnTo>
                    <a:pt x="5916" y="207489"/>
                  </a:lnTo>
                  <a:lnTo>
                    <a:pt x="0" y="163957"/>
                  </a:lnTo>
                  <a:close/>
                </a:path>
              </a:pathLst>
            </a:custGeom>
            <a:ln w="25400">
              <a:solidFill>
                <a:srgbClr val="6E81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23714" y="3470910"/>
              <a:ext cx="1617345" cy="393065"/>
            </a:xfrm>
            <a:custGeom>
              <a:avLst/>
              <a:gdLst/>
              <a:ahLst/>
              <a:cxnLst/>
              <a:rect l="l" t="t" r="r" b="b"/>
              <a:pathLst>
                <a:path w="1617345" h="393064">
                  <a:moveTo>
                    <a:pt x="0" y="0"/>
                  </a:moveTo>
                  <a:lnTo>
                    <a:pt x="1617090" y="392938"/>
                  </a:lnTo>
                </a:path>
              </a:pathLst>
            </a:custGeom>
            <a:ln w="6350">
              <a:solidFill>
                <a:srgbClr val="6E81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92625" y="3694938"/>
              <a:ext cx="331470" cy="328295"/>
            </a:xfrm>
            <a:custGeom>
              <a:avLst/>
              <a:gdLst/>
              <a:ahLst/>
              <a:cxnLst/>
              <a:rect l="l" t="t" r="r" b="b"/>
              <a:pathLst>
                <a:path w="331470" h="328295">
                  <a:moveTo>
                    <a:pt x="0" y="163956"/>
                  </a:moveTo>
                  <a:lnTo>
                    <a:pt x="5916" y="120370"/>
                  </a:lnTo>
                  <a:lnTo>
                    <a:pt x="22610" y="81204"/>
                  </a:lnTo>
                  <a:lnTo>
                    <a:pt x="48498" y="48021"/>
                  </a:lnTo>
                  <a:lnTo>
                    <a:pt x="81994" y="22384"/>
                  </a:lnTo>
                  <a:lnTo>
                    <a:pt x="121517" y="5856"/>
                  </a:lnTo>
                  <a:lnTo>
                    <a:pt x="165480" y="0"/>
                  </a:lnTo>
                  <a:lnTo>
                    <a:pt x="209498" y="5856"/>
                  </a:lnTo>
                  <a:lnTo>
                    <a:pt x="249056" y="22384"/>
                  </a:lnTo>
                  <a:lnTo>
                    <a:pt x="282575" y="48021"/>
                  </a:lnTo>
                  <a:lnTo>
                    <a:pt x="308473" y="81204"/>
                  </a:lnTo>
                  <a:lnTo>
                    <a:pt x="325171" y="120370"/>
                  </a:lnTo>
                  <a:lnTo>
                    <a:pt x="331088" y="163956"/>
                  </a:lnTo>
                  <a:lnTo>
                    <a:pt x="325171" y="207543"/>
                  </a:lnTo>
                  <a:lnTo>
                    <a:pt x="308473" y="246709"/>
                  </a:lnTo>
                  <a:lnTo>
                    <a:pt x="282574" y="279892"/>
                  </a:lnTo>
                  <a:lnTo>
                    <a:pt x="249056" y="305529"/>
                  </a:lnTo>
                  <a:lnTo>
                    <a:pt x="209498" y="322057"/>
                  </a:lnTo>
                  <a:lnTo>
                    <a:pt x="165480" y="327913"/>
                  </a:lnTo>
                  <a:lnTo>
                    <a:pt x="121517" y="322057"/>
                  </a:lnTo>
                  <a:lnTo>
                    <a:pt x="81994" y="305529"/>
                  </a:lnTo>
                  <a:lnTo>
                    <a:pt x="48498" y="279892"/>
                  </a:lnTo>
                  <a:lnTo>
                    <a:pt x="22610" y="246709"/>
                  </a:lnTo>
                  <a:lnTo>
                    <a:pt x="5916" y="207543"/>
                  </a:lnTo>
                  <a:lnTo>
                    <a:pt x="0" y="163956"/>
                  </a:lnTo>
                  <a:close/>
                </a:path>
              </a:pathLst>
            </a:custGeom>
            <a:ln w="25400">
              <a:solidFill>
                <a:srgbClr val="A44D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40805" y="3306953"/>
              <a:ext cx="331470" cy="711835"/>
            </a:xfrm>
            <a:custGeom>
              <a:avLst/>
              <a:gdLst/>
              <a:ahLst/>
              <a:cxnLst/>
              <a:rect l="l" t="t" r="r" b="b"/>
              <a:pathLst>
                <a:path w="331470" h="711835">
                  <a:moveTo>
                    <a:pt x="0" y="163957"/>
                  </a:moveTo>
                  <a:lnTo>
                    <a:pt x="5907" y="120370"/>
                  </a:lnTo>
                  <a:lnTo>
                    <a:pt x="22582" y="81204"/>
                  </a:lnTo>
                  <a:lnTo>
                    <a:pt x="48450" y="48021"/>
                  </a:lnTo>
                  <a:lnTo>
                    <a:pt x="81938" y="22384"/>
                  </a:lnTo>
                  <a:lnTo>
                    <a:pt x="121473" y="5856"/>
                  </a:lnTo>
                  <a:lnTo>
                    <a:pt x="165480" y="0"/>
                  </a:lnTo>
                  <a:lnTo>
                    <a:pt x="209488" y="5856"/>
                  </a:lnTo>
                  <a:lnTo>
                    <a:pt x="249023" y="22384"/>
                  </a:lnTo>
                  <a:lnTo>
                    <a:pt x="282511" y="48021"/>
                  </a:lnTo>
                  <a:lnTo>
                    <a:pt x="308379" y="81204"/>
                  </a:lnTo>
                  <a:lnTo>
                    <a:pt x="325054" y="120370"/>
                  </a:lnTo>
                  <a:lnTo>
                    <a:pt x="330962" y="163957"/>
                  </a:lnTo>
                  <a:lnTo>
                    <a:pt x="325054" y="207489"/>
                  </a:lnTo>
                  <a:lnTo>
                    <a:pt x="308379" y="246619"/>
                  </a:lnTo>
                  <a:lnTo>
                    <a:pt x="282511" y="279781"/>
                  </a:lnTo>
                  <a:lnTo>
                    <a:pt x="249023" y="305406"/>
                  </a:lnTo>
                  <a:lnTo>
                    <a:pt x="209488" y="321930"/>
                  </a:lnTo>
                  <a:lnTo>
                    <a:pt x="165480" y="327787"/>
                  </a:lnTo>
                  <a:lnTo>
                    <a:pt x="121473" y="321930"/>
                  </a:lnTo>
                  <a:lnTo>
                    <a:pt x="81938" y="305406"/>
                  </a:lnTo>
                  <a:lnTo>
                    <a:pt x="48450" y="279781"/>
                  </a:lnTo>
                  <a:lnTo>
                    <a:pt x="22582" y="246619"/>
                  </a:lnTo>
                  <a:lnTo>
                    <a:pt x="5907" y="207489"/>
                  </a:lnTo>
                  <a:lnTo>
                    <a:pt x="0" y="163957"/>
                  </a:lnTo>
                  <a:close/>
                </a:path>
                <a:path w="331470" h="711835">
                  <a:moveTo>
                    <a:pt x="0" y="547624"/>
                  </a:moveTo>
                  <a:lnTo>
                    <a:pt x="5907" y="504037"/>
                  </a:lnTo>
                  <a:lnTo>
                    <a:pt x="22582" y="464871"/>
                  </a:lnTo>
                  <a:lnTo>
                    <a:pt x="48450" y="431688"/>
                  </a:lnTo>
                  <a:lnTo>
                    <a:pt x="81938" y="406051"/>
                  </a:lnTo>
                  <a:lnTo>
                    <a:pt x="121473" y="389523"/>
                  </a:lnTo>
                  <a:lnTo>
                    <a:pt x="165480" y="383667"/>
                  </a:lnTo>
                  <a:lnTo>
                    <a:pt x="209488" y="389523"/>
                  </a:lnTo>
                  <a:lnTo>
                    <a:pt x="249023" y="406051"/>
                  </a:lnTo>
                  <a:lnTo>
                    <a:pt x="282511" y="431688"/>
                  </a:lnTo>
                  <a:lnTo>
                    <a:pt x="308379" y="464871"/>
                  </a:lnTo>
                  <a:lnTo>
                    <a:pt x="325054" y="504037"/>
                  </a:lnTo>
                  <a:lnTo>
                    <a:pt x="330962" y="547624"/>
                  </a:lnTo>
                  <a:lnTo>
                    <a:pt x="325054" y="591210"/>
                  </a:lnTo>
                  <a:lnTo>
                    <a:pt x="308379" y="630376"/>
                  </a:lnTo>
                  <a:lnTo>
                    <a:pt x="282511" y="663559"/>
                  </a:lnTo>
                  <a:lnTo>
                    <a:pt x="249023" y="689196"/>
                  </a:lnTo>
                  <a:lnTo>
                    <a:pt x="209488" y="705724"/>
                  </a:lnTo>
                  <a:lnTo>
                    <a:pt x="165480" y="711581"/>
                  </a:lnTo>
                  <a:lnTo>
                    <a:pt x="121473" y="705724"/>
                  </a:lnTo>
                  <a:lnTo>
                    <a:pt x="81938" y="689196"/>
                  </a:lnTo>
                  <a:lnTo>
                    <a:pt x="48450" y="663559"/>
                  </a:lnTo>
                  <a:lnTo>
                    <a:pt x="22582" y="630376"/>
                  </a:lnTo>
                  <a:lnTo>
                    <a:pt x="5907" y="591210"/>
                  </a:lnTo>
                  <a:lnTo>
                    <a:pt x="0" y="547624"/>
                  </a:lnTo>
                  <a:close/>
                </a:path>
              </a:pathLst>
            </a:custGeom>
            <a:ln w="25400">
              <a:solidFill>
                <a:srgbClr val="6E81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76369" y="4056507"/>
              <a:ext cx="2279650" cy="331470"/>
            </a:xfrm>
            <a:custGeom>
              <a:avLst/>
              <a:gdLst/>
              <a:ahLst/>
              <a:cxnLst/>
              <a:rect l="l" t="t" r="r" b="b"/>
              <a:pathLst>
                <a:path w="2279650" h="331470">
                  <a:moveTo>
                    <a:pt x="0" y="167132"/>
                  </a:moveTo>
                  <a:lnTo>
                    <a:pt x="5916" y="123545"/>
                  </a:lnTo>
                  <a:lnTo>
                    <a:pt x="22610" y="84379"/>
                  </a:lnTo>
                  <a:lnTo>
                    <a:pt x="48498" y="51196"/>
                  </a:lnTo>
                  <a:lnTo>
                    <a:pt x="81994" y="25559"/>
                  </a:lnTo>
                  <a:lnTo>
                    <a:pt x="121517" y="9031"/>
                  </a:lnTo>
                  <a:lnTo>
                    <a:pt x="165480" y="3175"/>
                  </a:lnTo>
                  <a:lnTo>
                    <a:pt x="209498" y="9031"/>
                  </a:lnTo>
                  <a:lnTo>
                    <a:pt x="249056" y="25559"/>
                  </a:lnTo>
                  <a:lnTo>
                    <a:pt x="282575" y="51196"/>
                  </a:lnTo>
                  <a:lnTo>
                    <a:pt x="308473" y="84379"/>
                  </a:lnTo>
                  <a:lnTo>
                    <a:pt x="325171" y="123545"/>
                  </a:lnTo>
                  <a:lnTo>
                    <a:pt x="331088" y="167132"/>
                  </a:lnTo>
                  <a:lnTo>
                    <a:pt x="325171" y="210718"/>
                  </a:lnTo>
                  <a:lnTo>
                    <a:pt x="308473" y="249884"/>
                  </a:lnTo>
                  <a:lnTo>
                    <a:pt x="282574" y="283067"/>
                  </a:lnTo>
                  <a:lnTo>
                    <a:pt x="249056" y="308704"/>
                  </a:lnTo>
                  <a:lnTo>
                    <a:pt x="209498" y="325232"/>
                  </a:lnTo>
                  <a:lnTo>
                    <a:pt x="165480" y="331089"/>
                  </a:lnTo>
                  <a:lnTo>
                    <a:pt x="121517" y="325232"/>
                  </a:lnTo>
                  <a:lnTo>
                    <a:pt x="81994" y="308704"/>
                  </a:lnTo>
                  <a:lnTo>
                    <a:pt x="48498" y="283067"/>
                  </a:lnTo>
                  <a:lnTo>
                    <a:pt x="22610" y="249884"/>
                  </a:lnTo>
                  <a:lnTo>
                    <a:pt x="5916" y="210718"/>
                  </a:lnTo>
                  <a:lnTo>
                    <a:pt x="0" y="167132"/>
                  </a:lnTo>
                  <a:close/>
                </a:path>
                <a:path w="2279650" h="331470">
                  <a:moveTo>
                    <a:pt x="1948179" y="163957"/>
                  </a:moveTo>
                  <a:lnTo>
                    <a:pt x="1954087" y="120370"/>
                  </a:lnTo>
                  <a:lnTo>
                    <a:pt x="1970762" y="81204"/>
                  </a:lnTo>
                  <a:lnTo>
                    <a:pt x="1996630" y="48021"/>
                  </a:lnTo>
                  <a:lnTo>
                    <a:pt x="2030118" y="22384"/>
                  </a:lnTo>
                  <a:lnTo>
                    <a:pt x="2069653" y="5856"/>
                  </a:lnTo>
                  <a:lnTo>
                    <a:pt x="2113660" y="0"/>
                  </a:lnTo>
                  <a:lnTo>
                    <a:pt x="2157668" y="5856"/>
                  </a:lnTo>
                  <a:lnTo>
                    <a:pt x="2197203" y="22384"/>
                  </a:lnTo>
                  <a:lnTo>
                    <a:pt x="2230691" y="48021"/>
                  </a:lnTo>
                  <a:lnTo>
                    <a:pt x="2256559" y="81204"/>
                  </a:lnTo>
                  <a:lnTo>
                    <a:pt x="2273234" y="120370"/>
                  </a:lnTo>
                  <a:lnTo>
                    <a:pt x="2279141" y="163957"/>
                  </a:lnTo>
                  <a:lnTo>
                    <a:pt x="2273234" y="207543"/>
                  </a:lnTo>
                  <a:lnTo>
                    <a:pt x="2256559" y="246709"/>
                  </a:lnTo>
                  <a:lnTo>
                    <a:pt x="2230691" y="279892"/>
                  </a:lnTo>
                  <a:lnTo>
                    <a:pt x="2197203" y="305529"/>
                  </a:lnTo>
                  <a:lnTo>
                    <a:pt x="2157668" y="322057"/>
                  </a:lnTo>
                  <a:lnTo>
                    <a:pt x="2113660" y="327914"/>
                  </a:lnTo>
                  <a:lnTo>
                    <a:pt x="2069653" y="322057"/>
                  </a:lnTo>
                  <a:lnTo>
                    <a:pt x="2030118" y="305529"/>
                  </a:lnTo>
                  <a:lnTo>
                    <a:pt x="1996630" y="279892"/>
                  </a:lnTo>
                  <a:lnTo>
                    <a:pt x="1970762" y="246709"/>
                  </a:lnTo>
                  <a:lnTo>
                    <a:pt x="1954087" y="207543"/>
                  </a:lnTo>
                  <a:lnTo>
                    <a:pt x="1948179" y="163957"/>
                  </a:lnTo>
                  <a:close/>
                </a:path>
              </a:pathLst>
            </a:custGeom>
            <a:ln w="25400">
              <a:solidFill>
                <a:srgbClr val="A44D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70146" y="4414520"/>
              <a:ext cx="2285365" cy="335915"/>
            </a:xfrm>
            <a:custGeom>
              <a:avLst/>
              <a:gdLst/>
              <a:ahLst/>
              <a:cxnLst/>
              <a:rect l="l" t="t" r="r" b="b"/>
              <a:pathLst>
                <a:path w="2285365" h="335914">
                  <a:moveTo>
                    <a:pt x="1954402" y="171830"/>
                  </a:moveTo>
                  <a:lnTo>
                    <a:pt x="1960310" y="128244"/>
                  </a:lnTo>
                  <a:lnTo>
                    <a:pt x="1976985" y="89078"/>
                  </a:lnTo>
                  <a:lnTo>
                    <a:pt x="2002853" y="55895"/>
                  </a:lnTo>
                  <a:lnTo>
                    <a:pt x="2036341" y="30258"/>
                  </a:lnTo>
                  <a:lnTo>
                    <a:pt x="2075876" y="13730"/>
                  </a:lnTo>
                  <a:lnTo>
                    <a:pt x="2119883" y="7873"/>
                  </a:lnTo>
                  <a:lnTo>
                    <a:pt x="2163891" y="13730"/>
                  </a:lnTo>
                  <a:lnTo>
                    <a:pt x="2203426" y="30258"/>
                  </a:lnTo>
                  <a:lnTo>
                    <a:pt x="2236914" y="55895"/>
                  </a:lnTo>
                  <a:lnTo>
                    <a:pt x="2262782" y="89078"/>
                  </a:lnTo>
                  <a:lnTo>
                    <a:pt x="2279457" y="128244"/>
                  </a:lnTo>
                  <a:lnTo>
                    <a:pt x="2285364" y="171830"/>
                  </a:lnTo>
                  <a:lnTo>
                    <a:pt x="2279457" y="215417"/>
                  </a:lnTo>
                  <a:lnTo>
                    <a:pt x="2262782" y="254583"/>
                  </a:lnTo>
                  <a:lnTo>
                    <a:pt x="2236914" y="287766"/>
                  </a:lnTo>
                  <a:lnTo>
                    <a:pt x="2203426" y="313403"/>
                  </a:lnTo>
                  <a:lnTo>
                    <a:pt x="2163891" y="329931"/>
                  </a:lnTo>
                  <a:lnTo>
                    <a:pt x="2119883" y="335787"/>
                  </a:lnTo>
                  <a:lnTo>
                    <a:pt x="2075876" y="329931"/>
                  </a:lnTo>
                  <a:lnTo>
                    <a:pt x="2036341" y="313403"/>
                  </a:lnTo>
                  <a:lnTo>
                    <a:pt x="2002853" y="287766"/>
                  </a:lnTo>
                  <a:lnTo>
                    <a:pt x="1976985" y="254583"/>
                  </a:lnTo>
                  <a:lnTo>
                    <a:pt x="1960310" y="215417"/>
                  </a:lnTo>
                  <a:lnTo>
                    <a:pt x="1954402" y="171830"/>
                  </a:lnTo>
                  <a:close/>
                </a:path>
                <a:path w="2285365" h="335914">
                  <a:moveTo>
                    <a:pt x="0" y="163956"/>
                  </a:moveTo>
                  <a:lnTo>
                    <a:pt x="5907" y="120370"/>
                  </a:lnTo>
                  <a:lnTo>
                    <a:pt x="22582" y="81204"/>
                  </a:lnTo>
                  <a:lnTo>
                    <a:pt x="48450" y="48021"/>
                  </a:lnTo>
                  <a:lnTo>
                    <a:pt x="81938" y="22384"/>
                  </a:lnTo>
                  <a:lnTo>
                    <a:pt x="121473" y="5856"/>
                  </a:lnTo>
                  <a:lnTo>
                    <a:pt x="165480" y="0"/>
                  </a:lnTo>
                  <a:lnTo>
                    <a:pt x="209488" y="5856"/>
                  </a:lnTo>
                  <a:lnTo>
                    <a:pt x="249023" y="22384"/>
                  </a:lnTo>
                  <a:lnTo>
                    <a:pt x="282511" y="48021"/>
                  </a:lnTo>
                  <a:lnTo>
                    <a:pt x="308379" y="81204"/>
                  </a:lnTo>
                  <a:lnTo>
                    <a:pt x="325054" y="120370"/>
                  </a:lnTo>
                  <a:lnTo>
                    <a:pt x="330962" y="163956"/>
                  </a:lnTo>
                  <a:lnTo>
                    <a:pt x="325054" y="207543"/>
                  </a:lnTo>
                  <a:lnTo>
                    <a:pt x="308379" y="246709"/>
                  </a:lnTo>
                  <a:lnTo>
                    <a:pt x="282511" y="279892"/>
                  </a:lnTo>
                  <a:lnTo>
                    <a:pt x="249023" y="305529"/>
                  </a:lnTo>
                  <a:lnTo>
                    <a:pt x="209488" y="322057"/>
                  </a:lnTo>
                  <a:lnTo>
                    <a:pt x="165480" y="327913"/>
                  </a:lnTo>
                  <a:lnTo>
                    <a:pt x="121473" y="322057"/>
                  </a:lnTo>
                  <a:lnTo>
                    <a:pt x="81938" y="305529"/>
                  </a:lnTo>
                  <a:lnTo>
                    <a:pt x="48450" y="279892"/>
                  </a:lnTo>
                  <a:lnTo>
                    <a:pt x="22582" y="246709"/>
                  </a:lnTo>
                  <a:lnTo>
                    <a:pt x="5907" y="207543"/>
                  </a:lnTo>
                  <a:lnTo>
                    <a:pt x="0" y="163956"/>
                  </a:lnTo>
                  <a:close/>
                </a:path>
              </a:pathLst>
            </a:custGeom>
            <a:ln w="25400">
              <a:solidFill>
                <a:srgbClr val="CCC7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23714" y="3858895"/>
              <a:ext cx="1600835" cy="361950"/>
            </a:xfrm>
            <a:custGeom>
              <a:avLst/>
              <a:gdLst/>
              <a:ahLst/>
              <a:cxnLst/>
              <a:rect l="l" t="t" r="r" b="b"/>
              <a:pathLst>
                <a:path w="1600835" h="361950">
                  <a:moveTo>
                    <a:pt x="0" y="0"/>
                  </a:moveTo>
                  <a:lnTo>
                    <a:pt x="1600835" y="361568"/>
                  </a:lnTo>
                </a:path>
                <a:path w="1600835" h="361950">
                  <a:moveTo>
                    <a:pt x="16128" y="352297"/>
                  </a:moveTo>
                  <a:lnTo>
                    <a:pt x="1584578" y="352297"/>
                  </a:lnTo>
                </a:path>
              </a:pathLst>
            </a:custGeom>
            <a:ln w="6350">
              <a:solidFill>
                <a:srgbClr val="A44D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063497" y="2908935"/>
          <a:ext cx="9213850" cy="2221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6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7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70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60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3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…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10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WARE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1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RECIPE_ID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6350">
                      <a:solidFill>
                        <a:srgbClr val="6E818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1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RECIPE_ID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10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WARE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3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…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57D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40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120" dirty="0">
                          <a:latin typeface="Cambria"/>
                          <a:cs typeface="Cambria"/>
                        </a:rPr>
                        <a:t>Meat</a:t>
                      </a:r>
                      <a:r>
                        <a:rPr sz="18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35" dirty="0">
                          <a:latin typeface="Cambria"/>
                          <a:cs typeface="Cambria"/>
                        </a:rPr>
                        <a:t>cow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60" dirty="0"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6350">
                      <a:solidFill>
                        <a:srgbClr val="6E8183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60" dirty="0"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100" dirty="0">
                          <a:latin typeface="Cambria"/>
                          <a:cs typeface="Cambria"/>
                        </a:rPr>
                        <a:t>Meat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6E8183"/>
                      </a:solidFill>
                      <a:prstDash val="solid"/>
                    </a:lnT>
                    <a:lnB w="19050">
                      <a:solidFill>
                        <a:srgbClr val="CCC792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70" dirty="0">
                          <a:latin typeface="Cambria"/>
                          <a:cs typeface="Cambria"/>
                        </a:rPr>
                        <a:t>Water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60" dirty="0">
                          <a:latin typeface="Cambria"/>
                          <a:cs typeface="Cambria"/>
                        </a:rPr>
                        <a:t>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6E8183"/>
                      </a:solidFill>
                      <a:prstDash val="solid"/>
                    </a:lnT>
                    <a:lnB w="19050">
                      <a:solidFill>
                        <a:srgbClr val="CCC79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60" dirty="0"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85" dirty="0">
                          <a:latin typeface="Cambria"/>
                          <a:cs typeface="Cambria"/>
                        </a:rPr>
                        <a:t>Leather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135" dirty="0">
                          <a:latin typeface="Cambria"/>
                          <a:cs typeface="Cambria"/>
                        </a:rPr>
                        <a:t>Grain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60" dirty="0">
                          <a:latin typeface="Cambria"/>
                          <a:cs typeface="Cambria"/>
                        </a:rPr>
                        <a:t>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6E8183"/>
                      </a:solidFill>
                      <a:prstDash val="solid"/>
                    </a:lnT>
                    <a:lnB w="19050">
                      <a:solidFill>
                        <a:srgbClr val="CCC79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60" dirty="0">
                          <a:latin typeface="Cambria"/>
                          <a:cs typeface="Cambria"/>
                        </a:rPr>
                        <a:t>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120" dirty="0">
                          <a:latin typeface="Cambria"/>
                          <a:cs typeface="Cambria"/>
                        </a:rPr>
                        <a:t>Meat</a:t>
                      </a:r>
                      <a:r>
                        <a:rPr sz="18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35" dirty="0">
                          <a:latin typeface="Cambria"/>
                          <a:cs typeface="Cambria"/>
                        </a:rPr>
                        <a:t>cow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135" dirty="0">
                          <a:latin typeface="Cambria"/>
                          <a:cs typeface="Cambria"/>
                        </a:rPr>
                        <a:t>Gold</a:t>
                      </a:r>
                      <a:r>
                        <a:rPr sz="1800" spc="1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25" dirty="0">
                          <a:latin typeface="Cambria"/>
                          <a:cs typeface="Cambria"/>
                        </a:rPr>
                        <a:t>ore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60" dirty="0">
                          <a:latin typeface="Cambria"/>
                          <a:cs typeface="Cambria"/>
                        </a:rPr>
                        <a:t>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6E8183"/>
                      </a:solidFill>
                      <a:prstDash val="solid"/>
                    </a:lnT>
                    <a:lnB w="19050">
                      <a:solidFill>
                        <a:srgbClr val="CCC792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60" dirty="0">
                          <a:latin typeface="Cambria"/>
                          <a:cs typeface="Cambria"/>
                        </a:rPr>
                        <a:t>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114" dirty="0">
                          <a:latin typeface="Cambria"/>
                          <a:cs typeface="Cambria"/>
                        </a:rPr>
                        <a:t>Gold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3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800" b="1" spc="350" dirty="0">
                          <a:latin typeface="Cambria"/>
                          <a:cs typeface="Cambria"/>
                        </a:rPr>
                        <a:t>…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CCC792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395" dirty="0">
                          <a:latin typeface="Cambria"/>
                          <a:cs typeface="Cambria"/>
                        </a:rPr>
                        <a:t>…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395" dirty="0">
                          <a:latin typeface="Cambria"/>
                          <a:cs typeface="Cambria"/>
                        </a:rPr>
                        <a:t>…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CCC79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395" dirty="0">
                          <a:latin typeface="Cambria"/>
                          <a:cs typeface="Cambria"/>
                        </a:rPr>
                        <a:t>…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395" dirty="0">
                          <a:latin typeface="Cambria"/>
                          <a:cs typeface="Cambria"/>
                        </a:rPr>
                        <a:t>…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D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2481" y="1028700"/>
            <a:ext cx="7069823" cy="57569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8588" y="1836335"/>
            <a:ext cx="7751445" cy="297180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5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sz="2000" spc="80" dirty="0">
                <a:latin typeface="Cambria"/>
                <a:cs typeface="Cambria"/>
              </a:rPr>
              <a:t>There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are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60" dirty="0">
                <a:latin typeface="Cambria"/>
                <a:cs typeface="Cambria"/>
              </a:rPr>
              <a:t>many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duplicates,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145" dirty="0">
                <a:solidFill>
                  <a:srgbClr val="006FC0"/>
                </a:solidFill>
                <a:latin typeface="Cambria"/>
                <a:cs typeface="Cambria"/>
              </a:rPr>
              <a:t>DISTINCT</a:t>
            </a:r>
            <a:r>
              <a:rPr sz="2000" spc="17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145" dirty="0">
                <a:latin typeface="Cambria"/>
                <a:cs typeface="Cambria"/>
              </a:rPr>
              <a:t>should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be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applied.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sz="2000" spc="155" dirty="0">
                <a:latin typeface="Cambria"/>
                <a:cs typeface="Cambria"/>
              </a:rPr>
              <a:t>Rename </a:t>
            </a:r>
            <a:r>
              <a:rPr sz="2000" spc="110" dirty="0">
                <a:latin typeface="Cambria"/>
                <a:cs typeface="Cambria"/>
              </a:rPr>
              <a:t>is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40" dirty="0">
                <a:latin typeface="Cambria"/>
                <a:cs typeface="Cambria"/>
              </a:rPr>
              <a:t>useful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to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distinguish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55" dirty="0">
                <a:latin typeface="Cambria"/>
                <a:cs typeface="Cambria"/>
              </a:rPr>
              <a:t>columns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in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query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result.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89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  <a:spcBef>
                <a:spcPts val="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4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MATERIAL.WARE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MATERIAL,</a:t>
            </a:r>
            <a:endParaRPr sz="2000">
              <a:latin typeface="Courier New"/>
              <a:cs typeface="Courier New"/>
            </a:endParaRPr>
          </a:p>
          <a:p>
            <a:pPr marL="2451100">
              <a:lnSpc>
                <a:spcPts val="2160"/>
              </a:lnSpc>
              <a:tabLst>
                <a:tab pos="4584700" algn="l"/>
              </a:tabLst>
            </a:pPr>
            <a:r>
              <a:rPr sz="2000" spc="-10" dirty="0">
                <a:latin typeface="Courier New"/>
                <a:cs typeface="Courier New"/>
              </a:rPr>
              <a:t>PRODUCT.WARE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PRODUCT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MATERIAL,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PRODUCT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sz="2000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MATERIAL.RECIPE_ID=PRODUCT.RECIPE_ID;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2145665" algn="l"/>
              </a:tabLst>
            </a:pPr>
            <a:r>
              <a:rPr sz="2000" dirty="0">
                <a:latin typeface="Courier New"/>
                <a:cs typeface="Courier New"/>
              </a:rPr>
              <a:t>&gt;&gt;</a:t>
            </a:r>
            <a:r>
              <a:rPr sz="2000" spc="-10" dirty="0">
                <a:latin typeface="Courier New"/>
                <a:cs typeface="Courier New"/>
              </a:rPr>
              <a:t> MATERIAL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PRODUCT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8741" y="4946633"/>
            <a:ext cx="2438400" cy="0"/>
          </a:xfrm>
          <a:custGeom>
            <a:avLst/>
            <a:gdLst/>
            <a:ahLst/>
            <a:cxnLst/>
            <a:rect l="l" t="t" r="r" b="b"/>
            <a:pathLst>
              <a:path w="2438400">
                <a:moveTo>
                  <a:pt x="0" y="0"/>
                </a:moveTo>
                <a:lnTo>
                  <a:pt x="2438400" y="0"/>
                </a:lnTo>
              </a:path>
            </a:pathLst>
          </a:custGeom>
          <a:ln w="1501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06041" y="5025644"/>
            <a:ext cx="1244600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0"/>
              </a:spcBef>
            </a:pPr>
            <a:r>
              <a:rPr sz="2000" spc="-10" dirty="0">
                <a:latin typeface="Courier New"/>
                <a:cs typeface="Courier New"/>
              </a:rPr>
              <a:t>Charcoal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sz="2000" spc="-10" dirty="0">
                <a:latin typeface="Courier New"/>
                <a:cs typeface="Courier New"/>
              </a:rPr>
              <a:t>Grain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spc="-50" dirty="0">
                <a:latin typeface="Courier New"/>
                <a:cs typeface="Courier New"/>
              </a:rPr>
              <a:t>…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3282441" y="5025644"/>
            <a:ext cx="2159000" cy="60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Drinking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water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latin typeface="Courier New"/>
                <a:cs typeface="Courier New"/>
              </a:rPr>
              <a:t>Meat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cow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019" y="699516"/>
            <a:ext cx="7458202" cy="57569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7183" y="1357883"/>
            <a:ext cx="2301887" cy="583945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29538" y="2428320"/>
          <a:ext cx="6541770" cy="836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9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305">
                <a:tc>
                  <a:txBody>
                    <a:bodyPr/>
                    <a:lstStyle/>
                    <a:p>
                      <a:pPr marL="31750">
                        <a:lnSpc>
                          <a:spcPts val="2070"/>
                        </a:lnSpc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SELECT</a:t>
                      </a:r>
                      <a:r>
                        <a:rPr sz="2000" spc="-3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DISTINCT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70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MATERIAL.WARE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2000" spc="-2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70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MATERIAL,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14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PRODUCT.WARE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4"/>
                        </a:lnSpc>
                      </a:pPr>
                      <a:r>
                        <a:rPr sz="2000" spc="-2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14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PRODUCT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305">
                <a:tc>
                  <a:txBody>
                    <a:bodyPr/>
                    <a:lstStyle/>
                    <a:p>
                      <a:pPr marL="31750">
                        <a:lnSpc>
                          <a:spcPts val="2014"/>
                        </a:lnSpc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sz="2000" spc="-2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MATERIAL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148588" y="3196589"/>
            <a:ext cx="9575165" cy="2872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INNER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JOIN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PRODUCT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ON</a:t>
            </a:r>
            <a:r>
              <a:rPr sz="2000" spc="-1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MATERIAL.RECIPE_ID=PRODUCT.RECIPE_ID;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135"/>
              </a:spcBef>
            </a:pPr>
            <a:endParaRPr sz="2000">
              <a:latin typeface="Courier New"/>
              <a:cs typeface="Courier New"/>
            </a:endParaRPr>
          </a:p>
          <a:p>
            <a:pPr marL="194945" indent="-182245">
              <a:lnSpc>
                <a:spcPct val="100000"/>
              </a:lnSpc>
              <a:spcBef>
                <a:spcPts val="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sz="2000" spc="95" dirty="0">
                <a:latin typeface="Cambria"/>
                <a:cs typeface="Cambria"/>
              </a:rPr>
              <a:t>The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query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is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equivalent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to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the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previous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sz="2000" spc="145" dirty="0">
                <a:solidFill>
                  <a:srgbClr val="006FC0"/>
                </a:solidFill>
                <a:latin typeface="Cambria"/>
                <a:cs typeface="Cambria"/>
              </a:rPr>
              <a:t>INNER</a:t>
            </a:r>
            <a:r>
              <a:rPr sz="2000" spc="18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keyword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is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optional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(in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7E7E7E"/>
                </a:solidFill>
                <a:latin typeface="Cambria"/>
                <a:cs typeface="Cambria"/>
              </a:rPr>
              <a:t>contrast</a:t>
            </a:r>
            <a:r>
              <a:rPr sz="2000" spc="2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sz="2000" spc="2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7E7E7E"/>
                </a:solidFill>
                <a:latin typeface="Cambria"/>
                <a:cs typeface="Cambria"/>
              </a:rPr>
              <a:t>other</a:t>
            </a:r>
            <a:r>
              <a:rPr sz="2000" spc="21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7E7E7E"/>
                </a:solidFill>
                <a:latin typeface="Cambria"/>
                <a:cs typeface="Cambria"/>
              </a:rPr>
              <a:t>types</a:t>
            </a:r>
            <a:r>
              <a:rPr sz="2000" spc="18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000" spc="229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Cambria"/>
                <a:cs typeface="Cambria"/>
              </a:rPr>
              <a:t>join)</a:t>
            </a:r>
            <a:endParaRPr sz="2000">
              <a:latin typeface="Cambria"/>
              <a:cs typeface="Cambria"/>
            </a:endParaRPr>
          </a:p>
          <a:p>
            <a:pPr marL="195580" marR="5080" indent="-183515">
              <a:lnSpc>
                <a:spcPct val="90000"/>
              </a:lnSpc>
              <a:spcBef>
                <a:spcPts val="120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sz="2000" spc="105" dirty="0">
                <a:latin typeface="Cambria"/>
                <a:cs typeface="Cambria"/>
              </a:rPr>
              <a:t>For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the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inner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join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200" dirty="0">
                <a:solidFill>
                  <a:srgbClr val="006FC0"/>
                </a:solidFill>
                <a:latin typeface="Cambria"/>
                <a:cs typeface="Cambria"/>
              </a:rPr>
              <a:t>ON</a:t>
            </a:r>
            <a:r>
              <a:rPr sz="2000" spc="21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section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works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the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spc="155" dirty="0">
                <a:latin typeface="Cambria"/>
                <a:cs typeface="Cambria"/>
              </a:rPr>
              <a:t>same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80" dirty="0">
                <a:latin typeface="Cambria"/>
                <a:cs typeface="Cambria"/>
              </a:rPr>
              <a:t>as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204" dirty="0">
                <a:solidFill>
                  <a:srgbClr val="006FC0"/>
                </a:solidFill>
                <a:latin typeface="Cambria"/>
                <a:cs typeface="Cambria"/>
              </a:rPr>
              <a:t>WHERE </a:t>
            </a:r>
            <a:r>
              <a:rPr sz="2000" spc="105" dirty="0">
                <a:latin typeface="Cambria"/>
                <a:cs typeface="Cambria"/>
              </a:rPr>
              <a:t>section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(wrong</a:t>
            </a:r>
            <a:r>
              <a:rPr sz="2000" spc="22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7E7E7E"/>
                </a:solidFill>
                <a:latin typeface="Cambria"/>
                <a:cs typeface="Cambria"/>
              </a:rPr>
              <a:t>for </a:t>
            </a:r>
            <a:r>
              <a:rPr sz="2000" spc="95" dirty="0">
                <a:solidFill>
                  <a:srgbClr val="7E7E7E"/>
                </a:solidFill>
                <a:latin typeface="Cambria"/>
                <a:cs typeface="Cambria"/>
              </a:rPr>
              <a:t>other</a:t>
            </a:r>
            <a:r>
              <a:rPr sz="2000" spc="19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7E7E7E"/>
                </a:solidFill>
                <a:latin typeface="Cambria"/>
                <a:cs typeface="Cambria"/>
              </a:rPr>
              <a:t>types</a:t>
            </a:r>
            <a:r>
              <a:rPr sz="2000" spc="17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2000" spc="2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7E7E7E"/>
                </a:solidFill>
                <a:latin typeface="Cambria"/>
                <a:cs typeface="Cambria"/>
              </a:rPr>
              <a:t>join)</a:t>
            </a:r>
            <a:r>
              <a:rPr sz="2000" spc="70" dirty="0">
                <a:latin typeface="Cambria"/>
                <a:cs typeface="Cambria"/>
              </a:rPr>
              <a:t>.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However,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it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is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conventional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to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place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join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conditions </a:t>
            </a:r>
            <a:r>
              <a:rPr sz="2000" spc="140" dirty="0">
                <a:latin typeface="Cambria"/>
                <a:cs typeface="Cambria"/>
              </a:rPr>
              <a:t>under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200" dirty="0">
                <a:solidFill>
                  <a:srgbClr val="006FC0"/>
                </a:solidFill>
                <a:latin typeface="Cambria"/>
                <a:cs typeface="Cambria"/>
              </a:rPr>
              <a:t>ON</a:t>
            </a:r>
            <a:r>
              <a:rPr sz="2000" spc="18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165" dirty="0">
                <a:latin typeface="Cambria"/>
                <a:cs typeface="Cambria"/>
              </a:rPr>
              <a:t>and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other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selection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conditions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40" dirty="0">
                <a:latin typeface="Cambria"/>
                <a:cs typeface="Cambria"/>
              </a:rPr>
              <a:t>under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200" dirty="0">
                <a:solidFill>
                  <a:srgbClr val="006FC0"/>
                </a:solidFill>
                <a:latin typeface="Cambria"/>
                <a:cs typeface="Cambria"/>
              </a:rPr>
              <a:t>WHERE</a:t>
            </a:r>
            <a:r>
              <a:rPr sz="2000" spc="200" dirty="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019" y="1028700"/>
            <a:ext cx="4969383" cy="57569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Which</a:t>
            </a:r>
            <a:r>
              <a:rPr spc="220" dirty="0"/>
              <a:t> </a:t>
            </a:r>
            <a:r>
              <a:rPr spc="90" dirty="0"/>
              <a:t>wares</a:t>
            </a:r>
            <a:r>
              <a:rPr spc="195" dirty="0"/>
              <a:t> </a:t>
            </a:r>
            <a:r>
              <a:rPr spc="90" dirty="0"/>
              <a:t>do</a:t>
            </a:r>
            <a:r>
              <a:rPr spc="210" dirty="0"/>
              <a:t> </a:t>
            </a:r>
            <a:r>
              <a:rPr spc="120" dirty="0"/>
              <a:t>have</a:t>
            </a:r>
            <a:r>
              <a:rPr spc="210" dirty="0"/>
              <a:t> </a:t>
            </a:r>
            <a:r>
              <a:rPr dirty="0"/>
              <a:t>two</a:t>
            </a:r>
            <a:r>
              <a:rPr spc="235" dirty="0"/>
              <a:t> </a:t>
            </a:r>
            <a:r>
              <a:rPr spc="55" dirty="0"/>
              <a:t>or</a:t>
            </a:r>
            <a:r>
              <a:rPr spc="225" dirty="0"/>
              <a:t> </a:t>
            </a:r>
            <a:r>
              <a:rPr spc="90" dirty="0"/>
              <a:t>more</a:t>
            </a:r>
            <a:r>
              <a:rPr spc="185" dirty="0"/>
              <a:t> </a:t>
            </a:r>
            <a:r>
              <a:rPr spc="95" dirty="0"/>
              <a:t>categories?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92" y="1028700"/>
            <a:ext cx="1008494" cy="46824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37739" y="1028700"/>
            <a:ext cx="1227455" cy="584200"/>
            <a:chOff x="2237739" y="1028700"/>
            <a:chExt cx="1227455" cy="5842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7739" y="1286724"/>
              <a:ext cx="151206" cy="756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5539" y="1028700"/>
              <a:ext cx="1049147" cy="58394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48588" y="1946529"/>
            <a:ext cx="475043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fst.WARE</a:t>
            </a:r>
          </a:p>
          <a:p>
            <a:pPr marL="12700">
              <a:lnSpc>
                <a:spcPts val="2280"/>
              </a:lnSpc>
            </a:pPr>
            <a:r>
              <a:rPr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CATEGORY</a:t>
            </a:r>
            <a:r>
              <a:rPr spc="-30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fst,</a:t>
            </a:r>
            <a:r>
              <a:rPr spc="-30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CATEGORY</a:t>
            </a:r>
            <a:r>
              <a:rPr spc="-25" dirty="0">
                <a:latin typeface="Courier New"/>
                <a:cs typeface="Courier New"/>
              </a:rPr>
              <a:t> snd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48588" y="2494864"/>
            <a:ext cx="9271000" cy="36042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sz="2000" spc="-5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fst.WARE=snd.WARE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sz="2000" spc="-4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fst.CLASS&lt;&gt;snd.CLASS;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140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90" dirty="0">
                <a:latin typeface="Cambria"/>
                <a:cs typeface="Cambria"/>
              </a:rPr>
              <a:t>Table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is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joined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to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itself,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so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table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aliasing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is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85" dirty="0">
                <a:latin typeface="Cambria"/>
                <a:cs typeface="Cambria"/>
              </a:rPr>
              <a:t>a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80" dirty="0">
                <a:latin typeface="Cambria"/>
                <a:cs typeface="Cambria"/>
              </a:rPr>
              <a:t>must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in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this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case.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  <a:spcBef>
                <a:spcPts val="960"/>
              </a:spcBef>
            </a:pPr>
            <a:r>
              <a:rPr sz="2000" spc="120" dirty="0">
                <a:latin typeface="Cambria"/>
                <a:cs typeface="Cambria"/>
              </a:rPr>
              <a:t>In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other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cases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aliasing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is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optional,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however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it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is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conventional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to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65" dirty="0">
                <a:latin typeface="Cambria"/>
                <a:cs typeface="Cambria"/>
              </a:rPr>
              <a:t>use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in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any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</a:pPr>
            <a:r>
              <a:rPr sz="2000" spc="95" dirty="0">
                <a:latin typeface="Cambria"/>
                <a:cs typeface="Cambria"/>
              </a:rPr>
              <a:t>join-</a:t>
            </a:r>
            <a:r>
              <a:rPr sz="2000" spc="105" dirty="0">
                <a:latin typeface="Cambria"/>
                <a:cs typeface="Cambria"/>
              </a:rPr>
              <a:t>query.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000" b="1" spc="165" dirty="0">
                <a:latin typeface="Cambria"/>
                <a:cs typeface="Cambria"/>
              </a:rPr>
              <a:t>Q:</a:t>
            </a:r>
            <a:r>
              <a:rPr sz="2000" b="1" spc="19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Identify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join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type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in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this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query:</a:t>
            </a:r>
            <a:endParaRPr sz="20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965"/>
              </a:spcBef>
              <a:buClr>
                <a:srgbClr val="957D95"/>
              </a:buClr>
              <a:buSzPct val="85000"/>
              <a:buFont typeface="Wingdings"/>
              <a:buChar char=""/>
              <a:tabLst>
                <a:tab pos="285115" algn="l"/>
              </a:tabLst>
            </a:pPr>
            <a:r>
              <a:rPr sz="2000" spc="155" dirty="0">
                <a:latin typeface="Cambria"/>
                <a:cs typeface="Cambria"/>
              </a:rPr>
              <a:t>Cross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join</a:t>
            </a:r>
            <a:endParaRPr sz="20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"/>
              <a:tabLst>
                <a:tab pos="285115" algn="l"/>
              </a:tabLst>
            </a:pPr>
            <a:r>
              <a:rPr sz="2000" spc="110" dirty="0">
                <a:latin typeface="Cambria"/>
                <a:cs typeface="Cambria"/>
              </a:rPr>
              <a:t>Equijoin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8588" y="6194856"/>
            <a:ext cx="30041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100"/>
              </a:spcBef>
              <a:buClr>
                <a:srgbClr val="957D95"/>
              </a:buClr>
              <a:buSzPct val="85000"/>
              <a:buFont typeface="Wingdings"/>
              <a:buChar char=""/>
              <a:tabLst>
                <a:tab pos="285115" algn="l"/>
              </a:tabLst>
            </a:pPr>
            <a:r>
              <a:rPr sz="2000" spc="220" dirty="0">
                <a:latin typeface="Cambria"/>
                <a:cs typeface="Cambria"/>
              </a:rPr>
              <a:t>Join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235" dirty="0">
                <a:latin typeface="Cambria"/>
                <a:cs typeface="Cambria"/>
              </a:rPr>
              <a:t> </a:t>
            </a:r>
            <a:r>
              <a:rPr sz="2000" spc="155" dirty="0">
                <a:latin typeface="Cambria"/>
                <a:cs typeface="Cambria"/>
              </a:rPr>
              <a:t>unknown</a:t>
            </a:r>
            <a:r>
              <a:rPr sz="2000" spc="23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type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19407" y="6334455"/>
            <a:ext cx="2266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16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2491" y="1836547"/>
            <a:ext cx="21437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130" dirty="0">
                <a:latin typeface="Cambria"/>
                <a:cs typeface="Cambria"/>
              </a:rPr>
              <a:t>Cross</a:t>
            </a:r>
            <a:r>
              <a:rPr b="1" spc="204" dirty="0">
                <a:latin typeface="Cambria"/>
                <a:cs typeface="Cambria"/>
              </a:rPr>
              <a:t> </a:t>
            </a:r>
            <a:r>
              <a:rPr b="1" spc="100" dirty="0">
                <a:latin typeface="Cambria"/>
                <a:cs typeface="Cambria"/>
              </a:rPr>
              <a:t>join</a:t>
            </a:r>
            <a:r>
              <a:rPr b="1" spc="225" dirty="0">
                <a:latin typeface="Cambria"/>
                <a:cs typeface="Cambria"/>
              </a:rPr>
              <a:t> </a:t>
            </a:r>
            <a:r>
              <a:rPr b="1" spc="90" dirty="0">
                <a:latin typeface="Cambria"/>
                <a:cs typeface="Cambria"/>
              </a:rPr>
              <a:t>form: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462915">
              <a:lnSpc>
                <a:spcPts val="2160"/>
              </a:lnSpc>
              <a:spcBef>
                <a:spcPts val="375"/>
              </a:spcBef>
            </a:pPr>
            <a:r>
              <a:rPr dirty="0">
                <a:solidFill>
                  <a:srgbClr val="006FC0"/>
                </a:solidFill>
              </a:rPr>
              <a:t>SELECT</a:t>
            </a:r>
            <a:r>
              <a:rPr spc="-35" dirty="0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DISTINCT</a:t>
            </a:r>
            <a:r>
              <a:rPr spc="-35" dirty="0">
                <a:solidFill>
                  <a:srgbClr val="006FC0"/>
                </a:solidFill>
              </a:rPr>
              <a:t> </a:t>
            </a:r>
            <a:r>
              <a:rPr spc="-10" dirty="0"/>
              <a:t>fst.WARE </a:t>
            </a:r>
            <a:r>
              <a:rPr dirty="0">
                <a:solidFill>
                  <a:srgbClr val="006FC0"/>
                </a:solidFill>
              </a:rPr>
              <a:t>FROM</a:t>
            </a:r>
            <a:r>
              <a:rPr spc="-30" dirty="0">
                <a:solidFill>
                  <a:srgbClr val="006FC0"/>
                </a:solidFill>
              </a:rPr>
              <a:t> </a:t>
            </a:r>
            <a:r>
              <a:rPr dirty="0"/>
              <a:t>CATEGORY</a:t>
            </a:r>
            <a:r>
              <a:rPr spc="-30" dirty="0"/>
              <a:t> </a:t>
            </a:r>
            <a:r>
              <a:rPr spc="-25" dirty="0"/>
              <a:t>fst</a:t>
            </a:r>
          </a:p>
          <a:p>
            <a:pPr marL="12700">
              <a:lnSpc>
                <a:spcPts val="2010"/>
              </a:lnSpc>
            </a:pPr>
            <a:r>
              <a:rPr dirty="0">
                <a:solidFill>
                  <a:srgbClr val="006FC0"/>
                </a:solidFill>
              </a:rPr>
              <a:t>INNER</a:t>
            </a:r>
            <a:r>
              <a:rPr spc="-30" dirty="0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JOIN</a:t>
            </a:r>
            <a:r>
              <a:rPr spc="-30" dirty="0">
                <a:solidFill>
                  <a:srgbClr val="006FC0"/>
                </a:solidFill>
              </a:rPr>
              <a:t> </a:t>
            </a:r>
            <a:r>
              <a:rPr dirty="0"/>
              <a:t>CATEGORY</a:t>
            </a:r>
            <a:r>
              <a:rPr spc="-25" dirty="0"/>
              <a:t> snd</a:t>
            </a:r>
          </a:p>
          <a:p>
            <a:pPr marL="12700">
              <a:lnSpc>
                <a:spcPts val="2160"/>
              </a:lnSpc>
            </a:pPr>
            <a:r>
              <a:rPr dirty="0">
                <a:solidFill>
                  <a:srgbClr val="006FC0"/>
                </a:solidFill>
              </a:rPr>
              <a:t>WHERE</a:t>
            </a:r>
            <a:r>
              <a:rPr spc="-25" dirty="0">
                <a:solidFill>
                  <a:srgbClr val="006FC0"/>
                </a:solidFill>
              </a:rPr>
              <a:t> </a:t>
            </a:r>
            <a:r>
              <a:rPr spc="-10" dirty="0"/>
              <a:t>fst.WARE=snd.WARE</a:t>
            </a:r>
          </a:p>
          <a:p>
            <a:pPr marL="317500">
              <a:lnSpc>
                <a:spcPts val="2280"/>
              </a:lnSpc>
            </a:pPr>
            <a:r>
              <a:rPr dirty="0">
                <a:solidFill>
                  <a:srgbClr val="006FC0"/>
                </a:solidFill>
              </a:rPr>
              <a:t>AND</a:t>
            </a:r>
            <a:r>
              <a:rPr spc="-25" dirty="0">
                <a:solidFill>
                  <a:srgbClr val="006FC0"/>
                </a:solidFill>
              </a:rPr>
              <a:t> </a:t>
            </a:r>
            <a:r>
              <a:rPr spc="-10" dirty="0"/>
              <a:t>fst.CLASS&lt;&gt;snd.CLASS;</a:t>
            </a:r>
          </a:p>
          <a:p>
            <a:pPr>
              <a:lnSpc>
                <a:spcPct val="100000"/>
              </a:lnSpc>
              <a:spcBef>
                <a:spcPts val="2160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b="1" spc="114" dirty="0">
                <a:latin typeface="Cambria"/>
                <a:cs typeface="Cambria"/>
              </a:rPr>
              <a:t>Equijoin</a:t>
            </a:r>
            <a:r>
              <a:rPr b="1" spc="210" dirty="0">
                <a:latin typeface="Cambria"/>
                <a:cs typeface="Cambria"/>
              </a:rPr>
              <a:t> </a:t>
            </a:r>
            <a:r>
              <a:rPr b="1" spc="85" dirty="0">
                <a:latin typeface="Cambria"/>
                <a:cs typeface="Cambria"/>
              </a:rPr>
              <a:t>form:</a:t>
            </a:r>
          </a:p>
          <a:p>
            <a:pPr marL="12700" marR="462915">
              <a:lnSpc>
                <a:spcPts val="2160"/>
              </a:lnSpc>
              <a:spcBef>
                <a:spcPts val="1130"/>
              </a:spcBef>
            </a:pPr>
            <a:r>
              <a:rPr dirty="0">
                <a:solidFill>
                  <a:srgbClr val="006FC0"/>
                </a:solidFill>
              </a:rPr>
              <a:t>SELECT</a:t>
            </a:r>
            <a:r>
              <a:rPr spc="-35" dirty="0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DISTINCT</a:t>
            </a:r>
            <a:r>
              <a:rPr spc="-35" dirty="0">
                <a:solidFill>
                  <a:srgbClr val="006FC0"/>
                </a:solidFill>
              </a:rPr>
              <a:t> </a:t>
            </a:r>
            <a:r>
              <a:rPr spc="-10" dirty="0"/>
              <a:t>fst.WARE </a:t>
            </a:r>
            <a:r>
              <a:rPr dirty="0">
                <a:solidFill>
                  <a:srgbClr val="006FC0"/>
                </a:solidFill>
              </a:rPr>
              <a:t>FROM</a:t>
            </a:r>
            <a:r>
              <a:rPr spc="-30" dirty="0">
                <a:solidFill>
                  <a:srgbClr val="006FC0"/>
                </a:solidFill>
              </a:rPr>
              <a:t> </a:t>
            </a:r>
            <a:r>
              <a:rPr dirty="0"/>
              <a:t>CATEGORY</a:t>
            </a:r>
            <a:r>
              <a:rPr spc="-30" dirty="0"/>
              <a:t> </a:t>
            </a:r>
            <a:r>
              <a:rPr spc="-25" dirty="0"/>
              <a:t>fst</a:t>
            </a:r>
          </a:p>
          <a:p>
            <a:pPr marL="12700">
              <a:lnSpc>
                <a:spcPts val="2010"/>
              </a:lnSpc>
            </a:pPr>
            <a:r>
              <a:rPr dirty="0">
                <a:solidFill>
                  <a:srgbClr val="006FC0"/>
                </a:solidFill>
              </a:rPr>
              <a:t>INNER</a:t>
            </a:r>
            <a:r>
              <a:rPr spc="-40" dirty="0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JOIN</a:t>
            </a:r>
            <a:r>
              <a:rPr spc="-30" dirty="0">
                <a:solidFill>
                  <a:srgbClr val="006FC0"/>
                </a:solidFill>
              </a:rPr>
              <a:t> </a:t>
            </a:r>
            <a:r>
              <a:rPr dirty="0"/>
              <a:t>CATEGORY</a:t>
            </a:r>
            <a:r>
              <a:rPr spc="-20" dirty="0"/>
              <a:t> </a:t>
            </a:r>
            <a:r>
              <a:rPr spc="-25" dirty="0"/>
              <a:t>snd</a:t>
            </a:r>
          </a:p>
          <a:p>
            <a:pPr marL="12700">
              <a:lnSpc>
                <a:spcPts val="2160"/>
              </a:lnSpc>
            </a:pPr>
            <a:r>
              <a:rPr dirty="0">
                <a:solidFill>
                  <a:srgbClr val="006FC0"/>
                </a:solidFill>
              </a:rPr>
              <a:t>ON</a:t>
            </a:r>
            <a:r>
              <a:rPr spc="-10" dirty="0">
                <a:solidFill>
                  <a:srgbClr val="006FC0"/>
                </a:solidFill>
              </a:rPr>
              <a:t> </a:t>
            </a:r>
            <a:r>
              <a:rPr spc="-10" dirty="0"/>
              <a:t>fst.WARE=snd.WARE</a:t>
            </a:r>
          </a:p>
          <a:p>
            <a:pPr marL="12700">
              <a:lnSpc>
                <a:spcPts val="2280"/>
              </a:lnSpc>
            </a:pPr>
            <a:r>
              <a:rPr dirty="0">
                <a:solidFill>
                  <a:srgbClr val="006FC0"/>
                </a:solidFill>
              </a:rPr>
              <a:t>WHERE</a:t>
            </a:r>
            <a:r>
              <a:rPr spc="-35" dirty="0">
                <a:solidFill>
                  <a:srgbClr val="006FC0"/>
                </a:solidFill>
              </a:rPr>
              <a:t> </a:t>
            </a:r>
            <a:r>
              <a:rPr spc="-10" dirty="0"/>
              <a:t>fst.CLASS&lt;&gt;snd.CLASS;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58305" y="3006318"/>
            <a:ext cx="3836035" cy="195262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000" b="1" dirty="0">
                <a:latin typeface="Cambria"/>
                <a:cs typeface="Cambria"/>
              </a:rPr>
              <a:t>θ-</a:t>
            </a:r>
            <a:r>
              <a:rPr sz="2000" b="1" spc="100" dirty="0">
                <a:latin typeface="Cambria"/>
                <a:cs typeface="Cambria"/>
              </a:rPr>
              <a:t>join</a:t>
            </a:r>
            <a:r>
              <a:rPr sz="2000" b="1" spc="34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(theta-</a:t>
            </a:r>
            <a:r>
              <a:rPr sz="2000" dirty="0">
                <a:latin typeface="Cambria"/>
                <a:cs typeface="Cambria"/>
              </a:rPr>
              <a:t>join)</a:t>
            </a:r>
            <a:r>
              <a:rPr sz="2000" spc="345" dirty="0">
                <a:latin typeface="Cambria"/>
                <a:cs typeface="Cambria"/>
              </a:rPr>
              <a:t> </a:t>
            </a:r>
            <a:r>
              <a:rPr sz="2000" b="1" spc="100" dirty="0">
                <a:latin typeface="Cambria"/>
                <a:cs typeface="Cambria"/>
              </a:rPr>
              <a:t>form:</a:t>
            </a:r>
            <a:endParaRPr sz="2000">
              <a:latin typeface="Cambria"/>
              <a:cs typeface="Cambria"/>
            </a:endParaRPr>
          </a:p>
          <a:p>
            <a:pPr marL="12700" marR="157480">
              <a:lnSpc>
                <a:spcPts val="2160"/>
              </a:lnSpc>
              <a:spcBef>
                <a:spcPts val="1140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fst.WARE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CATEGORY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fst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01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INNER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JOIN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CATEGORY</a:t>
            </a:r>
            <a:r>
              <a:rPr sz="2000" spc="-25" dirty="0">
                <a:latin typeface="Courier New"/>
                <a:cs typeface="Courier New"/>
              </a:rPr>
              <a:t> snd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ON</a:t>
            </a:r>
            <a:r>
              <a:rPr sz="2000" spc="-1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fst.WARE=snd.WARE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sz="2000" spc="-1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fst.CLASS&lt;&gt;snd.CLASS;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19407" y="6334455"/>
            <a:ext cx="2266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17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586" y="1028700"/>
            <a:ext cx="348589" cy="46558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612900" y="1028700"/>
            <a:ext cx="1227455" cy="584200"/>
            <a:chOff x="1612900" y="1028700"/>
            <a:chExt cx="1227455" cy="5842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2900" y="1286724"/>
              <a:ext cx="151206" cy="756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700" y="1028700"/>
              <a:ext cx="1049147" cy="58394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48588" y="1814576"/>
            <a:ext cx="24987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114" dirty="0">
                <a:latin typeface="Cambria"/>
                <a:cs typeface="Cambria"/>
              </a:rPr>
              <a:t>Relational</a:t>
            </a:r>
            <a:r>
              <a:rPr b="1" spc="225" dirty="0">
                <a:latin typeface="Cambria"/>
                <a:cs typeface="Cambria"/>
              </a:rPr>
              <a:t> </a:t>
            </a:r>
            <a:r>
              <a:rPr b="1" spc="55" dirty="0">
                <a:latin typeface="Cambria"/>
                <a:cs typeface="Cambria"/>
              </a:rPr>
              <a:t>algebra: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23188" y="2114768"/>
            <a:ext cx="10044430" cy="3878579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75"/>
              </a:spcBef>
            </a:pPr>
            <a:r>
              <a:rPr sz="2000" spc="85" dirty="0">
                <a:latin typeface="Cambria"/>
                <a:cs typeface="Cambria"/>
              </a:rPr>
              <a:t>θ-join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is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generalization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equijoin.</a:t>
            </a:r>
            <a:endParaRPr sz="2000">
              <a:latin typeface="Cambria"/>
              <a:cs typeface="Cambria"/>
            </a:endParaRPr>
          </a:p>
          <a:p>
            <a:pPr marL="38100">
              <a:lnSpc>
                <a:spcPts val="2330"/>
              </a:lnSpc>
              <a:spcBef>
                <a:spcPts val="975"/>
              </a:spcBef>
            </a:pP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1</a:t>
            </a:r>
            <a:r>
              <a:rPr sz="1950" b="1" spc="585" baseline="-21367" dirty="0">
                <a:latin typeface="Cambria"/>
                <a:cs typeface="Cambria"/>
              </a:rPr>
              <a:t> </a:t>
            </a:r>
            <a:r>
              <a:rPr sz="2000" dirty="0">
                <a:latin typeface="Cambria Math"/>
                <a:cs typeface="Cambria Math"/>
              </a:rPr>
              <a:t>⋈</a:t>
            </a:r>
            <a:r>
              <a:rPr sz="2000" spc="210" dirty="0">
                <a:latin typeface="Cambria Math"/>
                <a:cs typeface="Cambria Math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2</a:t>
            </a:r>
            <a:r>
              <a:rPr sz="1950" b="1" spc="262" baseline="-21367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all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the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combinations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tuples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from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1</a:t>
            </a:r>
            <a:r>
              <a:rPr sz="1950" b="1" spc="540" baseline="-21367" dirty="0">
                <a:latin typeface="Cambria"/>
                <a:cs typeface="Cambria"/>
              </a:rPr>
              <a:t> </a:t>
            </a:r>
            <a:r>
              <a:rPr sz="2000" spc="165" dirty="0">
                <a:latin typeface="Cambria"/>
                <a:cs typeface="Cambria"/>
              </a:rPr>
              <a:t>and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2</a:t>
            </a:r>
            <a:r>
              <a:rPr sz="1950" b="1" spc="540" baseline="-21367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where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b="1" spc="85" dirty="0">
                <a:latin typeface="Cambria"/>
                <a:cs typeface="Cambria"/>
              </a:rPr>
              <a:t>a</a:t>
            </a:r>
            <a:r>
              <a:rPr sz="2000" b="1" spc="204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is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some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attribute</a:t>
            </a:r>
            <a:endParaRPr sz="2000">
              <a:latin typeface="Cambria"/>
              <a:cs typeface="Cambria"/>
            </a:endParaRPr>
          </a:p>
          <a:p>
            <a:pPr marL="362585">
              <a:lnSpc>
                <a:spcPts val="1470"/>
              </a:lnSpc>
            </a:pPr>
            <a:r>
              <a:rPr sz="1400" spc="50" dirty="0">
                <a:latin typeface="Cambria"/>
                <a:cs typeface="Cambria"/>
              </a:rPr>
              <a:t>aθb</a:t>
            </a:r>
            <a:endParaRPr sz="1400">
              <a:latin typeface="Cambria"/>
              <a:cs typeface="Cambria"/>
            </a:endParaRPr>
          </a:p>
          <a:p>
            <a:pPr marL="38100">
              <a:lnSpc>
                <a:spcPts val="2260"/>
              </a:lnSpc>
            </a:pPr>
            <a:r>
              <a:rPr sz="2000" dirty="0">
                <a:latin typeface="Cambria"/>
                <a:cs typeface="Cambria"/>
              </a:rPr>
              <a:t>of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b="1" spc="180" dirty="0">
                <a:latin typeface="Cambria"/>
                <a:cs typeface="Cambria"/>
              </a:rPr>
              <a:t>R</a:t>
            </a:r>
            <a:r>
              <a:rPr sz="1950" b="1" spc="270" baseline="-21367" dirty="0">
                <a:latin typeface="Cambria"/>
                <a:cs typeface="Cambria"/>
              </a:rPr>
              <a:t>1</a:t>
            </a:r>
            <a:r>
              <a:rPr sz="2000" spc="180" dirty="0">
                <a:latin typeface="Cambria"/>
                <a:cs typeface="Cambria"/>
              </a:rPr>
              <a:t>,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b</a:t>
            </a:r>
            <a:r>
              <a:rPr sz="2000" b="1" spc="20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is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attribute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b="1" spc="180" dirty="0">
                <a:latin typeface="Cambria"/>
                <a:cs typeface="Cambria"/>
              </a:rPr>
              <a:t>R</a:t>
            </a:r>
            <a:r>
              <a:rPr sz="1950" b="1" spc="270" baseline="-21367" dirty="0">
                <a:latin typeface="Cambria"/>
                <a:cs typeface="Cambria"/>
              </a:rPr>
              <a:t>2</a:t>
            </a:r>
            <a:r>
              <a:rPr sz="2000" spc="180" dirty="0">
                <a:latin typeface="Cambria"/>
                <a:cs typeface="Cambria"/>
              </a:rPr>
              <a:t>,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b="1" spc="100" dirty="0">
                <a:latin typeface="Cambria"/>
                <a:cs typeface="Cambria"/>
              </a:rPr>
              <a:t>θ</a:t>
            </a:r>
            <a:r>
              <a:rPr sz="2000" b="1" spc="21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is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one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predicates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(&gt;,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≥,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&lt;,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≤,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=,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≠)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65" dirty="0">
                <a:latin typeface="Cambria"/>
                <a:cs typeface="Cambria"/>
              </a:rPr>
              <a:t>and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b="1" spc="85" dirty="0">
                <a:latin typeface="Cambria"/>
                <a:cs typeface="Cambria"/>
              </a:rPr>
              <a:t>a</a:t>
            </a:r>
            <a:r>
              <a:rPr sz="2000" b="1" spc="210" dirty="0">
                <a:latin typeface="Cambria"/>
                <a:cs typeface="Cambria"/>
              </a:rPr>
              <a:t> </a:t>
            </a:r>
            <a:r>
              <a:rPr sz="2000" b="1" spc="100" dirty="0">
                <a:latin typeface="Cambria"/>
                <a:cs typeface="Cambria"/>
              </a:rPr>
              <a:t>θ</a:t>
            </a:r>
            <a:r>
              <a:rPr sz="2000" b="1" spc="200" dirty="0">
                <a:latin typeface="Cambria"/>
                <a:cs typeface="Cambria"/>
              </a:rPr>
              <a:t> </a:t>
            </a:r>
            <a:r>
              <a:rPr sz="2000" b="1" spc="90" dirty="0">
                <a:latin typeface="Cambria"/>
                <a:cs typeface="Cambria"/>
              </a:rPr>
              <a:t>b</a:t>
            </a:r>
            <a:r>
              <a:rPr sz="2000" spc="90" dirty="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2000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</a:pPr>
            <a:r>
              <a:rPr sz="2000" b="1" spc="180" dirty="0">
                <a:latin typeface="Cambria"/>
                <a:cs typeface="Cambria"/>
              </a:rPr>
              <a:t>SQL:</a:t>
            </a:r>
            <a:endParaRPr sz="2000">
              <a:latin typeface="Cambria"/>
              <a:cs typeface="Cambria"/>
            </a:endParaRPr>
          </a:p>
          <a:p>
            <a:pPr marL="38100" marR="1020444">
              <a:lnSpc>
                <a:spcPts val="2160"/>
              </a:lnSpc>
              <a:spcBef>
                <a:spcPts val="1210"/>
              </a:spcBef>
            </a:pPr>
            <a:r>
              <a:rPr sz="2000" spc="114" dirty="0">
                <a:latin typeface="Cambria"/>
                <a:cs typeface="Cambria"/>
              </a:rPr>
              <a:t>Inner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join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implements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extended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version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θ-</a:t>
            </a:r>
            <a:r>
              <a:rPr sz="2000" spc="114" dirty="0">
                <a:latin typeface="Cambria"/>
                <a:cs typeface="Cambria"/>
              </a:rPr>
              <a:t>join.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The</a:t>
            </a:r>
            <a:r>
              <a:rPr sz="2000" spc="23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extensions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are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the </a:t>
            </a:r>
            <a:r>
              <a:rPr sz="2000" spc="65" dirty="0">
                <a:latin typeface="Cambria"/>
                <a:cs typeface="Cambria"/>
              </a:rPr>
              <a:t>following:</a:t>
            </a:r>
            <a:endParaRPr sz="2000">
              <a:latin typeface="Cambria"/>
              <a:cs typeface="Cambria"/>
            </a:endParaRPr>
          </a:p>
          <a:p>
            <a:pPr marL="220345" indent="-182245">
              <a:lnSpc>
                <a:spcPts val="2280"/>
              </a:lnSpc>
              <a:spcBef>
                <a:spcPts val="92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220345" algn="l"/>
              </a:tabLst>
            </a:pPr>
            <a:r>
              <a:rPr sz="2000" spc="185" dirty="0">
                <a:latin typeface="Cambria"/>
                <a:cs typeface="Cambria"/>
              </a:rPr>
              <a:t>a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propositional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formula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over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any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55" dirty="0">
                <a:latin typeface="Cambria"/>
                <a:cs typeface="Cambria"/>
              </a:rPr>
              <a:t>number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attributes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75" dirty="0">
                <a:latin typeface="Cambria"/>
                <a:cs typeface="Cambria"/>
              </a:rPr>
              <a:t>can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be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55" dirty="0">
                <a:latin typeface="Cambria"/>
                <a:cs typeface="Cambria"/>
              </a:rPr>
              <a:t>used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80" dirty="0">
                <a:latin typeface="Cambria"/>
                <a:cs typeface="Cambria"/>
              </a:rPr>
              <a:t>as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185" dirty="0">
                <a:latin typeface="Cambria"/>
                <a:cs typeface="Cambria"/>
              </a:rPr>
              <a:t>a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join</a:t>
            </a:r>
            <a:endParaRPr sz="2000">
              <a:latin typeface="Cambria"/>
              <a:cs typeface="Cambria"/>
            </a:endParaRPr>
          </a:p>
          <a:p>
            <a:pPr marL="220979">
              <a:lnSpc>
                <a:spcPts val="2280"/>
              </a:lnSpc>
            </a:pPr>
            <a:r>
              <a:rPr sz="2000" spc="90" dirty="0">
                <a:latin typeface="Cambria"/>
                <a:cs typeface="Cambria"/>
              </a:rPr>
              <a:t>condition</a:t>
            </a:r>
            <a:endParaRPr sz="2000">
              <a:latin typeface="Cambria"/>
              <a:cs typeface="Cambria"/>
            </a:endParaRPr>
          </a:p>
          <a:p>
            <a:pPr marL="2203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220345" algn="l"/>
              </a:tabLst>
            </a:pPr>
            <a:r>
              <a:rPr sz="2000" spc="110" dirty="0">
                <a:latin typeface="Cambria"/>
                <a:cs typeface="Cambria"/>
              </a:rPr>
              <a:t>additional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predicates</a:t>
            </a:r>
            <a:r>
              <a:rPr sz="2000" spc="175" dirty="0">
                <a:latin typeface="Cambria"/>
                <a:cs typeface="Cambria"/>
              </a:rPr>
              <a:t> can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be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55" dirty="0">
                <a:latin typeface="Cambria"/>
                <a:cs typeface="Cambria"/>
              </a:rPr>
              <a:t>used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(</a:t>
            </a:r>
            <a:r>
              <a:rPr sz="2000" spc="90" dirty="0">
                <a:solidFill>
                  <a:srgbClr val="006FC0"/>
                </a:solidFill>
                <a:latin typeface="Cambria"/>
                <a:cs typeface="Cambria"/>
              </a:rPr>
              <a:t>LIKE</a:t>
            </a:r>
            <a:r>
              <a:rPr sz="2000" spc="19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for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example)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8588" y="6088786"/>
            <a:ext cx="9705975" cy="60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0"/>
              </a:spcBef>
            </a:pPr>
            <a:r>
              <a:rPr sz="2000" spc="105" dirty="0">
                <a:latin typeface="Cambria"/>
                <a:cs typeface="Cambria"/>
              </a:rPr>
              <a:t>Formally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there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are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no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differences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between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θ-</a:t>
            </a:r>
            <a:r>
              <a:rPr sz="2000" spc="85" dirty="0">
                <a:latin typeface="Cambria"/>
                <a:cs typeface="Cambria"/>
              </a:rPr>
              <a:t>join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65" dirty="0">
                <a:latin typeface="Cambria"/>
                <a:cs typeface="Cambria"/>
              </a:rPr>
              <a:t>and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cross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join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with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selection,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</a:pPr>
            <a:r>
              <a:rPr sz="2000" spc="100" dirty="0">
                <a:latin typeface="Cambria"/>
                <a:cs typeface="Cambria"/>
              </a:rPr>
              <a:t>all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these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variants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are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implemented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by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inner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join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in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225" dirty="0">
                <a:latin typeface="Cambria"/>
                <a:cs typeface="Cambria"/>
              </a:rPr>
              <a:t>SQL.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19407" y="6334455"/>
            <a:ext cx="2266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18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586" y="1028700"/>
            <a:ext cx="348589" cy="46558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612900" y="1028700"/>
            <a:ext cx="4394835" cy="584200"/>
            <a:chOff x="1612900" y="1028700"/>
            <a:chExt cx="4394835" cy="5842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2900" y="1286724"/>
              <a:ext cx="151206" cy="756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700" y="1028700"/>
              <a:ext cx="4216908" cy="58394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73341" y="1783207"/>
            <a:ext cx="5026660" cy="2160270"/>
          </a:xfrm>
          <a:prstGeom prst="rect">
            <a:avLst/>
          </a:prstGeom>
          <a:ln w="9525">
            <a:solidFill>
              <a:srgbClr val="CCC79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2350"/>
              </a:lnSpc>
            </a:pPr>
            <a:r>
              <a:rPr sz="2000" b="1" spc="-10" dirty="0">
                <a:latin typeface="Courier New"/>
                <a:cs typeface="Courier New"/>
              </a:rPr>
              <a:t>Schema</a:t>
            </a:r>
            <a:endParaRPr sz="2000">
              <a:latin typeface="Courier New"/>
              <a:cs typeface="Courier New"/>
            </a:endParaRPr>
          </a:p>
          <a:p>
            <a:pPr marL="90805">
              <a:lnSpc>
                <a:spcPts val="2280"/>
              </a:lnSpc>
              <a:spcBef>
                <a:spcPts val="960"/>
              </a:spcBef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people</a:t>
            </a:r>
            <a:r>
              <a:rPr sz="2000" spc="-3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and</a:t>
            </a:r>
            <a:r>
              <a:rPr sz="2000" spc="-2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their</a:t>
            </a:r>
            <a:r>
              <a:rPr sz="2000" spc="-2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money</a:t>
            </a:r>
            <a:endParaRPr sz="2000">
              <a:latin typeface="Courier New"/>
              <a:cs typeface="Courier New"/>
            </a:endParaRPr>
          </a:p>
          <a:p>
            <a:pPr marL="396240" marR="2792730" indent="-305435">
              <a:lnSpc>
                <a:spcPts val="2160"/>
              </a:lnSpc>
              <a:spcBef>
                <a:spcPts val="150"/>
              </a:spcBef>
            </a:pPr>
            <a:r>
              <a:rPr sz="2000" b="1" dirty="0">
                <a:solidFill>
                  <a:srgbClr val="006FC0"/>
                </a:solidFill>
                <a:latin typeface="Courier New"/>
                <a:cs typeface="Courier New"/>
              </a:rPr>
              <a:t>TABLE</a:t>
            </a:r>
            <a:r>
              <a:rPr sz="2000" b="1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PERSON: </a:t>
            </a:r>
            <a:r>
              <a:rPr sz="2000" dirty="0">
                <a:latin typeface="Courier New"/>
                <a:cs typeface="Courier New"/>
              </a:rPr>
              <a:t>NAME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TEXT </a:t>
            </a:r>
            <a:r>
              <a:rPr sz="2000" dirty="0">
                <a:latin typeface="Courier New"/>
                <a:cs typeface="Courier New"/>
              </a:rPr>
              <a:t>CASH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Courier New"/>
                <a:cs typeface="Courier New"/>
              </a:rPr>
              <a:t>INTEGER</a:t>
            </a:r>
            <a:endParaRPr sz="2000">
              <a:latin typeface="Courier New"/>
              <a:cs typeface="Courier New"/>
            </a:endParaRPr>
          </a:p>
          <a:p>
            <a:pPr marL="90805">
              <a:lnSpc>
                <a:spcPct val="100000"/>
              </a:lnSpc>
              <a:spcBef>
                <a:spcPts val="965"/>
              </a:spcBef>
            </a:pP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Ex.:</a:t>
            </a:r>
            <a:r>
              <a:rPr sz="2000" spc="-3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(‘John</a:t>
            </a:r>
            <a:r>
              <a:rPr sz="2000" spc="-3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Smith’,</a:t>
            </a:r>
            <a:r>
              <a:rPr sz="2000" spc="-2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1000)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96000" y="1783207"/>
            <a:ext cx="5257800" cy="2160270"/>
          </a:xfrm>
          <a:prstGeom prst="rect">
            <a:avLst/>
          </a:prstGeom>
          <a:ln w="9525">
            <a:solidFill>
              <a:srgbClr val="CCC792"/>
            </a:solidFill>
          </a:ln>
        </p:spPr>
        <p:txBody>
          <a:bodyPr vert="horz" wrap="square" lIns="0" tIns="127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5"/>
              </a:spcBef>
            </a:pPr>
            <a:endParaRPr sz="2000">
              <a:latin typeface="Times New Roman"/>
              <a:cs typeface="Times New Roman"/>
            </a:endParaRPr>
          </a:p>
          <a:p>
            <a:pPr marL="92075">
              <a:lnSpc>
                <a:spcPts val="2280"/>
              </a:lnSpc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manufacturing</a:t>
            </a:r>
            <a:r>
              <a:rPr sz="2000" spc="-4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goods</a:t>
            </a:r>
            <a:r>
              <a:rPr sz="2000" spc="-3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and</a:t>
            </a:r>
            <a:r>
              <a:rPr sz="2000" spc="-3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prices</a:t>
            </a:r>
            <a:endParaRPr sz="2000">
              <a:latin typeface="Courier New"/>
              <a:cs typeface="Courier New"/>
            </a:endParaRPr>
          </a:p>
          <a:p>
            <a:pPr marL="396875" marR="2719070" indent="-304800">
              <a:lnSpc>
                <a:spcPts val="2160"/>
              </a:lnSpc>
              <a:spcBef>
                <a:spcPts val="155"/>
              </a:spcBef>
            </a:pPr>
            <a:r>
              <a:rPr sz="2000" b="1" dirty="0">
                <a:solidFill>
                  <a:srgbClr val="006FC0"/>
                </a:solidFill>
                <a:latin typeface="Courier New"/>
                <a:cs typeface="Courier New"/>
              </a:rPr>
              <a:t>TABLE</a:t>
            </a:r>
            <a:r>
              <a:rPr sz="2000" b="1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GOOD: </a:t>
            </a:r>
            <a:r>
              <a:rPr sz="2000" dirty="0">
                <a:latin typeface="Courier New"/>
                <a:cs typeface="Courier New"/>
              </a:rPr>
              <a:t>GOOD_NAME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TEXT </a:t>
            </a:r>
            <a:r>
              <a:rPr sz="2000" dirty="0">
                <a:latin typeface="Courier New"/>
                <a:cs typeface="Courier New"/>
              </a:rPr>
              <a:t>PRICE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Courier New"/>
                <a:cs typeface="Courier New"/>
              </a:rPr>
              <a:t>INTEGER</a:t>
            </a:r>
            <a:endParaRPr sz="2000">
              <a:latin typeface="Courier New"/>
              <a:cs typeface="Courier New"/>
            </a:endParaRPr>
          </a:p>
          <a:p>
            <a:pPr marL="92075">
              <a:lnSpc>
                <a:spcPct val="100000"/>
              </a:lnSpc>
              <a:spcBef>
                <a:spcPts val="965"/>
              </a:spcBef>
            </a:pP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Ex.:</a:t>
            </a:r>
            <a:r>
              <a:rPr sz="2000" spc="-3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(‘Soap’,</a:t>
            </a:r>
            <a:r>
              <a:rPr sz="2000" spc="-3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7E7E7E"/>
                </a:solidFill>
                <a:latin typeface="Courier New"/>
                <a:cs typeface="Courier New"/>
              </a:rPr>
              <a:t>10)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8995" y="4214079"/>
            <a:ext cx="6731634" cy="211963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  <a:tabLst>
                <a:tab pos="1201420" algn="l"/>
              </a:tabLst>
            </a:pPr>
            <a:r>
              <a:rPr sz="2000" b="1" spc="165" dirty="0">
                <a:latin typeface="Cambria"/>
                <a:cs typeface="Cambria"/>
              </a:rPr>
              <a:t>Q:</a:t>
            </a:r>
            <a:r>
              <a:rPr sz="2000" b="1" spc="19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What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175" dirty="0">
                <a:latin typeface="Cambria"/>
                <a:cs typeface="Cambria"/>
              </a:rPr>
              <a:t>can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be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40" dirty="0">
                <a:latin typeface="Cambria"/>
                <a:cs typeface="Cambria"/>
              </a:rPr>
              <a:t>bought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by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155" dirty="0">
                <a:latin typeface="Cambria"/>
                <a:cs typeface="Cambria"/>
              </a:rPr>
              <a:t>each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person?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000" b="1" spc="180" dirty="0">
                <a:latin typeface="Cambria"/>
                <a:cs typeface="Cambria"/>
              </a:rPr>
              <a:t>SQL:</a:t>
            </a:r>
            <a:endParaRPr sz="2000">
              <a:latin typeface="Cambria"/>
              <a:cs typeface="Cambria"/>
            </a:endParaRPr>
          </a:p>
          <a:p>
            <a:pPr marL="1079500" marR="2748280" indent="-1067435">
              <a:lnSpc>
                <a:spcPts val="2160"/>
              </a:lnSpc>
              <a:spcBef>
                <a:spcPts val="1150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p.NAME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PERSON, </a:t>
            </a:r>
            <a:r>
              <a:rPr sz="2000" dirty="0">
                <a:latin typeface="Courier New"/>
                <a:cs typeface="Courier New"/>
              </a:rPr>
              <a:t>g.GOOD_NAME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GOOD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01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PERSON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p,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GOOD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Courier New"/>
                <a:cs typeface="Courier New"/>
              </a:rPr>
              <a:t>g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p.CASH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&gt;=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g.PRICE;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-</a:t>
            </a:r>
            <a:r>
              <a:rPr sz="2000" spc="-2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θ-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join</a:t>
            </a:r>
            <a:r>
              <a:rPr sz="2000" spc="-1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condition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19407" y="6334455"/>
            <a:ext cx="2266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19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586" y="1028700"/>
            <a:ext cx="348589" cy="46558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612900" y="1028700"/>
            <a:ext cx="7953375" cy="584200"/>
            <a:chOff x="1612900" y="1028700"/>
            <a:chExt cx="7953375" cy="5842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2900" y="1286724"/>
              <a:ext cx="151206" cy="756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700" y="1028700"/>
              <a:ext cx="7775448" cy="58394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73341" y="1783207"/>
            <a:ext cx="5026660" cy="2160270"/>
          </a:xfrm>
          <a:prstGeom prst="rect">
            <a:avLst/>
          </a:prstGeom>
          <a:ln w="9525">
            <a:solidFill>
              <a:srgbClr val="CCC79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2350"/>
              </a:lnSpc>
            </a:pPr>
            <a:r>
              <a:rPr sz="2000" b="1" spc="-10" dirty="0">
                <a:latin typeface="Courier New"/>
                <a:cs typeface="Courier New"/>
              </a:rPr>
              <a:t>Schema</a:t>
            </a:r>
            <a:endParaRPr sz="2000">
              <a:latin typeface="Courier New"/>
              <a:cs typeface="Courier New"/>
            </a:endParaRPr>
          </a:p>
          <a:p>
            <a:pPr marL="90805">
              <a:lnSpc>
                <a:spcPts val="2280"/>
              </a:lnSpc>
              <a:spcBef>
                <a:spcPts val="960"/>
              </a:spcBef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--two-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dimensional</a:t>
            </a:r>
            <a:r>
              <a:rPr sz="2000" spc="-2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points</a:t>
            </a:r>
            <a:endParaRPr sz="2000">
              <a:latin typeface="Courier New"/>
              <a:cs typeface="Courier New"/>
            </a:endParaRPr>
          </a:p>
          <a:p>
            <a:pPr marL="90805">
              <a:lnSpc>
                <a:spcPts val="2160"/>
              </a:lnSpc>
            </a:pPr>
            <a:r>
              <a:rPr sz="2000" b="1" dirty="0">
                <a:solidFill>
                  <a:srgbClr val="006FC0"/>
                </a:solidFill>
                <a:latin typeface="Courier New"/>
                <a:cs typeface="Courier New"/>
              </a:rPr>
              <a:t>TABLE</a:t>
            </a:r>
            <a:r>
              <a:rPr sz="2000" b="1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POINT_2D:</a:t>
            </a:r>
            <a:endParaRPr sz="2000">
              <a:latin typeface="Courier New"/>
              <a:cs typeface="Courier New"/>
            </a:endParaRPr>
          </a:p>
          <a:p>
            <a:pPr marL="396240" marR="3707129">
              <a:lnSpc>
                <a:spcPts val="2160"/>
              </a:lnSpc>
              <a:spcBef>
                <a:spcPts val="150"/>
              </a:spcBef>
            </a:pP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5" dirty="0"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REAL </a:t>
            </a:r>
            <a:r>
              <a:rPr sz="2000" dirty="0">
                <a:latin typeface="Courier New"/>
                <a:cs typeface="Courier New"/>
              </a:rPr>
              <a:t>Y</a:t>
            </a:r>
            <a:r>
              <a:rPr sz="2000" spc="-5" dirty="0"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REAL</a:t>
            </a:r>
            <a:endParaRPr sz="2000">
              <a:latin typeface="Courier New"/>
              <a:cs typeface="Courier New"/>
            </a:endParaRPr>
          </a:p>
          <a:p>
            <a:pPr marL="90805">
              <a:lnSpc>
                <a:spcPct val="100000"/>
              </a:lnSpc>
              <a:spcBef>
                <a:spcPts val="965"/>
              </a:spcBef>
            </a:pP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Ex.:</a:t>
            </a:r>
            <a:r>
              <a:rPr sz="2000" spc="-2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(10.5,</a:t>
            </a:r>
            <a:r>
              <a:rPr sz="2000" spc="-2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7E7E7E"/>
                </a:solidFill>
                <a:latin typeface="Courier New"/>
                <a:cs typeface="Courier New"/>
              </a:rPr>
              <a:t>6.3)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8995" y="3979715"/>
            <a:ext cx="8893810" cy="266700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000" b="1" spc="165" dirty="0">
                <a:latin typeface="Cambria"/>
                <a:cs typeface="Cambria"/>
              </a:rPr>
              <a:t>Q:</a:t>
            </a:r>
            <a:r>
              <a:rPr sz="2000" b="1" spc="19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What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points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are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close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to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55" dirty="0">
                <a:latin typeface="Cambria"/>
                <a:cs typeface="Cambria"/>
              </a:rPr>
              <a:t>each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other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7E7E7E"/>
                </a:solidFill>
                <a:latin typeface="Cambria"/>
                <a:cs typeface="Cambria"/>
              </a:rPr>
              <a:t>(i.e.</a:t>
            </a:r>
            <a:r>
              <a:rPr sz="2000" spc="18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7E7E7E"/>
                </a:solidFill>
                <a:latin typeface="Cambria"/>
                <a:cs typeface="Cambria"/>
              </a:rPr>
              <a:t>with</a:t>
            </a:r>
            <a:r>
              <a:rPr sz="2000" spc="21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7E7E7E"/>
                </a:solidFill>
                <a:latin typeface="Cambria"/>
                <a:cs typeface="Cambria"/>
              </a:rPr>
              <a:t>distance</a:t>
            </a:r>
            <a:r>
              <a:rPr sz="2000" spc="18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7E7E7E"/>
                </a:solidFill>
                <a:latin typeface="Cambria"/>
                <a:cs typeface="Cambria"/>
              </a:rPr>
              <a:t>less</a:t>
            </a:r>
            <a:r>
              <a:rPr sz="2000" spc="16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7E7E7E"/>
                </a:solidFill>
                <a:latin typeface="Cambria"/>
                <a:cs typeface="Cambria"/>
              </a:rPr>
              <a:t>that</a:t>
            </a:r>
            <a:r>
              <a:rPr sz="2000" spc="2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7E7E7E"/>
                </a:solidFill>
                <a:latin typeface="Cambria"/>
                <a:cs typeface="Cambria"/>
              </a:rPr>
              <a:t>1.0)</a:t>
            </a:r>
            <a:r>
              <a:rPr sz="2000" spc="100" dirty="0">
                <a:latin typeface="Cambria"/>
                <a:cs typeface="Cambria"/>
              </a:rPr>
              <a:t>?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000" b="1" spc="180" dirty="0">
                <a:latin typeface="Cambria"/>
                <a:cs typeface="Cambria"/>
              </a:rPr>
              <a:t>SQL: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  <a:spcBef>
                <a:spcPts val="87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fst.X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X1,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fst.Y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sz="2000" spc="-1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Y1,</a:t>
            </a:r>
            <a:endParaRPr sz="2000">
              <a:latin typeface="Courier New"/>
              <a:cs typeface="Courier New"/>
            </a:endParaRPr>
          </a:p>
          <a:p>
            <a:pPr marL="12700" marR="4147820" indent="1066800">
              <a:lnSpc>
                <a:spcPts val="2160"/>
              </a:lnSpc>
              <a:spcBef>
                <a:spcPts val="155"/>
              </a:spcBef>
            </a:pPr>
            <a:r>
              <a:rPr sz="2000" dirty="0">
                <a:latin typeface="Courier New"/>
                <a:cs typeface="Courier New"/>
              </a:rPr>
              <a:t>snd.X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sz="2000" spc="-1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X2,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snd.Y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sz="2000" spc="-1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Y2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POINT_2D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fst,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POINT_2D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snd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01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sz="2000" spc="7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(fst.X-snd.X)*(fst.X-snd.X)+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ts val="2160"/>
              </a:lnSpc>
            </a:pPr>
            <a:r>
              <a:rPr sz="2000" b="1" spc="-10" dirty="0">
                <a:latin typeface="Courier New"/>
                <a:cs typeface="Courier New"/>
              </a:rPr>
              <a:t>(fst.Y-snd.Y)*(fst.Y-</a:t>
            </a:r>
            <a:r>
              <a:rPr sz="2000" b="1" dirty="0">
                <a:latin typeface="Courier New"/>
                <a:cs typeface="Courier New"/>
              </a:rPr>
              <a:t>snd.Y)&lt;=1.0 </a:t>
            </a: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-</a:t>
            </a:r>
            <a:r>
              <a:rPr sz="2000" spc="1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θ-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join</a:t>
            </a:r>
            <a:r>
              <a:rPr sz="2000" spc="1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condition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-</a:t>
            </a:r>
            <a:r>
              <a:rPr sz="2000" spc="-2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there</a:t>
            </a: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is</a:t>
            </a:r>
            <a:r>
              <a:rPr sz="2000" spc="-1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a</a:t>
            </a: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bug</a:t>
            </a:r>
            <a:r>
              <a:rPr sz="2000" spc="-1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in</a:t>
            </a: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this</a:t>
            </a: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 query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19407" y="6334455"/>
            <a:ext cx="2266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20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92" y="707898"/>
            <a:ext cx="5856846" cy="57556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2359" y="1357883"/>
            <a:ext cx="3799408" cy="5756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48588" y="2385136"/>
            <a:ext cx="9552940" cy="3134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945" indent="-182245">
              <a:lnSpc>
                <a:spcPts val="2275"/>
              </a:lnSpc>
              <a:spcBef>
                <a:spcPts val="10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sz="2000" spc="120" dirty="0">
                <a:latin typeface="Cambria"/>
                <a:cs typeface="Cambria"/>
              </a:rPr>
              <a:t>Equijoin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is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the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most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55" dirty="0">
                <a:latin typeface="Cambria"/>
                <a:cs typeface="Cambria"/>
              </a:rPr>
              <a:t>used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form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join.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The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generalized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θ-</a:t>
            </a:r>
            <a:r>
              <a:rPr sz="2000" spc="85" dirty="0">
                <a:latin typeface="Cambria"/>
                <a:cs typeface="Cambria"/>
              </a:rPr>
              <a:t>join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is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210" dirty="0">
                <a:latin typeface="Cambria"/>
                <a:cs typeface="Cambria"/>
              </a:rPr>
              <a:t>much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more</a:t>
            </a:r>
            <a:endParaRPr sz="2000">
              <a:latin typeface="Cambria"/>
              <a:cs typeface="Cambria"/>
            </a:endParaRPr>
          </a:p>
          <a:p>
            <a:pPr marL="195580">
              <a:lnSpc>
                <a:spcPts val="2275"/>
              </a:lnSpc>
            </a:pPr>
            <a:r>
              <a:rPr sz="2000" spc="100" dirty="0">
                <a:latin typeface="Cambria"/>
                <a:cs typeface="Cambria"/>
              </a:rPr>
              <a:t>rare.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ts val="2285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sz="2000" spc="80" dirty="0">
                <a:latin typeface="Cambria"/>
                <a:cs typeface="Cambria"/>
              </a:rPr>
              <a:t>There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are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efficient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algorithms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to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perform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equijoin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65" dirty="0">
                <a:latin typeface="Cambria"/>
                <a:cs typeface="Cambria"/>
              </a:rPr>
              <a:t>and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some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other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special</a:t>
            </a:r>
            <a:endParaRPr sz="2000">
              <a:latin typeface="Cambria"/>
              <a:cs typeface="Cambria"/>
            </a:endParaRPr>
          </a:p>
          <a:p>
            <a:pPr marL="195580">
              <a:lnSpc>
                <a:spcPts val="2285"/>
              </a:lnSpc>
            </a:pPr>
            <a:r>
              <a:rPr sz="2000" spc="100" dirty="0">
                <a:latin typeface="Cambria"/>
                <a:cs typeface="Cambria"/>
              </a:rPr>
              <a:t>forms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θ-</a:t>
            </a:r>
            <a:r>
              <a:rPr sz="2000" spc="85" dirty="0">
                <a:latin typeface="Cambria"/>
                <a:cs typeface="Cambria"/>
              </a:rPr>
              <a:t>join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7E7E7E"/>
                </a:solidFill>
                <a:latin typeface="Cambria"/>
                <a:cs typeface="Cambria"/>
              </a:rPr>
              <a:t>(will</a:t>
            </a:r>
            <a:r>
              <a:rPr sz="2000" spc="22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7E7E7E"/>
                </a:solidFill>
                <a:latin typeface="Cambria"/>
                <a:cs typeface="Cambria"/>
              </a:rPr>
              <a:t>be</a:t>
            </a:r>
            <a:r>
              <a:rPr sz="2000" spc="19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7E7E7E"/>
                </a:solidFill>
                <a:latin typeface="Cambria"/>
                <a:cs typeface="Cambria"/>
              </a:rPr>
              <a:t>discussed</a:t>
            </a:r>
            <a:r>
              <a:rPr sz="2000" spc="21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sz="2000" spc="18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7E7E7E"/>
                </a:solidFill>
                <a:latin typeface="Cambria"/>
                <a:cs typeface="Cambria"/>
              </a:rPr>
              <a:t>lectures</a:t>
            </a:r>
            <a:r>
              <a:rPr sz="2000" spc="180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7E7E7E"/>
                </a:solidFill>
                <a:latin typeface="Cambria"/>
                <a:cs typeface="Cambria"/>
              </a:rPr>
              <a:t>later)</a:t>
            </a:r>
            <a:r>
              <a:rPr sz="2000" spc="60" dirty="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25"/>
              </a:spcBef>
            </a:pPr>
            <a:endParaRPr sz="2000">
              <a:latin typeface="Cambria"/>
              <a:cs typeface="Cambria"/>
            </a:endParaRPr>
          </a:p>
          <a:p>
            <a:pPr marL="194310" marR="604520" indent="-182245">
              <a:lnSpc>
                <a:spcPct val="8970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sz="2000" spc="110" dirty="0">
                <a:latin typeface="Cambria"/>
                <a:cs typeface="Cambria"/>
              </a:rPr>
              <a:t>Despite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fact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that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θ-</a:t>
            </a:r>
            <a:r>
              <a:rPr sz="2000" spc="85" dirty="0">
                <a:latin typeface="Cambria"/>
                <a:cs typeface="Cambria"/>
              </a:rPr>
              <a:t>join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could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be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implemented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170" dirty="0">
                <a:latin typeface="Cambria"/>
                <a:cs typeface="Cambria"/>
              </a:rPr>
              <a:t>as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cross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join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with 	</a:t>
            </a:r>
            <a:r>
              <a:rPr sz="2000" spc="110" dirty="0">
                <a:latin typeface="Cambria"/>
                <a:cs typeface="Cambria"/>
              </a:rPr>
              <a:t>additional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selection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this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is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55" dirty="0">
                <a:latin typeface="Cambria"/>
                <a:cs typeface="Cambria"/>
              </a:rPr>
              <a:t>used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170" dirty="0">
                <a:latin typeface="Cambria"/>
                <a:cs typeface="Cambria"/>
              </a:rPr>
              <a:t>as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the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worst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case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scenario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only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45" dirty="0">
                <a:latin typeface="Cambria"/>
                <a:cs typeface="Cambria"/>
              </a:rPr>
              <a:t>due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to 	</a:t>
            </a:r>
            <a:r>
              <a:rPr sz="2000" spc="65" dirty="0">
                <a:latin typeface="Cambria"/>
                <a:cs typeface="Cambria"/>
              </a:rPr>
              <a:t>terrible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efficiency.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6952" y="699516"/>
            <a:ext cx="9057855" cy="5839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7475" y="1366266"/>
            <a:ext cx="1126845" cy="567309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29538" y="2838506"/>
          <a:ext cx="6541770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8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0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spc="9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2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latin typeface="Cambria"/>
                          <a:cs typeface="Cambria"/>
                        </a:rPr>
                        <a:t>solution</a:t>
                      </a:r>
                      <a:r>
                        <a:rPr sz="2000" spc="2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95" dirty="0">
                          <a:latin typeface="Cambria"/>
                          <a:cs typeface="Cambria"/>
                        </a:rPr>
                        <a:t>was: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6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SELECT</a:t>
                      </a:r>
                      <a:r>
                        <a:rPr sz="2000" spc="-3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DISTINCT</a:t>
                      </a:r>
                      <a:r>
                        <a:rPr sz="2000" spc="-3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MATERIAL.WARE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MATERIAL,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2470150">
                        <a:lnSpc>
                          <a:spcPts val="1895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PRODUCT.WARE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ts val="2280"/>
                        </a:lnSpc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sz="2000" spc="-3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MATERIAL,</a:t>
                      </a:r>
                      <a:r>
                        <a:rPr sz="2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PRODUCT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4"/>
                        </a:lnSpc>
                      </a:pPr>
                      <a:r>
                        <a:rPr sz="2000" spc="-2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14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PRODUCT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148588" y="4050284"/>
            <a:ext cx="7341870" cy="145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sz="2000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MATERIAL.RECIPE_ID=PRODUCT.RECIPE_ID;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55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b="1" dirty="0">
                <a:latin typeface="Courier New"/>
                <a:cs typeface="Courier New"/>
              </a:rPr>
              <a:t>Q: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Have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taken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everything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into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account?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latin typeface="Courier New"/>
                <a:cs typeface="Courier New"/>
              </a:rPr>
              <a:t>What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about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the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water</a:t>
            </a:r>
            <a:r>
              <a:rPr sz="2000" dirty="0">
                <a:latin typeface="Courier New"/>
                <a:cs typeface="Courier New"/>
              </a:rPr>
              <a:t>?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Do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have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recipes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for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it?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300" y="1028700"/>
            <a:ext cx="3847490" cy="5839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35888" y="1960245"/>
            <a:ext cx="9518650" cy="6038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ts val="2275"/>
              </a:lnSpc>
              <a:spcBef>
                <a:spcPts val="105"/>
              </a:spcBef>
            </a:pPr>
            <a:r>
              <a:rPr b="1" spc="114" dirty="0">
                <a:latin typeface="Cambria"/>
                <a:cs typeface="Cambria"/>
              </a:rPr>
              <a:t>Relational</a:t>
            </a:r>
            <a:r>
              <a:rPr b="1" spc="225" dirty="0">
                <a:latin typeface="Cambria"/>
                <a:cs typeface="Cambria"/>
              </a:rPr>
              <a:t> </a:t>
            </a:r>
            <a:r>
              <a:rPr b="1" spc="55" dirty="0">
                <a:latin typeface="Cambria"/>
                <a:cs typeface="Cambria"/>
              </a:rPr>
              <a:t>algebra:</a:t>
            </a:r>
          </a:p>
          <a:p>
            <a:pPr marL="25400">
              <a:lnSpc>
                <a:spcPts val="2275"/>
              </a:lnSpc>
            </a:pPr>
            <a:r>
              <a:rPr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1</a:t>
            </a:r>
            <a:r>
              <a:rPr sz="1950" b="1" spc="555" baseline="-21367" dirty="0">
                <a:latin typeface="Cambria"/>
                <a:cs typeface="Cambria"/>
              </a:rPr>
              <a:t> </a:t>
            </a:r>
            <a:r>
              <a:rPr sz="2000" spc="525" dirty="0">
                <a:latin typeface="Cambria Math"/>
                <a:cs typeface="Cambria Math"/>
              </a:rPr>
              <a:t>𝔴</a:t>
            </a:r>
            <a:r>
              <a:rPr sz="2000" spc="150" dirty="0">
                <a:latin typeface="Cambria Math"/>
                <a:cs typeface="Cambria Math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2</a:t>
            </a:r>
            <a:r>
              <a:rPr sz="1950" b="1" spc="247" baseline="-21367" dirty="0">
                <a:latin typeface="Cambria"/>
                <a:cs typeface="Cambria"/>
              </a:rPr>
              <a:t> </a:t>
            </a:r>
            <a:r>
              <a:rPr sz="2000" spc="110" dirty="0"/>
              <a:t>is</a:t>
            </a:r>
            <a:r>
              <a:rPr sz="2000" spc="175" dirty="0"/>
              <a:t> </a:t>
            </a: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1</a:t>
            </a:r>
            <a:r>
              <a:rPr sz="1950" b="1" spc="569" baseline="-21367" dirty="0">
                <a:latin typeface="Cambria"/>
                <a:cs typeface="Cambria"/>
              </a:rPr>
              <a:t> </a:t>
            </a:r>
            <a:r>
              <a:rPr sz="2000" dirty="0">
                <a:latin typeface="Cambria Math"/>
                <a:cs typeface="Cambria Math"/>
              </a:rPr>
              <a:t>⋈</a:t>
            </a:r>
            <a:r>
              <a:rPr sz="2000" spc="180" dirty="0">
                <a:latin typeface="Cambria Math"/>
                <a:cs typeface="Cambria Math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2</a:t>
            </a:r>
            <a:r>
              <a:rPr sz="1950" b="1" spc="247" baseline="-21367" dirty="0">
                <a:latin typeface="Cambria"/>
                <a:cs typeface="Cambria"/>
              </a:rPr>
              <a:t> </a:t>
            </a:r>
            <a:r>
              <a:rPr sz="2000" dirty="0"/>
              <a:t>(θ</a:t>
            </a:r>
            <a:r>
              <a:rPr sz="2000" spc="190" dirty="0"/>
              <a:t> </a:t>
            </a:r>
            <a:r>
              <a:rPr sz="2000" spc="110" dirty="0"/>
              <a:t>variant</a:t>
            </a:r>
            <a:r>
              <a:rPr sz="2000" spc="185" dirty="0"/>
              <a:t> </a:t>
            </a:r>
            <a:r>
              <a:rPr sz="2000" spc="114" dirty="0"/>
              <a:t>in</a:t>
            </a:r>
            <a:r>
              <a:rPr sz="2000" spc="195" dirty="0"/>
              <a:t> </a:t>
            </a:r>
            <a:r>
              <a:rPr sz="2000" spc="100" dirty="0"/>
              <a:t>general</a:t>
            </a:r>
            <a:r>
              <a:rPr sz="2000" spc="155" dirty="0"/>
              <a:t> </a:t>
            </a:r>
            <a:r>
              <a:rPr sz="2000" spc="80" dirty="0"/>
              <a:t>case)</a:t>
            </a:r>
            <a:r>
              <a:rPr sz="2000" spc="165" dirty="0"/>
              <a:t> </a:t>
            </a:r>
            <a:r>
              <a:rPr sz="2000" spc="85" dirty="0"/>
              <a:t>with</a:t>
            </a:r>
            <a:r>
              <a:rPr sz="2000" spc="195" dirty="0"/>
              <a:t> </a:t>
            </a:r>
            <a:r>
              <a:rPr sz="2000" spc="110" dirty="0"/>
              <a:t>additional</a:t>
            </a:r>
            <a:r>
              <a:rPr sz="2000" spc="180" dirty="0"/>
              <a:t> </a:t>
            </a:r>
            <a:r>
              <a:rPr sz="2000" spc="125" dirty="0"/>
              <a:t>tuples</a:t>
            </a:r>
            <a:r>
              <a:rPr sz="2000" spc="155" dirty="0"/>
              <a:t> </a:t>
            </a:r>
            <a:r>
              <a:rPr sz="2000" spc="85" dirty="0"/>
              <a:t>from</a:t>
            </a:r>
            <a:r>
              <a:rPr sz="2000" spc="190" dirty="0"/>
              <a:t> </a:t>
            </a:r>
            <a:r>
              <a:rPr sz="2000" b="1" spc="135" dirty="0">
                <a:latin typeface="Cambria"/>
                <a:cs typeface="Cambria"/>
              </a:rPr>
              <a:t>R</a:t>
            </a:r>
            <a:r>
              <a:rPr sz="1950" b="1" spc="202" baseline="-21367" dirty="0">
                <a:latin typeface="Cambria"/>
                <a:cs typeface="Cambria"/>
              </a:rPr>
              <a:t>1</a:t>
            </a:r>
            <a:endParaRPr sz="1950" baseline="-21367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3188" y="2505532"/>
            <a:ext cx="9767570" cy="2424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7390765" algn="l"/>
              </a:tabLst>
            </a:pPr>
            <a:r>
              <a:rPr sz="2000" spc="140" dirty="0">
                <a:latin typeface="Cambria"/>
                <a:cs typeface="Cambria"/>
              </a:rPr>
              <a:t>that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have</a:t>
            </a:r>
            <a:r>
              <a:rPr sz="2000" spc="23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no</a:t>
            </a:r>
            <a:r>
              <a:rPr sz="2000" spc="240" dirty="0">
                <a:latin typeface="Cambria"/>
                <a:cs typeface="Cambria"/>
              </a:rPr>
              <a:t> </a:t>
            </a:r>
            <a:r>
              <a:rPr sz="2000" spc="145" dirty="0">
                <a:latin typeface="Cambria"/>
                <a:cs typeface="Cambria"/>
              </a:rPr>
              <a:t>matching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tuples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(with</a:t>
            </a:r>
            <a:r>
              <a:rPr sz="2000" spc="240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NULLs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for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the</a:t>
            </a:r>
            <a:r>
              <a:rPr sz="2000" spc="240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missing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110" dirty="0">
                <a:latin typeface="Cambria"/>
                <a:cs typeface="Cambria"/>
              </a:rPr>
              <a:t>attributes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from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b="1" spc="25" dirty="0">
                <a:latin typeface="Cambria"/>
                <a:cs typeface="Cambria"/>
              </a:rPr>
              <a:t>R</a:t>
            </a:r>
            <a:r>
              <a:rPr sz="1950" b="1" spc="37" baseline="-21367" dirty="0">
                <a:latin typeface="Cambria"/>
                <a:cs typeface="Cambria"/>
              </a:rPr>
              <a:t>2</a:t>
            </a:r>
            <a:r>
              <a:rPr sz="2000" spc="25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2000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2000" b="1" spc="200" dirty="0">
                <a:latin typeface="Cambria"/>
                <a:cs typeface="Cambria"/>
              </a:rPr>
              <a:t>SQL:</a:t>
            </a:r>
            <a:r>
              <a:rPr sz="2000" b="1" spc="21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fourth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try</a:t>
            </a:r>
            <a:endParaRPr sz="2000">
              <a:latin typeface="Cambria"/>
              <a:cs typeface="Cambria"/>
            </a:endParaRPr>
          </a:p>
          <a:p>
            <a:pPr marL="38100">
              <a:lnSpc>
                <a:spcPts val="2280"/>
              </a:lnSpc>
              <a:spcBef>
                <a:spcPts val="87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1F5F"/>
                </a:solidFill>
                <a:latin typeface="Courier New"/>
                <a:cs typeface="Courier New"/>
              </a:rPr>
              <a:t>m.WARE,</a:t>
            </a:r>
            <a:r>
              <a:rPr sz="2000" spc="-35" dirty="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01F5F"/>
                </a:solidFill>
                <a:latin typeface="Courier New"/>
                <a:cs typeface="Courier New"/>
              </a:rPr>
              <a:t>p.WARE</a:t>
            </a:r>
            <a:endParaRPr sz="2000">
              <a:latin typeface="Courier New"/>
              <a:cs typeface="Courier New"/>
            </a:endParaRPr>
          </a:p>
          <a:p>
            <a:pPr marL="38100">
              <a:lnSpc>
                <a:spcPts val="216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1F5F"/>
                </a:solidFill>
                <a:latin typeface="Courier New"/>
                <a:cs typeface="Courier New"/>
              </a:rPr>
              <a:t>PRODUCT</a:t>
            </a:r>
            <a:r>
              <a:rPr sz="2000" spc="-25" dirty="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001F5F"/>
                </a:solidFill>
                <a:latin typeface="Courier New"/>
                <a:cs typeface="Courier New"/>
              </a:rPr>
              <a:t>p</a:t>
            </a:r>
            <a:endParaRPr sz="2000">
              <a:latin typeface="Courier New"/>
              <a:cs typeface="Courier New"/>
            </a:endParaRPr>
          </a:p>
          <a:p>
            <a:pPr marL="38100" marR="5605145">
              <a:lnSpc>
                <a:spcPts val="2160"/>
              </a:lnSpc>
              <a:spcBef>
                <a:spcPts val="150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LEFT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OUTER</a:t>
            </a:r>
            <a:r>
              <a:rPr sz="2000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JOIN</a:t>
            </a:r>
            <a:r>
              <a:rPr sz="2000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1F5F"/>
                </a:solidFill>
                <a:latin typeface="Courier New"/>
                <a:cs typeface="Courier New"/>
              </a:rPr>
              <a:t>MATERIAL</a:t>
            </a:r>
            <a:r>
              <a:rPr sz="2000" spc="-25" dirty="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001F5F"/>
                </a:solidFill>
                <a:latin typeface="Courier New"/>
                <a:cs typeface="Courier New"/>
              </a:rPr>
              <a:t>m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ON</a:t>
            </a:r>
            <a:r>
              <a:rPr sz="2000" spc="-1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01F5F"/>
                </a:solidFill>
                <a:latin typeface="Courier New"/>
                <a:cs typeface="Courier New"/>
              </a:rPr>
              <a:t>m.RECIPE_ID=p.RECIPE_ID;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8588" y="5025644"/>
            <a:ext cx="27692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46300" algn="l"/>
              </a:tabLst>
            </a:pPr>
            <a:r>
              <a:rPr sz="2000" dirty="0">
                <a:latin typeface="Courier New"/>
                <a:cs typeface="Courier New"/>
              </a:rPr>
              <a:t>&gt;&gt;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WARE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20" dirty="0">
                <a:latin typeface="Courier New"/>
                <a:cs typeface="Courier New"/>
              </a:rPr>
              <a:t>WARE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6041" y="5299659"/>
            <a:ext cx="24638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ourier New"/>
                <a:cs typeface="Courier New"/>
              </a:rPr>
              <a:t>---------------</a:t>
            </a:r>
            <a:r>
              <a:rPr sz="2000" spc="-50" dirty="0">
                <a:latin typeface="Courier New"/>
                <a:cs typeface="Courier New"/>
              </a:rPr>
              <a:t>-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2441" y="5574588"/>
            <a:ext cx="2159000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Courier New"/>
                <a:cs typeface="Courier New"/>
              </a:rPr>
              <a:t>Drinking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water Water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6041" y="5574588"/>
            <a:ext cx="787400" cy="8845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spc="-10" dirty="0">
                <a:latin typeface="Courier New"/>
                <a:cs typeface="Courier New"/>
              </a:rPr>
              <a:t>Water </a:t>
            </a:r>
            <a:r>
              <a:rPr sz="2000" spc="-20" dirty="0">
                <a:latin typeface="Courier New"/>
                <a:cs typeface="Courier New"/>
              </a:rPr>
              <a:t>NULL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5"/>
              </a:lnSpc>
            </a:pPr>
            <a:r>
              <a:rPr sz="2000" spc="-50" dirty="0">
                <a:latin typeface="Courier New"/>
                <a:cs typeface="Courier New"/>
              </a:rPr>
              <a:t>…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16903" y="4911077"/>
            <a:ext cx="5026660" cy="1242695"/>
          </a:xfrm>
          <a:prstGeom prst="rect">
            <a:avLst/>
          </a:prstGeom>
          <a:ln w="25400">
            <a:solidFill>
              <a:srgbClr val="A44D74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2075" marR="323215">
              <a:lnSpc>
                <a:spcPct val="90000"/>
              </a:lnSpc>
              <a:spcBef>
                <a:spcPts val="275"/>
              </a:spcBef>
            </a:pPr>
            <a:r>
              <a:rPr sz="2000" b="1" spc="85" dirty="0">
                <a:latin typeface="Cambria"/>
                <a:cs typeface="Cambria"/>
              </a:rPr>
              <a:t>Warning:</a:t>
            </a:r>
            <a:r>
              <a:rPr sz="2000" b="1" spc="215" dirty="0">
                <a:latin typeface="Cambria"/>
                <a:cs typeface="Cambria"/>
              </a:rPr>
              <a:t> </a:t>
            </a:r>
            <a:r>
              <a:rPr sz="2000" spc="140" dirty="0">
                <a:latin typeface="Cambria"/>
                <a:cs typeface="Cambria"/>
              </a:rPr>
              <a:t>unlike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the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inner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join, moving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join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condition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from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200" dirty="0">
                <a:solidFill>
                  <a:srgbClr val="006FC0"/>
                </a:solidFill>
                <a:latin typeface="Cambria"/>
                <a:cs typeface="Cambria"/>
              </a:rPr>
              <a:t>ON</a:t>
            </a:r>
            <a:r>
              <a:rPr sz="2000" spc="19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to </a:t>
            </a:r>
            <a:r>
              <a:rPr sz="2000" spc="210" dirty="0">
                <a:solidFill>
                  <a:srgbClr val="006FC0"/>
                </a:solidFill>
                <a:latin typeface="Cambria"/>
                <a:cs typeface="Cambria"/>
              </a:rPr>
              <a:t>WHERE </a:t>
            </a:r>
            <a:r>
              <a:rPr sz="2000" spc="110" dirty="0">
                <a:latin typeface="Cambria"/>
                <a:cs typeface="Cambria"/>
              </a:rPr>
              <a:t>section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will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break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25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join </a:t>
            </a:r>
            <a:r>
              <a:rPr sz="2000" spc="85" dirty="0">
                <a:latin typeface="Cambria"/>
                <a:cs typeface="Cambria"/>
              </a:rPr>
              <a:t>itself.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19407" y="6334455"/>
            <a:ext cx="2266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23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6952" y="1028700"/>
            <a:ext cx="6620090" cy="58394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10488" y="1833291"/>
            <a:ext cx="9569450" cy="2987040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80"/>
              </a:spcBef>
            </a:pPr>
            <a:r>
              <a:rPr sz="2000" b="1" spc="200" dirty="0">
                <a:latin typeface="Cambria"/>
                <a:cs typeface="Cambria"/>
              </a:rPr>
              <a:t>SQL:</a:t>
            </a:r>
            <a:r>
              <a:rPr sz="2000" b="1" spc="215" dirty="0">
                <a:latin typeface="Cambria"/>
                <a:cs typeface="Cambria"/>
              </a:rPr>
              <a:t> </a:t>
            </a:r>
            <a:r>
              <a:rPr sz="2000" spc="175" dirty="0">
                <a:solidFill>
                  <a:srgbClr val="006FC0"/>
                </a:solidFill>
                <a:latin typeface="Cambria"/>
                <a:cs typeface="Cambria"/>
              </a:rPr>
              <a:t>RIGHT</a:t>
            </a:r>
            <a:r>
              <a:rPr sz="2000" spc="15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210" dirty="0">
                <a:solidFill>
                  <a:srgbClr val="006FC0"/>
                </a:solidFill>
                <a:latin typeface="Cambria"/>
                <a:cs typeface="Cambria"/>
              </a:rPr>
              <a:t>OUTER</a:t>
            </a:r>
            <a:r>
              <a:rPr sz="2000" spc="204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235" dirty="0">
                <a:solidFill>
                  <a:srgbClr val="006FC0"/>
                </a:solidFill>
                <a:latin typeface="Cambria"/>
                <a:cs typeface="Cambria"/>
              </a:rPr>
              <a:t>JOIN</a:t>
            </a:r>
            <a:endParaRPr sz="2000">
              <a:latin typeface="Cambria"/>
              <a:cs typeface="Cambria"/>
            </a:endParaRPr>
          </a:p>
          <a:p>
            <a:pPr marL="50800">
              <a:lnSpc>
                <a:spcPts val="2275"/>
              </a:lnSpc>
              <a:spcBef>
                <a:spcPts val="980"/>
              </a:spcBef>
            </a:pPr>
            <a:r>
              <a:rPr sz="2000" b="1" spc="110" dirty="0">
                <a:latin typeface="Cambria"/>
                <a:cs typeface="Cambria"/>
              </a:rPr>
              <a:t>Relational</a:t>
            </a:r>
            <a:r>
              <a:rPr sz="2000" b="1" spc="240" dirty="0">
                <a:latin typeface="Cambria"/>
                <a:cs typeface="Cambria"/>
              </a:rPr>
              <a:t> </a:t>
            </a:r>
            <a:r>
              <a:rPr sz="2000" b="1" spc="65" dirty="0">
                <a:latin typeface="Cambria"/>
                <a:cs typeface="Cambria"/>
              </a:rPr>
              <a:t>algebra:</a:t>
            </a:r>
            <a:endParaRPr sz="2000">
              <a:latin typeface="Cambria"/>
              <a:cs typeface="Cambria"/>
            </a:endParaRPr>
          </a:p>
          <a:p>
            <a:pPr marL="50800">
              <a:lnSpc>
                <a:spcPts val="2150"/>
              </a:lnSpc>
            </a:pP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1</a:t>
            </a:r>
            <a:r>
              <a:rPr sz="1950" b="1" spc="555" baseline="-21367" dirty="0">
                <a:latin typeface="Cambria"/>
                <a:cs typeface="Cambria"/>
              </a:rPr>
              <a:t> </a:t>
            </a:r>
            <a:r>
              <a:rPr sz="2000" dirty="0">
                <a:latin typeface="Cambria Math"/>
                <a:cs typeface="Cambria Math"/>
              </a:rPr>
              <a:t>⟖</a:t>
            </a:r>
            <a:r>
              <a:rPr sz="2000" spc="150" dirty="0">
                <a:latin typeface="Cambria Math"/>
                <a:cs typeface="Cambria Math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2 </a:t>
            </a:r>
            <a:r>
              <a:rPr sz="2000" spc="110" dirty="0">
                <a:latin typeface="Cambria"/>
                <a:cs typeface="Cambria"/>
              </a:rPr>
              <a:t>is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1</a:t>
            </a:r>
            <a:r>
              <a:rPr sz="1950" b="1" spc="577" baseline="-21367" dirty="0">
                <a:latin typeface="Cambria"/>
                <a:cs typeface="Cambria"/>
              </a:rPr>
              <a:t> </a:t>
            </a:r>
            <a:r>
              <a:rPr sz="2000" dirty="0">
                <a:latin typeface="Cambria Math"/>
                <a:cs typeface="Cambria Math"/>
              </a:rPr>
              <a:t>⋈</a:t>
            </a:r>
            <a:r>
              <a:rPr sz="2000" spc="180" dirty="0">
                <a:latin typeface="Cambria Math"/>
                <a:cs typeface="Cambria Math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2 </a:t>
            </a:r>
            <a:r>
              <a:rPr sz="2000" dirty="0">
                <a:latin typeface="Cambria"/>
                <a:cs typeface="Cambria"/>
              </a:rPr>
              <a:t>(θ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variant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in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general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case)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with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additional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tuples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from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b="1" spc="135" dirty="0">
                <a:latin typeface="Cambria"/>
                <a:cs typeface="Cambria"/>
              </a:rPr>
              <a:t>R</a:t>
            </a:r>
            <a:r>
              <a:rPr sz="1950" b="1" spc="202" baseline="-21367" dirty="0">
                <a:latin typeface="Cambria"/>
                <a:cs typeface="Cambria"/>
              </a:rPr>
              <a:t>2</a:t>
            </a:r>
            <a:endParaRPr sz="1950" baseline="-21367">
              <a:latin typeface="Cambria"/>
              <a:cs typeface="Cambria"/>
            </a:endParaRPr>
          </a:p>
          <a:p>
            <a:pPr marL="50800">
              <a:lnSpc>
                <a:spcPts val="2275"/>
              </a:lnSpc>
              <a:tabLst>
                <a:tab pos="7404100" algn="l"/>
              </a:tabLst>
            </a:pPr>
            <a:r>
              <a:rPr sz="2000" spc="145" dirty="0">
                <a:latin typeface="Cambria"/>
                <a:cs typeface="Cambria"/>
              </a:rPr>
              <a:t>that</a:t>
            </a:r>
            <a:r>
              <a:rPr sz="2000" spc="24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have</a:t>
            </a:r>
            <a:r>
              <a:rPr sz="2000" spc="240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no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spc="140" dirty="0">
                <a:latin typeface="Cambria"/>
                <a:cs typeface="Cambria"/>
              </a:rPr>
              <a:t>matching</a:t>
            </a:r>
            <a:r>
              <a:rPr sz="2000" spc="23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tuples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(with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spc="160" dirty="0">
                <a:latin typeface="Cambria"/>
                <a:cs typeface="Cambria"/>
              </a:rPr>
              <a:t>NULLs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for</a:t>
            </a:r>
            <a:r>
              <a:rPr sz="2000" spc="23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25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missing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75" dirty="0">
                <a:latin typeface="Cambria"/>
                <a:cs typeface="Cambria"/>
              </a:rPr>
              <a:t>attributes)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200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</a:pPr>
            <a:r>
              <a:rPr sz="2000" b="1" spc="200" dirty="0">
                <a:latin typeface="Cambria"/>
                <a:cs typeface="Cambria"/>
              </a:rPr>
              <a:t>SQL:</a:t>
            </a:r>
            <a:r>
              <a:rPr sz="2000" b="1" spc="220" dirty="0"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006FC0"/>
                </a:solidFill>
                <a:latin typeface="Cambria"/>
                <a:cs typeface="Cambria"/>
              </a:rPr>
              <a:t>FULL</a:t>
            </a:r>
            <a:r>
              <a:rPr sz="2000" spc="204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210" dirty="0">
                <a:solidFill>
                  <a:srgbClr val="006FC0"/>
                </a:solidFill>
                <a:latin typeface="Cambria"/>
                <a:cs typeface="Cambria"/>
              </a:rPr>
              <a:t>OUTER</a:t>
            </a:r>
            <a:r>
              <a:rPr sz="2000" spc="20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235" dirty="0">
                <a:solidFill>
                  <a:srgbClr val="006FC0"/>
                </a:solidFill>
                <a:latin typeface="Cambria"/>
                <a:cs typeface="Cambria"/>
              </a:rPr>
              <a:t>JOIN</a:t>
            </a:r>
            <a:endParaRPr sz="2000">
              <a:latin typeface="Cambria"/>
              <a:cs typeface="Cambria"/>
            </a:endParaRPr>
          </a:p>
          <a:p>
            <a:pPr marL="50800">
              <a:lnSpc>
                <a:spcPts val="2275"/>
              </a:lnSpc>
              <a:spcBef>
                <a:spcPts val="990"/>
              </a:spcBef>
            </a:pPr>
            <a:r>
              <a:rPr sz="2000" b="1" spc="114" dirty="0">
                <a:latin typeface="Cambria"/>
                <a:cs typeface="Cambria"/>
              </a:rPr>
              <a:t>Relational</a:t>
            </a:r>
            <a:r>
              <a:rPr sz="2000" b="1" spc="225" dirty="0">
                <a:latin typeface="Cambria"/>
                <a:cs typeface="Cambria"/>
              </a:rPr>
              <a:t> </a:t>
            </a:r>
            <a:r>
              <a:rPr sz="2000" b="1" spc="55" dirty="0">
                <a:latin typeface="Cambria"/>
                <a:cs typeface="Cambria"/>
              </a:rPr>
              <a:t>algebra:</a:t>
            </a:r>
            <a:endParaRPr sz="2000">
              <a:latin typeface="Cambria"/>
              <a:cs typeface="Cambria"/>
            </a:endParaRPr>
          </a:p>
          <a:p>
            <a:pPr marL="50800">
              <a:lnSpc>
                <a:spcPts val="2275"/>
              </a:lnSpc>
            </a:pP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1</a:t>
            </a:r>
            <a:r>
              <a:rPr sz="1950" b="1" spc="569" baseline="-21367" dirty="0">
                <a:latin typeface="Cambria"/>
                <a:cs typeface="Cambria"/>
              </a:rPr>
              <a:t> </a:t>
            </a:r>
            <a:r>
              <a:rPr sz="2000" spc="785" dirty="0">
                <a:latin typeface="Cambria Math"/>
                <a:cs typeface="Cambria Math"/>
              </a:rPr>
              <a:t>𝔴</a:t>
            </a:r>
            <a:r>
              <a:rPr sz="2000" spc="145" dirty="0">
                <a:latin typeface="Cambria Math"/>
                <a:cs typeface="Cambria Math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2</a:t>
            </a:r>
            <a:r>
              <a:rPr sz="1950" b="1" spc="577" baseline="-21367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=</a:t>
            </a:r>
            <a:r>
              <a:rPr sz="2000" b="1" spc="235" dirty="0">
                <a:latin typeface="Cambria"/>
                <a:cs typeface="Cambria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1</a:t>
            </a:r>
            <a:r>
              <a:rPr sz="1950" b="1" spc="577" baseline="-21367" dirty="0">
                <a:latin typeface="Cambria"/>
                <a:cs typeface="Cambria"/>
              </a:rPr>
              <a:t> </a:t>
            </a:r>
            <a:r>
              <a:rPr sz="2000" dirty="0">
                <a:latin typeface="Cambria Math"/>
                <a:cs typeface="Cambria Math"/>
              </a:rPr>
              <a:t>⟖</a:t>
            </a:r>
            <a:r>
              <a:rPr sz="2000" spc="155" dirty="0">
                <a:latin typeface="Cambria Math"/>
                <a:cs typeface="Cambria Math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2</a:t>
            </a:r>
            <a:r>
              <a:rPr sz="1950" b="1" spc="232" baseline="-21367" dirty="0">
                <a:latin typeface="Cambria"/>
                <a:cs typeface="Cambria"/>
              </a:rPr>
              <a:t> </a:t>
            </a:r>
            <a:r>
              <a:rPr sz="2000" dirty="0">
                <a:latin typeface="Cambria Math"/>
                <a:cs typeface="Cambria Math"/>
              </a:rPr>
              <a:t>∪</a:t>
            </a:r>
            <a:r>
              <a:rPr sz="2000" spc="210" dirty="0">
                <a:latin typeface="Cambria Math"/>
                <a:cs typeface="Cambria Math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R</a:t>
            </a:r>
            <a:r>
              <a:rPr sz="1950" b="1" spc="240" baseline="-21367" dirty="0">
                <a:latin typeface="Cambria"/>
                <a:cs typeface="Cambria"/>
              </a:rPr>
              <a:t>1</a:t>
            </a:r>
            <a:r>
              <a:rPr sz="1950" b="1" spc="592" baseline="-21367" dirty="0">
                <a:latin typeface="Cambria"/>
                <a:cs typeface="Cambria"/>
              </a:rPr>
              <a:t> </a:t>
            </a:r>
            <a:r>
              <a:rPr sz="2000" spc="525" dirty="0">
                <a:latin typeface="Cambria Math"/>
                <a:cs typeface="Cambria Math"/>
              </a:rPr>
              <a:t>𝔴</a:t>
            </a:r>
            <a:r>
              <a:rPr sz="2000" spc="140" dirty="0">
                <a:latin typeface="Cambria Math"/>
                <a:cs typeface="Cambria Math"/>
              </a:rPr>
              <a:t> </a:t>
            </a:r>
            <a:r>
              <a:rPr sz="2000" b="1" spc="135" dirty="0">
                <a:latin typeface="Cambria"/>
                <a:cs typeface="Cambria"/>
              </a:rPr>
              <a:t>R</a:t>
            </a:r>
            <a:r>
              <a:rPr sz="1950" b="1" spc="202" baseline="-21367" dirty="0">
                <a:latin typeface="Cambria"/>
                <a:cs typeface="Cambria"/>
              </a:rPr>
              <a:t>2</a:t>
            </a:r>
            <a:endParaRPr sz="1950" baseline="-21367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143000" y="5109654"/>
            <a:ext cx="8372475" cy="1323975"/>
          </a:xfrm>
          <a:prstGeom prst="rect">
            <a:avLst/>
          </a:prstGeom>
          <a:ln w="9525">
            <a:solidFill>
              <a:srgbClr val="A44D74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5"/>
              </a:spcBef>
            </a:pPr>
            <a:r>
              <a:rPr sz="2000" b="1" spc="120" dirty="0">
                <a:latin typeface="Cambria"/>
                <a:cs typeface="Cambria"/>
              </a:rPr>
              <a:t>Note:</a:t>
            </a:r>
            <a:r>
              <a:rPr sz="2000" b="1" spc="17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in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55" dirty="0">
                <a:latin typeface="Cambria"/>
                <a:cs typeface="Cambria"/>
              </a:rPr>
              <a:t>SQLite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only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the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left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join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is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implemented.</a:t>
            </a:r>
            <a:endParaRPr sz="2000">
              <a:latin typeface="Cambria"/>
              <a:cs typeface="Cambria"/>
            </a:endParaRPr>
          </a:p>
          <a:p>
            <a:pPr marL="91440">
              <a:lnSpc>
                <a:spcPct val="100000"/>
              </a:lnSpc>
            </a:pPr>
            <a:r>
              <a:rPr sz="2000" spc="85" dirty="0">
                <a:latin typeface="Cambria"/>
                <a:cs typeface="Cambria"/>
              </a:rPr>
              <a:t>However,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the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right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join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75" dirty="0">
                <a:latin typeface="Cambria"/>
                <a:cs typeface="Cambria"/>
              </a:rPr>
              <a:t>can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be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replaced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with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the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left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one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65" dirty="0">
                <a:latin typeface="Cambria"/>
                <a:cs typeface="Cambria"/>
              </a:rPr>
              <a:t>and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2000" spc="95" dirty="0">
                <a:latin typeface="Cambria"/>
                <a:cs typeface="Cambria"/>
              </a:rPr>
              <a:t>appropriate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projection.</a:t>
            </a:r>
            <a:endParaRPr sz="2000">
              <a:latin typeface="Cambria"/>
              <a:cs typeface="Cambria"/>
            </a:endParaRPr>
          </a:p>
          <a:p>
            <a:pPr marL="91440">
              <a:lnSpc>
                <a:spcPct val="100000"/>
              </a:lnSpc>
            </a:pPr>
            <a:r>
              <a:rPr sz="2000" spc="95" dirty="0">
                <a:latin typeface="Cambria"/>
                <a:cs typeface="Cambria"/>
              </a:rPr>
              <a:t>The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full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join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75" dirty="0">
                <a:latin typeface="Cambria"/>
                <a:cs typeface="Cambria"/>
              </a:rPr>
              <a:t>can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be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implemented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directly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by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its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definition.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70" y="1028700"/>
            <a:ext cx="8417471" cy="58394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8588" y="2800350"/>
            <a:ext cx="6122035" cy="1581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left</a:t>
            </a:r>
            <a:r>
              <a:rPr sz="2000" spc="-1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join</a:t>
            </a:r>
            <a:r>
              <a:rPr sz="2000" spc="-1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in</a:t>
            </a:r>
            <a:r>
              <a:rPr sz="2000" spc="-1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ANSI</a:t>
            </a:r>
            <a:r>
              <a:rPr sz="2000" spc="-1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7E7E7E"/>
                </a:solidFill>
                <a:latin typeface="Courier New"/>
                <a:cs typeface="Courier New"/>
              </a:rPr>
              <a:t>SQL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this</a:t>
            </a:r>
            <a:r>
              <a:rPr sz="2000" spc="-3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syntax</a:t>
            </a:r>
            <a:r>
              <a:rPr sz="2000" spc="-2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is</a:t>
            </a:r>
            <a:r>
              <a:rPr sz="2000" spc="-2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not</a:t>
            </a:r>
            <a:r>
              <a:rPr sz="2000" spc="-2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supported</a:t>
            </a:r>
            <a:r>
              <a:rPr sz="2000" spc="-2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by</a:t>
            </a:r>
            <a:r>
              <a:rPr sz="2000" spc="-2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SQLite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  <a:spcBef>
                <a:spcPts val="95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1F5F"/>
                </a:solidFill>
                <a:latin typeface="Courier New"/>
                <a:cs typeface="Courier New"/>
              </a:rPr>
              <a:t>m.WARE,</a:t>
            </a:r>
            <a:r>
              <a:rPr sz="2000" spc="-30" dirty="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01F5F"/>
                </a:solidFill>
                <a:latin typeface="Courier New"/>
                <a:cs typeface="Courier New"/>
              </a:rPr>
              <a:t>p.WARE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1F5F"/>
                </a:solidFill>
                <a:latin typeface="Courier New"/>
                <a:cs typeface="Courier New"/>
              </a:rPr>
              <a:t>PRODUCT</a:t>
            </a:r>
            <a:r>
              <a:rPr sz="2000" spc="-25" dirty="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1F5F"/>
                </a:solidFill>
                <a:latin typeface="Courier New"/>
                <a:cs typeface="Courier New"/>
              </a:rPr>
              <a:t>p,</a:t>
            </a:r>
            <a:r>
              <a:rPr sz="2000" spc="-25" dirty="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1F5F"/>
                </a:solidFill>
                <a:latin typeface="Courier New"/>
                <a:cs typeface="Courier New"/>
              </a:rPr>
              <a:t>MATERIAL</a:t>
            </a:r>
            <a:r>
              <a:rPr sz="2000" spc="-25" dirty="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001F5F"/>
                </a:solidFill>
                <a:latin typeface="Courier New"/>
                <a:cs typeface="Courier New"/>
              </a:rPr>
              <a:t>m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sz="2000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01F5F"/>
                </a:solidFill>
                <a:latin typeface="Courier New"/>
                <a:cs typeface="Courier New"/>
              </a:rPr>
              <a:t>p.RECIPE_ID=m.RECIPE_ID(+);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92" y="1037082"/>
            <a:ext cx="3119615" cy="45986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8588" y="1957197"/>
            <a:ext cx="9874250" cy="344106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94310" marR="5080" indent="-182245">
              <a:lnSpc>
                <a:spcPts val="2160"/>
              </a:lnSpc>
              <a:spcBef>
                <a:spcPts val="37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sz="2000" b="1" spc="150" dirty="0">
                <a:latin typeface="Cambria"/>
                <a:cs typeface="Cambria"/>
              </a:rPr>
              <a:t>NULL</a:t>
            </a:r>
            <a:r>
              <a:rPr sz="2000" spc="150" dirty="0">
                <a:latin typeface="Cambria"/>
                <a:cs typeface="Cambria"/>
              </a:rPr>
              <a:t>s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75" dirty="0">
                <a:latin typeface="Cambria"/>
                <a:cs typeface="Cambria"/>
              </a:rPr>
              <a:t>can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be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explicitly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put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into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254" dirty="0">
                <a:latin typeface="Cambria"/>
                <a:cs typeface="Cambria"/>
              </a:rPr>
              <a:t>DB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or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produced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by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some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statements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(OUTER 	</a:t>
            </a:r>
            <a:r>
              <a:rPr sz="2000" spc="254" dirty="0">
                <a:latin typeface="Cambria"/>
                <a:cs typeface="Cambria"/>
              </a:rPr>
              <a:t>JOIN</a:t>
            </a:r>
            <a:r>
              <a:rPr sz="2000" spc="2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for</a:t>
            </a:r>
            <a:r>
              <a:rPr sz="2000" spc="24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example)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45"/>
              </a:spcBef>
              <a:buClr>
                <a:srgbClr val="957D95"/>
              </a:buClr>
              <a:buFont typeface="Wingdings"/>
              <a:buChar char=""/>
            </a:pP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sz="2000" b="1" spc="145" dirty="0">
                <a:latin typeface="Cambria"/>
                <a:cs typeface="Cambria"/>
              </a:rPr>
              <a:t>NULL</a:t>
            </a:r>
            <a:r>
              <a:rPr sz="2000" b="1" spc="16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is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considered</a:t>
            </a:r>
            <a:r>
              <a:rPr sz="2000" spc="170" dirty="0">
                <a:latin typeface="Cambria"/>
                <a:cs typeface="Cambria"/>
              </a:rPr>
              <a:t> as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value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any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primitive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type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(TEXT,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spc="195" dirty="0">
                <a:latin typeface="Cambria"/>
                <a:cs typeface="Cambria"/>
              </a:rPr>
              <a:t>INTEGER,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etc.)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5"/>
              </a:spcBef>
              <a:buClr>
                <a:srgbClr val="957D95"/>
              </a:buClr>
              <a:buFont typeface="Wingdings"/>
              <a:buChar char=""/>
            </a:pPr>
            <a:endParaRPr sz="2000">
              <a:latin typeface="Cambria"/>
              <a:cs typeface="Cambria"/>
            </a:endParaRPr>
          </a:p>
          <a:p>
            <a:pPr marL="195580" indent="-182880">
              <a:lnSpc>
                <a:spcPts val="228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sz="2000" spc="200" dirty="0">
                <a:latin typeface="Cambria"/>
                <a:cs typeface="Cambria"/>
              </a:rPr>
              <a:t>Causes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any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regular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predicate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or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function/operation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to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return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b="1" spc="145" dirty="0">
                <a:latin typeface="Cambria"/>
                <a:cs typeface="Cambria"/>
              </a:rPr>
              <a:t>NULL</a:t>
            </a:r>
            <a:r>
              <a:rPr sz="2000" b="1" spc="19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(that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is</a:t>
            </a:r>
            <a:endParaRPr sz="2000">
              <a:latin typeface="Cambria"/>
              <a:cs typeface="Cambria"/>
            </a:endParaRPr>
          </a:p>
          <a:p>
            <a:pPr marL="195580">
              <a:lnSpc>
                <a:spcPts val="2280"/>
              </a:lnSpc>
            </a:pPr>
            <a:r>
              <a:rPr sz="2000" spc="80" dirty="0">
                <a:latin typeface="Cambria"/>
                <a:cs typeface="Cambria"/>
              </a:rPr>
              <a:t>logically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false)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sz="2000" spc="85" dirty="0">
                <a:latin typeface="Cambria"/>
                <a:cs typeface="Cambria"/>
              </a:rPr>
              <a:t>Ignored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by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any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aggregation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function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92" y="1028700"/>
            <a:ext cx="8837536" cy="4682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8588" y="2604338"/>
            <a:ext cx="7890509" cy="2038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sz="2000" spc="305" dirty="0">
                <a:latin typeface="Cambria"/>
                <a:cs typeface="Cambria"/>
              </a:rPr>
              <a:t>X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85" dirty="0">
                <a:solidFill>
                  <a:srgbClr val="006FC0"/>
                </a:solidFill>
                <a:latin typeface="Cambria"/>
                <a:cs typeface="Cambria"/>
              </a:rPr>
              <a:t>IS</a:t>
            </a:r>
            <a:r>
              <a:rPr sz="2000" spc="19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NULL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explicitly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155" dirty="0">
                <a:latin typeface="Cambria"/>
                <a:cs typeface="Cambria"/>
              </a:rPr>
              <a:t>checks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if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the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value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is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NULL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5"/>
              </a:spcBef>
              <a:buClr>
                <a:srgbClr val="957D95"/>
              </a:buClr>
              <a:buFont typeface="Wingdings"/>
              <a:buChar char=""/>
            </a:pP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sz="2000" spc="295" dirty="0">
                <a:latin typeface="Cambria"/>
                <a:cs typeface="Cambria"/>
              </a:rPr>
              <a:t>X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80" dirty="0">
                <a:solidFill>
                  <a:srgbClr val="006FC0"/>
                </a:solidFill>
                <a:latin typeface="Cambria"/>
                <a:cs typeface="Cambria"/>
              </a:rPr>
              <a:t>IS</a:t>
            </a:r>
            <a:r>
              <a:rPr sz="2000" spc="19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150" dirty="0">
                <a:solidFill>
                  <a:srgbClr val="006FC0"/>
                </a:solidFill>
                <a:latin typeface="Cambria"/>
                <a:cs typeface="Cambria"/>
              </a:rPr>
              <a:t>NOT</a:t>
            </a:r>
            <a:r>
              <a:rPr sz="2000" spc="18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NULL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explicitly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55" dirty="0">
                <a:latin typeface="Cambria"/>
                <a:cs typeface="Cambria"/>
              </a:rPr>
              <a:t>checks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if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the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value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is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not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NULL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80"/>
              </a:spcBef>
              <a:buClr>
                <a:srgbClr val="957D95"/>
              </a:buClr>
              <a:buFont typeface="Wingdings"/>
              <a:buChar char=""/>
            </a:pP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sz="2000" spc="220" dirty="0">
                <a:latin typeface="Cambria"/>
                <a:cs typeface="Cambria"/>
              </a:rPr>
              <a:t>COALESCE(X,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Y)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returns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295" dirty="0">
                <a:latin typeface="Cambria"/>
                <a:cs typeface="Cambria"/>
              </a:rPr>
              <a:t>X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if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it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is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not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55" dirty="0">
                <a:latin typeface="Cambria"/>
                <a:cs typeface="Cambria"/>
              </a:rPr>
              <a:t>NULL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65" dirty="0">
                <a:latin typeface="Cambria"/>
                <a:cs typeface="Cambria"/>
              </a:rPr>
              <a:t>and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Y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otherwise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848" y="757555"/>
            <a:ext cx="8512073" cy="583946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2462" y="1778444"/>
          <a:ext cx="12123420" cy="4319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1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6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1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6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9635">
                <a:tc gridSpan="2">
                  <a:txBody>
                    <a:bodyPr/>
                    <a:lstStyle/>
                    <a:p>
                      <a:pPr marL="90805" marR="127635">
                        <a:lnSpc>
                          <a:spcPts val="216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SELECT</a:t>
                      </a:r>
                      <a:r>
                        <a:rPr sz="2000" spc="-5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tab1_lft.ATTR1</a:t>
                      </a:r>
                      <a:r>
                        <a:rPr sz="2000" b="1" dirty="0"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000" b="1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tab2_rght.ATTR1 </a:t>
                      </a: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sz="2000" spc="-2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TABLE1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tab1_lft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90805">
                        <a:lnSpc>
                          <a:spcPts val="2010"/>
                        </a:lnSpc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INNER</a:t>
                      </a:r>
                      <a:r>
                        <a:rPr sz="2000" spc="-3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JOIN</a:t>
                      </a:r>
                      <a:r>
                        <a:rPr sz="2000" spc="-2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TABLE1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tab1_rght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90805" marR="1195070">
                        <a:lnSpc>
                          <a:spcPts val="2160"/>
                        </a:lnSpc>
                        <a:spcBef>
                          <a:spcPts val="150"/>
                        </a:spcBef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ON</a:t>
                      </a:r>
                      <a:r>
                        <a:rPr sz="2000" spc="-1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tab1_lft.KEY1=tab1_rght.KEY2 </a:t>
                      </a: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WHERE</a:t>
                      </a:r>
                      <a:r>
                        <a:rPr sz="2000" spc="-5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tab1_lft.ATTR2&gt;0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2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AND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1005840">
                        <a:lnSpc>
                          <a:spcPts val="2130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tab1_rght.ATTR2&gt;0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27940" marB="0">
                    <a:lnL w="9525">
                      <a:solidFill>
                        <a:srgbClr val="CCC792"/>
                      </a:solidFill>
                      <a:prstDash val="solid"/>
                    </a:lnL>
                    <a:lnR w="9525">
                      <a:solidFill>
                        <a:srgbClr val="CCC792"/>
                      </a:solidFill>
                      <a:prstDash val="solid"/>
                    </a:lnR>
                    <a:lnT w="9525">
                      <a:solidFill>
                        <a:srgbClr val="CCC792"/>
                      </a:solidFill>
                      <a:prstDash val="solid"/>
                    </a:lnT>
                    <a:lnB w="9525">
                      <a:solidFill>
                        <a:srgbClr val="CCC79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ts val="2230"/>
                        </a:lnSpc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SELECT</a:t>
                      </a:r>
                      <a:r>
                        <a:rPr sz="2000" spc="-4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tab1_lft.ATTR1</a:t>
                      </a:r>
                      <a:r>
                        <a:rPr sz="2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r>
                        <a:rPr sz="2000" spc="-3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LEFT,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1158875">
                        <a:lnSpc>
                          <a:spcPts val="216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tab2_rght.ATTR1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r>
                        <a:rPr sz="2000" spc="-4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RIGHT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92075">
                        <a:lnSpc>
                          <a:spcPts val="2160"/>
                        </a:lnSpc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sz="2000" spc="-2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TABLE1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tab1_lft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92075">
                        <a:lnSpc>
                          <a:spcPts val="2160"/>
                        </a:lnSpc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JOIN</a:t>
                      </a:r>
                      <a:r>
                        <a:rPr sz="2000" spc="-2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TABLE1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tab1_rght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92075" marR="890269" indent="304800">
                        <a:lnSpc>
                          <a:spcPts val="2160"/>
                        </a:lnSpc>
                        <a:spcBef>
                          <a:spcPts val="150"/>
                        </a:spcBef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ON</a:t>
                      </a:r>
                      <a:r>
                        <a:rPr sz="2000" spc="-1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tab1_lft.KEY1=tab1_rght.KEY2 </a:t>
                      </a: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WHERE</a:t>
                      </a:r>
                      <a:r>
                        <a:rPr sz="2000" spc="-2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tab1_lft.ATTR2&gt;0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96875">
                        <a:lnSpc>
                          <a:spcPts val="2130"/>
                        </a:lnSpc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AND</a:t>
                      </a:r>
                      <a:r>
                        <a:rPr sz="2000" spc="-1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tab1_rght.ATTR2&gt;0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9525">
                      <a:solidFill>
                        <a:srgbClr val="CCC792"/>
                      </a:solidFill>
                      <a:prstDash val="solid"/>
                    </a:lnL>
                    <a:lnR w="9525">
                      <a:solidFill>
                        <a:srgbClr val="CCC792"/>
                      </a:solidFill>
                      <a:prstDash val="solid"/>
                    </a:lnR>
                    <a:lnT w="9525">
                      <a:solidFill>
                        <a:srgbClr val="CCC792"/>
                      </a:solidFill>
                      <a:prstDash val="solid"/>
                    </a:lnT>
                    <a:lnB w="9525">
                      <a:solidFill>
                        <a:srgbClr val="CCC79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6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CCC792"/>
                      </a:solidFill>
                      <a:prstDash val="solid"/>
                    </a:lnR>
                    <a:lnT w="9525">
                      <a:solidFill>
                        <a:srgbClr val="CCC792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ts val="2230"/>
                        </a:lnSpc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SELECT</a:t>
                      </a:r>
                      <a:r>
                        <a:rPr sz="2000" spc="-4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tab1_lft.ATTR1</a:t>
                      </a:r>
                      <a:r>
                        <a:rPr sz="20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r>
                        <a:rPr sz="2000" spc="-3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LEFT,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91440" marR="1195070" indent="1066800">
                        <a:lnSpc>
                          <a:spcPts val="2160"/>
                        </a:lnSpc>
                        <a:spcBef>
                          <a:spcPts val="150"/>
                        </a:spcBef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tab2_rght.ATTR1</a:t>
                      </a:r>
                      <a:r>
                        <a:rPr sz="20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r>
                        <a:rPr sz="2000" spc="-4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RIGHT </a:t>
                      </a: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sz="2000" spc="-2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TABLE1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tab1_lft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91440">
                        <a:lnSpc>
                          <a:spcPts val="2010"/>
                        </a:lnSpc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JOIN</a:t>
                      </a:r>
                      <a:r>
                        <a:rPr sz="2000" spc="-2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TABLE1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tab1_rght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412750" algn="ctr">
                        <a:lnSpc>
                          <a:spcPts val="2160"/>
                        </a:lnSpc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ON</a:t>
                      </a:r>
                      <a:r>
                        <a:rPr sz="2000" spc="-1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tab1_lft.KEY1=tab1_rght.KEY2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91440">
                        <a:lnSpc>
                          <a:spcPts val="2160"/>
                        </a:lnSpc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WHERE</a:t>
                      </a:r>
                      <a:r>
                        <a:rPr sz="2000" spc="-2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tab1_lft.ATTR2&gt;0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1005840">
                        <a:lnSpc>
                          <a:spcPts val="2280"/>
                        </a:lnSpc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AND</a:t>
                      </a:r>
                      <a:r>
                        <a:rPr sz="2000" spc="-1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tab1_rght.ATTR2&gt;0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9525">
                      <a:solidFill>
                        <a:srgbClr val="CCC792"/>
                      </a:solidFill>
                      <a:prstDash val="solid"/>
                    </a:lnL>
                    <a:lnR w="9525">
                      <a:solidFill>
                        <a:srgbClr val="CCC792"/>
                      </a:solidFill>
                      <a:prstDash val="solid"/>
                    </a:lnR>
                    <a:lnT w="9525">
                      <a:solidFill>
                        <a:srgbClr val="CCC792"/>
                      </a:solidFill>
                      <a:prstDash val="solid"/>
                    </a:lnT>
                    <a:lnB w="9525">
                      <a:solidFill>
                        <a:srgbClr val="CCC79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792"/>
                      </a:solidFill>
                      <a:prstDash val="solid"/>
                    </a:lnL>
                    <a:lnT w="9525">
                      <a:solidFill>
                        <a:srgbClr val="CCC792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</TotalTime>
  <Words>1952</Words>
  <Application>Microsoft Office PowerPoint</Application>
  <PresentationFormat>Широкоэкранный</PresentationFormat>
  <Paragraphs>350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6" baseType="lpstr">
      <vt:lpstr>Calibri</vt:lpstr>
      <vt:lpstr>Cambria</vt:lpstr>
      <vt:lpstr>Cambria Math</vt:lpstr>
      <vt:lpstr>Courier New</vt:lpstr>
      <vt:lpstr>Tahoma</vt:lpstr>
      <vt:lpstr>Times New Roman</vt:lpstr>
      <vt:lpstr>Wingdings</vt:lpstr>
      <vt:lpstr>Office Theme</vt:lpstr>
      <vt:lpstr>Презентация PowerPoint</vt:lpstr>
      <vt:lpstr>Какие материалы требуются для изготовления каждого изделия?</vt:lpstr>
      <vt:lpstr>Проблема: чтобы разобраться в рецептах, производственных цепочках и т.д. необходимо запрашивать несколько таблиц одновременно.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Relational algebra: R1 ⋈ R2 all the combinations of tuple from R1 and R2,where a is some attribute</vt:lpstr>
      <vt:lpstr>Презентация PowerPoint</vt:lpstr>
      <vt:lpstr>Презентация PowerPoint</vt:lpstr>
      <vt:lpstr>Презентация PowerPoint</vt:lpstr>
      <vt:lpstr>Which wares do have two or more categories?</vt:lpstr>
      <vt:lpstr>SELECT DISTINCT fst.WARE FROM CATEGORY fst, CATEGORY snd</vt:lpstr>
      <vt:lpstr>Cross join form:</vt:lpstr>
      <vt:lpstr>Relational algebra:</vt:lpstr>
      <vt:lpstr>Презентация PowerPoint</vt:lpstr>
      <vt:lpstr>Презентация PowerPoint</vt:lpstr>
      <vt:lpstr>Презентация PowerPoint</vt:lpstr>
      <vt:lpstr>Презентация PowerPoint</vt:lpstr>
      <vt:lpstr>Relational algebra: R1 𝔴 R2 is R1 ⋈ R2 (θ variant in general case) with additional tuples from R1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Declarative Programming:  Query Languages</dc:title>
  <dc:creator>shadow</dc:creator>
  <cp:lastModifiedBy>User</cp:lastModifiedBy>
  <cp:revision>2</cp:revision>
  <dcterms:created xsi:type="dcterms:W3CDTF">2025-04-11T02:27:15Z</dcterms:created>
  <dcterms:modified xsi:type="dcterms:W3CDTF">2025-04-22T04:45:30Z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2025-04-11T00:00:00Z</vt:filetime>
  </property>
  <property fmtid="{D5CDD505-2E9C-101B-9397-08002B2CF9AE}" pid="5" name="Producer">
    <vt:lpwstr>Microsoft® PowerPoint® 2019</vt:lpwstr>
  </property>
</Properties>
</file>