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2481" y="1028700"/>
            <a:ext cx="7011911" cy="57569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24046" y="2259662"/>
            <a:ext cx="3134995" cy="2332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5575" y="1048004"/>
            <a:ext cx="298513" cy="44894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8760" y="1003427"/>
            <a:ext cx="335026" cy="29959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80132" y="1028700"/>
            <a:ext cx="3494913" cy="4655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01679" y="6229680"/>
            <a:ext cx="457200" cy="4572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430889" y="6258877"/>
            <a:ext cx="398780" cy="399415"/>
          </a:xfrm>
          <a:custGeom>
            <a:avLst/>
            <a:gdLst/>
            <a:ahLst/>
            <a:cxnLst/>
            <a:rect l="l" t="t" r="r" b="b"/>
            <a:pathLst>
              <a:path w="398779" h="399415">
                <a:moveTo>
                  <a:pt x="0" y="199402"/>
                </a:moveTo>
                <a:lnTo>
                  <a:pt x="5266" y="153679"/>
                </a:lnTo>
                <a:lnTo>
                  <a:pt x="20268" y="111707"/>
                </a:lnTo>
                <a:lnTo>
                  <a:pt x="43807" y="74683"/>
                </a:lnTo>
                <a:lnTo>
                  <a:pt x="74686" y="43804"/>
                </a:lnTo>
                <a:lnTo>
                  <a:pt x="111708" y="20266"/>
                </a:lnTo>
                <a:lnTo>
                  <a:pt x="153675" y="5265"/>
                </a:lnTo>
                <a:lnTo>
                  <a:pt x="199389" y="0"/>
                </a:lnTo>
                <a:lnTo>
                  <a:pt x="245144" y="5265"/>
                </a:lnTo>
                <a:lnTo>
                  <a:pt x="287127" y="20266"/>
                </a:lnTo>
                <a:lnTo>
                  <a:pt x="324146" y="43804"/>
                </a:lnTo>
                <a:lnTo>
                  <a:pt x="355012" y="74683"/>
                </a:lnTo>
                <a:lnTo>
                  <a:pt x="378534" y="111707"/>
                </a:lnTo>
                <a:lnTo>
                  <a:pt x="393520" y="153679"/>
                </a:lnTo>
                <a:lnTo>
                  <a:pt x="398779" y="199402"/>
                </a:lnTo>
                <a:lnTo>
                  <a:pt x="393520" y="245126"/>
                </a:lnTo>
                <a:lnTo>
                  <a:pt x="378534" y="287098"/>
                </a:lnTo>
                <a:lnTo>
                  <a:pt x="355012" y="324121"/>
                </a:lnTo>
                <a:lnTo>
                  <a:pt x="324146" y="355001"/>
                </a:lnTo>
                <a:lnTo>
                  <a:pt x="287127" y="378539"/>
                </a:lnTo>
                <a:lnTo>
                  <a:pt x="245144" y="393539"/>
                </a:lnTo>
                <a:lnTo>
                  <a:pt x="199389" y="398805"/>
                </a:lnTo>
                <a:lnTo>
                  <a:pt x="153675" y="393539"/>
                </a:lnTo>
                <a:lnTo>
                  <a:pt x="111708" y="378539"/>
                </a:lnTo>
                <a:lnTo>
                  <a:pt x="74686" y="355001"/>
                </a:lnTo>
                <a:lnTo>
                  <a:pt x="43807" y="324121"/>
                </a:lnTo>
                <a:lnTo>
                  <a:pt x="20268" y="287098"/>
                </a:lnTo>
                <a:lnTo>
                  <a:pt x="5266" y="245126"/>
                </a:lnTo>
                <a:lnTo>
                  <a:pt x="0" y="19940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8588" y="2112391"/>
            <a:ext cx="9894823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588" y="3269970"/>
            <a:ext cx="9361170" cy="1830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.png"/><Relationship Id="rId4" Type="http://schemas.openxmlformats.org/officeDocument/2006/relationships/image" Target="../media/image45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28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38" y="1346923"/>
            <a:ext cx="10222992" cy="8068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20838" y="1484757"/>
            <a:ext cx="10223500" cy="3665220"/>
            <a:chOff x="920838" y="1484757"/>
            <a:chExt cx="10223500" cy="366522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0838" y="4282782"/>
              <a:ext cx="10222992" cy="8068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838" y="1484757"/>
              <a:ext cx="10222992" cy="366509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757283" y="4177030"/>
              <a:ext cx="864869" cy="864869"/>
            </a:xfrm>
            <a:custGeom>
              <a:avLst/>
              <a:gdLst/>
              <a:ahLst/>
              <a:cxnLst/>
              <a:rect l="l" t="t" r="r" b="b"/>
              <a:pathLst>
                <a:path w="864870" h="864870">
                  <a:moveTo>
                    <a:pt x="0" y="432308"/>
                  </a:moveTo>
                  <a:lnTo>
                    <a:pt x="2536" y="385202"/>
                  </a:lnTo>
                  <a:lnTo>
                    <a:pt x="9971" y="339566"/>
                  </a:lnTo>
                  <a:lnTo>
                    <a:pt x="22040" y="295664"/>
                  </a:lnTo>
                  <a:lnTo>
                    <a:pt x="38479" y="253758"/>
                  </a:lnTo>
                  <a:lnTo>
                    <a:pt x="59026" y="214112"/>
                  </a:lnTo>
                  <a:lnTo>
                    <a:pt x="83417" y="176991"/>
                  </a:lnTo>
                  <a:lnTo>
                    <a:pt x="111388" y="142657"/>
                  </a:lnTo>
                  <a:lnTo>
                    <a:pt x="142677" y="111376"/>
                  </a:lnTo>
                  <a:lnTo>
                    <a:pt x="177018" y="83409"/>
                  </a:lnTo>
                  <a:lnTo>
                    <a:pt x="214150" y="59022"/>
                  </a:lnTo>
                  <a:lnTo>
                    <a:pt x="253808" y="38477"/>
                  </a:lnTo>
                  <a:lnTo>
                    <a:pt x="295729" y="22039"/>
                  </a:lnTo>
                  <a:lnTo>
                    <a:pt x="339649" y="9970"/>
                  </a:lnTo>
                  <a:lnTo>
                    <a:pt x="385306" y="2536"/>
                  </a:lnTo>
                  <a:lnTo>
                    <a:pt x="432435" y="0"/>
                  </a:lnTo>
                  <a:lnTo>
                    <a:pt x="479540" y="2536"/>
                  </a:lnTo>
                  <a:lnTo>
                    <a:pt x="525176" y="9970"/>
                  </a:lnTo>
                  <a:lnTo>
                    <a:pt x="569078" y="22039"/>
                  </a:lnTo>
                  <a:lnTo>
                    <a:pt x="610984" y="38477"/>
                  </a:lnTo>
                  <a:lnTo>
                    <a:pt x="650630" y="59022"/>
                  </a:lnTo>
                  <a:lnTo>
                    <a:pt x="687751" y="83409"/>
                  </a:lnTo>
                  <a:lnTo>
                    <a:pt x="722085" y="111376"/>
                  </a:lnTo>
                  <a:lnTo>
                    <a:pt x="753366" y="142657"/>
                  </a:lnTo>
                  <a:lnTo>
                    <a:pt x="781333" y="176991"/>
                  </a:lnTo>
                  <a:lnTo>
                    <a:pt x="805720" y="214112"/>
                  </a:lnTo>
                  <a:lnTo>
                    <a:pt x="826265" y="253758"/>
                  </a:lnTo>
                  <a:lnTo>
                    <a:pt x="842703" y="295664"/>
                  </a:lnTo>
                  <a:lnTo>
                    <a:pt x="854772" y="339566"/>
                  </a:lnTo>
                  <a:lnTo>
                    <a:pt x="862206" y="385202"/>
                  </a:lnTo>
                  <a:lnTo>
                    <a:pt x="864743" y="432308"/>
                  </a:lnTo>
                  <a:lnTo>
                    <a:pt x="862206" y="479414"/>
                  </a:lnTo>
                  <a:lnTo>
                    <a:pt x="854772" y="525055"/>
                  </a:lnTo>
                  <a:lnTo>
                    <a:pt x="842703" y="568965"/>
                  </a:lnTo>
                  <a:lnTo>
                    <a:pt x="826265" y="610880"/>
                  </a:lnTo>
                  <a:lnTo>
                    <a:pt x="805720" y="650536"/>
                  </a:lnTo>
                  <a:lnTo>
                    <a:pt x="781333" y="687669"/>
                  </a:lnTo>
                  <a:lnTo>
                    <a:pt x="753366" y="722015"/>
                  </a:lnTo>
                  <a:lnTo>
                    <a:pt x="722085" y="753309"/>
                  </a:lnTo>
                  <a:lnTo>
                    <a:pt x="687751" y="781288"/>
                  </a:lnTo>
                  <a:lnTo>
                    <a:pt x="650630" y="805688"/>
                  </a:lnTo>
                  <a:lnTo>
                    <a:pt x="610984" y="826243"/>
                  </a:lnTo>
                  <a:lnTo>
                    <a:pt x="569078" y="842690"/>
                  </a:lnTo>
                  <a:lnTo>
                    <a:pt x="525176" y="854765"/>
                  </a:lnTo>
                  <a:lnTo>
                    <a:pt x="479540" y="862204"/>
                  </a:lnTo>
                  <a:lnTo>
                    <a:pt x="432435" y="864743"/>
                  </a:lnTo>
                  <a:lnTo>
                    <a:pt x="385306" y="862204"/>
                  </a:lnTo>
                  <a:lnTo>
                    <a:pt x="339649" y="854765"/>
                  </a:lnTo>
                  <a:lnTo>
                    <a:pt x="295729" y="842690"/>
                  </a:lnTo>
                  <a:lnTo>
                    <a:pt x="253808" y="826243"/>
                  </a:lnTo>
                  <a:lnTo>
                    <a:pt x="214150" y="805688"/>
                  </a:lnTo>
                  <a:lnTo>
                    <a:pt x="177018" y="781288"/>
                  </a:lnTo>
                  <a:lnTo>
                    <a:pt x="142677" y="753309"/>
                  </a:lnTo>
                  <a:lnTo>
                    <a:pt x="111388" y="722015"/>
                  </a:lnTo>
                  <a:lnTo>
                    <a:pt x="83417" y="687669"/>
                  </a:lnTo>
                  <a:lnTo>
                    <a:pt x="59026" y="650536"/>
                  </a:lnTo>
                  <a:lnTo>
                    <a:pt x="38479" y="610880"/>
                  </a:lnTo>
                  <a:lnTo>
                    <a:pt x="22040" y="568965"/>
                  </a:lnTo>
                  <a:lnTo>
                    <a:pt x="9971" y="525055"/>
                  </a:lnTo>
                  <a:lnTo>
                    <a:pt x="2536" y="479414"/>
                  </a:lnTo>
                  <a:lnTo>
                    <a:pt x="0" y="43230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26489" y="2530983"/>
              <a:ext cx="8893124" cy="876045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48588" y="4810505"/>
            <a:ext cx="2056764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715D71"/>
                </a:solidFill>
                <a:latin typeface="Cambria"/>
                <a:cs typeface="Cambria"/>
              </a:rPr>
              <a:t>Denis</a:t>
            </a:r>
            <a:r>
              <a:rPr dirty="0" sz="2000" spc="225" b="1">
                <a:solidFill>
                  <a:srgbClr val="715D71"/>
                </a:solidFill>
                <a:latin typeface="Cambria"/>
                <a:cs typeface="Cambria"/>
              </a:rPr>
              <a:t> </a:t>
            </a:r>
            <a:r>
              <a:rPr dirty="0" sz="2000" spc="125" b="1">
                <a:solidFill>
                  <a:srgbClr val="715D71"/>
                </a:solidFill>
                <a:latin typeface="Cambria"/>
                <a:cs typeface="Cambria"/>
              </a:rPr>
              <a:t>Miginsky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8102" y="1037082"/>
            <a:ext cx="5259400" cy="4572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37894" y="1947799"/>
            <a:ext cx="1854200" cy="8801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16865" marR="5080" indent="-304800">
              <a:lnSpc>
                <a:spcPts val="2160"/>
              </a:lnSpc>
              <a:spcBef>
                <a:spcPts val="375"/>
              </a:spcBef>
            </a:pPr>
            <a:r>
              <a:rPr dirty="0" sz="2000" spc="-10" b="1">
                <a:latin typeface="Courier New"/>
                <a:cs typeface="Courier New"/>
              </a:rPr>
              <a:t>CATEGORY: </a:t>
            </a:r>
            <a:r>
              <a:rPr dirty="0" sz="2000">
                <a:latin typeface="Courier New"/>
                <a:cs typeface="Courier New"/>
              </a:rPr>
              <a:t>WARE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dirty="0" sz="2000">
                <a:latin typeface="Courier New"/>
                <a:cs typeface="Courier New"/>
              </a:rPr>
              <a:t>CLASS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37894" y="3350133"/>
            <a:ext cx="2921000" cy="88011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316865" marR="5080" indent="-304800">
              <a:lnSpc>
                <a:spcPct val="90100"/>
              </a:lnSpc>
              <a:spcBef>
                <a:spcPts val="340"/>
              </a:spcBef>
            </a:pPr>
            <a:r>
              <a:rPr dirty="0" sz="2000" spc="-10" b="1">
                <a:latin typeface="Courier New"/>
                <a:cs typeface="Courier New"/>
              </a:rPr>
              <a:t>MANUFACTURER: </a:t>
            </a:r>
            <a:r>
              <a:rPr dirty="0" sz="2000">
                <a:latin typeface="Courier New"/>
                <a:cs typeface="Courier New"/>
              </a:rPr>
              <a:t>RECIPE_ID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 </a:t>
            </a:r>
            <a:r>
              <a:rPr dirty="0" sz="2000">
                <a:latin typeface="Courier New"/>
                <a:cs typeface="Courier New"/>
              </a:rPr>
              <a:t>COMPANY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75628" y="1924938"/>
            <a:ext cx="2921000" cy="2434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5"/>
              </a:spcBef>
            </a:pPr>
            <a:r>
              <a:rPr dirty="0" sz="2000" spc="-10" b="1">
                <a:latin typeface="Courier New"/>
                <a:cs typeface="Courier New"/>
              </a:rPr>
              <a:t>MATERIAL: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1920"/>
              </a:lnSpc>
            </a:pPr>
            <a:r>
              <a:rPr dirty="0" sz="2000">
                <a:latin typeface="Courier New"/>
                <a:cs typeface="Courier New"/>
              </a:rPr>
              <a:t>RECIPE_ID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  <a:p>
            <a:pPr marL="317500" marR="462280">
              <a:lnSpc>
                <a:spcPts val="1920"/>
              </a:lnSpc>
              <a:spcBef>
                <a:spcPts val="225"/>
              </a:spcBef>
            </a:pPr>
            <a:r>
              <a:rPr dirty="0" sz="2000">
                <a:latin typeface="Courier New"/>
                <a:cs typeface="Courier New"/>
              </a:rPr>
              <a:t>WARE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dirty="0" sz="2000">
                <a:latin typeface="Courier New"/>
                <a:cs typeface="Courier New"/>
              </a:rPr>
              <a:t>AMOUNT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  <a:spcBef>
                <a:spcPts val="735"/>
              </a:spcBef>
            </a:pPr>
            <a:r>
              <a:rPr dirty="0" sz="2000" spc="-10" b="1">
                <a:latin typeface="Courier New"/>
                <a:cs typeface="Courier New"/>
              </a:rPr>
              <a:t>PRODUCT: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1920"/>
              </a:lnSpc>
            </a:pPr>
            <a:r>
              <a:rPr dirty="0" sz="2000">
                <a:latin typeface="Courier New"/>
                <a:cs typeface="Courier New"/>
              </a:rPr>
              <a:t>RECIPE_ID</a:t>
            </a:r>
            <a:r>
              <a:rPr dirty="0" sz="2000" spc="-45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  <a:p>
            <a:pPr marL="317500" marR="462280">
              <a:lnSpc>
                <a:spcPct val="80100"/>
              </a:lnSpc>
              <a:spcBef>
                <a:spcPts val="235"/>
              </a:spcBef>
            </a:pPr>
            <a:r>
              <a:rPr dirty="0" sz="2000">
                <a:latin typeface="Courier New"/>
                <a:cs typeface="Courier New"/>
              </a:rPr>
              <a:t>WARE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 </a:t>
            </a:r>
            <a:r>
              <a:rPr dirty="0" sz="2000">
                <a:latin typeface="Courier New"/>
                <a:cs typeface="Courier New"/>
              </a:rPr>
              <a:t>AMOUNT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 </a:t>
            </a:r>
            <a:r>
              <a:rPr dirty="0" sz="2000">
                <a:latin typeface="Courier New"/>
                <a:cs typeface="Courier New"/>
              </a:rPr>
              <a:t>PRICE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88872" y="4634331"/>
            <a:ext cx="5908040" cy="13061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Why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schema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should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exactly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like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this?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Are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schemas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possible?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2000" spc="165" b="1">
                <a:latin typeface="Cambria"/>
                <a:cs typeface="Cambria"/>
              </a:rPr>
              <a:t>Q: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choose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best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one?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019" y="1028700"/>
            <a:ext cx="7430134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37894" y="1947799"/>
            <a:ext cx="1701800" cy="1154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spc="-10" b="1">
                <a:latin typeface="Courier New"/>
                <a:cs typeface="Courier New"/>
              </a:rPr>
              <a:t>DATA:</a:t>
            </a:r>
            <a:endParaRPr sz="2000">
              <a:latin typeface="Courier New"/>
              <a:cs typeface="Courier New"/>
            </a:endParaRPr>
          </a:p>
          <a:p>
            <a:pPr marL="316865" marR="5080">
              <a:lnSpc>
                <a:spcPts val="2160"/>
              </a:lnSpc>
              <a:spcBef>
                <a:spcPts val="150"/>
              </a:spcBef>
            </a:pPr>
            <a:r>
              <a:rPr dirty="0" sz="2000" spc="-10">
                <a:latin typeface="Courier New"/>
                <a:cs typeface="Courier New"/>
              </a:rPr>
              <a:t>RECIPE_ID COMPANY MATERIAL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81450" y="2221814"/>
            <a:ext cx="1092200" cy="8801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 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42669" y="3045332"/>
            <a:ext cx="30740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1100" algn="l"/>
              </a:tabLst>
            </a:pPr>
            <a:r>
              <a:rPr dirty="0" sz="2000" spc="-10">
                <a:latin typeface="Courier New"/>
                <a:cs typeface="Courier New"/>
              </a:rPr>
              <a:t>MATERIAL_CLASS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42669" y="3319652"/>
            <a:ext cx="35312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ourier New"/>
                <a:cs typeface="Courier New"/>
              </a:rPr>
              <a:t>MATERIAL_AMOUNT</a:t>
            </a:r>
            <a:r>
              <a:rPr dirty="0" sz="2000" spc="-70"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42669" y="3593668"/>
            <a:ext cx="307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1100" algn="l"/>
              </a:tabLst>
            </a:pPr>
            <a:r>
              <a:rPr dirty="0" sz="2000" spc="-10">
                <a:latin typeface="Courier New"/>
                <a:cs typeface="Courier New"/>
              </a:rPr>
              <a:t>PRODUCT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42669" y="3868673"/>
            <a:ext cx="3074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dirty="0" sz="2000" spc="-10">
                <a:latin typeface="Courier New"/>
                <a:cs typeface="Courier New"/>
              </a:rPr>
              <a:t>PRODDUCT_CLASS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42669" y="4142994"/>
            <a:ext cx="35312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dirty="0" sz="2000" spc="-10">
                <a:latin typeface="Courier New"/>
                <a:cs typeface="Courier New"/>
              </a:rPr>
              <a:t>PRODUCT_AMOUNT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42669" y="4417314"/>
            <a:ext cx="3074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51100" algn="l"/>
              </a:tabLst>
            </a:pPr>
            <a:r>
              <a:rPr dirty="0" sz="2000" spc="-10">
                <a:latin typeface="Courier New"/>
                <a:cs typeface="Courier New"/>
              </a:rPr>
              <a:t>PRODUCT_PRICE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75628" y="1853666"/>
            <a:ext cx="5360035" cy="441896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000" spc="100" b="1">
                <a:latin typeface="Cambria"/>
                <a:cs typeface="Cambria"/>
              </a:rPr>
              <a:t>Transformation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sz="2000" spc="80" b="1">
                <a:latin typeface="Cambria"/>
                <a:cs typeface="Cambria"/>
              </a:rPr>
              <a:t>query:</a:t>
            </a:r>
            <a:endParaRPr sz="2000">
              <a:latin typeface="Cambria"/>
              <a:cs typeface="Cambria"/>
            </a:endParaRPr>
          </a:p>
          <a:p>
            <a:pPr marL="1079500" marR="5080" indent="-1066800">
              <a:lnSpc>
                <a:spcPts val="2160"/>
              </a:lnSpc>
              <a:spcBef>
                <a:spcPts val="113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m.RECIPE_ID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RECIPE_ID, </a:t>
            </a:r>
            <a:r>
              <a:rPr dirty="0" sz="2000">
                <a:latin typeface="Courier New"/>
                <a:cs typeface="Courier New"/>
              </a:rPr>
              <a:t>m.COMPANY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COMPANY, </a:t>
            </a:r>
            <a:r>
              <a:rPr dirty="0" sz="2000">
                <a:latin typeface="Courier New"/>
                <a:cs typeface="Courier New"/>
              </a:rPr>
              <a:t>mt.WARE</a:t>
            </a:r>
            <a:r>
              <a:rPr dirty="0" sz="2000" spc="-3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MATERIAL, </a:t>
            </a:r>
            <a:r>
              <a:rPr dirty="0" sz="2000">
                <a:latin typeface="Courier New"/>
                <a:cs typeface="Courier New"/>
              </a:rPr>
              <a:t>mtc.CLASS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MATERIAL_CLASS, </a:t>
            </a:r>
            <a:r>
              <a:rPr dirty="0" sz="2000">
                <a:latin typeface="Courier New"/>
                <a:cs typeface="Courier New"/>
              </a:rPr>
              <a:t>p.WARE</a:t>
            </a:r>
            <a:r>
              <a:rPr dirty="0" sz="2000" spc="-3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AS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PRODUCT,</a:t>
            </a:r>
            <a:endParaRPr sz="2000">
              <a:latin typeface="Courier New"/>
              <a:cs typeface="Courier New"/>
            </a:endParaRPr>
          </a:p>
          <a:p>
            <a:pPr marL="1079500">
              <a:lnSpc>
                <a:spcPts val="2010"/>
              </a:lnSpc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12700" marR="21386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4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MANUFACTURER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m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LEFT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MATERIAL</a:t>
            </a:r>
            <a:r>
              <a:rPr dirty="0" sz="2000" spc="-25">
                <a:latin typeface="Courier New"/>
                <a:cs typeface="Courier New"/>
              </a:rPr>
              <a:t> mt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latin typeface="Courier New"/>
                <a:cs typeface="Courier New"/>
              </a:rPr>
              <a:t>ON</a:t>
            </a:r>
            <a:r>
              <a:rPr dirty="0" sz="2000" spc="-10">
                <a:latin typeface="Courier New"/>
                <a:cs typeface="Courier New"/>
              </a:rPr>
              <a:t> m.RECIPE_ID=mt.RECIPE_ID</a:t>
            </a:r>
            <a:endParaRPr sz="2000">
              <a:latin typeface="Courier New"/>
              <a:cs typeface="Courier New"/>
            </a:endParaRPr>
          </a:p>
          <a:p>
            <a:pPr marL="12700" marR="1833880">
              <a:lnSpc>
                <a:spcPts val="2160"/>
              </a:lnSpc>
              <a:spcBef>
                <a:spcPts val="15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LEFT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CATERGORY</a:t>
            </a:r>
            <a:r>
              <a:rPr dirty="0" sz="2000" spc="-25">
                <a:latin typeface="Courier New"/>
                <a:cs typeface="Courier New"/>
              </a:rPr>
              <a:t> mtc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mt.WARE=mtc.WARE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INNER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JOIN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PRODUCT</a:t>
            </a:r>
            <a:r>
              <a:rPr dirty="0" sz="2000" spc="-25">
                <a:latin typeface="Courier New"/>
                <a:cs typeface="Courier New"/>
              </a:rPr>
              <a:t> </a:t>
            </a:r>
            <a:r>
              <a:rPr dirty="0" sz="2000" spc="-50">
                <a:latin typeface="Courier New"/>
                <a:cs typeface="Courier New"/>
              </a:rPr>
              <a:t>p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1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ON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latin typeface="Courier New"/>
                <a:cs typeface="Courier New"/>
              </a:rPr>
              <a:t>p.RECIPE_ID=m.RECIPE_ID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769" y="1366266"/>
            <a:ext cx="2333129" cy="457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0995" y="699516"/>
            <a:ext cx="8408492" cy="46558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112391"/>
            <a:ext cx="9420860" cy="370903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94310" marR="83185" indent="-182245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90">
                <a:latin typeface="Cambria"/>
                <a:cs typeface="Cambria"/>
              </a:rPr>
              <a:t>Table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much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larger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than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4-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schema.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Why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shall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query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all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114">
                <a:latin typeface="Cambria"/>
                <a:cs typeface="Cambria"/>
              </a:rPr>
              <a:t>these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rows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get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just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categories?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6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85">
                <a:latin typeface="Cambria"/>
                <a:cs typeface="Cambria"/>
              </a:rPr>
              <a:t>How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many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new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rows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do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need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create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new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recipe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necessary </a:t>
            </a:r>
            <a:r>
              <a:rPr dirty="0" sz="2000" spc="110">
                <a:latin typeface="Cambria"/>
                <a:cs typeface="Cambria"/>
              </a:rPr>
              <a:t>	</a:t>
            </a:r>
            <a:r>
              <a:rPr dirty="0" sz="2000" spc="120">
                <a:latin typeface="Cambria"/>
                <a:cs typeface="Cambria"/>
              </a:rPr>
              <a:t>stuff?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45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30">
                <a:latin typeface="Cambria"/>
                <a:cs typeface="Cambria"/>
              </a:rPr>
              <a:t>1-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schema </a:t>
            </a:r>
            <a:r>
              <a:rPr dirty="0" sz="2000" spc="90">
                <a:latin typeface="Cambria"/>
                <a:cs typeface="Cambria"/>
              </a:rPr>
              <a:t>allows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inconsistencies.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9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310" marR="534670" indent="-182245">
              <a:lnSpc>
                <a:spcPts val="211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many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duplicates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despite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rows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unique, </a:t>
            </a:r>
            <a:r>
              <a:rPr dirty="0" sz="2000" spc="150">
                <a:latin typeface="Cambria"/>
                <a:cs typeface="Cambria"/>
              </a:rPr>
              <a:t>	</a:t>
            </a:r>
            <a:r>
              <a:rPr dirty="0" sz="2000" spc="125">
                <a:latin typeface="Cambria"/>
                <a:cs typeface="Cambria"/>
              </a:rPr>
              <a:t>technically.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requires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210">
                <a:latin typeface="Cambria"/>
                <a:cs typeface="Cambria"/>
              </a:rPr>
              <a:t>much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more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space.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6950062" cy="4655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2112391"/>
            <a:ext cx="9659620" cy="87947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  <a:tabLst>
                <a:tab pos="398145" algn="l"/>
              </a:tabLst>
            </a:pPr>
            <a:r>
              <a:rPr dirty="0" spc="105" b="1">
                <a:latin typeface="Cambria"/>
                <a:cs typeface="Cambria"/>
              </a:rPr>
              <a:t>Normalization</a:t>
            </a:r>
            <a:r>
              <a:rPr dirty="0" spc="180" b="1">
                <a:latin typeface="Cambria"/>
                <a:cs typeface="Cambria"/>
              </a:rPr>
              <a:t> </a:t>
            </a:r>
            <a:r>
              <a:rPr dirty="0"/>
              <a:t>–</a:t>
            </a:r>
            <a:r>
              <a:rPr dirty="0" spc="229"/>
              <a:t> </a:t>
            </a:r>
            <a:r>
              <a:rPr dirty="0" spc="114"/>
              <a:t>the</a:t>
            </a:r>
            <a:r>
              <a:rPr dirty="0" spc="220"/>
              <a:t> </a:t>
            </a:r>
            <a:r>
              <a:rPr dirty="0" spc="110"/>
              <a:t>process</a:t>
            </a:r>
            <a:r>
              <a:rPr dirty="0" spc="190"/>
              <a:t> </a:t>
            </a:r>
            <a:r>
              <a:rPr dirty="0"/>
              <a:t>of</a:t>
            </a:r>
            <a:r>
              <a:rPr dirty="0" spc="229"/>
              <a:t> </a:t>
            </a:r>
            <a:r>
              <a:rPr dirty="0" spc="114"/>
              <a:t>lossless</a:t>
            </a:r>
            <a:r>
              <a:rPr dirty="0" spc="180"/>
              <a:t> </a:t>
            </a:r>
            <a:r>
              <a:rPr dirty="0" spc="114"/>
              <a:t>transformation</a:t>
            </a:r>
            <a:r>
              <a:rPr dirty="0" spc="229"/>
              <a:t> </a:t>
            </a:r>
            <a:r>
              <a:rPr dirty="0"/>
              <a:t>of</a:t>
            </a:r>
            <a:r>
              <a:rPr dirty="0" spc="220"/>
              <a:t> </a:t>
            </a:r>
            <a:r>
              <a:rPr dirty="0" spc="254"/>
              <a:t>DB</a:t>
            </a:r>
            <a:r>
              <a:rPr dirty="0" spc="220"/>
              <a:t> </a:t>
            </a:r>
            <a:r>
              <a:rPr dirty="0" spc="165"/>
              <a:t>schema</a:t>
            </a:r>
            <a:r>
              <a:rPr dirty="0" spc="220"/>
              <a:t> </a:t>
            </a:r>
            <a:r>
              <a:rPr dirty="0" spc="75"/>
              <a:t>(i.e.</a:t>
            </a:r>
            <a:r>
              <a:rPr dirty="0" spc="185"/>
              <a:t> </a:t>
            </a:r>
            <a:r>
              <a:rPr dirty="0" spc="85"/>
              <a:t>set </a:t>
            </a:r>
            <a:r>
              <a:rPr dirty="0" spc="-25"/>
              <a:t>of</a:t>
            </a:r>
            <a:r>
              <a:rPr dirty="0"/>
              <a:t>	</a:t>
            </a:r>
            <a:r>
              <a:rPr dirty="0" spc="95"/>
              <a:t>tables/relations)</a:t>
            </a:r>
            <a:r>
              <a:rPr dirty="0" spc="170"/>
              <a:t> </a:t>
            </a:r>
            <a:r>
              <a:rPr dirty="0" spc="65"/>
              <a:t>to</a:t>
            </a:r>
            <a:r>
              <a:rPr dirty="0" spc="210"/>
              <a:t> </a:t>
            </a:r>
            <a:r>
              <a:rPr dirty="0" spc="114"/>
              <a:t>reduce</a:t>
            </a:r>
            <a:r>
              <a:rPr dirty="0" spc="170"/>
              <a:t> </a:t>
            </a:r>
            <a:r>
              <a:rPr dirty="0" spc="114"/>
              <a:t>the</a:t>
            </a:r>
            <a:r>
              <a:rPr dirty="0" spc="195"/>
              <a:t> </a:t>
            </a:r>
            <a:r>
              <a:rPr dirty="0" spc="140"/>
              <a:t>data</a:t>
            </a:r>
            <a:r>
              <a:rPr dirty="0" spc="204"/>
              <a:t> </a:t>
            </a:r>
            <a:r>
              <a:rPr dirty="0" spc="140"/>
              <a:t>redundancy</a:t>
            </a:r>
            <a:r>
              <a:rPr dirty="0" spc="165"/>
              <a:t> and</a:t>
            </a:r>
            <a:r>
              <a:rPr dirty="0" spc="200"/>
              <a:t> </a:t>
            </a:r>
            <a:r>
              <a:rPr dirty="0" spc="80"/>
              <a:t>improve</a:t>
            </a:r>
            <a:r>
              <a:rPr dirty="0" spc="170"/>
              <a:t> </a:t>
            </a:r>
            <a:r>
              <a:rPr dirty="0" spc="90"/>
              <a:t>the </a:t>
            </a:r>
            <a:r>
              <a:rPr dirty="0" spc="120"/>
              <a:t>consistency</a:t>
            </a:r>
            <a:r>
              <a:rPr dirty="0" spc="175"/>
              <a:t> </a:t>
            </a:r>
            <a:r>
              <a:rPr dirty="0" spc="165"/>
              <a:t>and</a:t>
            </a:r>
            <a:r>
              <a:rPr dirty="0" spc="229"/>
              <a:t> </a:t>
            </a:r>
            <a:r>
              <a:rPr dirty="0" spc="80"/>
              <a:t>efficiency</a:t>
            </a:r>
            <a:r>
              <a:rPr dirty="0" spc="180"/>
              <a:t> </a:t>
            </a:r>
            <a:r>
              <a:rPr dirty="0" spc="80"/>
              <a:t>(usually).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514725"/>
            <a:ext cx="9871075" cy="200152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254000">
              <a:lnSpc>
                <a:spcPts val="2160"/>
              </a:lnSpc>
              <a:spcBef>
                <a:spcPts val="375"/>
              </a:spcBef>
            </a:pPr>
            <a:r>
              <a:rPr dirty="0" sz="2000" spc="110" b="1">
                <a:latin typeface="Cambria"/>
                <a:cs typeface="Cambria"/>
              </a:rPr>
              <a:t>Denormalization</a:t>
            </a:r>
            <a:r>
              <a:rPr dirty="0" sz="2000" spc="17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reverse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process,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injecting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some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duplicates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30">
                <a:latin typeface="Cambria"/>
                <a:cs typeface="Cambria"/>
              </a:rPr>
              <a:t>or </a:t>
            </a:r>
            <a:r>
              <a:rPr dirty="0" sz="2000" spc="70">
                <a:latin typeface="Cambria"/>
                <a:cs typeface="Cambria"/>
              </a:rPr>
              <a:t>derivative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improve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performance.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0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ct val="89000"/>
              </a:lnSpc>
            </a:pPr>
            <a:r>
              <a:rPr dirty="0" sz="2000" spc="120" b="1">
                <a:latin typeface="Cambria"/>
                <a:cs typeface="Cambria"/>
              </a:rPr>
              <a:t>Note: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reason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about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design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necessary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take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into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account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 </a:t>
            </a:r>
            <a:r>
              <a:rPr dirty="0" sz="2000" spc="100">
                <a:latin typeface="Cambria"/>
                <a:cs typeface="Cambria"/>
              </a:rPr>
              <a:t>possible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that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65">
                <a:latin typeface="Cambria"/>
                <a:cs typeface="Cambria"/>
              </a:rPr>
              <a:t>DB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rather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than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current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260">
                <a:latin typeface="Cambria"/>
                <a:cs typeface="Cambria"/>
              </a:rPr>
              <a:t>DB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(since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is </a:t>
            </a:r>
            <a:r>
              <a:rPr dirty="0" sz="2000" spc="105">
                <a:latin typeface="Cambria"/>
                <a:cs typeface="Cambria"/>
              </a:rPr>
              <a:t>empty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initially).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2750172" cy="5673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120" b="1">
                <a:latin typeface="Cambria"/>
                <a:cs typeface="Cambria"/>
              </a:rPr>
              <a:t>Superkey</a:t>
            </a:r>
            <a:r>
              <a:rPr dirty="0" spc="215" b="1">
                <a:latin typeface="Cambria"/>
                <a:cs typeface="Cambria"/>
              </a:rPr>
              <a:t> </a:t>
            </a:r>
            <a:r>
              <a:rPr dirty="0"/>
              <a:t>–</a:t>
            </a:r>
            <a:r>
              <a:rPr dirty="0" spc="215"/>
              <a:t> </a:t>
            </a:r>
            <a:r>
              <a:rPr dirty="0" spc="185"/>
              <a:t>a</a:t>
            </a:r>
            <a:r>
              <a:rPr dirty="0" spc="225"/>
              <a:t> </a:t>
            </a:r>
            <a:r>
              <a:rPr dirty="0" spc="150"/>
              <a:t>subset</a:t>
            </a:r>
            <a:r>
              <a:rPr dirty="0" spc="200"/>
              <a:t> </a:t>
            </a:r>
            <a:r>
              <a:rPr dirty="0"/>
              <a:t>of</a:t>
            </a:r>
            <a:r>
              <a:rPr dirty="0" spc="225"/>
              <a:t> </a:t>
            </a:r>
            <a:r>
              <a:rPr dirty="0" spc="110"/>
              <a:t>attributes</a:t>
            </a:r>
            <a:r>
              <a:rPr dirty="0" spc="200"/>
              <a:t> </a:t>
            </a:r>
            <a:r>
              <a:rPr dirty="0" spc="195"/>
              <a:t>such</a:t>
            </a:r>
            <a:r>
              <a:rPr dirty="0" spc="204"/>
              <a:t> </a:t>
            </a:r>
            <a:r>
              <a:rPr dirty="0" spc="170"/>
              <a:t>as</a:t>
            </a:r>
            <a:r>
              <a:rPr dirty="0" spc="215"/>
              <a:t> </a:t>
            </a:r>
            <a:r>
              <a:rPr dirty="0"/>
              <a:t>for</a:t>
            </a:r>
            <a:r>
              <a:rPr dirty="0" spc="215"/>
              <a:t> </a:t>
            </a:r>
            <a:r>
              <a:rPr dirty="0" spc="114"/>
              <a:t>the</a:t>
            </a:r>
            <a:r>
              <a:rPr dirty="0" spc="240"/>
              <a:t> </a:t>
            </a:r>
            <a:r>
              <a:rPr dirty="0" spc="80"/>
              <a:t>given</a:t>
            </a:r>
            <a:r>
              <a:rPr dirty="0" spc="190"/>
              <a:t> </a:t>
            </a:r>
            <a:r>
              <a:rPr dirty="0" spc="90"/>
              <a:t>relation</a:t>
            </a:r>
            <a:r>
              <a:rPr dirty="0" spc="215"/>
              <a:t> </a:t>
            </a:r>
            <a:r>
              <a:rPr dirty="0" spc="90"/>
              <a:t>there</a:t>
            </a:r>
            <a:r>
              <a:rPr dirty="0" spc="200"/>
              <a:t> </a:t>
            </a:r>
            <a:r>
              <a:rPr dirty="0" spc="100"/>
              <a:t>are</a:t>
            </a:r>
            <a:r>
              <a:rPr dirty="0" spc="204"/>
              <a:t> </a:t>
            </a:r>
            <a:r>
              <a:rPr dirty="0" spc="100"/>
              <a:t>no </a:t>
            </a:r>
            <a:r>
              <a:rPr dirty="0" spc="125"/>
              <a:t>tuples</a:t>
            </a:r>
            <a:r>
              <a:rPr dirty="0" spc="185"/>
              <a:t> </a:t>
            </a:r>
            <a:r>
              <a:rPr dirty="0" spc="85"/>
              <a:t>with</a:t>
            </a:r>
            <a:r>
              <a:rPr dirty="0" spc="245"/>
              <a:t> </a:t>
            </a:r>
            <a:r>
              <a:rPr dirty="0" spc="114"/>
              <a:t>the</a:t>
            </a:r>
            <a:r>
              <a:rPr dirty="0" spc="210"/>
              <a:t> </a:t>
            </a:r>
            <a:r>
              <a:rPr dirty="0" spc="150"/>
              <a:t>same</a:t>
            </a:r>
            <a:r>
              <a:rPr dirty="0" spc="200"/>
              <a:t> </a:t>
            </a:r>
            <a:r>
              <a:rPr dirty="0" spc="120"/>
              <a:t>values</a:t>
            </a:r>
            <a:r>
              <a:rPr dirty="0" spc="185"/>
              <a:t> </a:t>
            </a:r>
            <a:r>
              <a:rPr dirty="0"/>
              <a:t>of</a:t>
            </a:r>
            <a:r>
              <a:rPr dirty="0" spc="229"/>
              <a:t> </a:t>
            </a:r>
            <a:r>
              <a:rPr dirty="0" spc="145"/>
              <a:t>them.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240405"/>
            <a:ext cx="9810750" cy="145288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85">
                <a:latin typeface="Cambria"/>
                <a:cs typeface="Cambria"/>
              </a:rPr>
              <a:t>Alternatively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simple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projection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cardinality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original </a:t>
            </a:r>
            <a:r>
              <a:rPr dirty="0" sz="2000" spc="95">
                <a:latin typeface="Cambria"/>
                <a:cs typeface="Cambria"/>
              </a:rPr>
              <a:t>relation.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relations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always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form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superkey.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4899" y="933450"/>
            <a:ext cx="7242505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2491" y="1797812"/>
            <a:ext cx="9716135" cy="469074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69850">
              <a:lnSpc>
                <a:spcPts val="2160"/>
              </a:lnSpc>
              <a:spcBef>
                <a:spcPts val="375"/>
              </a:spcBef>
            </a:pPr>
            <a:r>
              <a:rPr dirty="0" sz="2000" spc="125" b="1">
                <a:latin typeface="Cambria"/>
                <a:cs typeface="Cambria"/>
              </a:rPr>
              <a:t>Candidate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superkey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no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proper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subset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also </a:t>
            </a:r>
            <a:r>
              <a:rPr dirty="0" sz="2000" spc="90">
                <a:latin typeface="Cambria"/>
                <a:cs typeface="Cambria"/>
              </a:rPr>
              <a:t>form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superkey.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I.e.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minimal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superkey.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multiple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candidate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keys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95" b="1">
                <a:latin typeface="Cambria"/>
                <a:cs typeface="Cambria"/>
              </a:rPr>
              <a:t>Prime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attribute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an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that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part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candidate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0"/>
              </a:spcBef>
            </a:pPr>
            <a:endParaRPr sz="2000">
              <a:latin typeface="Cambria"/>
              <a:cs typeface="Cambria"/>
            </a:endParaRPr>
          </a:p>
          <a:p>
            <a:pPr marL="12700" marR="764540">
              <a:lnSpc>
                <a:spcPts val="2160"/>
              </a:lnSpc>
            </a:pPr>
            <a:r>
              <a:rPr dirty="0" sz="2000" spc="85" b="1">
                <a:latin typeface="Cambria"/>
                <a:cs typeface="Cambria"/>
              </a:rPr>
              <a:t>Primary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keys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chosen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main </a:t>
            </a:r>
            <a:r>
              <a:rPr dirty="0" sz="2000" spc="75">
                <a:latin typeface="Cambria"/>
                <a:cs typeface="Cambria"/>
              </a:rPr>
              <a:t>identifier.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15"/>
              </a:spcBef>
            </a:pP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  <a:spcBef>
                <a:spcPts val="5"/>
              </a:spcBef>
            </a:pPr>
            <a:r>
              <a:rPr dirty="0" sz="2000" spc="110" b="1">
                <a:latin typeface="Cambria"/>
                <a:cs typeface="Cambria"/>
              </a:rPr>
              <a:t>Foreign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given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set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which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values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are </a:t>
            </a:r>
            <a:r>
              <a:rPr dirty="0" sz="2000" spc="120">
                <a:latin typeface="Cambria"/>
                <a:cs typeface="Cambria"/>
              </a:rPr>
              <a:t>equal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attributes’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values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some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candidate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(usually,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primary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key)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any </a:t>
            </a:r>
            <a:r>
              <a:rPr dirty="0" sz="2000" spc="90">
                <a:latin typeface="Cambria"/>
                <a:cs typeface="Cambria"/>
              </a:rPr>
              <a:t>other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relation,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130"/>
              </a:lnSpc>
            </a:pPr>
            <a:r>
              <a:rPr dirty="0" sz="2000" spc="110">
                <a:latin typeface="Cambria"/>
                <a:cs typeface="Cambria"/>
              </a:rPr>
              <a:t>Representation</a:t>
            </a:r>
            <a:r>
              <a:rPr dirty="0" sz="2000" spc="24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7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reference.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7913992" cy="57556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112391"/>
            <a:ext cx="9234170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35" b="1">
                <a:latin typeface="Cambria"/>
                <a:cs typeface="Cambria"/>
              </a:rPr>
              <a:t>Simple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contains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only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attribute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145" b="1">
                <a:latin typeface="Cambria"/>
                <a:cs typeface="Cambria"/>
              </a:rPr>
              <a:t>Compound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18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key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that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contains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multiple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attributes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>
              <a:latin typeface="Cambria"/>
              <a:cs typeface="Cambria"/>
            </a:endParaRPr>
          </a:p>
          <a:p>
            <a:pPr marL="12700" marR="95885">
              <a:lnSpc>
                <a:spcPts val="2160"/>
              </a:lnSpc>
            </a:pPr>
            <a:r>
              <a:rPr dirty="0" sz="2000" spc="85" b="1">
                <a:latin typeface="Cambria"/>
                <a:cs typeface="Cambria"/>
              </a:rPr>
              <a:t>Natural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(simple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compound)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comes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 </a:t>
            </a:r>
            <a:r>
              <a:rPr dirty="0" sz="2000" spc="140">
                <a:latin typeface="Cambria"/>
                <a:cs typeface="Cambria"/>
              </a:rPr>
              <a:t>domain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attributes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20"/>
              </a:spcBef>
            </a:pPr>
            <a:endParaRPr sz="2000">
              <a:latin typeface="Cambria"/>
              <a:cs typeface="Cambria"/>
            </a:endParaRPr>
          </a:p>
          <a:p>
            <a:pPr marL="12700" marR="368935">
              <a:lnSpc>
                <a:spcPts val="2160"/>
              </a:lnSpc>
            </a:pPr>
            <a:r>
              <a:rPr dirty="0" sz="2000" spc="105" b="1">
                <a:latin typeface="Cambria"/>
                <a:cs typeface="Cambria"/>
              </a:rPr>
              <a:t>Surrogate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–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(usually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simple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one)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artificially </a:t>
            </a:r>
            <a:r>
              <a:rPr dirty="0" sz="2000" spc="105">
                <a:latin typeface="Cambria"/>
                <a:cs typeface="Cambria"/>
              </a:rPr>
              <a:t>generated.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</a:pPr>
            <a:r>
              <a:rPr dirty="0" sz="2000" spc="145">
                <a:latin typeface="Cambria"/>
                <a:cs typeface="Cambria"/>
              </a:rPr>
              <a:t>Usually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used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when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either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natural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natural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30">
                <a:latin typeface="Cambria"/>
                <a:cs typeface="Cambria"/>
              </a:rPr>
              <a:t>too </a:t>
            </a:r>
            <a:r>
              <a:rPr dirty="0" sz="2000" spc="114">
                <a:latin typeface="Cambria"/>
                <a:cs typeface="Cambria"/>
              </a:rPr>
              <a:t>complex.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37082"/>
            <a:ext cx="7159612" cy="57556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436698"/>
            <a:ext cx="5817235" cy="2160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original</a:t>
            </a:r>
            <a:r>
              <a:rPr dirty="0" sz="2000" spc="-4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no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natural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 key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Courier New"/>
                <a:cs typeface="Courier New"/>
              </a:rPr>
              <a:t>MANUFACTURER:</a:t>
            </a:r>
            <a:endParaRPr sz="2000">
              <a:latin typeface="Courier New"/>
              <a:cs typeface="Courier New"/>
            </a:endParaRPr>
          </a:p>
          <a:p>
            <a:pPr marL="317500" marR="1986280">
              <a:lnSpc>
                <a:spcPct val="100000"/>
              </a:lnSpc>
              <a:tabLst>
                <a:tab pos="1689100" algn="l"/>
                <a:tab pos="1993900" algn="l"/>
              </a:tabLst>
            </a:pPr>
            <a:r>
              <a:rPr dirty="0" sz="2000" spc="-10">
                <a:latin typeface="Courier New"/>
                <a:cs typeface="Courier New"/>
              </a:rPr>
              <a:t>RECIPE_ID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 </a:t>
            </a:r>
            <a:r>
              <a:rPr dirty="0" sz="2000" spc="-10">
                <a:latin typeface="Courier New"/>
                <a:cs typeface="Courier New"/>
              </a:rPr>
              <a:t>COMPANY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4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complex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natural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key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latin typeface="Courier New"/>
                <a:cs typeface="Courier New"/>
              </a:rPr>
              <a:t>CATEGORY: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53641" y="4571238"/>
            <a:ext cx="78740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CLASS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825242" y="4571238"/>
            <a:ext cx="139700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(CK)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(CK)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53641" y="5180533"/>
            <a:ext cx="32258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ourier New"/>
                <a:cs typeface="Courier New"/>
              </a:rPr>
              <a:t>ENTRY_ID</a:t>
            </a:r>
            <a:r>
              <a:rPr dirty="0" sz="2000" spc="-4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6199746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112391"/>
            <a:ext cx="9731375" cy="356235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120" b="1">
                <a:latin typeface="Cambria"/>
                <a:cs typeface="Cambria"/>
              </a:rPr>
              <a:t>Intuitive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criterion: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domain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constraint/rule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represented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 </a:t>
            </a:r>
            <a:r>
              <a:rPr dirty="0" sz="2000" spc="114">
                <a:latin typeface="Cambria"/>
                <a:cs typeface="Cambria"/>
              </a:rPr>
              <a:t>separate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relation/table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(or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0">
                <a:solidFill>
                  <a:srgbClr val="7E7E7E"/>
                </a:solidFill>
                <a:latin typeface="Cambria"/>
                <a:cs typeface="Cambria"/>
              </a:rPr>
              <a:t>any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other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schema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element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5">
                <a:solidFill>
                  <a:srgbClr val="7E7E7E"/>
                </a:solidFill>
                <a:latin typeface="Cambria"/>
                <a:cs typeface="Cambria"/>
              </a:rPr>
              <a:t>case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of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non-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relational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DB)</a:t>
            </a:r>
            <a:r>
              <a:rPr dirty="0" sz="2000" spc="12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000" spc="125" b="1">
                <a:latin typeface="Cambria"/>
                <a:cs typeface="Cambria"/>
              </a:rPr>
              <a:t>Examples: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5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60" i="1">
                <a:latin typeface="Cambria"/>
                <a:cs typeface="Cambria"/>
              </a:rPr>
              <a:t>Each</a:t>
            </a:r>
            <a:r>
              <a:rPr dirty="0" sz="2000" spc="180" i="1">
                <a:latin typeface="Cambria"/>
                <a:cs typeface="Cambria"/>
              </a:rPr>
              <a:t> </a:t>
            </a:r>
            <a:r>
              <a:rPr dirty="0" sz="2000" spc="85" i="1">
                <a:latin typeface="Cambria"/>
                <a:cs typeface="Cambria"/>
              </a:rPr>
              <a:t>recipe</a:t>
            </a:r>
            <a:r>
              <a:rPr dirty="0" sz="2000" spc="170" i="1">
                <a:latin typeface="Cambria"/>
                <a:cs typeface="Cambria"/>
              </a:rPr>
              <a:t> </a:t>
            </a:r>
            <a:r>
              <a:rPr dirty="0" sz="2000" spc="150" i="1">
                <a:latin typeface="Cambria"/>
                <a:cs typeface="Cambria"/>
              </a:rPr>
              <a:t>is</a:t>
            </a:r>
            <a:r>
              <a:rPr dirty="0" sz="2000" spc="180" i="1">
                <a:latin typeface="Cambria"/>
                <a:cs typeface="Cambria"/>
              </a:rPr>
              <a:t> </a:t>
            </a:r>
            <a:r>
              <a:rPr dirty="0" sz="2000" spc="165" i="1">
                <a:latin typeface="Cambria"/>
                <a:cs typeface="Cambria"/>
              </a:rPr>
              <a:t>owned</a:t>
            </a:r>
            <a:r>
              <a:rPr dirty="0" sz="2000" spc="204" i="1">
                <a:latin typeface="Cambria"/>
                <a:cs typeface="Cambria"/>
              </a:rPr>
              <a:t> </a:t>
            </a:r>
            <a:r>
              <a:rPr dirty="0" sz="2000" spc="210" i="1">
                <a:latin typeface="Cambria"/>
                <a:cs typeface="Cambria"/>
              </a:rPr>
              <a:t>by</a:t>
            </a:r>
            <a:r>
              <a:rPr dirty="0" sz="2000" spc="160" i="1">
                <a:latin typeface="Cambria"/>
                <a:cs typeface="Cambria"/>
              </a:rPr>
              <a:t> </a:t>
            </a:r>
            <a:r>
              <a:rPr dirty="0" sz="2000" spc="80" i="1">
                <a:latin typeface="Cambria"/>
                <a:cs typeface="Cambria"/>
              </a:rPr>
              <a:t>the</a:t>
            </a:r>
            <a:r>
              <a:rPr dirty="0" sz="2000" spc="220" i="1">
                <a:latin typeface="Cambria"/>
                <a:cs typeface="Cambria"/>
              </a:rPr>
              <a:t> </a:t>
            </a:r>
            <a:r>
              <a:rPr dirty="0" sz="2000" spc="65" i="1">
                <a:latin typeface="Cambria"/>
                <a:cs typeface="Cambria"/>
              </a:rPr>
              <a:t>particular</a:t>
            </a:r>
            <a:r>
              <a:rPr dirty="0" sz="2000" spc="229" i="1">
                <a:latin typeface="Cambria"/>
                <a:cs typeface="Cambria"/>
              </a:rPr>
              <a:t> </a:t>
            </a:r>
            <a:r>
              <a:rPr dirty="0" sz="2000" spc="130" i="1">
                <a:latin typeface="Cambria"/>
                <a:cs typeface="Cambria"/>
              </a:rPr>
              <a:t>company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ts val="2275"/>
              </a:lnSpc>
              <a:spcBef>
                <a:spcPts val="969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05" i="1">
                <a:latin typeface="Cambria"/>
                <a:cs typeface="Cambria"/>
              </a:rPr>
              <a:t>There</a:t>
            </a:r>
            <a:r>
              <a:rPr dirty="0" sz="2000" spc="125" i="1">
                <a:latin typeface="Cambria"/>
                <a:cs typeface="Cambria"/>
              </a:rPr>
              <a:t> </a:t>
            </a:r>
            <a:r>
              <a:rPr dirty="0" sz="2000" spc="100" i="1">
                <a:latin typeface="Cambria"/>
                <a:cs typeface="Cambria"/>
              </a:rPr>
              <a:t>are</a:t>
            </a:r>
            <a:r>
              <a:rPr dirty="0" sz="2000" spc="185" i="1">
                <a:latin typeface="Cambria"/>
                <a:cs typeface="Cambria"/>
              </a:rPr>
              <a:t> </a:t>
            </a:r>
            <a:r>
              <a:rPr dirty="0" sz="2000" spc="75" i="1">
                <a:latin typeface="Cambria"/>
                <a:cs typeface="Cambria"/>
              </a:rPr>
              <a:t>multiple</a:t>
            </a:r>
            <a:r>
              <a:rPr dirty="0" sz="2000" spc="220" i="1">
                <a:latin typeface="Cambria"/>
                <a:cs typeface="Cambria"/>
              </a:rPr>
              <a:t> </a:t>
            </a:r>
            <a:r>
              <a:rPr dirty="0" sz="2000" spc="100" i="1">
                <a:latin typeface="Cambria"/>
                <a:cs typeface="Cambria"/>
              </a:rPr>
              <a:t>materials</a:t>
            </a:r>
            <a:r>
              <a:rPr dirty="0" sz="2000" spc="220" i="1">
                <a:latin typeface="Cambria"/>
                <a:cs typeface="Cambria"/>
              </a:rPr>
              <a:t> </a:t>
            </a:r>
            <a:r>
              <a:rPr dirty="0" sz="2000" spc="120" i="1">
                <a:latin typeface="Cambria"/>
                <a:cs typeface="Cambria"/>
              </a:rPr>
              <a:t>(possibly</a:t>
            </a:r>
            <a:r>
              <a:rPr dirty="0" sz="2000" spc="175" i="1">
                <a:latin typeface="Cambria"/>
                <a:cs typeface="Cambria"/>
              </a:rPr>
              <a:t> </a:t>
            </a:r>
            <a:r>
              <a:rPr dirty="0" sz="2000" i="1">
                <a:latin typeface="Cambria"/>
                <a:cs typeface="Cambria"/>
              </a:rPr>
              <a:t>0)</a:t>
            </a:r>
            <a:r>
              <a:rPr dirty="0" sz="2000" spc="185" i="1">
                <a:latin typeface="Cambria"/>
                <a:cs typeface="Cambria"/>
              </a:rPr>
              <a:t> </a:t>
            </a:r>
            <a:r>
              <a:rPr dirty="0" sz="2000" spc="204" b="1" i="1">
                <a:latin typeface="Cambria"/>
                <a:cs typeface="Cambria"/>
              </a:rPr>
              <a:t>and</a:t>
            </a:r>
            <a:r>
              <a:rPr dirty="0" sz="2000" spc="160" b="1" i="1">
                <a:latin typeface="Cambria"/>
                <a:cs typeface="Cambria"/>
              </a:rPr>
              <a:t> </a:t>
            </a:r>
            <a:r>
              <a:rPr dirty="0" sz="2000" spc="75" i="1">
                <a:latin typeface="Cambria"/>
                <a:cs typeface="Cambria"/>
              </a:rPr>
              <a:t>multiple</a:t>
            </a:r>
            <a:r>
              <a:rPr dirty="0" sz="2000" spc="215" i="1">
                <a:latin typeface="Cambria"/>
                <a:cs typeface="Cambria"/>
              </a:rPr>
              <a:t> </a:t>
            </a:r>
            <a:r>
              <a:rPr dirty="0" sz="2000" spc="110" i="1">
                <a:latin typeface="Cambria"/>
                <a:cs typeface="Cambria"/>
              </a:rPr>
              <a:t>products</a:t>
            </a:r>
            <a:r>
              <a:rPr dirty="0" sz="2000" spc="175" i="1">
                <a:latin typeface="Cambria"/>
                <a:cs typeface="Cambria"/>
              </a:rPr>
              <a:t> </a:t>
            </a:r>
            <a:r>
              <a:rPr dirty="0" sz="2000" spc="55" i="1">
                <a:latin typeface="Cambria"/>
                <a:cs typeface="Cambria"/>
              </a:rPr>
              <a:t>for</a:t>
            </a:r>
            <a:r>
              <a:rPr dirty="0" sz="2000" spc="130" i="1">
                <a:latin typeface="Cambria"/>
                <a:cs typeface="Cambria"/>
              </a:rPr>
              <a:t> </a:t>
            </a:r>
            <a:r>
              <a:rPr dirty="0" sz="2000" spc="140" i="1">
                <a:latin typeface="Cambria"/>
                <a:cs typeface="Cambria"/>
              </a:rPr>
              <a:t>each</a:t>
            </a:r>
            <a:r>
              <a:rPr dirty="0" sz="2000" spc="180" i="1">
                <a:latin typeface="Cambria"/>
                <a:cs typeface="Cambria"/>
              </a:rPr>
              <a:t> </a:t>
            </a:r>
            <a:r>
              <a:rPr dirty="0" sz="2000" spc="75" i="1">
                <a:latin typeface="Cambria"/>
                <a:cs typeface="Cambria"/>
              </a:rPr>
              <a:t>recipe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75"/>
              </a:lnSpc>
            </a:pPr>
            <a:r>
              <a:rPr dirty="0" sz="2000" i="1">
                <a:solidFill>
                  <a:srgbClr val="7E7E7E"/>
                </a:solidFill>
                <a:latin typeface="Cambria"/>
                <a:cs typeface="Cambria"/>
              </a:rPr>
              <a:t>(2</a:t>
            </a:r>
            <a:r>
              <a:rPr dirty="0" sz="2000" spc="145" i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 i="1">
                <a:solidFill>
                  <a:srgbClr val="7E7E7E"/>
                </a:solidFill>
                <a:latin typeface="Cambria"/>
                <a:cs typeface="Cambria"/>
              </a:rPr>
              <a:t>rules)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60"/>
              </a:spcBef>
            </a:pPr>
            <a:endParaRPr sz="2000">
              <a:latin typeface="Cambria"/>
              <a:cs typeface="Cambria"/>
            </a:endParaRPr>
          </a:p>
          <a:p>
            <a:pPr marL="12700" marR="474345">
              <a:lnSpc>
                <a:spcPts val="2160"/>
              </a:lnSpc>
            </a:pPr>
            <a:r>
              <a:rPr dirty="0" sz="2000" spc="120" b="1">
                <a:latin typeface="Cambria"/>
                <a:cs typeface="Cambria"/>
              </a:rPr>
              <a:t>Formal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criterion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(for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90" b="1">
                <a:latin typeface="Cambria"/>
                <a:cs typeface="Cambria"/>
              </a:rPr>
              <a:t>relational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DB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70" b="1">
                <a:latin typeface="Cambria"/>
                <a:cs typeface="Cambria"/>
              </a:rPr>
              <a:t>only):</a:t>
            </a:r>
            <a:r>
              <a:rPr dirty="0" sz="2000" spc="155" b="1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relation/table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DB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in </a:t>
            </a:r>
            <a:r>
              <a:rPr dirty="0" sz="2000" spc="95">
                <a:latin typeface="Cambria"/>
                <a:cs typeface="Cambria"/>
              </a:rPr>
              <a:t>appropriate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normal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form.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950" y="1007236"/>
            <a:ext cx="288417" cy="30137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3383" y="1048003"/>
            <a:ext cx="172948" cy="437896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4601" y="1028700"/>
            <a:ext cx="5222875" cy="58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10"/>
              <a:t>A</a:t>
            </a:r>
            <a:r>
              <a:rPr dirty="0" spc="220"/>
              <a:t> </a:t>
            </a:r>
            <a:r>
              <a:rPr dirty="0" spc="90"/>
              <a:t>relation</a:t>
            </a:r>
            <a:r>
              <a:rPr dirty="0" spc="204"/>
              <a:t> </a:t>
            </a:r>
            <a:r>
              <a:rPr dirty="0" spc="110"/>
              <a:t>is</a:t>
            </a:r>
            <a:r>
              <a:rPr dirty="0" spc="200"/>
              <a:t> </a:t>
            </a:r>
            <a:r>
              <a:rPr dirty="0" spc="120"/>
              <a:t>in</a:t>
            </a:r>
            <a:r>
              <a:rPr dirty="0" spc="220"/>
              <a:t> </a:t>
            </a:r>
            <a:r>
              <a:rPr dirty="0" spc="114"/>
              <a:t>the</a:t>
            </a:r>
            <a:r>
              <a:rPr dirty="0" spc="210"/>
              <a:t> </a:t>
            </a:r>
            <a:r>
              <a:rPr dirty="0" spc="114" b="1">
                <a:latin typeface="Cambria"/>
                <a:cs typeface="Cambria"/>
              </a:rPr>
              <a:t>1</a:t>
            </a:r>
            <a:r>
              <a:rPr dirty="0" baseline="25641" sz="1950" spc="172" b="1">
                <a:latin typeface="Cambria"/>
                <a:cs typeface="Cambria"/>
              </a:rPr>
              <a:t>st</a:t>
            </a:r>
            <a:r>
              <a:rPr dirty="0" baseline="25641" sz="1950" spc="600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normal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form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/>
              <a:t>(1NF)</a:t>
            </a:r>
            <a:r>
              <a:rPr dirty="0" sz="2000" spc="180"/>
              <a:t> </a:t>
            </a:r>
            <a:r>
              <a:rPr dirty="0" sz="2000" spc="30"/>
              <a:t>iff: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48588" y="2965526"/>
            <a:ext cx="9465945" cy="1886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457200">
              <a:lnSpc>
                <a:spcPts val="2280"/>
              </a:lnSpc>
              <a:spcBef>
                <a:spcPts val="10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values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atomic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(i.e.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single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value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primitive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type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attribute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ts val="2280"/>
              </a:lnSpc>
            </a:pP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tuple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combination)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 startAt="2"/>
              <a:tabLst>
                <a:tab pos="469900" algn="l"/>
              </a:tabLst>
            </a:pPr>
            <a:r>
              <a:rPr dirty="0" sz="2000" spc="110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exists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(i.e.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tuples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unique)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114">
                <a:latin typeface="Cambria"/>
                <a:cs typeface="Cambria"/>
              </a:rPr>
              <a:t>This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alternative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definition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relation,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any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1NF.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3754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5020"/>
              </a:spcBef>
            </a:pPr>
            <a:r>
              <a:rPr dirty="0" sz="8000" spc="894"/>
              <a:t>?</a:t>
            </a:r>
            <a:endParaRPr sz="8000"/>
          </a:p>
          <a:p>
            <a:pPr algn="ctr">
              <a:lnSpc>
                <a:spcPct val="100000"/>
              </a:lnSpc>
              <a:spcBef>
                <a:spcPts val="1240"/>
              </a:spcBef>
            </a:pPr>
            <a:r>
              <a:rPr dirty="0" spc="100"/>
              <a:t>remember</a:t>
            </a:r>
            <a:r>
              <a:rPr dirty="0" spc="150"/>
              <a:t> </a:t>
            </a:r>
            <a:r>
              <a:rPr dirty="0" spc="114"/>
              <a:t>the</a:t>
            </a:r>
            <a:r>
              <a:rPr dirty="0" spc="215"/>
              <a:t> </a:t>
            </a:r>
            <a:r>
              <a:rPr dirty="0" spc="185"/>
              <a:t>calculus…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381" y="1037082"/>
            <a:ext cx="303263" cy="44881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0096" y="1003427"/>
            <a:ext cx="457580" cy="30518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6436" y="1028700"/>
            <a:ext cx="5221351" cy="5839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10488" y="2112391"/>
            <a:ext cx="943610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2000" spc="110">
                <a:latin typeface="Cambria"/>
                <a:cs typeface="Cambria"/>
              </a:rPr>
              <a:t>A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2</a:t>
            </a:r>
            <a:r>
              <a:rPr dirty="0" baseline="25641" sz="1950" spc="150" b="1">
                <a:latin typeface="Cambria"/>
                <a:cs typeface="Cambria"/>
              </a:rPr>
              <a:t>nd</a:t>
            </a:r>
            <a:r>
              <a:rPr dirty="0" baseline="25641" sz="1950" spc="637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normal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form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(2NF)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30">
                <a:latin typeface="Cambria"/>
                <a:cs typeface="Cambria"/>
              </a:rPr>
              <a:t>iff: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508000" indent="-457200">
              <a:lnSpc>
                <a:spcPct val="100000"/>
              </a:lnSpc>
              <a:spcBef>
                <a:spcPts val="5"/>
              </a:spcBef>
              <a:buClr>
                <a:srgbClr val="957D95"/>
              </a:buClr>
              <a:buSzPct val="85000"/>
              <a:buAutoNum type="arabicPeriod"/>
              <a:tabLst>
                <a:tab pos="508000" algn="l"/>
              </a:tabLst>
            </a:pPr>
            <a:r>
              <a:rPr dirty="0" sz="2000" spc="10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1NF</a:t>
            </a:r>
            <a:endParaRPr sz="2000">
              <a:latin typeface="Cambria"/>
              <a:cs typeface="Cambria"/>
            </a:endParaRPr>
          </a:p>
          <a:p>
            <a:pPr marL="508000" marR="17780" indent="-457834">
              <a:lnSpc>
                <a:spcPts val="2160"/>
              </a:lnSpc>
              <a:spcBef>
                <a:spcPts val="1230"/>
              </a:spcBef>
              <a:buClr>
                <a:srgbClr val="957D95"/>
              </a:buClr>
              <a:buSzPct val="85000"/>
              <a:buAutoNum type="arabicPeriod"/>
              <a:tabLst>
                <a:tab pos="508000" algn="l"/>
              </a:tabLst>
            </a:pPr>
            <a:r>
              <a:rPr dirty="0" sz="2000" spc="120">
                <a:latin typeface="Cambria"/>
                <a:cs typeface="Cambria"/>
              </a:rPr>
              <a:t>Any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non-</a:t>
            </a:r>
            <a:r>
              <a:rPr dirty="0" sz="2000" spc="100">
                <a:latin typeface="Cambria"/>
                <a:cs typeface="Cambria"/>
              </a:rPr>
              <a:t>prime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attribute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functional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dependency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whole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key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(for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each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key).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functional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dependencies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proper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subset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key.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381" y="1028700"/>
            <a:ext cx="3715245" cy="46558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58658" y="1972182"/>
            <a:ext cx="4837430" cy="2390775"/>
          </a:xfrm>
          <a:prstGeom prst="rect">
            <a:avLst/>
          </a:prstGeom>
          <a:ln w="9525">
            <a:solidFill>
              <a:srgbClr val="A44D7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350"/>
              </a:lnSpc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non-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2NF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28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CATEGORY: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60"/>
              </a:lnSpc>
              <a:tabLst>
                <a:tab pos="3291840" algn="l"/>
              </a:tabLst>
            </a:pPr>
            <a:r>
              <a:rPr dirty="0" sz="2000" spc="-20">
                <a:latin typeface="Courier New"/>
                <a:cs typeface="Courier New"/>
              </a:rPr>
              <a:t>WARE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80"/>
              </a:lnSpc>
              <a:tabLst>
                <a:tab pos="3291840" algn="l"/>
              </a:tabLst>
            </a:pPr>
            <a:r>
              <a:rPr dirty="0" sz="2000" spc="-10">
                <a:latin typeface="Courier New"/>
                <a:cs typeface="Courier New"/>
              </a:rPr>
              <a:t>CLASS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300"/>
              </a:lnSpc>
              <a:tabLst>
                <a:tab pos="3291840" algn="l"/>
              </a:tabLst>
            </a:pPr>
            <a:r>
              <a:rPr dirty="0" sz="2000" spc="-10">
                <a:latin typeface="Courier New"/>
                <a:cs typeface="Courier New"/>
              </a:rPr>
              <a:t>RECOMMENDED_PRICE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37563" y="4915915"/>
            <a:ext cx="5503545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229">
                <a:latin typeface="Cambria"/>
                <a:cs typeface="Cambria"/>
              </a:rPr>
              <a:t>RECOMMENDED_PRICE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depends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WARE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only,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35">
                <a:latin typeface="Cambria"/>
                <a:cs typeface="Cambria"/>
              </a:rPr>
              <a:t>CLASS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534150" y="1966595"/>
            <a:ext cx="5514975" cy="2395855"/>
          </a:xfrm>
          <a:custGeom>
            <a:avLst/>
            <a:gdLst/>
            <a:ahLst/>
            <a:cxnLst/>
            <a:rect l="l" t="t" r="r" b="b"/>
            <a:pathLst>
              <a:path w="5514975" h="2395854">
                <a:moveTo>
                  <a:pt x="0" y="2395854"/>
                </a:moveTo>
                <a:lnTo>
                  <a:pt x="5514975" y="2395854"/>
                </a:lnTo>
                <a:lnTo>
                  <a:pt x="5514975" y="0"/>
                </a:lnTo>
                <a:lnTo>
                  <a:pt x="0" y="0"/>
                </a:lnTo>
                <a:lnTo>
                  <a:pt x="0" y="2395854"/>
                </a:lnTo>
                <a:close/>
              </a:path>
            </a:pathLst>
          </a:custGeom>
          <a:ln w="9524">
            <a:solidFill>
              <a:srgbClr val="CCC7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827006" y="2647645"/>
            <a:ext cx="184150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(PK,FK)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626352" y="1825599"/>
            <a:ext cx="3365500" cy="240792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2NF</a:t>
            </a:r>
            <a:endParaRPr sz="2000">
              <a:latin typeface="Courier New"/>
              <a:cs typeface="Courier New"/>
            </a:endParaRPr>
          </a:p>
          <a:p>
            <a:pPr marL="304800" marR="1986280" indent="-304800">
              <a:lnSpc>
                <a:spcPts val="2160"/>
              </a:lnSpc>
              <a:spcBef>
                <a:spcPts val="1230"/>
              </a:spcBef>
            </a:pPr>
            <a:r>
              <a:rPr dirty="0" sz="2000" spc="-10" b="1">
                <a:latin typeface="Courier New"/>
                <a:cs typeface="Courier New"/>
              </a:rPr>
              <a:t>CATEGORY: </a:t>
            </a: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CLASS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280"/>
              </a:lnSpc>
              <a:spcBef>
                <a:spcPts val="930"/>
              </a:spcBef>
            </a:pPr>
            <a:r>
              <a:rPr dirty="0" sz="2000" spc="-10" b="1">
                <a:latin typeface="Courier New"/>
                <a:cs typeface="Courier New"/>
              </a:rPr>
              <a:t>WARE: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180"/>
              </a:lnSpc>
            </a:pPr>
            <a:r>
              <a:rPr dirty="0" sz="2000" spc="-2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300"/>
              </a:lnSpc>
            </a:pPr>
            <a:r>
              <a:rPr dirty="0" sz="2000" spc="-10">
                <a:latin typeface="Courier New"/>
                <a:cs typeface="Courier New"/>
              </a:rPr>
              <a:t>RECOMMENDED_PRICE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827006" y="3623564"/>
            <a:ext cx="1384300" cy="610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2300"/>
              </a:lnSpc>
              <a:spcBef>
                <a:spcPts val="10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300"/>
              </a:lnSpc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REAL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699516"/>
            <a:ext cx="6647383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88" y="1366266"/>
            <a:ext cx="3821264" cy="56730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85088" y="2614041"/>
            <a:ext cx="9511665" cy="34410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150" b="1">
                <a:latin typeface="Cambria"/>
                <a:cs typeface="Cambria"/>
              </a:rPr>
              <a:t>R={A</a:t>
            </a:r>
            <a:r>
              <a:rPr dirty="0" baseline="-21367" sz="1950" spc="225" b="1">
                <a:latin typeface="Cambria"/>
                <a:cs typeface="Cambria"/>
              </a:rPr>
              <a:t>1</a:t>
            </a:r>
            <a:r>
              <a:rPr dirty="0" sz="2000" spc="150" b="1">
                <a:latin typeface="Cambria"/>
                <a:cs typeface="Cambria"/>
              </a:rPr>
              <a:t>,…,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170" b="1">
                <a:latin typeface="Cambria"/>
                <a:cs typeface="Cambria"/>
              </a:rPr>
              <a:t>A</a:t>
            </a:r>
            <a:r>
              <a:rPr dirty="0" baseline="-21367" sz="1950" spc="254" b="1">
                <a:latin typeface="Cambria"/>
                <a:cs typeface="Cambria"/>
              </a:rPr>
              <a:t>m</a:t>
            </a:r>
            <a:r>
              <a:rPr dirty="0" sz="2000" spc="170" b="1">
                <a:latin typeface="Cambria"/>
                <a:cs typeface="Cambria"/>
              </a:rPr>
              <a:t>,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135" b="1">
                <a:latin typeface="Cambria"/>
                <a:cs typeface="Cambria"/>
              </a:rPr>
              <a:t>B</a:t>
            </a:r>
            <a:r>
              <a:rPr dirty="0" baseline="-21367" sz="1950" spc="202" b="1">
                <a:latin typeface="Cambria"/>
                <a:cs typeface="Cambria"/>
              </a:rPr>
              <a:t>1</a:t>
            </a:r>
            <a:r>
              <a:rPr dirty="0" sz="2000" spc="135" b="1">
                <a:latin typeface="Cambria"/>
                <a:cs typeface="Cambria"/>
              </a:rPr>
              <a:t>,…B</a:t>
            </a:r>
            <a:r>
              <a:rPr dirty="0" baseline="-21367" sz="1950" spc="202" b="1">
                <a:latin typeface="Cambria"/>
                <a:cs typeface="Cambria"/>
              </a:rPr>
              <a:t>n</a:t>
            </a:r>
            <a:r>
              <a:rPr dirty="0" sz="2000" spc="135" b="1">
                <a:latin typeface="Cambria"/>
                <a:cs typeface="Cambria"/>
              </a:rPr>
              <a:t>}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(m+n)</a:t>
            </a:r>
            <a:r>
              <a:rPr dirty="0" sz="2000">
                <a:latin typeface="Cambria"/>
                <a:cs typeface="Cambria"/>
              </a:rPr>
              <a:t>-</a:t>
            </a:r>
            <a:r>
              <a:rPr dirty="0" sz="2000" spc="95">
                <a:latin typeface="Cambria"/>
                <a:cs typeface="Cambria"/>
              </a:rPr>
              <a:t>ary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>
              <a:latin typeface="Cambria"/>
              <a:cs typeface="Cambria"/>
            </a:endParaRPr>
          </a:p>
          <a:p>
            <a:pPr marL="76200" marR="1824989">
              <a:lnSpc>
                <a:spcPts val="2160"/>
              </a:lnSpc>
              <a:spcBef>
                <a:spcPts val="5"/>
              </a:spcBef>
              <a:tabLst>
                <a:tab pos="4928235" algn="l"/>
              </a:tabLst>
            </a:pP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represented</a:t>
            </a:r>
            <a:r>
              <a:rPr dirty="0" sz="2000" spc="170">
                <a:latin typeface="Cambria"/>
                <a:cs typeface="Cambria"/>
              </a:rPr>
              <a:t> 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5" b="1">
                <a:latin typeface="Cambria"/>
                <a:cs typeface="Cambria"/>
              </a:rPr>
              <a:t>F:</a:t>
            </a:r>
            <a:r>
              <a:rPr dirty="0" sz="2000" b="1">
                <a:latin typeface="Cambria"/>
                <a:cs typeface="Cambria"/>
              </a:rPr>
              <a:t>	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A</a:t>
            </a:r>
            <a:r>
              <a:rPr dirty="0" baseline="-21367" sz="1950" spc="157" b="1">
                <a:latin typeface="Cambria"/>
                <a:cs typeface="Cambria"/>
              </a:rPr>
              <a:t>m</a:t>
            </a:r>
            <a:r>
              <a:rPr dirty="0" sz="2000" spc="105" b="1">
                <a:latin typeface="Cambria"/>
                <a:cs typeface="Cambria"/>
              </a:rPr>
              <a:t>}→{B</a:t>
            </a:r>
            <a:r>
              <a:rPr dirty="0" baseline="-21367" sz="1950" spc="157" b="1">
                <a:latin typeface="Cambria"/>
                <a:cs typeface="Cambria"/>
              </a:rPr>
              <a:t>1</a:t>
            </a:r>
            <a:r>
              <a:rPr dirty="0" sz="2000" spc="105" b="1">
                <a:latin typeface="Cambria"/>
                <a:cs typeface="Cambria"/>
              </a:rPr>
              <a:t>,…B</a:t>
            </a:r>
            <a:r>
              <a:rPr dirty="0" baseline="-21367" sz="1950" spc="157" b="1">
                <a:latin typeface="Cambria"/>
                <a:cs typeface="Cambria"/>
              </a:rPr>
              <a:t>n</a:t>
            </a:r>
            <a:r>
              <a:rPr dirty="0" sz="2000" spc="105" b="1">
                <a:latin typeface="Cambria"/>
                <a:cs typeface="Cambria"/>
              </a:rPr>
              <a:t>}</a:t>
            </a:r>
            <a:r>
              <a:rPr dirty="0" sz="2000" spc="105">
                <a:latin typeface="Cambria"/>
                <a:cs typeface="Cambria"/>
              </a:rPr>
              <a:t>, </a:t>
            </a:r>
            <a:r>
              <a:rPr dirty="0" sz="2000" spc="140">
                <a:latin typeface="Cambria"/>
                <a:cs typeface="Cambria"/>
              </a:rPr>
              <a:t>then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50" b="1">
                <a:latin typeface="Cambria"/>
                <a:cs typeface="Cambria"/>
              </a:rPr>
              <a:t>A</a:t>
            </a:r>
            <a:r>
              <a:rPr dirty="0" baseline="-21367" sz="1950" spc="75" b="1">
                <a:latin typeface="Cambria"/>
                <a:cs typeface="Cambria"/>
              </a:rPr>
              <a:t>m</a:t>
            </a:r>
            <a:r>
              <a:rPr dirty="0" sz="2000" spc="50" b="1">
                <a:latin typeface="Cambria"/>
                <a:cs typeface="Cambria"/>
              </a:rPr>
              <a:t>}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85">
                <a:latin typeface="Cambria"/>
                <a:cs typeface="Cambria"/>
              </a:rPr>
              <a:t> 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u="sng" sz="2000" spc="12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superkey</a:t>
            </a:r>
            <a:r>
              <a:rPr dirty="0" sz="2000" spc="12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39"/>
              </a:spcBef>
            </a:pPr>
            <a:endParaRPr sz="2000">
              <a:latin typeface="Cambria"/>
              <a:cs typeface="Cambria"/>
            </a:endParaRPr>
          </a:p>
          <a:p>
            <a:pPr marL="76200">
              <a:lnSpc>
                <a:spcPts val="2280"/>
              </a:lnSpc>
              <a:spcBef>
                <a:spcPts val="5"/>
              </a:spcBef>
              <a:tabLst>
                <a:tab pos="4469765" algn="l"/>
              </a:tabLst>
            </a:pPr>
            <a:r>
              <a:rPr dirty="0" sz="2000">
                <a:latin typeface="Cambria"/>
                <a:cs typeface="Cambria"/>
              </a:rPr>
              <a:t>If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also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represented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50" b="1">
                <a:latin typeface="Cambria"/>
                <a:cs typeface="Cambria"/>
              </a:rPr>
              <a:t>F’:</a:t>
            </a:r>
            <a:r>
              <a:rPr dirty="0" sz="2000" b="1">
                <a:latin typeface="Cambria"/>
                <a:cs typeface="Cambria"/>
              </a:rPr>
              <a:t>	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10" b="1">
                <a:latin typeface="Cambria"/>
                <a:cs typeface="Cambria"/>
              </a:rPr>
              <a:t>A</a:t>
            </a:r>
            <a:r>
              <a:rPr dirty="0" baseline="-21367" sz="1950" spc="165" b="1">
                <a:latin typeface="Cambria"/>
                <a:cs typeface="Cambria"/>
              </a:rPr>
              <a:t>m-1</a:t>
            </a:r>
            <a:r>
              <a:rPr dirty="0" sz="2000" spc="110" b="1">
                <a:latin typeface="Cambria"/>
                <a:cs typeface="Cambria"/>
              </a:rPr>
              <a:t>}→{A</a:t>
            </a:r>
            <a:r>
              <a:rPr dirty="0" baseline="-21367" sz="1950" spc="165" b="1">
                <a:latin typeface="Cambria"/>
                <a:cs typeface="Cambria"/>
              </a:rPr>
              <a:t>m</a:t>
            </a:r>
            <a:r>
              <a:rPr dirty="0" sz="2000" spc="110" b="1">
                <a:latin typeface="Cambria"/>
                <a:cs typeface="Cambria"/>
              </a:rPr>
              <a:t>,B</a:t>
            </a:r>
            <a:r>
              <a:rPr dirty="0" baseline="-21367" sz="1950" spc="165" b="1">
                <a:latin typeface="Cambria"/>
                <a:cs typeface="Cambria"/>
              </a:rPr>
              <a:t>1</a:t>
            </a:r>
            <a:r>
              <a:rPr dirty="0" sz="2000" spc="110" b="1">
                <a:latin typeface="Cambria"/>
                <a:cs typeface="Cambria"/>
              </a:rPr>
              <a:t>,…B</a:t>
            </a:r>
            <a:r>
              <a:rPr dirty="0" baseline="-21367" sz="1950" spc="165" b="1">
                <a:latin typeface="Cambria"/>
                <a:cs typeface="Cambria"/>
              </a:rPr>
              <a:t>n</a:t>
            </a:r>
            <a:r>
              <a:rPr dirty="0" sz="2000" spc="110" b="1">
                <a:latin typeface="Cambria"/>
                <a:cs typeface="Cambria"/>
              </a:rPr>
              <a:t>}</a:t>
            </a:r>
            <a:r>
              <a:rPr dirty="0" sz="2000" spc="110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76200">
              <a:lnSpc>
                <a:spcPts val="2280"/>
              </a:lnSpc>
            </a:pPr>
            <a:r>
              <a:rPr dirty="0" sz="2000" spc="140">
                <a:latin typeface="Cambria"/>
                <a:cs typeface="Cambria"/>
              </a:rPr>
              <a:t>then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10" b="1">
                <a:latin typeface="Cambria"/>
                <a:cs typeface="Cambria"/>
              </a:rPr>
              <a:t>A</a:t>
            </a:r>
            <a:r>
              <a:rPr dirty="0" baseline="-21367" sz="1950" spc="165" b="1">
                <a:latin typeface="Cambria"/>
                <a:cs typeface="Cambria"/>
              </a:rPr>
              <a:t>m-</a:t>
            </a:r>
            <a:r>
              <a:rPr dirty="0" baseline="-21367" sz="1950" b="1">
                <a:latin typeface="Cambria"/>
                <a:cs typeface="Cambria"/>
              </a:rPr>
              <a:t>1</a:t>
            </a:r>
            <a:r>
              <a:rPr dirty="0" sz="2000" b="1">
                <a:latin typeface="Cambria"/>
                <a:cs typeface="Cambria"/>
              </a:rPr>
              <a:t>}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u="sng" sz="2000" spc="114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superkey</a:t>
            </a:r>
            <a:r>
              <a:rPr dirty="0" sz="2000" spc="165">
                <a:latin typeface="Cambria"/>
                <a:cs typeface="Cambria"/>
              </a:rPr>
              <a:t> and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thus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50" b="1">
                <a:latin typeface="Cambria"/>
                <a:cs typeface="Cambria"/>
              </a:rPr>
              <a:t>A</a:t>
            </a:r>
            <a:r>
              <a:rPr dirty="0" baseline="-21367" sz="1950" spc="75" b="1">
                <a:latin typeface="Cambria"/>
                <a:cs typeface="Cambria"/>
              </a:rPr>
              <a:t>m</a:t>
            </a:r>
            <a:r>
              <a:rPr dirty="0" sz="2000" spc="50" b="1">
                <a:latin typeface="Cambria"/>
                <a:cs typeface="Cambria"/>
              </a:rPr>
              <a:t>}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u="sng" sz="2000" spc="11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not</a:t>
            </a:r>
            <a:r>
              <a:rPr dirty="0" u="sng" sz="2000" spc="204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dirty="0" u="sng" sz="2000" spc="21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candidate</a:t>
            </a:r>
            <a:r>
              <a:rPr dirty="0" u="sng" sz="2000" spc="204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0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key</a:t>
            </a:r>
            <a:r>
              <a:rPr dirty="0" sz="2000" spc="10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dirty="0" sz="2000" spc="110">
                <a:latin typeface="Cambria"/>
                <a:cs typeface="Cambria"/>
              </a:rPr>
              <a:t>Otherwise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 b="1">
                <a:latin typeface="Cambria"/>
                <a:cs typeface="Cambria"/>
              </a:rPr>
              <a:t>{A</a:t>
            </a:r>
            <a:r>
              <a:rPr dirty="0" baseline="-21367" sz="1950" spc="232" b="1">
                <a:latin typeface="Cambria"/>
                <a:cs typeface="Cambria"/>
              </a:rPr>
              <a:t>1</a:t>
            </a:r>
            <a:r>
              <a:rPr dirty="0" sz="2000" spc="155" b="1">
                <a:latin typeface="Cambria"/>
                <a:cs typeface="Cambria"/>
              </a:rPr>
              <a:t>,…,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A</a:t>
            </a:r>
            <a:r>
              <a:rPr dirty="0" baseline="-21367" sz="1950" b="1">
                <a:latin typeface="Cambria"/>
                <a:cs typeface="Cambria"/>
              </a:rPr>
              <a:t>m</a:t>
            </a:r>
            <a:r>
              <a:rPr dirty="0" sz="2000" b="1">
                <a:latin typeface="Cambria"/>
                <a:cs typeface="Cambria"/>
              </a:rPr>
              <a:t>}</a:t>
            </a:r>
            <a:r>
              <a:rPr dirty="0" sz="2000" spc="260" b="1">
                <a:latin typeface="Cambria"/>
                <a:cs typeface="Cambria"/>
              </a:rPr>
              <a:t> </a:t>
            </a:r>
            <a:r>
              <a:rPr dirty="0" u="sng" sz="2000" spc="11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is</a:t>
            </a:r>
            <a:r>
              <a:rPr dirty="0" u="sng" sz="2000" spc="21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dirty="0" u="sng" sz="2000" spc="23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candidate</a:t>
            </a:r>
            <a:r>
              <a:rPr dirty="0" u="sng" sz="2000" spc="19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sng" sz="2000" spc="114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key</a:t>
            </a:r>
            <a:r>
              <a:rPr dirty="0" sz="2000" spc="114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995" y="1037082"/>
            <a:ext cx="4764862" cy="4572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2965526"/>
            <a:ext cx="8560435" cy="607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5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R={A,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C}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A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B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330" b="1">
                <a:latin typeface="Cambria"/>
                <a:cs typeface="Cambria"/>
              </a:rPr>
              <a:t>C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04" b="1">
                <a:latin typeface="Cambria"/>
                <a:cs typeface="Cambria"/>
              </a:rPr>
              <a:t>A→B</a:t>
            </a:r>
            <a:r>
              <a:rPr dirty="0" sz="2000" spc="204">
                <a:latin typeface="Cambria"/>
                <a:cs typeface="Cambria"/>
              </a:rPr>
              <a:t>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then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5"/>
              </a:lnSpc>
            </a:pPr>
            <a:r>
              <a:rPr dirty="0" sz="2000" spc="120" b="1">
                <a:latin typeface="Cambria"/>
                <a:cs typeface="Cambria"/>
              </a:rPr>
              <a:t>R=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65" b="1">
                <a:latin typeface="Cambria"/>
                <a:cs typeface="Cambria"/>
              </a:rPr>
              <a:t>{A,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B}</a:t>
            </a:r>
            <a:r>
              <a:rPr dirty="0" sz="2000" spc="-2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⋈</a:t>
            </a:r>
            <a:r>
              <a:rPr dirty="0" sz="2000" spc="215">
                <a:latin typeface="Cambria Math"/>
                <a:cs typeface="Cambria Math"/>
              </a:rPr>
              <a:t> </a:t>
            </a:r>
            <a:r>
              <a:rPr dirty="0" sz="2000" spc="60" b="1">
                <a:latin typeface="Cambria"/>
                <a:cs typeface="Cambria"/>
              </a:rPr>
              <a:t>{A,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C}</a:t>
            </a:r>
            <a:r>
              <a:rPr dirty="0" sz="2000" spc="130">
                <a:latin typeface="Cambria"/>
                <a:cs typeface="Cambria"/>
              </a:rPr>
              <a:t>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where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60" b="1">
                <a:latin typeface="Cambria"/>
                <a:cs typeface="Cambria"/>
              </a:rPr>
              <a:t>{A,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65" b="1">
                <a:latin typeface="Cambria"/>
                <a:cs typeface="Cambria"/>
              </a:rPr>
              <a:t>B}</a:t>
            </a:r>
            <a:r>
              <a:rPr dirty="0" sz="2000" spc="65">
                <a:latin typeface="Cambria"/>
                <a:cs typeface="Cambria"/>
              </a:rPr>
              <a:t>,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60" b="1">
                <a:latin typeface="Cambria"/>
                <a:cs typeface="Cambria"/>
              </a:rPr>
              <a:t>{A,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C}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projections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90" b="1">
                <a:latin typeface="Cambria"/>
                <a:cs typeface="Cambria"/>
              </a:rPr>
              <a:t>R.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6788810" cy="5756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8588" y="2539111"/>
            <a:ext cx="9665335" cy="880110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95"/>
              <a:t>The</a:t>
            </a:r>
            <a:r>
              <a:rPr dirty="0" spc="229"/>
              <a:t> </a:t>
            </a:r>
            <a:r>
              <a:rPr dirty="0" spc="100" b="1">
                <a:latin typeface="Cambria"/>
                <a:cs typeface="Cambria"/>
              </a:rPr>
              <a:t>lossless</a:t>
            </a:r>
            <a:r>
              <a:rPr dirty="0" spc="220" b="1">
                <a:latin typeface="Cambria"/>
                <a:cs typeface="Cambria"/>
              </a:rPr>
              <a:t> </a:t>
            </a:r>
            <a:r>
              <a:rPr dirty="0" spc="114" b="1">
                <a:latin typeface="Cambria"/>
                <a:cs typeface="Cambria"/>
              </a:rPr>
              <a:t>decomposition</a:t>
            </a:r>
            <a:r>
              <a:rPr dirty="0" spc="204" b="1">
                <a:latin typeface="Cambria"/>
                <a:cs typeface="Cambria"/>
              </a:rPr>
              <a:t> </a:t>
            </a:r>
            <a:r>
              <a:rPr dirty="0"/>
              <a:t>–</a:t>
            </a:r>
            <a:r>
              <a:rPr dirty="0" spc="225"/>
              <a:t> </a:t>
            </a:r>
            <a:r>
              <a:rPr dirty="0" spc="110"/>
              <a:t>replacement</a:t>
            </a:r>
            <a:r>
              <a:rPr dirty="0" spc="190"/>
              <a:t> </a:t>
            </a:r>
            <a:r>
              <a:rPr dirty="0"/>
              <a:t>of</a:t>
            </a:r>
            <a:r>
              <a:rPr dirty="0" spc="225"/>
              <a:t> </a:t>
            </a:r>
            <a:r>
              <a:rPr dirty="0" spc="110"/>
              <a:t>the</a:t>
            </a:r>
            <a:r>
              <a:rPr dirty="0" spc="215"/>
              <a:t> </a:t>
            </a:r>
            <a:r>
              <a:rPr dirty="0" spc="85"/>
              <a:t>original</a:t>
            </a:r>
            <a:r>
              <a:rPr dirty="0" spc="225"/>
              <a:t> </a:t>
            </a:r>
            <a:r>
              <a:rPr dirty="0" spc="90"/>
              <a:t>relation</a:t>
            </a:r>
            <a:r>
              <a:rPr dirty="0" spc="220"/>
              <a:t> </a:t>
            </a: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215" b="1">
                <a:latin typeface="Cambria"/>
                <a:cs typeface="Cambria"/>
              </a:rPr>
              <a:t> </a:t>
            </a:r>
            <a:r>
              <a:rPr dirty="0" spc="85"/>
              <a:t>with</a:t>
            </a:r>
            <a:r>
              <a:rPr dirty="0" spc="240"/>
              <a:t> </a:t>
            </a:r>
            <a:r>
              <a:rPr dirty="0" spc="-25"/>
              <a:t>two </a:t>
            </a:r>
            <a:r>
              <a:rPr dirty="0" spc="55"/>
              <a:t>or</a:t>
            </a:r>
            <a:r>
              <a:rPr dirty="0" spc="210"/>
              <a:t> </a:t>
            </a:r>
            <a:r>
              <a:rPr dirty="0" spc="100"/>
              <a:t>more</a:t>
            </a:r>
            <a:r>
              <a:rPr dirty="0" spc="190"/>
              <a:t> </a:t>
            </a:r>
            <a:r>
              <a:rPr dirty="0" spc="105"/>
              <a:t>projections,</a:t>
            </a:r>
            <a:r>
              <a:rPr dirty="0" spc="175"/>
              <a:t> </a:t>
            </a:r>
            <a:r>
              <a:rPr dirty="0" spc="155"/>
              <a:t>each</a:t>
            </a:r>
            <a:r>
              <a:rPr dirty="0" spc="204"/>
              <a:t> </a:t>
            </a:r>
            <a:r>
              <a:rPr dirty="0" spc="105"/>
              <a:t>one</a:t>
            </a:r>
            <a:r>
              <a:rPr dirty="0" spc="220"/>
              <a:t> </a:t>
            </a:r>
            <a:r>
              <a:rPr dirty="0" spc="85"/>
              <a:t>with</a:t>
            </a:r>
            <a:r>
              <a:rPr dirty="0" spc="225"/>
              <a:t> </a:t>
            </a:r>
            <a:r>
              <a:rPr dirty="0" spc="75"/>
              <a:t>proper</a:t>
            </a:r>
            <a:r>
              <a:rPr dirty="0" spc="170"/>
              <a:t> </a:t>
            </a:r>
            <a:r>
              <a:rPr dirty="0" spc="145"/>
              <a:t>subset</a:t>
            </a:r>
            <a:r>
              <a:rPr dirty="0" spc="190"/>
              <a:t> </a:t>
            </a:r>
            <a:r>
              <a:rPr dirty="0"/>
              <a:t>of</a:t>
            </a:r>
            <a:r>
              <a:rPr dirty="0" spc="215"/>
              <a:t> </a:t>
            </a:r>
            <a:r>
              <a:rPr dirty="0" spc="110"/>
              <a:t>attributes</a:t>
            </a:r>
            <a:r>
              <a:rPr dirty="0" spc="195"/>
              <a:t> </a:t>
            </a:r>
            <a:r>
              <a:rPr dirty="0"/>
              <a:t>of</a:t>
            </a:r>
            <a:r>
              <a:rPr dirty="0" spc="210"/>
              <a:t> </a:t>
            </a:r>
            <a:r>
              <a:rPr dirty="0" spc="229" b="1">
                <a:latin typeface="Cambria"/>
                <a:cs typeface="Cambria"/>
              </a:rPr>
              <a:t>R</a:t>
            </a:r>
            <a:r>
              <a:rPr dirty="0" spc="229"/>
              <a:t>,</a:t>
            </a:r>
            <a:r>
              <a:rPr dirty="0" spc="220"/>
              <a:t> </a:t>
            </a:r>
            <a:r>
              <a:rPr dirty="0" spc="195"/>
              <a:t>such</a:t>
            </a:r>
            <a:r>
              <a:rPr dirty="0" spc="204"/>
              <a:t> </a:t>
            </a:r>
            <a:r>
              <a:rPr dirty="0" spc="155"/>
              <a:t>as </a:t>
            </a:r>
            <a:r>
              <a:rPr dirty="0" spc="114"/>
              <a:t>the</a:t>
            </a:r>
            <a:r>
              <a:rPr dirty="0" spc="235"/>
              <a:t> </a:t>
            </a:r>
            <a:r>
              <a:rPr dirty="0" spc="80"/>
              <a:t>join</a:t>
            </a:r>
            <a:r>
              <a:rPr dirty="0" spc="229"/>
              <a:t> </a:t>
            </a:r>
            <a:r>
              <a:rPr dirty="0"/>
              <a:t>of</a:t>
            </a:r>
            <a:r>
              <a:rPr dirty="0" spc="229"/>
              <a:t> </a:t>
            </a:r>
            <a:r>
              <a:rPr dirty="0" spc="100"/>
              <a:t>all</a:t>
            </a:r>
            <a:r>
              <a:rPr dirty="0" spc="225"/>
              <a:t> </a:t>
            </a:r>
            <a:r>
              <a:rPr dirty="0" spc="110"/>
              <a:t>the</a:t>
            </a:r>
            <a:r>
              <a:rPr dirty="0" spc="220"/>
              <a:t> </a:t>
            </a:r>
            <a:r>
              <a:rPr dirty="0" spc="95"/>
              <a:t>projections</a:t>
            </a:r>
            <a:r>
              <a:rPr dirty="0" spc="190"/>
              <a:t> </a:t>
            </a:r>
            <a:r>
              <a:rPr dirty="0" spc="75"/>
              <a:t>gives</a:t>
            </a:r>
            <a:r>
              <a:rPr dirty="0" spc="190"/>
              <a:t> </a:t>
            </a:r>
            <a:r>
              <a:rPr dirty="0" spc="105"/>
              <a:t>exactly</a:t>
            </a:r>
            <a:r>
              <a:rPr dirty="0" spc="200"/>
              <a:t> </a:t>
            </a:r>
            <a:r>
              <a:rPr dirty="0" spc="195" b="1">
                <a:latin typeface="Cambria"/>
                <a:cs typeface="Cambria"/>
              </a:rPr>
              <a:t>R</a:t>
            </a:r>
            <a:r>
              <a:rPr dirty="0" spc="195"/>
              <a:t>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48588" y="3941445"/>
            <a:ext cx="9863455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dirty="0" sz="2000" spc="160">
                <a:latin typeface="Cambria"/>
                <a:cs typeface="Cambria"/>
              </a:rPr>
              <a:t>By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join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here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mean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equijoin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proper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projection/rename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160"/>
              </a:lnSpc>
            </a:pPr>
            <a:r>
              <a:rPr dirty="0" sz="2000" spc="140">
                <a:latin typeface="Cambria"/>
                <a:cs typeface="Cambria"/>
              </a:rPr>
              <a:t>that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removes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duplicates.</a:t>
            </a:r>
            <a:endParaRPr sz="2000">
              <a:latin typeface="Cambria"/>
              <a:cs typeface="Cambria"/>
            </a:endParaRP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dirty="0" sz="2000" spc="55">
                <a:solidFill>
                  <a:srgbClr val="7E7E7E"/>
                </a:solidFill>
                <a:latin typeface="Cambria"/>
                <a:cs typeface="Cambria"/>
              </a:rPr>
              <a:t>It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very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close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0">
                <a:solidFill>
                  <a:srgbClr val="7E7E7E"/>
                </a:solidFill>
                <a:latin typeface="Cambria"/>
                <a:cs typeface="Cambria"/>
              </a:rPr>
              <a:t>natural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join,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55">
                <a:solidFill>
                  <a:srgbClr val="7E7E7E"/>
                </a:solidFill>
                <a:latin typeface="Cambria"/>
                <a:cs typeface="Cambria"/>
              </a:rPr>
              <a:t>but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allows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name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attributes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arbitrary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and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30">
                <a:solidFill>
                  <a:srgbClr val="7E7E7E"/>
                </a:solidFill>
                <a:latin typeface="Cambria"/>
                <a:cs typeface="Cambria"/>
              </a:rPr>
              <a:t>tune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join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attributes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70">
                <a:solidFill>
                  <a:srgbClr val="7E7E7E"/>
                </a:solidFill>
                <a:latin typeface="Cambria"/>
                <a:cs typeface="Cambria"/>
              </a:rPr>
              <a:t>as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needed.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79449" y="1003427"/>
            <a:ext cx="694055" cy="494030"/>
            <a:chOff x="1179449" y="1003427"/>
            <a:chExt cx="694055" cy="4940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449" y="1037082"/>
              <a:ext cx="302132" cy="459866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7396" y="1003427"/>
              <a:ext cx="355980" cy="305181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2136" y="1028700"/>
            <a:ext cx="5221351" cy="5839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3188" y="2965526"/>
            <a:ext cx="567753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110"/>
              <a:t>A</a:t>
            </a:r>
            <a:r>
              <a:rPr dirty="0" spc="210"/>
              <a:t> </a:t>
            </a:r>
            <a:r>
              <a:rPr dirty="0" spc="90"/>
              <a:t>relation</a:t>
            </a:r>
            <a:r>
              <a:rPr dirty="0" spc="195"/>
              <a:t> </a:t>
            </a:r>
            <a:r>
              <a:rPr dirty="0" spc="110"/>
              <a:t>is</a:t>
            </a:r>
            <a:r>
              <a:rPr dirty="0" spc="200"/>
              <a:t> </a:t>
            </a:r>
            <a:r>
              <a:rPr dirty="0" spc="120"/>
              <a:t>in</a:t>
            </a:r>
            <a:r>
              <a:rPr dirty="0" spc="215"/>
              <a:t> </a:t>
            </a:r>
            <a:r>
              <a:rPr dirty="0" spc="114"/>
              <a:t>the</a:t>
            </a:r>
            <a:r>
              <a:rPr dirty="0" spc="215"/>
              <a:t> </a:t>
            </a:r>
            <a:r>
              <a:rPr dirty="0" spc="65" b="1">
                <a:latin typeface="Cambria"/>
                <a:cs typeface="Cambria"/>
              </a:rPr>
              <a:t>3</a:t>
            </a:r>
            <a:r>
              <a:rPr dirty="0" baseline="25641" sz="1950" spc="97" b="1">
                <a:latin typeface="Cambria"/>
                <a:cs typeface="Cambria"/>
              </a:rPr>
              <a:t>rd</a:t>
            </a:r>
            <a:r>
              <a:rPr dirty="0" baseline="25641" sz="1950" spc="61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normal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form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/>
              <a:t>(3NF)</a:t>
            </a:r>
            <a:r>
              <a:rPr dirty="0" sz="2000" spc="195"/>
              <a:t> </a:t>
            </a:r>
            <a:r>
              <a:rPr dirty="0" sz="2000" spc="35"/>
              <a:t>iff: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48588" y="3698664"/>
            <a:ext cx="9511665" cy="115316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2NF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ts val="2280"/>
              </a:lnSpc>
              <a:spcBef>
                <a:spcPts val="96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05">
                <a:latin typeface="Cambria"/>
                <a:cs typeface="Cambria"/>
              </a:rPr>
              <a:t>For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non-</a:t>
            </a:r>
            <a:r>
              <a:rPr dirty="0" sz="2000" spc="100">
                <a:latin typeface="Cambria"/>
                <a:cs typeface="Cambria"/>
              </a:rPr>
              <a:t>prime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no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transitive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dependencies</a:t>
            </a:r>
            <a:endParaRPr sz="2000">
              <a:latin typeface="Cambria"/>
              <a:cs typeface="Cambria"/>
            </a:endParaRPr>
          </a:p>
          <a:p>
            <a:pPr marL="469900">
              <a:lnSpc>
                <a:spcPts val="2280"/>
              </a:lnSpc>
            </a:pP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any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9449" y="1028700"/>
            <a:ext cx="3710178" cy="46824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58658" y="1972182"/>
            <a:ext cx="4837430" cy="2390775"/>
          </a:xfrm>
          <a:prstGeom prst="rect">
            <a:avLst/>
          </a:prstGeom>
          <a:ln w="9525">
            <a:solidFill>
              <a:srgbClr val="A44D7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350"/>
              </a:lnSpc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non-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3NF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28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MANUFACTURER: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60"/>
              </a:lnSpc>
              <a:tabLst>
                <a:tab pos="2377440" algn="l"/>
              </a:tabLst>
            </a:pPr>
            <a:r>
              <a:rPr dirty="0" sz="2000" spc="-10">
                <a:latin typeface="Courier New"/>
                <a:cs typeface="Courier New"/>
              </a:rPr>
              <a:t>RCEIPE_ID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80"/>
              </a:lnSpc>
              <a:tabLst>
                <a:tab pos="2377440" algn="l"/>
              </a:tabLst>
            </a:pPr>
            <a:r>
              <a:rPr dirty="0" sz="2000" spc="-10">
                <a:latin typeface="Courier New"/>
                <a:cs typeface="Courier New"/>
              </a:rPr>
              <a:t>COMPANY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300"/>
              </a:lnSpc>
              <a:tabLst>
                <a:tab pos="2377440" algn="l"/>
              </a:tabLst>
            </a:pPr>
            <a:r>
              <a:rPr dirty="0" sz="2000" spc="-10">
                <a:latin typeface="Courier New"/>
                <a:cs typeface="Courier New"/>
              </a:rPr>
              <a:t>ADDRESS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37563" y="4915915"/>
            <a:ext cx="869886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0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ADDRESS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COMPANY,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but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RECIPE_ID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directly.</a:t>
            </a:r>
            <a:endParaRPr sz="2000">
              <a:latin typeface="Cambria"/>
              <a:cs typeface="Cambria"/>
            </a:endParaRPr>
          </a:p>
          <a:p>
            <a:pPr marL="12700" marR="247650">
              <a:lnSpc>
                <a:spcPts val="2160"/>
              </a:lnSpc>
              <a:spcBef>
                <a:spcPts val="1235"/>
              </a:spcBef>
            </a:pPr>
            <a:r>
              <a:rPr dirty="0" sz="2000" spc="100">
                <a:latin typeface="Cambria"/>
                <a:cs typeface="Cambria"/>
              </a:rPr>
              <a:t>For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rows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company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address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will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also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 </a:t>
            </a:r>
            <a:r>
              <a:rPr dirty="0" sz="2000" spc="170">
                <a:latin typeface="Cambria"/>
                <a:cs typeface="Cambria"/>
              </a:rPr>
              <a:t>same,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redundant.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702425" y="1966595"/>
            <a:ext cx="4837430" cy="2797810"/>
          </a:xfrm>
          <a:custGeom>
            <a:avLst/>
            <a:gdLst/>
            <a:ahLst/>
            <a:cxnLst/>
            <a:rect l="l" t="t" r="r" b="b"/>
            <a:pathLst>
              <a:path w="4837430" h="2797810">
                <a:moveTo>
                  <a:pt x="0" y="2797429"/>
                </a:moveTo>
                <a:lnTo>
                  <a:pt x="4837303" y="2797429"/>
                </a:lnTo>
                <a:lnTo>
                  <a:pt x="4837303" y="0"/>
                </a:lnTo>
                <a:lnTo>
                  <a:pt x="0" y="0"/>
                </a:lnTo>
                <a:lnTo>
                  <a:pt x="0" y="2797429"/>
                </a:lnTo>
                <a:close/>
              </a:path>
            </a:pathLst>
          </a:custGeom>
          <a:ln w="9525">
            <a:solidFill>
              <a:srgbClr val="CCC7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794627" y="1825599"/>
            <a:ext cx="3365500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3NF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MANUFACTURER: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099427" y="2647645"/>
            <a:ext cx="3823335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  <a:tabLst>
                <a:tab pos="1981200" algn="l"/>
              </a:tabLst>
            </a:pPr>
            <a:r>
              <a:rPr dirty="0" sz="2000" spc="-10">
                <a:latin typeface="Courier New"/>
                <a:cs typeface="Courier New"/>
              </a:rPr>
              <a:t>RECIPE_ID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4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280"/>
              </a:lnSpc>
              <a:tabLst>
                <a:tab pos="1981200" algn="l"/>
                <a:tab pos="3200400" algn="l"/>
              </a:tabLst>
            </a:pPr>
            <a:r>
              <a:rPr dirty="0" sz="2000" spc="-10">
                <a:latin typeface="Courier New"/>
                <a:cs typeface="Courier New"/>
              </a:rPr>
              <a:t>COMPANY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	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(FK)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300081" y="3897579"/>
            <a:ext cx="6223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794627" y="3623564"/>
            <a:ext cx="1384300" cy="884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04800" marR="5080" indent="-304800">
              <a:lnSpc>
                <a:spcPct val="90800"/>
              </a:lnSpc>
              <a:spcBef>
                <a:spcPts val="325"/>
              </a:spcBef>
            </a:pPr>
            <a:r>
              <a:rPr dirty="0" sz="2000" spc="-10" b="1">
                <a:latin typeface="Courier New"/>
                <a:cs typeface="Courier New"/>
              </a:rPr>
              <a:t>COMPANY: </a:t>
            </a:r>
            <a:r>
              <a:rPr dirty="0" sz="2000" spc="-10">
                <a:latin typeface="Courier New"/>
                <a:cs typeface="Courier New"/>
              </a:rPr>
              <a:t>COMPANY ADDRESS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80881" y="3897579"/>
            <a:ext cx="622300" cy="610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300"/>
              </a:lnSpc>
              <a:spcBef>
                <a:spcPts val="10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300"/>
              </a:lnSpc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287" y="1048003"/>
            <a:ext cx="1803184" cy="55638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1179" y="1286724"/>
            <a:ext cx="151206" cy="756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3219" y="1028700"/>
            <a:ext cx="7565760" cy="5839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8588" y="2965526"/>
            <a:ext cx="9815830" cy="880110"/>
          </a:xfrm>
          <a:prstGeom prst="rect"/>
        </p:spPr>
        <p:txBody>
          <a:bodyPr wrap="square" lIns="0" tIns="43815" rIns="0" bIns="0" rtlCol="0" vert="horz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5"/>
              </a:spcBef>
            </a:pPr>
            <a:r>
              <a:rPr dirty="0" spc="110"/>
              <a:t>A</a:t>
            </a:r>
            <a:r>
              <a:rPr dirty="0" spc="204"/>
              <a:t> </a:t>
            </a:r>
            <a:r>
              <a:rPr dirty="0" spc="90"/>
              <a:t>relation</a:t>
            </a:r>
            <a:r>
              <a:rPr dirty="0" spc="195"/>
              <a:t> </a:t>
            </a:r>
            <a:r>
              <a:rPr dirty="0" spc="235" b="1">
                <a:latin typeface="Cambria"/>
                <a:cs typeface="Cambria"/>
              </a:rPr>
              <a:t>R</a:t>
            </a:r>
            <a:r>
              <a:rPr dirty="0" spc="200" b="1">
                <a:latin typeface="Cambria"/>
                <a:cs typeface="Cambria"/>
              </a:rPr>
              <a:t> </a:t>
            </a:r>
            <a:r>
              <a:rPr dirty="0" spc="110"/>
              <a:t>is</a:t>
            </a:r>
            <a:r>
              <a:rPr dirty="0" spc="200"/>
              <a:t> </a:t>
            </a:r>
            <a:r>
              <a:rPr dirty="0" spc="120"/>
              <a:t>in</a:t>
            </a:r>
            <a:r>
              <a:rPr dirty="0" spc="195"/>
              <a:t> </a:t>
            </a:r>
            <a:r>
              <a:rPr dirty="0" spc="120"/>
              <a:t>the</a:t>
            </a:r>
            <a:r>
              <a:rPr dirty="0" spc="220"/>
              <a:t> </a:t>
            </a:r>
            <a:r>
              <a:rPr dirty="0" spc="120" b="1">
                <a:latin typeface="Cambria"/>
                <a:cs typeface="Cambria"/>
              </a:rPr>
              <a:t>Boyce-</a:t>
            </a:r>
            <a:r>
              <a:rPr dirty="0" spc="140" b="1">
                <a:latin typeface="Cambria"/>
                <a:cs typeface="Cambria"/>
              </a:rPr>
              <a:t>Codd</a:t>
            </a:r>
            <a:r>
              <a:rPr dirty="0" spc="204" b="1">
                <a:latin typeface="Cambria"/>
                <a:cs typeface="Cambria"/>
              </a:rPr>
              <a:t> </a:t>
            </a:r>
            <a:r>
              <a:rPr dirty="0" spc="100" b="1">
                <a:latin typeface="Cambria"/>
                <a:cs typeface="Cambria"/>
              </a:rPr>
              <a:t>normal</a:t>
            </a:r>
            <a:r>
              <a:rPr dirty="0" spc="170" b="1">
                <a:latin typeface="Cambria"/>
                <a:cs typeface="Cambria"/>
              </a:rPr>
              <a:t> </a:t>
            </a:r>
            <a:r>
              <a:rPr dirty="0" spc="100" b="1">
                <a:latin typeface="Cambria"/>
                <a:cs typeface="Cambria"/>
              </a:rPr>
              <a:t>form</a:t>
            </a:r>
            <a:r>
              <a:rPr dirty="0" spc="204" b="1">
                <a:latin typeface="Cambria"/>
                <a:cs typeface="Cambria"/>
              </a:rPr>
              <a:t> </a:t>
            </a:r>
            <a:r>
              <a:rPr dirty="0" spc="155"/>
              <a:t>(BCNF,</a:t>
            </a:r>
            <a:r>
              <a:rPr dirty="0" spc="160"/>
              <a:t> </a:t>
            </a:r>
            <a:r>
              <a:rPr dirty="0" spc="170"/>
              <a:t>3.5NF,</a:t>
            </a:r>
            <a:r>
              <a:rPr dirty="0" spc="165"/>
              <a:t> </a:t>
            </a:r>
            <a:r>
              <a:rPr dirty="0" spc="135"/>
              <a:t>Heath’s</a:t>
            </a:r>
            <a:r>
              <a:rPr dirty="0" spc="180"/>
              <a:t> </a:t>
            </a:r>
            <a:r>
              <a:rPr dirty="0" spc="120"/>
              <a:t>normal </a:t>
            </a:r>
            <a:r>
              <a:rPr dirty="0"/>
              <a:t>form)</a:t>
            </a:r>
            <a:r>
              <a:rPr dirty="0" spc="225"/>
              <a:t> </a:t>
            </a:r>
            <a:r>
              <a:rPr dirty="0"/>
              <a:t>iff</a:t>
            </a:r>
            <a:r>
              <a:rPr dirty="0" spc="260"/>
              <a:t> </a:t>
            </a:r>
            <a:r>
              <a:rPr dirty="0"/>
              <a:t>for</a:t>
            </a:r>
            <a:r>
              <a:rPr dirty="0" spc="229"/>
              <a:t> </a:t>
            </a:r>
            <a:r>
              <a:rPr dirty="0" spc="150"/>
              <a:t>any</a:t>
            </a:r>
            <a:r>
              <a:rPr dirty="0" spc="245"/>
              <a:t> </a:t>
            </a:r>
            <a:r>
              <a:rPr dirty="0" spc="125"/>
              <a:t>functional</a:t>
            </a:r>
            <a:r>
              <a:rPr dirty="0" spc="260"/>
              <a:t> </a:t>
            </a:r>
            <a:r>
              <a:rPr dirty="0" spc="110"/>
              <a:t>dependency</a:t>
            </a:r>
            <a:r>
              <a:rPr dirty="0" spc="200"/>
              <a:t> </a:t>
            </a:r>
            <a:r>
              <a:rPr dirty="0" spc="195" b="1">
                <a:latin typeface="Cambria"/>
                <a:cs typeface="Cambria"/>
              </a:rPr>
              <a:t>A→B</a:t>
            </a:r>
            <a:r>
              <a:rPr dirty="0" spc="245" b="1">
                <a:latin typeface="Cambria"/>
                <a:cs typeface="Cambria"/>
              </a:rPr>
              <a:t> </a:t>
            </a:r>
            <a:r>
              <a:rPr dirty="0" spc="85"/>
              <a:t>between</a:t>
            </a:r>
            <a:r>
              <a:rPr dirty="0" spc="225"/>
              <a:t> </a:t>
            </a:r>
            <a:r>
              <a:rPr dirty="0" spc="125"/>
              <a:t>sets</a:t>
            </a:r>
            <a:r>
              <a:rPr dirty="0" spc="215"/>
              <a:t> </a:t>
            </a:r>
            <a:r>
              <a:rPr dirty="0"/>
              <a:t>of</a:t>
            </a:r>
            <a:r>
              <a:rPr dirty="0" spc="260"/>
              <a:t> </a:t>
            </a:r>
            <a:r>
              <a:rPr dirty="0" spc="110"/>
              <a:t>attributes</a:t>
            </a:r>
            <a:r>
              <a:rPr dirty="0" spc="235"/>
              <a:t> </a:t>
            </a:r>
            <a:r>
              <a:rPr dirty="0" spc="175" b="1">
                <a:latin typeface="Cambria"/>
                <a:cs typeface="Cambria"/>
              </a:rPr>
              <a:t>A,</a:t>
            </a:r>
            <a:r>
              <a:rPr dirty="0" spc="270" b="1">
                <a:latin typeface="Cambria"/>
                <a:cs typeface="Cambria"/>
              </a:rPr>
              <a:t> </a:t>
            </a:r>
            <a:r>
              <a:rPr dirty="0" spc="140" b="1">
                <a:latin typeface="Cambria"/>
                <a:cs typeface="Cambria"/>
              </a:rPr>
              <a:t>B</a:t>
            </a:r>
            <a:r>
              <a:rPr dirty="0" spc="280" b="1">
                <a:latin typeface="Cambria"/>
                <a:cs typeface="Cambria"/>
              </a:rPr>
              <a:t> </a:t>
            </a:r>
            <a:r>
              <a:rPr dirty="0" spc="-50">
                <a:latin typeface="Cambria Math"/>
                <a:cs typeface="Cambria Math"/>
              </a:rPr>
              <a:t>⊆ </a:t>
            </a: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240" b="1">
                <a:latin typeface="Cambria"/>
                <a:cs typeface="Cambria"/>
              </a:rPr>
              <a:t> </a:t>
            </a:r>
            <a:r>
              <a:rPr dirty="0" spc="130"/>
              <a:t>at</a:t>
            </a:r>
            <a:r>
              <a:rPr dirty="0" spc="220"/>
              <a:t> </a:t>
            </a:r>
            <a:r>
              <a:rPr dirty="0" spc="114"/>
              <a:t>least</a:t>
            </a:r>
            <a:r>
              <a:rPr dirty="0" spc="185"/>
              <a:t> </a:t>
            </a:r>
            <a:r>
              <a:rPr dirty="0" spc="105"/>
              <a:t>one</a:t>
            </a:r>
            <a:r>
              <a:rPr dirty="0" spc="210"/>
              <a:t> </a:t>
            </a:r>
            <a:r>
              <a:rPr dirty="0"/>
              <a:t>of</a:t>
            </a:r>
            <a:r>
              <a:rPr dirty="0" spc="220"/>
              <a:t> </a:t>
            </a:r>
            <a:r>
              <a:rPr dirty="0" spc="110"/>
              <a:t>the</a:t>
            </a:r>
            <a:r>
              <a:rPr dirty="0" spc="229"/>
              <a:t> </a:t>
            </a:r>
            <a:r>
              <a:rPr dirty="0" spc="60"/>
              <a:t>following</a:t>
            </a:r>
            <a:r>
              <a:rPr dirty="0" spc="204"/>
              <a:t> </a:t>
            </a:r>
            <a:r>
              <a:rPr dirty="0" spc="110"/>
              <a:t>conditions</a:t>
            </a:r>
            <a:r>
              <a:rPr dirty="0" spc="200"/>
              <a:t> </a:t>
            </a:r>
            <a:r>
              <a:rPr dirty="0" spc="110"/>
              <a:t>is</a:t>
            </a:r>
            <a:r>
              <a:rPr dirty="0" spc="195"/>
              <a:t> </a:t>
            </a:r>
            <a:r>
              <a:rPr dirty="0" spc="100"/>
              <a:t>true: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148588" y="4249134"/>
            <a:ext cx="7402195" cy="877569"/>
          </a:xfrm>
          <a:prstGeom prst="rect">
            <a:avLst/>
          </a:prstGeom>
        </p:spPr>
        <p:txBody>
          <a:bodyPr wrap="square" lIns="0" tIns="133350" rIns="0" bIns="0" rtlCol="0" vert="horz">
            <a:spAutoFit/>
          </a:bodyPr>
          <a:lstStyle/>
          <a:p>
            <a:pPr marL="550545" indent="-537845">
              <a:lnSpc>
                <a:spcPct val="100000"/>
              </a:lnSpc>
              <a:spcBef>
                <a:spcPts val="1050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550545" algn="l"/>
              </a:tabLst>
            </a:pPr>
            <a:r>
              <a:rPr dirty="0" sz="2000" spc="200" b="1">
                <a:latin typeface="Cambria"/>
                <a:cs typeface="Cambria"/>
              </a:rPr>
              <a:t>A→B</a:t>
            </a:r>
            <a:r>
              <a:rPr dirty="0" sz="2000" spc="180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trivial,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⊆</a:t>
            </a:r>
            <a:r>
              <a:rPr dirty="0" sz="2000" spc="204">
                <a:latin typeface="Cambria Math"/>
                <a:cs typeface="Cambria Math"/>
              </a:rPr>
              <a:t> </a:t>
            </a:r>
            <a:r>
              <a:rPr dirty="0" sz="2000" spc="90" b="1"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 marL="550545" indent="-537845">
              <a:lnSpc>
                <a:spcPct val="100000"/>
              </a:lnSpc>
              <a:spcBef>
                <a:spcPts val="955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550545" algn="l"/>
              </a:tabLst>
            </a:pP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superkey</a:t>
            </a:r>
            <a:r>
              <a:rPr dirty="0" sz="2000" spc="105">
                <a:latin typeface="Cambria"/>
                <a:cs typeface="Cambria"/>
              </a:rPr>
              <a:t>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superset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some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37082"/>
            <a:ext cx="4276585" cy="45986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215339" y="2539111"/>
            <a:ext cx="9900285" cy="3135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4945" indent="-182245">
              <a:lnSpc>
                <a:spcPts val="2280"/>
              </a:lnSpc>
              <a:spcBef>
                <a:spcPts val="10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40">
                <a:latin typeface="Cambria"/>
                <a:cs typeface="Cambria"/>
              </a:rPr>
              <a:t>Functional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dependency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 b="1">
                <a:latin typeface="Cambria"/>
                <a:cs typeface="Cambria"/>
              </a:rPr>
              <a:t>superkey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means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from</a:t>
            </a:r>
            <a:endParaRPr sz="2000">
              <a:latin typeface="Cambria"/>
              <a:cs typeface="Cambria"/>
            </a:endParaRPr>
          </a:p>
          <a:p>
            <a:pPr marL="195580">
              <a:lnSpc>
                <a:spcPts val="2280"/>
              </a:lnSpc>
            </a:pPr>
            <a:r>
              <a:rPr dirty="0" sz="2000" spc="125">
                <a:latin typeface="Cambria"/>
                <a:cs typeface="Cambria"/>
              </a:rPr>
              <a:t>some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 b="1">
                <a:latin typeface="Cambria"/>
                <a:cs typeface="Cambria"/>
              </a:rPr>
              <a:t>candidate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key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fact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(by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definition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CK)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45"/>
              </a:spcBef>
            </a:pPr>
            <a:endParaRPr sz="2000">
              <a:latin typeface="Cambria"/>
              <a:cs typeface="Cambria"/>
            </a:endParaRPr>
          </a:p>
          <a:p>
            <a:pPr marL="194310" marR="191135" indent="-182245">
              <a:lnSpc>
                <a:spcPts val="216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candidate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keys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other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(also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by </a:t>
            </a:r>
            <a:r>
              <a:rPr dirty="0" sz="2000" spc="75">
                <a:latin typeface="Cambria"/>
                <a:cs typeface="Cambria"/>
              </a:rPr>
              <a:t>	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5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definition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CK).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20"/>
              </a:spcBef>
              <a:buClr>
                <a:srgbClr val="957D95"/>
              </a:buClr>
              <a:buFont typeface="Wingdings"/>
              <a:buChar char=""/>
            </a:pPr>
            <a:endParaRPr sz="2000">
              <a:latin typeface="Cambria"/>
              <a:cs typeface="Cambria"/>
            </a:endParaRPr>
          </a:p>
          <a:p>
            <a:pPr marL="194310" marR="5080" indent="-182245">
              <a:lnSpc>
                <a:spcPts val="2160"/>
              </a:lnSpc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00">
                <a:latin typeface="Cambria"/>
                <a:cs typeface="Cambria"/>
              </a:rPr>
              <a:t>For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29">
                <a:latin typeface="Cambria"/>
                <a:cs typeface="Cambria"/>
              </a:rPr>
              <a:t>BCNF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no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functional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dependencies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prime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attributes </a:t>
            </a:r>
            <a:r>
              <a:rPr dirty="0" sz="2000" spc="100">
                <a:latin typeface="Cambria"/>
                <a:cs typeface="Cambria"/>
              </a:rPr>
              <a:t>	</a:t>
            </a:r>
            <a:r>
              <a:rPr dirty="0" sz="2000" spc="105">
                <a:solidFill>
                  <a:srgbClr val="7E7E7E"/>
                </a:solidFill>
                <a:latin typeface="Cambria"/>
                <a:cs typeface="Cambria"/>
              </a:rPr>
              <a:t>(unless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they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0">
                <a:solidFill>
                  <a:srgbClr val="7E7E7E"/>
                </a:solidFill>
                <a:latin typeface="Cambria"/>
                <a:cs typeface="Cambria"/>
              </a:rPr>
              <a:t>form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0">
                <a:solidFill>
                  <a:srgbClr val="7E7E7E"/>
                </a:solidFill>
                <a:latin typeface="Cambria"/>
                <a:cs typeface="Cambria"/>
              </a:rPr>
              <a:t>whole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candidate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key/superkey</a:t>
            </a:r>
            <a:r>
              <a:rPr dirty="0" sz="2000" spc="16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–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solidFill>
                  <a:srgbClr val="7E7E7E"/>
                </a:solidFill>
                <a:latin typeface="Cambria"/>
                <a:cs typeface="Cambria"/>
              </a:rPr>
              <a:t>see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previous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7E7E7E"/>
                </a:solidFill>
                <a:latin typeface="Cambria"/>
                <a:cs typeface="Cambria"/>
              </a:rPr>
              <a:t>note)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from </a:t>
            </a:r>
            <a:r>
              <a:rPr dirty="0" sz="2000" spc="65">
                <a:latin typeface="Cambria"/>
                <a:cs typeface="Cambria"/>
              </a:rPr>
              <a:t>	</a:t>
            </a:r>
            <a:r>
              <a:rPr dirty="0" sz="2000" spc="130">
                <a:latin typeface="Cambria"/>
                <a:cs typeface="Cambria"/>
              </a:rPr>
              <a:t>anything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but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superkeys.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situation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covered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by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3NF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300" y="1028700"/>
            <a:ext cx="4166006" cy="46824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258658" y="1972182"/>
            <a:ext cx="4837430" cy="2390775"/>
          </a:xfrm>
          <a:custGeom>
            <a:avLst/>
            <a:gdLst/>
            <a:ahLst/>
            <a:cxnLst/>
            <a:rect l="l" t="t" r="r" b="b"/>
            <a:pathLst>
              <a:path w="4837430" h="2390775">
                <a:moveTo>
                  <a:pt x="0" y="2390267"/>
                </a:moveTo>
                <a:lnTo>
                  <a:pt x="4837303" y="2390267"/>
                </a:lnTo>
                <a:lnTo>
                  <a:pt x="4837303" y="0"/>
                </a:lnTo>
                <a:lnTo>
                  <a:pt x="0" y="0"/>
                </a:lnTo>
                <a:lnTo>
                  <a:pt x="0" y="2390267"/>
                </a:lnTo>
                <a:close/>
              </a:path>
            </a:pathLst>
          </a:custGeom>
          <a:ln w="9524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50263" y="1831060"/>
            <a:ext cx="4128135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non-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BCNF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PRODUCT: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84117" y="2653106"/>
            <a:ext cx="24511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(PK,</a:t>
            </a:r>
            <a:r>
              <a:rPr dirty="0" sz="2000" spc="-25">
                <a:solidFill>
                  <a:srgbClr val="006FC0"/>
                </a:solidFill>
                <a:latin typeface="Courier New"/>
                <a:cs typeface="Courier New"/>
              </a:rPr>
              <a:t> CK)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484117" y="2927985"/>
            <a:ext cx="622300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R="5080">
              <a:lnSpc>
                <a:spcPts val="2160"/>
              </a:lnSpc>
              <a:spcBef>
                <a:spcPts val="37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 TEXT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703317" y="2927985"/>
            <a:ext cx="622300" cy="605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280"/>
              </a:lnSpc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(CK)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55064" y="2653106"/>
            <a:ext cx="1384300" cy="11595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R="5080">
              <a:lnSpc>
                <a:spcPts val="2160"/>
              </a:lnSpc>
              <a:spcBef>
                <a:spcPts val="375"/>
              </a:spcBef>
            </a:pPr>
            <a:r>
              <a:rPr dirty="0" sz="2000" spc="-10">
                <a:latin typeface="Courier New"/>
                <a:cs typeface="Courier New"/>
              </a:rPr>
              <a:t>RECIPE_ID </a:t>
            </a: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BRAND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165"/>
              </a:lnSpc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37563" y="4828413"/>
            <a:ext cx="8994140" cy="158115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 spc="125" b="1">
                <a:latin typeface="Cambria"/>
                <a:cs typeface="Cambria"/>
              </a:rPr>
              <a:t>Domain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constraint: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company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its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own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brand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40">
                <a:latin typeface="Cambria"/>
                <a:cs typeface="Cambria"/>
              </a:rPr>
              <a:t>it </a:t>
            </a:r>
            <a:r>
              <a:rPr dirty="0" sz="2000" spc="135">
                <a:latin typeface="Cambria"/>
                <a:cs typeface="Cambria"/>
              </a:rPr>
              <a:t>producing.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Possibly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brands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product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with </a:t>
            </a:r>
            <a:r>
              <a:rPr dirty="0" sz="2000" spc="75">
                <a:latin typeface="Cambria"/>
                <a:cs typeface="Cambria"/>
              </a:rPr>
              <a:t>different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recipes.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Different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companies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must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have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different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50">
                <a:latin typeface="Cambria"/>
                <a:cs typeface="Cambria"/>
              </a:rPr>
              <a:t>brands.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  <a:spcBef>
                <a:spcPts val="930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WARE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(part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PK)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depends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90">
                <a:latin typeface="Cambria"/>
                <a:cs typeface="Cambria"/>
              </a:rPr>
              <a:t>BRAND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(non-prime).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This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0"/>
              </a:lnSpc>
            </a:pPr>
            <a:r>
              <a:rPr dirty="0" sz="2000" spc="140">
                <a:latin typeface="Cambria"/>
                <a:cs typeface="Cambria"/>
              </a:rPr>
              <a:t>3NF-</a:t>
            </a:r>
            <a:r>
              <a:rPr dirty="0" sz="2000" spc="125">
                <a:latin typeface="Cambria"/>
                <a:cs typeface="Cambria"/>
              </a:rPr>
              <a:t>complaint,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because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WARE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prime.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But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25">
                <a:latin typeface="Cambria"/>
                <a:cs typeface="Cambria"/>
              </a:rPr>
              <a:t>BCNF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violated.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750050" y="1966595"/>
            <a:ext cx="4837430" cy="2797810"/>
          </a:xfrm>
          <a:custGeom>
            <a:avLst/>
            <a:gdLst/>
            <a:ahLst/>
            <a:cxnLst/>
            <a:rect l="l" t="t" r="r" b="b"/>
            <a:pathLst>
              <a:path w="4837430" h="2797810">
                <a:moveTo>
                  <a:pt x="0" y="2797429"/>
                </a:moveTo>
                <a:lnTo>
                  <a:pt x="4837303" y="2797429"/>
                </a:lnTo>
                <a:lnTo>
                  <a:pt x="4837303" y="0"/>
                </a:lnTo>
                <a:lnTo>
                  <a:pt x="0" y="0"/>
                </a:lnTo>
                <a:lnTo>
                  <a:pt x="0" y="2797429"/>
                </a:lnTo>
                <a:close/>
              </a:path>
            </a:pathLst>
          </a:custGeom>
          <a:ln w="9525">
            <a:solidFill>
              <a:srgbClr val="CCC7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842506" y="1825599"/>
            <a:ext cx="3517900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BCNF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PRODUCT: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128506" y="2647645"/>
            <a:ext cx="22987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INTEGER</a:t>
            </a:r>
            <a:r>
              <a:rPr dirty="0" sz="2000" spc="-3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(PK,FK)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28506" y="2922524"/>
            <a:ext cx="22987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218565" algn="l"/>
              </a:tabLst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	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(PK,FK)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347706" y="3897579"/>
            <a:ext cx="6223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42506" y="2647645"/>
            <a:ext cx="1689100" cy="185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04800">
              <a:lnSpc>
                <a:spcPts val="2280"/>
              </a:lnSpc>
              <a:spcBef>
                <a:spcPts val="105"/>
              </a:spcBef>
            </a:pPr>
            <a:r>
              <a:rPr dirty="0" sz="2000" spc="-10">
                <a:latin typeface="Courier New"/>
                <a:cs typeface="Courier New"/>
              </a:rPr>
              <a:t>RECIPE_ID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180"/>
              </a:lnSpc>
            </a:pPr>
            <a:r>
              <a:rPr dirty="0" sz="2000" spc="-10">
                <a:latin typeface="Courier New"/>
                <a:cs typeface="Courier New"/>
              </a:rPr>
              <a:t>BRAND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300"/>
              </a:lnSpc>
            </a:pPr>
            <a:r>
              <a:rPr dirty="0" sz="2000" spc="-50">
                <a:latin typeface="Courier New"/>
                <a:cs typeface="Courier New"/>
              </a:rPr>
              <a:t>…</a:t>
            </a:r>
            <a:endParaRPr sz="2000">
              <a:latin typeface="Courier New"/>
              <a:cs typeface="Courier New"/>
            </a:endParaRPr>
          </a:p>
          <a:p>
            <a:pPr marL="304800" marR="309880" indent="-304800">
              <a:lnSpc>
                <a:spcPts val="2160"/>
              </a:lnSpc>
              <a:spcBef>
                <a:spcPts val="1195"/>
              </a:spcBef>
            </a:pPr>
            <a:r>
              <a:rPr dirty="0" sz="2000" spc="-10" b="1">
                <a:latin typeface="Courier New"/>
                <a:cs typeface="Courier New"/>
              </a:rPr>
              <a:t>BRANDING: </a:t>
            </a:r>
            <a:r>
              <a:rPr dirty="0" sz="2000" spc="-10">
                <a:latin typeface="Courier New"/>
                <a:cs typeface="Courier New"/>
              </a:rPr>
              <a:t>BRAND </a:t>
            </a:r>
            <a:r>
              <a:rPr dirty="0" sz="2000" spc="-2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28506" y="3897579"/>
            <a:ext cx="62230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280"/>
              </a:lnSpc>
              <a:spcBef>
                <a:spcPts val="105"/>
              </a:spcBef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2280"/>
              </a:lnSpc>
            </a:pP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37082"/>
            <a:ext cx="8111705" cy="56730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106547" y="2093976"/>
            <a:ext cx="4837430" cy="2009775"/>
          </a:xfrm>
          <a:custGeom>
            <a:avLst/>
            <a:gdLst/>
            <a:ahLst/>
            <a:cxnLst/>
            <a:rect l="l" t="t" r="r" b="b"/>
            <a:pathLst>
              <a:path w="4837430" h="2009775">
                <a:moveTo>
                  <a:pt x="0" y="2009775"/>
                </a:moveTo>
                <a:lnTo>
                  <a:pt x="4837303" y="2009775"/>
                </a:lnTo>
                <a:lnTo>
                  <a:pt x="4837303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185541" y="1952980"/>
            <a:ext cx="3530600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BCNF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CATEGORY: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471290" y="2830656"/>
          <a:ext cx="4407535" cy="1114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6985"/>
                <a:gridCol w="1067435"/>
                <a:gridCol w="718185"/>
              </a:tblGrid>
              <a:tr h="28067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dirty="0" sz="2000" spc="-20">
                          <a:latin typeface="Courier New"/>
                          <a:cs typeface="Courier New"/>
                        </a:rPr>
                        <a:t>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14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CLASS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2014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TRADER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83210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PROD_CONDITION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3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3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356741" y="4639817"/>
            <a:ext cx="8988425" cy="185547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118745">
              <a:lnSpc>
                <a:spcPts val="2160"/>
              </a:lnSpc>
              <a:spcBef>
                <a:spcPts val="375"/>
              </a:spcBef>
            </a:pPr>
            <a:r>
              <a:rPr dirty="0" sz="2000" spc="125" b="1">
                <a:latin typeface="Cambria"/>
                <a:cs typeface="Cambria"/>
              </a:rPr>
              <a:t>Domain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constraint: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There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could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traders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ware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well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production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conditions.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90">
                <a:latin typeface="Cambria"/>
                <a:cs typeface="Cambria"/>
              </a:rPr>
              <a:t>So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are </a:t>
            </a:r>
            <a:r>
              <a:rPr dirty="0" sz="2000" spc="120">
                <a:latin typeface="Cambria"/>
                <a:cs typeface="Cambria"/>
              </a:rPr>
              <a:t>prime.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20">
                <a:latin typeface="Cambria"/>
                <a:cs typeface="Cambria"/>
              </a:rPr>
              <a:t>BCNF.</a:t>
            </a:r>
            <a:endParaRPr sz="2000">
              <a:latin typeface="Cambria"/>
              <a:cs typeface="Cambria"/>
            </a:endParaRPr>
          </a:p>
          <a:p>
            <a:pPr algn="just" marL="12700" marR="5080">
              <a:lnSpc>
                <a:spcPct val="90000"/>
              </a:lnSpc>
              <a:spcBef>
                <a:spcPts val="1165"/>
              </a:spcBef>
            </a:pPr>
            <a:r>
              <a:rPr dirty="0" sz="2000" spc="80" b="1">
                <a:latin typeface="Cambria"/>
                <a:cs typeface="Cambria"/>
              </a:rPr>
              <a:t>Problem: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there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definitely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high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redundancy.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Intuitively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both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trader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condition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ware,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but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60">
                <a:latin typeface="Cambria"/>
                <a:cs typeface="Cambria"/>
              </a:rPr>
              <a:t>class.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However,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not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a </a:t>
            </a:r>
            <a:r>
              <a:rPr dirty="0" sz="2000" spc="125">
                <a:latin typeface="Cambria"/>
                <a:cs typeface="Cambria"/>
              </a:rPr>
              <a:t>functional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dependency.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7963" y="1028700"/>
            <a:ext cx="7439621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97788" y="2113914"/>
            <a:ext cx="9928860" cy="41421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3500">
              <a:lnSpc>
                <a:spcPts val="2275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A,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320" b="1">
                <a:latin typeface="Cambria"/>
                <a:cs typeface="Cambria"/>
              </a:rPr>
              <a:t>C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⊆</a:t>
            </a:r>
            <a:r>
              <a:rPr dirty="0" sz="2000" spc="215">
                <a:latin typeface="Cambria Math"/>
                <a:cs typeface="Cambria Math"/>
              </a:rPr>
              <a:t> </a:t>
            </a:r>
            <a:r>
              <a:rPr dirty="0" sz="2000" spc="220" b="1">
                <a:latin typeface="Cambria"/>
                <a:cs typeface="Cambria"/>
              </a:rPr>
              <a:t>R</a:t>
            </a:r>
            <a:r>
              <a:rPr dirty="0" sz="2000" spc="220">
                <a:latin typeface="Cambria"/>
                <a:cs typeface="Cambria"/>
              </a:rPr>
              <a:t>.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Multivalued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210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holds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225" b="1">
                <a:latin typeface="Cambria"/>
                <a:cs typeface="Cambria"/>
              </a:rPr>
              <a:t>R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iff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each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value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of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75"/>
              </a:lnSpc>
            </a:pPr>
            <a:r>
              <a:rPr dirty="0" sz="2000" spc="60" b="1">
                <a:latin typeface="Cambria"/>
                <a:cs typeface="Cambria"/>
              </a:rPr>
              <a:t>(A,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70" b="1">
                <a:latin typeface="Cambria"/>
                <a:cs typeface="Cambria"/>
              </a:rPr>
              <a:t>C)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set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values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225" b="1">
                <a:latin typeface="Cambria"/>
                <a:cs typeface="Cambria"/>
              </a:rPr>
              <a:t>R</a:t>
            </a:r>
            <a:r>
              <a:rPr dirty="0" sz="2000" spc="254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depends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only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 b="1">
                <a:latin typeface="Cambria"/>
                <a:cs typeface="Cambria"/>
              </a:rPr>
              <a:t>A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20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</a:pPr>
            <a:r>
              <a:rPr dirty="0" sz="2000" spc="175" b="1">
                <a:latin typeface="Cambria"/>
                <a:cs typeface="Cambria"/>
              </a:rPr>
              <a:t>SQL-</a:t>
            </a:r>
            <a:r>
              <a:rPr dirty="0" sz="2000" spc="90" b="1">
                <a:latin typeface="Cambria"/>
                <a:cs typeface="Cambria"/>
              </a:rPr>
              <a:t>like</a:t>
            </a:r>
            <a:r>
              <a:rPr dirty="0" sz="2000" spc="250" b="1">
                <a:latin typeface="Cambria"/>
                <a:cs typeface="Cambria"/>
              </a:rPr>
              <a:t> </a:t>
            </a:r>
            <a:r>
              <a:rPr dirty="0" sz="2000" spc="105" b="1">
                <a:latin typeface="Cambria"/>
                <a:cs typeface="Cambria"/>
              </a:rPr>
              <a:t>code:</a:t>
            </a:r>
            <a:endParaRPr sz="2000">
              <a:latin typeface="Cambria"/>
              <a:cs typeface="Cambria"/>
            </a:endParaRPr>
          </a:p>
          <a:p>
            <a:pPr marL="63500" marR="4725670">
              <a:lnSpc>
                <a:spcPts val="3360"/>
              </a:lnSpc>
              <a:spcBef>
                <a:spcPts val="16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B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R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A=a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latin typeface="Courier New"/>
                <a:cs typeface="Courier New"/>
              </a:rPr>
              <a:t>C=</a:t>
            </a:r>
            <a:r>
              <a:rPr dirty="0" sz="2000" spc="-20" b="1">
                <a:latin typeface="Courier New"/>
                <a:cs typeface="Courier New"/>
              </a:rPr>
              <a:t>c</a:t>
            </a:r>
            <a:r>
              <a:rPr dirty="0" baseline="-21367" sz="1950" spc="-30" b="1">
                <a:latin typeface="Courier New"/>
                <a:cs typeface="Courier New"/>
              </a:rPr>
              <a:t>1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SELECT</a:t>
            </a:r>
            <a:r>
              <a:rPr dirty="0" sz="2000" spc="-3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B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FROM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R</a:t>
            </a:r>
            <a:r>
              <a:rPr dirty="0" sz="2000" spc="-20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WHERE</a:t>
            </a:r>
            <a:r>
              <a:rPr dirty="0" sz="2000" spc="-1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latin typeface="Courier New"/>
                <a:cs typeface="Courier New"/>
              </a:rPr>
              <a:t>A=a</a:t>
            </a:r>
            <a:r>
              <a:rPr dirty="0" sz="2000" spc="-15"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AND</a:t>
            </a:r>
            <a:r>
              <a:rPr dirty="0" sz="2000" spc="-15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dirty="0" sz="2000" spc="-20">
                <a:latin typeface="Courier New"/>
                <a:cs typeface="Courier New"/>
              </a:rPr>
              <a:t>C=</a:t>
            </a:r>
            <a:r>
              <a:rPr dirty="0" sz="2000" spc="-20" b="1">
                <a:latin typeface="Courier New"/>
                <a:cs typeface="Courier New"/>
              </a:rPr>
              <a:t>c</a:t>
            </a:r>
            <a:r>
              <a:rPr dirty="0" baseline="-21367" sz="1950" spc="-30" b="1">
                <a:latin typeface="Courier New"/>
                <a:cs typeface="Courier New"/>
              </a:rPr>
              <a:t>2</a:t>
            </a:r>
            <a:endParaRPr baseline="-21367" sz="1950">
              <a:latin typeface="Courier New"/>
              <a:cs typeface="Courier New"/>
            </a:endParaRPr>
          </a:p>
          <a:p>
            <a:pPr marL="63500">
              <a:lnSpc>
                <a:spcPct val="100000"/>
              </a:lnSpc>
              <a:spcBef>
                <a:spcPts val="775"/>
              </a:spcBef>
            </a:pPr>
            <a:r>
              <a:rPr dirty="0" sz="2000" spc="155">
                <a:latin typeface="Cambria"/>
                <a:cs typeface="Cambria"/>
              </a:rPr>
              <a:t>Both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queries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give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result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multiple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rows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general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case.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70"/>
              </a:spcBef>
            </a:pPr>
            <a:endParaRPr sz="2000">
              <a:latin typeface="Cambria"/>
              <a:cs typeface="Cambria"/>
            </a:endParaRPr>
          </a:p>
          <a:p>
            <a:pPr marL="63500">
              <a:lnSpc>
                <a:spcPts val="2285"/>
              </a:lnSpc>
              <a:spcBef>
                <a:spcPts val="5"/>
              </a:spcBef>
            </a:pPr>
            <a:r>
              <a:rPr dirty="0" sz="2000" spc="145" b="1">
                <a:latin typeface="Cambria"/>
                <a:cs typeface="Cambria"/>
              </a:rPr>
              <a:t>Lemma: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R={A,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C}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attributes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A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B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50" b="1">
                <a:latin typeface="Cambria"/>
                <a:cs typeface="Cambria"/>
              </a:rPr>
              <a:t>C</a:t>
            </a:r>
            <a:r>
              <a:rPr dirty="0" sz="2000" spc="25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165"/>
              </a:lnSpc>
            </a:pPr>
            <a:r>
              <a:rPr dirty="0" sz="2000" spc="120">
                <a:latin typeface="Cambria"/>
                <a:cs typeface="Cambria"/>
              </a:rPr>
              <a:t>In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this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5">
                <a:latin typeface="Cambria"/>
                <a:cs typeface="Cambria"/>
              </a:rPr>
              <a:t>case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195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means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also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that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195">
                <a:latin typeface="Cambria Math"/>
                <a:cs typeface="Cambria Math"/>
              </a:rPr>
              <a:t> </a:t>
            </a:r>
            <a:r>
              <a:rPr dirty="0" sz="2000" spc="280" b="1">
                <a:latin typeface="Cambria"/>
                <a:cs typeface="Cambria"/>
              </a:rPr>
              <a:t>C</a:t>
            </a:r>
            <a:endParaRPr sz="2000">
              <a:latin typeface="Cambria"/>
              <a:cs typeface="Cambria"/>
            </a:endParaRPr>
          </a:p>
          <a:p>
            <a:pPr marL="63500">
              <a:lnSpc>
                <a:spcPts val="2280"/>
              </a:lnSpc>
            </a:pPr>
            <a:r>
              <a:rPr dirty="0" sz="2000" spc="114">
                <a:latin typeface="Cambria"/>
                <a:cs typeface="Cambria"/>
              </a:rPr>
              <a:t>This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75">
                <a:latin typeface="Cambria"/>
                <a:cs typeface="Cambria"/>
              </a:rPr>
              <a:t>can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70">
                <a:latin typeface="Cambria"/>
                <a:cs typeface="Cambria"/>
              </a:rPr>
              <a:t>written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195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560" b="1">
                <a:latin typeface="Cambria"/>
                <a:cs typeface="Cambria"/>
              </a:rPr>
              <a:t>|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270" b="1">
                <a:latin typeface="Cambria"/>
                <a:cs typeface="Cambria"/>
              </a:rPr>
              <a:t>C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7978" y="1037082"/>
            <a:ext cx="2441575" cy="457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2481" y="1028700"/>
            <a:ext cx="1974075" cy="5839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48588" y="2965526"/>
            <a:ext cx="7743190" cy="1459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5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R={A,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C}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relation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with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attributes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A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B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245" b="1">
                <a:latin typeface="Cambria"/>
                <a:cs typeface="Cambria"/>
              </a:rPr>
              <a:t>C</a:t>
            </a:r>
            <a:r>
              <a:rPr dirty="0" sz="2000" spc="24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85"/>
              </a:lnSpc>
            </a:pPr>
            <a:r>
              <a:rPr dirty="0" sz="2000" spc="120" b="1">
                <a:latin typeface="Cambria"/>
                <a:cs typeface="Cambria"/>
              </a:rPr>
              <a:t>R=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65" b="1">
                <a:latin typeface="Cambria"/>
                <a:cs typeface="Cambria"/>
              </a:rPr>
              <a:t>{A,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B}</a:t>
            </a:r>
            <a:r>
              <a:rPr dirty="0" sz="2000" spc="-2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⋈</a:t>
            </a:r>
            <a:r>
              <a:rPr dirty="0" sz="2000" spc="210">
                <a:latin typeface="Cambria Math"/>
                <a:cs typeface="Cambria Math"/>
              </a:rPr>
              <a:t> </a:t>
            </a:r>
            <a:r>
              <a:rPr dirty="0" sz="2000" spc="60" b="1">
                <a:latin typeface="Cambria"/>
                <a:cs typeface="Cambria"/>
              </a:rPr>
              <a:t>{A,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C}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iff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210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560" b="1">
                <a:latin typeface="Cambria"/>
                <a:cs typeface="Cambria"/>
              </a:rPr>
              <a:t>|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250" b="1">
                <a:latin typeface="Cambria"/>
                <a:cs typeface="Cambria"/>
              </a:rPr>
              <a:t>C</a:t>
            </a:r>
            <a:r>
              <a:rPr dirty="0" sz="2000" spc="25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95">
                <a:latin typeface="Cambria"/>
                <a:cs typeface="Cambria"/>
              </a:rPr>
              <a:t>The</a:t>
            </a:r>
            <a:r>
              <a:rPr dirty="0" sz="2000" spc="24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Heath’s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theorem,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but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multivalued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dependency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73784" y="1003427"/>
            <a:ext cx="670560" cy="482600"/>
            <a:chOff x="1173784" y="1003427"/>
            <a:chExt cx="670560" cy="4826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3784" y="1037082"/>
              <a:ext cx="311607" cy="44881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0" y="1003427"/>
              <a:ext cx="335026" cy="299593"/>
            </a:xfrm>
            <a:prstGeom prst="rect">
              <a:avLst/>
            </a:prstGeom>
          </p:spPr>
        </p:pic>
      </p:grp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80132" y="1028700"/>
            <a:ext cx="5221351" cy="5839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3188" y="2539111"/>
            <a:ext cx="8608060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pc="110"/>
              <a:t>A</a:t>
            </a:r>
            <a:r>
              <a:rPr dirty="0" spc="225"/>
              <a:t> </a:t>
            </a:r>
            <a:r>
              <a:rPr dirty="0" spc="90"/>
              <a:t>relation</a:t>
            </a:r>
            <a:r>
              <a:rPr dirty="0" spc="210"/>
              <a:t> </a:t>
            </a: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215" b="1">
                <a:latin typeface="Cambria"/>
                <a:cs typeface="Cambria"/>
              </a:rPr>
              <a:t> </a:t>
            </a:r>
            <a:r>
              <a:rPr dirty="0" spc="110"/>
              <a:t>is</a:t>
            </a:r>
            <a:r>
              <a:rPr dirty="0" spc="220"/>
              <a:t> </a:t>
            </a:r>
            <a:r>
              <a:rPr dirty="0" spc="120"/>
              <a:t>in</a:t>
            </a:r>
            <a:r>
              <a:rPr dirty="0" spc="215"/>
              <a:t> </a:t>
            </a:r>
            <a:r>
              <a:rPr dirty="0" spc="110"/>
              <a:t>the</a:t>
            </a:r>
            <a:r>
              <a:rPr dirty="0" spc="229"/>
              <a:t> </a:t>
            </a:r>
            <a:r>
              <a:rPr dirty="0" spc="125" b="1">
                <a:latin typeface="Cambria"/>
                <a:cs typeface="Cambria"/>
              </a:rPr>
              <a:t>4</a:t>
            </a:r>
            <a:r>
              <a:rPr dirty="0" baseline="25641" sz="1950" spc="187" b="1">
                <a:latin typeface="Cambria"/>
                <a:cs typeface="Cambria"/>
              </a:rPr>
              <a:t>th</a:t>
            </a:r>
            <a:r>
              <a:rPr dirty="0" baseline="25641" sz="1950" spc="637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normal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form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00"/>
              <a:t>(4NF,</a:t>
            </a:r>
            <a:r>
              <a:rPr dirty="0" sz="2000" spc="175"/>
              <a:t> </a:t>
            </a:r>
            <a:r>
              <a:rPr dirty="0" sz="2000" spc="110"/>
              <a:t>Fegin’s</a:t>
            </a:r>
            <a:r>
              <a:rPr dirty="0" sz="2000" spc="180"/>
              <a:t> </a:t>
            </a:r>
            <a:r>
              <a:rPr dirty="0" sz="2000" spc="120"/>
              <a:t>normal</a:t>
            </a:r>
            <a:r>
              <a:rPr dirty="0" sz="2000" spc="200"/>
              <a:t> </a:t>
            </a:r>
            <a:r>
              <a:rPr dirty="0" sz="2000"/>
              <a:t>form)</a:t>
            </a:r>
            <a:r>
              <a:rPr dirty="0" sz="2000" spc="215"/>
              <a:t> </a:t>
            </a:r>
            <a:r>
              <a:rPr dirty="0" sz="2000" spc="30"/>
              <a:t>iff: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5890" rIns="0" bIns="0" rtlCol="0" vert="horz">
            <a:spAutoFit/>
          </a:bodyPr>
          <a:lstStyle/>
          <a:p>
            <a:pPr marL="550545" indent="-537845">
              <a:lnSpc>
                <a:spcPct val="100000"/>
              </a:lnSpc>
              <a:spcBef>
                <a:spcPts val="1070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550545" algn="l"/>
              </a:tabLst>
            </a:pP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190" b="1">
                <a:latin typeface="Cambria"/>
                <a:cs typeface="Cambria"/>
              </a:rPr>
              <a:t> </a:t>
            </a:r>
            <a:r>
              <a:rPr dirty="0" spc="110"/>
              <a:t>is</a:t>
            </a:r>
            <a:r>
              <a:rPr dirty="0" spc="204"/>
              <a:t> </a:t>
            </a:r>
            <a:r>
              <a:rPr dirty="0" spc="120"/>
              <a:t>in</a:t>
            </a:r>
            <a:r>
              <a:rPr dirty="0" spc="200"/>
              <a:t> </a:t>
            </a:r>
            <a:r>
              <a:rPr dirty="0" spc="204"/>
              <a:t>BCNF</a:t>
            </a:r>
          </a:p>
          <a:p>
            <a:pPr marL="550545" indent="-537845">
              <a:lnSpc>
                <a:spcPct val="100000"/>
              </a:lnSpc>
              <a:spcBef>
                <a:spcPts val="969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550545" algn="l"/>
              </a:tabLst>
            </a:pPr>
            <a:r>
              <a:rPr dirty="0" spc="140" b="1">
                <a:latin typeface="Cambria"/>
                <a:cs typeface="Cambria"/>
              </a:rPr>
              <a:t>A</a:t>
            </a:r>
            <a:r>
              <a:rPr dirty="0" spc="235" b="1">
                <a:latin typeface="Cambria"/>
                <a:cs typeface="Cambria"/>
              </a:rPr>
              <a:t> </a:t>
            </a:r>
            <a:r>
              <a:rPr dirty="0">
                <a:latin typeface="Cambria Math"/>
                <a:cs typeface="Cambria Math"/>
              </a:rPr>
              <a:t>↠</a:t>
            </a:r>
            <a:r>
              <a:rPr dirty="0" spc="215">
                <a:latin typeface="Cambria Math"/>
                <a:cs typeface="Cambria Math"/>
              </a:rPr>
              <a:t> </a:t>
            </a:r>
            <a:r>
              <a:rPr dirty="0" spc="140" b="1">
                <a:latin typeface="Cambria"/>
                <a:cs typeface="Cambria"/>
              </a:rPr>
              <a:t>B</a:t>
            </a:r>
            <a:r>
              <a:rPr dirty="0" spc="195" b="1">
                <a:latin typeface="Cambria"/>
                <a:cs typeface="Cambria"/>
              </a:rPr>
              <a:t> </a:t>
            </a:r>
            <a:r>
              <a:rPr dirty="0" spc="120"/>
              <a:t>holds</a:t>
            </a:r>
            <a:r>
              <a:rPr dirty="0" spc="195"/>
              <a:t> </a:t>
            </a:r>
            <a:r>
              <a:rPr dirty="0" spc="125"/>
              <a:t>on</a:t>
            </a:r>
            <a:r>
              <a:rPr dirty="0" spc="229"/>
              <a:t> </a:t>
            </a: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204" b="1">
                <a:latin typeface="Cambria"/>
                <a:cs typeface="Cambria"/>
              </a:rPr>
              <a:t> </a:t>
            </a:r>
            <a:r>
              <a:rPr dirty="0" spc="165"/>
              <a:t>means</a:t>
            </a:r>
            <a:r>
              <a:rPr dirty="0" spc="185"/>
              <a:t> </a:t>
            </a:r>
            <a:r>
              <a:rPr dirty="0" spc="105"/>
              <a:t>one</a:t>
            </a:r>
            <a:r>
              <a:rPr dirty="0" spc="200"/>
              <a:t> </a:t>
            </a:r>
            <a:r>
              <a:rPr dirty="0"/>
              <a:t>of</a:t>
            </a:r>
            <a:r>
              <a:rPr dirty="0" spc="215"/>
              <a:t> </a:t>
            </a:r>
            <a:r>
              <a:rPr dirty="0" spc="110"/>
              <a:t>the</a:t>
            </a:r>
            <a:r>
              <a:rPr dirty="0" spc="225"/>
              <a:t> </a:t>
            </a:r>
            <a:r>
              <a:rPr dirty="0" spc="55"/>
              <a:t>following:</a:t>
            </a:r>
          </a:p>
          <a:p>
            <a:pPr lvl="1" marL="824865" indent="-537845">
              <a:lnSpc>
                <a:spcPct val="100000"/>
              </a:lnSpc>
              <a:spcBef>
                <a:spcPts val="160"/>
              </a:spcBef>
              <a:buClr>
                <a:srgbClr val="957D95"/>
              </a:buClr>
              <a:buSzPct val="85000"/>
              <a:buFont typeface="Cambria"/>
              <a:buAutoNum type="alphaLcParenR"/>
              <a:tabLst>
                <a:tab pos="824865" algn="l"/>
              </a:tabLst>
            </a:pP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315" b="1">
                <a:latin typeface="Cambria"/>
                <a:cs typeface="Cambria"/>
              </a:rPr>
              <a:t>→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(and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is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superkey</a:t>
            </a:r>
            <a:r>
              <a:rPr dirty="0" sz="2000" spc="16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according</a:t>
            </a:r>
            <a:r>
              <a:rPr dirty="0" sz="2000" spc="16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to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5">
                <a:solidFill>
                  <a:srgbClr val="7E7E7E"/>
                </a:solidFill>
                <a:latin typeface="Cambria"/>
                <a:cs typeface="Cambria"/>
              </a:rPr>
              <a:t>BCNF)</a:t>
            </a:r>
            <a:endParaRPr sz="2000">
              <a:latin typeface="Cambria"/>
              <a:cs typeface="Cambria"/>
            </a:endParaRPr>
          </a:p>
          <a:p>
            <a:pPr lvl="1" marL="744220" marR="5080" indent="-457200">
              <a:lnSpc>
                <a:spcPts val="2150"/>
              </a:lnSpc>
              <a:spcBef>
                <a:spcPts val="640"/>
              </a:spcBef>
              <a:buAutoNum type="alphaLcParenR"/>
              <a:tabLst>
                <a:tab pos="744220" algn="l"/>
                <a:tab pos="824865" algn="l"/>
              </a:tabLst>
            </a:pPr>
            <a:r>
              <a:rPr dirty="0" sz="1700">
                <a:solidFill>
                  <a:srgbClr val="957D95"/>
                </a:solidFill>
                <a:latin typeface="Cambria"/>
                <a:cs typeface="Cambria"/>
              </a:rPr>
              <a:t>	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204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trivial,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either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⊆</a:t>
            </a:r>
            <a:r>
              <a:rPr dirty="0" sz="2000" spc="200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(and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80">
                <a:solidFill>
                  <a:srgbClr val="7E7E7E"/>
                </a:solidFill>
                <a:latin typeface="Cambria"/>
                <a:cs typeface="Cambria"/>
              </a:rPr>
              <a:t>thus</a:t>
            </a:r>
            <a:r>
              <a:rPr dirty="0" sz="2000" spc="19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40" b="1">
                <a:solidFill>
                  <a:srgbClr val="7E7E7E"/>
                </a:solidFill>
                <a:latin typeface="Cambria"/>
                <a:cs typeface="Cambria"/>
              </a:rPr>
              <a:t>A</a:t>
            </a:r>
            <a:r>
              <a:rPr dirty="0" sz="2000" spc="225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315" b="1">
                <a:solidFill>
                  <a:srgbClr val="7E7E7E"/>
                </a:solidFill>
                <a:latin typeface="Cambria"/>
                <a:cs typeface="Cambria"/>
              </a:rPr>
              <a:t>→</a:t>
            </a:r>
            <a:r>
              <a:rPr dirty="0" sz="2000" spc="229" b="1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60" b="1">
                <a:solidFill>
                  <a:srgbClr val="7E7E7E"/>
                </a:solidFill>
                <a:latin typeface="Cambria"/>
                <a:cs typeface="Cambria"/>
              </a:rPr>
              <a:t>B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)</a:t>
            </a:r>
            <a:r>
              <a:rPr dirty="0" sz="2000" spc="60">
                <a:latin typeface="Cambria"/>
                <a:cs typeface="Cambria"/>
              </a:rPr>
              <a:t>,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5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=</a:t>
            </a:r>
            <a:r>
              <a:rPr dirty="0" sz="2000" spc="225" b="1">
                <a:latin typeface="Cambria"/>
                <a:cs typeface="Cambria"/>
              </a:rPr>
              <a:t> R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60">
                <a:solidFill>
                  <a:srgbClr val="7E7E7E"/>
                </a:solidFill>
                <a:latin typeface="Cambria"/>
                <a:cs typeface="Cambria"/>
              </a:rPr>
              <a:t>(and 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thus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29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85">
                <a:solidFill>
                  <a:srgbClr val="7E7E7E"/>
                </a:solidFill>
                <a:latin typeface="Cambria"/>
                <a:cs typeface="Cambria"/>
              </a:rPr>
              <a:t>only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5">
                <a:solidFill>
                  <a:srgbClr val="7E7E7E"/>
                </a:solidFill>
                <a:latin typeface="Cambria"/>
                <a:cs typeface="Cambria"/>
              </a:rPr>
              <a:t>candidate</a:t>
            </a:r>
            <a:r>
              <a:rPr dirty="0" sz="2000" spc="22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20">
                <a:solidFill>
                  <a:srgbClr val="7E7E7E"/>
                </a:solidFill>
                <a:latin typeface="Cambria"/>
                <a:cs typeface="Cambria"/>
              </a:rPr>
              <a:t>key)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699516"/>
            <a:ext cx="6920598" cy="465582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88" y="1357883"/>
            <a:ext cx="4254588" cy="57569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25283" y="2754248"/>
            <a:ext cx="4837430" cy="2009775"/>
          </a:xfrm>
          <a:prstGeom prst="rect">
            <a:avLst/>
          </a:prstGeom>
          <a:ln w="9525">
            <a:solidFill>
              <a:srgbClr val="A44D7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1440">
              <a:lnSpc>
                <a:spcPts val="2350"/>
              </a:lnSpc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2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non-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4NF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ts val="228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CATEGORY: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60"/>
              </a:lnSpc>
              <a:tabLst>
                <a:tab pos="3291840" algn="l"/>
              </a:tabLst>
            </a:pPr>
            <a:r>
              <a:rPr dirty="0" sz="2000" spc="-20">
                <a:latin typeface="Courier New"/>
                <a:cs typeface="Courier New"/>
              </a:rPr>
              <a:t>WARE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60"/>
              </a:lnSpc>
              <a:tabLst>
                <a:tab pos="3291840" algn="l"/>
              </a:tabLst>
            </a:pPr>
            <a:r>
              <a:rPr dirty="0" sz="2000" spc="-10">
                <a:latin typeface="Courier New"/>
                <a:cs typeface="Courier New"/>
              </a:rPr>
              <a:t>CLASS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180"/>
              </a:lnSpc>
              <a:tabLst>
                <a:tab pos="3291840" algn="l"/>
              </a:tabLst>
            </a:pPr>
            <a:r>
              <a:rPr dirty="0" sz="2000" spc="-10">
                <a:latin typeface="Courier New"/>
                <a:cs typeface="Courier New"/>
              </a:rPr>
              <a:t>TRADER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396240">
              <a:lnSpc>
                <a:spcPts val="2300"/>
              </a:lnSpc>
              <a:tabLst>
                <a:tab pos="3291840" algn="l"/>
              </a:tabLst>
            </a:pPr>
            <a:r>
              <a:rPr dirty="0" sz="2000" spc="-10">
                <a:latin typeface="Courier New"/>
                <a:cs typeface="Courier New"/>
              </a:rPr>
              <a:t>PROD_CONDITION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6290945" y="2351151"/>
            <a:ext cx="4837430" cy="3526154"/>
          </a:xfrm>
          <a:custGeom>
            <a:avLst/>
            <a:gdLst/>
            <a:ahLst/>
            <a:cxnLst/>
            <a:rect l="l" t="t" r="r" b="b"/>
            <a:pathLst>
              <a:path w="4837430" h="3526154">
                <a:moveTo>
                  <a:pt x="0" y="3525774"/>
                </a:moveTo>
                <a:lnTo>
                  <a:pt x="4837303" y="3525774"/>
                </a:lnTo>
                <a:lnTo>
                  <a:pt x="4837303" y="0"/>
                </a:lnTo>
                <a:lnTo>
                  <a:pt x="0" y="0"/>
                </a:lnTo>
                <a:lnTo>
                  <a:pt x="0" y="3525774"/>
                </a:lnTo>
                <a:close/>
              </a:path>
            </a:pathLst>
          </a:custGeom>
          <a:ln w="9524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370446" y="2210155"/>
            <a:ext cx="3378200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modified</a:t>
            </a:r>
            <a:r>
              <a:rPr dirty="0" sz="2000" spc="-35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>
                <a:solidFill>
                  <a:srgbClr val="7E7E7E"/>
                </a:solidFill>
                <a:latin typeface="Courier New"/>
                <a:cs typeface="Courier New"/>
              </a:rPr>
              <a:t>schema,</a:t>
            </a:r>
            <a:r>
              <a:rPr dirty="0" sz="2000" spc="-3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4NF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CATEGORY: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71101" y="3032506"/>
            <a:ext cx="139700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571101" y="4008246"/>
            <a:ext cx="1397000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70446" y="3032506"/>
            <a:ext cx="2311400" cy="2007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7500">
              <a:lnSpc>
                <a:spcPts val="2280"/>
              </a:lnSpc>
              <a:spcBef>
                <a:spcPts val="105"/>
              </a:spcBef>
            </a:pPr>
            <a:r>
              <a:rPr dirty="0" sz="2000" spc="-2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280"/>
              </a:lnSpc>
            </a:pPr>
            <a:r>
              <a:rPr dirty="0" sz="2000" spc="-10">
                <a:latin typeface="Courier New"/>
                <a:cs typeface="Courier New"/>
              </a:rPr>
              <a:t>CLASS</a:t>
            </a:r>
            <a:endParaRPr sz="2000">
              <a:latin typeface="Courier New"/>
              <a:cs typeface="Courier New"/>
            </a:endParaRPr>
          </a:p>
          <a:p>
            <a:pPr marL="317500" marR="1071880" indent="-304800">
              <a:lnSpc>
                <a:spcPts val="2160"/>
              </a:lnSpc>
              <a:spcBef>
                <a:spcPts val="1230"/>
              </a:spcBef>
            </a:pPr>
            <a:r>
              <a:rPr dirty="0" sz="2000" spc="-10" b="1">
                <a:latin typeface="Courier New"/>
                <a:cs typeface="Courier New"/>
              </a:rPr>
              <a:t>TRADER: </a:t>
            </a: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TRADER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000" spc="-10" b="1">
                <a:latin typeface="Courier New"/>
                <a:cs typeface="Courier New"/>
              </a:rPr>
              <a:t>PROD_CONDITION: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6656196" y="5039186"/>
          <a:ext cx="4407535" cy="562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5350"/>
                <a:gridCol w="1447800"/>
                <a:gridCol w="717550"/>
              </a:tblGrid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dirty="0" sz="2000" spc="-20">
                          <a:latin typeface="Courier New"/>
                          <a:cs typeface="Courier New"/>
                        </a:rPr>
                        <a:t>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81305">
                <a:tc>
                  <a:txBody>
                    <a:bodyPr/>
                    <a:lstStyle/>
                    <a:p>
                      <a:pPr marL="31750">
                        <a:lnSpc>
                          <a:spcPts val="2014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CONDITION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014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48003"/>
            <a:ext cx="1119238" cy="44627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0747" y="1286724"/>
            <a:ext cx="151206" cy="756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5348" y="1028700"/>
            <a:ext cx="5842508" cy="575690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069847" y="2220848"/>
            <a:ext cx="4837430" cy="2009775"/>
          </a:xfrm>
          <a:custGeom>
            <a:avLst/>
            <a:gdLst/>
            <a:ahLst/>
            <a:cxnLst/>
            <a:rect l="l" t="t" r="r" b="b"/>
            <a:pathLst>
              <a:path w="4837430" h="2009775">
                <a:moveTo>
                  <a:pt x="0" y="2009775"/>
                </a:moveTo>
                <a:lnTo>
                  <a:pt x="4837303" y="2009775"/>
                </a:lnTo>
                <a:lnTo>
                  <a:pt x="4837303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161288" y="2080176"/>
            <a:ext cx="2146935" cy="170688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5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4NF</a:t>
            </a:r>
            <a:endParaRPr sz="2000">
              <a:latin typeface="Courier New"/>
              <a:cs typeface="Courier New"/>
            </a:endParaRPr>
          </a:p>
          <a:p>
            <a:pPr marL="304800" marR="919480" indent="-305435">
              <a:lnSpc>
                <a:spcPct val="90100"/>
              </a:lnSpc>
              <a:spcBef>
                <a:spcPts val="1195"/>
              </a:spcBef>
            </a:pPr>
            <a:r>
              <a:rPr dirty="0" sz="2000" spc="-10" b="1">
                <a:latin typeface="Courier New"/>
                <a:cs typeface="Courier New"/>
              </a:rPr>
              <a:t>RETAIL: </a:t>
            </a: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TRADER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195"/>
              </a:lnSpc>
            </a:pPr>
            <a:r>
              <a:rPr dirty="0" sz="2000" spc="-10">
                <a:latin typeface="Courier New"/>
                <a:cs typeface="Courier New"/>
              </a:rPr>
              <a:t>MANUFACTURER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62322" y="2902457"/>
            <a:ext cx="1384300" cy="884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R="5080">
              <a:lnSpc>
                <a:spcPct val="90800"/>
              </a:lnSpc>
              <a:spcBef>
                <a:spcPts val="32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148588" y="4438439"/>
            <a:ext cx="8211820" cy="215900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2000" spc="130" b="1">
                <a:latin typeface="Cambria"/>
                <a:cs typeface="Cambria"/>
              </a:rPr>
              <a:t>Domain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constraint: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if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u="sng" sz="2000" spc="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license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sell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u="sng" sz="2000" spc="9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95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u="sng" sz="2000" spc="14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produces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this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90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retail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contract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with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u="sng" sz="2000" spc="13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35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40">
                <a:latin typeface="Cambria"/>
                <a:cs typeface="Cambria"/>
              </a:rPr>
              <a:t>then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u="sng" sz="2000" spc="8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50" b="1">
                <a:latin typeface="Cambria"/>
                <a:cs typeface="Cambria"/>
              </a:rPr>
              <a:t>will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sell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given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u="sng" sz="2000" spc="7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given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u="sng" sz="2000" spc="14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4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2603" y="1028700"/>
            <a:ext cx="5200129" cy="57569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5539" y="2813050"/>
            <a:ext cx="78320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Let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A,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445" b="1">
                <a:latin typeface="Cambria"/>
                <a:cs typeface="Cambria"/>
              </a:rPr>
              <a:t>…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35" b="1">
                <a:latin typeface="Cambria"/>
                <a:cs typeface="Cambria"/>
              </a:rPr>
              <a:t>Z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⊆</a:t>
            </a:r>
            <a:r>
              <a:rPr dirty="0" sz="2000" spc="200">
                <a:latin typeface="Cambria Math"/>
                <a:cs typeface="Cambria Math"/>
              </a:rPr>
              <a:t> </a:t>
            </a:r>
            <a:r>
              <a:rPr dirty="0" sz="2000" spc="220" b="1">
                <a:latin typeface="Cambria"/>
                <a:cs typeface="Cambria"/>
              </a:rPr>
              <a:t>R</a:t>
            </a:r>
            <a:r>
              <a:rPr dirty="0" sz="2000" spc="220">
                <a:latin typeface="Cambria"/>
                <a:cs typeface="Cambria"/>
              </a:rPr>
              <a:t>.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220">
                <a:latin typeface="Cambria"/>
                <a:cs typeface="Cambria"/>
              </a:rPr>
              <a:t>Join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50" b="1">
                <a:latin typeface="Cambria"/>
                <a:cs typeface="Cambria"/>
              </a:rPr>
              <a:t>*(A,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75" b="1">
                <a:latin typeface="Cambria"/>
                <a:cs typeface="Cambria"/>
              </a:rPr>
              <a:t>B,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445" b="1">
                <a:latin typeface="Cambria"/>
                <a:cs typeface="Cambria"/>
              </a:rPr>
              <a:t>…</a:t>
            </a:r>
            <a:r>
              <a:rPr dirty="0" sz="2000" spc="220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Z)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holds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225" b="1">
                <a:latin typeface="Cambria"/>
                <a:cs typeface="Cambria"/>
              </a:rPr>
              <a:t>R</a:t>
            </a:r>
            <a:r>
              <a:rPr dirty="0" sz="2000" spc="240" b="1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iff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5539" y="2886585"/>
            <a:ext cx="1012825" cy="1009650"/>
          </a:xfrm>
          <a:prstGeom prst="rect">
            <a:avLst/>
          </a:prstGeom>
        </p:spPr>
        <p:txBody>
          <a:bodyPr wrap="square" lIns="0" tIns="187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dirty="0" sz="2000" spc="160" b="1">
                <a:latin typeface="Cambria"/>
                <a:cs typeface="Cambria"/>
              </a:rPr>
              <a:t>R</a:t>
            </a:r>
            <a:r>
              <a:rPr dirty="0" sz="2000" spc="160">
                <a:latin typeface="Cambria"/>
                <a:cs typeface="Cambria"/>
              </a:rPr>
              <a:t>=</a:t>
            </a:r>
            <a:r>
              <a:rPr dirty="0" sz="2000" spc="-5">
                <a:latin typeface="Cambria"/>
                <a:cs typeface="Cambria"/>
              </a:rPr>
              <a:t> </a:t>
            </a:r>
            <a:r>
              <a:rPr dirty="0" sz="3600">
                <a:latin typeface="Cambria Math"/>
                <a:cs typeface="Cambria Math"/>
              </a:rPr>
              <a:t>⋈</a:t>
            </a:r>
            <a:r>
              <a:rPr dirty="0" sz="3600" spc="-425">
                <a:latin typeface="Cambria Math"/>
                <a:cs typeface="Cambria Math"/>
              </a:rPr>
              <a:t> </a:t>
            </a:r>
            <a:r>
              <a:rPr dirty="0" sz="2000" spc="-50" b="1">
                <a:latin typeface="Cambria"/>
                <a:cs typeface="Cambria"/>
              </a:rPr>
              <a:t>β</a:t>
            </a:r>
            <a:endParaRPr sz="2000">
              <a:latin typeface="Cambria"/>
              <a:cs typeface="Cambria"/>
            </a:endParaRPr>
          </a:p>
          <a:p>
            <a:pPr marL="356870">
              <a:lnSpc>
                <a:spcPct val="100000"/>
              </a:lnSpc>
              <a:spcBef>
                <a:spcPts val="490"/>
              </a:spcBef>
            </a:pPr>
            <a:r>
              <a:rPr dirty="0" sz="1300" spc="75" b="1">
                <a:latin typeface="Cambria"/>
                <a:cs typeface="Cambria"/>
              </a:rPr>
              <a:t>β=A…Z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5539" y="4434966"/>
            <a:ext cx="950341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75"/>
              </a:lnSpc>
              <a:spcBef>
                <a:spcPts val="100"/>
              </a:spcBef>
            </a:pPr>
            <a:r>
              <a:rPr dirty="0" sz="2000" spc="90" b="1">
                <a:latin typeface="Cambria"/>
                <a:cs typeface="Cambria"/>
              </a:rPr>
              <a:t>*(X,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Y)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means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↠</a:t>
            </a:r>
            <a:r>
              <a:rPr dirty="0" sz="2000" spc="204">
                <a:latin typeface="Cambria Math"/>
                <a:cs typeface="Cambria Math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B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560" b="1">
                <a:latin typeface="Cambria"/>
                <a:cs typeface="Cambria"/>
              </a:rPr>
              <a:t>|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275" b="1">
                <a:latin typeface="Cambria"/>
                <a:cs typeface="Cambria"/>
              </a:rPr>
              <a:t>C</a:t>
            </a:r>
            <a:r>
              <a:rPr dirty="0" sz="2000" spc="275">
                <a:latin typeface="Cambria"/>
                <a:cs typeface="Cambria"/>
              </a:rPr>
              <a:t>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where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320" b="1">
                <a:latin typeface="Cambria"/>
                <a:cs typeface="Cambria"/>
              </a:rPr>
              <a:t>X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=</a:t>
            </a:r>
            <a:r>
              <a:rPr dirty="0" sz="2000" spc="245" b="1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-1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-30">
                <a:latin typeface="Cambria Math"/>
                <a:cs typeface="Cambria Math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B</a:t>
            </a:r>
            <a:r>
              <a:rPr dirty="0" sz="2000" spc="180">
                <a:latin typeface="Cambria"/>
                <a:cs typeface="Cambria"/>
              </a:rPr>
              <a:t>,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80" b="1">
                <a:latin typeface="Cambria"/>
                <a:cs typeface="Cambria"/>
              </a:rPr>
              <a:t>Y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b="1">
                <a:latin typeface="Cambria"/>
                <a:cs typeface="Cambria"/>
              </a:rPr>
              <a:t>=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40" b="1">
                <a:latin typeface="Cambria"/>
                <a:cs typeface="Cambria"/>
              </a:rPr>
              <a:t>A</a:t>
            </a:r>
            <a:r>
              <a:rPr dirty="0" sz="2000" spc="-10" b="1">
                <a:latin typeface="Cambria"/>
                <a:cs typeface="Cambria"/>
              </a:rPr>
              <a:t> </a:t>
            </a:r>
            <a:r>
              <a:rPr dirty="0" sz="2000">
                <a:latin typeface="Cambria Math"/>
                <a:cs typeface="Cambria Math"/>
              </a:rPr>
              <a:t>∪</a:t>
            </a:r>
            <a:r>
              <a:rPr dirty="0" sz="2000" spc="-25">
                <a:latin typeface="Cambria Math"/>
                <a:cs typeface="Cambria Math"/>
              </a:rPr>
              <a:t> </a:t>
            </a:r>
            <a:r>
              <a:rPr dirty="0" sz="2000" spc="275" b="1">
                <a:latin typeface="Cambria"/>
                <a:cs typeface="Cambria"/>
              </a:rPr>
              <a:t>C</a:t>
            </a:r>
            <a:r>
              <a:rPr dirty="0" sz="2000" spc="275">
                <a:latin typeface="Cambria"/>
                <a:cs typeface="Cambria"/>
              </a:rPr>
              <a:t>,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i.e.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join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is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275"/>
              </a:lnSpc>
            </a:pP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generalized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version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multivalued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dependency.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0139" y="3415665"/>
            <a:ext cx="9899015" cy="879475"/>
          </a:xfrm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38100" marR="30480">
              <a:lnSpc>
                <a:spcPts val="2160"/>
              </a:lnSpc>
              <a:spcBef>
                <a:spcPts val="375"/>
              </a:spcBef>
            </a:pPr>
            <a:r>
              <a:rPr dirty="0" spc="110"/>
              <a:t>A</a:t>
            </a:r>
            <a:r>
              <a:rPr dirty="0" spc="210"/>
              <a:t> </a:t>
            </a:r>
            <a:r>
              <a:rPr dirty="0" spc="90"/>
              <a:t>relation</a:t>
            </a:r>
            <a:r>
              <a:rPr dirty="0" spc="195"/>
              <a:t> </a:t>
            </a:r>
            <a:r>
              <a:rPr dirty="0" spc="225" b="1">
                <a:latin typeface="Cambria"/>
                <a:cs typeface="Cambria"/>
              </a:rPr>
              <a:t>R</a:t>
            </a:r>
            <a:r>
              <a:rPr dirty="0" spc="200" b="1">
                <a:latin typeface="Cambria"/>
                <a:cs typeface="Cambria"/>
              </a:rPr>
              <a:t> </a:t>
            </a:r>
            <a:r>
              <a:rPr dirty="0" spc="110"/>
              <a:t>is</a:t>
            </a:r>
            <a:r>
              <a:rPr dirty="0" spc="210"/>
              <a:t> </a:t>
            </a:r>
            <a:r>
              <a:rPr dirty="0" spc="120"/>
              <a:t>in</a:t>
            </a:r>
            <a:r>
              <a:rPr dirty="0" spc="200"/>
              <a:t> </a:t>
            </a:r>
            <a:r>
              <a:rPr dirty="0" spc="110"/>
              <a:t>the</a:t>
            </a:r>
            <a:r>
              <a:rPr dirty="0" spc="215"/>
              <a:t> </a:t>
            </a:r>
            <a:r>
              <a:rPr dirty="0" spc="125" b="1">
                <a:latin typeface="Cambria"/>
                <a:cs typeface="Cambria"/>
              </a:rPr>
              <a:t>5</a:t>
            </a:r>
            <a:r>
              <a:rPr dirty="0" baseline="25641" sz="1950" spc="187" b="1">
                <a:latin typeface="Cambria"/>
                <a:cs typeface="Cambria"/>
              </a:rPr>
              <a:t>th</a:t>
            </a:r>
            <a:r>
              <a:rPr dirty="0" baseline="25641" sz="1950" spc="615" b="1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normal</a:t>
            </a:r>
            <a:r>
              <a:rPr dirty="0" sz="2000" spc="175" b="1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form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00"/>
              <a:t>(5NF,</a:t>
            </a:r>
            <a:r>
              <a:rPr dirty="0" sz="2000" spc="165"/>
              <a:t> </a:t>
            </a:r>
            <a:r>
              <a:rPr dirty="0" sz="2000" spc="90"/>
              <a:t>project-</a:t>
            </a:r>
            <a:r>
              <a:rPr dirty="0" sz="2000" spc="85"/>
              <a:t>join</a:t>
            </a:r>
            <a:r>
              <a:rPr dirty="0" sz="2000" spc="165"/>
              <a:t> </a:t>
            </a:r>
            <a:r>
              <a:rPr dirty="0" sz="2000" spc="120"/>
              <a:t>normal</a:t>
            </a:r>
            <a:r>
              <a:rPr dirty="0" sz="2000" spc="200"/>
              <a:t> </a:t>
            </a:r>
            <a:r>
              <a:rPr dirty="0" sz="2000" spc="114"/>
              <a:t>form,</a:t>
            </a:r>
            <a:r>
              <a:rPr dirty="0" sz="2000" spc="180"/>
              <a:t> </a:t>
            </a:r>
            <a:r>
              <a:rPr dirty="0" sz="2000" spc="170"/>
              <a:t>PJNF)</a:t>
            </a:r>
            <a:r>
              <a:rPr dirty="0" sz="2000" spc="180"/>
              <a:t> </a:t>
            </a:r>
            <a:r>
              <a:rPr dirty="0" sz="2000" spc="-25"/>
              <a:t>iff </a:t>
            </a:r>
            <a:r>
              <a:rPr dirty="0" sz="2000">
                <a:solidFill>
                  <a:srgbClr val="7E7E7E"/>
                </a:solidFill>
              </a:rPr>
              <a:t>(very</a:t>
            </a:r>
            <a:r>
              <a:rPr dirty="0" sz="2000" spc="175">
                <a:solidFill>
                  <a:srgbClr val="7E7E7E"/>
                </a:solidFill>
              </a:rPr>
              <a:t> </a:t>
            </a:r>
            <a:r>
              <a:rPr dirty="0" sz="2000" spc="70">
                <a:solidFill>
                  <a:srgbClr val="7E7E7E"/>
                </a:solidFill>
              </a:rPr>
              <a:t>informally)</a:t>
            </a:r>
            <a:r>
              <a:rPr dirty="0" sz="2000" spc="195">
                <a:solidFill>
                  <a:srgbClr val="7E7E7E"/>
                </a:solidFill>
              </a:rPr>
              <a:t> </a:t>
            </a:r>
            <a:r>
              <a:rPr dirty="0" sz="2000" spc="90"/>
              <a:t>there</a:t>
            </a:r>
            <a:r>
              <a:rPr dirty="0" sz="2000" spc="195"/>
              <a:t> </a:t>
            </a:r>
            <a:r>
              <a:rPr dirty="0" sz="2000" spc="100"/>
              <a:t>are</a:t>
            </a:r>
            <a:r>
              <a:rPr dirty="0" sz="2000" spc="190"/>
              <a:t> </a:t>
            </a:r>
            <a:r>
              <a:rPr dirty="0" sz="2000" spc="125"/>
              <a:t>no</a:t>
            </a:r>
            <a:r>
              <a:rPr dirty="0" sz="2000" spc="215"/>
              <a:t> </a:t>
            </a:r>
            <a:r>
              <a:rPr dirty="0" sz="2000" spc="85"/>
              <a:t>join</a:t>
            </a:r>
            <a:r>
              <a:rPr dirty="0" sz="2000" spc="210"/>
              <a:t> </a:t>
            </a:r>
            <a:r>
              <a:rPr dirty="0" sz="2000" spc="114"/>
              <a:t>dependencies</a:t>
            </a:r>
            <a:r>
              <a:rPr dirty="0" sz="2000" spc="204"/>
              <a:t> </a:t>
            </a:r>
            <a:r>
              <a:rPr dirty="0" sz="2000" spc="105"/>
              <a:t>besides</a:t>
            </a:r>
            <a:r>
              <a:rPr dirty="0" sz="2000" spc="175"/>
              <a:t> </a:t>
            </a:r>
            <a:r>
              <a:rPr dirty="0" sz="2000" spc="114"/>
              <a:t>multivalued </a:t>
            </a:r>
            <a:r>
              <a:rPr dirty="0" sz="2000" spc="110"/>
              <a:t>dependencies</a:t>
            </a:r>
            <a:r>
              <a:rPr dirty="0" sz="2000" spc="190"/>
              <a:t> </a:t>
            </a:r>
            <a:r>
              <a:rPr dirty="0" sz="2000" spc="80"/>
              <a:t>allowed</a:t>
            </a:r>
            <a:r>
              <a:rPr dirty="0" sz="2000" spc="204"/>
              <a:t> </a:t>
            </a:r>
            <a:r>
              <a:rPr dirty="0" sz="2000" spc="95"/>
              <a:t>by</a:t>
            </a:r>
            <a:r>
              <a:rPr dirty="0" sz="2000" spc="195"/>
              <a:t> </a:t>
            </a:r>
            <a:r>
              <a:rPr dirty="0" sz="2000" spc="145"/>
              <a:t>4NF.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4671" y="957540"/>
            <a:ext cx="151206" cy="756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592" y="699516"/>
            <a:ext cx="4583290" cy="46558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9401" y="699516"/>
            <a:ext cx="1819148" cy="57569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7488" y="1366266"/>
            <a:ext cx="3821264" cy="567309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063752" y="2093976"/>
            <a:ext cx="4837430" cy="2009775"/>
          </a:xfrm>
          <a:custGeom>
            <a:avLst/>
            <a:gdLst/>
            <a:ahLst/>
            <a:cxnLst/>
            <a:rect l="l" t="t" r="r" b="b"/>
            <a:pathLst>
              <a:path w="4837430" h="2009775">
                <a:moveTo>
                  <a:pt x="0" y="2009775"/>
                </a:moveTo>
                <a:lnTo>
                  <a:pt x="4837303" y="2009775"/>
                </a:lnTo>
                <a:lnTo>
                  <a:pt x="4837303" y="0"/>
                </a:lnTo>
                <a:lnTo>
                  <a:pt x="0" y="0"/>
                </a:lnTo>
                <a:lnTo>
                  <a:pt x="0" y="2009775"/>
                </a:lnTo>
                <a:close/>
              </a:path>
            </a:pathLst>
          </a:custGeom>
          <a:ln w="9525">
            <a:solidFill>
              <a:srgbClr val="A44D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5191" y="1952980"/>
            <a:ext cx="2146935" cy="17068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--non-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5NF</a:t>
            </a:r>
            <a:endParaRPr sz="2000">
              <a:latin typeface="Courier New"/>
              <a:cs typeface="Courier New"/>
            </a:endParaRPr>
          </a:p>
          <a:p>
            <a:pPr marL="304800" marR="919480" indent="-305435">
              <a:lnSpc>
                <a:spcPts val="2160"/>
              </a:lnSpc>
              <a:spcBef>
                <a:spcPts val="1230"/>
              </a:spcBef>
            </a:pPr>
            <a:r>
              <a:rPr dirty="0" sz="2000" spc="-10" b="1">
                <a:latin typeface="Courier New"/>
                <a:cs typeface="Courier New"/>
              </a:rPr>
              <a:t>RETAIL: </a:t>
            </a:r>
            <a:r>
              <a:rPr dirty="0" sz="2000" spc="-20">
                <a:latin typeface="Courier New"/>
                <a:cs typeface="Courier New"/>
              </a:rPr>
              <a:t>WARE </a:t>
            </a:r>
            <a:r>
              <a:rPr dirty="0" sz="2000" spc="-10">
                <a:latin typeface="Courier New"/>
                <a:cs typeface="Courier New"/>
              </a:rPr>
              <a:t>TRADER</a:t>
            </a:r>
            <a:endParaRPr sz="2000">
              <a:latin typeface="Courier New"/>
              <a:cs typeface="Courier New"/>
            </a:endParaRPr>
          </a:p>
          <a:p>
            <a:pPr marL="304800">
              <a:lnSpc>
                <a:spcPts val="2165"/>
              </a:lnSpc>
            </a:pPr>
            <a:r>
              <a:rPr dirty="0" sz="2000" spc="-10">
                <a:latin typeface="Courier New"/>
                <a:cs typeface="Courier New"/>
              </a:rPr>
              <a:t>MANUFACTURER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356227" y="2775331"/>
            <a:ext cx="1384300" cy="884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algn="just" marR="5080">
              <a:lnSpc>
                <a:spcPct val="90800"/>
              </a:lnSpc>
              <a:spcBef>
                <a:spcPts val="32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83437" y="4297527"/>
            <a:ext cx="5178425" cy="130619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125" b="1">
                <a:latin typeface="Cambria"/>
                <a:cs typeface="Cambria"/>
              </a:rPr>
              <a:t>Domain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125" b="1">
                <a:latin typeface="Cambria"/>
                <a:cs typeface="Cambria"/>
              </a:rPr>
              <a:t>constraint: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if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license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sell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90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u="sng" sz="2000" spc="14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produces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this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90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83437" y="5577941"/>
            <a:ext cx="8211184" cy="8788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94945" indent="-182245">
              <a:lnSpc>
                <a:spcPct val="100000"/>
              </a:lnSpc>
              <a:spcBef>
                <a:spcPts val="10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95">
                <a:latin typeface="Cambria"/>
                <a:cs typeface="Cambria"/>
              </a:rPr>
              <a:t>has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85">
                <a:latin typeface="Cambria"/>
                <a:cs typeface="Cambria"/>
              </a:rPr>
              <a:t>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retail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contract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with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u="sng" sz="2000" spc="13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35">
                <a:latin typeface="Cambria"/>
                <a:cs typeface="Cambria"/>
              </a:rPr>
              <a:t>,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135">
                <a:latin typeface="Cambria"/>
                <a:cs typeface="Cambria"/>
              </a:rPr>
              <a:t>then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u="sng" sz="2000" spc="9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trader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50" b="1">
                <a:latin typeface="Cambria"/>
                <a:cs typeface="Cambria"/>
              </a:rPr>
              <a:t>will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sell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given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u="sng" sz="2000" spc="7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ware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given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u="sng" sz="2000" spc="135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manufacturer</a:t>
            </a:r>
            <a:r>
              <a:rPr dirty="0" sz="2000" spc="135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6460616" y="2093976"/>
            <a:ext cx="4837430" cy="3399154"/>
          </a:xfrm>
          <a:custGeom>
            <a:avLst/>
            <a:gdLst/>
            <a:ahLst/>
            <a:cxnLst/>
            <a:rect l="l" t="t" r="r" b="b"/>
            <a:pathLst>
              <a:path w="4837430" h="3399154">
                <a:moveTo>
                  <a:pt x="0" y="3399028"/>
                </a:moveTo>
                <a:lnTo>
                  <a:pt x="4837302" y="3399028"/>
                </a:lnTo>
                <a:lnTo>
                  <a:pt x="4837302" y="0"/>
                </a:lnTo>
                <a:lnTo>
                  <a:pt x="0" y="0"/>
                </a:lnTo>
                <a:lnTo>
                  <a:pt x="0" y="3399028"/>
                </a:lnTo>
                <a:close/>
              </a:path>
            </a:pathLst>
          </a:custGeom>
          <a:ln w="9525">
            <a:solidFill>
              <a:srgbClr val="CCC7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740900" y="2775331"/>
            <a:ext cx="139700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540245" y="1952980"/>
            <a:ext cx="2311400" cy="185483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2000" spc="-10">
                <a:solidFill>
                  <a:srgbClr val="7E7E7E"/>
                </a:solidFill>
                <a:latin typeface="Courier New"/>
                <a:cs typeface="Courier New"/>
              </a:rPr>
              <a:t>--</a:t>
            </a:r>
            <a:r>
              <a:rPr dirty="0" sz="2000" spc="-25">
                <a:solidFill>
                  <a:srgbClr val="7E7E7E"/>
                </a:solidFill>
                <a:latin typeface="Courier New"/>
                <a:cs typeface="Courier New"/>
              </a:rPr>
              <a:t>5NF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RETAIL_LICENSE: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60"/>
              </a:lnSpc>
            </a:pPr>
            <a:r>
              <a:rPr dirty="0" sz="2000" spc="-10">
                <a:latin typeface="Courier New"/>
                <a:cs typeface="Courier New"/>
              </a:rPr>
              <a:t>TRADER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280"/>
              </a:lnSpc>
            </a:pPr>
            <a:r>
              <a:rPr dirty="0" sz="2000" spc="-20">
                <a:latin typeface="Courier New"/>
                <a:cs typeface="Courier New"/>
              </a:rPr>
              <a:t>WARE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-10" b="1">
                <a:latin typeface="Courier New"/>
                <a:cs typeface="Courier New"/>
              </a:rPr>
              <a:t>MANUFACTURING: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6825995" y="3806269"/>
          <a:ext cx="4407535" cy="566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3950"/>
                <a:gridCol w="1219200"/>
                <a:gridCol w="717550"/>
              </a:tblGrid>
              <a:tr h="283210">
                <a:tc>
                  <a:txBody>
                    <a:bodyPr/>
                    <a:lstStyle/>
                    <a:p>
                      <a:pPr marL="31750">
                        <a:lnSpc>
                          <a:spcPts val="2070"/>
                        </a:lnSpc>
                      </a:pPr>
                      <a:r>
                        <a:rPr dirty="0" sz="2000" spc="-20">
                          <a:latin typeface="Courier New"/>
                          <a:cs typeface="Courier New"/>
                        </a:rPr>
                        <a:t>WARE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7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83210">
                <a:tc>
                  <a:txBody>
                    <a:bodyPr/>
                    <a:lstStyle/>
                    <a:p>
                      <a:pPr marL="31750">
                        <a:lnSpc>
                          <a:spcPts val="2030"/>
                        </a:lnSpc>
                      </a:pPr>
                      <a:r>
                        <a:rPr dirty="0" sz="2000" spc="-10">
                          <a:latin typeface="Courier New"/>
                          <a:cs typeface="Courier New"/>
                        </a:rPr>
                        <a:t>MANUFACTURER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ts val="203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ts val="2030"/>
                        </a:lnSpc>
                      </a:pPr>
                      <a:r>
                        <a:rPr dirty="0" sz="2000" spc="-20">
                          <a:solidFill>
                            <a:srgbClr val="006FC0"/>
                          </a:solidFill>
                          <a:latin typeface="Courier New"/>
                          <a:cs typeface="Courier New"/>
                        </a:rPr>
                        <a:t>(PK)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 descr=""/>
          <p:cNvSpPr txBox="1"/>
          <p:nvPr/>
        </p:nvSpPr>
        <p:spPr>
          <a:xfrm>
            <a:off x="6540245" y="4452365"/>
            <a:ext cx="2463800" cy="88455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317500" marR="5080" indent="-304800">
              <a:lnSpc>
                <a:spcPct val="90800"/>
              </a:lnSpc>
              <a:spcBef>
                <a:spcPts val="325"/>
              </a:spcBef>
            </a:pPr>
            <a:r>
              <a:rPr dirty="0" sz="2000" spc="-10" b="1">
                <a:latin typeface="Courier New"/>
                <a:cs typeface="Courier New"/>
              </a:rPr>
              <a:t>RETAIL_CONTRACT: </a:t>
            </a:r>
            <a:r>
              <a:rPr dirty="0" sz="2000" spc="-10">
                <a:latin typeface="Courier New"/>
                <a:cs typeface="Courier New"/>
              </a:rPr>
              <a:t>TRADER MANUFACTURER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740900" y="4726685"/>
            <a:ext cx="1397000" cy="61023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340"/>
              </a:spcBef>
            </a:pP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 </a:t>
            </a:r>
            <a:r>
              <a:rPr dirty="0" sz="2000">
                <a:solidFill>
                  <a:srgbClr val="006FC0"/>
                </a:solidFill>
                <a:latin typeface="Courier New"/>
                <a:cs typeface="Courier New"/>
              </a:rPr>
              <a:t>TEXT</a:t>
            </a:r>
            <a:r>
              <a:rPr dirty="0" sz="2000" spc="-20">
                <a:solidFill>
                  <a:srgbClr val="006FC0"/>
                </a:solidFill>
                <a:latin typeface="Courier New"/>
                <a:cs typeface="Courier New"/>
              </a:rPr>
              <a:t> (PK)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592" y="1028700"/>
            <a:ext cx="5692127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48588" y="1997176"/>
            <a:ext cx="9112250" cy="4135120"/>
          </a:xfrm>
          <a:prstGeom prst="rect">
            <a:avLst/>
          </a:prstGeom>
        </p:spPr>
        <p:txBody>
          <a:bodyPr wrap="square" lIns="0" tIns="131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000" spc="80" b="1">
                <a:latin typeface="Cambria"/>
                <a:cs typeface="Cambria"/>
              </a:rPr>
              <a:t>Problem</a:t>
            </a:r>
            <a:r>
              <a:rPr dirty="0" sz="2000" spc="235" b="1">
                <a:latin typeface="Cambria"/>
                <a:cs typeface="Cambria"/>
              </a:rPr>
              <a:t> </a:t>
            </a:r>
            <a:r>
              <a:rPr dirty="0" sz="2000" spc="145" b="1">
                <a:latin typeface="Cambria"/>
                <a:cs typeface="Cambria"/>
              </a:rPr>
              <a:t>statement</a:t>
            </a:r>
            <a:r>
              <a:rPr dirty="0" sz="2000" spc="225" b="1">
                <a:latin typeface="Cambria"/>
                <a:cs typeface="Cambria"/>
              </a:rPr>
              <a:t> </a:t>
            </a:r>
            <a:r>
              <a:rPr dirty="0" sz="2000" spc="120" b="1">
                <a:latin typeface="Cambria"/>
                <a:cs typeface="Cambria"/>
              </a:rPr>
              <a:t>elements: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35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95">
                <a:latin typeface="Cambria"/>
                <a:cs typeface="Cambria"/>
              </a:rPr>
              <a:t>Problem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domain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5580" algn="l"/>
              </a:tabLst>
            </a:pPr>
            <a:r>
              <a:rPr dirty="0" sz="2000" spc="160">
                <a:latin typeface="Cambria"/>
                <a:cs typeface="Cambria"/>
              </a:rPr>
              <a:t>Domain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data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65">
                <a:solidFill>
                  <a:srgbClr val="7E7E7E"/>
                </a:solidFill>
                <a:latin typeface="Cambria"/>
                <a:cs typeface="Cambria"/>
              </a:rPr>
              <a:t>(typically</a:t>
            </a:r>
            <a:r>
              <a:rPr dirty="0" sz="2000" spc="18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20">
                <a:solidFill>
                  <a:srgbClr val="7E7E7E"/>
                </a:solidFill>
                <a:latin typeface="Cambria"/>
                <a:cs typeface="Cambria"/>
              </a:rPr>
              <a:t>in</a:t>
            </a:r>
            <a:r>
              <a:rPr dirty="0" sz="2000" spc="204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4">
                <a:solidFill>
                  <a:srgbClr val="7E7E7E"/>
                </a:solidFill>
                <a:latin typeface="Cambria"/>
                <a:cs typeface="Cambria"/>
              </a:rPr>
              <a:t>the</a:t>
            </a:r>
            <a:r>
              <a:rPr dirty="0" sz="2000" spc="21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95">
                <a:solidFill>
                  <a:srgbClr val="7E7E7E"/>
                </a:solidFill>
                <a:latin typeface="Cambria"/>
                <a:cs typeface="Cambria"/>
              </a:rPr>
              <a:t>relational</a:t>
            </a:r>
            <a:r>
              <a:rPr dirty="0" sz="2000" spc="175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7E7E7E"/>
                </a:solidFill>
                <a:latin typeface="Cambria"/>
                <a:cs typeface="Cambria"/>
              </a:rPr>
              <a:t>form)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60">
                <a:latin typeface="Cambria"/>
                <a:cs typeface="Cambria"/>
              </a:rPr>
              <a:t>Domain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constraints</a:t>
            </a:r>
            <a:endParaRPr sz="2000">
              <a:latin typeface="Cambria"/>
              <a:cs typeface="Cambria"/>
            </a:endParaRPr>
          </a:p>
          <a:p>
            <a:pPr marL="194945" indent="-182245">
              <a:lnSpc>
                <a:spcPct val="100000"/>
              </a:lnSpc>
              <a:spcBef>
                <a:spcPts val="960"/>
              </a:spcBef>
              <a:buClr>
                <a:srgbClr val="957D95"/>
              </a:buClr>
              <a:buSzPct val="85000"/>
              <a:buFont typeface="Wingdings"/>
              <a:buChar char=""/>
              <a:tabLst>
                <a:tab pos="194945" algn="l"/>
              </a:tabLst>
            </a:pPr>
            <a:r>
              <a:rPr dirty="0" sz="2000" spc="145">
                <a:latin typeface="Cambria"/>
                <a:cs typeface="Cambria"/>
              </a:rPr>
              <a:t>Questions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come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problem</a:t>
            </a:r>
            <a:r>
              <a:rPr dirty="0" sz="2000" spc="155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definition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0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120" b="1">
                <a:latin typeface="Cambria"/>
                <a:cs typeface="Cambria"/>
              </a:rPr>
              <a:t>Solution:</a:t>
            </a:r>
            <a:endParaRPr sz="2000">
              <a:latin typeface="Cambria"/>
              <a:cs typeface="Cambria"/>
            </a:endParaRPr>
          </a:p>
          <a:p>
            <a:pPr marL="469900" marR="233045" indent="-457834">
              <a:lnSpc>
                <a:spcPts val="2160"/>
              </a:lnSpc>
              <a:spcBef>
                <a:spcPts val="1205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90">
                <a:latin typeface="Cambria"/>
                <a:cs typeface="Cambria"/>
              </a:rPr>
              <a:t>Normalized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relational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schema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7E7E7E"/>
                </a:solidFill>
                <a:latin typeface="Cambria"/>
                <a:cs typeface="Cambria"/>
              </a:rPr>
              <a:t>(or</a:t>
            </a:r>
            <a:r>
              <a:rPr dirty="0" sz="2000" spc="19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10">
                <a:solidFill>
                  <a:srgbClr val="7E7E7E"/>
                </a:solidFill>
                <a:latin typeface="Cambria"/>
                <a:cs typeface="Cambria"/>
              </a:rPr>
              <a:t>not</a:t>
            </a:r>
            <a:r>
              <a:rPr dirty="0" sz="20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75">
                <a:solidFill>
                  <a:srgbClr val="7E7E7E"/>
                </a:solidFill>
                <a:latin typeface="Cambria"/>
                <a:cs typeface="Cambria"/>
              </a:rPr>
              <a:t>relational)</a:t>
            </a:r>
            <a:r>
              <a:rPr dirty="0" sz="2000" spc="20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representing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the </a:t>
            </a:r>
            <a:r>
              <a:rPr dirty="0" sz="2000" spc="120">
                <a:latin typeface="Cambria"/>
                <a:cs typeface="Cambria"/>
              </a:rPr>
              <a:t>necessary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data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0">
                <a:latin typeface="Cambria"/>
                <a:cs typeface="Cambria"/>
              </a:rPr>
              <a:t> much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domain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constraints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it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can.</a:t>
            </a:r>
            <a:endParaRPr sz="200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930"/>
              </a:spcBef>
              <a:buClr>
                <a:srgbClr val="957D95"/>
              </a:buClr>
              <a:buSzPct val="85000"/>
              <a:buAutoNum type="arabicPeriod"/>
              <a:tabLst>
                <a:tab pos="469900" algn="l"/>
              </a:tabLst>
            </a:pPr>
            <a:r>
              <a:rPr dirty="0" sz="2000" spc="130">
                <a:latin typeface="Cambria"/>
                <a:cs typeface="Cambria"/>
              </a:rPr>
              <a:t>Queries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54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problem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optimizing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modifications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for</a:t>
            </a:r>
            <a:r>
              <a:rPr dirty="0" sz="2000" spc="23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schema.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211" y="2041601"/>
            <a:ext cx="1600200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55"/>
              <a:t>Many-</a:t>
            </a:r>
            <a:r>
              <a:rPr dirty="0" spc="85"/>
              <a:t>to-</a:t>
            </a:r>
            <a:r>
              <a:rPr dirty="0" spc="80"/>
              <a:t>one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68061" y="2041601"/>
            <a:ext cx="119316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50">
                <a:latin typeface="Cambria"/>
                <a:cs typeface="Cambria"/>
              </a:rPr>
              <a:t>(0…∞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-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-25">
                <a:latin typeface="Cambria"/>
                <a:cs typeface="Cambria"/>
              </a:rPr>
              <a:t>1)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2211" y="3322142"/>
            <a:ext cx="35286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155">
                <a:latin typeface="Cambria"/>
                <a:cs typeface="Cambria"/>
              </a:rPr>
              <a:t>Many-</a:t>
            </a:r>
            <a:r>
              <a:rPr dirty="0" sz="2000" spc="85">
                <a:latin typeface="Cambria"/>
                <a:cs typeface="Cambria"/>
              </a:rPr>
              <a:t>to-</a:t>
            </a:r>
            <a:r>
              <a:rPr dirty="0" sz="2000" spc="160">
                <a:latin typeface="Cambria"/>
                <a:cs typeface="Cambria"/>
              </a:rPr>
              <a:t>many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(0…∞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-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30">
                <a:latin typeface="Cambria"/>
                <a:cs typeface="Cambria"/>
              </a:rPr>
              <a:t>0…∞)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2211" y="4602556"/>
            <a:ext cx="49942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95">
                <a:latin typeface="Cambria"/>
                <a:cs typeface="Cambria"/>
              </a:rPr>
              <a:t>At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least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60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50">
                <a:latin typeface="Cambria"/>
                <a:cs typeface="Cambria"/>
              </a:rPr>
              <a:t>zero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55">
                <a:latin typeface="Cambria"/>
                <a:cs typeface="Cambria"/>
              </a:rPr>
              <a:t>or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one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(1…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-275">
                <a:latin typeface="Cambria"/>
                <a:cs typeface="Cambria"/>
              </a:rPr>
              <a:t>∞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-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0…1)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8544" y="257429"/>
            <a:ext cx="1492872" cy="57569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8948" y="515580"/>
            <a:ext cx="151206" cy="7560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4626" y="257429"/>
            <a:ext cx="7777480" cy="58407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6533" y="915797"/>
            <a:ext cx="5819929" cy="46824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756032" y="2437377"/>
            <a:ext cx="1501140" cy="191135"/>
            <a:chOff x="756032" y="2437377"/>
            <a:chExt cx="1501140" cy="191135"/>
          </a:xfrm>
        </p:grpSpPr>
        <p:sp>
          <p:nvSpPr>
            <p:cNvPr id="11" name="object 11" descr=""/>
            <p:cNvSpPr/>
            <p:nvPr/>
          </p:nvSpPr>
          <p:spPr>
            <a:xfrm>
              <a:off x="1061874" y="2462489"/>
              <a:ext cx="1170305" cy="140335"/>
            </a:xfrm>
            <a:custGeom>
              <a:avLst/>
              <a:gdLst/>
              <a:ahLst/>
              <a:cxnLst/>
              <a:rect l="l" t="t" r="r" b="b"/>
              <a:pathLst>
                <a:path w="1170305" h="140335">
                  <a:moveTo>
                    <a:pt x="1169724" y="70072"/>
                  </a:moveTo>
                  <a:lnTo>
                    <a:pt x="0" y="70367"/>
                  </a:lnTo>
                </a:path>
                <a:path w="1170305" h="140335">
                  <a:moveTo>
                    <a:pt x="959388" y="16"/>
                  </a:moveTo>
                  <a:lnTo>
                    <a:pt x="959422" y="140229"/>
                  </a:lnTo>
                </a:path>
                <a:path w="1170305" h="140335">
                  <a:moveTo>
                    <a:pt x="1029494" y="0"/>
                  </a:moveTo>
                  <a:lnTo>
                    <a:pt x="1029528" y="140211"/>
                  </a:lnTo>
                </a:path>
              </a:pathLst>
            </a:custGeom>
            <a:ln w="50800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6032" y="2437377"/>
              <a:ext cx="331242" cy="191053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756032" y="3812373"/>
            <a:ext cx="1491615" cy="195580"/>
            <a:chOff x="756032" y="3812373"/>
            <a:chExt cx="1491615" cy="195580"/>
          </a:xfrm>
        </p:grpSpPr>
        <p:sp>
          <p:nvSpPr>
            <p:cNvPr id="14" name="object 14" descr=""/>
            <p:cNvSpPr/>
            <p:nvPr/>
          </p:nvSpPr>
          <p:spPr>
            <a:xfrm>
              <a:off x="1062039" y="3908658"/>
              <a:ext cx="879475" cy="2540"/>
            </a:xfrm>
            <a:custGeom>
              <a:avLst/>
              <a:gdLst/>
              <a:ahLst/>
              <a:cxnLst/>
              <a:rect l="l" t="t" r="r" b="b"/>
              <a:pathLst>
                <a:path w="879475" h="2539">
                  <a:moveTo>
                    <a:pt x="0" y="0"/>
                  </a:moveTo>
                  <a:lnTo>
                    <a:pt x="879196" y="2438"/>
                  </a:lnTo>
                </a:path>
              </a:pathLst>
            </a:custGeom>
            <a:ln w="50799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6032" y="3812373"/>
              <a:ext cx="331407" cy="19159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835" y="3815793"/>
              <a:ext cx="331407" cy="191583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794119" y="5098882"/>
            <a:ext cx="1440815" cy="144145"/>
          </a:xfrm>
          <a:custGeom>
            <a:avLst/>
            <a:gdLst/>
            <a:ahLst/>
            <a:cxnLst/>
            <a:rect l="l" t="t" r="r" b="b"/>
            <a:pathLst>
              <a:path w="1440814" h="144145">
                <a:moveTo>
                  <a:pt x="140397" y="70497"/>
                </a:moveTo>
                <a:lnTo>
                  <a:pt x="1159804" y="73323"/>
                </a:lnTo>
              </a:path>
              <a:path w="1440814" h="144145">
                <a:moveTo>
                  <a:pt x="210316" y="140793"/>
                </a:moveTo>
                <a:lnTo>
                  <a:pt x="210705" y="592"/>
                </a:lnTo>
              </a:path>
              <a:path w="1440814" h="144145">
                <a:moveTo>
                  <a:pt x="140397" y="70497"/>
                </a:moveTo>
                <a:lnTo>
                  <a:pt x="194" y="70108"/>
                </a:lnTo>
              </a:path>
              <a:path w="1440814" h="144145">
                <a:moveTo>
                  <a:pt x="140397" y="70497"/>
                </a:moveTo>
                <a:lnTo>
                  <a:pt x="0" y="140211"/>
                </a:lnTo>
              </a:path>
              <a:path w="1440814" h="144145">
                <a:moveTo>
                  <a:pt x="140397" y="70497"/>
                </a:moveTo>
                <a:lnTo>
                  <a:pt x="389" y="0"/>
                </a:lnTo>
              </a:path>
              <a:path w="1440814" h="144145">
                <a:moveTo>
                  <a:pt x="1300015" y="73713"/>
                </a:moveTo>
                <a:lnTo>
                  <a:pt x="1294579" y="46410"/>
                </a:lnTo>
                <a:lnTo>
                  <a:pt x="1279616" y="24085"/>
                </a:lnTo>
                <a:lnTo>
                  <a:pt x="1257373" y="9001"/>
                </a:lnTo>
                <a:lnTo>
                  <a:pt x="1230095" y="3420"/>
                </a:lnTo>
                <a:lnTo>
                  <a:pt x="1202796" y="8848"/>
                </a:lnTo>
                <a:lnTo>
                  <a:pt x="1180471" y="23809"/>
                </a:lnTo>
                <a:lnTo>
                  <a:pt x="1165386" y="46051"/>
                </a:lnTo>
                <a:lnTo>
                  <a:pt x="1159804" y="73323"/>
                </a:lnTo>
                <a:lnTo>
                  <a:pt x="1165239" y="100626"/>
                </a:lnTo>
                <a:lnTo>
                  <a:pt x="1180200" y="122951"/>
                </a:lnTo>
                <a:lnTo>
                  <a:pt x="1202438" y="138036"/>
                </a:lnTo>
                <a:lnTo>
                  <a:pt x="1229706" y="143621"/>
                </a:lnTo>
                <a:lnTo>
                  <a:pt x="1257015" y="138187"/>
                </a:lnTo>
                <a:lnTo>
                  <a:pt x="1279345" y="123225"/>
                </a:lnTo>
                <a:lnTo>
                  <a:pt x="1294432" y="100984"/>
                </a:lnTo>
                <a:lnTo>
                  <a:pt x="1300015" y="73713"/>
                </a:lnTo>
                <a:lnTo>
                  <a:pt x="1440225" y="74101"/>
                </a:lnTo>
              </a:path>
              <a:path w="1440814" h="144145">
                <a:moveTo>
                  <a:pt x="1370306" y="3809"/>
                </a:moveTo>
                <a:lnTo>
                  <a:pt x="1369917" y="144009"/>
                </a:lnTo>
              </a:path>
            </a:pathLst>
          </a:custGeom>
          <a:ln w="50800">
            <a:solidFill>
              <a:srgbClr val="615885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9717456" y="4648111"/>
            <a:ext cx="2212975" cy="1481455"/>
            <a:chOff x="9717456" y="4648111"/>
            <a:chExt cx="2212975" cy="1481455"/>
          </a:xfrm>
        </p:grpSpPr>
        <p:sp>
          <p:nvSpPr>
            <p:cNvPr id="19" name="object 19" descr=""/>
            <p:cNvSpPr/>
            <p:nvPr/>
          </p:nvSpPr>
          <p:spPr>
            <a:xfrm>
              <a:off x="9720631" y="5024695"/>
              <a:ext cx="2206625" cy="1104900"/>
            </a:xfrm>
            <a:custGeom>
              <a:avLst/>
              <a:gdLst/>
              <a:ahLst/>
              <a:cxnLst/>
              <a:rect l="l" t="t" r="r" b="b"/>
              <a:pathLst>
                <a:path w="2206625" h="1104900">
                  <a:moveTo>
                    <a:pt x="0" y="1104334"/>
                  </a:moveTo>
                  <a:lnTo>
                    <a:pt x="2206419" y="1104334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1104334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720631" y="4651286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2206419" y="0"/>
                  </a:moveTo>
                  <a:lnTo>
                    <a:pt x="0" y="0"/>
                  </a:lnTo>
                  <a:lnTo>
                    <a:pt x="0" y="373408"/>
                  </a:lnTo>
                  <a:lnTo>
                    <a:pt x="2206419" y="373408"/>
                  </a:lnTo>
                  <a:lnTo>
                    <a:pt x="2206419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720631" y="4651286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0" y="373408"/>
                  </a:moveTo>
                  <a:lnTo>
                    <a:pt x="2206419" y="373408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373408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042636" y="4675902"/>
            <a:ext cx="156718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MANUFACTURER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9717456" y="1731115"/>
            <a:ext cx="2212975" cy="1982470"/>
            <a:chOff x="9717456" y="1731115"/>
            <a:chExt cx="2212975" cy="1982470"/>
          </a:xfrm>
        </p:grpSpPr>
        <p:sp>
          <p:nvSpPr>
            <p:cNvPr id="24" name="object 24" descr=""/>
            <p:cNvSpPr/>
            <p:nvPr/>
          </p:nvSpPr>
          <p:spPr>
            <a:xfrm>
              <a:off x="9720631" y="2107699"/>
              <a:ext cx="2206625" cy="1605915"/>
            </a:xfrm>
            <a:custGeom>
              <a:avLst/>
              <a:gdLst/>
              <a:ahLst/>
              <a:cxnLst/>
              <a:rect l="l" t="t" r="r" b="b"/>
              <a:pathLst>
                <a:path w="2206625" h="1605914">
                  <a:moveTo>
                    <a:pt x="0" y="1605557"/>
                  </a:moveTo>
                  <a:lnTo>
                    <a:pt x="2206419" y="1605557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1605557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720631" y="1734290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2206419" y="0"/>
                  </a:moveTo>
                  <a:lnTo>
                    <a:pt x="0" y="0"/>
                  </a:lnTo>
                  <a:lnTo>
                    <a:pt x="0" y="373408"/>
                  </a:lnTo>
                  <a:lnTo>
                    <a:pt x="2206419" y="373408"/>
                  </a:lnTo>
                  <a:lnTo>
                    <a:pt x="2206419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720631" y="1734290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0" y="373408"/>
                  </a:moveTo>
                  <a:lnTo>
                    <a:pt x="2206419" y="373408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373408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9720631" y="1734290"/>
            <a:ext cx="2206625" cy="37401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39445">
              <a:lnSpc>
                <a:spcPct val="100000"/>
              </a:lnSpc>
              <a:spcBef>
                <a:spcPts val="250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MATERIAL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6485499" y="4147175"/>
            <a:ext cx="2212975" cy="2483485"/>
            <a:chOff x="6485499" y="4147175"/>
            <a:chExt cx="2212975" cy="2483485"/>
          </a:xfrm>
        </p:grpSpPr>
        <p:sp>
          <p:nvSpPr>
            <p:cNvPr id="29" name="object 29" descr=""/>
            <p:cNvSpPr/>
            <p:nvPr/>
          </p:nvSpPr>
          <p:spPr>
            <a:xfrm>
              <a:off x="6488674" y="4523759"/>
              <a:ext cx="2206625" cy="2106930"/>
            </a:xfrm>
            <a:custGeom>
              <a:avLst/>
              <a:gdLst/>
              <a:ahLst/>
              <a:cxnLst/>
              <a:rect l="l" t="t" r="r" b="b"/>
              <a:pathLst>
                <a:path w="2206625" h="2106929">
                  <a:moveTo>
                    <a:pt x="0" y="2106766"/>
                  </a:moveTo>
                  <a:lnTo>
                    <a:pt x="2206419" y="2106766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2106766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488674" y="4150350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2206419" y="0"/>
                  </a:moveTo>
                  <a:lnTo>
                    <a:pt x="0" y="0"/>
                  </a:lnTo>
                  <a:lnTo>
                    <a:pt x="0" y="373408"/>
                  </a:lnTo>
                  <a:lnTo>
                    <a:pt x="2206419" y="373408"/>
                  </a:lnTo>
                  <a:lnTo>
                    <a:pt x="2206419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488674" y="4150350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0" y="373408"/>
                  </a:moveTo>
                  <a:lnTo>
                    <a:pt x="2206419" y="373408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373408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136569" y="4173469"/>
            <a:ext cx="90678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6492645" y="1979008"/>
            <a:ext cx="2212975" cy="1481455"/>
            <a:chOff x="6492645" y="1979008"/>
            <a:chExt cx="2212975" cy="1481455"/>
          </a:xfrm>
        </p:grpSpPr>
        <p:sp>
          <p:nvSpPr>
            <p:cNvPr id="34" name="object 34" descr=""/>
            <p:cNvSpPr/>
            <p:nvPr/>
          </p:nvSpPr>
          <p:spPr>
            <a:xfrm>
              <a:off x="6495820" y="2355592"/>
              <a:ext cx="2206625" cy="1104265"/>
            </a:xfrm>
            <a:custGeom>
              <a:avLst/>
              <a:gdLst/>
              <a:ahLst/>
              <a:cxnLst/>
              <a:rect l="l" t="t" r="r" b="b"/>
              <a:pathLst>
                <a:path w="2206625" h="1104264">
                  <a:moveTo>
                    <a:pt x="0" y="1104262"/>
                  </a:moveTo>
                  <a:lnTo>
                    <a:pt x="2206419" y="1104262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1104262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495820" y="1982183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2206419" y="0"/>
                  </a:moveTo>
                  <a:lnTo>
                    <a:pt x="0" y="0"/>
                  </a:lnTo>
                  <a:lnTo>
                    <a:pt x="0" y="373408"/>
                  </a:lnTo>
                  <a:lnTo>
                    <a:pt x="2206419" y="373408"/>
                  </a:lnTo>
                  <a:lnTo>
                    <a:pt x="2206419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95820" y="1982183"/>
              <a:ext cx="2206625" cy="374015"/>
            </a:xfrm>
            <a:custGeom>
              <a:avLst/>
              <a:gdLst/>
              <a:ahLst/>
              <a:cxnLst/>
              <a:rect l="l" t="t" r="r" b="b"/>
              <a:pathLst>
                <a:path w="2206625" h="374014">
                  <a:moveTo>
                    <a:pt x="0" y="373408"/>
                  </a:moveTo>
                  <a:lnTo>
                    <a:pt x="2206419" y="373408"/>
                  </a:lnTo>
                  <a:lnTo>
                    <a:pt x="2206419" y="0"/>
                  </a:lnTo>
                  <a:lnTo>
                    <a:pt x="0" y="0"/>
                  </a:lnTo>
                  <a:lnTo>
                    <a:pt x="0" y="373408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6495820" y="1982183"/>
            <a:ext cx="2206625" cy="37401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13410">
              <a:lnSpc>
                <a:spcPct val="100000"/>
              </a:lnSpc>
              <a:spcBef>
                <a:spcPts val="250"/>
              </a:spcBef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CATEGORY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372311" y="5139055"/>
            <a:ext cx="93091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RECIPE_ID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9768350" y="5195787"/>
            <a:ext cx="210185" cy="210185"/>
            <a:chOff x="9768350" y="5195787"/>
            <a:chExt cx="210185" cy="210185"/>
          </a:xfrm>
        </p:grpSpPr>
        <p:sp>
          <p:nvSpPr>
            <p:cNvPr id="40" name="object 40" descr=""/>
            <p:cNvSpPr/>
            <p:nvPr/>
          </p:nvSpPr>
          <p:spPr>
            <a:xfrm>
              <a:off x="9771525" y="5198962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771525" y="5198962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9775231" y="5169892"/>
            <a:ext cx="20574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9766762" y="2278791"/>
            <a:ext cx="2114550" cy="3303270"/>
            <a:chOff x="9766762" y="2278791"/>
            <a:chExt cx="2114550" cy="3303270"/>
          </a:xfrm>
        </p:grpSpPr>
        <p:sp>
          <p:nvSpPr>
            <p:cNvPr id="44" name="object 44" descr=""/>
            <p:cNvSpPr/>
            <p:nvPr/>
          </p:nvSpPr>
          <p:spPr>
            <a:xfrm>
              <a:off x="9771525" y="5576862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 h="0">
                  <a:moveTo>
                    <a:pt x="0" y="0"/>
                  </a:moveTo>
                  <a:lnTo>
                    <a:pt x="2104630" y="0"/>
                  </a:lnTo>
                </a:path>
              </a:pathLst>
            </a:custGeom>
            <a:ln w="8981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771525" y="2281966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771525" y="2281966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10372311" y="5692563"/>
            <a:ext cx="9480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COMPANY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385011" y="2216670"/>
            <a:ext cx="130810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849E33"/>
                </a:solidFill>
                <a:latin typeface="Calibri"/>
                <a:cs typeface="Calibri"/>
              </a:rPr>
              <a:t>RECIPE_ID</a:t>
            </a:r>
            <a:r>
              <a:rPr dirty="0" sz="1700" spc="-85">
                <a:solidFill>
                  <a:srgbClr val="849E33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849E33"/>
                </a:solidFill>
                <a:latin typeface="Calibri"/>
                <a:cs typeface="Calibri"/>
              </a:rPr>
              <a:t>(FK)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787931" y="2247507"/>
            <a:ext cx="19304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9766762" y="2780086"/>
            <a:ext cx="2114550" cy="386080"/>
            <a:chOff x="9766762" y="2780086"/>
            <a:chExt cx="2114550" cy="386080"/>
          </a:xfrm>
        </p:grpSpPr>
        <p:sp>
          <p:nvSpPr>
            <p:cNvPr id="51" name="object 51" descr=""/>
            <p:cNvSpPr/>
            <p:nvPr/>
          </p:nvSpPr>
          <p:spPr>
            <a:xfrm>
              <a:off x="9771525" y="3161185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 h="0">
                  <a:moveTo>
                    <a:pt x="0" y="0"/>
                  </a:moveTo>
                  <a:lnTo>
                    <a:pt x="2104630" y="0"/>
                  </a:lnTo>
                </a:path>
              </a:pathLst>
            </a:custGeom>
            <a:ln w="8981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771525" y="2783261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771525" y="2783261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10385011" y="3272072"/>
            <a:ext cx="845819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AMOUNT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0385011" y="2719342"/>
            <a:ext cx="5499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solidFill>
                  <a:srgbClr val="5B9BD4"/>
                </a:solidFill>
                <a:latin typeface="Calibri"/>
                <a:cs typeface="Calibri"/>
              </a:rPr>
              <a:t>WARE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787931" y="2749880"/>
            <a:ext cx="193040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134773" y="4637580"/>
            <a:ext cx="13246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849E33"/>
                </a:solidFill>
                <a:latin typeface="Calibri"/>
                <a:cs typeface="Calibri"/>
              </a:rPr>
              <a:t>RECIPE_ID</a:t>
            </a:r>
            <a:r>
              <a:rPr dirty="0" sz="1700" spc="-50">
                <a:solidFill>
                  <a:srgbClr val="849E33"/>
                </a:solidFill>
                <a:latin typeface="Calibri"/>
                <a:cs typeface="Calibri"/>
              </a:rPr>
              <a:t> </a:t>
            </a:r>
            <a:r>
              <a:rPr dirty="0" sz="1700" spc="-20">
                <a:solidFill>
                  <a:srgbClr val="849E33"/>
                </a:solidFill>
                <a:latin typeface="Calibri"/>
                <a:cs typeface="Calibri"/>
              </a:rPr>
              <a:t>(FK)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6536417" y="4694732"/>
            <a:ext cx="210185" cy="210185"/>
            <a:chOff x="6536417" y="4694732"/>
            <a:chExt cx="210185" cy="210185"/>
          </a:xfrm>
        </p:grpSpPr>
        <p:sp>
          <p:nvSpPr>
            <p:cNvPr id="59" name="object 59" descr=""/>
            <p:cNvSpPr/>
            <p:nvPr/>
          </p:nvSpPr>
          <p:spPr>
            <a:xfrm>
              <a:off x="6539592" y="4697907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539592" y="4697907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6537812" y="4668118"/>
            <a:ext cx="20637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6534829" y="5196027"/>
            <a:ext cx="2114550" cy="386080"/>
            <a:chOff x="6534829" y="5196027"/>
            <a:chExt cx="2114550" cy="386080"/>
          </a:xfrm>
        </p:grpSpPr>
        <p:sp>
          <p:nvSpPr>
            <p:cNvPr id="63" name="object 63" descr=""/>
            <p:cNvSpPr/>
            <p:nvPr/>
          </p:nvSpPr>
          <p:spPr>
            <a:xfrm>
              <a:off x="6539592" y="5577125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 h="0">
                  <a:moveTo>
                    <a:pt x="0" y="0"/>
                  </a:moveTo>
                  <a:lnTo>
                    <a:pt x="2104593" y="0"/>
                  </a:lnTo>
                </a:path>
              </a:pathLst>
            </a:custGeom>
            <a:ln w="8981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539592" y="5199202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6539592" y="5199202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7134773" y="5692863"/>
            <a:ext cx="859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AMOUNT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134773" y="5139594"/>
            <a:ext cx="5626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solidFill>
                  <a:srgbClr val="5B9BD4"/>
                </a:solidFill>
                <a:latin typeface="Calibri"/>
                <a:cs typeface="Calibri"/>
              </a:rPr>
              <a:t>WARE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6537812" y="5170132"/>
            <a:ext cx="20637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7134773" y="6194936"/>
            <a:ext cx="5270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PRICE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7154658" y="2465461"/>
            <a:ext cx="5435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5B9BD4"/>
                </a:solidFill>
                <a:latin typeface="Calibri"/>
                <a:cs typeface="Calibri"/>
              </a:rPr>
              <a:t>CLASS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6543563" y="2526565"/>
            <a:ext cx="210185" cy="210185"/>
            <a:chOff x="6543563" y="2526565"/>
            <a:chExt cx="210185" cy="210185"/>
          </a:xfrm>
        </p:grpSpPr>
        <p:sp>
          <p:nvSpPr>
            <p:cNvPr id="72" name="object 72" descr=""/>
            <p:cNvSpPr/>
            <p:nvPr/>
          </p:nvSpPr>
          <p:spPr>
            <a:xfrm>
              <a:off x="6546738" y="2529740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546738" y="2529740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6557698" y="2495999"/>
            <a:ext cx="19367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6541975" y="3027860"/>
            <a:ext cx="2114550" cy="386080"/>
            <a:chOff x="6541975" y="3027860"/>
            <a:chExt cx="2114550" cy="386080"/>
          </a:xfrm>
        </p:grpSpPr>
        <p:sp>
          <p:nvSpPr>
            <p:cNvPr id="76" name="object 76" descr=""/>
            <p:cNvSpPr/>
            <p:nvPr/>
          </p:nvSpPr>
          <p:spPr>
            <a:xfrm>
              <a:off x="6546738" y="3408958"/>
              <a:ext cx="2105025" cy="0"/>
            </a:xfrm>
            <a:custGeom>
              <a:avLst/>
              <a:gdLst/>
              <a:ahLst/>
              <a:cxnLst/>
              <a:rect l="l" t="t" r="r" b="b"/>
              <a:pathLst>
                <a:path w="2105025" h="0">
                  <a:moveTo>
                    <a:pt x="0" y="0"/>
                  </a:moveTo>
                  <a:lnTo>
                    <a:pt x="2104632" y="0"/>
                  </a:lnTo>
                </a:path>
              </a:pathLst>
            </a:custGeom>
            <a:ln w="8981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546738" y="3031035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203673" y="0"/>
                  </a:moveTo>
                  <a:lnTo>
                    <a:pt x="0" y="0"/>
                  </a:lnTo>
                  <a:lnTo>
                    <a:pt x="0" y="203679"/>
                  </a:lnTo>
                  <a:lnTo>
                    <a:pt x="203673" y="203679"/>
                  </a:lnTo>
                  <a:lnTo>
                    <a:pt x="20367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546738" y="3031035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5">
                  <a:moveTo>
                    <a:pt x="0" y="203679"/>
                  </a:moveTo>
                  <a:lnTo>
                    <a:pt x="203673" y="203679"/>
                  </a:lnTo>
                  <a:lnTo>
                    <a:pt x="203673" y="0"/>
                  </a:lnTo>
                  <a:lnTo>
                    <a:pt x="0" y="0"/>
                  </a:lnTo>
                  <a:lnTo>
                    <a:pt x="0" y="203679"/>
                  </a:lnTo>
                  <a:close/>
                </a:path>
              </a:pathLst>
            </a:custGeom>
            <a:ln w="598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7154658" y="2967595"/>
            <a:ext cx="5499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solidFill>
                  <a:srgbClr val="5B9BD4"/>
                </a:solidFill>
                <a:latin typeface="Calibri"/>
                <a:cs typeface="Calibri"/>
              </a:rPr>
              <a:t>WARE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6557698" y="2998132"/>
            <a:ext cx="193675" cy="231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524354" y="2653423"/>
            <a:ext cx="3367404" cy="2804795"/>
            <a:chOff x="7524354" y="2653423"/>
            <a:chExt cx="3367404" cy="2804795"/>
          </a:xfrm>
        </p:grpSpPr>
        <p:sp>
          <p:nvSpPr>
            <p:cNvPr id="82" name="object 82" descr=""/>
            <p:cNvSpPr/>
            <p:nvPr/>
          </p:nvSpPr>
          <p:spPr>
            <a:xfrm>
              <a:off x="8900573" y="2721564"/>
              <a:ext cx="622300" cy="1905"/>
            </a:xfrm>
            <a:custGeom>
              <a:avLst/>
              <a:gdLst/>
              <a:ahLst/>
              <a:cxnLst/>
              <a:rect l="l" t="t" r="r" b="b"/>
              <a:pathLst>
                <a:path w="622300" h="1905">
                  <a:moveTo>
                    <a:pt x="0" y="0"/>
                  </a:moveTo>
                  <a:lnTo>
                    <a:pt x="621749" y="1676"/>
                  </a:lnTo>
                </a:path>
              </a:pathLst>
            </a:custGeom>
            <a:ln w="35926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84182" y="2653423"/>
              <a:ext cx="234354" cy="135562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504359" y="2655818"/>
              <a:ext cx="234354" cy="135562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593942" y="3658169"/>
              <a:ext cx="3175" cy="294005"/>
            </a:xfrm>
            <a:custGeom>
              <a:avLst/>
              <a:gdLst/>
              <a:ahLst/>
              <a:cxnLst/>
              <a:rect l="l" t="t" r="r" b="b"/>
              <a:pathLst>
                <a:path w="3175" h="294004">
                  <a:moveTo>
                    <a:pt x="3041" y="0"/>
                  </a:moveTo>
                  <a:lnTo>
                    <a:pt x="0" y="293879"/>
                  </a:lnTo>
                </a:path>
              </a:pathLst>
            </a:custGeom>
            <a:ln w="35925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29970" y="3441412"/>
              <a:ext cx="136612" cy="23471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24354" y="3934085"/>
              <a:ext cx="136612" cy="23471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10774323" y="3911571"/>
              <a:ext cx="99695" cy="739775"/>
            </a:xfrm>
            <a:custGeom>
              <a:avLst/>
              <a:gdLst/>
              <a:ahLst/>
              <a:cxnLst/>
              <a:rect l="l" t="t" r="r" b="b"/>
              <a:pathLst>
                <a:path w="99695" h="739775">
                  <a:moveTo>
                    <a:pt x="49577" y="739727"/>
                  </a:moveTo>
                  <a:lnTo>
                    <a:pt x="49577" y="0"/>
                  </a:lnTo>
                </a:path>
                <a:path w="99695" h="739775">
                  <a:moveTo>
                    <a:pt x="99154" y="590991"/>
                  </a:moveTo>
                  <a:lnTo>
                    <a:pt x="0" y="590991"/>
                  </a:lnTo>
                </a:path>
                <a:path w="99695" h="739775">
                  <a:moveTo>
                    <a:pt x="99154" y="640570"/>
                  </a:moveTo>
                  <a:lnTo>
                    <a:pt x="0" y="640570"/>
                  </a:lnTo>
                </a:path>
              </a:pathLst>
            </a:custGeom>
            <a:ln w="35925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56360" y="3695293"/>
              <a:ext cx="135080" cy="234240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8695080" y="5340609"/>
              <a:ext cx="1026160" cy="99695"/>
            </a:xfrm>
            <a:custGeom>
              <a:avLst/>
              <a:gdLst/>
              <a:ahLst/>
              <a:cxnLst/>
              <a:rect l="l" t="t" r="r" b="b"/>
              <a:pathLst>
                <a:path w="1026159" h="99695">
                  <a:moveTo>
                    <a:pt x="1025550" y="49578"/>
                  </a:moveTo>
                  <a:lnTo>
                    <a:pt x="99154" y="49818"/>
                  </a:lnTo>
                </a:path>
                <a:path w="1026159" h="99695">
                  <a:moveTo>
                    <a:pt x="876819" y="0"/>
                  </a:moveTo>
                  <a:lnTo>
                    <a:pt x="876819" y="99157"/>
                  </a:lnTo>
                </a:path>
                <a:path w="1026159" h="99695">
                  <a:moveTo>
                    <a:pt x="926396" y="0"/>
                  </a:moveTo>
                  <a:lnTo>
                    <a:pt x="926396" y="99157"/>
                  </a:lnTo>
                </a:path>
                <a:path w="1026159" h="99695">
                  <a:moveTo>
                    <a:pt x="148731" y="99396"/>
                  </a:moveTo>
                  <a:lnTo>
                    <a:pt x="148731" y="239"/>
                  </a:lnTo>
                </a:path>
                <a:path w="1026159" h="99695">
                  <a:moveTo>
                    <a:pt x="99154" y="49818"/>
                  </a:moveTo>
                  <a:lnTo>
                    <a:pt x="0" y="49818"/>
                  </a:lnTo>
                </a:path>
                <a:path w="1026159" h="99695">
                  <a:moveTo>
                    <a:pt x="99154" y="49818"/>
                  </a:moveTo>
                  <a:lnTo>
                    <a:pt x="0" y="99396"/>
                  </a:lnTo>
                </a:path>
                <a:path w="1026159" h="99695">
                  <a:moveTo>
                    <a:pt x="99154" y="49818"/>
                  </a:moveTo>
                  <a:lnTo>
                    <a:pt x="0" y="239"/>
                  </a:lnTo>
                </a:path>
              </a:pathLst>
            </a:custGeom>
            <a:ln w="35925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92" y="1028700"/>
            <a:ext cx="7840967" cy="58394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072388" y="2112391"/>
            <a:ext cx="10045065" cy="356235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546100" marR="93980" indent="-457834">
              <a:lnSpc>
                <a:spcPts val="2160"/>
              </a:lnSpc>
              <a:spcBef>
                <a:spcPts val="375"/>
              </a:spcBef>
              <a:buClr>
                <a:srgbClr val="957D95"/>
              </a:buClr>
              <a:buSzPct val="85000"/>
              <a:buFont typeface="Cambria"/>
              <a:buAutoNum type="arabicPeriod"/>
              <a:tabLst>
                <a:tab pos="546100" algn="l"/>
              </a:tabLst>
            </a:pPr>
            <a:r>
              <a:rPr dirty="0" sz="2000" spc="75">
                <a:latin typeface="Cambria"/>
                <a:cs typeface="Cambria"/>
              </a:rPr>
              <a:t>Identify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entities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 spc="165">
                <a:latin typeface="Cambria"/>
                <a:cs typeface="Cambria"/>
              </a:rPr>
              <a:t>and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their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primary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keys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(or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construct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5">
                <a:latin typeface="Cambria"/>
                <a:cs typeface="Cambria"/>
              </a:rPr>
              <a:t>surrogate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keys).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180">
                <a:latin typeface="Cambria"/>
                <a:cs typeface="Cambria"/>
              </a:rPr>
              <a:t>Each </a:t>
            </a:r>
            <a:r>
              <a:rPr dirty="0" sz="2000" spc="85">
                <a:latin typeface="Cambria"/>
                <a:cs typeface="Cambria"/>
              </a:rPr>
              <a:t>entity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should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represented</a:t>
            </a:r>
            <a:r>
              <a:rPr dirty="0" sz="2000" spc="165">
                <a:latin typeface="Cambria"/>
                <a:cs typeface="Cambria"/>
              </a:rPr>
              <a:t> </a:t>
            </a:r>
            <a:r>
              <a:rPr dirty="0" sz="2000" spc="170">
                <a:latin typeface="Cambria"/>
                <a:cs typeface="Cambria"/>
              </a:rPr>
              <a:t>as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separate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at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75">
                <a:latin typeface="Cambria"/>
                <a:cs typeface="Cambria"/>
              </a:rPr>
              <a:t>first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30">
                <a:latin typeface="Cambria"/>
                <a:cs typeface="Cambria"/>
              </a:rPr>
              <a:t>glance.</a:t>
            </a:r>
            <a:endParaRPr sz="2000">
              <a:latin typeface="Cambria"/>
              <a:cs typeface="Cambria"/>
            </a:endParaRPr>
          </a:p>
          <a:p>
            <a:pPr marL="546100" indent="-457200">
              <a:lnSpc>
                <a:spcPct val="100000"/>
              </a:lnSpc>
              <a:spcBef>
                <a:spcPts val="930"/>
              </a:spcBef>
              <a:buClr>
                <a:srgbClr val="957D95"/>
              </a:buClr>
              <a:buSzPct val="85000"/>
              <a:buAutoNum type="arabicPeriod"/>
              <a:tabLst>
                <a:tab pos="546100" algn="l"/>
              </a:tabLst>
            </a:pPr>
            <a:r>
              <a:rPr dirty="0" sz="2000" spc="80">
                <a:latin typeface="Cambria"/>
                <a:cs typeface="Cambria"/>
              </a:rPr>
              <a:t>Identify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0" b="1">
                <a:latin typeface="Cambria"/>
                <a:cs typeface="Cambria"/>
              </a:rPr>
              <a:t>properties</a:t>
            </a:r>
            <a:r>
              <a:rPr dirty="0" sz="2000" spc="19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the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entities</a:t>
            </a:r>
            <a:r>
              <a:rPr dirty="0" sz="2000" spc="130">
                <a:latin typeface="Cambria"/>
                <a:cs typeface="Cambria"/>
              </a:rPr>
              <a:t>.</a:t>
            </a:r>
            <a:endParaRPr sz="2000">
              <a:latin typeface="Cambria"/>
              <a:cs typeface="Cambria"/>
            </a:endParaRPr>
          </a:p>
          <a:p>
            <a:pPr marL="546100" marR="761365" indent="-457834">
              <a:lnSpc>
                <a:spcPts val="2160"/>
              </a:lnSpc>
              <a:spcBef>
                <a:spcPts val="1230"/>
              </a:spcBef>
              <a:buClr>
                <a:srgbClr val="957D95"/>
              </a:buClr>
              <a:buSzPct val="85000"/>
              <a:buAutoNum type="arabicPeriod"/>
              <a:tabLst>
                <a:tab pos="546100" algn="l"/>
              </a:tabLst>
            </a:pPr>
            <a:r>
              <a:rPr dirty="0" sz="2000" spc="200">
                <a:latin typeface="Cambria"/>
                <a:cs typeface="Cambria"/>
              </a:rPr>
              <a:t>Each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95" b="1">
                <a:latin typeface="Cambria"/>
                <a:cs typeface="Cambria"/>
              </a:rPr>
              <a:t>single-</a:t>
            </a:r>
            <a:r>
              <a:rPr dirty="0" sz="2000" spc="85" b="1">
                <a:latin typeface="Cambria"/>
                <a:cs typeface="Cambria"/>
              </a:rPr>
              <a:t>valued</a:t>
            </a:r>
            <a:r>
              <a:rPr dirty="0" sz="2000" spc="150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property</a:t>
            </a:r>
            <a:r>
              <a:rPr dirty="0" sz="2000" spc="15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(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315" b="1">
                <a:latin typeface="Cambria"/>
                <a:cs typeface="Cambria"/>
              </a:rPr>
              <a:t>→</a:t>
            </a:r>
            <a:r>
              <a:rPr dirty="0" sz="2000" spc="215" b="1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)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comes</a:t>
            </a:r>
            <a:r>
              <a:rPr dirty="0" sz="2000" spc="15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>
                <a:latin typeface="Cambria"/>
                <a:cs typeface="Cambria"/>
              </a:rPr>
              <a:t>of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corresponded </a:t>
            </a:r>
            <a:r>
              <a:rPr dirty="0" sz="2000" spc="105">
                <a:latin typeface="Cambria"/>
                <a:cs typeface="Cambria"/>
              </a:rPr>
              <a:t>entity.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Multiple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315" b="1">
                <a:latin typeface="Cambria"/>
                <a:cs typeface="Cambria"/>
              </a:rPr>
              <a:t>→</a:t>
            </a:r>
            <a:r>
              <a:rPr dirty="0" sz="2000" spc="229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from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65" b="1">
                <a:latin typeface="Cambria"/>
                <a:cs typeface="Cambria"/>
              </a:rPr>
              <a:t>PK</a:t>
            </a:r>
            <a:r>
              <a:rPr dirty="0" sz="2000" spc="204" b="1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are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allowed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inside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the</a:t>
            </a:r>
            <a:r>
              <a:rPr dirty="0" sz="2000" spc="220">
                <a:latin typeface="Cambria"/>
                <a:cs typeface="Cambria"/>
              </a:rPr>
              <a:t> </a:t>
            </a:r>
            <a:r>
              <a:rPr dirty="0" sz="2000" spc="155">
                <a:latin typeface="Cambria"/>
                <a:cs typeface="Cambria"/>
              </a:rPr>
              <a:t>same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table.</a:t>
            </a:r>
            <a:endParaRPr sz="2000">
              <a:latin typeface="Cambria"/>
              <a:cs typeface="Cambria"/>
            </a:endParaRPr>
          </a:p>
          <a:p>
            <a:pPr marL="546100" indent="-457200">
              <a:lnSpc>
                <a:spcPts val="2280"/>
              </a:lnSpc>
              <a:spcBef>
                <a:spcPts val="930"/>
              </a:spcBef>
              <a:buClr>
                <a:srgbClr val="957D95"/>
              </a:buClr>
              <a:buSzPct val="85000"/>
              <a:buAutoNum type="arabicPeriod"/>
              <a:tabLst>
                <a:tab pos="546100" algn="l"/>
              </a:tabLst>
            </a:pPr>
            <a:r>
              <a:rPr dirty="0" sz="2000" spc="200">
                <a:latin typeface="Cambria"/>
                <a:cs typeface="Cambria"/>
              </a:rPr>
              <a:t>Each </a:t>
            </a:r>
            <a:r>
              <a:rPr dirty="0" sz="2000" spc="105" b="1">
                <a:latin typeface="Cambria"/>
                <a:cs typeface="Cambria"/>
              </a:rPr>
              <a:t>multivalued</a:t>
            </a:r>
            <a:r>
              <a:rPr dirty="0" sz="2000" spc="190" b="1">
                <a:latin typeface="Cambria"/>
                <a:cs typeface="Cambria"/>
              </a:rPr>
              <a:t> </a:t>
            </a:r>
            <a:r>
              <a:rPr dirty="0" sz="2000" spc="85" b="1">
                <a:latin typeface="Cambria"/>
                <a:cs typeface="Cambria"/>
              </a:rPr>
              <a:t>property</a:t>
            </a:r>
            <a:r>
              <a:rPr dirty="0" sz="2000" spc="175" b="1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comes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separate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table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(due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4</a:t>
            </a:r>
            <a:r>
              <a:rPr dirty="0" baseline="25641" sz="1950" spc="179">
                <a:latin typeface="Cambria"/>
                <a:cs typeface="Cambria"/>
              </a:rPr>
              <a:t>th</a:t>
            </a:r>
            <a:r>
              <a:rPr dirty="0" baseline="25641" sz="1950" spc="532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normal</a:t>
            </a:r>
            <a:endParaRPr sz="2000">
              <a:latin typeface="Cambria"/>
              <a:cs typeface="Cambria"/>
            </a:endParaRPr>
          </a:p>
          <a:p>
            <a:pPr marL="546100">
              <a:lnSpc>
                <a:spcPts val="2280"/>
              </a:lnSpc>
            </a:pPr>
            <a:r>
              <a:rPr dirty="0" sz="2000" spc="55">
                <a:latin typeface="Cambria"/>
                <a:cs typeface="Cambria"/>
              </a:rPr>
              <a:t>form).</a:t>
            </a:r>
            <a:endParaRPr sz="2000">
              <a:latin typeface="Cambria"/>
              <a:cs typeface="Cambria"/>
            </a:endParaRPr>
          </a:p>
          <a:p>
            <a:pPr marL="546100" marR="748030" indent="-457834">
              <a:lnSpc>
                <a:spcPts val="2160"/>
              </a:lnSpc>
              <a:spcBef>
                <a:spcPts val="1235"/>
              </a:spcBef>
              <a:buClr>
                <a:srgbClr val="957D95"/>
              </a:buClr>
              <a:buSzPct val="85000"/>
              <a:buAutoNum type="arabicPeriod" startAt="5"/>
              <a:tabLst>
                <a:tab pos="546100" algn="l"/>
              </a:tabLst>
            </a:pPr>
            <a:r>
              <a:rPr dirty="0" sz="2000" spc="75">
                <a:latin typeface="Cambria"/>
                <a:cs typeface="Cambria"/>
              </a:rPr>
              <a:t>All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80" b="1">
                <a:latin typeface="Cambria"/>
                <a:cs typeface="Cambria"/>
              </a:rPr>
              <a:t>properties</a:t>
            </a:r>
            <a:r>
              <a:rPr dirty="0" sz="2000" spc="185" b="1">
                <a:latin typeface="Cambria"/>
                <a:cs typeface="Cambria"/>
              </a:rPr>
              <a:t> </a:t>
            </a:r>
            <a:r>
              <a:rPr dirty="0" sz="2000" spc="135">
                <a:latin typeface="Cambria"/>
                <a:cs typeface="Cambria"/>
              </a:rPr>
              <a:t>that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have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90">
                <a:latin typeface="Cambria"/>
                <a:cs typeface="Cambria"/>
              </a:rPr>
              <a:t>their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own</a:t>
            </a:r>
            <a:r>
              <a:rPr dirty="0" sz="2000" spc="215">
                <a:latin typeface="Cambria"/>
                <a:cs typeface="Cambria"/>
              </a:rPr>
              <a:t> </a:t>
            </a:r>
            <a:r>
              <a:rPr dirty="0" sz="2000" spc="80">
                <a:latin typeface="Cambria"/>
                <a:cs typeface="Cambria"/>
              </a:rPr>
              <a:t>properties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become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30" b="1">
                <a:latin typeface="Cambria"/>
                <a:cs typeface="Cambria"/>
              </a:rPr>
              <a:t>entities</a:t>
            </a:r>
            <a:r>
              <a:rPr dirty="0" sz="2000" spc="210" b="1">
                <a:latin typeface="Cambria"/>
                <a:cs typeface="Cambria"/>
              </a:rPr>
              <a:t> </a:t>
            </a:r>
            <a:r>
              <a:rPr dirty="0" sz="2000" spc="140">
                <a:latin typeface="Cambria"/>
                <a:cs typeface="Cambria"/>
              </a:rPr>
              <a:t>and </a:t>
            </a:r>
            <a:r>
              <a:rPr dirty="0" sz="2000" spc="135">
                <a:latin typeface="Cambria"/>
                <a:cs typeface="Cambria"/>
              </a:rPr>
              <a:t>shall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be</a:t>
            </a:r>
            <a:r>
              <a:rPr dirty="0" sz="2000" spc="195">
                <a:latin typeface="Cambria"/>
                <a:cs typeface="Cambria"/>
              </a:rPr>
              <a:t> </a:t>
            </a:r>
            <a:r>
              <a:rPr dirty="0" sz="2000" spc="95">
                <a:latin typeface="Cambria"/>
                <a:cs typeface="Cambria"/>
              </a:rPr>
              <a:t>moved</a:t>
            </a:r>
            <a:r>
              <a:rPr dirty="0" sz="2000" spc="16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04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separate</a:t>
            </a:r>
            <a:r>
              <a:rPr dirty="0" sz="2000" spc="170">
                <a:latin typeface="Cambria"/>
                <a:cs typeface="Cambria"/>
              </a:rPr>
              <a:t> </a:t>
            </a:r>
            <a:r>
              <a:rPr dirty="0" sz="2000" spc="114">
                <a:latin typeface="Cambria"/>
                <a:cs typeface="Cambria"/>
              </a:rPr>
              <a:t>tables</a:t>
            </a:r>
            <a:r>
              <a:rPr dirty="0" sz="2000" spc="180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(due</a:t>
            </a:r>
            <a:r>
              <a:rPr dirty="0" sz="2000" spc="175">
                <a:latin typeface="Cambria"/>
                <a:cs typeface="Cambria"/>
              </a:rPr>
              <a:t> </a:t>
            </a:r>
            <a:r>
              <a:rPr dirty="0" sz="2000" spc="65">
                <a:latin typeface="Cambria"/>
                <a:cs typeface="Cambria"/>
              </a:rPr>
              <a:t>to</a:t>
            </a:r>
            <a:r>
              <a:rPr dirty="0" sz="2000" spc="210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2</a:t>
            </a:r>
            <a:r>
              <a:rPr dirty="0" baseline="25641" sz="1950" spc="187">
                <a:latin typeface="Cambria"/>
                <a:cs typeface="Cambria"/>
              </a:rPr>
              <a:t>nd</a:t>
            </a:r>
            <a:r>
              <a:rPr dirty="0" baseline="25641" sz="1950" spc="517">
                <a:latin typeface="Cambria"/>
                <a:cs typeface="Cambria"/>
              </a:rPr>
              <a:t> </a:t>
            </a:r>
            <a:r>
              <a:rPr dirty="0" sz="2000" spc="120">
                <a:latin typeface="Cambria"/>
                <a:cs typeface="Cambria"/>
              </a:rPr>
              <a:t>normal</a:t>
            </a:r>
            <a:r>
              <a:rPr dirty="0" sz="2000" spc="20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form)</a:t>
            </a:r>
            <a:endParaRPr sz="2000">
              <a:latin typeface="Cambria"/>
              <a:cs typeface="Cambria"/>
            </a:endParaRPr>
          </a:p>
          <a:p>
            <a:pPr marL="546100" indent="-457200">
              <a:lnSpc>
                <a:spcPct val="100000"/>
              </a:lnSpc>
              <a:spcBef>
                <a:spcPts val="925"/>
              </a:spcBef>
              <a:buClr>
                <a:srgbClr val="957D95"/>
              </a:buClr>
              <a:buSzPct val="85000"/>
              <a:buAutoNum type="arabicPeriod" startAt="5"/>
              <a:tabLst>
                <a:tab pos="546100" algn="l"/>
              </a:tabLst>
            </a:pPr>
            <a:r>
              <a:rPr dirty="0" sz="2000" spc="75">
                <a:latin typeface="Cambria"/>
                <a:cs typeface="Cambria"/>
              </a:rPr>
              <a:t>Identify</a:t>
            </a:r>
            <a:r>
              <a:rPr dirty="0" sz="2000" spc="190">
                <a:latin typeface="Cambria"/>
                <a:cs typeface="Cambria"/>
              </a:rPr>
              <a:t> </a:t>
            </a:r>
            <a:r>
              <a:rPr dirty="0" sz="2000" spc="100">
                <a:latin typeface="Cambria"/>
                <a:cs typeface="Cambria"/>
              </a:rPr>
              <a:t>all</a:t>
            </a:r>
            <a:r>
              <a:rPr dirty="0" sz="2000" spc="229">
                <a:latin typeface="Cambria"/>
                <a:cs typeface="Cambria"/>
              </a:rPr>
              <a:t> </a:t>
            </a:r>
            <a:r>
              <a:rPr dirty="0" sz="2000" spc="110">
                <a:latin typeface="Cambria"/>
                <a:cs typeface="Cambria"/>
              </a:rPr>
              <a:t>the</a:t>
            </a:r>
            <a:r>
              <a:rPr dirty="0" sz="2000" spc="225">
                <a:latin typeface="Cambria"/>
                <a:cs typeface="Cambria"/>
              </a:rPr>
              <a:t> </a:t>
            </a:r>
            <a:r>
              <a:rPr dirty="0" sz="2000" spc="100" b="1">
                <a:latin typeface="Cambria"/>
                <a:cs typeface="Cambria"/>
              </a:rPr>
              <a:t>relationships</a:t>
            </a:r>
            <a:r>
              <a:rPr dirty="0" sz="2000" spc="200" b="1">
                <a:latin typeface="Cambria"/>
                <a:cs typeface="Cambria"/>
              </a:rPr>
              <a:t> </a:t>
            </a:r>
            <a:r>
              <a:rPr dirty="0" sz="2000" spc="85">
                <a:latin typeface="Cambria"/>
                <a:cs typeface="Cambria"/>
              </a:rPr>
              <a:t>between</a:t>
            </a:r>
            <a:r>
              <a:rPr dirty="0" sz="2000" spc="185">
                <a:latin typeface="Cambria"/>
                <a:cs typeface="Cambria"/>
              </a:rPr>
              <a:t> </a:t>
            </a:r>
            <a:r>
              <a:rPr dirty="0" sz="2000" spc="125">
                <a:latin typeface="Cambria"/>
                <a:cs typeface="Cambria"/>
              </a:rPr>
              <a:t>entities…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699516"/>
            <a:ext cx="8970352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4963" y="957540"/>
            <a:ext cx="151206" cy="756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520" y="1371853"/>
            <a:ext cx="538518" cy="4516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6763" y="1615908"/>
            <a:ext cx="151206" cy="756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5617" y="1482852"/>
            <a:ext cx="1096390" cy="34061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120" b="1">
                <a:latin typeface="Cambria"/>
                <a:cs typeface="Cambria"/>
              </a:rPr>
              <a:t>Many-</a:t>
            </a:r>
            <a:r>
              <a:rPr dirty="0" spc="110" b="1">
                <a:latin typeface="Cambria"/>
                <a:cs typeface="Cambria"/>
              </a:rPr>
              <a:t>to-</a:t>
            </a:r>
            <a:r>
              <a:rPr dirty="0" spc="125" b="1">
                <a:latin typeface="Cambria"/>
                <a:cs typeface="Cambria"/>
              </a:rPr>
              <a:t>one/functional</a:t>
            </a:r>
            <a:r>
              <a:rPr dirty="0" spc="190" b="1">
                <a:latin typeface="Cambria"/>
                <a:cs typeface="Cambria"/>
              </a:rPr>
              <a:t> </a:t>
            </a:r>
            <a:r>
              <a:rPr dirty="0" spc="120" b="1">
                <a:latin typeface="Cambria"/>
                <a:cs typeface="Cambria"/>
              </a:rPr>
              <a:t>dependency</a:t>
            </a:r>
            <a:r>
              <a:rPr dirty="0" spc="120"/>
              <a:t>:</a:t>
            </a:r>
            <a:r>
              <a:rPr dirty="0" spc="165"/>
              <a:t> </a:t>
            </a:r>
            <a:r>
              <a:rPr dirty="0" spc="114"/>
              <a:t>the</a:t>
            </a:r>
            <a:r>
              <a:rPr dirty="0" spc="220"/>
              <a:t> </a:t>
            </a:r>
            <a:r>
              <a:rPr dirty="0" spc="155"/>
              <a:t>same</a:t>
            </a:r>
            <a:r>
              <a:rPr dirty="0" spc="175"/>
              <a:t> </a:t>
            </a:r>
            <a:r>
              <a:rPr dirty="0" spc="170"/>
              <a:t>as</a:t>
            </a:r>
            <a:r>
              <a:rPr dirty="0" spc="195"/>
              <a:t> </a:t>
            </a:r>
            <a:r>
              <a:rPr dirty="0" spc="114"/>
              <a:t>the</a:t>
            </a:r>
            <a:r>
              <a:rPr dirty="0" spc="220"/>
              <a:t> </a:t>
            </a:r>
            <a:r>
              <a:rPr dirty="0" spc="110"/>
              <a:t>single-valued</a:t>
            </a:r>
            <a:r>
              <a:rPr dirty="0" spc="160"/>
              <a:t> </a:t>
            </a:r>
            <a:r>
              <a:rPr dirty="0" spc="80"/>
              <a:t>property, </a:t>
            </a:r>
            <a:r>
              <a:rPr dirty="0" spc="90"/>
              <a:t>represented</a:t>
            </a:r>
            <a:r>
              <a:rPr dirty="0" spc="160"/>
              <a:t> </a:t>
            </a:r>
            <a:r>
              <a:rPr dirty="0" spc="170"/>
              <a:t>as</a:t>
            </a:r>
            <a:r>
              <a:rPr dirty="0" spc="215"/>
              <a:t> </a:t>
            </a:r>
            <a:r>
              <a:rPr dirty="0" spc="75"/>
              <a:t>foreign</a:t>
            </a:r>
            <a:r>
              <a:rPr dirty="0" spc="180"/>
              <a:t> </a:t>
            </a:r>
            <a:r>
              <a:rPr dirty="0" spc="105"/>
              <a:t>key</a:t>
            </a:r>
            <a:r>
              <a:rPr dirty="0" spc="180"/>
              <a:t> </a:t>
            </a:r>
            <a:r>
              <a:rPr dirty="0" spc="65"/>
              <a:t>to</a:t>
            </a:r>
            <a:r>
              <a:rPr dirty="0" spc="215"/>
              <a:t> </a:t>
            </a:r>
            <a:r>
              <a:rPr dirty="0" spc="110"/>
              <a:t>the</a:t>
            </a:r>
            <a:r>
              <a:rPr dirty="0" spc="225"/>
              <a:t> </a:t>
            </a:r>
            <a:r>
              <a:rPr dirty="0" spc="95"/>
              <a:t>appropriate</a:t>
            </a:r>
            <a:r>
              <a:rPr dirty="0" spc="170"/>
              <a:t> </a:t>
            </a:r>
            <a:r>
              <a:rPr dirty="0" spc="85"/>
              <a:t>entity</a:t>
            </a:r>
            <a:r>
              <a:rPr dirty="0" spc="204"/>
              <a:t> </a:t>
            </a:r>
            <a:r>
              <a:rPr dirty="0" spc="100"/>
              <a:t>table</a:t>
            </a:r>
            <a:r>
              <a:rPr dirty="0" spc="195"/>
              <a:t> </a:t>
            </a:r>
            <a:r>
              <a:rPr dirty="0" spc="80"/>
              <a:t>(according</a:t>
            </a:r>
            <a:r>
              <a:rPr dirty="0" spc="185"/>
              <a:t> </a:t>
            </a:r>
            <a:r>
              <a:rPr dirty="0" spc="65"/>
              <a:t>to</a:t>
            </a:r>
            <a:r>
              <a:rPr dirty="0" spc="215"/>
              <a:t> </a:t>
            </a:r>
            <a:r>
              <a:rPr dirty="0" spc="150"/>
              <a:t>BCNF).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2016236" y="3411544"/>
            <a:ext cx="2527300" cy="2835910"/>
            <a:chOff x="2016236" y="3411544"/>
            <a:chExt cx="2527300" cy="2835910"/>
          </a:xfrm>
        </p:grpSpPr>
        <p:sp>
          <p:nvSpPr>
            <p:cNvPr id="9" name="object 9" descr=""/>
            <p:cNvSpPr/>
            <p:nvPr/>
          </p:nvSpPr>
          <p:spPr>
            <a:xfrm>
              <a:off x="2019728" y="3841403"/>
              <a:ext cx="2520315" cy="2406015"/>
            </a:xfrm>
            <a:custGeom>
              <a:avLst/>
              <a:gdLst/>
              <a:ahLst/>
              <a:cxnLst/>
              <a:rect l="l" t="t" r="r" b="b"/>
              <a:pathLst>
                <a:path w="2520315" h="2406015">
                  <a:moveTo>
                    <a:pt x="0" y="2405586"/>
                  </a:moveTo>
                  <a:lnTo>
                    <a:pt x="2520141" y="2405586"/>
                  </a:lnTo>
                  <a:lnTo>
                    <a:pt x="2520141" y="0"/>
                  </a:lnTo>
                  <a:lnTo>
                    <a:pt x="0" y="0"/>
                  </a:lnTo>
                  <a:lnTo>
                    <a:pt x="0" y="2405586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19728" y="3415037"/>
              <a:ext cx="2520315" cy="426720"/>
            </a:xfrm>
            <a:custGeom>
              <a:avLst/>
              <a:gdLst/>
              <a:ahLst/>
              <a:cxnLst/>
              <a:rect l="l" t="t" r="r" b="b"/>
              <a:pathLst>
                <a:path w="2520315" h="426720">
                  <a:moveTo>
                    <a:pt x="2520141" y="0"/>
                  </a:moveTo>
                  <a:lnTo>
                    <a:pt x="0" y="0"/>
                  </a:lnTo>
                  <a:lnTo>
                    <a:pt x="0" y="426366"/>
                  </a:lnTo>
                  <a:lnTo>
                    <a:pt x="2520141" y="426366"/>
                  </a:lnTo>
                  <a:lnTo>
                    <a:pt x="2520141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19728" y="3415037"/>
              <a:ext cx="2520315" cy="426720"/>
            </a:xfrm>
            <a:custGeom>
              <a:avLst/>
              <a:gdLst/>
              <a:ahLst/>
              <a:cxnLst/>
              <a:rect l="l" t="t" r="r" b="b"/>
              <a:pathLst>
                <a:path w="2520315" h="426720">
                  <a:moveTo>
                    <a:pt x="0" y="426366"/>
                  </a:moveTo>
                  <a:lnTo>
                    <a:pt x="2520141" y="426366"/>
                  </a:lnTo>
                  <a:lnTo>
                    <a:pt x="2520141" y="0"/>
                  </a:lnTo>
                  <a:lnTo>
                    <a:pt x="0" y="0"/>
                  </a:lnTo>
                  <a:lnTo>
                    <a:pt x="0" y="426366"/>
                  </a:lnTo>
                  <a:close/>
                </a:path>
              </a:pathLst>
            </a:custGeom>
            <a:ln w="6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019728" y="3415037"/>
            <a:ext cx="2520315" cy="4267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315"/>
              </a:spcBef>
            </a:pPr>
            <a:r>
              <a:rPr dirty="0" sz="1950" spc="-25" b="1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145413" y="3695825"/>
            <a:ext cx="2527300" cy="2263140"/>
            <a:chOff x="6145413" y="3695825"/>
            <a:chExt cx="2527300" cy="2263140"/>
          </a:xfrm>
        </p:grpSpPr>
        <p:sp>
          <p:nvSpPr>
            <p:cNvPr id="14" name="object 14" descr=""/>
            <p:cNvSpPr/>
            <p:nvPr/>
          </p:nvSpPr>
          <p:spPr>
            <a:xfrm>
              <a:off x="6148906" y="4125684"/>
              <a:ext cx="2520315" cy="1833245"/>
            </a:xfrm>
            <a:custGeom>
              <a:avLst/>
              <a:gdLst/>
              <a:ahLst/>
              <a:cxnLst/>
              <a:rect l="l" t="t" r="r" b="b"/>
              <a:pathLst>
                <a:path w="2520315" h="1833245">
                  <a:moveTo>
                    <a:pt x="0" y="1833220"/>
                  </a:moveTo>
                  <a:lnTo>
                    <a:pt x="2520141" y="1833220"/>
                  </a:lnTo>
                  <a:lnTo>
                    <a:pt x="2520141" y="0"/>
                  </a:lnTo>
                  <a:lnTo>
                    <a:pt x="0" y="0"/>
                  </a:lnTo>
                  <a:lnTo>
                    <a:pt x="0" y="183322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48906" y="3699318"/>
              <a:ext cx="2520315" cy="426720"/>
            </a:xfrm>
            <a:custGeom>
              <a:avLst/>
              <a:gdLst/>
              <a:ahLst/>
              <a:cxnLst/>
              <a:rect l="l" t="t" r="r" b="b"/>
              <a:pathLst>
                <a:path w="2520315" h="426720">
                  <a:moveTo>
                    <a:pt x="2520141" y="0"/>
                  </a:moveTo>
                  <a:lnTo>
                    <a:pt x="0" y="0"/>
                  </a:lnTo>
                  <a:lnTo>
                    <a:pt x="0" y="426366"/>
                  </a:lnTo>
                  <a:lnTo>
                    <a:pt x="2520141" y="426366"/>
                  </a:lnTo>
                  <a:lnTo>
                    <a:pt x="2520141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48906" y="3699318"/>
              <a:ext cx="2520315" cy="426720"/>
            </a:xfrm>
            <a:custGeom>
              <a:avLst/>
              <a:gdLst/>
              <a:ahLst/>
              <a:cxnLst/>
              <a:rect l="l" t="t" r="r" b="b"/>
              <a:pathLst>
                <a:path w="2520315" h="426720">
                  <a:moveTo>
                    <a:pt x="0" y="426366"/>
                  </a:moveTo>
                  <a:lnTo>
                    <a:pt x="2520141" y="426366"/>
                  </a:lnTo>
                  <a:lnTo>
                    <a:pt x="2520141" y="0"/>
                  </a:lnTo>
                  <a:lnTo>
                    <a:pt x="0" y="0"/>
                  </a:lnTo>
                  <a:lnTo>
                    <a:pt x="0" y="426366"/>
                  </a:lnTo>
                  <a:close/>
                </a:path>
              </a:pathLst>
            </a:custGeom>
            <a:ln w="6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049748" y="3728405"/>
            <a:ext cx="732155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0" b="1">
                <a:solidFill>
                  <a:srgbClr val="FFFFFF"/>
                </a:solidFill>
                <a:latin typeface="Calibri"/>
                <a:cs typeface="Calibri"/>
              </a:rPr>
              <a:t>OFFICE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76839" y="3973578"/>
            <a:ext cx="544830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50" spc="-10">
                <a:solidFill>
                  <a:srgbClr val="5B9BD4"/>
                </a:solidFill>
                <a:latin typeface="Calibri"/>
                <a:cs typeface="Calibri"/>
              </a:rPr>
              <a:t>TITLE</a:t>
            </a:r>
            <a:endParaRPr sz="195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074394" y="4036893"/>
            <a:ext cx="240029" cy="240029"/>
            <a:chOff x="2074394" y="4036893"/>
            <a:chExt cx="240029" cy="240029"/>
          </a:xfrm>
        </p:grpSpPr>
        <p:sp>
          <p:nvSpPr>
            <p:cNvPr id="20" name="object 20" descr=""/>
            <p:cNvSpPr/>
            <p:nvPr/>
          </p:nvSpPr>
          <p:spPr>
            <a:xfrm>
              <a:off x="2077887" y="4040386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232632" y="0"/>
                  </a:moveTo>
                  <a:lnTo>
                    <a:pt x="0" y="0"/>
                  </a:lnTo>
                  <a:lnTo>
                    <a:pt x="0" y="232565"/>
                  </a:lnTo>
                  <a:lnTo>
                    <a:pt x="232632" y="232565"/>
                  </a:lnTo>
                  <a:lnTo>
                    <a:pt x="232632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77887" y="4040386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4" h="233045">
                  <a:moveTo>
                    <a:pt x="0" y="232565"/>
                  </a:moveTo>
                  <a:lnTo>
                    <a:pt x="232632" y="232565"/>
                  </a:lnTo>
                  <a:lnTo>
                    <a:pt x="232632" y="0"/>
                  </a:lnTo>
                  <a:lnTo>
                    <a:pt x="0" y="0"/>
                  </a:lnTo>
                  <a:lnTo>
                    <a:pt x="0" y="232565"/>
                  </a:lnTo>
                  <a:close/>
                </a:path>
              </a:pathLst>
            </a:custGeom>
            <a:ln w="6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095341" y="4008789"/>
            <a:ext cx="219075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dirty="0" sz="15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072489" y="4321037"/>
            <a:ext cx="4370705" cy="240029"/>
            <a:chOff x="2072489" y="4321037"/>
            <a:chExt cx="4370705" cy="240029"/>
          </a:xfrm>
        </p:grpSpPr>
        <p:sp>
          <p:nvSpPr>
            <p:cNvPr id="24" name="object 24" descr=""/>
            <p:cNvSpPr/>
            <p:nvPr/>
          </p:nvSpPr>
          <p:spPr>
            <a:xfrm>
              <a:off x="2077887" y="4471907"/>
              <a:ext cx="2404110" cy="0"/>
            </a:xfrm>
            <a:custGeom>
              <a:avLst/>
              <a:gdLst/>
              <a:ahLst/>
              <a:cxnLst/>
              <a:rect l="l" t="t" r="r" b="b"/>
              <a:pathLst>
                <a:path w="2404110" h="0">
                  <a:moveTo>
                    <a:pt x="0" y="0"/>
                  </a:moveTo>
                  <a:lnTo>
                    <a:pt x="2403826" y="0"/>
                  </a:lnTo>
                </a:path>
              </a:pathLst>
            </a:custGeom>
            <a:ln w="10255">
              <a:solidFill>
                <a:srgbClr val="5592C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207036" y="4324530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5" h="233045">
                  <a:moveTo>
                    <a:pt x="232632" y="0"/>
                  </a:moveTo>
                  <a:lnTo>
                    <a:pt x="0" y="0"/>
                  </a:lnTo>
                  <a:lnTo>
                    <a:pt x="0" y="232565"/>
                  </a:lnTo>
                  <a:lnTo>
                    <a:pt x="232632" y="232565"/>
                  </a:lnTo>
                  <a:lnTo>
                    <a:pt x="232632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207036" y="4324530"/>
              <a:ext cx="233045" cy="233045"/>
            </a:xfrm>
            <a:custGeom>
              <a:avLst/>
              <a:gdLst/>
              <a:ahLst/>
              <a:cxnLst/>
              <a:rect l="l" t="t" r="r" b="b"/>
              <a:pathLst>
                <a:path w="233045" h="233045">
                  <a:moveTo>
                    <a:pt x="0" y="232565"/>
                  </a:moveTo>
                  <a:lnTo>
                    <a:pt x="232632" y="232565"/>
                  </a:lnTo>
                  <a:lnTo>
                    <a:pt x="232632" y="0"/>
                  </a:lnTo>
                  <a:lnTo>
                    <a:pt x="0" y="0"/>
                  </a:lnTo>
                  <a:lnTo>
                    <a:pt x="0" y="232565"/>
                  </a:lnTo>
                  <a:close/>
                </a:path>
              </a:pathLst>
            </a:custGeom>
            <a:ln w="6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2776839" y="4606612"/>
            <a:ext cx="1600835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5B9BD4"/>
                </a:solidFill>
                <a:latin typeface="Calibri"/>
                <a:cs typeface="Calibri"/>
              </a:rPr>
              <a:t>QUALIFICATION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899566" y="4259295"/>
            <a:ext cx="95123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10">
                <a:solidFill>
                  <a:srgbClr val="5B9BD4"/>
                </a:solidFill>
                <a:latin typeface="Calibri"/>
                <a:cs typeface="Calibri"/>
              </a:rPr>
              <a:t>ADDRESS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218136" y="4293890"/>
            <a:ext cx="231775" cy="2603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5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519332" y="4750923"/>
            <a:ext cx="4091940" cy="157480"/>
            <a:chOff x="4519332" y="4750923"/>
            <a:chExt cx="4091940" cy="157480"/>
          </a:xfrm>
        </p:grpSpPr>
        <p:sp>
          <p:nvSpPr>
            <p:cNvPr id="31" name="object 31" descr=""/>
            <p:cNvSpPr/>
            <p:nvPr/>
          </p:nvSpPr>
          <p:spPr>
            <a:xfrm>
              <a:off x="6207036" y="4756051"/>
              <a:ext cx="2404110" cy="0"/>
            </a:xfrm>
            <a:custGeom>
              <a:avLst/>
              <a:gdLst/>
              <a:ahLst/>
              <a:cxnLst/>
              <a:rect l="l" t="t" r="r" b="b"/>
              <a:pathLst>
                <a:path w="2404109" h="0">
                  <a:moveTo>
                    <a:pt x="0" y="0"/>
                  </a:moveTo>
                  <a:lnTo>
                    <a:pt x="2403880" y="0"/>
                  </a:lnTo>
                </a:path>
              </a:pathLst>
            </a:custGeom>
            <a:ln w="10255">
              <a:solidFill>
                <a:srgbClr val="5592C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766349" y="4772597"/>
              <a:ext cx="1383030" cy="113664"/>
            </a:xfrm>
            <a:custGeom>
              <a:avLst/>
              <a:gdLst/>
              <a:ahLst/>
              <a:cxnLst/>
              <a:rect l="l" t="t" r="r" b="b"/>
              <a:pathLst>
                <a:path w="1383029" h="113664">
                  <a:moveTo>
                    <a:pt x="1382556" y="56473"/>
                  </a:moveTo>
                  <a:lnTo>
                    <a:pt x="0" y="58114"/>
                  </a:lnTo>
                </a:path>
                <a:path w="1383029" h="113664">
                  <a:moveTo>
                    <a:pt x="1212677" y="136"/>
                  </a:moveTo>
                  <a:lnTo>
                    <a:pt x="1212814" y="113356"/>
                  </a:lnTo>
                </a:path>
                <a:path w="1383029" h="113664">
                  <a:moveTo>
                    <a:pt x="1269303" y="0"/>
                  </a:moveTo>
                  <a:lnTo>
                    <a:pt x="1269440" y="113220"/>
                  </a:lnTo>
                </a:path>
              </a:pathLst>
            </a:custGeom>
            <a:ln w="41027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9332" y="4753724"/>
              <a:ext cx="267530" cy="154382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6899566" y="4891440"/>
            <a:ext cx="896619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10">
                <a:solidFill>
                  <a:srgbClr val="5B9BD4"/>
                </a:solidFill>
                <a:latin typeface="Calibri"/>
                <a:cs typeface="Calibri"/>
              </a:rPr>
              <a:t>QUALITY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899566" y="5466428"/>
            <a:ext cx="434340" cy="3219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950" spc="-20">
                <a:solidFill>
                  <a:srgbClr val="5B9BD4"/>
                </a:solidFill>
                <a:latin typeface="Calibri"/>
                <a:cs typeface="Calibri"/>
              </a:rPr>
              <a:t>SIZE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776839" y="5180643"/>
            <a:ext cx="763270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50" spc="-10">
                <a:solidFill>
                  <a:srgbClr val="5B9BD4"/>
                </a:solidFill>
                <a:latin typeface="Calibri"/>
                <a:cs typeface="Calibri"/>
              </a:rPr>
              <a:t>WAGES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776839" y="5754947"/>
            <a:ext cx="1168400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950">
                <a:solidFill>
                  <a:srgbClr val="73AD42"/>
                </a:solidFill>
                <a:latin typeface="Calibri"/>
                <a:cs typeface="Calibri"/>
              </a:rPr>
              <a:t>OFFICE</a:t>
            </a:r>
            <a:r>
              <a:rPr dirty="0" sz="1950" spc="-45">
                <a:solidFill>
                  <a:srgbClr val="73AD42"/>
                </a:solidFill>
                <a:latin typeface="Calibri"/>
                <a:cs typeface="Calibri"/>
              </a:rPr>
              <a:t> </a:t>
            </a:r>
            <a:r>
              <a:rPr dirty="0" sz="1950" spc="-20">
                <a:solidFill>
                  <a:srgbClr val="73AD42"/>
                </a:solidFill>
                <a:latin typeface="Calibri"/>
                <a:cs typeface="Calibri"/>
              </a:rPr>
              <a:t>(FK)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952" y="699516"/>
            <a:ext cx="8970352" cy="57569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4963" y="957540"/>
            <a:ext cx="151206" cy="7560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520" y="1371853"/>
            <a:ext cx="538518" cy="4516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86763" y="1615908"/>
            <a:ext cx="151206" cy="756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30857" y="1482852"/>
            <a:ext cx="1648968" cy="45072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dirty="0" spc="120" b="1">
                <a:latin typeface="Cambria"/>
                <a:cs typeface="Cambria"/>
              </a:rPr>
              <a:t>Many-</a:t>
            </a:r>
            <a:r>
              <a:rPr dirty="0" spc="110" b="1">
                <a:latin typeface="Cambria"/>
                <a:cs typeface="Cambria"/>
              </a:rPr>
              <a:t>to-</a:t>
            </a:r>
            <a:r>
              <a:rPr dirty="0" spc="120" b="1">
                <a:latin typeface="Cambria"/>
                <a:cs typeface="Cambria"/>
              </a:rPr>
              <a:t>many/multivalued</a:t>
            </a:r>
            <a:r>
              <a:rPr dirty="0" spc="210" b="1">
                <a:latin typeface="Cambria"/>
                <a:cs typeface="Cambria"/>
              </a:rPr>
              <a:t> </a:t>
            </a:r>
            <a:r>
              <a:rPr dirty="0" spc="114" b="1">
                <a:latin typeface="Cambria"/>
                <a:cs typeface="Cambria"/>
              </a:rPr>
              <a:t>dependency</a:t>
            </a:r>
            <a:r>
              <a:rPr dirty="0" spc="114"/>
              <a:t>:</a:t>
            </a:r>
            <a:r>
              <a:rPr dirty="0" spc="185"/>
              <a:t> </a:t>
            </a:r>
            <a:r>
              <a:rPr dirty="0" spc="114"/>
              <a:t>the</a:t>
            </a:r>
            <a:r>
              <a:rPr dirty="0" spc="204"/>
              <a:t> </a:t>
            </a:r>
            <a:r>
              <a:rPr dirty="0" spc="110"/>
              <a:t>additional</a:t>
            </a:r>
            <a:r>
              <a:rPr dirty="0" spc="204"/>
              <a:t> </a:t>
            </a:r>
            <a:r>
              <a:rPr dirty="0" spc="100"/>
              <a:t>table</a:t>
            </a:r>
            <a:r>
              <a:rPr dirty="0" spc="195"/>
              <a:t> </a:t>
            </a:r>
            <a:r>
              <a:rPr dirty="0" spc="110"/>
              <a:t>is</a:t>
            </a:r>
            <a:r>
              <a:rPr dirty="0" spc="220"/>
              <a:t> </a:t>
            </a:r>
            <a:r>
              <a:rPr dirty="0" spc="85"/>
              <a:t>required</a:t>
            </a:r>
            <a:r>
              <a:rPr dirty="0" spc="165"/>
              <a:t> </a:t>
            </a:r>
            <a:r>
              <a:rPr dirty="0" spc="35"/>
              <a:t>to </a:t>
            </a:r>
            <a:r>
              <a:rPr dirty="0" spc="95"/>
              <a:t>represent</a:t>
            </a:r>
            <a:r>
              <a:rPr dirty="0" spc="180"/>
              <a:t> </a:t>
            </a:r>
            <a:r>
              <a:rPr dirty="0" spc="125"/>
              <a:t>this</a:t>
            </a:r>
            <a:r>
              <a:rPr dirty="0" spc="220"/>
              <a:t> </a:t>
            </a:r>
            <a:r>
              <a:rPr dirty="0" spc="120"/>
              <a:t>constraint</a:t>
            </a:r>
            <a:r>
              <a:rPr dirty="0" spc="215"/>
              <a:t> </a:t>
            </a:r>
            <a:r>
              <a:rPr dirty="0" spc="80"/>
              <a:t>(according</a:t>
            </a:r>
            <a:r>
              <a:rPr dirty="0" spc="190"/>
              <a:t> </a:t>
            </a:r>
            <a:r>
              <a:rPr dirty="0" spc="65"/>
              <a:t>to</a:t>
            </a:r>
            <a:r>
              <a:rPr dirty="0" spc="220"/>
              <a:t> </a:t>
            </a:r>
            <a:r>
              <a:rPr dirty="0" spc="90"/>
              <a:t>4NF).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6206434" y="3709078"/>
            <a:ext cx="2332990" cy="2089150"/>
            <a:chOff x="6206434" y="3709078"/>
            <a:chExt cx="2332990" cy="2089150"/>
          </a:xfrm>
        </p:grpSpPr>
        <p:sp>
          <p:nvSpPr>
            <p:cNvPr id="9" name="object 9" descr=""/>
            <p:cNvSpPr/>
            <p:nvPr/>
          </p:nvSpPr>
          <p:spPr>
            <a:xfrm>
              <a:off x="6209609" y="4105830"/>
              <a:ext cx="2326640" cy="1692275"/>
            </a:xfrm>
            <a:custGeom>
              <a:avLst/>
              <a:gdLst/>
              <a:ahLst/>
              <a:cxnLst/>
              <a:rect l="l" t="t" r="r" b="b"/>
              <a:pathLst>
                <a:path w="2326640" h="1692275">
                  <a:moveTo>
                    <a:pt x="0" y="1692228"/>
                  </a:moveTo>
                  <a:lnTo>
                    <a:pt x="2326380" y="1692228"/>
                  </a:lnTo>
                  <a:lnTo>
                    <a:pt x="2326380" y="0"/>
                  </a:lnTo>
                  <a:lnTo>
                    <a:pt x="0" y="0"/>
                  </a:lnTo>
                  <a:lnTo>
                    <a:pt x="0" y="1692228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09609" y="3712253"/>
              <a:ext cx="2326640" cy="393700"/>
            </a:xfrm>
            <a:custGeom>
              <a:avLst/>
              <a:gdLst/>
              <a:ahLst/>
              <a:cxnLst/>
              <a:rect l="l" t="t" r="r" b="b"/>
              <a:pathLst>
                <a:path w="2326640" h="393700">
                  <a:moveTo>
                    <a:pt x="2326380" y="0"/>
                  </a:moveTo>
                  <a:lnTo>
                    <a:pt x="0" y="0"/>
                  </a:lnTo>
                  <a:lnTo>
                    <a:pt x="0" y="393577"/>
                  </a:lnTo>
                  <a:lnTo>
                    <a:pt x="2326380" y="393577"/>
                  </a:lnTo>
                  <a:lnTo>
                    <a:pt x="2326380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09609" y="3712253"/>
              <a:ext cx="2326640" cy="393700"/>
            </a:xfrm>
            <a:custGeom>
              <a:avLst/>
              <a:gdLst/>
              <a:ahLst/>
              <a:cxnLst/>
              <a:rect l="l" t="t" r="r" b="b"/>
              <a:pathLst>
                <a:path w="2326640" h="393700">
                  <a:moveTo>
                    <a:pt x="0" y="393577"/>
                  </a:moveTo>
                  <a:lnTo>
                    <a:pt x="2326380" y="393577"/>
                  </a:lnTo>
                  <a:lnTo>
                    <a:pt x="2326380" y="0"/>
                  </a:lnTo>
                  <a:lnTo>
                    <a:pt x="0" y="0"/>
                  </a:lnTo>
                  <a:lnTo>
                    <a:pt x="0" y="393577"/>
                  </a:lnTo>
                  <a:close/>
                </a:path>
              </a:pathLst>
            </a:custGeom>
            <a:ln w="63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209609" y="3712253"/>
            <a:ext cx="2326640" cy="3937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algn="ctr" marL="13970">
              <a:lnSpc>
                <a:spcPct val="100000"/>
              </a:lnSpc>
              <a:spcBef>
                <a:spcPts val="295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448390" y="3703651"/>
            <a:ext cx="2332990" cy="2089150"/>
            <a:chOff x="2448390" y="3703651"/>
            <a:chExt cx="2332990" cy="2089150"/>
          </a:xfrm>
        </p:grpSpPr>
        <p:sp>
          <p:nvSpPr>
            <p:cNvPr id="14" name="object 14" descr=""/>
            <p:cNvSpPr/>
            <p:nvPr/>
          </p:nvSpPr>
          <p:spPr>
            <a:xfrm>
              <a:off x="2451565" y="4100403"/>
              <a:ext cx="2326640" cy="1692910"/>
            </a:xfrm>
            <a:custGeom>
              <a:avLst/>
              <a:gdLst/>
              <a:ahLst/>
              <a:cxnLst/>
              <a:rect l="l" t="t" r="r" b="b"/>
              <a:pathLst>
                <a:path w="2326640" h="1692910">
                  <a:moveTo>
                    <a:pt x="0" y="1692340"/>
                  </a:moveTo>
                  <a:lnTo>
                    <a:pt x="2326380" y="1692340"/>
                  </a:lnTo>
                  <a:lnTo>
                    <a:pt x="2326380" y="0"/>
                  </a:lnTo>
                  <a:lnTo>
                    <a:pt x="0" y="0"/>
                  </a:lnTo>
                  <a:lnTo>
                    <a:pt x="0" y="169234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451565" y="3706826"/>
              <a:ext cx="2326640" cy="393700"/>
            </a:xfrm>
            <a:custGeom>
              <a:avLst/>
              <a:gdLst/>
              <a:ahLst/>
              <a:cxnLst/>
              <a:rect l="l" t="t" r="r" b="b"/>
              <a:pathLst>
                <a:path w="2326640" h="393700">
                  <a:moveTo>
                    <a:pt x="2326380" y="0"/>
                  </a:moveTo>
                  <a:lnTo>
                    <a:pt x="0" y="0"/>
                  </a:lnTo>
                  <a:lnTo>
                    <a:pt x="0" y="393577"/>
                  </a:lnTo>
                  <a:lnTo>
                    <a:pt x="2326380" y="393577"/>
                  </a:lnTo>
                  <a:lnTo>
                    <a:pt x="2326380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51565" y="3706826"/>
              <a:ext cx="2326640" cy="393700"/>
            </a:xfrm>
            <a:custGeom>
              <a:avLst/>
              <a:gdLst/>
              <a:ahLst/>
              <a:cxnLst/>
              <a:rect l="l" t="t" r="r" b="b"/>
              <a:pathLst>
                <a:path w="2326640" h="393700">
                  <a:moveTo>
                    <a:pt x="0" y="393577"/>
                  </a:moveTo>
                  <a:lnTo>
                    <a:pt x="2326380" y="393577"/>
                  </a:lnTo>
                  <a:lnTo>
                    <a:pt x="2326380" y="0"/>
                  </a:lnTo>
                  <a:lnTo>
                    <a:pt x="0" y="0"/>
                  </a:lnTo>
                  <a:lnTo>
                    <a:pt x="0" y="393577"/>
                  </a:lnTo>
                  <a:close/>
                </a:path>
              </a:pathLst>
            </a:custGeom>
            <a:ln w="63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51565" y="3706826"/>
            <a:ext cx="2326640" cy="3937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778510">
              <a:lnSpc>
                <a:spcPct val="100000"/>
              </a:lnSpc>
              <a:spcBef>
                <a:spcPts val="295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PERSON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914657" y="4227495"/>
            <a:ext cx="50292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TITLE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6260096" y="4286210"/>
            <a:ext cx="221615" cy="221615"/>
            <a:chOff x="6260096" y="4286210"/>
            <a:chExt cx="221615" cy="221615"/>
          </a:xfrm>
        </p:grpSpPr>
        <p:sp>
          <p:nvSpPr>
            <p:cNvPr id="20" name="object 20" descr=""/>
            <p:cNvSpPr/>
            <p:nvPr/>
          </p:nvSpPr>
          <p:spPr>
            <a:xfrm>
              <a:off x="6263271" y="4289385"/>
              <a:ext cx="215265" cy="215265"/>
            </a:xfrm>
            <a:custGeom>
              <a:avLst/>
              <a:gdLst/>
              <a:ahLst/>
              <a:cxnLst/>
              <a:rect l="l" t="t" r="r" b="b"/>
              <a:pathLst>
                <a:path w="215264" h="215264">
                  <a:moveTo>
                    <a:pt x="214746" y="0"/>
                  </a:moveTo>
                  <a:lnTo>
                    <a:pt x="0" y="0"/>
                  </a:lnTo>
                  <a:lnTo>
                    <a:pt x="0" y="214680"/>
                  </a:lnTo>
                  <a:lnTo>
                    <a:pt x="214746" y="214680"/>
                  </a:lnTo>
                  <a:lnTo>
                    <a:pt x="214746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263271" y="4289385"/>
              <a:ext cx="215265" cy="215265"/>
            </a:xfrm>
            <a:custGeom>
              <a:avLst/>
              <a:gdLst/>
              <a:ahLst/>
              <a:cxnLst/>
              <a:rect l="l" t="t" r="r" b="b"/>
              <a:pathLst>
                <a:path w="215264" h="215264">
                  <a:moveTo>
                    <a:pt x="0" y="214680"/>
                  </a:moveTo>
                  <a:lnTo>
                    <a:pt x="214746" y="214680"/>
                  </a:lnTo>
                  <a:lnTo>
                    <a:pt x="214746" y="0"/>
                  </a:lnTo>
                  <a:lnTo>
                    <a:pt x="0" y="0"/>
                  </a:lnTo>
                  <a:lnTo>
                    <a:pt x="0" y="214680"/>
                  </a:lnTo>
                  <a:close/>
                </a:path>
              </a:pathLst>
            </a:custGeom>
            <a:ln w="63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285240" y="4259682"/>
            <a:ext cx="20320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2502077" y="4280908"/>
            <a:ext cx="5985510" cy="412115"/>
            <a:chOff x="2502077" y="4280908"/>
            <a:chExt cx="5985510" cy="412115"/>
          </a:xfrm>
        </p:grpSpPr>
        <p:sp>
          <p:nvSpPr>
            <p:cNvPr id="24" name="object 24" descr=""/>
            <p:cNvSpPr/>
            <p:nvPr/>
          </p:nvSpPr>
          <p:spPr>
            <a:xfrm>
              <a:off x="6263270" y="4687758"/>
              <a:ext cx="2219325" cy="0"/>
            </a:xfrm>
            <a:custGeom>
              <a:avLst/>
              <a:gdLst/>
              <a:ahLst/>
              <a:cxnLst/>
              <a:rect l="l" t="t" r="r" b="b"/>
              <a:pathLst>
                <a:path w="2219325" h="0">
                  <a:moveTo>
                    <a:pt x="0" y="0"/>
                  </a:moveTo>
                  <a:lnTo>
                    <a:pt x="2219058" y="0"/>
                  </a:lnTo>
                </a:path>
              </a:pathLst>
            </a:custGeom>
            <a:ln w="9466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505252" y="4284083"/>
              <a:ext cx="215265" cy="215265"/>
            </a:xfrm>
            <a:custGeom>
              <a:avLst/>
              <a:gdLst/>
              <a:ahLst/>
              <a:cxnLst/>
              <a:rect l="l" t="t" r="r" b="b"/>
              <a:pathLst>
                <a:path w="215264" h="215264">
                  <a:moveTo>
                    <a:pt x="214746" y="0"/>
                  </a:moveTo>
                  <a:lnTo>
                    <a:pt x="0" y="0"/>
                  </a:lnTo>
                  <a:lnTo>
                    <a:pt x="0" y="214680"/>
                  </a:lnTo>
                  <a:lnTo>
                    <a:pt x="214746" y="214680"/>
                  </a:lnTo>
                  <a:lnTo>
                    <a:pt x="214746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05252" y="4284083"/>
              <a:ext cx="215265" cy="215265"/>
            </a:xfrm>
            <a:custGeom>
              <a:avLst/>
              <a:gdLst/>
              <a:ahLst/>
              <a:cxnLst/>
              <a:rect l="l" t="t" r="r" b="b"/>
              <a:pathLst>
                <a:path w="215264" h="215264">
                  <a:moveTo>
                    <a:pt x="0" y="214680"/>
                  </a:moveTo>
                  <a:lnTo>
                    <a:pt x="214746" y="214680"/>
                  </a:lnTo>
                  <a:lnTo>
                    <a:pt x="214746" y="0"/>
                  </a:lnTo>
                  <a:lnTo>
                    <a:pt x="0" y="0"/>
                  </a:lnTo>
                  <a:lnTo>
                    <a:pt x="0" y="214680"/>
                  </a:lnTo>
                  <a:close/>
                </a:path>
              </a:pathLst>
            </a:custGeom>
            <a:ln w="63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914657" y="4812225"/>
            <a:ext cx="147574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QUALIFICATION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150781" y="4221878"/>
            <a:ext cx="59753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20">
                <a:solidFill>
                  <a:srgbClr val="5B9BD4"/>
                </a:solidFill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521364" y="4254381"/>
            <a:ext cx="203200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2505252" y="4677711"/>
            <a:ext cx="3723640" cy="149225"/>
            <a:chOff x="2505252" y="4677711"/>
            <a:chExt cx="3723640" cy="149225"/>
          </a:xfrm>
        </p:grpSpPr>
        <p:sp>
          <p:nvSpPr>
            <p:cNvPr id="31" name="object 31" descr=""/>
            <p:cNvSpPr/>
            <p:nvPr/>
          </p:nvSpPr>
          <p:spPr>
            <a:xfrm>
              <a:off x="2505252" y="4682444"/>
              <a:ext cx="2219325" cy="0"/>
            </a:xfrm>
            <a:custGeom>
              <a:avLst/>
              <a:gdLst/>
              <a:ahLst/>
              <a:cxnLst/>
              <a:rect l="l" t="t" r="r" b="b"/>
              <a:pathLst>
                <a:path w="2219325" h="0">
                  <a:moveTo>
                    <a:pt x="0" y="0"/>
                  </a:moveTo>
                  <a:lnTo>
                    <a:pt x="2219008" y="0"/>
                  </a:lnTo>
                </a:path>
              </a:pathLst>
            </a:custGeom>
            <a:ln w="9466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987012" y="4750592"/>
              <a:ext cx="1014094" cy="3810"/>
            </a:xfrm>
            <a:custGeom>
              <a:avLst/>
              <a:gdLst/>
              <a:ahLst/>
              <a:cxnLst/>
              <a:rect l="l" t="t" r="r" b="b"/>
              <a:pathLst>
                <a:path w="1014095" h="3810">
                  <a:moveTo>
                    <a:pt x="0" y="0"/>
                  </a:moveTo>
                  <a:lnTo>
                    <a:pt x="1013506" y="3761"/>
                  </a:lnTo>
                </a:path>
              </a:pathLst>
            </a:custGeom>
            <a:ln w="37867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8861" y="4678619"/>
              <a:ext cx="247087" cy="14296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81583" y="4683350"/>
              <a:ext cx="247213" cy="14296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3150781" y="4806861"/>
            <a:ext cx="39878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solidFill>
                  <a:srgbClr val="5B9BD4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150781" y="5337630"/>
            <a:ext cx="1125220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EDUCATION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6914657" y="5342363"/>
            <a:ext cx="705485" cy="2997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WAGES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282565" y="3637610"/>
            <a:ext cx="57467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0" spc="894">
                <a:solidFill>
                  <a:srgbClr val="FF0000"/>
                </a:solidFill>
                <a:latin typeface="Cambria"/>
                <a:cs typeface="Cambria"/>
              </a:rPr>
              <a:t>?</a:t>
            </a:r>
            <a:endParaRPr sz="8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3916" y="1286724"/>
            <a:ext cx="151206" cy="756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7963" y="1048003"/>
            <a:ext cx="1648421" cy="55638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96895" y="1042669"/>
            <a:ext cx="538480" cy="45161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12971" y="1286724"/>
            <a:ext cx="151206" cy="756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57192" y="1028700"/>
            <a:ext cx="4213606" cy="57569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48588" y="2101088"/>
            <a:ext cx="790130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120" b="1">
                <a:latin typeface="Cambria"/>
                <a:cs typeface="Cambria"/>
              </a:rPr>
              <a:t>Many-</a:t>
            </a:r>
            <a:r>
              <a:rPr dirty="0" spc="110" b="1">
                <a:latin typeface="Cambria"/>
                <a:cs typeface="Cambria"/>
              </a:rPr>
              <a:t>to-</a:t>
            </a:r>
            <a:r>
              <a:rPr dirty="0" spc="150" b="1">
                <a:latin typeface="Cambria"/>
                <a:cs typeface="Cambria"/>
              </a:rPr>
              <a:t>many</a:t>
            </a:r>
            <a:r>
              <a:rPr dirty="0" spc="225" b="1">
                <a:latin typeface="Cambria"/>
                <a:cs typeface="Cambria"/>
              </a:rPr>
              <a:t> </a:t>
            </a:r>
            <a:r>
              <a:rPr dirty="0"/>
              <a:t>for</a:t>
            </a:r>
            <a:r>
              <a:rPr dirty="0" spc="225"/>
              <a:t> </a:t>
            </a:r>
            <a:r>
              <a:rPr dirty="0" spc="90"/>
              <a:t>entities</a:t>
            </a:r>
            <a:r>
              <a:rPr dirty="0" spc="204"/>
              <a:t> </a:t>
            </a:r>
            <a:r>
              <a:rPr dirty="0" spc="110"/>
              <a:t>is</a:t>
            </a:r>
            <a:r>
              <a:rPr dirty="0" spc="235"/>
              <a:t> </a:t>
            </a:r>
            <a:r>
              <a:rPr dirty="0" spc="85"/>
              <a:t>like</a:t>
            </a:r>
            <a:r>
              <a:rPr dirty="0" spc="229"/>
              <a:t> </a:t>
            </a:r>
            <a:r>
              <a:rPr dirty="0" spc="130" b="1">
                <a:latin typeface="Cambria"/>
                <a:cs typeface="Cambria"/>
              </a:rPr>
              <a:t>many-</a:t>
            </a:r>
            <a:r>
              <a:rPr dirty="0" spc="110" b="1">
                <a:latin typeface="Cambria"/>
                <a:cs typeface="Cambria"/>
              </a:rPr>
              <a:t>to-one</a:t>
            </a:r>
            <a:r>
              <a:rPr dirty="0" spc="245" b="1">
                <a:latin typeface="Cambria"/>
                <a:cs typeface="Cambria"/>
              </a:rPr>
              <a:t> </a:t>
            </a:r>
            <a:r>
              <a:rPr dirty="0" b="1">
                <a:latin typeface="Cambria"/>
                <a:cs typeface="Cambria"/>
              </a:rPr>
              <a:t>+</a:t>
            </a:r>
            <a:r>
              <a:rPr dirty="0" spc="254" b="1">
                <a:latin typeface="Cambria"/>
                <a:cs typeface="Cambria"/>
              </a:rPr>
              <a:t> </a:t>
            </a:r>
            <a:r>
              <a:rPr dirty="0" spc="90" b="1">
                <a:latin typeface="Cambria"/>
                <a:cs typeface="Cambria"/>
              </a:rPr>
              <a:t>one-</a:t>
            </a:r>
            <a:r>
              <a:rPr dirty="0" spc="110" b="1">
                <a:latin typeface="Cambria"/>
                <a:cs typeface="Cambria"/>
              </a:rPr>
              <a:t>to-</a:t>
            </a:r>
            <a:r>
              <a:rPr dirty="0" spc="130" b="1">
                <a:latin typeface="Cambria"/>
                <a:cs typeface="Cambria"/>
              </a:rPr>
              <a:t>many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6361332" y="2577807"/>
            <a:ext cx="2346960" cy="2101850"/>
            <a:chOff x="6361332" y="2577807"/>
            <a:chExt cx="2346960" cy="2101850"/>
          </a:xfrm>
        </p:grpSpPr>
        <p:sp>
          <p:nvSpPr>
            <p:cNvPr id="9" name="object 9" descr=""/>
            <p:cNvSpPr/>
            <p:nvPr/>
          </p:nvSpPr>
          <p:spPr>
            <a:xfrm>
              <a:off x="6364507" y="2976978"/>
              <a:ext cx="2340610" cy="1703070"/>
            </a:xfrm>
            <a:custGeom>
              <a:avLst/>
              <a:gdLst/>
              <a:ahLst/>
              <a:cxnLst/>
              <a:rect l="l" t="t" r="r" b="b"/>
              <a:pathLst>
                <a:path w="2340609" h="1703070">
                  <a:moveTo>
                    <a:pt x="0" y="1702678"/>
                  </a:moveTo>
                  <a:lnTo>
                    <a:pt x="2339993" y="1702678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1702678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364507" y="2580982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09" h="396239">
                  <a:moveTo>
                    <a:pt x="2339993" y="0"/>
                  </a:moveTo>
                  <a:lnTo>
                    <a:pt x="0" y="0"/>
                  </a:lnTo>
                  <a:lnTo>
                    <a:pt x="0" y="395996"/>
                  </a:lnTo>
                  <a:lnTo>
                    <a:pt x="2339993" y="395996"/>
                  </a:lnTo>
                  <a:lnTo>
                    <a:pt x="2339993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64507" y="2580982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09" h="396239">
                  <a:moveTo>
                    <a:pt x="0" y="395996"/>
                  </a:moveTo>
                  <a:lnTo>
                    <a:pt x="2339993" y="395996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395996"/>
                  </a:lnTo>
                  <a:close/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364507" y="2580982"/>
            <a:ext cx="2340610" cy="3962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270"/>
              </a:spcBef>
            </a:pPr>
            <a:r>
              <a:rPr dirty="0" sz="1800" spc="-25" b="1">
                <a:solidFill>
                  <a:srgbClr val="FFFFFF"/>
                </a:solidFill>
                <a:latin typeface="Calibri"/>
                <a:cs typeface="Calibri"/>
              </a:rPr>
              <a:t>JOB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715147" y="2577807"/>
            <a:ext cx="2346960" cy="2101850"/>
            <a:chOff x="2715147" y="2577807"/>
            <a:chExt cx="2346960" cy="2101850"/>
          </a:xfrm>
        </p:grpSpPr>
        <p:sp>
          <p:nvSpPr>
            <p:cNvPr id="14" name="object 14" descr=""/>
            <p:cNvSpPr/>
            <p:nvPr/>
          </p:nvSpPr>
          <p:spPr>
            <a:xfrm>
              <a:off x="2718322" y="2976978"/>
              <a:ext cx="2340610" cy="1703070"/>
            </a:xfrm>
            <a:custGeom>
              <a:avLst/>
              <a:gdLst/>
              <a:ahLst/>
              <a:cxnLst/>
              <a:rect l="l" t="t" r="r" b="b"/>
              <a:pathLst>
                <a:path w="2340610" h="1703070">
                  <a:moveTo>
                    <a:pt x="0" y="1702678"/>
                  </a:moveTo>
                  <a:lnTo>
                    <a:pt x="2339993" y="1702678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1702678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718322" y="2580982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10" h="396239">
                  <a:moveTo>
                    <a:pt x="2339993" y="0"/>
                  </a:moveTo>
                  <a:lnTo>
                    <a:pt x="0" y="0"/>
                  </a:lnTo>
                  <a:lnTo>
                    <a:pt x="0" y="395996"/>
                  </a:lnTo>
                  <a:lnTo>
                    <a:pt x="2339993" y="395996"/>
                  </a:lnTo>
                  <a:lnTo>
                    <a:pt x="2339993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18322" y="2580982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10" h="396239">
                  <a:moveTo>
                    <a:pt x="0" y="395996"/>
                  </a:moveTo>
                  <a:lnTo>
                    <a:pt x="2339993" y="395996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395996"/>
                  </a:lnTo>
                  <a:close/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718322" y="2580982"/>
            <a:ext cx="2340610" cy="39624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779145">
              <a:lnSpc>
                <a:spcPct val="100000"/>
              </a:lnSpc>
              <a:spcBef>
                <a:spcPts val="27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PERSON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91319" y="4970700"/>
            <a:ext cx="2346960" cy="1570355"/>
            <a:chOff x="4591319" y="4970700"/>
            <a:chExt cx="2346960" cy="1570355"/>
          </a:xfrm>
        </p:grpSpPr>
        <p:sp>
          <p:nvSpPr>
            <p:cNvPr id="19" name="object 19" descr=""/>
            <p:cNvSpPr/>
            <p:nvPr/>
          </p:nvSpPr>
          <p:spPr>
            <a:xfrm>
              <a:off x="4594494" y="5369872"/>
              <a:ext cx="2340610" cy="1171575"/>
            </a:xfrm>
            <a:custGeom>
              <a:avLst/>
              <a:gdLst/>
              <a:ahLst/>
              <a:cxnLst/>
              <a:rect l="l" t="t" r="r" b="b"/>
              <a:pathLst>
                <a:path w="2340609" h="1171575">
                  <a:moveTo>
                    <a:pt x="0" y="1171124"/>
                  </a:moveTo>
                  <a:lnTo>
                    <a:pt x="2339993" y="1171124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1171124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94494" y="4973875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09" h="396239">
                  <a:moveTo>
                    <a:pt x="2339993" y="0"/>
                  </a:moveTo>
                  <a:lnTo>
                    <a:pt x="0" y="0"/>
                  </a:lnTo>
                  <a:lnTo>
                    <a:pt x="0" y="395996"/>
                  </a:lnTo>
                  <a:lnTo>
                    <a:pt x="2339993" y="395996"/>
                  </a:lnTo>
                  <a:lnTo>
                    <a:pt x="2339993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94494" y="4973875"/>
              <a:ext cx="2340610" cy="396240"/>
            </a:xfrm>
            <a:custGeom>
              <a:avLst/>
              <a:gdLst/>
              <a:ahLst/>
              <a:cxnLst/>
              <a:rect l="l" t="t" r="r" b="b"/>
              <a:pathLst>
                <a:path w="2340609" h="396239">
                  <a:moveTo>
                    <a:pt x="0" y="395996"/>
                  </a:moveTo>
                  <a:lnTo>
                    <a:pt x="2339993" y="395996"/>
                  </a:lnTo>
                  <a:lnTo>
                    <a:pt x="2339993" y="0"/>
                  </a:lnTo>
                  <a:lnTo>
                    <a:pt x="0" y="0"/>
                  </a:lnTo>
                  <a:lnTo>
                    <a:pt x="0" y="395996"/>
                  </a:lnTo>
                  <a:close/>
                </a:path>
              </a:pathLst>
            </a:custGeom>
            <a:ln w="63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4594494" y="4973875"/>
            <a:ext cx="2340610" cy="39624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80059">
              <a:lnSpc>
                <a:spcPct val="100000"/>
              </a:lnSpc>
              <a:spcBef>
                <a:spcPts val="315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EMPLOYMENT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068854" y="3094262"/>
            <a:ext cx="5067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TITLE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415434" y="3158612"/>
            <a:ext cx="222885" cy="222885"/>
            <a:chOff x="6415434" y="3158612"/>
            <a:chExt cx="222885" cy="222885"/>
          </a:xfrm>
        </p:grpSpPr>
        <p:sp>
          <p:nvSpPr>
            <p:cNvPr id="25" name="object 25" descr=""/>
            <p:cNvSpPr/>
            <p:nvPr/>
          </p:nvSpPr>
          <p:spPr>
            <a:xfrm>
              <a:off x="6418609" y="316178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216003" y="0"/>
                  </a:moveTo>
                  <a:lnTo>
                    <a:pt x="0" y="0"/>
                  </a:lnTo>
                  <a:lnTo>
                    <a:pt x="0" y="216000"/>
                  </a:lnTo>
                  <a:lnTo>
                    <a:pt x="216003" y="216000"/>
                  </a:lnTo>
                  <a:lnTo>
                    <a:pt x="21600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18609" y="316178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4" h="216535">
                  <a:moveTo>
                    <a:pt x="0" y="216000"/>
                  </a:moveTo>
                  <a:lnTo>
                    <a:pt x="216003" y="216000"/>
                  </a:lnTo>
                  <a:lnTo>
                    <a:pt x="216003" y="0"/>
                  </a:lnTo>
                  <a:lnTo>
                    <a:pt x="0" y="0"/>
                  </a:lnTo>
                  <a:lnTo>
                    <a:pt x="0" y="2160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435881" y="3126646"/>
            <a:ext cx="2044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769148" y="3158612"/>
            <a:ext cx="5886450" cy="408940"/>
            <a:chOff x="2769148" y="3158612"/>
            <a:chExt cx="5886450" cy="408940"/>
          </a:xfrm>
        </p:grpSpPr>
        <p:sp>
          <p:nvSpPr>
            <p:cNvPr id="29" name="object 29" descr=""/>
            <p:cNvSpPr/>
            <p:nvPr/>
          </p:nvSpPr>
          <p:spPr>
            <a:xfrm>
              <a:off x="6418609" y="3562571"/>
              <a:ext cx="2232025" cy="0"/>
            </a:xfrm>
            <a:custGeom>
              <a:avLst/>
              <a:gdLst/>
              <a:ahLst/>
              <a:cxnLst/>
              <a:rect l="l" t="t" r="r" b="b"/>
              <a:pathLst>
                <a:path w="2232025" h="0">
                  <a:moveTo>
                    <a:pt x="0" y="0"/>
                  </a:moveTo>
                  <a:lnTo>
                    <a:pt x="2231915" y="0"/>
                  </a:lnTo>
                </a:path>
              </a:pathLst>
            </a:custGeom>
            <a:ln w="9524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72323" y="316178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003" y="0"/>
                  </a:moveTo>
                  <a:lnTo>
                    <a:pt x="0" y="0"/>
                  </a:lnTo>
                  <a:lnTo>
                    <a:pt x="0" y="216000"/>
                  </a:lnTo>
                  <a:lnTo>
                    <a:pt x="216003" y="216000"/>
                  </a:lnTo>
                  <a:lnTo>
                    <a:pt x="216003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772323" y="3161787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216000"/>
                  </a:moveTo>
                  <a:lnTo>
                    <a:pt x="216003" y="216000"/>
                  </a:lnTo>
                  <a:lnTo>
                    <a:pt x="216003" y="0"/>
                  </a:lnTo>
                  <a:lnTo>
                    <a:pt x="0" y="0"/>
                  </a:lnTo>
                  <a:lnTo>
                    <a:pt x="0" y="2160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7068854" y="3681379"/>
            <a:ext cx="14871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QUALIFICATION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417004" y="3094262"/>
            <a:ext cx="6013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B9BD4"/>
                </a:solidFill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83904" y="3126646"/>
            <a:ext cx="2044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767560" y="3557809"/>
            <a:ext cx="2241550" cy="2216150"/>
            <a:chOff x="2767560" y="3557809"/>
            <a:chExt cx="2241550" cy="2216150"/>
          </a:xfrm>
        </p:grpSpPr>
        <p:sp>
          <p:nvSpPr>
            <p:cNvPr id="36" name="object 36" descr=""/>
            <p:cNvSpPr/>
            <p:nvPr/>
          </p:nvSpPr>
          <p:spPr>
            <a:xfrm>
              <a:off x="2772323" y="3562572"/>
              <a:ext cx="2232025" cy="0"/>
            </a:xfrm>
            <a:custGeom>
              <a:avLst/>
              <a:gdLst/>
              <a:ahLst/>
              <a:cxnLst/>
              <a:rect l="l" t="t" r="r" b="b"/>
              <a:pathLst>
                <a:path w="2232025" h="0">
                  <a:moveTo>
                    <a:pt x="0" y="0"/>
                  </a:moveTo>
                  <a:lnTo>
                    <a:pt x="2232003" y="0"/>
                  </a:lnTo>
                </a:path>
              </a:pathLst>
            </a:custGeom>
            <a:ln w="9524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648596" y="5554656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003" y="0"/>
                  </a:moveTo>
                  <a:lnTo>
                    <a:pt x="0" y="0"/>
                  </a:lnTo>
                  <a:lnTo>
                    <a:pt x="0" y="216000"/>
                  </a:lnTo>
                  <a:lnTo>
                    <a:pt x="216003" y="216000"/>
                  </a:lnTo>
                  <a:lnTo>
                    <a:pt x="216003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648596" y="5554656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216000"/>
                  </a:moveTo>
                  <a:lnTo>
                    <a:pt x="216003" y="216000"/>
                  </a:lnTo>
                  <a:lnTo>
                    <a:pt x="216003" y="0"/>
                  </a:lnTo>
                  <a:lnTo>
                    <a:pt x="0" y="0"/>
                  </a:lnTo>
                  <a:lnTo>
                    <a:pt x="0" y="2160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3417004" y="3681379"/>
            <a:ext cx="401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5B9BD4"/>
                </a:solidFill>
                <a:latin typeface="Calibri"/>
                <a:cs typeface="Calibri"/>
              </a:rPr>
              <a:t>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3417004" y="4214141"/>
            <a:ext cx="11334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EDUCATION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068854" y="4214141"/>
            <a:ext cx="7099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WAGES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5296301" y="5492324"/>
            <a:ext cx="118745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849E33"/>
                </a:solidFill>
                <a:latin typeface="Calibri"/>
                <a:cs typeface="Calibri"/>
              </a:rPr>
              <a:t>PERSON</a:t>
            </a:r>
            <a:r>
              <a:rPr dirty="0" sz="1800" spc="-40">
                <a:solidFill>
                  <a:srgbClr val="849E33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849E33"/>
                </a:solidFill>
                <a:latin typeface="Calibri"/>
                <a:cs typeface="Calibri"/>
              </a:rPr>
              <a:t>(FK)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4663201" y="5524709"/>
            <a:ext cx="20383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4643834" y="6083036"/>
            <a:ext cx="2241550" cy="408940"/>
            <a:chOff x="4643834" y="6083036"/>
            <a:chExt cx="2241550" cy="408940"/>
          </a:xfrm>
        </p:grpSpPr>
        <p:sp>
          <p:nvSpPr>
            <p:cNvPr id="45" name="object 45" descr=""/>
            <p:cNvSpPr/>
            <p:nvPr/>
          </p:nvSpPr>
          <p:spPr>
            <a:xfrm>
              <a:off x="4648596" y="6486997"/>
              <a:ext cx="2232025" cy="0"/>
            </a:xfrm>
            <a:custGeom>
              <a:avLst/>
              <a:gdLst/>
              <a:ahLst/>
              <a:cxnLst/>
              <a:rect l="l" t="t" r="r" b="b"/>
              <a:pathLst>
                <a:path w="2232025" h="0">
                  <a:moveTo>
                    <a:pt x="0" y="0"/>
                  </a:moveTo>
                  <a:lnTo>
                    <a:pt x="2231915" y="0"/>
                  </a:lnTo>
                </a:path>
              </a:pathLst>
            </a:custGeom>
            <a:ln w="9524">
              <a:solidFill>
                <a:srgbClr val="5592C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648596" y="6086211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216003" y="0"/>
                  </a:moveTo>
                  <a:lnTo>
                    <a:pt x="0" y="0"/>
                  </a:lnTo>
                  <a:lnTo>
                    <a:pt x="0" y="216000"/>
                  </a:lnTo>
                  <a:lnTo>
                    <a:pt x="216003" y="216000"/>
                  </a:lnTo>
                  <a:lnTo>
                    <a:pt x="216003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648596" y="6086211"/>
              <a:ext cx="216535" cy="216535"/>
            </a:xfrm>
            <a:custGeom>
              <a:avLst/>
              <a:gdLst/>
              <a:ahLst/>
              <a:cxnLst/>
              <a:rect l="l" t="t" r="r" b="b"/>
              <a:pathLst>
                <a:path w="216535" h="216535">
                  <a:moveTo>
                    <a:pt x="0" y="216000"/>
                  </a:moveTo>
                  <a:lnTo>
                    <a:pt x="216003" y="216000"/>
                  </a:lnTo>
                  <a:lnTo>
                    <a:pt x="216003" y="0"/>
                  </a:lnTo>
                  <a:lnTo>
                    <a:pt x="0" y="0"/>
                  </a:lnTo>
                  <a:lnTo>
                    <a:pt x="0" y="216000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5296301" y="6025721"/>
            <a:ext cx="7207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849E33"/>
                </a:solidFill>
                <a:latin typeface="Calibri"/>
                <a:cs typeface="Calibri"/>
              </a:rPr>
              <a:t>JOB(FK)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663201" y="6057471"/>
            <a:ext cx="20383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3869280" y="4660606"/>
            <a:ext cx="3684904" cy="1144905"/>
            <a:chOff x="3869280" y="4660606"/>
            <a:chExt cx="3684904" cy="1144905"/>
          </a:xfrm>
        </p:grpSpPr>
        <p:sp>
          <p:nvSpPr>
            <p:cNvPr id="51" name="object 51" descr=""/>
            <p:cNvSpPr/>
            <p:nvPr/>
          </p:nvSpPr>
          <p:spPr>
            <a:xfrm>
              <a:off x="7036850" y="4679657"/>
              <a:ext cx="497840" cy="894080"/>
            </a:xfrm>
            <a:custGeom>
              <a:avLst/>
              <a:gdLst/>
              <a:ahLst/>
              <a:cxnLst/>
              <a:rect l="l" t="t" r="r" b="b"/>
              <a:pathLst>
                <a:path w="497840" h="894079">
                  <a:moveTo>
                    <a:pt x="497716" y="0"/>
                  </a:moveTo>
                  <a:lnTo>
                    <a:pt x="0" y="894023"/>
                  </a:lnTo>
                </a:path>
                <a:path w="497840" h="894079">
                  <a:moveTo>
                    <a:pt x="375033" y="112267"/>
                  </a:moveTo>
                  <a:lnTo>
                    <a:pt x="466982" y="163447"/>
                  </a:lnTo>
                </a:path>
                <a:path w="497840" h="894079">
                  <a:moveTo>
                    <a:pt x="400561" y="66293"/>
                  </a:moveTo>
                  <a:lnTo>
                    <a:pt x="492509" y="117474"/>
                  </a:lnTo>
                </a:path>
              </a:pathLst>
            </a:custGeom>
            <a:ln w="38100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69590" y="5548287"/>
              <a:ext cx="213028" cy="253776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888330" y="4679657"/>
              <a:ext cx="591185" cy="902335"/>
            </a:xfrm>
            <a:custGeom>
              <a:avLst/>
              <a:gdLst/>
              <a:ahLst/>
              <a:cxnLst/>
              <a:rect l="l" t="t" r="r" b="b"/>
              <a:pathLst>
                <a:path w="591185" h="902335">
                  <a:moveTo>
                    <a:pt x="0" y="0"/>
                  </a:moveTo>
                  <a:lnTo>
                    <a:pt x="590973" y="901872"/>
                  </a:lnTo>
                </a:path>
                <a:path w="591185" h="902335">
                  <a:moveTo>
                    <a:pt x="42469" y="160780"/>
                  </a:moveTo>
                  <a:lnTo>
                    <a:pt x="130468" y="103123"/>
                  </a:lnTo>
                </a:path>
                <a:path w="591185" h="902335">
                  <a:moveTo>
                    <a:pt x="13652" y="116839"/>
                  </a:moveTo>
                  <a:lnTo>
                    <a:pt x="101638" y="59181"/>
                  </a:lnTo>
                </a:path>
              </a:pathLst>
            </a:custGeom>
            <a:ln w="38100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7269" y="5554718"/>
              <a:ext cx="220344" cy="250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308" y="753872"/>
            <a:ext cx="4268584" cy="56730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832304" y="2512252"/>
            <a:ext cx="2279015" cy="2557145"/>
            <a:chOff x="3832304" y="2512252"/>
            <a:chExt cx="2279015" cy="2557145"/>
          </a:xfrm>
        </p:grpSpPr>
        <p:sp>
          <p:nvSpPr>
            <p:cNvPr id="4" name="object 4" descr=""/>
            <p:cNvSpPr/>
            <p:nvPr/>
          </p:nvSpPr>
          <p:spPr>
            <a:xfrm>
              <a:off x="3835479" y="2899886"/>
              <a:ext cx="2272665" cy="2169795"/>
            </a:xfrm>
            <a:custGeom>
              <a:avLst/>
              <a:gdLst/>
              <a:ahLst/>
              <a:cxnLst/>
              <a:rect l="l" t="t" r="r" b="b"/>
              <a:pathLst>
                <a:path w="2272665" h="2169795">
                  <a:moveTo>
                    <a:pt x="0" y="2169202"/>
                  </a:moveTo>
                  <a:lnTo>
                    <a:pt x="2272498" y="2169202"/>
                  </a:lnTo>
                  <a:lnTo>
                    <a:pt x="2272498" y="0"/>
                  </a:lnTo>
                  <a:lnTo>
                    <a:pt x="0" y="0"/>
                  </a:lnTo>
                  <a:lnTo>
                    <a:pt x="0" y="2169202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35479" y="2515427"/>
              <a:ext cx="2272665" cy="384810"/>
            </a:xfrm>
            <a:custGeom>
              <a:avLst/>
              <a:gdLst/>
              <a:ahLst/>
              <a:cxnLst/>
              <a:rect l="l" t="t" r="r" b="b"/>
              <a:pathLst>
                <a:path w="2272665" h="384810">
                  <a:moveTo>
                    <a:pt x="2272498" y="0"/>
                  </a:moveTo>
                  <a:lnTo>
                    <a:pt x="0" y="0"/>
                  </a:lnTo>
                  <a:lnTo>
                    <a:pt x="0" y="384459"/>
                  </a:lnTo>
                  <a:lnTo>
                    <a:pt x="2272498" y="384459"/>
                  </a:lnTo>
                  <a:lnTo>
                    <a:pt x="2272498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835479" y="2515427"/>
              <a:ext cx="2272665" cy="384810"/>
            </a:xfrm>
            <a:custGeom>
              <a:avLst/>
              <a:gdLst/>
              <a:ahLst/>
              <a:cxnLst/>
              <a:rect l="l" t="t" r="r" b="b"/>
              <a:pathLst>
                <a:path w="2272665" h="384810">
                  <a:moveTo>
                    <a:pt x="0" y="384459"/>
                  </a:moveTo>
                  <a:lnTo>
                    <a:pt x="2272498" y="384459"/>
                  </a:lnTo>
                  <a:lnTo>
                    <a:pt x="2272498" y="0"/>
                  </a:lnTo>
                  <a:lnTo>
                    <a:pt x="0" y="0"/>
                  </a:lnTo>
                  <a:lnTo>
                    <a:pt x="0" y="384459"/>
                  </a:lnTo>
                  <a:close/>
                </a:path>
              </a:pathLst>
            </a:custGeom>
            <a:ln w="61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835479" y="2515427"/>
            <a:ext cx="2272665" cy="38481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290"/>
              </a:spcBef>
            </a:pPr>
            <a:r>
              <a:rPr dirty="0" sz="1750" spc="-10" b="1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19426" y="3017821"/>
            <a:ext cx="100203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5B9BD4"/>
                </a:solidFill>
                <a:latin typeface="Calibri"/>
                <a:cs typeface="Calibri"/>
              </a:rPr>
              <a:t>VERTEX_ID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884748" y="3076136"/>
            <a:ext cx="216535" cy="216535"/>
            <a:chOff x="3884748" y="3076136"/>
            <a:chExt cx="216535" cy="216535"/>
          </a:xfrm>
        </p:grpSpPr>
        <p:sp>
          <p:nvSpPr>
            <p:cNvPr id="10" name="object 10" descr=""/>
            <p:cNvSpPr/>
            <p:nvPr/>
          </p:nvSpPr>
          <p:spPr>
            <a:xfrm>
              <a:off x="3887923" y="3079311"/>
              <a:ext cx="210185" cy="210185"/>
            </a:xfrm>
            <a:custGeom>
              <a:avLst/>
              <a:gdLst/>
              <a:ahLst/>
              <a:cxnLst/>
              <a:rect l="l" t="t" r="r" b="b"/>
              <a:pathLst>
                <a:path w="210185" h="210185">
                  <a:moveTo>
                    <a:pt x="209772" y="0"/>
                  </a:moveTo>
                  <a:lnTo>
                    <a:pt x="0" y="0"/>
                  </a:lnTo>
                  <a:lnTo>
                    <a:pt x="0" y="209707"/>
                  </a:lnTo>
                  <a:lnTo>
                    <a:pt x="209772" y="209707"/>
                  </a:lnTo>
                  <a:lnTo>
                    <a:pt x="209772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887923" y="3079311"/>
              <a:ext cx="210185" cy="210185"/>
            </a:xfrm>
            <a:custGeom>
              <a:avLst/>
              <a:gdLst/>
              <a:ahLst/>
              <a:cxnLst/>
              <a:rect l="l" t="t" r="r" b="b"/>
              <a:pathLst>
                <a:path w="210185" h="210185">
                  <a:moveTo>
                    <a:pt x="0" y="209707"/>
                  </a:moveTo>
                  <a:lnTo>
                    <a:pt x="209772" y="209707"/>
                  </a:lnTo>
                  <a:lnTo>
                    <a:pt x="209772" y="0"/>
                  </a:lnTo>
                  <a:lnTo>
                    <a:pt x="0" y="0"/>
                  </a:lnTo>
                  <a:lnTo>
                    <a:pt x="0" y="209707"/>
                  </a:lnTo>
                  <a:close/>
                </a:path>
              </a:pathLst>
            </a:custGeom>
            <a:ln w="61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903662" y="3048708"/>
            <a:ext cx="19939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35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887923" y="3468418"/>
            <a:ext cx="2167890" cy="0"/>
          </a:xfrm>
          <a:custGeom>
            <a:avLst/>
            <a:gdLst/>
            <a:ahLst/>
            <a:cxnLst/>
            <a:rect l="l" t="t" r="r" b="b"/>
            <a:pathLst>
              <a:path w="2167890" h="0">
                <a:moveTo>
                  <a:pt x="0" y="0"/>
                </a:moveTo>
                <a:lnTo>
                  <a:pt x="2167612" y="0"/>
                </a:lnTo>
              </a:path>
            </a:pathLst>
          </a:custGeom>
          <a:ln w="9247">
            <a:solidFill>
              <a:srgbClr val="5592C8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519426" y="3587834"/>
            <a:ext cx="1147445" cy="1327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50" spc="-10">
                <a:solidFill>
                  <a:srgbClr val="849E33"/>
                </a:solidFill>
                <a:latin typeface="Calibri"/>
                <a:cs typeface="Calibri"/>
              </a:rPr>
              <a:t>LINK_UP(FK)</a:t>
            </a:r>
            <a:endParaRPr sz="1750">
              <a:latin typeface="Calibri"/>
              <a:cs typeface="Calibri"/>
            </a:endParaRPr>
          </a:p>
          <a:p>
            <a:pPr marR="562610">
              <a:lnSpc>
                <a:spcPct val="193900"/>
              </a:lnSpc>
            </a:pPr>
            <a:r>
              <a:rPr dirty="0" sz="1750" spc="-10">
                <a:solidFill>
                  <a:srgbClr val="5B9BD4"/>
                </a:solidFill>
                <a:latin typeface="Calibri"/>
                <a:cs typeface="Calibri"/>
              </a:rPr>
              <a:t>ATTR1 ATTR2</a:t>
            </a:r>
            <a:endParaRPr sz="1750">
              <a:latin typeface="Calibri"/>
              <a:cs typeface="Calibri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37187" y="3718713"/>
            <a:ext cx="1844675" cy="2055495"/>
            <a:chOff x="4937187" y="3718713"/>
            <a:chExt cx="1844675" cy="2055495"/>
          </a:xfrm>
        </p:grpSpPr>
        <p:sp>
          <p:nvSpPr>
            <p:cNvPr id="16" name="object 16" descr=""/>
            <p:cNvSpPr/>
            <p:nvPr/>
          </p:nvSpPr>
          <p:spPr>
            <a:xfrm>
              <a:off x="5080427" y="3786900"/>
              <a:ext cx="1682750" cy="1969135"/>
            </a:xfrm>
            <a:custGeom>
              <a:avLst/>
              <a:gdLst/>
              <a:ahLst/>
              <a:cxnLst/>
              <a:rect l="l" t="t" r="r" b="b"/>
              <a:pathLst>
                <a:path w="1682750" h="1969135">
                  <a:moveTo>
                    <a:pt x="0" y="1455065"/>
                  </a:moveTo>
                  <a:lnTo>
                    <a:pt x="37768" y="1508457"/>
                  </a:lnTo>
                  <a:lnTo>
                    <a:pt x="75561" y="1558590"/>
                  </a:lnTo>
                  <a:lnTo>
                    <a:pt x="113361" y="1605521"/>
                  </a:lnTo>
                  <a:lnTo>
                    <a:pt x="151149" y="1649307"/>
                  </a:lnTo>
                  <a:lnTo>
                    <a:pt x="188905" y="1690005"/>
                  </a:lnTo>
                  <a:lnTo>
                    <a:pt x="226611" y="1727673"/>
                  </a:lnTo>
                  <a:lnTo>
                    <a:pt x="264248" y="1762366"/>
                  </a:lnTo>
                  <a:lnTo>
                    <a:pt x="301797" y="1794142"/>
                  </a:lnTo>
                  <a:lnTo>
                    <a:pt x="339240" y="1823059"/>
                  </a:lnTo>
                  <a:lnTo>
                    <a:pt x="376557" y="1849173"/>
                  </a:lnTo>
                  <a:lnTo>
                    <a:pt x="413730" y="1872542"/>
                  </a:lnTo>
                  <a:lnTo>
                    <a:pt x="450739" y="1893222"/>
                  </a:lnTo>
                  <a:lnTo>
                    <a:pt x="487567" y="1911270"/>
                  </a:lnTo>
                  <a:lnTo>
                    <a:pt x="524193" y="1926744"/>
                  </a:lnTo>
                  <a:lnTo>
                    <a:pt x="560600" y="1939700"/>
                  </a:lnTo>
                  <a:lnTo>
                    <a:pt x="632680" y="1958288"/>
                  </a:lnTo>
                  <a:lnTo>
                    <a:pt x="703655" y="1967491"/>
                  </a:lnTo>
                  <a:lnTo>
                    <a:pt x="738681" y="1968716"/>
                  </a:lnTo>
                  <a:lnTo>
                    <a:pt x="773374" y="1967765"/>
                  </a:lnTo>
                  <a:lnTo>
                    <a:pt x="841687" y="1959566"/>
                  </a:lnTo>
                  <a:lnTo>
                    <a:pt x="908443" y="1943350"/>
                  </a:lnTo>
                  <a:lnTo>
                    <a:pt x="973491" y="1919575"/>
                  </a:lnTo>
                  <a:lnTo>
                    <a:pt x="1036681" y="1888696"/>
                  </a:lnTo>
                  <a:lnTo>
                    <a:pt x="1097862" y="1851169"/>
                  </a:lnTo>
                  <a:lnTo>
                    <a:pt x="1156883" y="1807451"/>
                  </a:lnTo>
                  <a:lnTo>
                    <a:pt x="1213593" y="1757999"/>
                  </a:lnTo>
                  <a:lnTo>
                    <a:pt x="1241035" y="1731265"/>
                  </a:lnTo>
                  <a:lnTo>
                    <a:pt x="1267842" y="1703268"/>
                  </a:lnTo>
                  <a:lnTo>
                    <a:pt x="1293996" y="1674066"/>
                  </a:lnTo>
                  <a:lnTo>
                    <a:pt x="1319479" y="1643716"/>
                  </a:lnTo>
                  <a:lnTo>
                    <a:pt x="1344271" y="1612274"/>
                  </a:lnTo>
                  <a:lnTo>
                    <a:pt x="1368353" y="1579797"/>
                  </a:lnTo>
                  <a:lnTo>
                    <a:pt x="1391707" y="1546344"/>
                  </a:lnTo>
                  <a:lnTo>
                    <a:pt x="1414314" y="1511970"/>
                  </a:lnTo>
                  <a:lnTo>
                    <a:pt x="1436154" y="1476732"/>
                  </a:lnTo>
                  <a:lnTo>
                    <a:pt x="1457210" y="1440689"/>
                  </a:lnTo>
                  <a:lnTo>
                    <a:pt x="1477462" y="1403896"/>
                  </a:lnTo>
                  <a:lnTo>
                    <a:pt x="1499686" y="1360842"/>
                  </a:lnTo>
                  <a:lnTo>
                    <a:pt x="1520796" y="1316973"/>
                  </a:lnTo>
                  <a:lnTo>
                    <a:pt x="1540762" y="1272387"/>
                  </a:lnTo>
                  <a:lnTo>
                    <a:pt x="1559551" y="1227178"/>
                  </a:lnTo>
                  <a:lnTo>
                    <a:pt x="1577132" y="1181443"/>
                  </a:lnTo>
                  <a:lnTo>
                    <a:pt x="1593474" y="1135279"/>
                  </a:lnTo>
                  <a:lnTo>
                    <a:pt x="1608545" y="1088781"/>
                  </a:lnTo>
                  <a:lnTo>
                    <a:pt x="1622314" y="1042045"/>
                  </a:lnTo>
                  <a:lnTo>
                    <a:pt x="1634750" y="995168"/>
                  </a:lnTo>
                  <a:lnTo>
                    <a:pt x="1645820" y="948246"/>
                  </a:lnTo>
                  <a:lnTo>
                    <a:pt x="1655494" y="901375"/>
                  </a:lnTo>
                  <a:lnTo>
                    <a:pt x="1663740" y="854651"/>
                  </a:lnTo>
                  <a:lnTo>
                    <a:pt x="1670527" y="808170"/>
                  </a:lnTo>
                  <a:lnTo>
                    <a:pt x="1675823" y="762028"/>
                  </a:lnTo>
                  <a:lnTo>
                    <a:pt x="1679597" y="716322"/>
                  </a:lnTo>
                  <a:lnTo>
                    <a:pt x="1681817" y="671148"/>
                  </a:lnTo>
                  <a:lnTo>
                    <a:pt x="1682453" y="626602"/>
                  </a:lnTo>
                  <a:lnTo>
                    <a:pt x="1681471" y="582779"/>
                  </a:lnTo>
                  <a:lnTo>
                    <a:pt x="1678842" y="539777"/>
                  </a:lnTo>
                  <a:lnTo>
                    <a:pt x="1674533" y="497690"/>
                  </a:lnTo>
                  <a:lnTo>
                    <a:pt x="1668514" y="456616"/>
                  </a:lnTo>
                  <a:lnTo>
                    <a:pt x="1660752" y="416651"/>
                  </a:lnTo>
                  <a:lnTo>
                    <a:pt x="1651217" y="377890"/>
                  </a:lnTo>
                  <a:lnTo>
                    <a:pt x="1639876" y="340430"/>
                  </a:lnTo>
                  <a:lnTo>
                    <a:pt x="1626699" y="304367"/>
                  </a:lnTo>
                  <a:lnTo>
                    <a:pt x="1594709" y="236816"/>
                  </a:lnTo>
                  <a:lnTo>
                    <a:pt x="1554996" y="176007"/>
                  </a:lnTo>
                  <a:lnTo>
                    <a:pt x="1507308" y="122708"/>
                  </a:lnTo>
                  <a:lnTo>
                    <a:pt x="1451393" y="77688"/>
                  </a:lnTo>
                  <a:lnTo>
                    <a:pt x="1387000" y="41718"/>
                  </a:lnTo>
                  <a:lnTo>
                    <a:pt x="1351545" y="27366"/>
                  </a:lnTo>
                  <a:lnTo>
                    <a:pt x="1313877" y="15565"/>
                  </a:lnTo>
                  <a:lnTo>
                    <a:pt x="1273964" y="6411"/>
                  </a:lnTo>
                  <a:lnTo>
                    <a:pt x="1231774" y="0"/>
                  </a:lnTo>
                </a:path>
              </a:pathLst>
            </a:custGeom>
            <a:ln w="36996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187" y="5050590"/>
              <a:ext cx="184980" cy="217046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8101" y="3718713"/>
              <a:ext cx="242597" cy="1430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308" y="753872"/>
            <a:ext cx="7561948" cy="57556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714868" y="3050854"/>
            <a:ext cx="2357755" cy="2111375"/>
            <a:chOff x="1714868" y="3050854"/>
            <a:chExt cx="2357755" cy="2111375"/>
          </a:xfrm>
        </p:grpSpPr>
        <p:sp>
          <p:nvSpPr>
            <p:cNvPr id="4" name="object 4" descr=""/>
            <p:cNvSpPr/>
            <p:nvPr/>
          </p:nvSpPr>
          <p:spPr>
            <a:xfrm>
              <a:off x="1718360" y="3452054"/>
              <a:ext cx="2350770" cy="1710689"/>
            </a:xfrm>
            <a:custGeom>
              <a:avLst/>
              <a:gdLst/>
              <a:ahLst/>
              <a:cxnLst/>
              <a:rect l="l" t="t" r="r" b="b"/>
              <a:pathLst>
                <a:path w="2350770" h="1710689">
                  <a:moveTo>
                    <a:pt x="0" y="1710098"/>
                  </a:moveTo>
                  <a:lnTo>
                    <a:pt x="2350752" y="1710098"/>
                  </a:lnTo>
                  <a:lnTo>
                    <a:pt x="2350752" y="0"/>
                  </a:lnTo>
                  <a:lnTo>
                    <a:pt x="0" y="0"/>
                  </a:lnTo>
                  <a:lnTo>
                    <a:pt x="0" y="1710098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718360" y="3054347"/>
              <a:ext cx="2350770" cy="398145"/>
            </a:xfrm>
            <a:custGeom>
              <a:avLst/>
              <a:gdLst/>
              <a:ahLst/>
              <a:cxnLst/>
              <a:rect l="l" t="t" r="r" b="b"/>
              <a:pathLst>
                <a:path w="2350770" h="398145">
                  <a:moveTo>
                    <a:pt x="2350752" y="0"/>
                  </a:moveTo>
                  <a:lnTo>
                    <a:pt x="0" y="0"/>
                  </a:lnTo>
                  <a:lnTo>
                    <a:pt x="0" y="397707"/>
                  </a:lnTo>
                  <a:lnTo>
                    <a:pt x="2350752" y="397707"/>
                  </a:lnTo>
                  <a:lnTo>
                    <a:pt x="2350752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718360" y="3054347"/>
              <a:ext cx="2350770" cy="398145"/>
            </a:xfrm>
            <a:custGeom>
              <a:avLst/>
              <a:gdLst/>
              <a:ahLst/>
              <a:cxnLst/>
              <a:rect l="l" t="t" r="r" b="b"/>
              <a:pathLst>
                <a:path w="2350770" h="398145">
                  <a:moveTo>
                    <a:pt x="0" y="397707"/>
                  </a:moveTo>
                  <a:lnTo>
                    <a:pt x="2350752" y="397707"/>
                  </a:lnTo>
                  <a:lnTo>
                    <a:pt x="2350752" y="0"/>
                  </a:lnTo>
                  <a:lnTo>
                    <a:pt x="0" y="0"/>
                  </a:lnTo>
                  <a:lnTo>
                    <a:pt x="0" y="397707"/>
                  </a:lnTo>
                  <a:close/>
                </a:path>
              </a:pathLst>
            </a:custGeom>
            <a:ln w="637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718360" y="3054347"/>
            <a:ext cx="2350770" cy="39814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330"/>
              </a:spcBef>
            </a:pP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VERTEX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964314" y="2782238"/>
            <a:ext cx="2357755" cy="2645410"/>
            <a:chOff x="5964314" y="2782238"/>
            <a:chExt cx="2357755" cy="2645410"/>
          </a:xfrm>
        </p:grpSpPr>
        <p:sp>
          <p:nvSpPr>
            <p:cNvPr id="9" name="object 9" descr=""/>
            <p:cNvSpPr/>
            <p:nvPr/>
          </p:nvSpPr>
          <p:spPr>
            <a:xfrm>
              <a:off x="5967807" y="3183438"/>
              <a:ext cx="2350770" cy="2244090"/>
            </a:xfrm>
            <a:custGeom>
              <a:avLst/>
              <a:gdLst/>
              <a:ahLst/>
              <a:cxnLst/>
              <a:rect l="l" t="t" r="r" b="b"/>
              <a:pathLst>
                <a:path w="2350770" h="2244090">
                  <a:moveTo>
                    <a:pt x="0" y="2243848"/>
                  </a:moveTo>
                  <a:lnTo>
                    <a:pt x="2350752" y="2243848"/>
                  </a:lnTo>
                  <a:lnTo>
                    <a:pt x="2350752" y="0"/>
                  </a:lnTo>
                  <a:lnTo>
                    <a:pt x="0" y="0"/>
                  </a:lnTo>
                  <a:lnTo>
                    <a:pt x="0" y="2243848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67807" y="2785731"/>
              <a:ext cx="2350770" cy="398145"/>
            </a:xfrm>
            <a:custGeom>
              <a:avLst/>
              <a:gdLst/>
              <a:ahLst/>
              <a:cxnLst/>
              <a:rect l="l" t="t" r="r" b="b"/>
              <a:pathLst>
                <a:path w="2350770" h="398144">
                  <a:moveTo>
                    <a:pt x="2350752" y="0"/>
                  </a:moveTo>
                  <a:lnTo>
                    <a:pt x="0" y="0"/>
                  </a:lnTo>
                  <a:lnTo>
                    <a:pt x="0" y="397707"/>
                  </a:lnTo>
                  <a:lnTo>
                    <a:pt x="2350752" y="397707"/>
                  </a:lnTo>
                  <a:lnTo>
                    <a:pt x="2350752" y="0"/>
                  </a:lnTo>
                  <a:close/>
                </a:path>
              </a:pathLst>
            </a:custGeom>
            <a:solidFill>
              <a:srgbClr val="6158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967807" y="2785731"/>
              <a:ext cx="2350770" cy="398145"/>
            </a:xfrm>
            <a:custGeom>
              <a:avLst/>
              <a:gdLst/>
              <a:ahLst/>
              <a:cxnLst/>
              <a:rect l="l" t="t" r="r" b="b"/>
              <a:pathLst>
                <a:path w="2350770" h="398144">
                  <a:moveTo>
                    <a:pt x="0" y="397707"/>
                  </a:moveTo>
                  <a:lnTo>
                    <a:pt x="2350752" y="397707"/>
                  </a:lnTo>
                  <a:lnTo>
                    <a:pt x="2350752" y="0"/>
                  </a:lnTo>
                  <a:lnTo>
                    <a:pt x="0" y="0"/>
                  </a:lnTo>
                  <a:lnTo>
                    <a:pt x="0" y="397707"/>
                  </a:lnTo>
                  <a:close/>
                </a:path>
              </a:pathLst>
            </a:custGeom>
            <a:ln w="637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967807" y="2813413"/>
            <a:ext cx="235077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1430">
              <a:lnSpc>
                <a:spcPct val="100000"/>
              </a:lnSpc>
              <a:spcBef>
                <a:spcPts val="110"/>
              </a:spcBef>
            </a:pPr>
            <a:r>
              <a:rPr dirty="0" sz="1800" spc="-20" b="1">
                <a:solidFill>
                  <a:srgbClr val="FFFFFF"/>
                </a:solidFill>
                <a:latin typeface="Calibri"/>
                <a:cs typeface="Calibri"/>
              </a:rPr>
              <a:t>LINK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24582" y="3576787"/>
            <a:ext cx="1036319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VERTEX_ID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769117" y="3634170"/>
            <a:ext cx="224154" cy="224154"/>
            <a:chOff x="1769117" y="3634170"/>
            <a:chExt cx="224154" cy="224154"/>
          </a:xfrm>
        </p:grpSpPr>
        <p:sp>
          <p:nvSpPr>
            <p:cNvPr id="15" name="object 15" descr=""/>
            <p:cNvSpPr/>
            <p:nvPr/>
          </p:nvSpPr>
          <p:spPr>
            <a:xfrm>
              <a:off x="1772609" y="3637662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69" h="217170">
                  <a:moveTo>
                    <a:pt x="216996" y="0"/>
                  </a:moveTo>
                  <a:lnTo>
                    <a:pt x="0" y="0"/>
                  </a:lnTo>
                  <a:lnTo>
                    <a:pt x="0" y="216933"/>
                  </a:lnTo>
                  <a:lnTo>
                    <a:pt x="216996" y="216933"/>
                  </a:lnTo>
                  <a:lnTo>
                    <a:pt x="216996" y="0"/>
                  </a:lnTo>
                  <a:close/>
                </a:path>
              </a:pathLst>
            </a:custGeom>
            <a:solidFill>
              <a:srgbClr val="1E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772609" y="3637662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69" h="217170">
                  <a:moveTo>
                    <a:pt x="0" y="216933"/>
                  </a:moveTo>
                  <a:lnTo>
                    <a:pt x="216996" y="216933"/>
                  </a:lnTo>
                  <a:lnTo>
                    <a:pt x="216996" y="0"/>
                  </a:lnTo>
                  <a:lnTo>
                    <a:pt x="0" y="0"/>
                  </a:lnTo>
                  <a:lnTo>
                    <a:pt x="0" y="216933"/>
                  </a:lnTo>
                  <a:close/>
                </a:path>
              </a:pathLst>
            </a:custGeom>
            <a:ln w="63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788571" y="3608610"/>
            <a:ext cx="2057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767529" y="3365426"/>
            <a:ext cx="4475480" cy="680085"/>
            <a:chOff x="1767529" y="3365426"/>
            <a:chExt cx="4475480" cy="680085"/>
          </a:xfrm>
        </p:grpSpPr>
        <p:sp>
          <p:nvSpPr>
            <p:cNvPr id="19" name="object 19" descr=""/>
            <p:cNvSpPr/>
            <p:nvPr/>
          </p:nvSpPr>
          <p:spPr>
            <a:xfrm>
              <a:off x="1772609" y="4040178"/>
              <a:ext cx="2242820" cy="0"/>
            </a:xfrm>
            <a:custGeom>
              <a:avLst/>
              <a:gdLst/>
              <a:ahLst/>
              <a:cxnLst/>
              <a:rect l="l" t="t" r="r" b="b"/>
              <a:pathLst>
                <a:path w="2242820" h="0">
                  <a:moveTo>
                    <a:pt x="0" y="0"/>
                  </a:moveTo>
                  <a:lnTo>
                    <a:pt x="2242255" y="0"/>
                  </a:lnTo>
                </a:path>
              </a:pathLst>
            </a:custGeom>
            <a:ln w="9566">
              <a:solidFill>
                <a:srgbClr val="5592C8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22030" y="3368918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70">
                  <a:moveTo>
                    <a:pt x="216996" y="0"/>
                  </a:moveTo>
                  <a:lnTo>
                    <a:pt x="0" y="0"/>
                  </a:lnTo>
                  <a:lnTo>
                    <a:pt x="0" y="216933"/>
                  </a:lnTo>
                  <a:lnTo>
                    <a:pt x="216996" y="216933"/>
                  </a:lnTo>
                  <a:lnTo>
                    <a:pt x="216996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022030" y="3368918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70">
                  <a:moveTo>
                    <a:pt x="0" y="216933"/>
                  </a:moveTo>
                  <a:lnTo>
                    <a:pt x="216996" y="216933"/>
                  </a:lnTo>
                  <a:lnTo>
                    <a:pt x="216996" y="0"/>
                  </a:lnTo>
                  <a:lnTo>
                    <a:pt x="0" y="0"/>
                  </a:lnTo>
                  <a:lnTo>
                    <a:pt x="0" y="216933"/>
                  </a:lnTo>
                  <a:close/>
                </a:path>
              </a:pathLst>
            </a:custGeom>
            <a:ln w="63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424582" y="4165740"/>
            <a:ext cx="608965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ATTR1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424582" y="4700739"/>
            <a:ext cx="608965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ATTR2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680113" y="3307279"/>
            <a:ext cx="1417320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849E33"/>
                </a:solidFill>
                <a:latin typeface="Calibri"/>
                <a:cs typeface="Calibri"/>
              </a:rPr>
              <a:t>VERTEX_FROM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044230" y="3339803"/>
            <a:ext cx="20574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022030" y="4305350"/>
            <a:ext cx="2242820" cy="0"/>
          </a:xfrm>
          <a:custGeom>
            <a:avLst/>
            <a:gdLst/>
            <a:ahLst/>
            <a:cxnLst/>
            <a:rect l="l" t="t" r="r" b="b"/>
            <a:pathLst>
              <a:path w="2242820" h="0">
                <a:moveTo>
                  <a:pt x="0" y="0"/>
                </a:moveTo>
                <a:lnTo>
                  <a:pt x="2242304" y="0"/>
                </a:lnTo>
              </a:path>
            </a:pathLst>
          </a:custGeom>
          <a:ln w="9566">
            <a:solidFill>
              <a:srgbClr val="5592C8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6680113" y="4431996"/>
            <a:ext cx="114617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LINK_ATTR1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680113" y="4966996"/>
            <a:ext cx="114617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5B9BD4"/>
                </a:solidFill>
                <a:latin typeface="Calibri"/>
                <a:cs typeface="Calibri"/>
              </a:rPr>
              <a:t>LINK_ATTR2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680113" y="3842023"/>
            <a:ext cx="1104900" cy="3022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dirty="0" sz="1800" spc="-10">
                <a:solidFill>
                  <a:srgbClr val="849E33"/>
                </a:solidFill>
                <a:latin typeface="Calibri"/>
                <a:cs typeface="Calibri"/>
              </a:rPr>
              <a:t>VERTEX_TO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018538" y="3899342"/>
            <a:ext cx="224154" cy="224154"/>
            <a:chOff x="6018538" y="3899342"/>
            <a:chExt cx="224154" cy="224154"/>
          </a:xfrm>
        </p:grpSpPr>
        <p:sp>
          <p:nvSpPr>
            <p:cNvPr id="31" name="object 31" descr=""/>
            <p:cNvSpPr/>
            <p:nvPr/>
          </p:nvSpPr>
          <p:spPr>
            <a:xfrm>
              <a:off x="6022030" y="3902834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70">
                  <a:moveTo>
                    <a:pt x="216996" y="0"/>
                  </a:moveTo>
                  <a:lnTo>
                    <a:pt x="0" y="0"/>
                  </a:lnTo>
                  <a:lnTo>
                    <a:pt x="0" y="216933"/>
                  </a:lnTo>
                  <a:lnTo>
                    <a:pt x="216996" y="216933"/>
                  </a:lnTo>
                  <a:lnTo>
                    <a:pt x="216996" y="0"/>
                  </a:lnTo>
                  <a:close/>
                </a:path>
              </a:pathLst>
            </a:custGeom>
            <a:solidFill>
              <a:srgbClr val="424F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022030" y="3902834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70" h="217170">
                  <a:moveTo>
                    <a:pt x="0" y="216933"/>
                  </a:moveTo>
                  <a:lnTo>
                    <a:pt x="216996" y="216933"/>
                  </a:lnTo>
                  <a:lnTo>
                    <a:pt x="216996" y="0"/>
                  </a:lnTo>
                  <a:lnTo>
                    <a:pt x="0" y="0"/>
                  </a:lnTo>
                  <a:lnTo>
                    <a:pt x="0" y="216933"/>
                  </a:lnTo>
                  <a:close/>
                </a:path>
              </a:pathLst>
            </a:custGeom>
            <a:ln w="63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044230" y="3874867"/>
            <a:ext cx="20574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solidFill>
                  <a:srgbClr val="FDFFFF"/>
                </a:solidFill>
                <a:latin typeface="Calibri"/>
                <a:cs typeface="Calibri"/>
              </a:rPr>
              <a:t>PK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840680" y="2045408"/>
            <a:ext cx="4361180" cy="4126865"/>
            <a:chOff x="2840680" y="2045408"/>
            <a:chExt cx="4361180" cy="4126865"/>
          </a:xfrm>
        </p:grpSpPr>
        <p:sp>
          <p:nvSpPr>
            <p:cNvPr id="35" name="object 35" descr=""/>
            <p:cNvSpPr/>
            <p:nvPr/>
          </p:nvSpPr>
          <p:spPr>
            <a:xfrm>
              <a:off x="2859813" y="2064540"/>
              <a:ext cx="4142740" cy="989965"/>
            </a:xfrm>
            <a:custGeom>
              <a:avLst/>
              <a:gdLst/>
              <a:ahLst/>
              <a:cxnLst/>
              <a:rect l="l" t="t" r="r" b="b"/>
              <a:pathLst>
                <a:path w="4142740" h="989964">
                  <a:moveTo>
                    <a:pt x="33937" y="989819"/>
                  </a:moveTo>
                  <a:lnTo>
                    <a:pt x="48184" y="930029"/>
                  </a:lnTo>
                  <a:lnTo>
                    <a:pt x="69898" y="870655"/>
                  </a:lnTo>
                  <a:lnTo>
                    <a:pt x="98812" y="811862"/>
                  </a:lnTo>
                  <a:lnTo>
                    <a:pt x="134660" y="753815"/>
                  </a:lnTo>
                  <a:lnTo>
                    <a:pt x="177178" y="696681"/>
                  </a:lnTo>
                  <a:lnTo>
                    <a:pt x="226099" y="640625"/>
                  </a:lnTo>
                  <a:lnTo>
                    <a:pt x="252878" y="613052"/>
                  </a:lnTo>
                  <a:lnTo>
                    <a:pt x="281157" y="585811"/>
                  </a:lnTo>
                  <a:lnTo>
                    <a:pt x="310905" y="558923"/>
                  </a:lnTo>
                  <a:lnTo>
                    <a:pt x="342088" y="532407"/>
                  </a:lnTo>
                  <a:lnTo>
                    <a:pt x="374672" y="506285"/>
                  </a:lnTo>
                  <a:lnTo>
                    <a:pt x="408624" y="480577"/>
                  </a:lnTo>
                  <a:lnTo>
                    <a:pt x="443912" y="455303"/>
                  </a:lnTo>
                  <a:lnTo>
                    <a:pt x="480501" y="430486"/>
                  </a:lnTo>
                  <a:lnTo>
                    <a:pt x="518359" y="406145"/>
                  </a:lnTo>
                  <a:lnTo>
                    <a:pt x="557453" y="382300"/>
                  </a:lnTo>
                  <a:lnTo>
                    <a:pt x="597749" y="358974"/>
                  </a:lnTo>
                  <a:lnTo>
                    <a:pt x="639214" y="336186"/>
                  </a:lnTo>
                  <a:lnTo>
                    <a:pt x="681814" y="313957"/>
                  </a:lnTo>
                  <a:lnTo>
                    <a:pt x="725518" y="292307"/>
                  </a:lnTo>
                  <a:lnTo>
                    <a:pt x="770290" y="271258"/>
                  </a:lnTo>
                  <a:lnTo>
                    <a:pt x="816099" y="250830"/>
                  </a:lnTo>
                  <a:lnTo>
                    <a:pt x="862911" y="231044"/>
                  </a:lnTo>
                  <a:lnTo>
                    <a:pt x="910692" y="211921"/>
                  </a:lnTo>
                  <a:lnTo>
                    <a:pt x="959410" y="193480"/>
                  </a:lnTo>
                  <a:lnTo>
                    <a:pt x="1009032" y="175744"/>
                  </a:lnTo>
                  <a:lnTo>
                    <a:pt x="1059523" y="158732"/>
                  </a:lnTo>
                  <a:lnTo>
                    <a:pt x="1110852" y="142465"/>
                  </a:lnTo>
                  <a:lnTo>
                    <a:pt x="1162984" y="126964"/>
                  </a:lnTo>
                  <a:lnTo>
                    <a:pt x="1215886" y="112250"/>
                  </a:lnTo>
                  <a:lnTo>
                    <a:pt x="1269526" y="98343"/>
                  </a:lnTo>
                  <a:lnTo>
                    <a:pt x="1323870" y="85265"/>
                  </a:lnTo>
                  <a:lnTo>
                    <a:pt x="1378885" y="73034"/>
                  </a:lnTo>
                  <a:lnTo>
                    <a:pt x="1434537" y="61673"/>
                  </a:lnTo>
                  <a:lnTo>
                    <a:pt x="1490794" y="51203"/>
                  </a:lnTo>
                  <a:lnTo>
                    <a:pt x="1547621" y="41643"/>
                  </a:lnTo>
                  <a:lnTo>
                    <a:pt x="1604987" y="33014"/>
                  </a:lnTo>
                  <a:lnTo>
                    <a:pt x="1662858" y="25338"/>
                  </a:lnTo>
                  <a:lnTo>
                    <a:pt x="1721200" y="18634"/>
                  </a:lnTo>
                  <a:lnTo>
                    <a:pt x="1779980" y="12924"/>
                  </a:lnTo>
                  <a:lnTo>
                    <a:pt x="1839165" y="8228"/>
                  </a:lnTo>
                  <a:lnTo>
                    <a:pt x="1898723" y="4567"/>
                  </a:lnTo>
                  <a:lnTo>
                    <a:pt x="1958619" y="1961"/>
                  </a:lnTo>
                  <a:lnTo>
                    <a:pt x="2018820" y="432"/>
                  </a:lnTo>
                  <a:lnTo>
                    <a:pt x="2079294" y="0"/>
                  </a:lnTo>
                  <a:lnTo>
                    <a:pt x="2140007" y="685"/>
                  </a:lnTo>
                  <a:lnTo>
                    <a:pt x="2197833" y="2386"/>
                  </a:lnTo>
                  <a:lnTo>
                    <a:pt x="2255797" y="5081"/>
                  </a:lnTo>
                  <a:lnTo>
                    <a:pt x="2313851" y="8739"/>
                  </a:lnTo>
                  <a:lnTo>
                    <a:pt x="2371948" y="13328"/>
                  </a:lnTo>
                  <a:lnTo>
                    <a:pt x="2430041" y="18816"/>
                  </a:lnTo>
                  <a:lnTo>
                    <a:pt x="2488082" y="25171"/>
                  </a:lnTo>
                  <a:lnTo>
                    <a:pt x="2546023" y="32361"/>
                  </a:lnTo>
                  <a:lnTo>
                    <a:pt x="2603818" y="40355"/>
                  </a:lnTo>
                  <a:lnTo>
                    <a:pt x="2661418" y="49121"/>
                  </a:lnTo>
                  <a:lnTo>
                    <a:pt x="2718777" y="58627"/>
                  </a:lnTo>
                  <a:lnTo>
                    <a:pt x="2775847" y="68841"/>
                  </a:lnTo>
                  <a:lnTo>
                    <a:pt x="2832579" y="79732"/>
                  </a:lnTo>
                  <a:lnTo>
                    <a:pt x="2888928" y="91268"/>
                  </a:lnTo>
                  <a:lnTo>
                    <a:pt x="2944846" y="103418"/>
                  </a:lnTo>
                  <a:lnTo>
                    <a:pt x="3000284" y="116148"/>
                  </a:lnTo>
                  <a:lnTo>
                    <a:pt x="3055196" y="129428"/>
                  </a:lnTo>
                  <a:lnTo>
                    <a:pt x="3109534" y="143226"/>
                  </a:lnTo>
                  <a:lnTo>
                    <a:pt x="3163251" y="157510"/>
                  </a:lnTo>
                  <a:lnTo>
                    <a:pt x="3216299" y="172248"/>
                  </a:lnTo>
                  <a:lnTo>
                    <a:pt x="3268631" y="187408"/>
                  </a:lnTo>
                  <a:lnTo>
                    <a:pt x="3320199" y="202960"/>
                  </a:lnTo>
                  <a:lnTo>
                    <a:pt x="3370956" y="218870"/>
                  </a:lnTo>
                  <a:lnTo>
                    <a:pt x="3420855" y="235108"/>
                  </a:lnTo>
                  <a:lnTo>
                    <a:pt x="3469848" y="251641"/>
                  </a:lnTo>
                  <a:lnTo>
                    <a:pt x="3517887" y="268438"/>
                  </a:lnTo>
                  <a:lnTo>
                    <a:pt x="3564926" y="285467"/>
                  </a:lnTo>
                  <a:lnTo>
                    <a:pt x="3610916" y="302696"/>
                  </a:lnTo>
                  <a:lnTo>
                    <a:pt x="3655810" y="320093"/>
                  </a:lnTo>
                  <a:lnTo>
                    <a:pt x="3699561" y="337627"/>
                  </a:lnTo>
                  <a:lnTo>
                    <a:pt x="3742122" y="355266"/>
                  </a:lnTo>
                  <a:lnTo>
                    <a:pt x="3783444" y="372978"/>
                  </a:lnTo>
                  <a:lnTo>
                    <a:pt x="3823481" y="390732"/>
                  </a:lnTo>
                  <a:lnTo>
                    <a:pt x="3862185" y="408495"/>
                  </a:lnTo>
                  <a:lnTo>
                    <a:pt x="3899509" y="426236"/>
                  </a:lnTo>
                  <a:lnTo>
                    <a:pt x="3935404" y="443923"/>
                  </a:lnTo>
                  <a:lnTo>
                    <a:pt x="3969825" y="461524"/>
                  </a:lnTo>
                  <a:lnTo>
                    <a:pt x="4034049" y="496342"/>
                  </a:lnTo>
                  <a:lnTo>
                    <a:pt x="4091803" y="530437"/>
                  </a:lnTo>
                  <a:lnTo>
                    <a:pt x="4118135" y="547134"/>
                  </a:lnTo>
                  <a:lnTo>
                    <a:pt x="4142707" y="563554"/>
                  </a:lnTo>
                </a:path>
                <a:path w="4142740" h="989964">
                  <a:moveTo>
                    <a:pt x="113193" y="842884"/>
                  </a:moveTo>
                  <a:lnTo>
                    <a:pt x="9058" y="824772"/>
                  </a:lnTo>
                </a:path>
                <a:path w="4142740" h="989964">
                  <a:moveTo>
                    <a:pt x="104134" y="894923"/>
                  </a:moveTo>
                  <a:lnTo>
                    <a:pt x="0" y="876811"/>
                  </a:lnTo>
                </a:path>
              </a:pathLst>
            </a:custGeom>
            <a:ln w="38269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5826" y="2595663"/>
              <a:ext cx="235976" cy="244294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869165" y="5162153"/>
              <a:ext cx="4132579" cy="991235"/>
            </a:xfrm>
            <a:custGeom>
              <a:avLst/>
              <a:gdLst/>
              <a:ahLst/>
              <a:cxnLst/>
              <a:rect l="l" t="t" r="r" b="b"/>
              <a:pathLst>
                <a:path w="4132579" h="991235">
                  <a:moveTo>
                    <a:pt x="24585" y="0"/>
                  </a:moveTo>
                  <a:lnTo>
                    <a:pt x="46178" y="70014"/>
                  </a:lnTo>
                  <a:lnTo>
                    <a:pt x="73986" y="138112"/>
                  </a:lnTo>
                  <a:lnTo>
                    <a:pt x="107809" y="204212"/>
                  </a:lnTo>
                  <a:lnTo>
                    <a:pt x="147449" y="268234"/>
                  </a:lnTo>
                  <a:lnTo>
                    <a:pt x="169387" y="299442"/>
                  </a:lnTo>
                  <a:lnTo>
                    <a:pt x="192705" y="330099"/>
                  </a:lnTo>
                  <a:lnTo>
                    <a:pt x="217377" y="360198"/>
                  </a:lnTo>
                  <a:lnTo>
                    <a:pt x="243378" y="389726"/>
                  </a:lnTo>
                  <a:lnTo>
                    <a:pt x="270683" y="418675"/>
                  </a:lnTo>
                  <a:lnTo>
                    <a:pt x="299268" y="447035"/>
                  </a:lnTo>
                  <a:lnTo>
                    <a:pt x="329107" y="474795"/>
                  </a:lnTo>
                  <a:lnTo>
                    <a:pt x="360176" y="501946"/>
                  </a:lnTo>
                  <a:lnTo>
                    <a:pt x="392449" y="528476"/>
                  </a:lnTo>
                  <a:lnTo>
                    <a:pt x="425901" y="554378"/>
                  </a:lnTo>
                  <a:lnTo>
                    <a:pt x="460508" y="579639"/>
                  </a:lnTo>
                  <a:lnTo>
                    <a:pt x="496245" y="604251"/>
                  </a:lnTo>
                  <a:lnTo>
                    <a:pt x="533086" y="628203"/>
                  </a:lnTo>
                  <a:lnTo>
                    <a:pt x="571008" y="651485"/>
                  </a:lnTo>
                  <a:lnTo>
                    <a:pt x="609984" y="674088"/>
                  </a:lnTo>
                  <a:lnTo>
                    <a:pt x="649989" y="696000"/>
                  </a:lnTo>
                  <a:lnTo>
                    <a:pt x="691000" y="717213"/>
                  </a:lnTo>
                  <a:lnTo>
                    <a:pt x="732990" y="737716"/>
                  </a:lnTo>
                  <a:lnTo>
                    <a:pt x="775936" y="757500"/>
                  </a:lnTo>
                  <a:lnTo>
                    <a:pt x="819811" y="776553"/>
                  </a:lnTo>
                  <a:lnTo>
                    <a:pt x="864592" y="794866"/>
                  </a:lnTo>
                  <a:lnTo>
                    <a:pt x="910253" y="812430"/>
                  </a:lnTo>
                  <a:lnTo>
                    <a:pt x="956768" y="829233"/>
                  </a:lnTo>
                  <a:lnTo>
                    <a:pt x="1004114" y="845266"/>
                  </a:lnTo>
                  <a:lnTo>
                    <a:pt x="1052266" y="860520"/>
                  </a:lnTo>
                  <a:lnTo>
                    <a:pt x="1101197" y="874983"/>
                  </a:lnTo>
                  <a:lnTo>
                    <a:pt x="1150884" y="888646"/>
                  </a:lnTo>
                  <a:lnTo>
                    <a:pt x="1201301" y="901500"/>
                  </a:lnTo>
                  <a:lnTo>
                    <a:pt x="1252424" y="913533"/>
                  </a:lnTo>
                  <a:lnTo>
                    <a:pt x="1304227" y="924736"/>
                  </a:lnTo>
                  <a:lnTo>
                    <a:pt x="1356686" y="935098"/>
                  </a:lnTo>
                  <a:lnTo>
                    <a:pt x="1409775" y="944611"/>
                  </a:lnTo>
                  <a:lnTo>
                    <a:pt x="1463470" y="953263"/>
                  </a:lnTo>
                  <a:lnTo>
                    <a:pt x="1517746" y="961045"/>
                  </a:lnTo>
                  <a:lnTo>
                    <a:pt x="1572577" y="967947"/>
                  </a:lnTo>
                  <a:lnTo>
                    <a:pt x="1627939" y="973959"/>
                  </a:lnTo>
                  <a:lnTo>
                    <a:pt x="1683807" y="979070"/>
                  </a:lnTo>
                  <a:lnTo>
                    <a:pt x="1740156" y="983271"/>
                  </a:lnTo>
                  <a:lnTo>
                    <a:pt x="1796960" y="986551"/>
                  </a:lnTo>
                  <a:lnTo>
                    <a:pt x="1854196" y="988902"/>
                  </a:lnTo>
                  <a:lnTo>
                    <a:pt x="1911838" y="990311"/>
                  </a:lnTo>
                  <a:lnTo>
                    <a:pt x="1969860" y="990771"/>
                  </a:lnTo>
                  <a:lnTo>
                    <a:pt x="2028239" y="990269"/>
                  </a:lnTo>
                  <a:lnTo>
                    <a:pt x="2086949" y="988798"/>
                  </a:lnTo>
                  <a:lnTo>
                    <a:pt x="2145965" y="986346"/>
                  </a:lnTo>
                  <a:lnTo>
                    <a:pt x="2203811" y="983006"/>
                  </a:lnTo>
                  <a:lnTo>
                    <a:pt x="2261873" y="978753"/>
                  </a:lnTo>
                  <a:lnTo>
                    <a:pt x="2320097" y="973618"/>
                  </a:lnTo>
                  <a:lnTo>
                    <a:pt x="2378430" y="967631"/>
                  </a:lnTo>
                  <a:lnTo>
                    <a:pt x="2436820" y="960821"/>
                  </a:lnTo>
                  <a:lnTo>
                    <a:pt x="2495214" y="953218"/>
                  </a:lnTo>
                  <a:lnTo>
                    <a:pt x="2553560" y="944854"/>
                  </a:lnTo>
                  <a:lnTo>
                    <a:pt x="2611805" y="935757"/>
                  </a:lnTo>
                  <a:lnTo>
                    <a:pt x="2669895" y="925958"/>
                  </a:lnTo>
                  <a:lnTo>
                    <a:pt x="2727779" y="915487"/>
                  </a:lnTo>
                  <a:lnTo>
                    <a:pt x="2785403" y="904374"/>
                  </a:lnTo>
                  <a:lnTo>
                    <a:pt x="2842715" y="892649"/>
                  </a:lnTo>
                  <a:lnTo>
                    <a:pt x="2899662" y="880342"/>
                  </a:lnTo>
                  <a:lnTo>
                    <a:pt x="2956191" y="867482"/>
                  </a:lnTo>
                  <a:lnTo>
                    <a:pt x="3012250" y="854101"/>
                  </a:lnTo>
                  <a:lnTo>
                    <a:pt x="3067786" y="840229"/>
                  </a:lnTo>
                  <a:lnTo>
                    <a:pt x="3122746" y="825894"/>
                  </a:lnTo>
                  <a:lnTo>
                    <a:pt x="3177078" y="811128"/>
                  </a:lnTo>
                  <a:lnTo>
                    <a:pt x="3230728" y="795960"/>
                  </a:lnTo>
                  <a:lnTo>
                    <a:pt x="3283644" y="780421"/>
                  </a:lnTo>
                  <a:lnTo>
                    <a:pt x="3335774" y="764540"/>
                  </a:lnTo>
                  <a:lnTo>
                    <a:pt x="3387064" y="748347"/>
                  </a:lnTo>
                  <a:lnTo>
                    <a:pt x="3437462" y="731874"/>
                  </a:lnTo>
                  <a:lnTo>
                    <a:pt x="3486914" y="715148"/>
                  </a:lnTo>
                  <a:lnTo>
                    <a:pt x="3535370" y="698202"/>
                  </a:lnTo>
                  <a:lnTo>
                    <a:pt x="3582775" y="681064"/>
                  </a:lnTo>
                  <a:lnTo>
                    <a:pt x="3629076" y="663765"/>
                  </a:lnTo>
                  <a:lnTo>
                    <a:pt x="3674222" y="646335"/>
                  </a:lnTo>
                  <a:lnTo>
                    <a:pt x="3718160" y="628803"/>
                  </a:lnTo>
                  <a:lnTo>
                    <a:pt x="3760836" y="611201"/>
                  </a:lnTo>
                  <a:lnTo>
                    <a:pt x="3802198" y="593558"/>
                  </a:lnTo>
                  <a:lnTo>
                    <a:pt x="3842194" y="575903"/>
                  </a:lnTo>
                  <a:lnTo>
                    <a:pt x="3880770" y="558268"/>
                  </a:lnTo>
                  <a:lnTo>
                    <a:pt x="3917874" y="540682"/>
                  </a:lnTo>
                  <a:lnTo>
                    <a:pt x="3953453" y="523176"/>
                  </a:lnTo>
                  <a:lnTo>
                    <a:pt x="3987454" y="505778"/>
                  </a:lnTo>
                  <a:lnTo>
                    <a:pt x="4050513" y="471431"/>
                  </a:lnTo>
                  <a:lnTo>
                    <a:pt x="4106629" y="437882"/>
                  </a:lnTo>
                  <a:lnTo>
                    <a:pt x="4131952" y="421482"/>
                  </a:lnTo>
                </a:path>
                <a:path w="4132579" h="991235">
                  <a:moveTo>
                    <a:pt x="13281" y="166603"/>
                  </a:moveTo>
                  <a:lnTo>
                    <a:pt x="115579" y="140060"/>
                  </a:lnTo>
                </a:path>
                <a:path w="4132579" h="991235">
                  <a:moveTo>
                    <a:pt x="0" y="115494"/>
                  </a:moveTo>
                  <a:lnTo>
                    <a:pt x="102310" y="88951"/>
                  </a:lnTo>
                </a:path>
              </a:pathLst>
            </a:custGeom>
            <a:ln w="38269">
              <a:solidFill>
                <a:srgbClr val="6158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4790" y="5372653"/>
              <a:ext cx="236630" cy="2437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shadow</dc:creator>
  <dc:title>Declarative Programming:  Query Languages</dc:title>
  <dcterms:created xsi:type="dcterms:W3CDTF">2025-05-22T11:39:22Z</dcterms:created>
  <dcterms:modified xsi:type="dcterms:W3CDTF">2025-05-22T11:39:22Z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2025-05-22T00:00:00Z</vt:filetime>
  </property>
  <property fmtid="{D5CDD505-2E9C-101B-9397-08002B2CF9AE}" pid="5" name="Producer">
    <vt:lpwstr>Microsoft® PowerPoint® 2019</vt:lpwstr>
  </property>
</Properties>
</file>