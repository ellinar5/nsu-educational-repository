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56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E7E7E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7E7E7E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5628" y="2068197"/>
            <a:ext cx="3987800" cy="416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E7E7E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0995" y="1037082"/>
            <a:ext cx="3535375" cy="521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8588" y="1991080"/>
            <a:ext cx="10075545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7796" y="3402838"/>
            <a:ext cx="5055235" cy="325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7E7E7E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‹#›</a:t>
            </a:fld>
            <a:endParaRPr spc="-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8450" y="1598295"/>
              <a:ext cx="5008740" cy="6983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561" y="2530983"/>
              <a:ext cx="6103861" cy="876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5418" y="3476244"/>
              <a:ext cx="7805292" cy="8634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14" dirty="0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sz="2000" b="1" spc="225" dirty="0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sz="2000" b="1" spc="125" dirty="0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48003"/>
            <a:ext cx="2924835" cy="5646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2112391"/>
            <a:ext cx="9757410" cy="89447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ru-RU" dirty="0">
                <a:effectLst/>
              </a:rPr>
              <a:t>Языки запросов: класс языков программирования для поиска и (иногда) манипулирования данными в системах управления базами данных (СУБД) или любом другом программном обеспечении, ориентированном на обработку данных.</a:t>
            </a:r>
            <a:r>
              <a:rPr spc="145" dirty="0"/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2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3514725"/>
            <a:ext cx="9895205" cy="26128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ru-RU" sz="2000" spc="130" dirty="0">
                <a:solidFill>
                  <a:srgbClr val="7E7E7E"/>
                </a:solidFill>
                <a:latin typeface="Cambria"/>
              </a:rPr>
              <a:t>В отличие от C/Java/</a:t>
            </a:r>
            <a:r>
              <a:rPr lang="ru-RU" sz="2000" spc="130" dirty="0" err="1">
                <a:solidFill>
                  <a:srgbClr val="7E7E7E"/>
                </a:solidFill>
                <a:latin typeface="Cambria"/>
              </a:rPr>
              <a:t>Haskell</a:t>
            </a:r>
            <a:r>
              <a:rPr lang="ru-RU" sz="2000" spc="130" dirty="0">
                <a:solidFill>
                  <a:srgbClr val="7E7E7E"/>
                </a:solidFill>
                <a:latin typeface="Cambria"/>
              </a:rPr>
              <a:t> и других языков “общего назначения”, языки запросов относятся к предметно-ориентированным языкам (DSL) и не предназначены для обычного программирования. Обычно они используются в качестве дополнения к другим языкам.</a:t>
            </a:r>
            <a:endParaRPr lang="en-US" sz="2000" spc="130" dirty="0">
              <a:solidFill>
                <a:srgbClr val="7E7E7E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lang="en-US" sz="2000" spc="130" dirty="0">
              <a:solidFill>
                <a:srgbClr val="7E7E7E"/>
              </a:solidFill>
              <a:latin typeface="Cambria"/>
            </a:endParaRPr>
          </a:p>
          <a:p>
            <a:pPr marL="12700" marR="1168400">
              <a:lnSpc>
                <a:spcPts val="2160"/>
              </a:lnSpc>
              <a:spcBef>
                <a:spcPts val="5"/>
              </a:spcBef>
            </a:pPr>
            <a:r>
              <a:rPr sz="2000" b="1" spc="200" dirty="0">
                <a:latin typeface="Cambria"/>
                <a:cs typeface="Cambria"/>
              </a:rPr>
              <a:t>SQL:</a:t>
            </a:r>
            <a:r>
              <a:rPr sz="2000" b="1" spc="22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Structured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Query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Language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(</a:t>
            </a:r>
            <a:r>
              <a:rPr lang="ru-RU" sz="2000" spc="100" dirty="0">
                <a:latin typeface="Cambria"/>
                <a:cs typeface="Cambria"/>
              </a:rPr>
              <a:t>произносится как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“sequel”)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lang="ru-RU" sz="2000" dirty="0">
                <a:effectLst/>
              </a:rPr>
              <a:t>стандартный язык для поиска и манипулирования данными в </a:t>
            </a:r>
            <a:r>
              <a:rPr lang="ru-RU" sz="2000" b="1" dirty="0">
                <a:effectLst/>
              </a:rPr>
              <a:t>реляционных</a:t>
            </a:r>
            <a:r>
              <a:rPr lang="ru-RU" sz="2000" dirty="0">
                <a:effectLst/>
              </a:rPr>
              <a:t> СУБД.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B21CC-4189-75DD-7890-6708BF1213EB}"/>
              </a:ext>
            </a:extLst>
          </p:cNvPr>
          <p:cNvSpPr txBox="1"/>
          <p:nvPr/>
        </p:nvSpPr>
        <p:spPr>
          <a:xfrm>
            <a:off x="1148588" y="13303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effectLst/>
              </a:rPr>
              <a:t>язык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2499347" cy="468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112391"/>
            <a:ext cx="76327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b="1" u="sng" dirty="0">
                <a:effectLst/>
              </a:rPr>
              <a:t>СУБД</a:t>
            </a:r>
            <a:r>
              <a:rPr lang="ru-RU" sz="2000" dirty="0">
                <a:effectLst/>
              </a:rPr>
              <a:t>: </a:t>
            </a:r>
            <a:r>
              <a:rPr lang="ru-RU" sz="2000" dirty="0" err="1">
                <a:effectLst/>
              </a:rPr>
              <a:t>SQLite</a:t>
            </a:r>
            <a:r>
              <a:rPr lang="ru-RU" sz="2000" dirty="0">
                <a:effectLst/>
              </a:rPr>
              <a:t> – крошечная встроенная СУБД</a:t>
            </a:r>
            <a:endParaRPr lang="en-US" sz="2000" dirty="0">
              <a:effectLst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dirty="0">
                <a:effectLst/>
              </a:rPr>
              <a:t> </a:t>
            </a:r>
            <a:r>
              <a:rPr lang="ru-RU" sz="2000" b="1" u="sng" dirty="0">
                <a:effectLst/>
              </a:rPr>
              <a:t>Язык</a:t>
            </a:r>
            <a:r>
              <a:rPr lang="ru-RU" sz="2000" dirty="0">
                <a:effectLst/>
              </a:rPr>
              <a:t>: SQL, диалект </a:t>
            </a:r>
            <a:r>
              <a:rPr lang="ru-RU" sz="2000" dirty="0" err="1">
                <a:effectLst/>
              </a:rPr>
              <a:t>SQLite</a:t>
            </a:r>
            <a:r>
              <a:rPr lang="ru-RU" sz="2000" dirty="0">
                <a:effectLst/>
              </a:rPr>
              <a:t> </a:t>
            </a:r>
            <a:endParaRPr lang="en-US" sz="2000" dirty="0">
              <a:effectLst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b="1" u="sng" dirty="0">
                <a:effectLst/>
              </a:rPr>
              <a:t>Программное обеспечение</a:t>
            </a:r>
            <a:r>
              <a:rPr lang="ru-RU" sz="2000" dirty="0">
                <a:effectLst/>
              </a:rPr>
              <a:t>: Браузер баз данных для </a:t>
            </a:r>
            <a:r>
              <a:rPr lang="ru-RU" sz="2000" dirty="0" err="1">
                <a:effectLst/>
              </a:rPr>
              <a:t>SQLite</a:t>
            </a:r>
            <a:r>
              <a:rPr lang="ru-RU" sz="2000" dirty="0">
                <a:effectLst/>
              </a:rPr>
              <a:t>, https://sqlitebrowser.org/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3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55E55-9201-97EC-E7A0-590AB113D8E8}"/>
              </a:ext>
            </a:extLst>
          </p:cNvPr>
          <p:cNvSpPr txBox="1"/>
          <p:nvPr/>
        </p:nvSpPr>
        <p:spPr>
          <a:xfrm>
            <a:off x="1120013" y="1550754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effectLst/>
              </a:rPr>
              <a:t>Программное обеспечение</a:t>
            </a:r>
            <a:endParaRPr lang="ru-RU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4495800"/>
            <a:ext cx="4471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400" spc="160" dirty="0"/>
              <a:t>Какова столица России?</a:t>
            </a:r>
            <a:endParaRPr lang="en-US" sz="2400" spc="16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4</a:t>
            </a:fld>
            <a:endParaRPr spc="-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3709619" cy="529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991080"/>
            <a:ext cx="8367395" cy="120032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ru-RU" sz="2000" spc="125" dirty="0">
                <a:latin typeface="Cambria"/>
              </a:rPr>
              <a:t>Это Москва? Правда? </a:t>
            </a:r>
            <a:endParaRPr lang="en-US" sz="2000" spc="125" dirty="0">
              <a:latin typeface="Cambri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ru-RU" sz="2000" spc="125" dirty="0">
                <a:latin typeface="Cambria"/>
              </a:rPr>
              <a:t>А как насчет ответа на тот же вопрос, который был задан 200 лет назад?</a:t>
            </a:r>
            <a:endParaRPr lang="en-US" sz="2000" spc="125" dirty="0">
              <a:latin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5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3819525"/>
            <a:ext cx="84524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000" spc="90" dirty="0">
                <a:latin typeface="Cambria"/>
              </a:rPr>
              <a:t>Давайте притворимся, что мы не знаем ответа. Как нам его найти?</a:t>
            </a:r>
            <a:endParaRPr sz="2000" spc="90" dirty="0">
              <a:latin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588" y="5100066"/>
            <a:ext cx="9681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000" spc="90" dirty="0">
                <a:latin typeface="Cambria"/>
              </a:rPr>
              <a:t>Как задать тот же вопрос компьютеру и как на него ответить?</a:t>
            </a:r>
            <a:endParaRPr sz="2000" spc="90" dirty="0">
              <a:latin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28700"/>
            <a:ext cx="5270207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112391"/>
            <a:ext cx="6925309" cy="37965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469900" algn="l"/>
              </a:tabLst>
            </a:pPr>
            <a:r>
              <a:rPr lang="ru-RU" sz="2000" spc="70" dirty="0">
                <a:latin typeface="Cambria"/>
              </a:rPr>
              <a:t>Сходить в библиотеку</a:t>
            </a:r>
            <a:endParaRPr lang="en-US" sz="2000" spc="70" dirty="0">
              <a:latin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  <a:buClr>
                <a:srgbClr val="957D95"/>
              </a:buClr>
              <a:buFont typeface="Cambria"/>
              <a:buAutoNum type="arabicPeriod"/>
            </a:pPr>
            <a:endParaRPr lang="en-US" sz="2000" dirty="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lang="ru-RU" sz="2000" spc="100" dirty="0">
                <a:latin typeface="Cambria"/>
              </a:rPr>
              <a:t>Возьмите что-то вроде географического справочника или энциклопедии</a:t>
            </a:r>
            <a:endParaRPr sz="2000" spc="100" dirty="0">
              <a:latin typeface="Cambria"/>
            </a:endParaRPr>
          </a:p>
          <a:p>
            <a:pPr>
              <a:lnSpc>
                <a:spcPct val="100000"/>
              </a:lnSpc>
              <a:spcBef>
                <a:spcPts val="2245"/>
              </a:spcBef>
              <a:buClr>
                <a:srgbClr val="957D95"/>
              </a:buClr>
              <a:buFont typeface="Cambria"/>
              <a:buAutoNum type="arabicPeriod"/>
            </a:pPr>
            <a:endParaRPr sz="2000" spc="100" dirty="0">
              <a:latin typeface="Cambria"/>
            </a:endParaRPr>
          </a:p>
          <a:p>
            <a:pPr marL="469900" marR="1331595" indent="-457834">
              <a:lnSpc>
                <a:spcPts val="2160"/>
              </a:lnSpc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lang="ru-RU" sz="2000" spc="140" dirty="0">
                <a:latin typeface="Cambria"/>
              </a:rPr>
              <a:t>Найдите страницу с соответствующей страной </a:t>
            </a:r>
            <a:r>
              <a:rPr lang="ru-RU" sz="2000" dirty="0">
                <a:solidFill>
                  <a:srgbClr val="7E7E7E"/>
                </a:solidFill>
                <a:latin typeface="Cambria"/>
              </a:rPr>
              <a:t>(действительно ли нам нужно делать это постранично?)</a:t>
            </a:r>
            <a:endParaRPr sz="2000" dirty="0">
              <a:solidFill>
                <a:srgbClr val="7E7E7E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  <a:buClr>
                <a:srgbClr val="957D95"/>
              </a:buClr>
              <a:buFont typeface="Cambria"/>
              <a:buAutoNum type="arabicPeriod"/>
            </a:pPr>
            <a:endParaRPr lang="ru-RU" sz="2000" dirty="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lang="en-US" sz="2000" dirty="0" err="1">
                <a:latin typeface="Cambria"/>
              </a:rPr>
              <a:t>Получите</a:t>
            </a:r>
            <a:r>
              <a:rPr lang="en-US" sz="2000" dirty="0">
                <a:latin typeface="Cambria"/>
              </a:rPr>
              <a:t> </a:t>
            </a:r>
            <a:r>
              <a:rPr lang="en-US" sz="2000" dirty="0" err="1">
                <a:latin typeface="Cambria"/>
              </a:rPr>
              <a:t>ответ</a:t>
            </a:r>
            <a:endParaRPr lang="en-US" sz="2000" dirty="0">
              <a:latin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6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F569A-C4EB-A135-FD02-E7640F997E47}"/>
              </a:ext>
            </a:extLst>
          </p:cNvPr>
          <p:cNvSpPr txBox="1"/>
          <p:nvPr/>
        </p:nvSpPr>
        <p:spPr>
          <a:xfrm>
            <a:off x="1148588" y="157949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effectLst/>
              </a:rPr>
              <a:t>Ручной поиск</a:t>
            </a:r>
            <a:endParaRPr lang="ru-RU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7623162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1991080"/>
            <a:ext cx="10075545" cy="443736"/>
          </a:xfrm>
          <a:prstGeom prst="rect">
            <a:avLst/>
          </a:prstGeom>
        </p:spPr>
        <p:txBody>
          <a:bodyPr vert="horz" wrap="square" lIns="0" tIns="134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pc="100" dirty="0">
                <a:solidFill>
                  <a:srgbClr val="7E7E7E"/>
                </a:solidFill>
              </a:rPr>
              <a:t>Здесь и далее будет использоваться диалект SQL на языке </a:t>
            </a:r>
            <a:r>
              <a:rPr lang="ru-RU" spc="100" dirty="0" err="1">
                <a:solidFill>
                  <a:srgbClr val="7E7E7E"/>
                </a:solidFill>
              </a:rPr>
              <a:t>SQLite</a:t>
            </a:r>
            <a:r>
              <a:rPr lang="en-US" spc="180" dirty="0">
                <a:solidFill>
                  <a:srgbClr val="7E7E7E"/>
                </a:solidFill>
              </a:rPr>
              <a:t> </a:t>
            </a:r>
            <a:endParaRPr spc="160" dirty="0">
              <a:solidFill>
                <a:srgbClr val="7E7E7E"/>
              </a:solidFill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7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2954858"/>
            <a:ext cx="3531235" cy="3014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CAPITAL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COUNTRY_HANDBOOK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COUNTRY=‘Russia’;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Moscow</a:t>
            </a:r>
            <a:endParaRPr sz="2000">
              <a:latin typeface="Courier New"/>
              <a:cs typeface="Courier New"/>
            </a:endParaRPr>
          </a:p>
          <a:p>
            <a:pPr marL="469900" marR="614680">
              <a:lnSpc>
                <a:spcPct val="140000"/>
              </a:lnSpc>
              <a:spcBef>
                <a:spcPts val="5"/>
              </a:spcBef>
            </a:pPr>
            <a:r>
              <a:rPr sz="2000" dirty="0">
                <a:latin typeface="Courier New"/>
                <a:cs typeface="Courier New"/>
              </a:rPr>
              <a:t>Saint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Petersburg Petrograd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960"/>
              </a:spcBef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9222" y="2954858"/>
            <a:ext cx="5327778" cy="8790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effectLst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что мы хотим получить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руководство по использованию</a:t>
            </a:r>
            <a:endParaRPr lang="en-US"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условия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28700"/>
            <a:ext cx="5734265" cy="575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954858"/>
            <a:ext cx="7189470" cy="2616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CAPITAL</a:t>
            </a:r>
            <a:endParaRPr sz="2000" dirty="0">
              <a:latin typeface="Courier New"/>
              <a:cs typeface="Courier New"/>
            </a:endParaRPr>
          </a:p>
          <a:p>
            <a:pPr marL="12700" marR="381635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COUNTRY_HANDBOOK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COUNTRY=‘Russia’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ts val="201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2024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BETWEEN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PERIOD_START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PERIOD_END;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ts val="216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альтернатива предыдущей строке</a:t>
            </a:r>
            <a:endParaRPr sz="200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3175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5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2024&gt;=PERIOD_START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2024&lt;=PERIOD_END;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Moscow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8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1C68B-5CC1-FDA2-9641-B5F202BDF46E}"/>
              </a:ext>
            </a:extLst>
          </p:cNvPr>
          <p:cNvSpPr txBox="1"/>
          <p:nvPr/>
        </p:nvSpPr>
        <p:spPr>
          <a:xfrm>
            <a:off x="1129538" y="146589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Более точный запрос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7711719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3400" y="2107946"/>
            <a:ext cx="11487912" cy="3534301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60"/>
              </a:spcBef>
            </a:pPr>
            <a:r>
              <a:rPr lang="ru-RU" sz="2000" b="1" spc="75" dirty="0">
                <a:latin typeface="Cambria"/>
              </a:rPr>
              <a:t>n-кортеж (</a:t>
            </a:r>
            <a:r>
              <a:rPr lang="ru-RU" sz="2000" b="1" spc="75" dirty="0" err="1">
                <a:latin typeface="Cambria"/>
              </a:rPr>
              <a:t>tuple</a:t>
            </a:r>
            <a:r>
              <a:rPr lang="ru-RU" sz="2000" b="1" spc="75" dirty="0">
                <a:latin typeface="Cambria"/>
              </a:rPr>
              <a:t>) </a:t>
            </a:r>
            <a:r>
              <a:rPr lang="ru-RU" sz="2000" spc="75" dirty="0">
                <a:latin typeface="Cambria"/>
              </a:rPr>
              <a:t>– последовательность из </a:t>
            </a:r>
            <a:r>
              <a:rPr lang="ru-RU" sz="2000" b="1" spc="75" dirty="0">
                <a:latin typeface="Cambria"/>
              </a:rPr>
              <a:t>n</a:t>
            </a:r>
            <a:r>
              <a:rPr lang="ru-RU" sz="2000" spc="75" dirty="0">
                <a:latin typeface="Cambria"/>
              </a:rPr>
              <a:t> элементов</a:t>
            </a:r>
            <a:r>
              <a:rPr sz="2000" spc="75" dirty="0">
                <a:latin typeface="Cambria"/>
              </a:rPr>
              <a:t>: </a:t>
            </a:r>
            <a:r>
              <a:rPr sz="2000" b="1" spc="70" dirty="0">
                <a:latin typeface="Cambria"/>
                <a:cs typeface="Cambria"/>
              </a:rPr>
              <a:t>(x</a:t>
            </a:r>
            <a:r>
              <a:rPr sz="1950" b="1" spc="104" baseline="-21367" dirty="0">
                <a:latin typeface="Cambria"/>
                <a:cs typeface="Cambria"/>
              </a:rPr>
              <a:t>1</a:t>
            </a:r>
            <a:r>
              <a:rPr sz="2000" b="1" spc="70" dirty="0">
                <a:latin typeface="Cambria"/>
                <a:cs typeface="Cambria"/>
              </a:rPr>
              <a:t>,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x</a:t>
            </a:r>
            <a:r>
              <a:rPr sz="1950" b="1" spc="232" baseline="-21367" dirty="0">
                <a:latin typeface="Cambria"/>
                <a:cs typeface="Cambria"/>
              </a:rPr>
              <a:t>2</a:t>
            </a:r>
            <a:r>
              <a:rPr sz="2000" b="1" spc="155" dirty="0">
                <a:latin typeface="Cambria"/>
                <a:cs typeface="Cambria"/>
              </a:rPr>
              <a:t>,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330" dirty="0">
                <a:latin typeface="Cambria"/>
                <a:cs typeface="Cambria"/>
              </a:rPr>
              <a:t>…,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-25" dirty="0">
                <a:latin typeface="Cambria"/>
                <a:cs typeface="Cambria"/>
              </a:rPr>
              <a:t>x</a:t>
            </a:r>
            <a:r>
              <a:rPr sz="1950" b="1" spc="-37" baseline="-21367" dirty="0">
                <a:latin typeface="Cambria"/>
                <a:cs typeface="Cambria"/>
              </a:rPr>
              <a:t>n</a:t>
            </a:r>
            <a:r>
              <a:rPr sz="2000" b="1" spc="-25" dirty="0">
                <a:latin typeface="Cambria"/>
                <a:cs typeface="Cambria"/>
              </a:rPr>
              <a:t>)</a:t>
            </a:r>
            <a:endParaRPr sz="2000" dirty="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960"/>
              </a:spcBef>
            </a:pPr>
            <a:r>
              <a:rPr lang="ru-RU" sz="2000" spc="195" dirty="0">
                <a:latin typeface="Cambria"/>
                <a:cs typeface="Cambria"/>
              </a:rPr>
              <a:t>Если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x</a:t>
            </a:r>
            <a:r>
              <a:rPr sz="1950" b="1" spc="179" baseline="-21367" dirty="0">
                <a:latin typeface="Cambria"/>
                <a:cs typeface="Cambria"/>
              </a:rPr>
              <a:t>i</a:t>
            </a:r>
            <a:r>
              <a:rPr sz="1950" b="1" spc="502" baseline="-21367" dirty="0">
                <a:latin typeface="Cambria"/>
                <a:cs typeface="Cambria"/>
              </a:rPr>
              <a:t> </a:t>
            </a:r>
            <a:r>
              <a:rPr lang="ru-RU" sz="2000" spc="75" dirty="0">
                <a:latin typeface="Cambria"/>
              </a:rPr>
              <a:t>имеет тип </a:t>
            </a:r>
            <a:r>
              <a:rPr sz="2000" b="1" spc="140" dirty="0">
                <a:latin typeface="Cambria"/>
                <a:cs typeface="Cambria"/>
              </a:rPr>
              <a:t>T</a:t>
            </a:r>
            <a:r>
              <a:rPr sz="1950" b="1" spc="209" baseline="-21367" dirty="0">
                <a:latin typeface="Cambria"/>
                <a:cs typeface="Cambria"/>
              </a:rPr>
              <a:t>i</a:t>
            </a:r>
            <a:r>
              <a:rPr sz="2000" spc="140" dirty="0">
                <a:latin typeface="Cambria"/>
                <a:cs typeface="Cambria"/>
              </a:rPr>
              <a:t>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lang="ru-RU" sz="2000" spc="75" dirty="0">
                <a:latin typeface="Cambria"/>
              </a:rPr>
              <a:t>то весь кортеж имеет тип </a:t>
            </a:r>
            <a:r>
              <a:rPr sz="2000" b="1" spc="105" dirty="0">
                <a:latin typeface="Cambria"/>
                <a:cs typeface="Cambria"/>
              </a:rPr>
              <a:t>T</a:t>
            </a:r>
            <a:r>
              <a:rPr sz="1950" b="1" spc="157" baseline="-21367" dirty="0">
                <a:latin typeface="Cambria"/>
                <a:cs typeface="Cambria"/>
              </a:rPr>
              <a:t>1</a:t>
            </a:r>
            <a:r>
              <a:rPr sz="2000" b="1" spc="105" dirty="0">
                <a:latin typeface="Cambria"/>
                <a:cs typeface="Cambria"/>
              </a:rPr>
              <a:t>×T</a:t>
            </a:r>
            <a:r>
              <a:rPr sz="1950" b="1" spc="157" baseline="-21367" dirty="0">
                <a:latin typeface="Cambria"/>
                <a:cs typeface="Cambria"/>
              </a:rPr>
              <a:t>2</a:t>
            </a:r>
            <a:r>
              <a:rPr sz="2000" b="1" spc="105" dirty="0">
                <a:latin typeface="Cambria"/>
                <a:cs typeface="Cambria"/>
              </a:rPr>
              <a:t>×…×T</a:t>
            </a:r>
            <a:r>
              <a:rPr sz="1950" b="1" spc="157" baseline="-21367" dirty="0">
                <a:latin typeface="Cambria"/>
                <a:cs typeface="Cambria"/>
              </a:rPr>
              <a:t>n</a:t>
            </a:r>
            <a:endParaRPr sz="1950" baseline="-21367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 dirty="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</a:pPr>
            <a:r>
              <a:rPr lang="ru-RU" sz="2000" spc="195" dirty="0">
                <a:latin typeface="Cambria"/>
              </a:rPr>
              <a:t>Кортеж с именованными позициями - это </a:t>
            </a:r>
            <a:r>
              <a:rPr lang="ru-RU" sz="2000" b="1" spc="195" dirty="0">
                <a:latin typeface="Cambria"/>
              </a:rPr>
              <a:t>запись</a:t>
            </a:r>
            <a:r>
              <a:rPr lang="ru-RU" sz="2000" spc="195" dirty="0">
                <a:latin typeface="Cambria"/>
              </a:rPr>
              <a:t> (или структура в терминах C).</a:t>
            </a:r>
          </a:p>
          <a:p>
            <a:pPr marL="76200">
              <a:lnSpc>
                <a:spcPct val="100000"/>
              </a:lnSpc>
            </a:pPr>
            <a:endParaRPr sz="2000" spc="195" dirty="0">
              <a:latin typeface="Cambria"/>
            </a:endParaRPr>
          </a:p>
          <a:p>
            <a:pPr marL="76200">
              <a:lnSpc>
                <a:spcPct val="100000"/>
              </a:lnSpc>
            </a:pPr>
            <a:r>
              <a:rPr lang="ru-RU" sz="2000" b="1" spc="155" dirty="0">
                <a:latin typeface="Cambria"/>
              </a:rPr>
              <a:t>Таблица</a:t>
            </a:r>
            <a:r>
              <a:rPr lang="ru-RU" sz="2000" spc="155" dirty="0">
                <a:latin typeface="Cambria"/>
              </a:rPr>
              <a:t> – неупорядоченный мультимножество </a:t>
            </a:r>
            <a:r>
              <a:rPr lang="ru-RU" sz="2000" b="1" spc="155" dirty="0">
                <a:latin typeface="Cambria"/>
              </a:rPr>
              <a:t>записей</a:t>
            </a:r>
            <a:r>
              <a:rPr lang="ru-RU" sz="2000" spc="155" dirty="0">
                <a:latin typeface="Cambria"/>
              </a:rPr>
              <a:t> одного типа</a:t>
            </a:r>
            <a:r>
              <a:rPr lang="ru-RU" sz="2000" dirty="0">
                <a:effectLst/>
              </a:rPr>
              <a:t> </a:t>
            </a:r>
            <a:r>
              <a:rPr lang="en-US" sz="2000" dirty="0">
                <a:latin typeface="Cambria"/>
                <a:cs typeface="Cambria"/>
              </a:rPr>
              <a:t>(</a:t>
            </a:r>
            <a:r>
              <a:rPr lang="en-US" sz="2000" b="1" dirty="0">
                <a:latin typeface="Cambria"/>
                <a:cs typeface="Cambria"/>
              </a:rPr>
              <a:t>rows</a:t>
            </a:r>
            <a:r>
              <a:rPr lang="en-US" sz="2000" dirty="0">
                <a:latin typeface="Cambria"/>
                <a:cs typeface="Cambria"/>
              </a:rPr>
              <a:t>,</a:t>
            </a:r>
            <a:r>
              <a:rPr lang="en-US" sz="2000" spc="265" dirty="0">
                <a:latin typeface="Cambria"/>
                <a:cs typeface="Cambria"/>
              </a:rPr>
              <a:t> </a:t>
            </a:r>
            <a:r>
              <a:rPr lang="en-US" sz="2000" b="1" spc="60" dirty="0">
                <a:latin typeface="Cambria"/>
                <a:cs typeface="Cambria"/>
              </a:rPr>
              <a:t>entries</a:t>
            </a:r>
            <a:r>
              <a:rPr lang="en-US" sz="2000" spc="60" dirty="0">
                <a:latin typeface="Cambria"/>
                <a:cs typeface="Cambria"/>
              </a:rPr>
              <a:t>)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0"/>
              </a:spcBef>
            </a:pPr>
            <a:endParaRPr sz="2000" dirty="0">
              <a:latin typeface="Cambria"/>
              <a:cs typeface="Cambria"/>
            </a:endParaRPr>
          </a:p>
          <a:p>
            <a:pPr marL="76200" marR="17780">
              <a:lnSpc>
                <a:spcPts val="2160"/>
              </a:lnSpc>
            </a:pPr>
            <a:r>
              <a:rPr lang="ru-RU" sz="2000" b="1" spc="114" dirty="0">
                <a:latin typeface="Cambria"/>
              </a:rPr>
              <a:t>Столбец (поле, атрибут...) </a:t>
            </a:r>
            <a:r>
              <a:rPr lang="ru-RU" sz="2000" spc="114" dirty="0">
                <a:latin typeface="Cambria"/>
              </a:rPr>
              <a:t>– </a:t>
            </a:r>
            <a:r>
              <a:rPr lang="ru-RU" sz="2000" b="1" spc="114" dirty="0">
                <a:latin typeface="Cambria"/>
              </a:rPr>
              <a:t>набор</a:t>
            </a:r>
            <a:r>
              <a:rPr lang="ru-RU" sz="2000" spc="114" dirty="0">
                <a:latin typeface="Cambria"/>
              </a:rPr>
              <a:t> элементов в определенной позиции (идентифицируемой по названию) во всех строках.</a:t>
            </a:r>
            <a:endParaRPr sz="2000" spc="114" dirty="0">
              <a:latin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9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81906-241D-D336-37C2-E90DFCEE54AF}"/>
              </a:ext>
            </a:extLst>
          </p:cNvPr>
          <p:cNvSpPr txBox="1"/>
          <p:nvPr/>
        </p:nvSpPr>
        <p:spPr>
          <a:xfrm>
            <a:off x="1085088" y="152400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effectLst/>
              </a:rPr>
              <a:t>Основные термины (не столь формальные)</a:t>
            </a:r>
            <a:endParaRPr lang="ru-RU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9431809" cy="533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2101723"/>
            <a:ext cx="4598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CREATE</a:t>
            </a:r>
            <a:r>
              <a:rPr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TABLE</a:t>
            </a:r>
            <a:r>
              <a:rPr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COUNTRY_HANDBOOK(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10</a:t>
            </a:fld>
            <a:endParaRPr spc="-7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533719"/>
              </p:ext>
            </p:extLst>
          </p:nvPr>
        </p:nvGraphicFramePr>
        <p:xfrm>
          <a:off x="1129538" y="2736215"/>
          <a:ext cx="8447405" cy="3085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4265">
                <a:tc gridSpan="2">
                  <a:txBody>
                    <a:bodyPr/>
                    <a:lstStyle/>
                    <a:p>
                      <a:pPr marL="336550">
                        <a:lnSpc>
                          <a:spcPts val="19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COUNTRY</a:t>
                      </a:r>
                      <a:r>
                        <a:rPr sz="2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36550" marR="829310">
                        <a:lnSpc>
                          <a:spcPct val="90000"/>
                        </a:lnSpc>
                        <a:spcBef>
                          <a:spcPts val="12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CAPITAL</a:t>
                      </a:r>
                      <a:r>
                        <a:rPr sz="2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PERIOD_START</a:t>
                      </a:r>
                      <a:r>
                        <a:rPr sz="2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INTEGER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PERIOD_END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INTEGER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ts val="2070"/>
                        </a:lnSpc>
                      </a:pP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05">
                <a:tc gridSpan="2">
                  <a:txBody>
                    <a:bodyPr/>
                    <a:lstStyle/>
                    <a:p>
                      <a:pPr marL="336550">
                        <a:lnSpc>
                          <a:spcPts val="2014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…);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INSERT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INTO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3050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COUNTRY_HANDBOOK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30504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23050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INSERT</a:t>
                      </a:r>
                      <a:r>
                        <a:rPr sz="2000" spc="-4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INTO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365"/>
                        </a:lnSpc>
                        <a:spcBef>
                          <a:spcPts val="1040"/>
                        </a:spcBef>
                      </a:pPr>
                      <a:r>
                        <a:rPr sz="2000" spc="445" dirty="0">
                          <a:latin typeface="Cambria"/>
                          <a:cs typeface="Cambria"/>
                        </a:rPr>
                        <a:t>…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COUNTRY_HANDBOOK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C7647D-72DB-45D6-5B9D-1F3E27F55B2C}"/>
              </a:ext>
            </a:extLst>
          </p:cNvPr>
          <p:cNvSpPr txBox="1"/>
          <p:nvPr/>
        </p:nvSpPr>
        <p:spPr>
          <a:xfrm>
            <a:off x="1148588" y="1544486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effectLst/>
              </a:rPr>
              <a:t>Определение </a:t>
            </a:r>
            <a:r>
              <a:rPr lang="en-US" sz="1100" dirty="0">
                <a:effectLst/>
              </a:rPr>
              <a:t>COUNTRY_HANDBOOK</a:t>
            </a:r>
            <a:endParaRPr lang="ru-RU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CE3ED-AE11-FC99-4A01-FF1894B481E3}"/>
              </a:ext>
            </a:extLst>
          </p:cNvPr>
          <p:cNvSpPr txBox="1"/>
          <p:nvPr/>
        </p:nvSpPr>
        <p:spPr>
          <a:xfrm>
            <a:off x="5905485" y="261087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100" dirty="0">
                <a:solidFill>
                  <a:srgbClr val="7E7E7E"/>
                </a:solidFill>
                <a:latin typeface="Cambria"/>
                <a:ea typeface="+mj-ea"/>
              </a:rPr>
              <a:t>-- ТЕКСТ набирается в </a:t>
            </a:r>
            <a:r>
              <a:rPr lang="en-US" sz="2000" spc="100" dirty="0">
                <a:solidFill>
                  <a:srgbClr val="7E7E7E"/>
                </a:solidFill>
                <a:latin typeface="Cambria"/>
                <a:ea typeface="+mj-ea"/>
              </a:rPr>
              <a:t>SQLite</a:t>
            </a:r>
            <a:endParaRPr lang="ru-RU" sz="2000" spc="100" dirty="0">
              <a:solidFill>
                <a:srgbClr val="7E7E7E"/>
              </a:solidFill>
              <a:latin typeface="Cambria"/>
              <a:ea typeface="+mj-ea"/>
            </a:endParaRPr>
          </a:p>
          <a:p>
            <a:endParaRPr lang="ru-RU" sz="2000" spc="100" dirty="0">
              <a:solidFill>
                <a:srgbClr val="7E7E7E"/>
              </a:solidFill>
              <a:latin typeface="Cambria"/>
              <a:ea typeface="+mj-ea"/>
            </a:endParaRPr>
          </a:p>
          <a:p>
            <a:r>
              <a:rPr lang="ru-RU" sz="2000" spc="100" dirty="0">
                <a:solidFill>
                  <a:srgbClr val="7E7E7E"/>
                </a:solidFill>
                <a:latin typeface="Cambria"/>
                <a:ea typeface="+mj-ea"/>
              </a:rPr>
              <a:t>-- а также ЦЕЛОЕ число</a:t>
            </a:r>
          </a:p>
          <a:p>
            <a:endParaRPr lang="ru-RU" sz="2000" spc="100" dirty="0">
              <a:solidFill>
                <a:srgbClr val="7E7E7E"/>
              </a:solidFill>
              <a:latin typeface="Cambri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102" y="1042669"/>
            <a:ext cx="5422341" cy="451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2043" y="2159330"/>
            <a:ext cx="481055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dirty="0">
                <a:solidFill>
                  <a:srgbClr val="7E7E7E"/>
                </a:solidFill>
                <a:latin typeface="Courier New"/>
                <a:cs typeface="Courier New"/>
              </a:rPr>
              <a:t>таблица классификации товаров</a:t>
            </a:r>
            <a:endParaRPr dirty="0">
              <a:solidFill>
                <a:srgbClr val="7E7E7E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11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752043" y="2556129"/>
            <a:ext cx="4277157" cy="371858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17500" marR="2365375" indent="-305435">
              <a:lnSpc>
                <a:spcPct val="80000"/>
              </a:lnSpc>
              <a:spcBef>
                <a:spcPts val="585"/>
              </a:spcBef>
            </a:pPr>
            <a:r>
              <a:rPr sz="2000" b="1" spc="-10" dirty="0">
                <a:latin typeface="Courier New"/>
                <a:cs typeface="Courier New"/>
              </a:rPr>
              <a:t>CATEGORY:</a:t>
            </a:r>
            <a:r>
              <a:rPr sz="2000" spc="-10" dirty="0">
                <a:solidFill>
                  <a:srgbClr val="7E7E7E"/>
                </a:solidFill>
                <a:latin typeface="Courier New"/>
                <a:ea typeface="+mj-ea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sz="2000" dirty="0">
                <a:latin typeface="Courier New"/>
                <a:cs typeface="Courier New"/>
              </a:rPr>
              <a:t>CLASS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Ex.:</a:t>
            </a:r>
            <a:r>
              <a:rPr sz="2000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7E7E7E"/>
                </a:solidFill>
                <a:latin typeface="Courier New"/>
                <a:cs typeface="Courier New"/>
              </a:rPr>
              <a:t>(‘Charcoal’,</a:t>
            </a:r>
            <a:r>
              <a:rPr sz="2000" spc="-4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‘Fuel’)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1900" dirty="0">
                <a:solidFill>
                  <a:srgbClr val="7E7E7E"/>
                </a:solidFill>
                <a:latin typeface="Courier New"/>
                <a:cs typeface="Courier New"/>
              </a:rPr>
              <a:t>таблица рецептов изготовления</a:t>
            </a:r>
            <a:endParaRPr sz="190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302260" marR="1449070" indent="-290195">
              <a:lnSpc>
                <a:spcPct val="80100"/>
              </a:lnSpc>
              <a:spcBef>
                <a:spcPts val="1200"/>
              </a:spcBef>
            </a:pPr>
            <a:r>
              <a:rPr sz="1900" b="1" spc="-10" dirty="0">
                <a:latin typeface="Courier New"/>
                <a:cs typeface="Courier New"/>
              </a:rPr>
              <a:t>MANUFACTURER: </a:t>
            </a:r>
            <a:r>
              <a:rPr sz="1900" dirty="0">
                <a:latin typeface="Courier New"/>
                <a:cs typeface="Courier New"/>
              </a:rPr>
              <a:t>RECIPE_ID</a:t>
            </a:r>
            <a:r>
              <a:rPr sz="1900" spc="-40" dirty="0"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Courier New"/>
                <a:cs typeface="Courier New"/>
              </a:rPr>
              <a:t>INTEGER </a:t>
            </a:r>
            <a:r>
              <a:rPr sz="1900" dirty="0">
                <a:latin typeface="Courier New"/>
                <a:cs typeface="Courier New"/>
              </a:rPr>
              <a:t>COMPANY</a:t>
            </a:r>
            <a:r>
              <a:rPr sz="1900" spc="-35" dirty="0">
                <a:latin typeface="Courier New"/>
                <a:cs typeface="Courier New"/>
              </a:rPr>
              <a:t> </a:t>
            </a:r>
            <a:r>
              <a:rPr sz="1900" spc="-20" dirty="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1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900" dirty="0">
                <a:solidFill>
                  <a:srgbClr val="7E7E7E"/>
                </a:solidFill>
                <a:latin typeface="Courier New"/>
                <a:cs typeface="Courier New"/>
              </a:rPr>
              <a:t>Ex.:</a:t>
            </a:r>
            <a:r>
              <a:rPr sz="1900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7E7E7E"/>
                </a:solidFill>
                <a:latin typeface="Courier New"/>
                <a:cs typeface="Courier New"/>
              </a:rPr>
              <a:t>(20,</a:t>
            </a:r>
            <a:r>
              <a:rPr sz="1900" spc="-10" dirty="0">
                <a:solidFill>
                  <a:srgbClr val="7E7E7E"/>
                </a:solidFill>
                <a:latin typeface="Courier New"/>
                <a:cs typeface="Courier New"/>
              </a:rPr>
              <a:t> ‘Zogenix’)</a:t>
            </a:r>
            <a:endParaRPr sz="19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6175628" y="2068197"/>
            <a:ext cx="4949572" cy="452431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pc="-10" dirty="0"/>
              <a:t>-</a:t>
            </a:r>
            <a:r>
              <a:rPr lang="ru-RU" spc="-10" dirty="0"/>
              <a:t>-</a:t>
            </a:r>
            <a:r>
              <a:rPr lang="ru-RU" dirty="0">
                <a:effectLst/>
              </a:rPr>
              <a:t>материалы для приготовления рецептов</a:t>
            </a:r>
            <a:endParaRPr spc="-10" dirty="0"/>
          </a:p>
          <a:p>
            <a:pPr marL="12700">
              <a:lnSpc>
                <a:spcPts val="2160"/>
              </a:lnSpc>
              <a:spcBef>
                <a:spcPts val="725"/>
              </a:spcBef>
            </a:pPr>
            <a:r>
              <a:rPr b="1" spc="-10" dirty="0">
                <a:solidFill>
                  <a:srgbClr val="000000"/>
                </a:solidFill>
                <a:latin typeface="Courier New"/>
                <a:cs typeface="Courier New"/>
              </a:rPr>
              <a:t>MATERIAL:</a:t>
            </a:r>
          </a:p>
          <a:p>
            <a:pPr marL="317500" marR="1071880">
              <a:lnSpc>
                <a:spcPct val="80000"/>
              </a:lnSpc>
              <a:spcBef>
                <a:spcPts val="240"/>
              </a:spcBef>
            </a:pPr>
            <a:r>
              <a:rPr dirty="0">
                <a:solidFill>
                  <a:srgbClr val="000000"/>
                </a:solidFill>
              </a:rPr>
              <a:t>RECIPE_ID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INTEGER </a:t>
            </a:r>
            <a:r>
              <a:rPr dirty="0">
                <a:solidFill>
                  <a:srgbClr val="000000"/>
                </a:solidFill>
              </a:rPr>
              <a:t>WARE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TEXT</a:t>
            </a:r>
          </a:p>
          <a:p>
            <a:pPr marL="317500">
              <a:lnSpc>
                <a:spcPts val="1920"/>
              </a:lnSpc>
            </a:pPr>
            <a:r>
              <a:rPr dirty="0">
                <a:solidFill>
                  <a:srgbClr val="000000"/>
                </a:solidFill>
              </a:rPr>
              <a:t>AMOUNT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INTEGER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Ex.:</a:t>
            </a:r>
            <a:r>
              <a:rPr spc="-30" dirty="0"/>
              <a:t> </a:t>
            </a:r>
            <a:r>
              <a:rPr dirty="0"/>
              <a:t>(19,</a:t>
            </a:r>
            <a:r>
              <a:rPr spc="-25" dirty="0"/>
              <a:t> </a:t>
            </a:r>
            <a:r>
              <a:rPr dirty="0"/>
              <a:t>‘Water’,</a:t>
            </a:r>
            <a:r>
              <a:rPr spc="-25" dirty="0"/>
              <a:t> 7)</a:t>
            </a: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pc="-25" dirty="0"/>
          </a:p>
          <a:p>
            <a:pPr marL="12700">
              <a:lnSpc>
                <a:spcPct val="100000"/>
              </a:lnSpc>
            </a:pPr>
            <a:r>
              <a:rPr spc="-10" dirty="0"/>
              <a:t>--</a:t>
            </a:r>
            <a:r>
              <a:rPr lang="ru-RU" dirty="0">
                <a:effectLst/>
              </a:rPr>
              <a:t>выходные данные “рецептов”</a:t>
            </a:r>
          </a:p>
          <a:p>
            <a:pPr marL="12700">
              <a:lnSpc>
                <a:spcPct val="100000"/>
              </a:lnSpc>
            </a:pPr>
            <a:r>
              <a:rPr b="1" spc="-10" dirty="0">
                <a:solidFill>
                  <a:srgbClr val="000000"/>
                </a:solidFill>
                <a:latin typeface="Courier New"/>
                <a:cs typeface="Courier New"/>
              </a:rPr>
              <a:t>PRODUCT:</a:t>
            </a:r>
          </a:p>
          <a:p>
            <a:pPr marL="317500" marR="1071880">
              <a:lnSpc>
                <a:spcPct val="70000"/>
              </a:lnSpc>
              <a:spcBef>
                <a:spcPts val="360"/>
              </a:spcBef>
            </a:pPr>
            <a:r>
              <a:rPr dirty="0">
                <a:solidFill>
                  <a:srgbClr val="000000"/>
                </a:solidFill>
              </a:rPr>
              <a:t>RECIPE_ID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INTEGER </a:t>
            </a:r>
            <a:r>
              <a:rPr dirty="0">
                <a:solidFill>
                  <a:srgbClr val="000000"/>
                </a:solidFill>
              </a:rPr>
              <a:t>WARE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TEXT</a:t>
            </a:r>
          </a:p>
          <a:p>
            <a:pPr marL="317500" marR="1529080">
              <a:lnSpc>
                <a:spcPct val="70000"/>
              </a:lnSpc>
            </a:pPr>
            <a:r>
              <a:rPr dirty="0">
                <a:solidFill>
                  <a:srgbClr val="000000"/>
                </a:solidFill>
              </a:rPr>
              <a:t>AMOUNT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INTEGER </a:t>
            </a:r>
            <a:r>
              <a:rPr dirty="0">
                <a:solidFill>
                  <a:srgbClr val="000000"/>
                </a:solidFill>
              </a:rPr>
              <a:t>PRICE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6FC0"/>
                </a:solidFill>
              </a:rPr>
              <a:t>REAL</a:t>
            </a: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/>
              <a:t>Ex.:</a:t>
            </a:r>
            <a:r>
              <a:rPr spc="-35" dirty="0"/>
              <a:t> </a:t>
            </a:r>
            <a:r>
              <a:rPr dirty="0"/>
              <a:t>(19,</a:t>
            </a:r>
            <a:r>
              <a:rPr spc="-20" dirty="0"/>
              <a:t> </a:t>
            </a:r>
            <a:r>
              <a:rPr dirty="0"/>
              <a:t>‘Paper’,</a:t>
            </a:r>
            <a:r>
              <a:rPr spc="-25" dirty="0"/>
              <a:t> </a:t>
            </a:r>
            <a:r>
              <a:rPr dirty="0"/>
              <a:t>8,</a:t>
            </a:r>
            <a:r>
              <a:rPr spc="-20" dirty="0"/>
              <a:t> 4.6)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E1806-F1D1-00ED-E669-C5F000EA2864}"/>
              </a:ext>
            </a:extLst>
          </p:cNvPr>
          <p:cNvSpPr txBox="1"/>
          <p:nvPr/>
        </p:nvSpPr>
        <p:spPr>
          <a:xfrm>
            <a:off x="1160173" y="1542042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effectLst/>
              </a:rPr>
              <a:t>Структура базы данных товаров</a:t>
            </a:r>
            <a:endParaRPr lang="ru-RU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5044935" cy="4598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2101723"/>
            <a:ext cx="124523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12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3981323" y="2052577"/>
            <a:ext cx="5207000" cy="154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kern="0"/>
            </a:defPPr>
            <a:lvl1pPr marL="12700">
              <a:lnSpc>
                <a:spcPts val="2280"/>
              </a:lnSpc>
              <a:spcBef>
                <a:spcPts val="105"/>
              </a:spcBef>
              <a:defRPr sz="2000" spc="-10">
                <a:solidFill>
                  <a:srgbClr val="7E7E7E"/>
                </a:solidFill>
                <a:latin typeface="Courier New"/>
                <a:cs typeface="Courier New"/>
              </a:defRPr>
            </a:lvl1pPr>
          </a:lstStyle>
          <a:p>
            <a:r>
              <a:rPr dirty="0"/>
              <a:t>--</a:t>
            </a:r>
            <a:r>
              <a:rPr lang="ru-RU" dirty="0"/>
              <a:t> определение проекции, важное</a:t>
            </a:r>
            <a:endParaRPr dirty="0"/>
          </a:p>
          <a:p>
            <a:r>
              <a:rPr dirty="0"/>
              <a:t>--</a:t>
            </a:r>
            <a:r>
              <a:rPr lang="ru-RU" dirty="0"/>
              <a:t>раздел таблиц(-</a:t>
            </a:r>
            <a:r>
              <a:rPr lang="ru-RU" dirty="0" err="1"/>
              <a:t>ов</a:t>
            </a:r>
            <a:r>
              <a:rPr lang="ru-RU" dirty="0"/>
              <a:t>), по существу</a:t>
            </a:r>
            <a:endParaRPr dirty="0"/>
          </a:p>
          <a:p>
            <a:r>
              <a:rPr dirty="0"/>
              <a:t>--</a:t>
            </a:r>
            <a:r>
              <a:rPr lang="ru-RU" dirty="0"/>
              <a:t> раздел выбора/фильтрации</a:t>
            </a:r>
          </a:p>
          <a:p>
            <a:r>
              <a:rPr lang="ru-RU" dirty="0"/>
              <a:t>-- </a:t>
            </a:r>
            <a:r>
              <a:rPr lang="ru-RU" dirty="0">
                <a:effectLst/>
              </a:rPr>
              <a:t>раздел оформления заказов</a:t>
            </a:r>
          </a:p>
          <a:p>
            <a:r>
              <a:rPr lang="ru-RU" dirty="0">
                <a:effectLst/>
              </a:rPr>
              <a:t>-- раздел подкачки</a:t>
            </a:r>
            <a:endParaRPr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605470"/>
              </p:ext>
            </p:extLst>
          </p:nvPr>
        </p:nvGraphicFramePr>
        <p:xfrm>
          <a:off x="1129538" y="2979754"/>
          <a:ext cx="5703570" cy="2208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4265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ORDER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BY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LIMIT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OFFSET</a:t>
                      </a:r>
                      <a:r>
                        <a:rPr sz="2000" spc="-3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07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165">
                        <a:lnSpc>
                          <a:spcPts val="1950"/>
                        </a:lnSpc>
                      </a:pP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685165">
                        <a:lnSpc>
                          <a:spcPts val="2280"/>
                        </a:lnSpc>
                      </a:pP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26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  <a:spcBef>
                          <a:spcPts val="1775"/>
                        </a:spcBef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sz="2000" spc="-25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BY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160"/>
                        </a:lnSpc>
                      </a:pPr>
                      <a:r>
                        <a:rPr sz="200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HAVING</a:t>
                      </a:r>
                      <a:r>
                        <a:rPr sz="2000" spc="-30" dirty="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2542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254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ACB141-9BA6-E64D-D6B0-2F17730A6F71}"/>
              </a:ext>
            </a:extLst>
          </p:cNvPr>
          <p:cNvSpPr txBox="1"/>
          <p:nvPr/>
        </p:nvSpPr>
        <p:spPr>
          <a:xfrm>
            <a:off x="1148588" y="150143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effectLst/>
              </a:rPr>
              <a:t>Оператор ВЫБОРА</a:t>
            </a:r>
            <a:endParaRPr lang="ru-RU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2863291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948957"/>
            <a:ext cx="11043412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b="1" spc="80" dirty="0">
                <a:latin typeface="Cambria"/>
              </a:rPr>
              <a:t>Проекция</a:t>
            </a:r>
            <a:r>
              <a:rPr lang="ru-RU" sz="2000" spc="80" dirty="0">
                <a:latin typeface="Cambria"/>
              </a:rPr>
              <a:t> никогда не влияет на количество результирующих строк, только на структуру строк.</a:t>
            </a:r>
            <a:endParaRPr sz="2000" spc="80" dirty="0">
              <a:latin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13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2854579"/>
            <a:ext cx="3988435" cy="29097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простая проекция,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effectLst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выберите подмножество столбцов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spcBef>
                <a:spcPts val="71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spcBef>
                <a:spcPts val="72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Water</a:t>
            </a:r>
            <a:endParaRPr sz="2000" dirty="0">
              <a:latin typeface="Courier New"/>
              <a:cs typeface="Courier New"/>
            </a:endParaRPr>
          </a:p>
          <a:p>
            <a:pPr marL="469900" marR="2748280">
              <a:lnSpc>
                <a:spcPct val="80000"/>
              </a:lnSpc>
              <a:spcBef>
                <a:spcPts val="240"/>
              </a:spcBef>
            </a:pPr>
            <a:r>
              <a:rPr sz="2000" spc="-20" dirty="0">
                <a:latin typeface="Courier New"/>
                <a:cs typeface="Courier New"/>
              </a:rPr>
              <a:t>Coal </a:t>
            </a:r>
            <a:r>
              <a:rPr sz="2000" spc="-10" dirty="0">
                <a:latin typeface="Courier New"/>
                <a:cs typeface="Courier New"/>
              </a:rPr>
              <a:t>Paper Water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ts val="192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4300" y="2877438"/>
            <a:ext cx="3835400" cy="17895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 более сложная проекция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с производным столбцом</a:t>
            </a:r>
          </a:p>
          <a:p>
            <a:pPr marL="12700">
              <a:lnSpc>
                <a:spcPts val="2280"/>
              </a:lnSpc>
            </a:pPr>
            <a:endParaRPr lang="ru-RU"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RECIPE_ID,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WARE,</a:t>
            </a:r>
            <a:endParaRPr sz="2000" dirty="0">
              <a:latin typeface="Courier New"/>
              <a:cs typeface="Courier New"/>
            </a:endParaRPr>
          </a:p>
          <a:p>
            <a:pPr marL="12700" marR="919480" indent="1066800">
              <a:lnSpc>
                <a:spcPts val="2160"/>
              </a:lnSpc>
              <a:spcBef>
                <a:spcPts val="150"/>
              </a:spcBef>
            </a:pPr>
            <a:r>
              <a:rPr sz="2000" spc="-10" dirty="0">
                <a:latin typeface="Courier New"/>
                <a:cs typeface="Courier New"/>
              </a:rPr>
              <a:t>AMOUNT*PRICE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4300" y="4828413"/>
            <a:ext cx="2921000" cy="115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3,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Wood,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10.8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4,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Meat,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151.5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4,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Leather,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87.0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28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66520-68EA-9C00-12DE-2B99A0DCF143}"/>
              </a:ext>
            </a:extLst>
          </p:cNvPr>
          <p:cNvSpPr txBox="1"/>
          <p:nvPr/>
        </p:nvSpPr>
        <p:spPr>
          <a:xfrm>
            <a:off x="1148588" y="144899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/>
              <a:t>Проекция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2669146" cy="468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1991080"/>
            <a:ext cx="10075545" cy="825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ru-RU" b="1" dirty="0">
                <a:effectLst/>
              </a:rPr>
              <a:t>Выбор </a:t>
            </a:r>
            <a:r>
              <a:rPr lang="ru-RU" dirty="0">
                <a:effectLst/>
              </a:rPr>
              <a:t>влияет на количество строк результата и никогда не влияет на структуру результата. Он определяется как предикат для столбцов.</a:t>
            </a:r>
            <a:endParaRPr spc="15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14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3286549"/>
            <a:ext cx="3880612" cy="879087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простой выбор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689100" algn="l"/>
              </a:tabLst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*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нет проекции</a:t>
            </a: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588" y="4108830"/>
            <a:ext cx="2007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588" y="4261840"/>
            <a:ext cx="3074035" cy="11537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‘W%’</a:t>
            </a:r>
            <a:endParaRPr sz="2000">
              <a:latin typeface="Courier New"/>
              <a:cs typeface="Courier New"/>
            </a:endParaRPr>
          </a:p>
          <a:p>
            <a:pPr marR="462280" algn="r">
              <a:lnSpc>
                <a:spcPts val="2280"/>
              </a:lnSpc>
              <a:spcBef>
                <a:spcPts val="96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Wood,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</a:t>
            </a:r>
            <a:endParaRPr sz="2000">
              <a:latin typeface="Courier New"/>
              <a:cs typeface="Courier New"/>
            </a:endParaRPr>
          </a:p>
          <a:p>
            <a:pPr marR="462915" algn="r">
              <a:lnSpc>
                <a:spcPts val="2280"/>
              </a:lnSpc>
            </a:pPr>
            <a:r>
              <a:rPr sz="2000" dirty="0">
                <a:latin typeface="Courier New"/>
                <a:cs typeface="Courier New"/>
              </a:rPr>
              <a:t>Water,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Mineral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2419" y="3407409"/>
            <a:ext cx="4293235" cy="20428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-Выбор</a:t>
            </a:r>
            <a:r>
              <a:rPr lang="ru-RU" sz="2000" spc="-30" dirty="0">
                <a:solidFill>
                  <a:srgbClr val="7E7E7E"/>
                </a:solidFill>
                <a:latin typeface="Courier New"/>
                <a:cs typeface="Courier New"/>
              </a:rPr>
              <a:t> с помощью проекции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effectLst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фильтр и проекция</a:t>
            </a: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CAPITAL</a:t>
            </a:r>
            <a:endParaRPr sz="2000" dirty="0">
              <a:latin typeface="Courier New"/>
              <a:cs typeface="Courier New"/>
            </a:endParaRPr>
          </a:p>
          <a:p>
            <a:pPr marL="12700" marR="91948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COUNTRY_HANDBOOK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COUNTRY=‘Russia’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ts val="2025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2021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BETWEEN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latin typeface="Courier New"/>
                <a:cs typeface="Courier New"/>
              </a:rPr>
              <a:t>PERIOD_START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PERIOD_END;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E7753-80BB-1D72-7939-10FF12A4C59E}"/>
              </a:ext>
            </a:extLst>
          </p:cNvPr>
          <p:cNvSpPr txBox="1"/>
          <p:nvPr/>
        </p:nvSpPr>
        <p:spPr>
          <a:xfrm>
            <a:off x="1148588" y="152529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Выбор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316" y="1028700"/>
            <a:ext cx="5158066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2490" y="1950466"/>
            <a:ext cx="1104950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spc="130" dirty="0">
                <a:latin typeface="Cambria"/>
              </a:rPr>
              <a:t>Обычная проекция не гарантирует уникальности всех результирующих строк.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15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2472689"/>
            <a:ext cx="3225800" cy="15811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46164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CLASS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</a:t>
            </a:r>
            <a:endParaRPr sz="2000">
              <a:latin typeface="Courier New"/>
              <a:cs typeface="Courier New"/>
            </a:endParaRPr>
          </a:p>
          <a:p>
            <a:pPr marL="469900" marR="5080" indent="-457834">
              <a:lnSpc>
                <a:spcPts val="2160"/>
              </a:lnSpc>
              <a:spcBef>
                <a:spcPts val="123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Charcoal,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 </a:t>
            </a:r>
            <a:r>
              <a:rPr sz="2000" dirty="0">
                <a:latin typeface="Courier New"/>
                <a:cs typeface="Courier New"/>
              </a:rPr>
              <a:t>Charcoal,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588" y="4576317"/>
            <a:ext cx="3074035" cy="15811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07251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4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</a:t>
            </a:r>
            <a:endParaRPr sz="2000">
              <a:latin typeface="Courier New"/>
              <a:cs typeface="Courier New"/>
            </a:endParaRPr>
          </a:p>
          <a:p>
            <a:pPr marR="1376680" algn="r">
              <a:lnSpc>
                <a:spcPts val="2280"/>
              </a:lnSpc>
              <a:spcBef>
                <a:spcPts val="96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Charcoal</a:t>
            </a:r>
            <a:endParaRPr sz="2000">
              <a:latin typeface="Courier New"/>
              <a:cs typeface="Courier New"/>
            </a:endParaRPr>
          </a:p>
          <a:p>
            <a:pPr marR="1377315" algn="r">
              <a:lnSpc>
                <a:spcPts val="2280"/>
              </a:lnSpc>
            </a:pPr>
            <a:r>
              <a:rPr sz="2000" spc="-10" dirty="0">
                <a:latin typeface="Courier New"/>
                <a:cs typeface="Courier New"/>
              </a:rPr>
              <a:t>Charcoal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2419" y="2472689"/>
            <a:ext cx="4140835" cy="15811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WARE,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CLASS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</a:t>
            </a:r>
            <a:endParaRPr sz="2000">
              <a:latin typeface="Courier New"/>
              <a:cs typeface="Courier New"/>
            </a:endParaRPr>
          </a:p>
          <a:p>
            <a:pPr marL="469900" marR="919480" indent="-457200">
              <a:lnSpc>
                <a:spcPts val="2160"/>
              </a:lnSpc>
              <a:spcBef>
                <a:spcPts val="123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Charcoal,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 </a:t>
            </a:r>
            <a:r>
              <a:rPr sz="2000" dirty="0">
                <a:latin typeface="Courier New"/>
                <a:cs typeface="Courier New"/>
              </a:rPr>
              <a:t>Charcoal,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2419" y="4576317"/>
            <a:ext cx="3074035" cy="13068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Charcoal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E9ABC-D386-3C38-885B-6043020A5741}"/>
              </a:ext>
            </a:extLst>
          </p:cNvPr>
          <p:cNvSpPr txBox="1"/>
          <p:nvPr/>
        </p:nvSpPr>
        <p:spPr>
          <a:xfrm>
            <a:off x="1142491" y="150455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/>
              <a:t>Уникальная проекция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4791608" cy="575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5539" y="2331382"/>
            <a:ext cx="8830945" cy="391838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spc="105" dirty="0">
                <a:latin typeface="Cambria"/>
                <a:cs typeface="Cambria"/>
              </a:rPr>
              <a:t>Арифметика</a:t>
            </a:r>
            <a:r>
              <a:rPr sz="2000" spc="105" dirty="0">
                <a:latin typeface="Cambria"/>
                <a:cs typeface="Cambria"/>
              </a:rPr>
              <a:t>: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+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-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*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220" dirty="0">
                <a:latin typeface="Cambria"/>
                <a:cs typeface="Cambria"/>
              </a:rPr>
              <a:t>/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%</a:t>
            </a:r>
            <a:endParaRPr sz="2000" dirty="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lang="ru-RU" sz="2000" spc="125" dirty="0">
                <a:latin typeface="Cambria"/>
                <a:cs typeface="Cambria"/>
              </a:rPr>
              <a:t>Объединение строк</a:t>
            </a:r>
            <a:r>
              <a:rPr sz="2000" spc="125" dirty="0">
                <a:latin typeface="Cambria"/>
                <a:cs typeface="Cambria"/>
              </a:rPr>
              <a:t>: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‘a’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555" dirty="0">
                <a:latin typeface="Cambria"/>
                <a:cs typeface="Cambria"/>
              </a:rPr>
              <a:t>||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‘b’</a:t>
            </a:r>
            <a:endParaRPr sz="2000" dirty="0">
              <a:latin typeface="Cambria"/>
              <a:cs typeface="Cambria"/>
            </a:endParaRPr>
          </a:p>
          <a:p>
            <a:pPr marL="194310" marR="1132840" indent="-182245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lang="ru-RU" sz="2000" spc="125" dirty="0">
                <a:latin typeface="Cambria"/>
              </a:rPr>
              <a:t>Предикаты упорядочения и равенства </a:t>
            </a:r>
            <a:r>
              <a:rPr sz="2000" spc="105" dirty="0">
                <a:latin typeface="Cambria"/>
                <a:cs typeface="Cambria"/>
              </a:rPr>
              <a:t>: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&gt;,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&gt;=,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&lt;,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&lt;=,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&lt;&gt;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(!=),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=</a:t>
            </a:r>
            <a:r>
              <a:rPr sz="2000" spc="2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(==), 	</a:t>
            </a:r>
            <a:r>
              <a:rPr sz="2000" spc="150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BETWEEN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y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006FC0"/>
                </a:solidFill>
                <a:latin typeface="Cambria"/>
                <a:cs typeface="Cambria"/>
              </a:rPr>
              <a:t>AND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z,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65" dirty="0">
                <a:solidFill>
                  <a:srgbClr val="006FC0"/>
                </a:solidFill>
                <a:latin typeface="Cambria"/>
                <a:cs typeface="Cambria"/>
              </a:rPr>
              <a:t>NULL</a:t>
            </a:r>
            <a:r>
              <a:rPr sz="2000" spc="165" dirty="0">
                <a:latin typeface="Cambria"/>
                <a:cs typeface="Cambria"/>
              </a:rPr>
              <a:t>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x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006FC0"/>
                </a:solidFill>
                <a:latin typeface="Cambria"/>
                <a:cs typeface="Cambria"/>
              </a:rPr>
              <a:t>NOT</a:t>
            </a:r>
            <a:r>
              <a:rPr sz="2000" spc="1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006FC0"/>
                </a:solidFill>
                <a:latin typeface="Cambria"/>
                <a:cs typeface="Cambria"/>
              </a:rPr>
              <a:t>NULL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2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spc="125" dirty="0">
                <a:latin typeface="Cambria"/>
              </a:rPr>
              <a:t>Задавать предикаты </a:t>
            </a:r>
            <a:r>
              <a:rPr sz="2000" spc="100" dirty="0">
                <a:latin typeface="Cambria"/>
                <a:cs typeface="Cambria"/>
              </a:rPr>
              <a:t>: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x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sz="2000" spc="1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(y1,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y2,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y3,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…)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spc="125" dirty="0">
                <a:latin typeface="Cambria"/>
              </a:rPr>
              <a:t>Строковые предикаты </a:t>
            </a:r>
            <a:r>
              <a:rPr sz="2000" spc="105" dirty="0">
                <a:latin typeface="Cambria"/>
                <a:cs typeface="Cambria"/>
              </a:rPr>
              <a:t>: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x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006FC0"/>
                </a:solidFill>
                <a:latin typeface="Cambria"/>
                <a:cs typeface="Cambria"/>
              </a:rPr>
              <a:t>LIKE</a:t>
            </a:r>
            <a:r>
              <a:rPr sz="2000" spc="17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y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lang="ru-RU" sz="2000" spc="125" dirty="0">
                <a:latin typeface="Cambria"/>
              </a:rPr>
              <a:t>(в </a:t>
            </a:r>
            <a:r>
              <a:rPr lang="ru-RU" sz="2000" spc="125" dirty="0" err="1">
                <a:latin typeface="Cambria"/>
              </a:rPr>
              <a:t>SQLite</a:t>
            </a:r>
            <a:r>
              <a:rPr lang="ru-RU" sz="2000" spc="125" dirty="0">
                <a:latin typeface="Cambria"/>
              </a:rPr>
              <a:t> регистр не учитывается, % как подстановочный знак)</a:t>
            </a:r>
            <a:endParaRPr sz="2000" spc="125" dirty="0">
              <a:latin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spc="95" dirty="0">
                <a:latin typeface="Cambria"/>
                <a:cs typeface="Cambria"/>
              </a:rPr>
              <a:t>Логические операторы</a:t>
            </a:r>
            <a:r>
              <a:rPr sz="2000" spc="95" dirty="0">
                <a:latin typeface="Cambria"/>
                <a:cs typeface="Cambria"/>
              </a:rPr>
              <a:t>: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235" dirty="0">
                <a:solidFill>
                  <a:srgbClr val="006FC0"/>
                </a:solidFill>
                <a:latin typeface="Cambria"/>
                <a:cs typeface="Cambria"/>
              </a:rPr>
              <a:t>OR</a:t>
            </a:r>
            <a:r>
              <a:rPr sz="2000" spc="235" dirty="0">
                <a:latin typeface="Cambria"/>
                <a:cs typeface="Cambria"/>
              </a:rPr>
              <a:t>,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006FC0"/>
                </a:solidFill>
                <a:latin typeface="Cambria"/>
                <a:cs typeface="Cambria"/>
              </a:rPr>
              <a:t>AND</a:t>
            </a:r>
            <a:r>
              <a:rPr sz="2000" spc="175" dirty="0">
                <a:latin typeface="Cambria"/>
                <a:cs typeface="Cambria"/>
              </a:rPr>
              <a:t>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006FC0"/>
                </a:solidFill>
                <a:latin typeface="Cambria"/>
                <a:cs typeface="Cambria"/>
              </a:rPr>
              <a:t>NOT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lang="ru-RU" sz="2000" spc="140" dirty="0">
                <a:latin typeface="Cambria"/>
                <a:cs typeface="Cambria"/>
              </a:rPr>
              <a:t>Другое</a:t>
            </a:r>
            <a:r>
              <a:rPr sz="2000" spc="135" dirty="0">
                <a:latin typeface="Cambria"/>
                <a:cs typeface="Cambria"/>
              </a:rPr>
              <a:t>: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254" dirty="0">
                <a:solidFill>
                  <a:srgbClr val="006FC0"/>
                </a:solidFill>
                <a:latin typeface="Cambria"/>
                <a:cs typeface="Cambria"/>
              </a:rPr>
              <a:t>GLOB</a:t>
            </a:r>
            <a:r>
              <a:rPr sz="2000" spc="254" dirty="0">
                <a:latin typeface="Cambria"/>
                <a:cs typeface="Cambria"/>
              </a:rPr>
              <a:t>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250" dirty="0">
                <a:solidFill>
                  <a:srgbClr val="006FC0"/>
                </a:solidFill>
                <a:latin typeface="Cambria"/>
                <a:cs typeface="Cambria"/>
              </a:rPr>
              <a:t>REGEXP</a:t>
            </a:r>
            <a:r>
              <a:rPr sz="2000" spc="250" dirty="0">
                <a:latin typeface="Cambria"/>
                <a:cs typeface="Cambria"/>
              </a:rPr>
              <a:t>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245" dirty="0">
                <a:solidFill>
                  <a:srgbClr val="006FC0"/>
                </a:solidFill>
                <a:latin typeface="Cambria"/>
                <a:cs typeface="Cambria"/>
              </a:rPr>
              <a:t>CASE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16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41E9-C45C-B52B-CCEE-6A07989F2218}"/>
              </a:ext>
            </a:extLst>
          </p:cNvPr>
          <p:cNvSpPr txBox="1"/>
          <p:nvPr/>
        </p:nvSpPr>
        <p:spPr>
          <a:xfrm>
            <a:off x="1066800" y="1524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Основные операции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2539784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802695"/>
            <a:ext cx="1097330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spc="160" dirty="0">
                <a:latin typeface="Cambria"/>
              </a:rPr>
              <a:t>По умолчанию порядок строк результатов произвольный. Но он может быть явно отсортирован</a:t>
            </a:r>
            <a:r>
              <a:rPr lang="ru-RU" sz="2000" dirty="0">
                <a:effectLst/>
              </a:rPr>
              <a:t>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17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255648" y="2649749"/>
            <a:ext cx="4947412" cy="22031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упорядочивать по одному столбцу</a:t>
            </a:r>
          </a:p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 в обратном алфавитном порядке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указатель</a:t>
            </a:r>
            <a:endParaRPr sz="2000" dirty="0">
              <a:latin typeface="Courier New"/>
              <a:cs typeface="Courier New"/>
            </a:endParaRPr>
          </a:p>
          <a:p>
            <a:pPr marL="12700" marR="767080">
              <a:lnSpc>
                <a:spcPts val="2160"/>
              </a:lnSpc>
              <a:spcBef>
                <a:spcPts val="123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DESC</a:t>
            </a:r>
            <a:r>
              <a:rPr sz="2000" spc="-20" dirty="0">
                <a:latin typeface="Courier New"/>
                <a:cs typeface="Courier New"/>
              </a:rPr>
              <a:t>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588" y="5252085"/>
            <a:ext cx="1245235" cy="115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Wood</a:t>
            </a:r>
            <a:endParaRPr sz="2000" dirty="0">
              <a:latin typeface="Courier New"/>
              <a:cs typeface="Courier New"/>
            </a:endParaRPr>
          </a:p>
          <a:p>
            <a:pPr marL="469900" marR="5080">
              <a:lnSpc>
                <a:spcPts val="2160"/>
              </a:lnSpc>
              <a:spcBef>
                <a:spcPts val="155"/>
              </a:spcBef>
            </a:pPr>
            <a:r>
              <a:rPr sz="2000" spc="-10" dirty="0">
                <a:latin typeface="Courier New"/>
                <a:cs typeface="Courier New"/>
              </a:rPr>
              <a:t>Water Paper</a:t>
            </a:r>
            <a:endParaRPr sz="2000" dirty="0">
              <a:latin typeface="Courier New"/>
              <a:cs typeface="Courier New"/>
            </a:endParaRPr>
          </a:p>
          <a:p>
            <a:pPr marL="469900">
              <a:lnSpc>
                <a:spcPts val="213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42606" y="2472689"/>
            <a:ext cx="5320793" cy="60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 упорядочивать по двум столбцам в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 в алфавитном порядке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2607" y="3448303"/>
            <a:ext cx="444627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682114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CLASS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CLASS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ASC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ASC</a:t>
            </a:r>
            <a:r>
              <a:rPr sz="2000" spc="-20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2607" y="4850638"/>
            <a:ext cx="3530600" cy="14331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5080" indent="-45720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water,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Food </a:t>
            </a:r>
            <a:r>
              <a:rPr sz="2000" dirty="0">
                <a:latin typeface="Courier New"/>
                <a:cs typeface="Courier New"/>
              </a:rPr>
              <a:t>Grain,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Food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010"/>
              </a:lnSpc>
            </a:pPr>
            <a:r>
              <a:rPr sz="2000" dirty="0">
                <a:latin typeface="Courier New"/>
                <a:cs typeface="Courier New"/>
              </a:rPr>
              <a:t>Meat,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Food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180"/>
              </a:lnSpc>
            </a:pPr>
            <a:r>
              <a:rPr sz="2000" dirty="0">
                <a:latin typeface="Courier New"/>
                <a:cs typeface="Courier New"/>
              </a:rPr>
              <a:t>Charcoal,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Fuel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300"/>
              </a:lnSpc>
            </a:pP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0B6D9-3B9E-29F2-0F02-2180049421EC}"/>
              </a:ext>
            </a:extLst>
          </p:cNvPr>
          <p:cNvSpPr txBox="1"/>
          <p:nvPr/>
        </p:nvSpPr>
        <p:spPr>
          <a:xfrm>
            <a:off x="1189570" y="1485688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упорядочение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28700"/>
            <a:ext cx="1969719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3096429"/>
            <a:ext cx="4642612" cy="2078133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Получите первую страницу</a:t>
            </a:r>
            <a:r>
              <a:rPr lang="en-US" sz="2000" spc="-1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формата 3</a:t>
            </a:r>
            <a:endParaRPr lang="en-US"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endParaRPr sz="2000" dirty="0">
              <a:latin typeface="Courier New"/>
              <a:cs typeface="Courier New"/>
            </a:endParaRPr>
          </a:p>
          <a:p>
            <a:pPr marL="12700" marR="19862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ASC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3;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18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5168646"/>
            <a:ext cx="2616835" cy="8845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69900" marR="5080" indent="-457834">
              <a:lnSpc>
                <a:spcPct val="90700"/>
              </a:lnSpc>
              <a:spcBef>
                <a:spcPts val="32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Charcoal </a:t>
            </a: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 Grain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3120" y="3091222"/>
            <a:ext cx="3074035" cy="300864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effectLst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Возьми второй</a:t>
            </a:r>
            <a:endParaRPr sz="2000" spc="-10" dirty="0">
              <a:solidFill>
                <a:srgbClr val="7E7E7E"/>
              </a:solidFill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</a:t>
            </a:r>
            <a:endParaRPr sz="2000" dirty="0">
              <a:latin typeface="Courier New"/>
              <a:cs typeface="Courier New"/>
            </a:endParaRPr>
          </a:p>
          <a:p>
            <a:pPr marL="12700" marR="4622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ASC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3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OFFSET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3;</a:t>
            </a:r>
            <a:endParaRPr sz="2000" dirty="0">
              <a:latin typeface="Courier New"/>
              <a:cs typeface="Courier New"/>
            </a:endParaRPr>
          </a:p>
          <a:p>
            <a:pPr marL="469900" marR="1376680" indent="-457200">
              <a:lnSpc>
                <a:spcPct val="90700"/>
              </a:lnSpc>
              <a:spcBef>
                <a:spcPts val="1190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Leather </a:t>
            </a:r>
            <a:r>
              <a:rPr sz="2000" spc="-20" dirty="0">
                <a:latin typeface="Courier New"/>
                <a:cs typeface="Courier New"/>
              </a:rPr>
              <a:t>Meat </a:t>
            </a:r>
            <a:r>
              <a:rPr sz="2000" dirty="0">
                <a:latin typeface="Courier New"/>
                <a:cs typeface="Courier New"/>
              </a:rPr>
              <a:t>Meat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cow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4424" y="1629535"/>
            <a:ext cx="11201909" cy="152285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168275">
              <a:lnSpc>
                <a:spcPts val="2160"/>
              </a:lnSpc>
              <a:spcBef>
                <a:spcPts val="375"/>
              </a:spcBef>
            </a:pPr>
            <a:r>
              <a:rPr lang="ru-RU" sz="2000" spc="135" dirty="0">
                <a:latin typeface="Cambria"/>
              </a:rPr>
              <a:t>Иногда требуется только часть результата, как правило, для его визуализации постранично.</a:t>
            </a:r>
            <a:endParaRPr lang="en-US" sz="2000" spc="135" dirty="0">
              <a:latin typeface="Cambria"/>
            </a:endParaRPr>
          </a:p>
          <a:p>
            <a:pPr marL="12700" marR="168275">
              <a:lnSpc>
                <a:spcPts val="2160"/>
              </a:lnSpc>
              <a:spcBef>
                <a:spcPts val="375"/>
              </a:spcBef>
            </a:pPr>
            <a:r>
              <a:rPr lang="ru-RU" sz="2000" spc="135" dirty="0">
                <a:latin typeface="Cambria"/>
              </a:rPr>
              <a:t> В этом случае упорядочение по всем выходным столбцам</a:t>
            </a:r>
            <a:r>
              <a:rPr lang="en-US" sz="2000" spc="135" dirty="0">
                <a:latin typeface="Cambria"/>
              </a:rPr>
              <a:t> </a:t>
            </a:r>
            <a:r>
              <a:rPr lang="ru-RU" sz="2000" spc="60" dirty="0">
                <a:solidFill>
                  <a:srgbClr val="7E7E7E"/>
                </a:solidFill>
                <a:latin typeface="Cambria"/>
              </a:rPr>
              <a:t>(или, по крайней мере, столбец, который формирует уникальную проекцию) </a:t>
            </a:r>
            <a:r>
              <a:rPr lang="ru-RU" sz="2000" spc="135" dirty="0">
                <a:latin typeface="Cambria"/>
              </a:rPr>
              <a:t>рекомендуется</a:t>
            </a:r>
            <a:r>
              <a:rPr lang="en-US" sz="2000" spc="135" dirty="0">
                <a:latin typeface="Cambria"/>
              </a:rPr>
              <a:t> </a:t>
            </a:r>
            <a:r>
              <a:rPr lang="ru-RU" sz="2000" spc="60" dirty="0">
                <a:solidFill>
                  <a:srgbClr val="7E7E7E"/>
                </a:solidFill>
                <a:latin typeface="Cambria"/>
              </a:rPr>
              <a:t>(однако это не обязательно)</a:t>
            </a:r>
            <a:endParaRPr lang="en-US" sz="2000" spc="60" dirty="0">
              <a:solidFill>
                <a:srgbClr val="7E7E7E"/>
              </a:solidFill>
              <a:latin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A6339-B51F-8B6B-17F2-DC9693427847}"/>
              </a:ext>
            </a:extLst>
          </p:cNvPr>
          <p:cNvSpPr txBox="1"/>
          <p:nvPr/>
        </p:nvSpPr>
        <p:spPr>
          <a:xfrm>
            <a:off x="2457005" y="832062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effectLst/>
              </a:rPr>
              <a:t>Поиск по страницам</a:t>
            </a:r>
            <a:endParaRPr lang="ru-RU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7924660" cy="575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8588" y="1991080"/>
            <a:ext cx="8769985" cy="1956946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ru-RU" sz="2000" spc="110" dirty="0">
                <a:latin typeface="Cambria"/>
              </a:rPr>
              <a:t>Каждый запрос выдает последовательность записей.</a:t>
            </a:r>
            <a:endParaRPr lang="en-US" sz="2000" spc="110" dirty="0">
              <a:latin typeface="Cambri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ru-RU" sz="2000" spc="110" dirty="0">
                <a:latin typeface="Cambria"/>
              </a:rPr>
              <a:t>Это также можно рассматривать как последовательность кортежей или мультимножество кортежей, поэтому применимы операции </a:t>
            </a:r>
            <a:r>
              <a:rPr lang="ru-RU" sz="2000" spc="110" dirty="0" err="1">
                <a:latin typeface="Cambria"/>
              </a:rPr>
              <a:t>set</a:t>
            </a:r>
            <a:r>
              <a:rPr lang="ru-RU" sz="2000" spc="110" dirty="0">
                <a:latin typeface="Cambria"/>
              </a:rPr>
              <a:t>/</a:t>
            </a:r>
            <a:r>
              <a:rPr lang="ru-RU" sz="2000" spc="110" dirty="0" err="1">
                <a:latin typeface="Cambria"/>
              </a:rPr>
              <a:t>multiset</a:t>
            </a:r>
            <a:r>
              <a:rPr lang="ru-RU" sz="2000" spc="110" dirty="0">
                <a:latin typeface="Cambria"/>
              </a:rPr>
              <a:t>.</a:t>
            </a:r>
            <a:endParaRPr lang="en-US" sz="2000" spc="110" dirty="0">
              <a:latin typeface="Cambri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lang="ru-RU" sz="2000" spc="110" dirty="0">
                <a:latin typeface="Cambria"/>
              </a:rPr>
              <a:t>Общий шаблон для запроса с заданной операцией:</a:t>
            </a:r>
            <a:endParaRPr lang="en-US" sz="2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19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8588" y="4083177"/>
            <a:ext cx="353187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…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…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latin typeface="Courier New"/>
                <a:cs typeface="Courier New"/>
              </a:rPr>
              <a:t>&lt;SET_OPERATION&gt;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…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…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1622" y="4083177"/>
            <a:ext cx="635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q1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1622" y="4632197"/>
            <a:ext cx="635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sz="2000" spc="-25" dirty="0">
                <a:solidFill>
                  <a:srgbClr val="7E7E7E"/>
                </a:solidFill>
                <a:latin typeface="Courier New"/>
                <a:cs typeface="Courier New"/>
              </a:rPr>
              <a:t>q2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8587" y="5515735"/>
            <a:ext cx="1037081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2000" spc="100" dirty="0">
                <a:latin typeface="Cambria"/>
              </a:rPr>
              <a:t>Оба запроса должны выдавать </a:t>
            </a:r>
            <a:r>
              <a:rPr lang="ru-RU" sz="2000" u="sng" spc="100" dirty="0">
                <a:latin typeface="Cambria"/>
              </a:rPr>
              <a:t>кортежи</a:t>
            </a:r>
            <a:r>
              <a:rPr lang="ru-RU" sz="2000" spc="100" dirty="0">
                <a:latin typeface="Cambria"/>
              </a:rPr>
              <a:t> одного и того же типа.</a:t>
            </a:r>
            <a:endParaRPr lang="en-US" sz="2000" dirty="0">
              <a:latin typeface="Cambria"/>
              <a:cs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1CCD9-0026-F73F-146E-272C1B1D38EC}"/>
              </a:ext>
            </a:extLst>
          </p:cNvPr>
          <p:cNvSpPr txBox="1"/>
          <p:nvPr/>
        </p:nvSpPr>
        <p:spPr>
          <a:xfrm>
            <a:off x="1066800" y="152881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Операции с набором и несколькими наборами данных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6021565" cy="5756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5539" y="2452243"/>
            <a:ext cx="9571355" cy="30142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5" dirty="0">
                <a:latin typeface="Cambria"/>
                <a:cs typeface="Cambria"/>
              </a:rPr>
              <a:t>q1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INTERSECT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q2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lang="ru-RU" sz="2000" spc="150" dirty="0">
                <a:latin typeface="Cambria"/>
              </a:rPr>
              <a:t>пересечение результатов двух запросов (в виде наборов)</a:t>
            </a:r>
            <a:endParaRPr lang="en-US" sz="2000" spc="150" dirty="0">
              <a:latin typeface="Cambr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buClr>
                <a:srgbClr val="957D95"/>
              </a:buClr>
              <a:buSzPct val="85000"/>
              <a:tabLst>
                <a:tab pos="194945" algn="l"/>
              </a:tabLst>
            </a:pP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5" dirty="0">
                <a:latin typeface="Cambria"/>
                <a:cs typeface="Cambria"/>
              </a:rPr>
              <a:t>q1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006FC0"/>
                </a:solidFill>
                <a:latin typeface="Cambria"/>
                <a:cs typeface="Cambria"/>
              </a:rPr>
              <a:t>UNION</a:t>
            </a:r>
            <a:r>
              <a:rPr sz="2000" spc="1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q2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lang="ru-RU" sz="2000" spc="190" dirty="0">
                <a:latin typeface="Cambria"/>
                <a:cs typeface="Cambria"/>
              </a:rPr>
              <a:t> </a:t>
            </a:r>
            <a:r>
              <a:rPr lang="ru-RU" sz="2000" spc="130" dirty="0">
                <a:latin typeface="Cambria"/>
                <a:cs typeface="Cambria"/>
              </a:rPr>
              <a:t>объединение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57D95"/>
              </a:buClr>
              <a:buFont typeface="Wingdings"/>
              <a:buChar char=""/>
            </a:pP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5" dirty="0">
                <a:latin typeface="Cambria"/>
                <a:cs typeface="Cambria"/>
              </a:rPr>
              <a:t>q1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160" dirty="0">
                <a:solidFill>
                  <a:srgbClr val="006FC0"/>
                </a:solidFill>
                <a:latin typeface="Cambria"/>
                <a:cs typeface="Cambria"/>
              </a:rPr>
              <a:t>UNION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006FC0"/>
                </a:solidFill>
                <a:latin typeface="Cambria"/>
                <a:cs typeface="Cambria"/>
              </a:rPr>
              <a:t>ALL</a:t>
            </a:r>
            <a:r>
              <a:rPr sz="2000" spc="229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q2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lang="ru-RU" sz="2000" spc="150" dirty="0">
                <a:latin typeface="Cambria"/>
                <a:cs typeface="Cambria"/>
              </a:rPr>
              <a:t>объединение двух </a:t>
            </a:r>
            <a:r>
              <a:rPr lang="ru-RU" sz="2000" u="sng" spc="150" dirty="0">
                <a:latin typeface="Cambria"/>
                <a:cs typeface="Cambria"/>
              </a:rPr>
              <a:t>мультинаборов</a:t>
            </a:r>
            <a:r>
              <a:rPr lang="ru-RU" sz="2000" spc="150" dirty="0">
                <a:latin typeface="Cambria"/>
                <a:cs typeface="Cambria"/>
              </a:rPr>
              <a:t> (все остальные операции учитывают активы q1и q2 и также создают набор)</a:t>
            </a:r>
          </a:p>
          <a:p>
            <a:pPr marL="12700">
              <a:lnSpc>
                <a:spcPts val="2280"/>
              </a:lnSpc>
              <a:buClr>
                <a:srgbClr val="957D95"/>
              </a:buClr>
              <a:buSzPct val="85000"/>
              <a:tabLst>
                <a:tab pos="194945" algn="l"/>
              </a:tabLst>
            </a:pP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85" dirty="0">
                <a:latin typeface="Cambria"/>
                <a:cs typeface="Cambria"/>
              </a:rPr>
              <a:t>q1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225" dirty="0">
                <a:solidFill>
                  <a:srgbClr val="006FC0"/>
                </a:solidFill>
                <a:latin typeface="Cambria"/>
                <a:cs typeface="Cambria"/>
              </a:rPr>
              <a:t>EXCEPT</a:t>
            </a:r>
            <a:r>
              <a:rPr sz="2000" spc="16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q2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lang="ru-RU" sz="2000" spc="150" dirty="0">
                <a:latin typeface="Cambria"/>
              </a:rPr>
              <a:t>вычитает </a:t>
            </a:r>
            <a:r>
              <a:rPr lang="en-US" sz="2000" spc="150" dirty="0">
                <a:latin typeface="Cambria"/>
              </a:rPr>
              <a:t>q2 </a:t>
            </a:r>
            <a:r>
              <a:rPr lang="ru-RU" sz="2000" spc="150" dirty="0">
                <a:latin typeface="Cambria"/>
              </a:rPr>
              <a:t>из </a:t>
            </a:r>
            <a:r>
              <a:rPr lang="en-US" sz="2000" spc="150" dirty="0">
                <a:latin typeface="Cambria"/>
              </a:rPr>
              <a:t>q1</a:t>
            </a:r>
            <a:endParaRPr sz="2000" spc="150" dirty="0">
              <a:latin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20</a:t>
            </a:fld>
            <a:endParaRPr spc="-7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BAF28-F170-510F-1648-FA50FA23A653}"/>
              </a:ext>
            </a:extLst>
          </p:cNvPr>
          <p:cNvSpPr txBox="1"/>
          <p:nvPr/>
        </p:nvSpPr>
        <p:spPr>
          <a:xfrm>
            <a:off x="1081128" y="16043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Набор операций - это </a:t>
            </a:r>
            <a:r>
              <a:rPr lang="en-US" dirty="0">
                <a:effectLst/>
              </a:rPr>
              <a:t>SQL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3939400" cy="5673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2491" y="1915109"/>
            <a:ext cx="3836035" cy="19475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0100"/>
              </a:lnSpc>
              <a:spcBef>
                <a:spcPts val="58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 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UNION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8000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‘D%’;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spcBef>
                <a:spcPts val="715"/>
              </a:spcBef>
            </a:pPr>
            <a:r>
              <a:rPr sz="2000" dirty="0">
                <a:latin typeface="Courier New"/>
                <a:cs typeface="Courier New"/>
              </a:rPr>
              <a:t>&gt;&gt;</a:t>
            </a:r>
            <a:r>
              <a:rPr sz="2000" spc="-10" dirty="0">
                <a:latin typeface="Courier New"/>
                <a:cs typeface="Courier New"/>
              </a:rPr>
              <a:t> Charcoal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160"/>
              </a:lnSpc>
            </a:pPr>
            <a:r>
              <a:rPr sz="2000" dirty="0">
                <a:latin typeface="Courier New"/>
                <a:cs typeface="Courier New"/>
              </a:rPr>
              <a:t>Drinking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water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70" dirty="0"/>
              <a:t>21</a:t>
            </a:fld>
            <a:endParaRPr spc="-70" dirty="0"/>
          </a:p>
        </p:txBody>
      </p:sp>
      <p:sp>
        <p:nvSpPr>
          <p:cNvPr id="4" name="object 4"/>
          <p:cNvSpPr txBox="1"/>
          <p:nvPr/>
        </p:nvSpPr>
        <p:spPr>
          <a:xfrm>
            <a:off x="1142491" y="4171569"/>
            <a:ext cx="3531235" cy="2012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эквивалентный запрос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 РАЗЛИЧАТЬ очень важно</a:t>
            </a:r>
            <a:endParaRPr sz="2000" dirty="0">
              <a:latin typeface="Courier New"/>
              <a:cs typeface="Courier New"/>
            </a:endParaRPr>
          </a:p>
          <a:p>
            <a:pPr marL="12700" marR="462280">
              <a:lnSpc>
                <a:spcPct val="80000"/>
              </a:lnSpc>
              <a:spcBef>
                <a:spcPts val="1205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 dirty="0">
              <a:latin typeface="Courier New"/>
              <a:cs typeface="Courier New"/>
            </a:endParaRPr>
          </a:p>
          <a:p>
            <a:pPr marR="462280" algn="r">
              <a:lnSpc>
                <a:spcPts val="16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‘C%’</a:t>
            </a:r>
            <a:endParaRPr sz="2000" dirty="0">
              <a:latin typeface="Courier New"/>
              <a:cs typeface="Courier New"/>
            </a:endParaRPr>
          </a:p>
          <a:p>
            <a:pPr marR="462280" algn="r">
              <a:lnSpc>
                <a:spcPts val="216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OR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LIKE</a:t>
            </a:r>
            <a:r>
              <a:rPr sz="2000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‘D%’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336" y="1921840"/>
            <a:ext cx="3987800" cy="14721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 объединение выборок из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разных таблиц</a:t>
            </a: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 </a:t>
            </a: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UNION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MATERIAL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7336" y="4026959"/>
            <a:ext cx="3683635" cy="174470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solidFill>
                  <a:srgbClr val="7E7E7E"/>
                </a:solidFill>
                <a:latin typeface="Courier New"/>
                <a:cs typeface="Courier New"/>
              </a:rPr>
              <a:t>неверный запрос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PRODUCT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2000" spc="-10" dirty="0">
                <a:solidFill>
                  <a:srgbClr val="006FC0"/>
                </a:solidFill>
                <a:latin typeface="Courier New"/>
                <a:cs typeface="Courier New"/>
              </a:rPr>
              <a:t>UNION</a:t>
            </a:r>
            <a:endParaRPr sz="2000" dirty="0">
              <a:latin typeface="Courier New"/>
              <a:cs typeface="Courier New"/>
            </a:endParaRPr>
          </a:p>
          <a:p>
            <a:pPr marL="12700" marR="9194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WARE,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CLASS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B6DB2-6F19-6077-617F-15B851BA0E29}"/>
              </a:ext>
            </a:extLst>
          </p:cNvPr>
          <p:cNvSpPr txBox="1"/>
          <p:nvPr/>
        </p:nvSpPr>
        <p:spPr>
          <a:xfrm>
            <a:off x="1142491" y="618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Приведите примеры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5778106" cy="5839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7796" y="3402838"/>
            <a:ext cx="5055235" cy="33194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pc="-10" dirty="0"/>
              <a:t>--</a:t>
            </a:r>
            <a:r>
              <a:rPr lang="ru-RU" dirty="0">
                <a:effectLst/>
              </a:rPr>
              <a:t> удивительно, но подсчитывает строки в таблице </a:t>
            </a:r>
            <a:r>
              <a:rPr lang="en-US" dirty="0"/>
              <a:t>CATEGORY</a:t>
            </a:r>
            <a:endParaRPr spc="-10" dirty="0"/>
          </a:p>
          <a:p>
            <a:pPr marL="12700">
              <a:lnSpc>
                <a:spcPts val="2280"/>
              </a:lnSpc>
            </a:pPr>
            <a:r>
              <a:rPr dirty="0">
                <a:solidFill>
                  <a:srgbClr val="006FC0"/>
                </a:solidFill>
              </a:rPr>
              <a:t>SELECT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COUNT(WARE)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6FC0"/>
                </a:solidFill>
              </a:rPr>
              <a:t>FROM</a:t>
            </a:r>
            <a:r>
              <a:rPr spc="-3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CATEGORY;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621665" algn="l"/>
              </a:tabLst>
            </a:pPr>
            <a:r>
              <a:rPr spc="-25" dirty="0">
                <a:solidFill>
                  <a:srgbClr val="000000"/>
                </a:solidFill>
              </a:rPr>
              <a:t>&gt;&gt;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spc="-25" dirty="0">
                <a:solidFill>
                  <a:srgbClr val="000000"/>
                </a:solidFill>
              </a:rPr>
              <a:t>16</a:t>
            </a: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dirty="0">
                <a:solidFill>
                  <a:srgbClr val="006FC0"/>
                </a:solidFill>
              </a:rPr>
              <a:t>SELECT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COUNT(*),</a:t>
            </a:r>
          </a:p>
          <a:p>
            <a:pPr marL="1079500" marR="767080">
              <a:lnSpc>
                <a:spcPct val="90000"/>
              </a:lnSpc>
              <a:spcBef>
                <a:spcPts val="120"/>
              </a:spcBef>
            </a:pPr>
            <a:r>
              <a:rPr spc="-10" dirty="0">
                <a:solidFill>
                  <a:srgbClr val="000000"/>
                </a:solidFill>
              </a:rPr>
              <a:t>COUNT(), </a:t>
            </a:r>
            <a:r>
              <a:rPr dirty="0">
                <a:solidFill>
                  <a:srgbClr val="000000"/>
                </a:solidFill>
              </a:rPr>
              <a:t>COUNT(</a:t>
            </a:r>
            <a:r>
              <a:rPr dirty="0">
                <a:solidFill>
                  <a:srgbClr val="006FC0"/>
                </a:solidFill>
              </a:rPr>
              <a:t>DISTINCT</a:t>
            </a:r>
            <a:r>
              <a:rPr spc="-6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WARE), </a:t>
            </a:r>
            <a:r>
              <a:rPr dirty="0">
                <a:solidFill>
                  <a:srgbClr val="000000"/>
                </a:solidFill>
              </a:rPr>
              <a:t>COUNT(</a:t>
            </a:r>
            <a:r>
              <a:rPr dirty="0">
                <a:solidFill>
                  <a:srgbClr val="006FC0"/>
                </a:solidFill>
              </a:rPr>
              <a:t>DISTINCT</a:t>
            </a:r>
            <a:r>
              <a:rPr spc="-6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CLASS)</a:t>
            </a:r>
          </a:p>
          <a:p>
            <a:pPr marL="12700">
              <a:lnSpc>
                <a:spcPts val="2160"/>
              </a:lnSpc>
            </a:pPr>
            <a:r>
              <a:rPr dirty="0">
                <a:solidFill>
                  <a:srgbClr val="006FC0"/>
                </a:solidFill>
              </a:rPr>
              <a:t>FROM</a:t>
            </a:r>
            <a:r>
              <a:rPr spc="-2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CATEGORY;</a:t>
            </a: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>
                <a:solidFill>
                  <a:srgbClr val="000000"/>
                </a:solidFill>
              </a:rPr>
              <a:t>&gt;&gt;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16,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16,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12,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7796" y="1829511"/>
            <a:ext cx="1006500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>
                <a:effectLst/>
              </a:rPr>
              <a:t>Агрегатные функции действуют как </a:t>
            </a:r>
            <a:r>
              <a:rPr lang="ru-RU" dirty="0" err="1">
                <a:effectLst/>
              </a:rPr>
              <a:t>reduce</a:t>
            </a:r>
            <a:r>
              <a:rPr lang="ru-RU" dirty="0">
                <a:effectLst/>
              </a:rPr>
              <a:t> / </a:t>
            </a:r>
            <a:r>
              <a:rPr lang="ru-RU" dirty="0" err="1">
                <a:effectLst/>
              </a:rPr>
              <a:t>fold</a:t>
            </a:r>
            <a:r>
              <a:rPr lang="ru-RU" dirty="0">
                <a:effectLst/>
              </a:rPr>
              <a:t> / </a:t>
            </a:r>
            <a:r>
              <a:rPr lang="ru-RU" dirty="0" err="1">
                <a:effectLst/>
              </a:rPr>
              <a:t>collect</a:t>
            </a:r>
            <a:r>
              <a:rPr lang="ru-RU" dirty="0">
                <a:effectLst/>
              </a:rPr>
              <a:t> в других языках.</a:t>
            </a:r>
            <a:endParaRPr spc="140" dirty="0"/>
          </a:p>
        </p:txBody>
      </p:sp>
      <p:sp>
        <p:nvSpPr>
          <p:cNvPr id="5" name="object 5"/>
          <p:cNvSpPr txBox="1"/>
          <p:nvPr/>
        </p:nvSpPr>
        <p:spPr>
          <a:xfrm>
            <a:off x="206629" y="2286000"/>
            <a:ext cx="11512804" cy="89447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375"/>
              </a:spcBef>
            </a:pPr>
            <a:r>
              <a:rPr lang="ru-RU" sz="2000" spc="80" dirty="0">
                <a:latin typeface="Cambria"/>
              </a:rPr>
              <a:t>Использование агрегатных функций в разделе проекции (в разделе </a:t>
            </a:r>
            <a:r>
              <a:rPr sz="2000" spc="170" dirty="0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sz="2000" spc="170" dirty="0">
                <a:latin typeface="Cambria"/>
                <a:cs typeface="Cambria"/>
              </a:rPr>
              <a:t>)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lang="ru-RU" sz="2000" spc="80" dirty="0">
                <a:latin typeface="Cambria"/>
              </a:rPr>
              <a:t>приводит к тому, что запрос выдает ровно один кортеж (до тех пор, пока используется предложение </a:t>
            </a:r>
            <a:r>
              <a:rPr sz="2000" spc="245" dirty="0">
                <a:solidFill>
                  <a:srgbClr val="006FC0"/>
                </a:solidFill>
                <a:latin typeface="Cambria"/>
                <a:cs typeface="Cambria"/>
              </a:rPr>
              <a:t>GROUP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95" dirty="0">
                <a:solidFill>
                  <a:srgbClr val="006FC0"/>
                </a:solidFill>
                <a:latin typeface="Cambria"/>
                <a:cs typeface="Cambria"/>
              </a:rPr>
              <a:t>B</a:t>
            </a:r>
            <a:r>
              <a:rPr lang="en-US" sz="2000" spc="195" dirty="0">
                <a:solidFill>
                  <a:srgbClr val="006FC0"/>
                </a:solidFill>
                <a:latin typeface="Cambria"/>
                <a:cs typeface="Cambria"/>
              </a:rPr>
              <a:t>Y</a:t>
            </a:r>
            <a:r>
              <a:rPr sz="2000" spc="85" dirty="0">
                <a:latin typeface="Cambria"/>
                <a:cs typeface="Cambria"/>
              </a:rPr>
              <a:t>)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lang="ru-RU" sz="2000" spc="80" dirty="0">
                <a:latin typeface="Cambria"/>
              </a:rPr>
              <a:t>и запрещает использование столбцов без других агрегатных функций</a:t>
            </a:r>
            <a:r>
              <a:rPr sz="2000" spc="80" dirty="0">
                <a:latin typeface="Cambria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29627" y="3402838"/>
            <a:ext cx="3073400" cy="90088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10" dirty="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lang="ru-RU" sz="2000" dirty="0">
                <a:effectLst/>
              </a:rPr>
              <a:t> </a:t>
            </a:r>
            <a:r>
              <a:rPr lang="ru-RU" sz="2000" spc="-10" dirty="0">
                <a:solidFill>
                  <a:srgbClr val="7E7E7E"/>
                </a:solidFill>
                <a:latin typeface="Courier New"/>
                <a:cs typeface="Courier New"/>
              </a:rPr>
              <a:t>неверный запрос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sz="2000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COUNT(),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WARE </a:t>
            </a:r>
            <a:r>
              <a:rPr sz="2000" dirty="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sz="2000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CATEGORY;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22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55FFB-D9AE-1759-C739-FBD4741DD7D2}"/>
              </a:ext>
            </a:extLst>
          </p:cNvPr>
          <p:cNvSpPr txBox="1"/>
          <p:nvPr/>
        </p:nvSpPr>
        <p:spPr>
          <a:xfrm>
            <a:off x="1173492" y="7107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Простая агрегация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8453488" cy="58394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01241" y="2264791"/>
            <a:ext cx="9848850" cy="262571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5580" marR="5080" indent="-182880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  <a:tab pos="2622550" algn="l"/>
              </a:tabLst>
            </a:pPr>
            <a:r>
              <a:rPr sz="2000" spc="114" dirty="0">
                <a:solidFill>
                  <a:srgbClr val="006FC0"/>
                </a:solidFill>
                <a:latin typeface="Cambria"/>
                <a:cs typeface="Cambria"/>
              </a:rPr>
              <a:t>COUNT(),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006FC0"/>
                </a:solidFill>
                <a:latin typeface="Cambria"/>
                <a:cs typeface="Cambria"/>
              </a:rPr>
              <a:t>COUNT(x)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lang="ru-RU" sz="2000" spc="150" dirty="0">
                <a:latin typeface="Cambria"/>
                <a:cs typeface="Cambria"/>
              </a:rPr>
              <a:t>подсчитывает строки; при указании аргумента подсчитывает все строки, в которых аргумент 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50" dirty="0">
                <a:solidFill>
                  <a:srgbClr val="006FC0"/>
                </a:solidFill>
                <a:latin typeface="Cambria"/>
                <a:cs typeface="Cambria"/>
              </a:rPr>
              <a:t>NOT</a:t>
            </a:r>
            <a:r>
              <a:rPr sz="2000" spc="19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006FC0"/>
                </a:solidFill>
                <a:latin typeface="Cambria"/>
                <a:cs typeface="Cambria"/>
              </a:rPr>
              <a:t>NULL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00" dirty="0">
                <a:solidFill>
                  <a:srgbClr val="006FC0"/>
                </a:solidFill>
                <a:latin typeface="Cambria"/>
                <a:cs typeface="Cambria"/>
              </a:rPr>
              <a:t>MIN(num),</a:t>
            </a:r>
            <a:r>
              <a:rPr sz="2000" spc="18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006FC0"/>
                </a:solidFill>
                <a:latin typeface="Cambria"/>
                <a:cs typeface="Cambria"/>
              </a:rPr>
              <a:t>MAX(num)</a:t>
            </a:r>
            <a:r>
              <a:rPr sz="2000" spc="18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"/>
                <a:cs typeface="Cambria"/>
              </a:rPr>
              <a:t>–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lang="ru-RU" sz="2000" spc="150" dirty="0">
                <a:latin typeface="Cambria"/>
              </a:rPr>
              <a:t>минимальное и максимальное значения</a:t>
            </a:r>
            <a:endParaRPr sz="2000" spc="150" dirty="0">
              <a:latin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35" dirty="0">
                <a:solidFill>
                  <a:srgbClr val="006FC0"/>
                </a:solidFill>
                <a:latin typeface="Cambria"/>
                <a:cs typeface="Cambria"/>
              </a:rPr>
              <a:t>SUM(num)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40" dirty="0">
                <a:latin typeface="Cambria"/>
                <a:cs typeface="Cambria"/>
              </a:rPr>
              <a:t> </a:t>
            </a:r>
            <a:r>
              <a:rPr lang="ru-RU" sz="2000" spc="215" dirty="0">
                <a:latin typeface="Cambria"/>
                <a:cs typeface="Cambria"/>
              </a:rPr>
              <a:t>сумма значений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20" dirty="0">
                <a:solidFill>
                  <a:srgbClr val="006FC0"/>
                </a:solidFill>
                <a:latin typeface="Cambria"/>
                <a:cs typeface="Cambria"/>
              </a:rPr>
              <a:t>AVG(num)</a:t>
            </a:r>
            <a:r>
              <a:rPr sz="2000" spc="2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lang="ru-RU" sz="2000" spc="90" dirty="0">
                <a:latin typeface="Cambria"/>
                <a:cs typeface="Cambria"/>
              </a:rPr>
              <a:t>среднее значение значений</a:t>
            </a:r>
            <a:endParaRPr sz="2000" dirty="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sz="2000" spc="145" dirty="0">
                <a:solidFill>
                  <a:srgbClr val="006FC0"/>
                </a:solidFill>
                <a:latin typeface="Cambria"/>
                <a:cs typeface="Cambria"/>
              </a:rPr>
              <a:t>GROUP_CONCAT(str)</a:t>
            </a:r>
            <a:endParaRPr sz="2000" dirty="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sz="2000" spc="175" dirty="0">
                <a:solidFill>
                  <a:srgbClr val="006FC0"/>
                </a:solidFill>
                <a:latin typeface="Cambria"/>
                <a:cs typeface="Cambria"/>
              </a:rPr>
              <a:t>GROUP_CONCAT(str,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006FC0"/>
                </a:solidFill>
                <a:latin typeface="Cambria"/>
                <a:cs typeface="Cambria"/>
              </a:rPr>
              <a:t>sepatator)</a:t>
            </a:r>
            <a:r>
              <a:rPr sz="2000" spc="2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–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lang="ru-RU" sz="2000" spc="130" dirty="0">
                <a:latin typeface="Cambria"/>
                <a:cs typeface="Cambria"/>
              </a:rPr>
              <a:t>объединение </a:t>
            </a:r>
            <a:r>
              <a:rPr lang="ru-RU" sz="2000" spc="130">
                <a:latin typeface="Cambria"/>
                <a:cs typeface="Cambria"/>
              </a:rPr>
              <a:t>текстовых значений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23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E2E76-F060-AA46-D2A2-05F975A89B64}"/>
              </a:ext>
            </a:extLst>
          </p:cNvPr>
          <p:cNvSpPr txBox="1"/>
          <p:nvPr/>
        </p:nvSpPr>
        <p:spPr>
          <a:xfrm>
            <a:off x="1066800" y="1569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Известные агрегатные функции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66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1475</Words>
  <Application>Microsoft Office PowerPoint</Application>
  <PresentationFormat>Широкоэкранный</PresentationFormat>
  <Paragraphs>266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Cambria</vt:lpstr>
      <vt:lpstr>Courier New</vt:lpstr>
      <vt:lpstr>Tahoma</vt:lpstr>
      <vt:lpstr>Times New Roman</vt:lpstr>
      <vt:lpstr>Wingdings</vt:lpstr>
      <vt:lpstr>Office Theme</vt:lpstr>
      <vt:lpstr>Презентация PowerPoint</vt:lpstr>
      <vt:lpstr>Языки запросов: класс языков программирования для поиска и (иногда) манипулирования данными в системах управления базами данных (СУБД) или любом другом программном обеспечении, ориентированном на обработку данных..</vt:lpstr>
      <vt:lpstr>Презентация PowerPoint</vt:lpstr>
      <vt:lpstr>Какова столица России?</vt:lpstr>
      <vt:lpstr>Презентация PowerPoint</vt:lpstr>
      <vt:lpstr>Презентация PowerPoint</vt:lpstr>
      <vt:lpstr>Здесь и далее будет использоваться диалект SQL на языке SQLite </vt:lpstr>
      <vt:lpstr>Презентация PowerPoint</vt:lpstr>
      <vt:lpstr>Презентация PowerPoint</vt:lpstr>
      <vt:lpstr>CREATE TABLE COUNTRY_HANDBOOK(</vt:lpstr>
      <vt:lpstr>--таблица классификации товаров</vt:lpstr>
      <vt:lpstr>Презентация PowerPoint</vt:lpstr>
      <vt:lpstr>Презентация PowerPoint</vt:lpstr>
      <vt:lpstr>Выбор влияет на количество строк результата и никогда не влияет на структуру результата. Он определяется как предикат для столбцов.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Агрегатные функции действуют как reduce / fold / collect в других языках.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Declarative Programming:  Query Languages</dc:title>
  <dc:creator>shadow</dc:creator>
  <cp:lastModifiedBy>User</cp:lastModifiedBy>
  <cp:revision>1</cp:revision>
  <dcterms:created xsi:type="dcterms:W3CDTF">2025-04-04T02:23:25Z</dcterms:created>
  <dcterms:modified xsi:type="dcterms:W3CDTF">2025-04-04T04:16:46Z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2025-04-04T00:00:00Z</vt:filetime>
  </property>
  <property fmtid="{D5CDD505-2E9C-101B-9397-08002B2CF9AE}" pid="5" name="Producer">
    <vt:lpwstr>Microsoft® PowerPoint® 2019</vt:lpwstr>
  </property>
</Properties>
</file>